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1" r:id="rId4"/>
    <p:sldId id="260" r:id="rId5"/>
    <p:sldId id="264" r:id="rId6"/>
    <p:sldId id="257" r:id="rId7"/>
    <p:sldId id="265" r:id="rId8"/>
    <p:sldId id="258" r:id="rId9"/>
    <p:sldId id="267" r:id="rId10"/>
    <p:sldId id="269" r:id="rId11"/>
    <p:sldId id="268" r:id="rId12"/>
    <p:sldId id="270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E887-FEB4-4649-9961-D3127A594D91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F1203-F399-4352-AD43-54CF94AD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18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F1203-F399-4352-AD43-54CF94ADF8E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16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F1203-F399-4352-AD43-54CF94ADF8E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985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8574-0B41-3F58-F79A-1202E2133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74D74-2032-B345-0DD9-242E30D97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7053F-E62C-57F9-C436-EBEF67204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DAD22-4640-4C1F-4863-49FCDEEA7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4A491-046A-3952-600E-9E962D75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773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4C39-4A95-EADD-79C8-143479B5E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38810-87E8-07A0-2A23-D03442556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715B9-144B-AD7B-B32A-2AFEF841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B66D0-1599-B87E-F625-9E0BC0AA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EAC2A-3BE3-FBAB-9F72-715E6BD3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270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31B9-6450-15DF-D438-681DDE46D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5B053-425A-70EC-04BF-B4643BEB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11EBD-A6E5-466D-FFF2-6FE6D03B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CC66D-831A-4BF8-7BEF-0B5FDD66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D2A9B-B5ED-8090-97C8-EE8B1C86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336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D9EE-163E-C1FB-6224-978077C57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96ECC-BB91-53D9-0591-3567350F1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C18A3-8AF4-9C1D-4C22-BD893B55C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90EDD-4D2B-61C4-7841-7A1A1C703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DEE4A-781D-DE26-613F-4AD714DD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0B2BF-0983-8C41-3757-2B21F22E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438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EDA13-E668-CBE0-068A-5A6EFAA0F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A7AB4-846F-6CD2-5CC7-E1C0D6293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28359-EA1A-831C-9C48-D89FB7394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EAB30-9F6F-5A08-FE66-AFC181A35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99D6A6-5FEE-09EB-FA30-996B8D5A8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48526-795A-6971-2701-B5D7FC623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00D44-3D22-3A68-4416-90197AAE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6A24D3-2AC6-54D1-907C-9C5562347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420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46145-40C3-E28C-BF0F-2DE2B43B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9FC93A-A96B-69F3-00DE-31128CB0B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C2FCD-0CA9-F720-6097-B711F12AC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D8B69-F584-40B7-B9AD-6EBE5738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54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F06F-563F-827D-E758-14786FAA4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1F77E6-87CA-DC73-9C9F-E1EF4BF1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74F25-4553-DF2A-E28A-1908191A3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562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B30D-17B7-0498-B910-045D6FA61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61587-4100-E336-2EF4-AEE8DA3C3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AA4BF-4716-D51F-4DE5-A3B095A0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20DE5-5506-F6B2-3DD9-886324188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C7C47-7905-04E8-E8A6-1F5369BD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895A6-9C6F-2746-9DD8-840CB03A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95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2C05-DE60-F638-B7A2-B33BF7E9F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4F87C1-2963-DF72-801C-34C83F615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CE21F-C069-B568-073A-7173C95D2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F864E-93F3-6E3E-A615-C0CD233E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1FC91-CEB6-3372-3BF3-EBA39CFD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C038B-1FE4-1538-885E-2407CE2C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63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1D89-107F-D501-A0A2-EE81FA1B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56458-59DF-751F-5233-9F4714822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3EF48-18F2-B06C-192C-8FBDE8D28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C95DA-191D-064E-E5F9-518E613D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F99C7-0E34-79FC-22CD-7A8866EA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526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A08C23-1E17-EEEF-43D9-F59E7685FF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0231D-BE9C-0E39-4DFF-08462F9C3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8F335-C187-1BEE-6072-6593048D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B28C0-BF77-1AA3-7624-2B076F9A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43B02-3ED2-81CF-E083-3E03BF88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99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EF1E30-F6E9-E0FB-576B-830CC5122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7197A-EB27-4BA1-AB99-A81AB39FB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888A3-D2AB-CF64-2D8F-21FABD477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2DDF4-BCA3-4FB4-8760-9E2C0C5C5866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69746-CEB9-CDD2-6721-EDD25486D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ED23F-34EB-A5ED-13BB-1D1F8B0F1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52E89-8BB8-4FAC-B204-60E981C38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51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3.emf"/><Relationship Id="rId7" Type="http://schemas.openxmlformats.org/officeDocument/2006/relationships/hyperlink" Target="https://www.natur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nature.com/articles/1681039b0#auth-P__L_-PAUSON-Aff1" TargetMode="External"/><Relationship Id="rId5" Type="http://schemas.openxmlformats.org/officeDocument/2006/relationships/hyperlink" Target="https://www.nature.com/articles/1681039b0#auth-T__J_-KEALY-Aff1" TargetMode="External"/><Relationship Id="rId4" Type="http://schemas.openxmlformats.org/officeDocument/2006/relationships/image" Target="../media/image14.emf"/><Relationship Id="rId9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2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21.emf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31.emf"/><Relationship Id="rId3" Type="http://schemas.openxmlformats.org/officeDocument/2006/relationships/image" Target="../media/image26.emf"/><Relationship Id="rId7" Type="http://schemas.openxmlformats.org/officeDocument/2006/relationships/image" Target="../media/image28.e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30.emf"/><Relationship Id="rId5" Type="http://schemas.openxmlformats.org/officeDocument/2006/relationships/image" Target="../media/image27.e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9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13" Type="http://schemas.openxmlformats.org/officeDocument/2006/relationships/image" Target="../media/image38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oleObject" Target="../embeddings/oleObject21.bin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emf"/><Relationship Id="rId11" Type="http://schemas.openxmlformats.org/officeDocument/2006/relationships/image" Target="../media/image37.emf"/><Relationship Id="rId5" Type="http://schemas.openxmlformats.org/officeDocument/2006/relationships/oleObject" Target="../embeddings/oleObject18.bin"/><Relationship Id="rId10" Type="http://schemas.openxmlformats.org/officeDocument/2006/relationships/oleObject" Target="../embeddings/oleObject20.bin"/><Relationship Id="rId4" Type="http://schemas.openxmlformats.org/officeDocument/2006/relationships/image" Target="../media/image33.emf"/><Relationship Id="rId9" Type="http://schemas.openxmlformats.org/officeDocument/2006/relationships/image" Target="../media/image3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39.emf"/><Relationship Id="rId7" Type="http://schemas.openxmlformats.org/officeDocument/2006/relationships/image" Target="../media/image41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40.e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4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en.wikipedia.org/wiki/File:Uranocene_synthesis.sv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727,389 Sandwich Stock Photos - Free &amp; Royalty-Free Stock ...">
            <a:extLst>
              <a:ext uri="{FF2B5EF4-FFF2-40B4-BE49-F238E27FC236}">
                <a16:creationId xmlns:a16="http://schemas.microsoft.com/office/drawing/2014/main" id="{B92A1839-FFE6-94F7-1319-01728C8AA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461" y="2175528"/>
            <a:ext cx="3848219" cy="265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C95ABB-49D6-3565-D8DE-1018BCCB6784}"/>
              </a:ext>
            </a:extLst>
          </p:cNvPr>
          <p:cNvSpPr/>
          <p:nvPr/>
        </p:nvSpPr>
        <p:spPr>
          <a:xfrm>
            <a:off x="0" y="3553"/>
            <a:ext cx="12192000" cy="688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Sandwich Compounds/Metallocene</a:t>
            </a:r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88A7E817-BDF1-5520-6AF9-10DBBBE78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048" y="2094804"/>
            <a:ext cx="1874051" cy="266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E79837-DB90-F32C-2012-4B483760670E}"/>
              </a:ext>
            </a:extLst>
          </p:cNvPr>
          <p:cNvSpPr txBox="1"/>
          <p:nvPr/>
        </p:nvSpPr>
        <p:spPr>
          <a:xfrm>
            <a:off x="5920032" y="5033913"/>
            <a:ext cx="3767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Metal in between two </a:t>
            </a:r>
            <a:r>
              <a:rPr lang="en-IN" dirty="0" err="1"/>
              <a:t>polyhapto</a:t>
            </a:r>
            <a:r>
              <a:rPr lang="en-IN" dirty="0"/>
              <a:t> rings</a:t>
            </a:r>
          </a:p>
        </p:txBody>
      </p:sp>
    </p:spTree>
    <p:extLst>
      <p:ext uri="{BB962C8B-B14F-4D97-AF65-F5344CB8AC3E}">
        <p14:creationId xmlns:p14="http://schemas.microsoft.com/office/powerpoint/2010/main" val="3114042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F9F4B8-792F-1671-D59D-65EFE2A273A3}"/>
              </a:ext>
            </a:extLst>
          </p:cNvPr>
          <p:cNvSpPr/>
          <p:nvPr/>
        </p:nvSpPr>
        <p:spPr>
          <a:xfrm>
            <a:off x="0" y="3553"/>
            <a:ext cx="12192000" cy="688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Sandwich Compounds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CE8CC8-23DD-479A-D033-7D3F24B6BF59}"/>
              </a:ext>
            </a:extLst>
          </p:cNvPr>
          <p:cNvGrpSpPr/>
          <p:nvPr/>
        </p:nvGrpSpPr>
        <p:grpSpPr>
          <a:xfrm>
            <a:off x="310023" y="1091381"/>
            <a:ext cx="7732767" cy="4955458"/>
            <a:chOff x="1362075" y="1415845"/>
            <a:chExt cx="7732767" cy="4955458"/>
          </a:xfrm>
        </p:grpSpPr>
        <p:pic>
          <p:nvPicPr>
            <p:cNvPr id="3074" name="Picture 2" descr="Synthesis, structures and magnetic properties of [(η9-C9H9)Ln(η8-C8H8)]  super sandwich complexes | Nature Communications">
              <a:extLst>
                <a:ext uri="{FF2B5EF4-FFF2-40B4-BE49-F238E27FC236}">
                  <a16:creationId xmlns:a16="http://schemas.microsoft.com/office/drawing/2014/main" id="{6E54D50B-60BA-CA37-254D-B4CC79E034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075" y="1701925"/>
              <a:ext cx="7683602" cy="449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63CA28-7A42-EFF1-6BF6-9B1B3042AFE3}"/>
                </a:ext>
              </a:extLst>
            </p:cNvPr>
            <p:cNvGrpSpPr/>
            <p:nvPr/>
          </p:nvGrpSpPr>
          <p:grpSpPr>
            <a:xfrm>
              <a:off x="6803923" y="1415845"/>
              <a:ext cx="2290919" cy="4955458"/>
              <a:chOff x="6803923" y="1415845"/>
              <a:chExt cx="2290919" cy="495545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7E43119-52F9-5117-45B9-8005E26B8E39}"/>
                  </a:ext>
                </a:extLst>
              </p:cNvPr>
              <p:cNvSpPr/>
              <p:nvPr/>
            </p:nvSpPr>
            <p:spPr>
              <a:xfrm>
                <a:off x="7098890" y="1415845"/>
                <a:ext cx="1995952" cy="49554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Sandwich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5672B34-5F1D-AF6D-0C57-C0EF0862E93A}"/>
                  </a:ext>
                </a:extLst>
              </p:cNvPr>
              <p:cNvSpPr/>
              <p:nvPr/>
            </p:nvSpPr>
            <p:spPr>
              <a:xfrm>
                <a:off x="6803923" y="1632155"/>
                <a:ext cx="973393" cy="19762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C010A2-5E9A-AC9F-DF6F-7AC94F0DBD12}"/>
              </a:ext>
            </a:extLst>
          </p:cNvPr>
          <p:cNvGrpSpPr/>
          <p:nvPr/>
        </p:nvGrpSpPr>
        <p:grpSpPr>
          <a:xfrm>
            <a:off x="7044814" y="2254660"/>
            <a:ext cx="4589819" cy="1314450"/>
            <a:chOff x="7224563" y="3112090"/>
            <a:chExt cx="4589819" cy="1314450"/>
          </a:xfrm>
        </p:grpSpPr>
        <p:pic>
          <p:nvPicPr>
            <p:cNvPr id="3076" name="Picture 4" descr="Bis(cyclopentadienyl)manganese | MnCp2 | C10H10Mn - Ereztech">
              <a:extLst>
                <a:ext uri="{FF2B5EF4-FFF2-40B4-BE49-F238E27FC236}">
                  <a16:creationId xmlns:a16="http://schemas.microsoft.com/office/drawing/2014/main" id="{7E225692-62BF-F424-4C46-C3F694253E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4563" y="3117637"/>
              <a:ext cx="916546" cy="1308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7. Ferrocene (left), cobaltocene (middle), and nickelocene (right)... |  Download Scientific Diagram">
              <a:extLst>
                <a:ext uri="{FF2B5EF4-FFF2-40B4-BE49-F238E27FC236}">
                  <a16:creationId xmlns:a16="http://schemas.microsoft.com/office/drawing/2014/main" id="{4277D237-3927-1693-9DCA-0593F97AB0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37757" y="3112090"/>
              <a:ext cx="3476625" cy="131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D80736C-17AB-809B-B31E-AE3C4E99E64A}"/>
              </a:ext>
            </a:extLst>
          </p:cNvPr>
          <p:cNvSpPr txBox="1"/>
          <p:nvPr/>
        </p:nvSpPr>
        <p:spPr>
          <a:xfrm>
            <a:off x="7229487" y="367052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17e</a:t>
            </a:r>
            <a:r>
              <a:rPr lang="en-IN" baseline="30000" dirty="0"/>
              <a:t>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6D8123-7168-209E-C059-7FAC90737ABA}"/>
              </a:ext>
            </a:extLst>
          </p:cNvPr>
          <p:cNvSpPr txBox="1"/>
          <p:nvPr/>
        </p:nvSpPr>
        <p:spPr>
          <a:xfrm>
            <a:off x="8412136" y="367052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18e</a:t>
            </a:r>
            <a:r>
              <a:rPr lang="en-IN" baseline="30000" dirty="0"/>
              <a:t>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D6319-5B08-8EF7-604F-26754292D5AE}"/>
              </a:ext>
            </a:extLst>
          </p:cNvPr>
          <p:cNvSpPr txBox="1"/>
          <p:nvPr/>
        </p:nvSpPr>
        <p:spPr>
          <a:xfrm>
            <a:off x="9606016" y="367052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19e</a:t>
            </a:r>
            <a:r>
              <a:rPr lang="en-IN" baseline="30000" dirty="0"/>
              <a:t>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DE8A29-1EE5-78C2-339E-F0DF565FE60C}"/>
              </a:ext>
            </a:extLst>
          </p:cNvPr>
          <p:cNvSpPr txBox="1"/>
          <p:nvPr/>
        </p:nvSpPr>
        <p:spPr>
          <a:xfrm>
            <a:off x="10799896" y="3654793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20e</a:t>
            </a:r>
            <a:r>
              <a:rPr lang="en-IN" baseline="30000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15934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AD613F-9EC1-A02D-3FCF-8B80094BC8AD}"/>
              </a:ext>
            </a:extLst>
          </p:cNvPr>
          <p:cNvSpPr/>
          <p:nvPr/>
        </p:nvSpPr>
        <p:spPr>
          <a:xfrm>
            <a:off x="0" y="3553"/>
            <a:ext cx="12192000" cy="688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Variation of Sandwich Complexes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300A69-EBBA-CBC9-DBE5-7A992D636BE5}"/>
              </a:ext>
            </a:extLst>
          </p:cNvPr>
          <p:cNvGrpSpPr/>
          <p:nvPr/>
        </p:nvGrpSpPr>
        <p:grpSpPr>
          <a:xfrm>
            <a:off x="745797" y="2228138"/>
            <a:ext cx="4667250" cy="2807462"/>
            <a:chOff x="745797" y="2228138"/>
            <a:chExt cx="4667250" cy="2807462"/>
          </a:xfrm>
        </p:grpSpPr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63F8957C-646B-C736-DB5F-6E51F1C315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7618654"/>
                </p:ext>
              </p:extLst>
            </p:nvPr>
          </p:nvGraphicFramePr>
          <p:xfrm>
            <a:off x="745797" y="2228138"/>
            <a:ext cx="4667250" cy="156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2" imgW="4667693" imgH="1560655" progId="ChemDraw.Document.6.0">
                    <p:embed/>
                  </p:oleObj>
                </mc:Choice>
                <mc:Fallback>
                  <p:oleObj name="CS ChemDraw Drawing" r:id="rId2" imgW="4667693" imgH="1560655" progId="ChemDraw.Document.6.0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45797" y="2228138"/>
                          <a:ext cx="4667250" cy="15605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4B8BA6-63F3-0F16-C38A-A53992BF380D}"/>
                </a:ext>
              </a:extLst>
            </p:cNvPr>
            <p:cNvSpPr txBox="1"/>
            <p:nvPr/>
          </p:nvSpPr>
          <p:spPr>
            <a:xfrm>
              <a:off x="2069142" y="4666268"/>
              <a:ext cx="15723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Bent Sandwich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1060848-1C73-E358-7CAD-87A66CE7ED5E}"/>
              </a:ext>
            </a:extLst>
          </p:cNvPr>
          <p:cNvGrpSpPr/>
          <p:nvPr/>
        </p:nvGrpSpPr>
        <p:grpSpPr>
          <a:xfrm>
            <a:off x="7348538" y="1620838"/>
            <a:ext cx="3804149" cy="4032543"/>
            <a:chOff x="7348538" y="1620838"/>
            <a:chExt cx="3804149" cy="403254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A0A29E6-83FB-CFBF-0E8D-FC7ABB009229}"/>
                </a:ext>
              </a:extLst>
            </p:cNvPr>
            <p:cNvGrpSpPr/>
            <p:nvPr/>
          </p:nvGrpSpPr>
          <p:grpSpPr>
            <a:xfrm>
              <a:off x="7348538" y="1620838"/>
              <a:ext cx="3804149" cy="3045430"/>
              <a:chOff x="7348538" y="1620838"/>
              <a:chExt cx="3804149" cy="3045430"/>
            </a:xfrm>
          </p:grpSpPr>
          <p:graphicFrame>
            <p:nvGraphicFramePr>
              <p:cNvPr id="4" name="Object 3">
                <a:extLst>
                  <a:ext uri="{FF2B5EF4-FFF2-40B4-BE49-F238E27FC236}">
                    <a16:creationId xmlns:a16="http://schemas.microsoft.com/office/drawing/2014/main" id="{09BE643C-292D-632C-FA80-FA7C16FB069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2542449"/>
                  </p:ext>
                </p:extLst>
              </p:nvPr>
            </p:nvGraphicFramePr>
            <p:xfrm>
              <a:off x="7348538" y="1620838"/>
              <a:ext cx="1203325" cy="1212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S ChemDraw Drawing" r:id="rId4" imgW="995207" imgH="1002823" progId="ChemDraw.Document.6.0">
                      <p:embed/>
                    </p:oleObj>
                  </mc:Choice>
                  <mc:Fallback>
                    <p:oleObj name="CS ChemDraw Drawing" r:id="rId4" imgW="995207" imgH="1002823" progId="ChemDraw.Document.6.0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7348538" y="1620838"/>
                            <a:ext cx="1203325" cy="12128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Object 4">
                <a:extLst>
                  <a:ext uri="{FF2B5EF4-FFF2-40B4-BE49-F238E27FC236}">
                    <a16:creationId xmlns:a16="http://schemas.microsoft.com/office/drawing/2014/main" id="{5C7D6BB4-D3A9-7843-43E4-1306710C5F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3446823"/>
                  </p:ext>
                </p:extLst>
              </p:nvPr>
            </p:nvGraphicFramePr>
            <p:xfrm>
              <a:off x="9821727" y="1674280"/>
              <a:ext cx="1330960" cy="11077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S ChemDraw Drawing" r:id="rId6" imgW="993932" imgH="827626" progId="ChemDraw.Document.6.0">
                      <p:embed/>
                    </p:oleObj>
                  </mc:Choice>
                  <mc:Fallback>
                    <p:oleObj name="CS ChemDraw Drawing" r:id="rId6" imgW="993932" imgH="827626" progId="ChemDraw.Document.6.0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9821727" y="1674280"/>
                            <a:ext cx="1330960" cy="110771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Object 5">
                <a:extLst>
                  <a:ext uri="{FF2B5EF4-FFF2-40B4-BE49-F238E27FC236}">
                    <a16:creationId xmlns:a16="http://schemas.microsoft.com/office/drawing/2014/main" id="{B62840EA-2636-2704-68ED-2BAB60C9EF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67382873"/>
                  </p:ext>
                </p:extLst>
              </p:nvPr>
            </p:nvGraphicFramePr>
            <p:xfrm>
              <a:off x="8550505" y="3326737"/>
              <a:ext cx="1194433" cy="13395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S ChemDraw Drawing" r:id="rId8" imgW="902492" imgH="1010459" progId="ChemDraw.Document.6.0">
                      <p:embed/>
                    </p:oleObj>
                  </mc:Choice>
                  <mc:Fallback>
                    <p:oleObj name="CS ChemDraw Drawing" r:id="rId8" imgW="902492" imgH="1010459" progId="ChemDraw.Document.6.0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8550505" y="3326737"/>
                            <a:ext cx="1194433" cy="13395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20552F-B890-7221-3052-FAA740E38F76}"/>
                </a:ext>
              </a:extLst>
            </p:cNvPr>
            <p:cNvSpPr txBox="1"/>
            <p:nvPr/>
          </p:nvSpPr>
          <p:spPr>
            <a:xfrm>
              <a:off x="8550505" y="5284049"/>
              <a:ext cx="15135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Half Sandwich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999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6423DF-0887-7C27-8C9A-A74F40A782A7}"/>
              </a:ext>
            </a:extLst>
          </p:cNvPr>
          <p:cNvSpPr/>
          <p:nvPr/>
        </p:nvSpPr>
        <p:spPr>
          <a:xfrm>
            <a:off x="0" y="3553"/>
            <a:ext cx="12192000" cy="688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Bonding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874238-75E9-E2CB-93ED-CE8443C1A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53" y="2164480"/>
            <a:ext cx="3558484" cy="222070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69DA4B8-577B-6AA4-1F6D-4D2B178E24E1}"/>
              </a:ext>
            </a:extLst>
          </p:cNvPr>
          <p:cNvGrpSpPr/>
          <p:nvPr/>
        </p:nvGrpSpPr>
        <p:grpSpPr>
          <a:xfrm>
            <a:off x="4945626" y="1383442"/>
            <a:ext cx="6806380" cy="5259476"/>
            <a:chOff x="4945626" y="1383442"/>
            <a:chExt cx="6806380" cy="525947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19FFEBC-B675-FDDD-4A39-A23568325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5626" y="1383442"/>
              <a:ext cx="6806380" cy="5259476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F7F802-6323-4232-03C5-55D73CDE6B90}"/>
                </a:ext>
              </a:extLst>
            </p:cNvPr>
            <p:cNvSpPr/>
            <p:nvPr/>
          </p:nvSpPr>
          <p:spPr>
            <a:xfrm>
              <a:off x="5535561" y="1661652"/>
              <a:ext cx="5476568" cy="4129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9074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18883D-BC4B-6815-1885-01036DE17B0C}"/>
              </a:ext>
            </a:extLst>
          </p:cNvPr>
          <p:cNvSpPr/>
          <p:nvPr/>
        </p:nvSpPr>
        <p:spPr>
          <a:xfrm>
            <a:off x="0" y="3553"/>
            <a:ext cx="12192000" cy="688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MO Diagram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1C579B6-9CFA-2DC3-E1FC-B243597A8483}"/>
              </a:ext>
            </a:extLst>
          </p:cNvPr>
          <p:cNvGrpSpPr/>
          <p:nvPr/>
        </p:nvGrpSpPr>
        <p:grpSpPr>
          <a:xfrm>
            <a:off x="2622551" y="782425"/>
            <a:ext cx="6002975" cy="6075574"/>
            <a:chOff x="2622551" y="782425"/>
            <a:chExt cx="6002975" cy="607557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0CA075D-CEEB-2B7B-0626-18CE4DDA7BAE}"/>
                </a:ext>
              </a:extLst>
            </p:cNvPr>
            <p:cNvGrpSpPr/>
            <p:nvPr/>
          </p:nvGrpSpPr>
          <p:grpSpPr>
            <a:xfrm>
              <a:off x="2622551" y="782425"/>
              <a:ext cx="6002975" cy="6075574"/>
              <a:chOff x="2622551" y="782425"/>
              <a:chExt cx="6002975" cy="6075574"/>
            </a:xfrm>
          </p:grpSpPr>
          <p:pic>
            <p:nvPicPr>
              <p:cNvPr id="5122" name="Picture 2" descr="inorganic chemistry - Nature of a1g Molecular Orbital ...">
                <a:extLst>
                  <a:ext uri="{FF2B5EF4-FFF2-40B4-BE49-F238E27FC236}">
                    <a16:creationId xmlns:a16="http://schemas.microsoft.com/office/drawing/2014/main" id="{2F1B904D-283D-DB55-16C5-F66AB79E9F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22551" y="930490"/>
                <a:ext cx="6002975" cy="59275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A708DAC-30D9-12E0-1F96-D8CD98CD8055}"/>
                  </a:ext>
                </a:extLst>
              </p:cNvPr>
              <p:cNvSpPr/>
              <p:nvPr/>
            </p:nvSpPr>
            <p:spPr>
              <a:xfrm>
                <a:off x="4232635" y="782425"/>
                <a:ext cx="301658" cy="292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B35302B-439F-9B17-5E45-0638E3EA6E83}"/>
                </a:ext>
              </a:extLst>
            </p:cNvPr>
            <p:cNvSpPr/>
            <p:nvPr/>
          </p:nvSpPr>
          <p:spPr>
            <a:xfrm>
              <a:off x="7145518" y="6033155"/>
              <a:ext cx="1376313" cy="4053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464040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8A6237-9DB5-EE09-C1C1-33324426FEFD}"/>
              </a:ext>
            </a:extLst>
          </p:cNvPr>
          <p:cNvSpPr/>
          <p:nvPr/>
        </p:nvSpPr>
        <p:spPr>
          <a:xfrm>
            <a:off x="0" y="3553"/>
            <a:ext cx="12192000" cy="688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Ferrocene - 1</a:t>
            </a:r>
            <a:r>
              <a:rPr lang="en-IN" sz="2000" b="1" baseline="30000" dirty="0">
                <a:solidFill>
                  <a:schemeClr val="tx1"/>
                </a:solidFill>
              </a:rPr>
              <a:t>st</a:t>
            </a:r>
            <a:r>
              <a:rPr lang="en-IN" sz="2000" b="1" dirty="0">
                <a:solidFill>
                  <a:schemeClr val="tx1"/>
                </a:solidFill>
              </a:rPr>
              <a:t> Synthesis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3705E-CE16-C240-1CA3-B38D39B41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11" y="1222875"/>
            <a:ext cx="4123540" cy="40489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2E9306-7EF7-4434-5ADA-64FC5DD13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803" y="3530161"/>
            <a:ext cx="3289361" cy="19419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FE316B-FA8B-8DE9-D3D2-31403A0285C8}"/>
              </a:ext>
            </a:extLst>
          </p:cNvPr>
          <p:cNvSpPr txBox="1"/>
          <p:nvPr/>
        </p:nvSpPr>
        <p:spPr>
          <a:xfrm>
            <a:off x="641023" y="6214724"/>
            <a:ext cx="61179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 J. KEALY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P. L. PAUSON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400" b="0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Nature</a:t>
            </a:r>
            <a:r>
              <a:rPr lang="fr-FR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4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1951</a:t>
            </a:r>
            <a:r>
              <a:rPr lang="fr-FR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sz="1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40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168</a:t>
            </a:r>
            <a:r>
              <a:rPr lang="fr-FR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1039–1040</a:t>
            </a:r>
            <a:r>
              <a:rPr lang="fr-FR" sz="1400" b="0" i="0" dirty="0">
                <a:solidFill>
                  <a:srgbClr val="222222"/>
                </a:solidFill>
                <a:effectLst/>
                <a:latin typeface="-apple-system"/>
              </a:rPr>
              <a:t>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325B3D4-1FA3-1200-A4FC-A2B766EBC7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832444"/>
              </p:ext>
            </p:extLst>
          </p:nvPr>
        </p:nvGraphicFramePr>
        <p:xfrm>
          <a:off x="5583564" y="1505679"/>
          <a:ext cx="5967413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967842" imgH="725393" progId="ChemDraw.Document.6.0">
                  <p:embed/>
                </p:oleObj>
              </mc:Choice>
              <mc:Fallback>
                <p:oleObj name="CS ChemDraw Drawing" r:id="rId8" imgW="5967842" imgH="72539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83564" y="1505679"/>
                        <a:ext cx="5967413" cy="725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AD9DDDB-F601-3D05-B1F1-38858560C32A}"/>
              </a:ext>
            </a:extLst>
          </p:cNvPr>
          <p:cNvSpPr txBox="1"/>
          <p:nvPr/>
        </p:nvSpPr>
        <p:spPr>
          <a:xfrm>
            <a:off x="10315164" y="2272708"/>
            <a:ext cx="884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Fulvalene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5C36F-C8DA-99B4-CB0B-96866058163B}"/>
              </a:ext>
            </a:extLst>
          </p:cNvPr>
          <p:cNvSpPr txBox="1"/>
          <p:nvPr/>
        </p:nvSpPr>
        <p:spPr>
          <a:xfrm>
            <a:off x="10058569" y="2580485"/>
            <a:ext cx="14627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Target compound</a:t>
            </a:r>
          </a:p>
        </p:txBody>
      </p:sp>
    </p:spTree>
    <p:extLst>
      <p:ext uri="{BB962C8B-B14F-4D97-AF65-F5344CB8AC3E}">
        <p14:creationId xmlns:p14="http://schemas.microsoft.com/office/powerpoint/2010/main" val="242664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1A57-EA6D-A585-B9FE-41D0F177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614E61-CC20-D585-213C-05E9EF89212C}"/>
              </a:ext>
            </a:extLst>
          </p:cNvPr>
          <p:cNvSpPr/>
          <p:nvPr/>
        </p:nvSpPr>
        <p:spPr>
          <a:xfrm>
            <a:off x="0" y="3553"/>
            <a:ext cx="12192000" cy="688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Ferrocene -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45067-69CA-E1EA-D195-474621ABCFB2}"/>
              </a:ext>
            </a:extLst>
          </p:cNvPr>
          <p:cNvSpPr txBox="1"/>
          <p:nvPr/>
        </p:nvSpPr>
        <p:spPr>
          <a:xfrm>
            <a:off x="551467" y="5744793"/>
            <a:ext cx="6117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G. Wilkinson, M. Rosenblum, M. C. Whiting, R. B. Woodward. </a:t>
            </a:r>
            <a:r>
              <a:rPr lang="de-DE" b="0" i="1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Am. Chem. Soc.</a:t>
            </a:r>
            <a:r>
              <a:rPr lang="de-DE" b="0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de-DE" b="1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1952</a:t>
            </a:r>
            <a:r>
              <a:rPr lang="de-DE" b="0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b="0" i="1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</a:t>
            </a:r>
            <a:r>
              <a:rPr lang="de-DE" b="0" i="0" dirty="0">
                <a:solidFill>
                  <a:srgbClr val="15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2125–2126.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4D3262-E0F9-C120-8F81-4539F6909B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553"/>
          <a:stretch>
            <a:fillRect/>
          </a:stretch>
        </p:blipFill>
        <p:spPr>
          <a:xfrm>
            <a:off x="96303" y="947979"/>
            <a:ext cx="6362163" cy="21345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8C4C7-995A-224C-2ACC-C8CBF5397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0" y="3452816"/>
            <a:ext cx="4036089" cy="1921725"/>
          </a:xfrm>
          <a:prstGeom prst="rect">
            <a:avLst/>
          </a:prstGeom>
        </p:spPr>
      </p:pic>
      <p:pic>
        <p:nvPicPr>
          <p:cNvPr id="7170" name="Picture 2" descr="The Nobel Prize in Chemistry 1973 was awarded jointly to ...">
            <a:extLst>
              <a:ext uri="{FF2B5EF4-FFF2-40B4-BE49-F238E27FC236}">
                <a16:creationId xmlns:a16="http://schemas.microsoft.com/office/drawing/2014/main" id="{6F069330-B387-BA0F-C7F6-94C0C7F4EB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04"/>
          <a:stretch>
            <a:fillRect/>
          </a:stretch>
        </p:blipFill>
        <p:spPr bwMode="auto">
          <a:xfrm>
            <a:off x="7662070" y="1909766"/>
            <a:ext cx="3371850" cy="288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332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5BCFDA-0085-CCE9-0F6B-A3E31A9ACFE3}"/>
              </a:ext>
            </a:extLst>
          </p:cNvPr>
          <p:cNvSpPr/>
          <p:nvPr/>
        </p:nvSpPr>
        <p:spPr>
          <a:xfrm>
            <a:off x="0" y="3553"/>
            <a:ext cx="12192000" cy="688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Ferrocene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616CBF-6DCC-2C99-B05F-D37FC0CC25ED}"/>
              </a:ext>
            </a:extLst>
          </p:cNvPr>
          <p:cNvGrpSpPr/>
          <p:nvPr/>
        </p:nvGrpSpPr>
        <p:grpSpPr>
          <a:xfrm>
            <a:off x="876693" y="1092069"/>
            <a:ext cx="2679533" cy="1822500"/>
            <a:chOff x="1310327" y="1676531"/>
            <a:chExt cx="2679533" cy="1822500"/>
          </a:xfrm>
        </p:grpSpPr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33C9E1D8-1604-F27D-6052-C42B59F885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219065"/>
                </p:ext>
              </p:extLst>
            </p:nvPr>
          </p:nvGraphicFramePr>
          <p:xfrm>
            <a:off x="1432172" y="1676531"/>
            <a:ext cx="2441575" cy="1257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2" imgW="2441235" imgH="1257347" progId="ChemDraw.Document.6.0">
                    <p:embed/>
                  </p:oleObj>
                </mc:Choice>
                <mc:Fallback>
                  <p:oleObj name="CS ChemDraw Drawing" r:id="rId2" imgW="2441235" imgH="1257347" progId="ChemDraw.Document.6.0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432172" y="1676531"/>
                          <a:ext cx="2441575" cy="1257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9F7495-BF2E-BCCD-26A4-42F9642425CF}"/>
                </a:ext>
              </a:extLst>
            </p:cNvPr>
            <p:cNvSpPr txBox="1"/>
            <p:nvPr/>
          </p:nvSpPr>
          <p:spPr>
            <a:xfrm>
              <a:off x="1310327" y="3129699"/>
              <a:ext cx="1123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Staggered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09E2175-FC55-2F8B-744D-044F2512C2E4}"/>
                </a:ext>
              </a:extLst>
            </p:cNvPr>
            <p:cNvSpPr txBox="1"/>
            <p:nvPr/>
          </p:nvSpPr>
          <p:spPr>
            <a:xfrm>
              <a:off x="3044858" y="3129699"/>
              <a:ext cx="9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Eclipsed</a:t>
              </a:r>
            </a:p>
          </p:txBody>
        </p:sp>
      </p:grpSp>
      <p:pic>
        <p:nvPicPr>
          <p:cNvPr id="1028" name="Picture 4" descr="Ferrocene Powder Exporter, Supplier ...">
            <a:extLst>
              <a:ext uri="{FF2B5EF4-FFF2-40B4-BE49-F238E27FC236}">
                <a16:creationId xmlns:a16="http://schemas.microsoft.com/office/drawing/2014/main" id="{B7ADCD27-BD54-AD1F-B70A-A9E8430F8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96" y="3110437"/>
            <a:ext cx="2847975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0DF423D-8FA8-E379-F5E9-01D744C447DD}"/>
              </a:ext>
            </a:extLst>
          </p:cNvPr>
          <p:cNvGrpSpPr/>
          <p:nvPr/>
        </p:nvGrpSpPr>
        <p:grpSpPr>
          <a:xfrm>
            <a:off x="5605177" y="1384300"/>
            <a:ext cx="6168272" cy="4718124"/>
            <a:chOff x="5605177" y="1384300"/>
            <a:chExt cx="6168272" cy="471812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7492D44-2821-03BB-15BB-2DEFD04F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5177" y="1384300"/>
              <a:ext cx="6168272" cy="431450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770777-06CF-4215-F8DA-F8FEC1725645}"/>
                </a:ext>
              </a:extLst>
            </p:cNvPr>
            <p:cNvSpPr txBox="1"/>
            <p:nvPr/>
          </p:nvSpPr>
          <p:spPr>
            <a:xfrm>
              <a:off x="7211505" y="5733092"/>
              <a:ext cx="2955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aseline="30000" dirty="0"/>
                <a:t>1</a:t>
              </a:r>
              <a:r>
                <a:rPr lang="en-IN" dirty="0"/>
                <a:t>H NMR spectra of Ferrocene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F325BD-FBB3-3586-D4B2-629A7B60E8B0}"/>
              </a:ext>
            </a:extLst>
          </p:cNvPr>
          <p:cNvSpPr txBox="1"/>
          <p:nvPr/>
        </p:nvSpPr>
        <p:spPr>
          <a:xfrm>
            <a:off x="1102936" y="4812137"/>
            <a:ext cx="2528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Most Stable Metallocene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30A7E929-9021-90AF-F79F-0C44D4FD3C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412749"/>
              </p:ext>
            </p:extLst>
          </p:nvPr>
        </p:nvGraphicFramePr>
        <p:xfrm>
          <a:off x="223838" y="5743575"/>
          <a:ext cx="560546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149675" imgH="580738" progId="ChemDraw.Document.6.0">
                  <p:embed/>
                </p:oleObj>
              </mc:Choice>
              <mc:Fallback>
                <p:oleObj name="CS ChemDraw Drawing" r:id="rId6" imgW="4149675" imgH="58073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3838" y="5743575"/>
                        <a:ext cx="5605462" cy="784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93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DEFAC-C089-BBC4-A80C-342FE1E238CC}"/>
              </a:ext>
            </a:extLst>
          </p:cNvPr>
          <p:cNvSpPr/>
          <p:nvPr/>
        </p:nvSpPr>
        <p:spPr>
          <a:xfrm>
            <a:off x="0" y="1"/>
            <a:ext cx="12192000" cy="691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Ferrocene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C39C12B-2FF6-5D8D-5BC0-BCDEC0D753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150389"/>
              </p:ext>
            </p:extLst>
          </p:nvPr>
        </p:nvGraphicFramePr>
        <p:xfrm>
          <a:off x="220663" y="1285875"/>
          <a:ext cx="6977062" cy="318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6977085" imgH="3186637" progId="ChemDraw.Document.6.0">
                  <p:embed/>
                </p:oleObj>
              </mc:Choice>
              <mc:Fallback>
                <p:oleObj name="CS ChemDraw Drawing" r:id="rId3" imgW="6977085" imgH="318663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663" y="1285875"/>
                        <a:ext cx="6977062" cy="3186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28231D-08C6-ECAA-AB60-E97C41B91E4C}"/>
              </a:ext>
            </a:extLst>
          </p:cNvPr>
          <p:cNvSpPr txBox="1"/>
          <p:nvPr/>
        </p:nvSpPr>
        <p:spPr>
          <a:xfrm>
            <a:off x="803357" y="725861"/>
            <a:ext cx="3271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/>
              <a:t>Friedel Craft Acylation/Alkylation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95FEE93-57A5-D19E-8729-AC2CB9080B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495312"/>
              </p:ext>
            </p:extLst>
          </p:nvPr>
        </p:nvGraphicFramePr>
        <p:xfrm>
          <a:off x="4027323" y="5471507"/>
          <a:ext cx="5403850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5403891" imgH="1211533" progId="ChemDraw.Document.6.0">
                  <p:embed/>
                </p:oleObj>
              </mc:Choice>
              <mc:Fallback>
                <p:oleObj name="CS ChemDraw Drawing" r:id="rId5" imgW="5403891" imgH="121153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27323" y="5471507"/>
                        <a:ext cx="5403850" cy="1211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B9400C4-34A9-BD80-EDB1-2AF79D9C5DEA}"/>
              </a:ext>
            </a:extLst>
          </p:cNvPr>
          <p:cNvSpPr txBox="1"/>
          <p:nvPr/>
        </p:nvSpPr>
        <p:spPr>
          <a:xfrm>
            <a:off x="4411744" y="4923177"/>
            <a:ext cx="187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 err="1"/>
              <a:t>Mannich</a:t>
            </a:r>
            <a:r>
              <a:rPr lang="en-IN" u="sng" dirty="0"/>
              <a:t> Reaction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034B31F-2DC6-7397-59A9-46BE6C4164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656532"/>
              </p:ext>
            </p:extLst>
          </p:nvPr>
        </p:nvGraphicFramePr>
        <p:xfrm>
          <a:off x="8061325" y="1271588"/>
          <a:ext cx="3646488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3646967" imgH="1203897" progId="ChemDraw.Document.6.0">
                  <p:embed/>
                </p:oleObj>
              </mc:Choice>
              <mc:Fallback>
                <p:oleObj name="CS ChemDraw Drawing" r:id="rId7" imgW="3646967" imgH="120389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61325" y="1271588"/>
                        <a:ext cx="3646488" cy="1203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79B641A-43AE-D829-2821-877BD4652BF7}"/>
              </a:ext>
            </a:extLst>
          </p:cNvPr>
          <p:cNvSpPr txBox="1"/>
          <p:nvPr/>
        </p:nvSpPr>
        <p:spPr>
          <a:xfrm>
            <a:off x="7948825" y="795069"/>
            <a:ext cx="1434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/>
              <a:t>Sulphonation</a:t>
            </a:r>
          </a:p>
        </p:txBody>
      </p:sp>
    </p:spTree>
    <p:extLst>
      <p:ext uri="{BB962C8B-B14F-4D97-AF65-F5344CB8AC3E}">
        <p14:creationId xmlns:p14="http://schemas.microsoft.com/office/powerpoint/2010/main" val="97870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D126AD-1652-2DFC-21B5-71ED3F880077}"/>
              </a:ext>
            </a:extLst>
          </p:cNvPr>
          <p:cNvSpPr/>
          <p:nvPr/>
        </p:nvSpPr>
        <p:spPr>
          <a:xfrm>
            <a:off x="0" y="1"/>
            <a:ext cx="12192000" cy="691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Ferrocene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E1F4CD4-CBD7-7F63-83F6-EF80AF9C7D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136527"/>
              </p:ext>
            </p:extLst>
          </p:nvPr>
        </p:nvGraphicFramePr>
        <p:xfrm>
          <a:off x="310709" y="3161945"/>
          <a:ext cx="3424237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424109" imgH="1209836" progId="ChemDraw.Document.6.0">
                  <p:embed/>
                </p:oleObj>
              </mc:Choice>
              <mc:Fallback>
                <p:oleObj name="CS ChemDraw Drawing" r:id="rId2" imgW="3424109" imgH="120983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0709" y="3161945"/>
                        <a:ext cx="3424237" cy="1209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4E4EE11-A8E5-71A7-D694-1093F23D68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43748"/>
              </p:ext>
            </p:extLst>
          </p:nvPr>
        </p:nvGraphicFramePr>
        <p:xfrm>
          <a:off x="3734946" y="3176233"/>
          <a:ext cx="2447925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447615" imgH="1194989" progId="ChemDraw.Document.6.0">
                  <p:embed/>
                </p:oleObj>
              </mc:Choice>
              <mc:Fallback>
                <p:oleObj name="CS ChemDraw Drawing" r:id="rId4" imgW="2447615" imgH="119498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34946" y="3176233"/>
                        <a:ext cx="2447925" cy="1195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A8F913D-CBDD-E818-C268-86B1F5FF80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961328"/>
              </p:ext>
            </p:extLst>
          </p:nvPr>
        </p:nvGraphicFramePr>
        <p:xfrm>
          <a:off x="3814763" y="4588662"/>
          <a:ext cx="2281237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2281322" imgH="1999284" progId="ChemDraw.Document.6.0">
                  <p:embed/>
                </p:oleObj>
              </mc:Choice>
              <mc:Fallback>
                <p:oleObj name="CS ChemDraw Drawing" r:id="rId6" imgW="2281322" imgH="199928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14763" y="4588662"/>
                        <a:ext cx="2281237" cy="1998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4302625-AE1E-CF7E-DE4D-BFD6835686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025465"/>
              </p:ext>
            </p:extLst>
          </p:nvPr>
        </p:nvGraphicFramePr>
        <p:xfrm>
          <a:off x="2524911" y="4452120"/>
          <a:ext cx="1503363" cy="236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502593" imgH="2367071" progId="ChemDraw.Document.6.0">
                  <p:embed/>
                </p:oleObj>
              </mc:Choice>
              <mc:Fallback>
                <p:oleObj name="CS ChemDraw Drawing" r:id="rId8" imgW="1502593" imgH="236707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24911" y="4452120"/>
                        <a:ext cx="1503363" cy="2366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FA86979-1AFE-5D48-D146-E5F904D994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763521"/>
              </p:ext>
            </p:extLst>
          </p:nvPr>
        </p:nvGraphicFramePr>
        <p:xfrm>
          <a:off x="3568242" y="1063715"/>
          <a:ext cx="2093913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2094189" imgH="1866507" progId="ChemDraw.Document.6.0">
                  <p:embed/>
                </p:oleObj>
              </mc:Choice>
              <mc:Fallback>
                <p:oleObj name="CS ChemDraw Drawing" r:id="rId10" imgW="2094189" imgH="186650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68242" y="1063715"/>
                        <a:ext cx="2093913" cy="186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20908C1-3C0A-29A4-D7B7-0234DC7769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205263"/>
              </p:ext>
            </p:extLst>
          </p:nvPr>
        </p:nvGraphicFramePr>
        <p:xfrm>
          <a:off x="2477776" y="750532"/>
          <a:ext cx="1400175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400521" imgH="2410764" progId="ChemDraw.Document.6.0">
                  <p:embed/>
                </p:oleObj>
              </mc:Choice>
              <mc:Fallback>
                <p:oleObj name="CS ChemDraw Drawing" r:id="rId12" imgW="1400521" imgH="241076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77776" y="750532"/>
                        <a:ext cx="1400175" cy="2411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4B69895-5C8E-7709-A422-56D49DA64A5F}"/>
              </a:ext>
            </a:extLst>
          </p:cNvPr>
          <p:cNvSpPr txBox="1"/>
          <p:nvPr/>
        </p:nvSpPr>
        <p:spPr>
          <a:xfrm>
            <a:off x="8700940" y="1934853"/>
            <a:ext cx="1334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/>
              <a:t>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818287-0E2A-03FF-9FF2-A60802A2D55A}"/>
              </a:ext>
            </a:extLst>
          </p:cNvPr>
          <p:cNvSpPr txBox="1"/>
          <p:nvPr/>
        </p:nvSpPr>
        <p:spPr>
          <a:xfrm>
            <a:off x="8041064" y="2498105"/>
            <a:ext cx="346780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Ferroquine- Antimalarial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Ferrocifen</a:t>
            </a:r>
            <a:r>
              <a:rPr lang="en-IN" dirty="0"/>
              <a:t>- Anticancer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Organic transformations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Anti-Knock agent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Soot reduction in diesel engines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Redox flow battery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91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EF275E-4494-11AD-2E7F-AD93B3B94E2B}"/>
              </a:ext>
            </a:extLst>
          </p:cNvPr>
          <p:cNvSpPr/>
          <p:nvPr/>
        </p:nvSpPr>
        <p:spPr>
          <a:xfrm>
            <a:off x="0" y="3553"/>
            <a:ext cx="12192000" cy="688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Cobaltocene &amp; Nickelocene</a:t>
            </a:r>
          </a:p>
        </p:txBody>
      </p:sp>
      <p:pic>
        <p:nvPicPr>
          <p:cNvPr id="8194" name="Picture 2" descr="Cobaltocene - Wikipedia">
            <a:extLst>
              <a:ext uri="{FF2B5EF4-FFF2-40B4-BE49-F238E27FC236}">
                <a16:creationId xmlns:a16="http://schemas.microsoft.com/office/drawing/2014/main" id="{6729B210-4B57-1F99-D582-678B8A7ED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565" y="981482"/>
            <a:ext cx="238125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2BAF37A-4967-D96D-292F-83604BBEA3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600236"/>
              </p:ext>
            </p:extLst>
          </p:nvPr>
        </p:nvGraphicFramePr>
        <p:xfrm>
          <a:off x="814356" y="1101939"/>
          <a:ext cx="81597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815305" imgH="1257347" progId="ChemDraw.Document.6.0">
                  <p:embed/>
                </p:oleObj>
              </mc:Choice>
              <mc:Fallback>
                <p:oleObj name="CS ChemDraw Drawing" r:id="rId3" imgW="815305" imgH="125734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4356" y="1101939"/>
                        <a:ext cx="815975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0556F4C-3F6A-6B30-CD73-5FB09FA2AC86}"/>
              </a:ext>
            </a:extLst>
          </p:cNvPr>
          <p:cNvSpPr txBox="1"/>
          <p:nvPr/>
        </p:nvSpPr>
        <p:spPr>
          <a:xfrm>
            <a:off x="966133" y="2400136"/>
            <a:ext cx="657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19 e</a:t>
            </a:r>
            <a:r>
              <a:rPr lang="en-IN" sz="1600" baseline="30000" dirty="0"/>
              <a:t>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3FEEA-BF8B-87E8-3173-E0733F3D155B}"/>
              </a:ext>
            </a:extLst>
          </p:cNvPr>
          <p:cNvSpPr txBox="1"/>
          <p:nvPr/>
        </p:nvSpPr>
        <p:spPr>
          <a:xfrm>
            <a:off x="2912883" y="2884602"/>
            <a:ext cx="1462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Dark Purple </a:t>
            </a:r>
          </a:p>
          <a:p>
            <a:pPr algn="ctr"/>
            <a:r>
              <a:rPr lang="en-IN" dirty="0"/>
              <a:t>Paramagnetic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52C714C7-8646-4369-2E9B-2E607129D8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145"/>
              </p:ext>
            </p:extLst>
          </p:nvPr>
        </p:nvGraphicFramePr>
        <p:xfrm>
          <a:off x="555625" y="4678363"/>
          <a:ext cx="456723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3354359" imgH="497170" progId="ChemDraw.Document.6.0">
                  <p:embed/>
                </p:oleObj>
              </mc:Choice>
              <mc:Fallback>
                <p:oleObj name="CS ChemDraw Drawing" r:id="rId5" imgW="3354359" imgH="4971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5625" y="4678363"/>
                        <a:ext cx="4567238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BF1A84E-B493-A693-D1BB-ECCD693C6D6E}"/>
              </a:ext>
            </a:extLst>
          </p:cNvPr>
          <p:cNvSpPr txBox="1"/>
          <p:nvPr/>
        </p:nvSpPr>
        <p:spPr>
          <a:xfrm>
            <a:off x="324161" y="5756061"/>
            <a:ext cx="5690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Susceptible to aerial oxidation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Powerful reducing agent for organometallic compounds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36DFFB8-4748-9A84-4F03-A44CB5EEB526}"/>
              </a:ext>
            </a:extLst>
          </p:cNvPr>
          <p:cNvGrpSpPr/>
          <p:nvPr/>
        </p:nvGrpSpPr>
        <p:grpSpPr>
          <a:xfrm>
            <a:off x="7365984" y="998766"/>
            <a:ext cx="3907340" cy="2608513"/>
            <a:chOff x="7365984" y="998766"/>
            <a:chExt cx="3907340" cy="260851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CCAE487-FC19-CBFD-D678-920AFBD47801}"/>
                </a:ext>
              </a:extLst>
            </p:cNvPr>
            <p:cNvGrpSpPr/>
            <p:nvPr/>
          </p:nvGrpSpPr>
          <p:grpSpPr>
            <a:xfrm>
              <a:off x="7365984" y="1101939"/>
              <a:ext cx="815975" cy="1595854"/>
              <a:chOff x="7365984" y="1101939"/>
              <a:chExt cx="815975" cy="1595854"/>
            </a:xfrm>
          </p:grpSpPr>
          <p:graphicFrame>
            <p:nvGraphicFramePr>
              <p:cNvPr id="15" name="Object 14">
                <a:extLst>
                  <a:ext uri="{FF2B5EF4-FFF2-40B4-BE49-F238E27FC236}">
                    <a16:creationId xmlns:a16="http://schemas.microsoft.com/office/drawing/2014/main" id="{6D57173E-28F2-228E-9A37-0257EEEF7A9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6158941"/>
                  </p:ext>
                </p:extLst>
              </p:nvPr>
            </p:nvGraphicFramePr>
            <p:xfrm>
              <a:off x="7365984" y="1101939"/>
              <a:ext cx="815975" cy="1257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S ChemDraw Drawing" r:id="rId7" imgW="816580" imgH="1257347" progId="ChemDraw.Document.6.0">
                      <p:embed/>
                    </p:oleObj>
                  </mc:Choice>
                  <mc:Fallback>
                    <p:oleObj name="CS ChemDraw Drawing" r:id="rId7" imgW="816580" imgH="1257347" progId="ChemDraw.Document.6.0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7365984" y="1101939"/>
                            <a:ext cx="815975" cy="1257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969441-39D3-6281-F6E7-A988C28E7E66}"/>
                  </a:ext>
                </a:extLst>
              </p:cNvPr>
              <p:cNvSpPr txBox="1"/>
              <p:nvPr/>
            </p:nvSpPr>
            <p:spPr>
              <a:xfrm>
                <a:off x="7505553" y="2359239"/>
                <a:ext cx="6575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20 e</a:t>
                </a:r>
                <a:r>
                  <a:rPr lang="en-IN" sz="1600" baseline="30000" dirty="0"/>
                  <a:t>-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A97631E-CAEA-2794-05B8-DD5B7AE5ECCB}"/>
                </a:ext>
              </a:extLst>
            </p:cNvPr>
            <p:cNvGrpSpPr/>
            <p:nvPr/>
          </p:nvGrpSpPr>
          <p:grpSpPr>
            <a:xfrm>
              <a:off x="9448144" y="998766"/>
              <a:ext cx="1825180" cy="2608513"/>
              <a:chOff x="9448144" y="998766"/>
              <a:chExt cx="1825180" cy="2608513"/>
            </a:xfrm>
          </p:grpSpPr>
          <p:pic>
            <p:nvPicPr>
              <p:cNvPr id="2056" name="Picture 8">
                <a:extLst>
                  <a:ext uri="{FF2B5EF4-FFF2-40B4-BE49-F238E27FC236}">
                    <a16:creationId xmlns:a16="http://schemas.microsoft.com/office/drawing/2014/main" id="{C2BF5F88-BD9F-7097-684D-B6F8F557E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2774" r="13550" b="10167"/>
              <a:stretch>
                <a:fillRect/>
              </a:stretch>
            </p:blipFill>
            <p:spPr bwMode="auto">
              <a:xfrm>
                <a:off x="9448144" y="998766"/>
                <a:ext cx="1825180" cy="18858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D84983-8C87-3E65-E1C5-B350CCB12B84}"/>
                  </a:ext>
                </a:extLst>
              </p:cNvPr>
              <p:cNvSpPr txBox="1"/>
              <p:nvPr/>
            </p:nvSpPr>
            <p:spPr>
              <a:xfrm>
                <a:off x="9707049" y="2960948"/>
                <a:ext cx="14625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dirty="0"/>
                  <a:t>Bright Green</a:t>
                </a:r>
              </a:p>
              <a:p>
                <a:pPr algn="ctr"/>
                <a:r>
                  <a:rPr lang="en-IN" dirty="0"/>
                  <a:t>Paramagnetic</a:t>
                </a:r>
              </a:p>
            </p:txBody>
          </p:sp>
        </p:grpSp>
      </p:grp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CD760F2A-80CF-8B5B-092E-3A3083B2DD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107612"/>
              </p:ext>
            </p:extLst>
          </p:nvPr>
        </p:nvGraphicFramePr>
        <p:xfrm>
          <a:off x="5867400" y="3597275"/>
          <a:ext cx="62087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4482261" imgH="291005" progId="ChemDraw.Document.6.0">
                  <p:embed/>
                </p:oleObj>
              </mc:Choice>
              <mc:Fallback>
                <p:oleObj name="CS ChemDraw Drawing" r:id="rId10" imgW="4482261" imgH="29100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67400" y="3597275"/>
                        <a:ext cx="6208713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7C44B64F-8FD4-73F3-D360-D1AAC40178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102954"/>
              </p:ext>
            </p:extLst>
          </p:nvPr>
        </p:nvGraphicFramePr>
        <p:xfrm>
          <a:off x="9448144" y="3995737"/>
          <a:ext cx="1468437" cy="286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467718" imgH="2862119" progId="ChemDraw.Document.6.0">
                  <p:embed/>
                </p:oleObj>
              </mc:Choice>
              <mc:Fallback>
                <p:oleObj name="CS ChemDraw Drawing" r:id="rId12" imgW="1467718" imgH="286211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448144" y="3995737"/>
                        <a:ext cx="1468437" cy="2862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350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41E9CD-6956-5E9B-D538-D36D49EF16B5}"/>
              </a:ext>
            </a:extLst>
          </p:cNvPr>
          <p:cNvSpPr/>
          <p:nvPr/>
        </p:nvSpPr>
        <p:spPr>
          <a:xfrm>
            <a:off x="0" y="3553"/>
            <a:ext cx="12192000" cy="688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Cycloheptatriene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FD9A9-BD66-185B-0026-25E5F7DDE81E}"/>
              </a:ext>
            </a:extLst>
          </p:cNvPr>
          <p:cNvSpPr txBox="1"/>
          <p:nvPr/>
        </p:nvSpPr>
        <p:spPr>
          <a:xfrm>
            <a:off x="494754" y="2391618"/>
            <a:ext cx="1785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Cycloheptatriene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9E24C-79E4-6927-8DEE-54AFDD75E90A}"/>
              </a:ext>
            </a:extLst>
          </p:cNvPr>
          <p:cNvSpPr txBox="1"/>
          <p:nvPr/>
        </p:nvSpPr>
        <p:spPr>
          <a:xfrm>
            <a:off x="2463114" y="2367693"/>
            <a:ext cx="2181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Cycloheptatrienylium</a:t>
            </a:r>
          </a:p>
          <a:p>
            <a:pPr algn="ctr"/>
            <a:r>
              <a:rPr lang="en-IN" dirty="0"/>
              <a:t>(</a:t>
            </a:r>
            <a:r>
              <a:rPr lang="en-IN" dirty="0" err="1"/>
              <a:t>Tropilium</a:t>
            </a:r>
            <a:r>
              <a:rPr lang="en-IN" dirty="0"/>
              <a:t>) cation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9E3C03F-1E07-F033-C064-75DD033B74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199396"/>
              </p:ext>
            </p:extLst>
          </p:nvPr>
        </p:nvGraphicFramePr>
        <p:xfrm>
          <a:off x="6355564" y="900950"/>
          <a:ext cx="4927600" cy="218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927127" imgH="2188480" progId="ChemDraw.Document.6.0">
                  <p:embed/>
                </p:oleObj>
              </mc:Choice>
              <mc:Fallback>
                <p:oleObj name="CS ChemDraw Drawing" r:id="rId2" imgW="4927127" imgH="218848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55564" y="900950"/>
                        <a:ext cx="4927600" cy="2189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CA13FA0-3687-77F3-FB7A-9FDCC08D06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712077"/>
              </p:ext>
            </p:extLst>
          </p:nvPr>
        </p:nvGraphicFramePr>
        <p:xfrm>
          <a:off x="3503613" y="4043363"/>
          <a:ext cx="3724275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724798" imgH="2104487" progId="ChemDraw.Document.6.0">
                  <p:embed/>
                </p:oleObj>
              </mc:Choice>
              <mc:Fallback>
                <p:oleObj name="CS ChemDraw Drawing" r:id="rId4" imgW="3724798" imgH="210448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3613" y="4043363"/>
                        <a:ext cx="3724275" cy="210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F0582FE-47DC-3A4A-C77F-ECC5B06EC7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9668"/>
              </p:ext>
            </p:extLst>
          </p:nvPr>
        </p:nvGraphicFramePr>
        <p:xfrm>
          <a:off x="1000812" y="1237366"/>
          <a:ext cx="9144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914400" imgH="893378" progId="ChemDraw.Document.6.0">
                  <p:embed/>
                </p:oleObj>
              </mc:Choice>
              <mc:Fallback>
                <p:oleObj name="CS ChemDraw Drawing" r:id="rId6" imgW="914400" imgH="89337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00812" y="1237366"/>
                        <a:ext cx="914400" cy="893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C3F60BD-9194-C096-EDDD-02344CDDF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240095"/>
              </p:ext>
            </p:extLst>
          </p:nvPr>
        </p:nvGraphicFramePr>
        <p:xfrm>
          <a:off x="3046413" y="1090423"/>
          <a:ext cx="9144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914400" imgH="1053304" progId="ChemDraw.Document.6.0">
                  <p:embed/>
                </p:oleObj>
              </mc:Choice>
              <mc:Fallback>
                <p:oleObj name="CS ChemDraw Drawing" r:id="rId8" imgW="914400" imgH="105330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46413" y="1090423"/>
                        <a:ext cx="914400" cy="1052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770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Synthesis of uranocene">
            <a:hlinkClick r:id="rId2" tooltip="Synthesis of uranocene"/>
            <a:extLst>
              <a:ext uri="{FF2B5EF4-FFF2-40B4-BE49-F238E27FC236}">
                <a16:creationId xmlns:a16="http://schemas.microsoft.com/office/drawing/2014/main" id="{3CC104C4-C435-D681-19D5-617B50AA6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690" y="1392468"/>
            <a:ext cx="7188663" cy="1503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79DE76-D0E7-4D41-41E1-7B5C56073672}"/>
              </a:ext>
            </a:extLst>
          </p:cNvPr>
          <p:cNvSpPr/>
          <p:nvPr/>
        </p:nvSpPr>
        <p:spPr>
          <a:xfrm>
            <a:off x="0" y="3553"/>
            <a:ext cx="12192000" cy="688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Cyclooctatetraene (Cot)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A1883-832E-CF1D-F99C-0D5CEA409E4D}"/>
              </a:ext>
            </a:extLst>
          </p:cNvPr>
          <p:cNvSpPr txBox="1"/>
          <p:nvPr/>
        </p:nvSpPr>
        <p:spPr>
          <a:xfrm>
            <a:off x="2373690" y="4990527"/>
            <a:ext cx="1430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Aromaticity ?</a:t>
            </a:r>
          </a:p>
        </p:txBody>
      </p:sp>
      <p:pic>
        <p:nvPicPr>
          <p:cNvPr id="6149" name="Picture 5" descr="Cyclooctatetraene - Wikipedia">
            <a:extLst>
              <a:ext uri="{FF2B5EF4-FFF2-40B4-BE49-F238E27FC236}">
                <a16:creationId xmlns:a16="http://schemas.microsoft.com/office/drawing/2014/main" id="{A7DD6B43-E229-BD2E-4AB5-A99F65DB6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640" y="2786685"/>
            <a:ext cx="28289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16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168</Words>
  <Application>Microsoft Office PowerPoint</Application>
  <PresentationFormat>Widescreen</PresentationFormat>
  <Paragraphs>53</Paragraphs>
  <Slides>13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-apple-system</vt:lpstr>
      <vt:lpstr>Arial</vt:lpstr>
      <vt:lpstr>Calibri</vt:lpstr>
      <vt:lpstr>Calibri Light</vt:lpstr>
      <vt:lpstr>Times New Roman</vt:lpstr>
      <vt:lpstr>Office Theme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SIULI DAS</dc:creator>
  <cp:lastModifiedBy>SIULI DAS</cp:lastModifiedBy>
  <cp:revision>9</cp:revision>
  <dcterms:created xsi:type="dcterms:W3CDTF">2025-08-22T15:18:29Z</dcterms:created>
  <dcterms:modified xsi:type="dcterms:W3CDTF">2025-08-30T07:17:51Z</dcterms:modified>
</cp:coreProperties>
</file>