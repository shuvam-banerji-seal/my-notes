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AF466-6B33-4133-8832-B4CD3589050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7FC4B-56A9-4135-9928-646BCE134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19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D7FC4B-56A9-4135-9928-646BCE13486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17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F4EA-9E11-A757-2666-9EE1EA4E5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B208A-CA36-0EFE-B09E-712217EA5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AE92A-87E4-0FB8-ED7B-34A3C8FA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E4398-D9B9-9093-67ED-C21D27FC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3994F-04F8-CD9F-CF83-8BCC5C5A1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4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FAC49-2EE8-DF38-76A3-DD323C04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9168C-5258-5C34-5569-7BDECEBFF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F766A-0BA1-DFAF-6AA2-0DF4F05E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FA3D0-56DD-3156-8E01-53B59833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6C313-8365-E701-D462-5D3EAC45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51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18E1-5840-632D-368B-D47FEE80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F0456-B347-CD4D-6639-B203A8363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C11D0-4689-F254-6A53-FA02FC407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FBA3-6EB5-C8DE-2490-F2B7E1B6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518C4-9CFA-80BD-239C-110CDF7D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11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6056-A303-88FC-BD2F-082680E6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F97F9-94DC-3205-7FA6-E356ADBFA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FC832-504D-407C-0587-74C74BA55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147B1-BCBF-B398-8FB7-C5F43DB2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F466D-7099-DB34-48BE-E34FC9C7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CA692-BE57-0A6A-EEFF-386F8909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87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AA464-0DDD-F693-7AB3-D888C65D9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3A901-B6BF-DBB0-4237-A6B358E72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9E697-4D2D-E43B-E3E6-CEC3A01EB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889D7-D59E-9F55-4B0A-20E1AC89B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C69D3-4A2B-200E-C914-075B95144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EE8D6-F59B-5CD4-B023-72CD910B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802F0-0ED5-0DAD-B61E-1911A5F6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9A033-F465-454B-F49E-DD84DE19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37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97A2F-1345-B81C-D050-7DB13A097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8155E6-C6C4-CDE8-C8FA-0681878A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EAD06-3A83-3EF2-22A3-70A4E05B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F4873-0644-4343-343E-CF4A9333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83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A5C98-6EE4-0648-BE8C-873C37DEF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9906C4-569F-49E0-2EE7-33EF0150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25E17-2F62-AEF8-55AD-C7548B002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012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D53C-B58D-7522-C754-CC578FBAC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DDB19-412A-749F-01D9-397F17AA8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B2351-0737-D87F-103E-2E34E99D5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82BD7-C998-51E4-32AC-3BC1759A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29DEE-730D-21A5-0815-5F27FBCE6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006AC-6E27-40A0-730A-BA4B837A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53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BD54-9980-004F-7197-7E116C596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CB458-FAA5-908B-7B4A-D29592ECA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40543-D1FE-3333-D2B4-A5EE40A4C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A8A24-0B9F-6FE1-79C9-D4AEA9C5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4F923-AFB0-A3DC-3F88-CC0D2FD2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0422E-A201-FF34-B0A6-3F7771C1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424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9744-030E-611D-45BC-F7FD574D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CF76C-E6FE-D70B-A26E-DBCD76BF6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29837-C082-FD5E-1CD6-164DB15D3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08446-F814-3245-9C22-7B81ABC4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7FD13-3986-05CC-DF26-2B0ADC4D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1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5FA9A-EB1F-9291-56DB-4786828E9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1F02B-04BD-B5F2-8AF4-4DC5B7EBA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58E36-AE7C-FF2B-2C10-3E76DF5C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A6AFA-FC9C-616D-032C-173C54357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C6D88-9CD8-7854-F75E-5DC392DE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90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F2F59-BC26-C4BC-AB4D-EB3B2D6C1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2C447-2C85-228D-6446-C7FB50364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98C59-D79E-CFF2-EF12-3820CA8137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95D62-624F-44C6-A734-C9390FC15141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BE6-7F53-86FC-1C42-F74C47B43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9A083-96C0-19C0-9D75-7FCFD5ACE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9509F-71A0-4018-8F9F-17937F8DB1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083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B00F46-23CF-46B2-0904-A357AD6EF37C}"/>
              </a:ext>
            </a:extLst>
          </p:cNvPr>
          <p:cNvSpPr/>
          <p:nvPr/>
        </p:nvSpPr>
        <p:spPr>
          <a:xfrm>
            <a:off x="570271" y="5309419"/>
            <a:ext cx="2782529" cy="40312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984F48-4DF2-800D-B818-A50C620D5C6A}"/>
              </a:ext>
            </a:extLst>
          </p:cNvPr>
          <p:cNvSpPr/>
          <p:nvPr/>
        </p:nvSpPr>
        <p:spPr>
          <a:xfrm>
            <a:off x="570271" y="2772697"/>
            <a:ext cx="8239432" cy="3637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E065A-3CAD-C058-78C4-FD9350890433}"/>
              </a:ext>
            </a:extLst>
          </p:cNvPr>
          <p:cNvSpPr txBox="1"/>
          <p:nvPr/>
        </p:nvSpPr>
        <p:spPr>
          <a:xfrm>
            <a:off x="80388" y="168336"/>
            <a:ext cx="1236007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iron-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sulfur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proteins, the characteristic colour is primarily attributed to a spectral band in the 350-600nm. According to the text, what electronic transition is responsible for this band?</a:t>
            </a:r>
          </a:p>
          <a:p>
            <a:pPr marL="514350" indent="-514350"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d-d transition within the Iron (Fe) metal centre</a:t>
            </a:r>
          </a:p>
          <a:p>
            <a:pPr marL="457200" indent="-457200">
              <a:buFont typeface="+mj-lt"/>
              <a:buAutoNum type="alphaLcParenR"/>
            </a:pP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electronic transition from a π molecular orbital to a π* molecular orbital in the protein backbone</a:t>
            </a:r>
          </a:p>
          <a:p>
            <a:pPr marL="457200" indent="-457200">
              <a:buFont typeface="+mj-lt"/>
              <a:buAutoNum type="alphaLcParenR"/>
            </a:pP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electron transfer from a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Sulfur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(S) atom to an Iron (Fe) atom.</a:t>
            </a:r>
          </a:p>
          <a:p>
            <a:pPr marL="457200" indent="-457200">
              <a:buFont typeface="+mj-lt"/>
              <a:buAutoNum type="alphaLcParenR"/>
            </a:pP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involving the transfer of an electron from the Iron  metal centre to a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Sulfur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ligand</a:t>
            </a:r>
          </a:p>
          <a:p>
            <a:pPr marL="514350" indent="-514350">
              <a:buAutoNum type="arabicPeriod"/>
            </a:pPr>
            <a:endParaRPr lang="en-IN" sz="2800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5AE2B-9097-D083-F06E-C8257760500A}"/>
              </a:ext>
            </a:extLst>
          </p:cNvPr>
          <p:cNvSpPr txBox="1"/>
          <p:nvPr/>
        </p:nvSpPr>
        <p:spPr>
          <a:xfrm>
            <a:off x="80388" y="4400264"/>
            <a:ext cx="749269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Superoxide dismutase contains the metal ions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rgbClr val="002060"/>
                </a:solidFill>
              </a:rPr>
              <a:t>Zn(II) and Ni(II)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rgbClr val="002060"/>
                </a:solidFill>
              </a:rPr>
              <a:t>Cu(II) and Zn(II)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rgbClr val="002060"/>
                </a:solidFill>
              </a:rPr>
              <a:t>Ni(II) and Co(III) 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>
                <a:solidFill>
                  <a:srgbClr val="002060"/>
                </a:solidFill>
              </a:rPr>
              <a:t>Cu(II) and Fe(III)</a:t>
            </a: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563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20C4858-5F95-BA28-26FF-7A30929CBDA3}"/>
              </a:ext>
            </a:extLst>
          </p:cNvPr>
          <p:cNvSpPr/>
          <p:nvPr/>
        </p:nvSpPr>
        <p:spPr>
          <a:xfrm>
            <a:off x="117987" y="4444181"/>
            <a:ext cx="2212258" cy="3146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1FAECE-E660-776D-47F9-566ADD3B97F5}"/>
              </a:ext>
            </a:extLst>
          </p:cNvPr>
          <p:cNvSpPr/>
          <p:nvPr/>
        </p:nvSpPr>
        <p:spPr>
          <a:xfrm>
            <a:off x="117987" y="918188"/>
            <a:ext cx="2674375" cy="3736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1E25D6-0216-008F-7E18-F8A577524C07}"/>
              </a:ext>
            </a:extLst>
          </p:cNvPr>
          <p:cNvSpPr txBox="1"/>
          <p:nvPr/>
        </p:nvSpPr>
        <p:spPr>
          <a:xfrm>
            <a:off x="117987" y="106874"/>
            <a:ext cx="8880829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set of the biologically essential elements is-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Fe, Mo, Cu, Zn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Fe, Cu, Co, Ru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Cu, Mn, Zn, Ag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Fe, Ru, Zn, Mg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D41B4-4A17-AA94-FCB8-C52F6F88BA53}"/>
              </a:ext>
            </a:extLst>
          </p:cNvPr>
          <p:cNvSpPr txBox="1"/>
          <p:nvPr/>
        </p:nvSpPr>
        <p:spPr>
          <a:xfrm>
            <a:off x="117987" y="2699891"/>
            <a:ext cx="1163156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inorganic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sulphur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sulphide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atoms present in the metalloprotein active sites of rubredoxin, 2-iron ferredoxin and 4-iron ferredoxin, respectively, is-</a:t>
            </a:r>
          </a:p>
          <a:p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0, 2 and 4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2, 4 and 3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4, 2 and 4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4, 0 and 2 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83B5C5-8411-AEA0-A959-2160E7FA3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057" y="4532671"/>
            <a:ext cx="1308919" cy="11125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355E6B-A590-BBFF-FDDB-CAB6114B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455" y="670879"/>
            <a:ext cx="3907093" cy="19174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984550-1984-9B17-4626-6E8A92ACE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869300"/>
            <a:ext cx="4580914" cy="272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3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229B25-19E0-6FC2-76D6-E3566B282DBB}"/>
              </a:ext>
            </a:extLst>
          </p:cNvPr>
          <p:cNvSpPr/>
          <p:nvPr/>
        </p:nvSpPr>
        <p:spPr>
          <a:xfrm>
            <a:off x="1366576" y="5235191"/>
            <a:ext cx="1346479" cy="48232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F20F5B-040F-640A-960B-1E642C8682B2}"/>
              </a:ext>
            </a:extLst>
          </p:cNvPr>
          <p:cNvSpPr/>
          <p:nvPr/>
        </p:nvSpPr>
        <p:spPr>
          <a:xfrm>
            <a:off x="88490" y="3377380"/>
            <a:ext cx="1651819" cy="3637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710E8-7F96-17AE-D32B-20D5AF3BCDA0}"/>
              </a:ext>
            </a:extLst>
          </p:cNvPr>
          <p:cNvSpPr txBox="1"/>
          <p:nvPr/>
        </p:nvSpPr>
        <p:spPr>
          <a:xfrm>
            <a:off x="88490" y="0"/>
            <a:ext cx="1165122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catalytic activity of Cu and Zn-containing enzyme, superoxide dismutase, what is/are the correct statement(s)?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</a:t>
            </a:r>
            <a:r>
              <a:rPr lang="en-US" dirty="0"/>
              <a:t>                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Cu and Zn are both essential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Only Cu is essential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Zn is essential, and Cu may be replaced by any other divalent metal atom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Zn may be replaced by any other divalent metal atom</a:t>
            </a:r>
          </a:p>
          <a:p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A only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B only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D only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B and C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CB975-2B8D-2A50-E3F7-2FBB1CDE4B70}"/>
              </a:ext>
            </a:extLst>
          </p:cNvPr>
          <p:cNvSpPr txBox="1"/>
          <p:nvPr/>
        </p:nvSpPr>
        <p:spPr>
          <a:xfrm>
            <a:off x="3126657" y="2817844"/>
            <a:ext cx="8701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Cu²⁺ ion is essential and cannot be replaced by another metal atom while retaining activity. On the other hand, the Zn²⁺ ion can be replaced by other divalent metal atoms such as Co or Cd, with retention of most of the activity.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EBE9B-19D8-B5DB-9C5E-D37079417115}"/>
              </a:ext>
            </a:extLst>
          </p:cNvPr>
          <p:cNvSpPr txBox="1"/>
          <p:nvPr/>
        </p:nvSpPr>
        <p:spPr>
          <a:xfrm>
            <a:off x="88490" y="4297885"/>
            <a:ext cx="1106971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moles of Mg-ATP needed for the reduction of one mole of nitrogen by nitrogenase enzyme is               (a) 8  (b) 16  (c) 6  (d) 2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229EB-D869-F9FF-BFDE-661900D01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09" y="6019320"/>
            <a:ext cx="102012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37A07E-43A0-30C6-7D80-C26160AEB706}"/>
              </a:ext>
            </a:extLst>
          </p:cNvPr>
          <p:cNvSpPr/>
          <p:nvPr/>
        </p:nvSpPr>
        <p:spPr>
          <a:xfrm>
            <a:off x="137652" y="4355690"/>
            <a:ext cx="11582400" cy="9340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0EBFED-6ABA-F3D7-C50F-5B8EC3999AFD}"/>
              </a:ext>
            </a:extLst>
          </p:cNvPr>
          <p:cNvSpPr/>
          <p:nvPr/>
        </p:nvSpPr>
        <p:spPr>
          <a:xfrm>
            <a:off x="137652" y="1386348"/>
            <a:ext cx="2094271" cy="3342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00F18-A94F-8E55-8277-BB945ADDB0B5}"/>
              </a:ext>
            </a:extLst>
          </p:cNvPr>
          <p:cNvSpPr txBox="1"/>
          <p:nvPr/>
        </p:nvSpPr>
        <p:spPr>
          <a:xfrm>
            <a:off x="137652" y="127819"/>
            <a:ext cx="6676636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metals involved in nitrogenase are:-</a:t>
            </a: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Fe and Mg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Mo and K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Mo and Fe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Fe and Zn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F67E4-31EF-E55F-CA78-1D96ABBEF47C}"/>
              </a:ext>
            </a:extLst>
          </p:cNvPr>
          <p:cNvSpPr txBox="1"/>
          <p:nvPr/>
        </p:nvSpPr>
        <p:spPr>
          <a:xfrm>
            <a:off x="3293806" y="1081548"/>
            <a:ext cx="876054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Explanation-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 protein (iron–sulfur protein):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transfers electrons using ATP                           hydrolysis.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MoFe protein (molybdenum–iron protein):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the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FeMo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-cofactor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active site where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N₂ is reduced to NH₃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BBDC2-1AAF-6CEE-0028-E5944A372499}"/>
              </a:ext>
            </a:extLst>
          </p:cNvPr>
          <p:cNvSpPr txBox="1"/>
          <p:nvPr/>
        </p:nvSpPr>
        <p:spPr>
          <a:xfrm>
            <a:off x="137652" y="2545176"/>
            <a:ext cx="1169301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Which of the following statements correctly represents important restrictions in ordinary biological systems?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medium is aqueous and temperature-independent.</a:t>
            </a:r>
          </a:p>
          <a:p>
            <a:pPr marL="457200" indent="-457200">
              <a:buFont typeface="+mj-lt"/>
              <a:buAutoNum type="alphaLcParenR"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medium is water; the temperature range is narrow; coordinating ligands are limited to biomolecules. </a:t>
            </a:r>
          </a:p>
          <a:p>
            <a:pPr marL="457200" indent="-457200">
              <a:buFont typeface="+mj-lt"/>
              <a:buAutoNum type="alphaLcParenR"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medium is an organic solvent; the temperature range is narrow; ligands are unlimited.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medium is water; the temperature range is wide; ligands can be any metal complex.</a:t>
            </a:r>
          </a:p>
        </p:txBody>
      </p:sp>
    </p:spTree>
    <p:extLst>
      <p:ext uri="{BB962C8B-B14F-4D97-AF65-F5344CB8AC3E}">
        <p14:creationId xmlns:p14="http://schemas.microsoft.com/office/powerpoint/2010/main" val="300535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5811E7-3D49-471C-8F76-5A901DB65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406" y="3820260"/>
            <a:ext cx="4594936" cy="28923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0887BAB-EB67-D3B2-A1E9-13824A74D363}"/>
              </a:ext>
            </a:extLst>
          </p:cNvPr>
          <p:cNvSpPr/>
          <p:nvPr/>
        </p:nvSpPr>
        <p:spPr>
          <a:xfrm>
            <a:off x="78658" y="3333135"/>
            <a:ext cx="5860026" cy="4719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4F2E4-00CA-D790-5698-5A0DD7342F22}"/>
              </a:ext>
            </a:extLst>
          </p:cNvPr>
          <p:cNvSpPr/>
          <p:nvPr/>
        </p:nvSpPr>
        <p:spPr>
          <a:xfrm>
            <a:off x="186812" y="1288026"/>
            <a:ext cx="1494503" cy="3932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80825-452A-1DB8-29FB-89F427DDF8A9}"/>
              </a:ext>
            </a:extLst>
          </p:cNvPr>
          <p:cNvSpPr txBox="1"/>
          <p:nvPr/>
        </p:nvSpPr>
        <p:spPr>
          <a:xfrm>
            <a:off x="167148" y="145392"/>
            <a:ext cx="12024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In the catalytic mechanism of Cu, Zn-superoxide dismutase, what is the principal redox-active metal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Zinc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Copper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Both Copper and Zinc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Iron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73A67-CD5C-234D-E490-A1255249DC11}"/>
              </a:ext>
            </a:extLst>
          </p:cNvPr>
          <p:cNvSpPr txBox="1"/>
          <p:nvPr/>
        </p:nvSpPr>
        <p:spPr>
          <a:xfrm>
            <a:off x="78658" y="2649959"/>
            <a:ext cx="121133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Which step in the SOD catalytic cycle involves the reduction of the metal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When Cu(II) reacts with O₂•⁻ to produce O₂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When Cu(I) reacts with O₂•⁻ to form H₂O₂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When Cu(II) binds water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When Cu(II) releases H₂O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D4FD6-5727-1736-60BB-FA346C70ECF4}"/>
              </a:ext>
            </a:extLst>
          </p:cNvPr>
          <p:cNvSpPr txBox="1"/>
          <p:nvPr/>
        </p:nvSpPr>
        <p:spPr>
          <a:xfrm>
            <a:off x="312172" y="5409042"/>
            <a:ext cx="80747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Cu(II) is reduced to Cu(I) when one molecule of superoxide donates an electron, generating molecular oxygen.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39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1665107-1BEF-EC03-973A-D1882C05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143" y="3168819"/>
            <a:ext cx="7260339" cy="281264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FB5862-2EB5-C498-5CB2-CEE647022E70}"/>
              </a:ext>
            </a:extLst>
          </p:cNvPr>
          <p:cNvSpPr/>
          <p:nvPr/>
        </p:nvSpPr>
        <p:spPr>
          <a:xfrm>
            <a:off x="226141" y="4788310"/>
            <a:ext cx="1455175" cy="3539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2D77B2-D991-6977-16DE-B895AE1D7BF7}"/>
              </a:ext>
            </a:extLst>
          </p:cNvPr>
          <p:cNvSpPr/>
          <p:nvPr/>
        </p:nvSpPr>
        <p:spPr>
          <a:xfrm>
            <a:off x="117987" y="2074606"/>
            <a:ext cx="4336026" cy="5211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C65C9-8EDB-2447-8983-77875C0106B9}"/>
              </a:ext>
            </a:extLst>
          </p:cNvPr>
          <p:cNvSpPr txBox="1"/>
          <p:nvPr/>
        </p:nvSpPr>
        <p:spPr>
          <a:xfrm>
            <a:off x="226141" y="184721"/>
            <a:ext cx="94488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The reaction mechanism of superoxide dismutase is an example of:-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Outer-sphere electron transfer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Inner-sphere electron transfer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Two-electron reduction mechanism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Radical disproportionation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77029C-0D38-3A96-A36D-BC94D24612A5}"/>
              </a:ext>
            </a:extLst>
          </p:cNvPr>
          <p:cNvSpPr txBox="1"/>
          <p:nvPr/>
        </p:nvSpPr>
        <p:spPr>
          <a:xfrm>
            <a:off x="226141" y="2898424"/>
            <a:ext cx="112186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In xanthine oxidase, which group acts as the initial acceptor of the hydride during substrate oxidation?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Mo=O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Mo–OH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Mo=S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Glu1261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96BE9-2F2D-D174-84E5-7CA67B6D7726}"/>
              </a:ext>
            </a:extLst>
          </p:cNvPr>
          <p:cNvSpPr txBox="1"/>
          <p:nvPr/>
        </p:nvSpPr>
        <p:spPr>
          <a:xfrm>
            <a:off x="540774" y="5785949"/>
            <a:ext cx="77674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Mo=S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accepts a hydride from the substrate during oxidation, generating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Mo(IV)–SH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species.</a:t>
            </a:r>
          </a:p>
        </p:txBody>
      </p:sp>
    </p:spTree>
    <p:extLst>
      <p:ext uri="{BB962C8B-B14F-4D97-AF65-F5344CB8AC3E}">
        <p14:creationId xmlns:p14="http://schemas.microsoft.com/office/powerpoint/2010/main" val="361705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5B941-AF9E-A17B-3A03-976B4C21955B}"/>
              </a:ext>
            </a:extLst>
          </p:cNvPr>
          <p:cNvSpPr/>
          <p:nvPr/>
        </p:nvSpPr>
        <p:spPr>
          <a:xfrm>
            <a:off x="292509" y="3814916"/>
            <a:ext cx="2942304" cy="33429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E18C7D-846A-FE0C-8190-43632EC718C3}"/>
              </a:ext>
            </a:extLst>
          </p:cNvPr>
          <p:cNvSpPr/>
          <p:nvPr/>
        </p:nvSpPr>
        <p:spPr>
          <a:xfrm>
            <a:off x="127819" y="1307690"/>
            <a:ext cx="2556387" cy="324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274767-E818-C209-26B4-F95747F67801}"/>
              </a:ext>
            </a:extLst>
          </p:cNvPr>
          <p:cNvSpPr txBox="1"/>
          <p:nvPr/>
        </p:nvSpPr>
        <p:spPr>
          <a:xfrm>
            <a:off x="88489" y="135559"/>
            <a:ext cx="119756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In which enzyme is oxygen transferred from the metal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to the substrate?</a:t>
            </a:r>
          </a:p>
          <a:p>
            <a:pPr>
              <a:buNone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Superoxide dismutase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Xanthine oxidase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Both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Neither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68E3BE-CB9B-E338-A621-4F7A268882BA}"/>
              </a:ext>
            </a:extLst>
          </p:cNvPr>
          <p:cNvSpPr txBox="1"/>
          <p:nvPr/>
        </p:nvSpPr>
        <p:spPr>
          <a:xfrm>
            <a:off x="4392562" y="1289721"/>
            <a:ext cx="62090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XO, the oxygen atom of Mo–OH is transferred to the substrate, forming uric acid. In SOD, oxygen is not transferred—it only mediates electron exchange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F8E2B9-A8F6-7B08-D975-92C6D45DB041}"/>
              </a:ext>
            </a:extLst>
          </p:cNvPr>
          <p:cNvSpPr txBox="1"/>
          <p:nvPr/>
        </p:nvSpPr>
        <p:spPr>
          <a:xfrm>
            <a:off x="292509" y="3016411"/>
            <a:ext cx="107982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Which enzyme exhibits an EPR-active intermediate during turnover?</a:t>
            </a:r>
          </a:p>
          <a:p>
            <a:pPr>
              <a:buNone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Both SOD and XO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Only SOD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Only XO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Neither</a:t>
            </a:r>
          </a:p>
        </p:txBody>
      </p:sp>
    </p:spTree>
    <p:extLst>
      <p:ext uri="{BB962C8B-B14F-4D97-AF65-F5344CB8AC3E}">
        <p14:creationId xmlns:p14="http://schemas.microsoft.com/office/powerpoint/2010/main" val="411830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F585CC-23BB-62F1-0CB7-EF36D170DE0A}"/>
              </a:ext>
            </a:extLst>
          </p:cNvPr>
          <p:cNvSpPr/>
          <p:nvPr/>
        </p:nvSpPr>
        <p:spPr>
          <a:xfrm>
            <a:off x="196645" y="4955458"/>
            <a:ext cx="5407742" cy="41295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A57480-FFF9-BD8E-CC18-06C3C1882448}"/>
              </a:ext>
            </a:extLst>
          </p:cNvPr>
          <p:cNvSpPr/>
          <p:nvPr/>
        </p:nvSpPr>
        <p:spPr>
          <a:xfrm>
            <a:off x="68826" y="1907458"/>
            <a:ext cx="2438400" cy="36379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CC6E5-67A4-F06A-0312-E0E59D506ACB}"/>
              </a:ext>
            </a:extLst>
          </p:cNvPr>
          <p:cNvSpPr txBox="1"/>
          <p:nvPr/>
        </p:nvSpPr>
        <p:spPr>
          <a:xfrm>
            <a:off x="0" y="0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In DMSO reductase, the oxidation state of molybdenum changes during catalysis between: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Mo(III)/Mo(IV)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Mo(IV)/Mo(V)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Mo(VI)/Mo(IV)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Mo(VI)/Mo(III)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475EA-F06A-7D13-703E-9C8D88202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913" y="979692"/>
            <a:ext cx="3933825" cy="2219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21F05C-BA55-475F-1295-D9A4BF49075F}"/>
              </a:ext>
            </a:extLst>
          </p:cNvPr>
          <p:cNvSpPr txBox="1"/>
          <p:nvPr/>
        </p:nvSpPr>
        <p:spPr>
          <a:xfrm>
            <a:off x="142567" y="3451946"/>
            <a:ext cx="67301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The process connecting tyrosine radical formation and proton movement is an example of: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Outer-sphere electron transfer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Proton-coupled electron transfer (PCET)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Inner-sphere ligand exchange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Radical disproportionation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030498-5635-F664-BFC5-AB001584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931" y="3179352"/>
            <a:ext cx="4764737" cy="369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F3C40D-968F-D088-ACFC-6AB3688EE194}"/>
              </a:ext>
            </a:extLst>
          </p:cNvPr>
          <p:cNvSpPr/>
          <p:nvPr/>
        </p:nvSpPr>
        <p:spPr>
          <a:xfrm>
            <a:off x="117987" y="4621161"/>
            <a:ext cx="8190271" cy="3441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E8E525-4C24-F089-BF62-52573D86DD8B}"/>
              </a:ext>
            </a:extLst>
          </p:cNvPr>
          <p:cNvSpPr/>
          <p:nvPr/>
        </p:nvSpPr>
        <p:spPr>
          <a:xfrm>
            <a:off x="196645" y="1622323"/>
            <a:ext cx="8917858" cy="3539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91EBD-45C2-FE8D-B14A-48134E0AECDA}"/>
              </a:ext>
            </a:extLst>
          </p:cNvPr>
          <p:cNvSpPr txBox="1"/>
          <p:nvPr/>
        </p:nvSpPr>
        <p:spPr>
          <a:xfrm>
            <a:off x="117987" y="106062"/>
            <a:ext cx="119560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Why does nitrogenase require ATP for nitrogen fixation?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To make the reaction thermodynamically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favourable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To supply electrons for N₂ reduction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To overcome the large activation barrier for breaking the N≡N bond</a:t>
            </a:r>
            <a:b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To regenerate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FeMo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-cofactor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29BB87-B0C2-F173-72B2-E5603CF24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081" y="1976284"/>
            <a:ext cx="7475448" cy="16589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5A017-D656-7EBE-2F9D-03A8F63BDF85}"/>
              </a:ext>
            </a:extLst>
          </p:cNvPr>
          <p:cNvSpPr txBox="1"/>
          <p:nvPr/>
        </p:nvSpPr>
        <p:spPr>
          <a:xfrm>
            <a:off x="117987" y="3846506"/>
            <a:ext cx="90948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The direction of electron flow in the photosynthetic Z-scheme is: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H₂O → PSII → PQ →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b₆f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PC → PSI →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NADP⁺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NADP⁺ → PSI → PSII → PQ →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b₆f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PSI → PSII → PQ → PC</a:t>
            </a:r>
            <a:b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PQ → PSII → PSI →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Cyt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b₆f</a:t>
            </a:r>
            <a:endParaRPr lang="en-I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58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 Scheme Of Photosynthesis">
            <a:extLst>
              <a:ext uri="{FF2B5EF4-FFF2-40B4-BE49-F238E27FC236}">
                <a16:creationId xmlns:a16="http://schemas.microsoft.com/office/drawing/2014/main" id="{38C265E1-984E-F24C-ECB6-9557EE644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323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432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1177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Goutam Sahoo</dc:creator>
  <cp:lastModifiedBy>Goutam Sahoo</cp:lastModifiedBy>
  <cp:revision>3</cp:revision>
  <dcterms:created xsi:type="dcterms:W3CDTF">2025-11-01T17:52:32Z</dcterms:created>
  <dcterms:modified xsi:type="dcterms:W3CDTF">2025-11-04T07:40:12Z</dcterms:modified>
</cp:coreProperties>
</file>