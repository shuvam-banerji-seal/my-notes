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312" r:id="rId2"/>
    <p:sldId id="313" r:id="rId3"/>
    <p:sldId id="314" r:id="rId4"/>
    <p:sldId id="316" r:id="rId5"/>
    <p:sldId id="315" r:id="rId6"/>
    <p:sldId id="265" r:id="rId7"/>
    <p:sldId id="257" r:id="rId8"/>
    <p:sldId id="260" r:id="rId9"/>
    <p:sldId id="263" r:id="rId10"/>
    <p:sldId id="261" r:id="rId11"/>
    <p:sldId id="268" r:id="rId12"/>
    <p:sldId id="269" r:id="rId13"/>
    <p:sldId id="317" r:id="rId14"/>
    <p:sldId id="270" r:id="rId15"/>
    <p:sldId id="318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71" r:id="rId28"/>
    <p:sldId id="272" r:id="rId29"/>
    <p:sldId id="273" r:id="rId30"/>
    <p:sldId id="274" r:id="rId31"/>
    <p:sldId id="275" r:id="rId32"/>
    <p:sldId id="290" r:id="rId33"/>
    <p:sldId id="276" r:id="rId34"/>
    <p:sldId id="277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65"/>
    <p:restoredTop sz="94628"/>
  </p:normalViewPr>
  <p:slideViewPr>
    <p:cSldViewPr>
      <p:cViewPr varScale="1">
        <p:scale>
          <a:sx n="109" d="100"/>
          <a:sy n="109" d="100"/>
        </p:scale>
        <p:origin x="126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image" Target="../media/image4.emf"/><Relationship Id="rId4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5866D1E8-71C9-6D5C-168D-988E7A63B07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2A717D6-3BB1-CAC9-D640-1A3CF761F51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033A426-D15E-A545-A840-BFC11F4FB4F6}" type="datetimeFigureOut">
              <a:rPr lang="en-US" altLang="en-US"/>
              <a:pPr>
                <a:defRPr/>
              </a:pPr>
              <a:t>8/8/2025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xmlns="" id="{993CEF60-68CA-744A-AD73-73F1B840EF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xmlns="" id="{042248F1-8216-E3E8-C87D-AF3CFE082A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19DEDD2-980A-F7E4-DA85-E11163DDE48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A052A6D-98F9-819F-C3B9-3623752C09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24F03EC-5CB9-2E4F-B4B8-002C5B74B1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15051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>
            <a:extLst>
              <a:ext uri="{FF2B5EF4-FFF2-40B4-BE49-F238E27FC236}">
                <a16:creationId xmlns:a16="http://schemas.microsoft.com/office/drawing/2014/main" xmlns="" id="{C7B340D5-EC75-D9FD-F8B9-4A6710EA212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4" name="Notes Placeholder 2">
            <a:extLst>
              <a:ext uri="{FF2B5EF4-FFF2-40B4-BE49-F238E27FC236}">
                <a16:creationId xmlns:a16="http://schemas.microsoft.com/office/drawing/2014/main" xmlns="" id="{2BD2422D-A7C3-DBA1-0C9C-7E23BC1462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5" name="Slide Number Placeholder 3">
            <a:extLst>
              <a:ext uri="{FF2B5EF4-FFF2-40B4-BE49-F238E27FC236}">
                <a16:creationId xmlns:a16="http://schemas.microsoft.com/office/drawing/2014/main" xmlns="" id="{6524A8D4-9058-6F3A-C280-85028C73E4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ECB07E0-86CD-FB45-BADB-A3CA5B0945A5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9863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A384E80-F995-DC16-E175-A9B1C9276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EBA7FB-246D-7D4C-A87D-A513533FBE50}" type="datetimeFigureOut">
              <a:rPr lang="en-US" altLang="en-US"/>
              <a:pPr>
                <a:defRPr/>
              </a:pPr>
              <a:t>8/8/2025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136F463-CE48-DF30-A845-F9ABCCD9B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5572A91-F123-E22C-B4EA-04571985C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73AB4D-327B-8543-835A-9A074CFDBD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3802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4F79561-28CB-5029-7CF5-68E21C6EF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82A427-FE6A-ED40-83D9-4C38652B663E}" type="datetimeFigureOut">
              <a:rPr lang="en-US" altLang="en-US"/>
              <a:pPr>
                <a:defRPr/>
              </a:pPr>
              <a:t>8/8/2025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747900B-CDE8-DB39-EAD4-4DBF93D4E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AF8DB56-5DC8-4497-813C-F5388CC12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866D9-501B-0A45-A097-DBA233D66B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3460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CDFE64A-DC30-B008-EAE5-CA1158BFD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34DD82-9185-1840-85B1-7D6E1B5FC0F4}" type="datetimeFigureOut">
              <a:rPr lang="en-US" altLang="en-US"/>
              <a:pPr>
                <a:defRPr/>
              </a:pPr>
              <a:t>8/8/2025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8C74CDD-79EE-F5CE-DD36-53C909A3B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B8914F3-7DB6-6E87-2AA0-34DE2DFD4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A695F6-3E27-7C44-B4D4-E926B8B6A6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1896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2C06C0D5-C4AB-B054-5882-88DD84AD3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0B3A15-BAB2-C045-A0C1-4A4EC98F7BCA}" type="datetimeFigureOut">
              <a:rPr lang="en-US" altLang="en-US"/>
              <a:pPr>
                <a:defRPr/>
              </a:pPr>
              <a:t>8/8/2025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1FAF0AD0-4477-9BAE-A029-CD843B691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9894848E-2FBF-B47D-64E7-2DC99464B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AA02EB-39D7-7E4F-B9B6-E4BC092A89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731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6894BF31-5150-60D2-09C5-29189ECF3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9B756C-BFCB-C24B-809C-DFF24B7DCAA0}" type="datetimeFigureOut">
              <a:rPr lang="en-US" altLang="en-US"/>
              <a:pPr>
                <a:defRPr/>
              </a:pPr>
              <a:t>8/8/2025</a:t>
            </a:fld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15161ADF-7D65-CBFA-229A-DB0486792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E08DD708-832F-8686-DBEA-3ECC492F3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033FF4-6E12-FC42-A797-85160C0C8C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1286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xmlns="" id="{0FEFB997-5145-FFA3-B469-6FF7AE979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53B9C7-53EC-5D4E-9345-0482BE3CA584}" type="datetimeFigureOut">
              <a:rPr lang="en-US" altLang="en-US"/>
              <a:pPr>
                <a:defRPr/>
              </a:pPr>
              <a:t>8/8/2025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xmlns="" id="{07630137-692A-6350-F572-E70FE143F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6A5F433E-0AD9-9E9B-2A4A-EBE776E42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8230BB-6401-4E43-9381-4EE5393969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0900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xmlns="" id="{91AE1F78-8410-9D0D-31BA-2159D5061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66FB98-A3D4-B546-830C-62F3BF02AFFE}" type="datetimeFigureOut">
              <a:rPr lang="en-US" altLang="en-US"/>
              <a:pPr>
                <a:defRPr/>
              </a:pPr>
              <a:t>8/8/2025</a:t>
            </a:fld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xmlns="" id="{62E7ABBC-E5AE-4490-7A28-B36650D5F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624CA268-7F14-80FD-9D6F-1B3D6557E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2CF514-AFD8-C540-8D40-2CE4D0370C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3203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1182CD1E-53B1-EE00-51E7-AFE76D8A9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CA1EE7-4CC9-374C-9687-B0765B635FBC}" type="datetimeFigureOut">
              <a:rPr lang="en-US" altLang="en-US"/>
              <a:pPr>
                <a:defRPr/>
              </a:pPr>
              <a:t>8/8/2025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5AFB9CB4-F0B9-5E52-8639-51493FFA5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BF3B0DBF-1362-828C-E23C-D04CF930B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670AB4-A362-2E4C-82E0-41412B7C95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0866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8D54F584-63A8-9BAC-64F6-5EEF83BBD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19CA64-5FBA-AC4D-9045-C51B07A2F554}" type="datetimeFigureOut">
              <a:rPr lang="en-US" altLang="en-US"/>
              <a:pPr>
                <a:defRPr/>
              </a:pPr>
              <a:t>8/8/2025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9100DBB3-EDEA-8EB4-D412-0D9C0FCA9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9628EE8E-0F08-036E-49C8-7832224C9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A2748-A508-3540-AA12-C12362353D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2754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A2D61C4-CF09-C1BD-8E58-AF0225829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1CC20E-2F3A-134B-801E-53317D7718E5}" type="datetimeFigureOut">
              <a:rPr lang="en-US" altLang="en-US"/>
              <a:pPr>
                <a:defRPr/>
              </a:pPr>
              <a:t>8/8/2025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7878EA0-2E16-6C96-95F6-5CED716DF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74581D4-F524-2297-3CFD-919E767AF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784F40-82F8-BB4F-8773-B2DFD8CCDB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8242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05549BC-56BB-F342-FF69-BEBB9933B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5BCD1-3587-3A4B-AFD5-041D0CF2499D}" type="datetimeFigureOut">
              <a:rPr lang="en-US" altLang="en-US"/>
              <a:pPr>
                <a:defRPr/>
              </a:pPr>
              <a:t>8/8/2025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3EB7806-6A93-AA05-FCD4-D75A9D9BB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8EB9305-F33A-B7AA-B86C-D6E5FB109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C0C999-C482-054B-BC20-C3AF55EEB0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5005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xmlns="" id="{2E94B06F-1090-8902-0058-457EAA03CBF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xmlns="" id="{FDBCDFF1-A700-4E35-81A0-4D5BFA11609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71BAF6D-4DA7-415C-33B6-8E3DA58AA5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2DDF3E55-0B3F-464E-8507-F837073B9979}" type="datetimeFigureOut">
              <a:rPr lang="en-US" altLang="en-US"/>
              <a:pPr>
                <a:defRPr/>
              </a:pPr>
              <a:t>8/8/2025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050CF8E-B886-89D1-961B-9352A3B69C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9C22DA3-4DBF-9DCA-C81D-A9E8A79BEC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904F3A2-120D-7543-86D2-B8797B5781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7.emf"/><Relationship Id="rId5" Type="http://schemas.openxmlformats.org/officeDocument/2006/relationships/image" Target="../media/image4.e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Content Placeholder 2">
            <a:extLst>
              <a:ext uri="{FF2B5EF4-FFF2-40B4-BE49-F238E27FC236}">
                <a16:creationId xmlns:a16="http://schemas.microsoft.com/office/drawing/2014/main" xmlns="" id="{C4586F81-B357-57B0-1C27-EAA0D4CBD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304800"/>
            <a:ext cx="8763000" cy="6864350"/>
          </a:xfrm>
        </p:spPr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altLang="en-US" sz="18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altLang="en-US" sz="1800" b="1" u="sng" dirty="0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CH4102</a:t>
            </a:r>
            <a:endParaRPr lang="en-IN" altLang="en-US" sz="18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altLang="en-US" sz="1800" dirty="0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(By Swadhin Mandal and Arindam Mukherjee)</a:t>
            </a:r>
            <a:endParaRPr lang="en-IN" altLang="en-US" sz="18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altLang="en-US" sz="1800" b="1" u="sng" dirty="0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Organometallic Chemistry (SM)</a:t>
            </a:r>
            <a:r>
              <a:rPr lang="en-IN" altLang="en-US" sz="1800" dirty="0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Bioinorganic Chemistry (AM)</a:t>
            </a:r>
            <a:endParaRPr lang="en-IN" altLang="en-US" sz="18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altLang="en-US" sz="1800" dirty="0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IN" altLang="en-US" sz="1800" dirty="0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altLang="en-US" sz="1800" b="1" dirty="0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Historical Background and Stability of Organometallic Compounds:</a:t>
            </a:r>
            <a:r>
              <a:rPr lang="en-IN" altLang="en-US" sz="1800" dirty="0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Definition, the first few organometallic complexes, thermodynamics and kinetics of organometallic compounds, the 18-electron rule. (2 L)</a:t>
            </a:r>
            <a:endParaRPr lang="en-IN" altLang="en-US" sz="18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altLang="en-US" sz="1800" dirty="0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IN" altLang="en-US" sz="1800" dirty="0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altLang="en-US" sz="1800" b="1" dirty="0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Different types organometallic bonding: </a:t>
            </a:r>
            <a:r>
              <a:rPr lang="en-IN" altLang="en-US" sz="1800" dirty="0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Organometallic</a:t>
            </a:r>
            <a:r>
              <a:rPr lang="en-IN" altLang="en-US" sz="1800" b="1" dirty="0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altLang="en-US" sz="1800" dirty="0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complexes with pi-acid ligands:</a:t>
            </a:r>
            <a:r>
              <a:rPr lang="en-IN" altLang="en-US" sz="1800" b="1" dirty="0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</a:t>
            </a:r>
            <a:r>
              <a:rPr lang="en-IN" altLang="en-US" sz="1800" dirty="0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etal- carbonyl, -alkene,- diene, -carbenes, -phosphines and hydrides (5 L + 1 exam)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altLang="en-US" sz="1800" dirty="0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IN" altLang="en-US" sz="1800" dirty="0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altLang="en-US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Box 4">
            <a:extLst>
              <a:ext uri="{FF2B5EF4-FFF2-40B4-BE49-F238E27FC236}">
                <a16:creationId xmlns:a16="http://schemas.microsoft.com/office/drawing/2014/main" xmlns="" id="{359D85C2-78AE-25D0-8E67-5CAF23B0C1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292344"/>
            <a:ext cx="8305800" cy="6337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None/>
            </a:pPr>
            <a:r>
              <a:rPr lang="en-IN" altLang="en-US" sz="1800" b="1" dirty="0">
                <a:solidFill>
                  <a:srgbClr val="000000"/>
                </a:solidFill>
                <a:latin typeface="Trebuchet MS" panose="020B0703020202090204" pitchFamily="34" charset="0"/>
                <a:cs typeface="Times New Roman" panose="02020603050405020304" pitchFamily="18" charset="0"/>
              </a:rPr>
              <a:t>Brief introduction to Main-Group Organometallic Chemistry </a:t>
            </a:r>
            <a:r>
              <a:rPr lang="en-IN" altLang="en-US" sz="1800" dirty="0" err="1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Organo</a:t>
            </a:r>
            <a:r>
              <a:rPr lang="en-IN" altLang="en-US" sz="1800" dirty="0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alkali metals, </a:t>
            </a:r>
            <a:r>
              <a:rPr lang="en-IN" altLang="en-US" sz="1800" dirty="0" err="1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organo</a:t>
            </a:r>
            <a:r>
              <a:rPr lang="en-IN" altLang="en-US" sz="1800" dirty="0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silicon compounds, </a:t>
            </a:r>
            <a:r>
              <a:rPr lang="en-IN" altLang="en-US" sz="1800" dirty="0" err="1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organo</a:t>
            </a:r>
            <a:r>
              <a:rPr lang="en-IN" altLang="en-US" sz="1800" dirty="0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altLang="en-US" sz="1800" dirty="0" err="1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aluminum</a:t>
            </a:r>
            <a:r>
              <a:rPr lang="en-IN" altLang="en-US" sz="1800" dirty="0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compounds, </a:t>
            </a:r>
            <a:r>
              <a:rPr lang="en-IN" altLang="en-US" sz="1800" dirty="0" err="1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organo</a:t>
            </a:r>
            <a:r>
              <a:rPr lang="en-IN" altLang="en-US" sz="1800" dirty="0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boron and </a:t>
            </a:r>
            <a:r>
              <a:rPr lang="en-IN" altLang="en-US" sz="1800" dirty="0" err="1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organo</a:t>
            </a:r>
            <a:r>
              <a:rPr lang="en-IN" altLang="en-US" sz="1800" dirty="0">
                <a:solidFill>
                  <a:srgbClr val="000000"/>
                </a:solidFill>
                <a:latin typeface="Trebuchet MS" panose="020B070302020209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phosphorus compounds </a:t>
            </a:r>
            <a:r>
              <a:rPr lang="en-IN" altLang="en-US" sz="1800" b="1" dirty="0">
                <a:solidFill>
                  <a:srgbClr val="000000"/>
                </a:solidFill>
                <a:latin typeface="Trebuchet MS" panose="020B0703020202090204" pitchFamily="34" charset="0"/>
                <a:cs typeface="Times New Roman" panose="02020603050405020304" pitchFamily="18" charset="0"/>
              </a:rPr>
              <a:t>(3 L)</a:t>
            </a:r>
            <a:endParaRPr lang="en-IN" altLang="en-US" sz="18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IN" altLang="en-US" sz="1800" dirty="0">
                <a:solidFill>
                  <a:srgbClr val="000000"/>
                </a:solidFill>
                <a:latin typeface="Trebuchet MS" panose="020B0703020202090204" pitchFamily="34" charset="0"/>
                <a:cs typeface="Times New Roman" panose="02020603050405020304" pitchFamily="18" charset="0"/>
              </a:rPr>
              <a:t/>
            </a:r>
            <a:br>
              <a:rPr lang="en-IN" altLang="en-US" sz="1800" dirty="0">
                <a:solidFill>
                  <a:srgbClr val="000000"/>
                </a:solidFill>
                <a:latin typeface="Trebuchet MS" panose="020B0703020202090204" pitchFamily="34" charset="0"/>
                <a:cs typeface="Times New Roman" panose="02020603050405020304" pitchFamily="18" charset="0"/>
              </a:rPr>
            </a:br>
            <a:r>
              <a:rPr lang="en-IN" altLang="en-US" sz="1800" b="1" dirty="0">
                <a:solidFill>
                  <a:srgbClr val="000000"/>
                </a:solidFill>
                <a:latin typeface="Trebuchet MS" panose="020B0703020202090204" pitchFamily="34" charset="0"/>
                <a:cs typeface="Times New Roman" panose="02020603050405020304" pitchFamily="18" charset="0"/>
              </a:rPr>
              <a:t>Transition metal Organometallic Chemistry:</a:t>
            </a:r>
            <a:r>
              <a:rPr lang="en-IN" altLang="en-US" sz="1800" dirty="0">
                <a:solidFill>
                  <a:srgbClr val="000000"/>
                </a:solidFill>
                <a:latin typeface="Trebuchet MS" panose="020B0703020202090204" pitchFamily="34" charset="0"/>
                <a:cs typeface="Times New Roman" panose="02020603050405020304" pitchFamily="18" charset="0"/>
              </a:rPr>
              <a:t> Major reaction pathways of transition metal organometallic compounds- Oxidative addition, reductive elimination, insertion, elimination reaction (2 L) + 1 Exam </a:t>
            </a:r>
            <a:endParaRPr lang="en-IN" altLang="en-US" sz="1800" dirty="0">
              <a:cs typeface="Calibri" panose="020F0502020204030204" pitchFamily="34" charset="0"/>
            </a:endParaRPr>
          </a:p>
          <a:p>
            <a:pPr eaLnBrk="1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IN" altLang="en-US" sz="1800" dirty="0">
                <a:solidFill>
                  <a:srgbClr val="000000"/>
                </a:solidFill>
                <a:latin typeface="Trebuchet MS" panose="020B0703020202090204" pitchFamily="34" charset="0"/>
                <a:cs typeface="Times New Roman" panose="02020603050405020304" pitchFamily="18" charset="0"/>
              </a:rPr>
              <a:t> </a:t>
            </a:r>
            <a:endParaRPr lang="en-IN" altLang="en-US" sz="1800" dirty="0">
              <a:cs typeface="Calibri" panose="020F0502020204030204" pitchFamily="34" charset="0"/>
            </a:endParaRPr>
          </a:p>
          <a:p>
            <a:pPr eaLnBrk="1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IN" altLang="en-US" sz="1800" b="1" dirty="0">
                <a:solidFill>
                  <a:srgbClr val="000000"/>
                </a:solidFill>
                <a:latin typeface="Trebuchet MS" panose="020B0703020202090204" pitchFamily="34" charset="0"/>
                <a:cs typeface="Times New Roman" panose="02020603050405020304" pitchFamily="18" charset="0"/>
              </a:rPr>
              <a:t>Homogeneous Catalysis:</a:t>
            </a:r>
            <a:r>
              <a:rPr lang="en-IN" altLang="en-US" sz="1800" dirty="0">
                <a:solidFill>
                  <a:srgbClr val="000000"/>
                </a:solidFill>
                <a:latin typeface="Trebuchet MS" panose="020B0703020202090204" pitchFamily="34" charset="0"/>
                <a:cs typeface="Times New Roman" panose="02020603050405020304" pitchFamily="18" charset="0"/>
              </a:rPr>
              <a:t> Hydrogenation, hydroformylation, </a:t>
            </a:r>
            <a:r>
              <a:rPr lang="en-IN" altLang="en-US" sz="1800" dirty="0" err="1">
                <a:solidFill>
                  <a:srgbClr val="000000"/>
                </a:solidFill>
                <a:latin typeface="Trebuchet MS" panose="020B0703020202090204" pitchFamily="34" charset="0"/>
                <a:cs typeface="Times New Roman" panose="02020603050405020304" pitchFamily="18" charset="0"/>
              </a:rPr>
              <a:t>hydrosilylation</a:t>
            </a:r>
            <a:r>
              <a:rPr lang="en-IN" altLang="en-US" sz="1800" dirty="0">
                <a:solidFill>
                  <a:srgbClr val="000000"/>
                </a:solidFill>
                <a:latin typeface="Trebuchet MS" panose="020B0703020202090204" pitchFamily="34" charset="0"/>
                <a:cs typeface="Times New Roman" panose="02020603050405020304" pitchFamily="18" charset="0"/>
              </a:rPr>
              <a:t>, alkene metathesis, alkene polymerization, coupling reactions, Monsanto process (5 L)</a:t>
            </a:r>
            <a:endParaRPr lang="en-IN" altLang="en-US" sz="1800" dirty="0">
              <a:cs typeface="Calibri" panose="020F0502020204030204" pitchFamily="34" charset="0"/>
            </a:endParaRPr>
          </a:p>
          <a:p>
            <a:pPr eaLnBrk="1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FontTx/>
              <a:buNone/>
            </a:pPr>
            <a:endParaRPr lang="en-IN" altLang="en-US" sz="1800" dirty="0">
              <a:cs typeface="Calibri" panose="020F0502020204030204" pitchFamily="34" charset="0"/>
            </a:endParaRPr>
          </a:p>
          <a:p>
            <a:pPr eaLnBrk="1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IN" altLang="en-US" sz="1800" b="1" dirty="0">
                <a:cs typeface="Calibri" panose="020F0502020204030204" pitchFamily="34" charset="0"/>
              </a:rPr>
              <a:t>References:</a:t>
            </a:r>
            <a:endParaRPr lang="en-IN" altLang="en-US" sz="1800" dirty="0">
              <a:cs typeface="Calibri" panose="020F0502020204030204" pitchFamily="34" charset="0"/>
            </a:endParaRPr>
          </a:p>
          <a:p>
            <a:pPr eaLnBrk="1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IN" altLang="en-US" sz="1800" dirty="0">
                <a:cs typeface="Calibri" panose="020F0502020204030204" pitchFamily="34" charset="0"/>
              </a:rPr>
              <a:t>1. Robert H. Crabtree, The Organometallic Chemistry of the Transition Metals, 4th Ed. (Wiley, 2005)</a:t>
            </a:r>
          </a:p>
          <a:p>
            <a:pPr eaLnBrk="1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IN" altLang="en-US" sz="1800" dirty="0">
                <a:cs typeface="Calibri" panose="020F0502020204030204" pitchFamily="34" charset="0"/>
              </a:rPr>
              <a:t>2. Christoph </a:t>
            </a:r>
            <a:r>
              <a:rPr lang="en-IN" altLang="en-US" sz="1800" dirty="0" err="1">
                <a:cs typeface="Calibri" panose="020F0502020204030204" pitchFamily="34" charset="0"/>
              </a:rPr>
              <a:t>Elschenbroich</a:t>
            </a:r>
            <a:r>
              <a:rPr lang="en-IN" altLang="en-US" sz="1800" dirty="0">
                <a:cs typeface="Calibri" panose="020F0502020204030204" pitchFamily="34" charset="0"/>
              </a:rPr>
              <a:t>, Organometallics, 3 </a:t>
            </a:r>
            <a:r>
              <a:rPr lang="en-IN" altLang="en-US" sz="1800" dirty="0" err="1">
                <a:cs typeface="Calibri" panose="020F0502020204030204" pitchFamily="34" charset="0"/>
              </a:rPr>
              <a:t>rd</a:t>
            </a:r>
            <a:r>
              <a:rPr lang="en-IN" altLang="en-US" sz="1800" dirty="0">
                <a:cs typeface="Calibri" panose="020F0502020204030204" pitchFamily="34" charset="0"/>
              </a:rPr>
              <a:t> Ed. (Wiley-VCH, 2006)</a:t>
            </a:r>
          </a:p>
          <a:p>
            <a:pPr eaLnBrk="1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IN" altLang="en-US" sz="1800" dirty="0">
                <a:cs typeface="Calibri" panose="020F0502020204030204" pitchFamily="34" charset="0"/>
              </a:rPr>
              <a:t> </a:t>
            </a:r>
          </a:p>
          <a:p>
            <a:pPr eaLnBrk="1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IN" altLang="en-US" sz="1800" b="1" dirty="0">
                <a:cs typeface="Calibri" panose="020F0502020204030204" pitchFamily="34" charset="0"/>
              </a:rPr>
              <a:t> </a:t>
            </a:r>
            <a:endParaRPr lang="en-IN" altLang="en-US" sz="1800" dirty="0"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Content Placeholder 3">
            <a:extLst>
              <a:ext uri="{FF2B5EF4-FFF2-40B4-BE49-F238E27FC236}">
                <a16:creationId xmlns:a16="http://schemas.microsoft.com/office/drawing/2014/main" xmlns="" id="{D60439D0-AB2A-1E67-8822-707648920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0"/>
            <a:ext cx="8686800" cy="6126163"/>
          </a:xfrm>
        </p:spPr>
        <p:txBody>
          <a:bodyPr/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altLang="en-US" sz="2000" b="1" u="sng" dirty="0">
                <a:ea typeface="Calibri" panose="020F0502020204030204" pitchFamily="34" charset="0"/>
                <a:cs typeface="Times New Roman" panose="02020603050405020304" pitchFamily="18" charset="0"/>
              </a:rPr>
              <a:t>Course Management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altLang="en-US" sz="2000" b="1" u="sng" dirty="0">
                <a:ea typeface="Calibri" panose="020F0502020204030204" pitchFamily="34" charset="0"/>
                <a:cs typeface="Times New Roman" panose="02020603050405020304" pitchFamily="18" charset="0"/>
              </a:rPr>
              <a:t>Total lectures: 20</a:t>
            </a:r>
            <a:r>
              <a:rPr lang="en-IN" altLang="en-US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 +  (</a:t>
            </a:r>
            <a:r>
              <a:rPr lang="en-IN" alt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Mid Sem Exam)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altLang="en-US" sz="2000" b="1" dirty="0">
                <a:cs typeface="Calibri" panose="020F0502020204030204" pitchFamily="34" charset="0"/>
              </a:rPr>
              <a:t>Tutorial Classes</a:t>
            </a:r>
            <a:r>
              <a:rPr lang="en-IN" altLang="en-US" sz="2000" dirty="0">
                <a:cs typeface="Calibri" panose="020F0502020204030204" pitchFamily="34" charset="0"/>
              </a:rPr>
              <a:t>: 6 </a:t>
            </a:r>
            <a:endParaRPr lang="en-IN" altLang="en-US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altLang="en-US" sz="2000" b="1" dirty="0"/>
              <a:t>Class Routine: CH4102</a:t>
            </a:r>
          </a:p>
          <a:p>
            <a:r>
              <a:rPr lang="en-IN" altLang="en-US" sz="2000" b="1" dirty="0"/>
              <a:t>Tuesday 5-7 PM  (LH 101, includes tutorial)</a:t>
            </a:r>
          </a:p>
          <a:p>
            <a:r>
              <a:rPr lang="en-IN" altLang="en-US" sz="2000" b="1" dirty="0"/>
              <a:t>Thursday 1-2 PM (LH 101)</a:t>
            </a:r>
          </a:p>
          <a:p>
            <a:r>
              <a:rPr lang="en-IN" altLang="en-US" sz="2000" b="1" dirty="0"/>
              <a:t>Friday 2-3 PM (LH 101)</a:t>
            </a:r>
          </a:p>
          <a:p>
            <a:endParaRPr lang="en-IN" altLang="en-US" sz="2000" dirty="0"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Bef>
                <a:spcPct val="0"/>
              </a:spcBef>
            </a:pPr>
            <a:r>
              <a:rPr lang="en-IN" altLang="en-US" sz="2000" b="1" u="sng" dirty="0">
                <a:cs typeface="Calibri" panose="020F0502020204030204" pitchFamily="34" charset="0"/>
              </a:rPr>
              <a:t>Marks Distribution:</a:t>
            </a:r>
            <a:endParaRPr lang="en-IN" altLang="en-US" sz="2000" dirty="0"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Bef>
                <a:spcPct val="0"/>
              </a:spcBef>
            </a:pPr>
            <a:r>
              <a:rPr lang="en-IN" altLang="en-US" sz="2000" dirty="0">
                <a:cs typeface="Calibri" panose="020F0502020204030204" pitchFamily="34" charset="0"/>
              </a:rPr>
              <a:t>Course Marking: 50 marks (Swadhin Mandal) + 50 marks (Arindam Mukherjee)</a:t>
            </a:r>
          </a:p>
          <a:p>
            <a:pPr marL="0" indent="0">
              <a:lnSpc>
                <a:spcPct val="107000"/>
              </a:lnSpc>
              <a:spcBef>
                <a:spcPct val="0"/>
              </a:spcBef>
              <a:buNone/>
            </a:pPr>
            <a:endParaRPr lang="en-IN" altLang="en-US" sz="2000" dirty="0"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Bef>
                <a:spcPct val="0"/>
              </a:spcBef>
            </a:pPr>
            <a:r>
              <a:rPr lang="en-IN" altLang="en-US" sz="2000" b="1" u="sng" dirty="0">
                <a:cs typeface="Calibri" panose="020F0502020204030204" pitchFamily="34" charset="0"/>
              </a:rPr>
              <a:t>50 marks (</a:t>
            </a:r>
            <a:r>
              <a:rPr lang="en-IN" altLang="en-US" sz="2000" b="1" u="sng" dirty="0" err="1">
                <a:cs typeface="Calibri" panose="020F0502020204030204" pitchFamily="34" charset="0"/>
              </a:rPr>
              <a:t>Swadhin</a:t>
            </a:r>
            <a:r>
              <a:rPr lang="en-IN" altLang="en-US" sz="2000" b="1" u="sng" dirty="0">
                <a:cs typeface="Calibri" panose="020F0502020204030204" pitchFamily="34" charset="0"/>
              </a:rPr>
              <a:t> Mandal)</a:t>
            </a:r>
            <a:endParaRPr lang="en-IN" altLang="en-US" sz="2000" dirty="0"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Bef>
                <a:spcPct val="0"/>
              </a:spcBef>
            </a:pPr>
            <a:r>
              <a:rPr lang="en-IN" altLang="en-US" sz="2000" b="1" dirty="0">
                <a:cs typeface="Calibri" panose="020F0502020204030204" pitchFamily="34" charset="0"/>
              </a:rPr>
              <a:t>Internal Assessment: 25</a:t>
            </a:r>
            <a:r>
              <a:rPr lang="en-IN" altLang="en-US" sz="2000" dirty="0">
                <a:cs typeface="Calibri" panose="020F0502020204030204" pitchFamily="34" charset="0"/>
              </a:rPr>
              <a:t> (5 from Attendance, and Impression + 10 Marks, Class Test 1 +  10 Marks, Class Test 2 )</a:t>
            </a:r>
          </a:p>
          <a:p>
            <a:pPr>
              <a:lnSpc>
                <a:spcPct val="107000"/>
              </a:lnSpc>
              <a:spcBef>
                <a:spcPct val="0"/>
              </a:spcBef>
            </a:pPr>
            <a:r>
              <a:rPr lang="en-IN" altLang="en-US" sz="2000" b="1" dirty="0" err="1">
                <a:cs typeface="Calibri" panose="020F0502020204030204" pitchFamily="34" charset="0"/>
              </a:rPr>
              <a:t>Midsem</a:t>
            </a:r>
            <a:r>
              <a:rPr lang="en-IN" altLang="en-US" sz="2000" b="1" dirty="0">
                <a:cs typeface="Calibri" panose="020F0502020204030204" pitchFamily="34" charset="0"/>
              </a:rPr>
              <a:t>: 25</a:t>
            </a:r>
            <a:endParaRPr lang="en-IN" altLang="en-US" sz="2000" dirty="0"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Bef>
                <a:spcPct val="0"/>
              </a:spcBef>
            </a:pPr>
            <a:endParaRPr lang="en-IN" altLang="en-US" sz="2000" dirty="0"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Bef>
                <a:spcPct val="0"/>
              </a:spcBef>
            </a:pPr>
            <a:endParaRPr lang="en-IN" altLang="en-US" sz="2000" dirty="0"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Bef>
                <a:spcPct val="0"/>
              </a:spcBef>
            </a:pPr>
            <a:endParaRPr lang="en-IN" altLang="en-US" sz="2000" dirty="0">
              <a:cs typeface="Calibri" panose="020F0502020204030204" pitchFamily="34" charset="0"/>
            </a:endParaRPr>
          </a:p>
          <a:p>
            <a:endParaRPr lang="en-I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>
            <a:extLst>
              <a:ext uri="{FF2B5EF4-FFF2-40B4-BE49-F238E27FC236}">
                <a16:creationId xmlns:a16="http://schemas.microsoft.com/office/drawing/2014/main" xmlns="" id="{037830EF-3E6D-498A-F12D-3EF612D04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49" y="114300"/>
            <a:ext cx="8229600" cy="1143000"/>
          </a:xfrm>
        </p:spPr>
        <p:txBody>
          <a:bodyPr/>
          <a:lstStyle/>
          <a:p>
            <a:r>
              <a:rPr lang="en-IN" altLang="en-US" b="1" u="sng" dirty="0">
                <a:ea typeface="Calibri" panose="020F0502020204030204" pitchFamily="34" charset="0"/>
                <a:cs typeface="Times New Roman" panose="02020603050405020304" pitchFamily="18" charset="0"/>
              </a:rPr>
              <a:t>Important Dates</a:t>
            </a:r>
            <a:r>
              <a:rPr lang="en-IN" altLang="en-US" dirty="0"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IN" altLang="en-US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altLang="en-US" dirty="0">
              <a:cs typeface="Times New Roman" panose="02020603050405020304" pitchFamily="18" charset="0"/>
            </a:endParaRPr>
          </a:p>
        </p:txBody>
      </p:sp>
      <p:sp>
        <p:nvSpPr>
          <p:cNvPr id="66562" name="Content Placeholder 2">
            <a:extLst>
              <a:ext uri="{FF2B5EF4-FFF2-40B4-BE49-F238E27FC236}">
                <a16:creationId xmlns:a16="http://schemas.microsoft.com/office/drawing/2014/main" xmlns="" id="{3C8337C2-9866-65DC-0C2C-418616EA3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6057900"/>
          </a:xfrm>
        </p:spPr>
        <p:txBody>
          <a:bodyPr/>
          <a:lstStyle/>
          <a:p>
            <a:pPr eaLnBrk="1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IN" altLang="en-US" b="1" dirty="0">
                <a:cs typeface="Calibri" panose="020F0502020204030204" pitchFamily="34" charset="0"/>
              </a:rPr>
              <a:t>Last class on my part: </a:t>
            </a:r>
            <a:r>
              <a:rPr lang="en-IN" altLang="en-US" dirty="0">
                <a:cs typeface="Calibri" panose="020F0502020204030204" pitchFamily="34" charset="0"/>
              </a:rPr>
              <a:t>21</a:t>
            </a:r>
            <a:r>
              <a:rPr lang="en-IN" altLang="en-US" baseline="30000" dirty="0">
                <a:cs typeface="Calibri" panose="020F0502020204030204" pitchFamily="34" charset="0"/>
              </a:rPr>
              <a:t>st</a:t>
            </a:r>
            <a:r>
              <a:rPr lang="en-IN" altLang="en-US" dirty="0">
                <a:cs typeface="Calibri" panose="020F0502020204030204" pitchFamily="34" charset="0"/>
              </a:rPr>
              <a:t> Sept</a:t>
            </a:r>
          </a:p>
          <a:p>
            <a:pPr eaLnBrk="1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IN" altLang="en-US" dirty="0">
                <a:cs typeface="Calibri" panose="020F0502020204030204" pitchFamily="34" charset="0"/>
              </a:rPr>
              <a:t>Mid-</a:t>
            </a:r>
            <a:r>
              <a:rPr lang="en-IN" altLang="en-US" dirty="0" err="1">
                <a:cs typeface="Calibri" panose="020F0502020204030204" pitchFamily="34" charset="0"/>
              </a:rPr>
              <a:t>sem</a:t>
            </a:r>
            <a:r>
              <a:rPr lang="en-IN" altLang="en-US" dirty="0">
                <a:cs typeface="Calibri" panose="020F0502020204030204" pitchFamily="34" charset="0"/>
              </a:rPr>
              <a:t> exam starts from 22</a:t>
            </a:r>
            <a:r>
              <a:rPr lang="en-IN" altLang="en-US" baseline="30000" dirty="0">
                <a:cs typeface="Calibri" panose="020F0502020204030204" pitchFamily="34" charset="0"/>
              </a:rPr>
              <a:t>nd</a:t>
            </a:r>
            <a:r>
              <a:rPr lang="en-IN" altLang="en-US" dirty="0">
                <a:cs typeface="Calibri" panose="020F0502020204030204" pitchFamily="34" charset="0"/>
              </a:rPr>
              <a:t> Sept (as per routine)</a:t>
            </a:r>
          </a:p>
          <a:p>
            <a:pPr eaLnBrk="1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FontTx/>
              <a:buNone/>
            </a:pPr>
            <a:endParaRPr lang="en-IN" altLang="en-US" dirty="0">
              <a:cs typeface="Calibri" panose="020F0502020204030204" pitchFamily="34" charset="0"/>
            </a:endParaRPr>
          </a:p>
          <a:p>
            <a:pPr eaLnBrk="1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IN" altLang="en-US" dirty="0">
                <a:cs typeface="Calibri" panose="020F0502020204030204" pitchFamily="34" charset="0"/>
              </a:rPr>
              <a:t>First Class Test 10 Marks: 22</a:t>
            </a:r>
            <a:r>
              <a:rPr lang="en-IN" altLang="en-US" baseline="30000" dirty="0">
                <a:cs typeface="Calibri" panose="020F0502020204030204" pitchFamily="34" charset="0"/>
              </a:rPr>
              <a:t>nd</a:t>
            </a:r>
            <a:r>
              <a:rPr lang="en-IN" altLang="en-US" dirty="0">
                <a:cs typeface="Calibri" panose="020F0502020204030204" pitchFamily="34" charset="0"/>
              </a:rPr>
              <a:t> August , Friday 2-3 PM</a:t>
            </a:r>
          </a:p>
          <a:p>
            <a:pPr eaLnBrk="1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FontTx/>
              <a:buNone/>
            </a:pPr>
            <a:endParaRPr lang="en-IN" altLang="en-US" dirty="0">
              <a:cs typeface="Calibri" panose="020F0502020204030204" pitchFamily="34" charset="0"/>
            </a:endParaRPr>
          </a:p>
          <a:p>
            <a:pPr eaLnBrk="1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IN" altLang="en-US" dirty="0">
                <a:cs typeface="Calibri" panose="020F0502020204030204" pitchFamily="34" charset="0"/>
              </a:rPr>
              <a:t>2nd Class Test 10 marks: Date to be announced </a:t>
            </a:r>
          </a:p>
          <a:p>
            <a:pPr eaLnBrk="1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FontTx/>
              <a:buNone/>
            </a:pPr>
            <a:endParaRPr lang="en-IN" altLang="en-US" dirty="0">
              <a:cs typeface="Calibri" panose="020F0502020204030204" pitchFamily="34" charset="0"/>
            </a:endParaRPr>
          </a:p>
          <a:p>
            <a:pPr eaLnBrk="1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None/>
            </a:pPr>
            <a:r>
              <a:rPr lang="en-IN" altLang="en-US" dirty="0">
                <a:cs typeface="Calibri" panose="020F0502020204030204" pitchFamily="34" charset="0"/>
              </a:rPr>
              <a:t>After Autumn break</a:t>
            </a:r>
            <a:r>
              <a:rPr lang="en-IN" altLang="en-US">
                <a:cs typeface="Calibri" panose="020F0502020204030204" pitchFamily="34" charset="0"/>
              </a:rPr>
              <a:t>: </a:t>
            </a:r>
            <a:r>
              <a:rPr lang="en-IN" altLang="en-US" smtClean="0">
                <a:cs typeface="Calibri" panose="020F0502020204030204" pitchFamily="34" charset="0"/>
              </a:rPr>
              <a:t>will </a:t>
            </a:r>
            <a:r>
              <a:rPr lang="en-IN" altLang="en-US" dirty="0">
                <a:cs typeface="Calibri" panose="020F0502020204030204" pitchFamily="34" charset="0"/>
              </a:rPr>
              <a:t>start Bioinorganic Part</a:t>
            </a:r>
          </a:p>
          <a:p>
            <a:pPr eaLnBrk="1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FontTx/>
              <a:buNone/>
            </a:pPr>
            <a:endParaRPr lang="en-IN" alt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2">
            <a:extLst>
              <a:ext uri="{FF2B5EF4-FFF2-40B4-BE49-F238E27FC236}">
                <a16:creationId xmlns:a16="http://schemas.microsoft.com/office/drawing/2014/main" xmlns="" id="{C9F69E05-FA9E-20B3-E526-1E487FEE7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4525963"/>
          </a:xfrm>
        </p:spPr>
        <p:txBody>
          <a:bodyPr/>
          <a:lstStyle/>
          <a:p>
            <a:pPr marL="0" indent="0">
              <a:lnSpc>
                <a:spcPct val="107000"/>
              </a:lnSpc>
              <a:buNone/>
            </a:pPr>
            <a:r>
              <a:rPr lang="en-IN" altLang="en-US" sz="2000" b="1" u="sng" dirty="0">
                <a:ea typeface="Calibri" panose="020F0502020204030204" pitchFamily="34" charset="0"/>
                <a:cs typeface="Times New Roman" panose="02020603050405020304" pitchFamily="18" charset="0"/>
              </a:rPr>
              <a:t>Teaching Assistant:</a:t>
            </a:r>
            <a:r>
              <a:rPr lang="en-IN" alt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IN" alt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altLang="en-US" sz="2000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Font typeface="Calibri" panose="020F0502020204030204" pitchFamily="34" charset="0"/>
              <a:buAutoNum type="arabicPeriod"/>
            </a:pPr>
            <a:r>
              <a:rPr lang="en-IN" altLang="en-US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Partha Pratim Dey (parthaprotim994@gmail.com </a:t>
            </a:r>
            <a:r>
              <a:rPr lang="en-IN" altLang="en-US" sz="2000" u="sng" dirty="0">
                <a:solidFill>
                  <a:srgbClr val="0000FF"/>
                </a:solidFill>
                <a:latin typeface="Roboto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WhatsApp: 8436300461</a:t>
            </a:r>
            <a:r>
              <a:rPr lang="en-IN" alt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) Research Topic: Discovery of new catalytic concepts and reactions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AutoNum type="arabicPeriod"/>
            </a:pPr>
            <a:r>
              <a:rPr lang="en-IN" altLang="en-US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Pallabi Mandal </a:t>
            </a:r>
            <a:r>
              <a:rPr lang="en-IN" alt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(pallabi0110@gmail.com, </a:t>
            </a:r>
            <a:r>
              <a:rPr lang="en-IN" altLang="en-US" sz="2000" u="sng" dirty="0">
                <a:solidFill>
                  <a:srgbClr val="0000FF"/>
                </a:solidFill>
                <a:latin typeface="Roboto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WhatsApp: 9474500600</a:t>
            </a:r>
            <a:r>
              <a:rPr lang="en-IN" alt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) Research Topic: Theoretical Investigation by DFT for catalytic processes</a:t>
            </a:r>
            <a:endParaRPr lang="en-IN" altLang="en-US" sz="2000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altLang="en-US" sz="2000" b="1" u="sng" dirty="0">
                <a:ea typeface="Calibri" panose="020F0502020204030204" pitchFamily="34" charset="0"/>
                <a:cs typeface="Times New Roman" panose="02020603050405020304" pitchFamily="18" charset="0"/>
              </a:rPr>
              <a:t>INSPIRE Faculty :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altLang="en-US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Dr </a:t>
            </a:r>
            <a:r>
              <a:rPr lang="en-IN" altLang="en-US" sz="2000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Siuli</a:t>
            </a:r>
            <a:r>
              <a:rPr lang="en-IN" altLang="en-US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 Das, </a:t>
            </a:r>
            <a:r>
              <a:rPr lang="en-IN" alt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Research Topic:  Inorganic Chemistry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altLang="en-US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altLang="en-US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Tutorial: </a:t>
            </a:r>
            <a:r>
              <a:rPr lang="en-IN" alt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six classes will mainly deal with problem-solving and practice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altLang="en-US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altLang="en-US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Make a </a:t>
            </a:r>
            <a:r>
              <a:rPr lang="en-IN" altLang="en-US" sz="2000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Whatsapp</a:t>
            </a:r>
            <a:r>
              <a:rPr lang="en-IN" altLang="en-US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 group </a:t>
            </a:r>
          </a:p>
          <a:p>
            <a:pPr marL="0" indent="0">
              <a:buNone/>
            </a:pPr>
            <a:endParaRPr lang="en-IN" alt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Content Placeholder 2">
            <a:extLst>
              <a:ext uri="{FF2B5EF4-FFF2-40B4-BE49-F238E27FC236}">
                <a16:creationId xmlns:a16="http://schemas.microsoft.com/office/drawing/2014/main" xmlns="" id="{5A1A2619-B6ED-7C14-1BA2-72D4F6415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What is Organometallic Chemistry and Why should I know about it?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4">
            <a:extLst>
              <a:ext uri="{FF2B5EF4-FFF2-40B4-BE49-F238E27FC236}">
                <a16:creationId xmlns:a16="http://schemas.microsoft.com/office/drawing/2014/main" xmlns="" id="{FF93367C-6706-4791-9846-0463ACACB8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52400"/>
            <a:ext cx="3581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>
                <a:solidFill>
                  <a:srgbClr val="101CBC"/>
                </a:solidFill>
              </a:rPr>
              <a:t>Nobel Prizes!!!</a:t>
            </a:r>
            <a:r>
              <a:rPr lang="en-US" altLang="en-US"/>
              <a:t> </a:t>
            </a:r>
          </a:p>
        </p:txBody>
      </p:sp>
      <p:sp>
        <p:nvSpPr>
          <p:cNvPr id="19458" name="Rectangle 7">
            <a:extLst>
              <a:ext uri="{FF2B5EF4-FFF2-40B4-BE49-F238E27FC236}">
                <a16:creationId xmlns:a16="http://schemas.microsoft.com/office/drawing/2014/main" xmlns="" id="{9882C21F-4DB0-9B13-3167-D28862B51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752600"/>
            <a:ext cx="20574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dirty="0"/>
              <a:t>Arsphenamine, also known as Salvarsan to treat syphilis </a:t>
            </a:r>
          </a:p>
        </p:txBody>
      </p:sp>
      <p:sp>
        <p:nvSpPr>
          <p:cNvPr id="19459" name="Text Box 8">
            <a:extLst>
              <a:ext uri="{FF2B5EF4-FFF2-40B4-BE49-F238E27FC236}">
                <a16:creationId xmlns:a16="http://schemas.microsoft.com/office/drawing/2014/main" xmlns="" id="{A14C78BB-36DA-65E4-A9D5-D157CBAE1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295400"/>
            <a:ext cx="1828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/>
              <a:t>P. Ehrlich</a:t>
            </a:r>
            <a:r>
              <a:rPr lang="en-US" altLang="en-US" sz="1600" dirty="0"/>
              <a:t> (</a:t>
            </a:r>
            <a:r>
              <a:rPr lang="en-US" altLang="en-US" sz="1600" b="1" dirty="0"/>
              <a:t>1908</a:t>
            </a:r>
            <a:r>
              <a:rPr lang="en-US" altLang="en-US" sz="1600" dirty="0"/>
              <a:t>)</a:t>
            </a:r>
          </a:p>
        </p:txBody>
      </p:sp>
      <p:sp>
        <p:nvSpPr>
          <p:cNvPr id="19460" name="Text Box 11">
            <a:extLst>
              <a:ext uri="{FF2B5EF4-FFF2-40B4-BE49-F238E27FC236}">
                <a16:creationId xmlns:a16="http://schemas.microsoft.com/office/drawing/2014/main" xmlns="" id="{39BD8B98-80FB-3D81-F80A-15E7FB057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219200"/>
            <a:ext cx="2133600" cy="168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/>
              <a:t>V. Grignard (1912)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dirty="0"/>
              <a:t>The Use of </a:t>
            </a:r>
            <a:r>
              <a:rPr lang="en-US" altLang="en-US" sz="1600" dirty="0" err="1"/>
              <a:t>Organomagnesium</a:t>
            </a:r>
            <a:r>
              <a:rPr lang="en-US" altLang="en-US" sz="1600" dirty="0"/>
              <a:t> Compounds in Preparative Organic Chemistry </a:t>
            </a:r>
          </a:p>
        </p:txBody>
      </p:sp>
      <p:sp>
        <p:nvSpPr>
          <p:cNvPr id="19461" name="Text Box 12">
            <a:extLst>
              <a:ext uri="{FF2B5EF4-FFF2-40B4-BE49-F238E27FC236}">
                <a16:creationId xmlns:a16="http://schemas.microsoft.com/office/drawing/2014/main" xmlns="" id="{304F92C6-61A1-E568-D7F1-09A3736E1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7818" y="3218662"/>
            <a:ext cx="19050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/>
              <a:t>H. C. Brown</a:t>
            </a:r>
            <a:r>
              <a:rPr lang="en-US" altLang="en-US" sz="1600" dirty="0"/>
              <a:t> and </a:t>
            </a:r>
            <a:r>
              <a:rPr lang="en-US" altLang="en-US" sz="1600" b="1" dirty="0"/>
              <a:t>G. Wittig</a:t>
            </a:r>
            <a:r>
              <a:rPr lang="en-US" altLang="en-US" sz="1600" dirty="0"/>
              <a:t> -</a:t>
            </a:r>
            <a:r>
              <a:rPr lang="en-US" altLang="en-US" sz="1600" b="1" dirty="0"/>
              <a:t>1979   </a:t>
            </a:r>
            <a:r>
              <a:rPr lang="en-US" altLang="en-US" sz="1600" dirty="0"/>
              <a:t>(Organoboron and Phosphonium ylides)</a:t>
            </a:r>
          </a:p>
        </p:txBody>
      </p:sp>
      <p:sp>
        <p:nvSpPr>
          <p:cNvPr id="19462" name="Text Box 14">
            <a:extLst>
              <a:ext uri="{FF2B5EF4-FFF2-40B4-BE49-F238E27FC236}">
                <a16:creationId xmlns:a16="http://schemas.microsoft.com/office/drawing/2014/main" xmlns="" id="{59FDB948-681F-0DD4-A2E7-04B5632BC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1200150"/>
            <a:ext cx="24384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/>
              <a:t>K. Ziegler</a:t>
            </a:r>
            <a:r>
              <a:rPr lang="en-US" altLang="en-US" sz="1600"/>
              <a:t> and </a:t>
            </a:r>
            <a:r>
              <a:rPr lang="en-US" altLang="en-US" sz="1600" b="1"/>
              <a:t>G. Natta</a:t>
            </a:r>
            <a:r>
              <a:rPr lang="en-US" altLang="en-US" sz="1600"/>
              <a:t> -</a:t>
            </a:r>
            <a:r>
              <a:rPr lang="en-US" altLang="en-US" sz="1600" b="1"/>
              <a:t>1963</a:t>
            </a:r>
            <a:r>
              <a:rPr lang="en-US" altLang="en-US" sz="1600"/>
              <a:t> (polyolefins from olefins in low pressure process using TM organometallic catalyst)</a:t>
            </a:r>
          </a:p>
        </p:txBody>
      </p:sp>
      <p:sp>
        <p:nvSpPr>
          <p:cNvPr id="19463" name="Text Box 15">
            <a:extLst>
              <a:ext uri="{FF2B5EF4-FFF2-40B4-BE49-F238E27FC236}">
                <a16:creationId xmlns:a16="http://schemas.microsoft.com/office/drawing/2014/main" xmlns="" id="{2008A5F2-4D21-BFD7-BBC8-F94045B2A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191" y="3122728"/>
            <a:ext cx="182880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/>
              <a:t>E. O. Fischer</a:t>
            </a:r>
            <a:r>
              <a:rPr lang="en-US" altLang="en-US" sz="1600" dirty="0"/>
              <a:t> and </a:t>
            </a:r>
            <a:r>
              <a:rPr lang="en-US" altLang="en-US" sz="1600" b="1" dirty="0"/>
              <a:t>G. Wilkinson</a:t>
            </a:r>
            <a:r>
              <a:rPr lang="en-US" altLang="en-US" sz="1600" dirty="0"/>
              <a:t> -</a:t>
            </a:r>
            <a:r>
              <a:rPr lang="en-US" altLang="en-US" sz="1600" b="1" dirty="0"/>
              <a:t>1973</a:t>
            </a:r>
            <a:r>
              <a:rPr lang="en-US" altLang="en-US" sz="1600" dirty="0"/>
              <a:t> (Organometallic Sandwich compound)</a:t>
            </a:r>
          </a:p>
        </p:txBody>
      </p:sp>
      <p:sp>
        <p:nvSpPr>
          <p:cNvPr id="19464" name="Text Box 16">
            <a:extLst>
              <a:ext uri="{FF2B5EF4-FFF2-40B4-BE49-F238E27FC236}">
                <a16:creationId xmlns:a16="http://schemas.microsoft.com/office/drawing/2014/main" xmlns="" id="{A93A1C94-B91F-7A52-D39D-57E4FC1F7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738" y="3191742"/>
            <a:ext cx="190500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/>
              <a:t>R. Hoffmann</a:t>
            </a:r>
            <a:r>
              <a:rPr lang="en-US" altLang="en-US" sz="1600" dirty="0"/>
              <a:t> and </a:t>
            </a:r>
            <a:r>
              <a:rPr lang="en-US" altLang="en-US" sz="1600" b="1" dirty="0"/>
              <a:t>K. Fukui</a:t>
            </a:r>
            <a:r>
              <a:rPr lang="en-US" altLang="en-US" sz="1600" dirty="0"/>
              <a:t> -</a:t>
            </a:r>
            <a:r>
              <a:rPr lang="en-US" altLang="en-US" sz="1600" b="1" dirty="0"/>
              <a:t>1981</a:t>
            </a:r>
            <a:r>
              <a:rPr lang="en-US" altLang="en-US" sz="1600" dirty="0"/>
              <a:t> (Theory to understand structure and reactivity)</a:t>
            </a:r>
          </a:p>
        </p:txBody>
      </p:sp>
      <p:sp>
        <p:nvSpPr>
          <p:cNvPr id="19465" name="Text Box 17">
            <a:extLst>
              <a:ext uri="{FF2B5EF4-FFF2-40B4-BE49-F238E27FC236}">
                <a16:creationId xmlns:a16="http://schemas.microsoft.com/office/drawing/2014/main" xmlns="" id="{7385DB5C-C957-10AF-5F6B-87422AACE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3351" y="2955925"/>
            <a:ext cx="1905000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/>
              <a:t>K. B. Sharpless</a:t>
            </a:r>
            <a:r>
              <a:rPr lang="en-US" altLang="en-US" sz="1600" dirty="0"/>
              <a:t>, </a:t>
            </a:r>
            <a:r>
              <a:rPr lang="en-US" altLang="en-US" sz="1600" b="1" dirty="0"/>
              <a:t>W. S. Knowles</a:t>
            </a:r>
            <a:r>
              <a:rPr lang="en-US" altLang="en-US" sz="1600" dirty="0"/>
              <a:t> and </a:t>
            </a:r>
            <a:r>
              <a:rPr lang="en-US" altLang="en-US" sz="1600" b="1" dirty="0"/>
              <a:t>R. </a:t>
            </a:r>
            <a:r>
              <a:rPr lang="en-US" altLang="en-US" sz="1600" b="1" dirty="0" err="1"/>
              <a:t>Noyori</a:t>
            </a:r>
            <a:r>
              <a:rPr lang="en-US" altLang="en-US" sz="1600" dirty="0"/>
              <a:t> -</a:t>
            </a:r>
            <a:r>
              <a:rPr lang="en-US" altLang="en-US" sz="1600" b="1" dirty="0"/>
              <a:t>2001</a:t>
            </a:r>
            <a:r>
              <a:rPr lang="en-US" altLang="en-US" sz="1600" dirty="0"/>
              <a:t> (Asymmetric catalysis using TM organometallic catalysts)</a:t>
            </a:r>
          </a:p>
        </p:txBody>
      </p:sp>
      <p:sp>
        <p:nvSpPr>
          <p:cNvPr id="19466" name="Text Box 18">
            <a:extLst>
              <a:ext uri="{FF2B5EF4-FFF2-40B4-BE49-F238E27FC236}">
                <a16:creationId xmlns:a16="http://schemas.microsoft.com/office/drawing/2014/main" xmlns="" id="{88BC3215-A95D-C983-965F-421A47967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881562"/>
            <a:ext cx="19812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/>
              <a:t>Y. Chauvin</a:t>
            </a:r>
            <a:r>
              <a:rPr lang="en-US" altLang="en-US" sz="1600" dirty="0"/>
              <a:t>, </a:t>
            </a:r>
            <a:r>
              <a:rPr lang="en-US" altLang="en-US" sz="1600" b="1" dirty="0"/>
              <a:t>R. R. Schrock</a:t>
            </a:r>
            <a:r>
              <a:rPr lang="en-US" altLang="en-US" sz="1600" dirty="0"/>
              <a:t> and </a:t>
            </a:r>
            <a:r>
              <a:rPr lang="en-US" altLang="en-US" sz="1600" b="1" dirty="0"/>
              <a:t>R. H. Grubbs</a:t>
            </a:r>
            <a:r>
              <a:rPr lang="en-US" altLang="en-US" sz="1600" dirty="0"/>
              <a:t> -</a:t>
            </a:r>
            <a:r>
              <a:rPr lang="en-US" altLang="en-US" sz="1600" b="1" dirty="0"/>
              <a:t>2005 </a:t>
            </a:r>
            <a:r>
              <a:rPr lang="en-US" altLang="en-US" sz="1600" dirty="0"/>
              <a:t>(Olefin metathesis by TM organometallic catalysts)</a:t>
            </a:r>
          </a:p>
        </p:txBody>
      </p:sp>
      <p:sp>
        <p:nvSpPr>
          <p:cNvPr id="19467" name="TextBox 22">
            <a:extLst>
              <a:ext uri="{FF2B5EF4-FFF2-40B4-BE49-F238E27FC236}">
                <a16:creationId xmlns:a16="http://schemas.microsoft.com/office/drawing/2014/main" xmlns="" id="{30FAB430-3C21-AE30-66B2-10EE91D8E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4898585"/>
            <a:ext cx="26670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/>
              <a:t>Richard Heck, </a:t>
            </a:r>
            <a:r>
              <a:rPr lang="en-US" altLang="en-US" sz="1800" b="1" dirty="0" err="1"/>
              <a:t>Ei-ichi</a:t>
            </a:r>
            <a:r>
              <a:rPr lang="en-US" altLang="en-US" sz="1800" b="1" dirty="0"/>
              <a:t> </a:t>
            </a:r>
            <a:r>
              <a:rPr lang="en-US" altLang="en-US" sz="1800" b="1" dirty="0" err="1"/>
              <a:t>Negishi</a:t>
            </a:r>
            <a:r>
              <a:rPr lang="en-US" altLang="en-US" sz="1800" b="1" dirty="0"/>
              <a:t> Akira Suzuki-2010 </a:t>
            </a:r>
            <a:r>
              <a:rPr lang="en-US" altLang="en-US" sz="1800" i="1" dirty="0"/>
              <a:t>for palladium-catalyzed cross couplings in organic synthesis</a:t>
            </a:r>
            <a:endParaRPr lang="en-US" altLang="en-US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 dirty="0"/>
          </a:p>
        </p:txBody>
      </p:sp>
      <p:sp>
        <p:nvSpPr>
          <p:cNvPr id="19468" name="Text Box 14">
            <a:extLst>
              <a:ext uri="{FF2B5EF4-FFF2-40B4-BE49-F238E27FC236}">
                <a16:creationId xmlns:a16="http://schemas.microsoft.com/office/drawing/2014/main" xmlns="" id="{37355246-8899-9F68-2E06-13C2D0A4D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1219200"/>
            <a:ext cx="24384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/>
              <a:t>D. Crowfood Hodgkins</a:t>
            </a:r>
            <a:r>
              <a:rPr lang="en-US" altLang="en-US" sz="1600"/>
              <a:t>  -</a:t>
            </a:r>
            <a:r>
              <a:rPr lang="en-US" altLang="en-US" sz="1600" b="1"/>
              <a:t>1964</a:t>
            </a:r>
            <a:r>
              <a:rPr lang="en-US" altLang="en-US" sz="1600"/>
              <a:t> (discovery of Co-C bond in vitamin B12 by X-ray)</a:t>
            </a: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xmlns="" id="{B09BBCAE-3FD5-8340-AF7F-047F7FC13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1351" y="4982350"/>
            <a:ext cx="2667000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sz="1600" b="1" i="0" u="none" strike="noStrike" dirty="0">
                <a:solidFill>
                  <a:srgbClr val="040C28"/>
                </a:solidFill>
                <a:effectLst/>
                <a:latin typeface="Google Sans"/>
              </a:rPr>
              <a:t>Carolyn </a:t>
            </a:r>
            <a:r>
              <a:rPr lang="en-IN" sz="1600" b="1" i="0" u="none" strike="noStrike" dirty="0" err="1">
                <a:solidFill>
                  <a:srgbClr val="040C28"/>
                </a:solidFill>
                <a:effectLst/>
                <a:latin typeface="Google Sans"/>
              </a:rPr>
              <a:t>Bertozzi</a:t>
            </a:r>
            <a:r>
              <a:rPr lang="en-IN" sz="1600" b="1" i="0" u="none" strike="noStrike" dirty="0">
                <a:solidFill>
                  <a:srgbClr val="040C28"/>
                </a:solidFill>
                <a:effectLst/>
                <a:latin typeface="Google Sans"/>
              </a:rPr>
              <a:t>, Morten </a:t>
            </a:r>
            <a:r>
              <a:rPr lang="en-IN" sz="1600" b="1" i="0" u="none" strike="noStrike" dirty="0" err="1">
                <a:solidFill>
                  <a:srgbClr val="040C28"/>
                </a:solidFill>
                <a:effectLst/>
                <a:latin typeface="Google Sans"/>
              </a:rPr>
              <a:t>Meldal</a:t>
            </a:r>
            <a:r>
              <a:rPr lang="en-IN" sz="1600" b="1" i="0" u="none" strike="noStrike" dirty="0">
                <a:solidFill>
                  <a:srgbClr val="040C28"/>
                </a:solidFill>
                <a:effectLst/>
                <a:latin typeface="Google Sans"/>
              </a:rPr>
              <a:t> </a:t>
            </a:r>
            <a:r>
              <a:rPr lang="en-IN" sz="1600" b="0" i="0" u="none" strike="noStrike" dirty="0">
                <a:solidFill>
                  <a:srgbClr val="040C28"/>
                </a:solidFill>
                <a:effectLst/>
                <a:latin typeface="Google Sans"/>
              </a:rPr>
              <a:t>and </a:t>
            </a:r>
            <a:r>
              <a:rPr lang="en-IN" sz="1600" b="1" i="0" u="none" strike="noStrike" dirty="0">
                <a:solidFill>
                  <a:srgbClr val="040C28"/>
                </a:solidFill>
                <a:effectLst/>
                <a:latin typeface="Google Sans"/>
              </a:rPr>
              <a:t>K.</a:t>
            </a:r>
            <a:r>
              <a:rPr lang="en-IN" sz="1600" b="1" i="0" u="none" strike="noStrike" dirty="0">
                <a:solidFill>
                  <a:srgbClr val="202124"/>
                </a:solidFill>
                <a:effectLst/>
                <a:latin typeface="Google Sans"/>
              </a:rPr>
              <a:t> </a:t>
            </a:r>
            <a:r>
              <a:rPr lang="en-IN" sz="1600" b="1" i="0" u="none" strike="noStrike" dirty="0">
                <a:solidFill>
                  <a:srgbClr val="040C28"/>
                </a:solidFill>
                <a:effectLst/>
                <a:latin typeface="Google Sans"/>
              </a:rPr>
              <a:t>Barry Sharpless</a:t>
            </a:r>
            <a:r>
              <a:rPr lang="en-IN" sz="1600" b="1" i="0" u="none" strike="noStrike" dirty="0">
                <a:solidFill>
                  <a:srgbClr val="202124"/>
                </a:solidFill>
                <a:effectLst/>
                <a:latin typeface="Google Sans"/>
              </a:rPr>
              <a:t>  2022 </a:t>
            </a:r>
            <a:r>
              <a:rPr lang="en-IN" sz="1600" b="0" i="0" u="none" strike="noStrike" dirty="0">
                <a:solidFill>
                  <a:srgbClr val="202124"/>
                </a:solidFill>
                <a:effectLst/>
                <a:latin typeface="Google Sans"/>
              </a:rPr>
              <a:t>“</a:t>
            </a:r>
            <a:r>
              <a:rPr lang="en-IN" sz="1600" b="0" i="0" u="none" strike="noStrike" dirty="0">
                <a:solidFill>
                  <a:srgbClr val="202124"/>
                </a:solidFill>
                <a:effectLst/>
                <a:latin typeface="+mj-lt"/>
              </a:rPr>
              <a:t>for the development of click chemistry and </a:t>
            </a:r>
            <a:r>
              <a:rPr lang="en-IN" sz="1600" b="0" i="0" u="none" strike="noStrike" dirty="0" err="1">
                <a:solidFill>
                  <a:srgbClr val="202124"/>
                </a:solidFill>
                <a:effectLst/>
                <a:latin typeface="+mj-lt"/>
              </a:rPr>
              <a:t>bioorthogonal</a:t>
            </a:r>
            <a:r>
              <a:rPr lang="en-IN" sz="1600" b="0" i="0" u="none" strike="noStrike" dirty="0">
                <a:solidFill>
                  <a:srgbClr val="202124"/>
                </a:solidFill>
                <a:effectLst/>
                <a:latin typeface="+mj-lt"/>
              </a:rPr>
              <a:t> chemistry”</a:t>
            </a:r>
            <a:endParaRPr lang="en-US" altLang="en-US" sz="1600" b="1" dirty="0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xmlns="" id="{CF7D49D5-6D0F-0E6C-D84F-A6C0A0CC6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/>
              <a:t>What catalyst does?</a:t>
            </a:r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xmlns="" id="{86C88C73-6A2E-BE66-B450-7D272CFFF53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90600"/>
            <a:ext cx="3505200" cy="5414963"/>
          </a:xfrm>
        </p:spPr>
      </p:pic>
      <p:pic>
        <p:nvPicPr>
          <p:cNvPr id="16387" name="Picture 3">
            <a:extLst>
              <a:ext uri="{FF2B5EF4-FFF2-40B4-BE49-F238E27FC236}">
                <a16:creationId xmlns:a16="http://schemas.microsoft.com/office/drawing/2014/main" xmlns="" id="{40EFD7B3-087A-A376-C14C-93A50EBD6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5425" y="1295400"/>
            <a:ext cx="4848225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TextBox 7">
            <a:extLst>
              <a:ext uri="{FF2B5EF4-FFF2-40B4-BE49-F238E27FC236}">
                <a16:creationId xmlns:a16="http://schemas.microsoft.com/office/drawing/2014/main" xmlns="" id="{39D5A936-C21F-A753-ED44-C43649248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6096000"/>
            <a:ext cx="4800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FF0000"/>
                </a:solidFill>
              </a:rPr>
              <a:t>Catalyst saves energy!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2">
            <a:extLst>
              <a:ext uri="{FF2B5EF4-FFF2-40B4-BE49-F238E27FC236}">
                <a16:creationId xmlns:a16="http://schemas.microsoft.com/office/drawing/2014/main" xmlns="" id="{F77520C5-5943-EC82-4CEB-E1A9927E1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600200"/>
            <a:ext cx="5767388" cy="461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29" name="Object 2">
            <a:extLst>
              <a:ext uri="{FF2B5EF4-FFF2-40B4-BE49-F238E27FC236}">
                <a16:creationId xmlns:a16="http://schemas.microsoft.com/office/drawing/2014/main" xmlns="" id="{16506A7B-18EF-3E07-C42D-35E5500EC2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188" y="928688"/>
          <a:ext cx="2019300" cy="205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CS ChemDraw Drawing" r:id="rId4" imgW="2476500" imgH="2501900" progId="ChemDraw.Document.6.0">
                  <p:embed/>
                </p:oleObj>
              </mc:Choice>
              <mc:Fallback>
                <p:oleObj name="CS ChemDraw Drawing" r:id="rId4" imgW="2476500" imgH="2501900" progId="ChemDraw.Document.6.0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928688"/>
                        <a:ext cx="2019300" cy="205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0" name="Object 3">
            <a:extLst>
              <a:ext uri="{FF2B5EF4-FFF2-40B4-BE49-F238E27FC236}">
                <a16:creationId xmlns:a16="http://schemas.microsoft.com/office/drawing/2014/main" xmlns="" id="{D61B8762-DBA6-353C-ADAD-2E81602DAF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43563" y="928688"/>
          <a:ext cx="2951162" cy="224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CS ChemDraw Drawing" r:id="rId6" imgW="3581400" imgH="2730500" progId="ChemDraw.Document.6.0">
                  <p:embed/>
                </p:oleObj>
              </mc:Choice>
              <mc:Fallback>
                <p:oleObj name="CS ChemDraw Drawing" r:id="rId6" imgW="3581400" imgH="2730500" progId="ChemDraw.Document.6.0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63" y="928688"/>
                        <a:ext cx="2951162" cy="2243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4">
            <a:extLst>
              <a:ext uri="{FF2B5EF4-FFF2-40B4-BE49-F238E27FC236}">
                <a16:creationId xmlns:a16="http://schemas.microsoft.com/office/drawing/2014/main" xmlns="" id="{CBBD6758-A985-9645-06A0-BEFB235B34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72125" y="3500438"/>
          <a:ext cx="1905000" cy="1493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CS ChemDraw Drawing" r:id="rId8" imgW="1739900" imgH="1371600" progId="ChemDraw.Document.6.0">
                  <p:embed/>
                </p:oleObj>
              </mc:Choice>
              <mc:Fallback>
                <p:oleObj name="CS ChemDraw Drawing" r:id="rId8" imgW="1739900" imgH="1371600" progId="ChemDraw.Document.6.0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25" y="3500438"/>
                        <a:ext cx="1905000" cy="1493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5">
            <a:extLst>
              <a:ext uri="{FF2B5EF4-FFF2-40B4-BE49-F238E27FC236}">
                <a16:creationId xmlns:a16="http://schemas.microsoft.com/office/drawing/2014/main" xmlns="" id="{F27F3548-42C4-A720-3399-2F18B9B494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2938" y="3571875"/>
          <a:ext cx="3019425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CS ChemDraw Drawing" r:id="rId10" imgW="4064000" imgH="1765300" progId="ChemDraw.Document.6.0">
                  <p:embed/>
                </p:oleObj>
              </mc:Choice>
              <mc:Fallback>
                <p:oleObj name="CS ChemDraw Drawing" r:id="rId10" imgW="4064000" imgH="1765300" progId="ChemDraw.Document.6.0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3571875"/>
                        <a:ext cx="3019425" cy="1311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TextBox 14">
            <a:extLst>
              <a:ext uri="{FF2B5EF4-FFF2-40B4-BE49-F238E27FC236}">
                <a16:creationId xmlns:a16="http://schemas.microsoft.com/office/drawing/2014/main" xmlns="" id="{2A25584B-CC3D-DAD9-750D-7317384C9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072063"/>
            <a:ext cx="4191000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1AD"/>
                </a:solidFill>
              </a:rPr>
              <a:t>(</a:t>
            </a:r>
            <a:r>
              <a:rPr lang="en-US" altLang="en-US" sz="1600" b="1" i="1">
                <a:solidFill>
                  <a:srgbClr val="0001AD"/>
                </a:solidFill>
              </a:rPr>
              <a:t>S</a:t>
            </a:r>
            <a:r>
              <a:rPr lang="en-US" altLang="en-US" sz="1600" b="1">
                <a:solidFill>
                  <a:srgbClr val="0001AD"/>
                </a:solidFill>
              </a:rPr>
              <a:t>)-Naproxen, Ru catalyzed hydrogenation, anti inflammatory drug  </a:t>
            </a:r>
          </a:p>
        </p:txBody>
      </p:sp>
      <p:sp>
        <p:nvSpPr>
          <p:cNvPr id="22534" name="Rectangle 15">
            <a:extLst>
              <a:ext uri="{FF2B5EF4-FFF2-40B4-BE49-F238E27FC236}">
                <a16:creationId xmlns:a16="http://schemas.microsoft.com/office/drawing/2014/main" xmlns="" id="{3B022F6B-8A44-12EA-13B1-4602DC5BF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313" y="5072063"/>
            <a:ext cx="4068762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1AD"/>
                </a:solidFill>
              </a:rPr>
              <a:t>Rh catalyzed hydrogenation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1AD"/>
                </a:solidFill>
              </a:rPr>
              <a:t>Parkinson's disease, </a:t>
            </a:r>
            <a:r>
              <a:rPr lang="en-US" altLang="en-US" sz="1600" b="1">
                <a:solidFill>
                  <a:srgbClr val="FF0000"/>
                </a:solidFill>
              </a:rPr>
              <a:t>Nobel Prize-2001</a:t>
            </a:r>
            <a:r>
              <a:rPr lang="en-US" altLang="en-US" sz="160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22535" name="TextBox 11">
            <a:extLst>
              <a:ext uri="{FF2B5EF4-FFF2-40B4-BE49-F238E27FC236}">
                <a16:creationId xmlns:a16="http://schemas.microsoft.com/office/drawing/2014/main" xmlns="" id="{6636EBE7-5EAF-9745-3BFC-1FD16AA52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0"/>
            <a:ext cx="6572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0000"/>
                </a:solidFill>
              </a:rPr>
              <a:t>Life Saving Medicines…</a:t>
            </a:r>
          </a:p>
        </p:txBody>
      </p:sp>
      <p:sp>
        <p:nvSpPr>
          <p:cNvPr id="22536" name="TextBox 18">
            <a:extLst>
              <a:ext uri="{FF2B5EF4-FFF2-40B4-BE49-F238E27FC236}">
                <a16:creationId xmlns:a16="http://schemas.microsoft.com/office/drawing/2014/main" xmlns="" id="{58E89953-B50D-CF6F-DECF-F6C9D5CEC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786063"/>
            <a:ext cx="419100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1AD"/>
                </a:solidFill>
              </a:rPr>
              <a:t>Losartan (antihypertensive drug)</a:t>
            </a:r>
          </a:p>
        </p:txBody>
      </p:sp>
      <p:sp>
        <p:nvSpPr>
          <p:cNvPr id="22537" name="TextBox 19">
            <a:extLst>
              <a:ext uri="{FF2B5EF4-FFF2-40B4-BE49-F238E27FC236}">
                <a16:creationId xmlns:a16="http://schemas.microsoft.com/office/drawing/2014/main" xmlns="" id="{F0607E77-11AE-2900-BC42-2254E155A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86063"/>
            <a:ext cx="4191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1AD"/>
                </a:solidFill>
              </a:rPr>
              <a:t>Telmisartan (antihypertensive drug)</a:t>
            </a:r>
          </a:p>
        </p:txBody>
      </p:sp>
      <p:sp>
        <p:nvSpPr>
          <p:cNvPr id="22538" name="TextBox 14">
            <a:extLst>
              <a:ext uri="{FF2B5EF4-FFF2-40B4-BE49-F238E27FC236}">
                <a16:creationId xmlns:a16="http://schemas.microsoft.com/office/drawing/2014/main" xmlns="" id="{1084E2F9-5753-939C-A90F-3A1CC3C77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828800"/>
            <a:ext cx="4191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FF"/>
                </a:solidFill>
              </a:rPr>
              <a:t>Palladium catalyzed</a:t>
            </a:r>
          </a:p>
        </p:txBody>
      </p:sp>
      <p:sp>
        <p:nvSpPr>
          <p:cNvPr id="22539" name="Rectangle 13">
            <a:extLst>
              <a:ext uri="{FF2B5EF4-FFF2-40B4-BE49-F238E27FC236}">
                <a16:creationId xmlns:a16="http://schemas.microsoft.com/office/drawing/2014/main" xmlns="" id="{F43E960E-39DE-753C-A36F-1C5B94163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362200"/>
            <a:ext cx="2095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Nobel Prize-2010</a:t>
            </a:r>
            <a:r>
              <a:rPr lang="en-US" altLang="en-US" sz="1800">
                <a:solidFill>
                  <a:srgbClr val="FF0000"/>
                </a:solidFill>
              </a:rPr>
              <a:t> </a:t>
            </a:r>
            <a:endParaRPr lang="en-US" altLang="en-US" sz="1800"/>
          </a:p>
        </p:txBody>
      </p:sp>
      <p:sp>
        <p:nvSpPr>
          <p:cNvPr id="22540" name="TextBox 13">
            <a:extLst>
              <a:ext uri="{FF2B5EF4-FFF2-40B4-BE49-F238E27FC236}">
                <a16:creationId xmlns:a16="http://schemas.microsoft.com/office/drawing/2014/main" xmlns="" id="{6FC51048-A74F-AD46-08CB-B174A9190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838200"/>
            <a:ext cx="2312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Billion Dollar drugs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7" name="Picture 1">
            <a:extLst>
              <a:ext uri="{FF2B5EF4-FFF2-40B4-BE49-F238E27FC236}">
                <a16:creationId xmlns:a16="http://schemas.microsoft.com/office/drawing/2014/main" xmlns="" id="{EC125DFE-E18D-9652-A321-B82BCE877D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57200"/>
            <a:ext cx="4819650" cy="640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8" name="Picture 2">
            <a:extLst>
              <a:ext uri="{FF2B5EF4-FFF2-40B4-BE49-F238E27FC236}">
                <a16:creationId xmlns:a16="http://schemas.microsoft.com/office/drawing/2014/main" xmlns="" id="{8CE1905E-B3A9-9976-475B-2F598DB4DB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133600"/>
            <a:ext cx="3886200" cy="124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1" name="Picture 5" descr="1 Schlenk line (Vacuum line) set–up ">
            <a:extLst>
              <a:ext uri="{FF2B5EF4-FFF2-40B4-BE49-F238E27FC236}">
                <a16:creationId xmlns:a16="http://schemas.microsoft.com/office/drawing/2014/main" xmlns="" id="{84E41769-AB1B-8AF0-9F7B-BFE3AF781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8" y="1570038"/>
            <a:ext cx="8315325" cy="371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laboratory&#10;&#10;Description automatically generated">
            <a:extLst>
              <a:ext uri="{FF2B5EF4-FFF2-40B4-BE49-F238E27FC236}">
                <a16:creationId xmlns:a16="http://schemas.microsoft.com/office/drawing/2014/main" xmlns="" id="{CC8064EE-1379-BA83-2132-EB6448327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745720"/>
            <a:ext cx="8612578" cy="573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795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5" name="Picture 1" descr="GLOVEBOX.jpeg">
            <a:extLst>
              <a:ext uri="{FF2B5EF4-FFF2-40B4-BE49-F238E27FC236}">
                <a16:creationId xmlns:a16="http://schemas.microsoft.com/office/drawing/2014/main" xmlns="" id="{C494042B-13DC-6E55-11D5-B288644071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685800"/>
            <a:ext cx="60960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chine with a glass front&#10;&#10;Description automatically generated with medium confidence">
            <a:extLst>
              <a:ext uri="{FF2B5EF4-FFF2-40B4-BE49-F238E27FC236}">
                <a16:creationId xmlns:a16="http://schemas.microsoft.com/office/drawing/2014/main" xmlns="" id="{C2956C6D-C5B1-F5BC-4BB6-5E72AAE60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906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49" name="Picture 3">
            <a:extLst>
              <a:ext uri="{FF2B5EF4-FFF2-40B4-BE49-F238E27FC236}">
                <a16:creationId xmlns:a16="http://schemas.microsoft.com/office/drawing/2014/main" xmlns="" id="{4AEB75C2-9EE9-741B-4AC9-5F2CBDE1C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1601788"/>
            <a:ext cx="8512175" cy="197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3" name="Picture 3">
            <a:extLst>
              <a:ext uri="{FF2B5EF4-FFF2-40B4-BE49-F238E27FC236}">
                <a16:creationId xmlns:a16="http://schemas.microsoft.com/office/drawing/2014/main" xmlns="" id="{8BFC9936-2C80-5C14-10A7-A3C4C44736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2817813"/>
            <a:ext cx="7286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7" name="Picture 3">
            <a:extLst>
              <a:ext uri="{FF2B5EF4-FFF2-40B4-BE49-F238E27FC236}">
                <a16:creationId xmlns:a16="http://schemas.microsoft.com/office/drawing/2014/main" xmlns="" id="{48978386-E65D-7ECD-3D8C-6F2C2AC4D6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09750"/>
            <a:ext cx="9144000" cy="323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Content Placeholder 2">
            <a:extLst>
              <a:ext uri="{FF2B5EF4-FFF2-40B4-BE49-F238E27FC236}">
                <a16:creationId xmlns:a16="http://schemas.microsoft.com/office/drawing/2014/main" xmlns="" id="{7D432707-0764-EEA8-5054-5BE35E3FF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30723" name="Picture 3">
            <a:extLst>
              <a:ext uri="{FF2B5EF4-FFF2-40B4-BE49-F238E27FC236}">
                <a16:creationId xmlns:a16="http://schemas.microsoft.com/office/drawing/2014/main" xmlns="" id="{D987C15A-3349-F6D4-686F-845CDD373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2190750"/>
            <a:ext cx="8515350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>
            <a:extLst>
              <a:ext uri="{FF2B5EF4-FFF2-40B4-BE49-F238E27FC236}">
                <a16:creationId xmlns:a16="http://schemas.microsoft.com/office/drawing/2014/main" xmlns="" id="{E553642D-C861-EEF1-B03E-EBC8A8EA8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31746" name="Content Placeholder 5">
            <a:extLst>
              <a:ext uri="{FF2B5EF4-FFF2-40B4-BE49-F238E27FC236}">
                <a16:creationId xmlns:a16="http://schemas.microsoft.com/office/drawing/2014/main" xmlns="" id="{CB6662C9-4A3E-26A0-61B7-C5B05F6DAE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8650" y="3436938"/>
            <a:ext cx="7886700" cy="1128712"/>
          </a:xfr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xmlns="" id="{BCE99BAD-C273-2371-E3B7-77F744579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32770" name="Content Placeholder 3">
            <a:extLst>
              <a:ext uri="{FF2B5EF4-FFF2-40B4-BE49-F238E27FC236}">
                <a16:creationId xmlns:a16="http://schemas.microsoft.com/office/drawing/2014/main" xmlns="" id="{85242D25-7C02-D0B8-F19F-55B7252EF14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8650" y="3627438"/>
            <a:ext cx="7886700" cy="747712"/>
          </a:xfrm>
        </p:spPr>
      </p:pic>
      <p:pic>
        <p:nvPicPr>
          <p:cNvPr id="32771" name="Picture 4">
            <a:extLst>
              <a:ext uri="{FF2B5EF4-FFF2-40B4-BE49-F238E27FC236}">
                <a16:creationId xmlns:a16="http://schemas.microsoft.com/office/drawing/2014/main" xmlns="" id="{04DA61A4-693B-5FF4-1C5C-3331F5C86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557713"/>
            <a:ext cx="73723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>
            <a:extLst>
              <a:ext uri="{FF2B5EF4-FFF2-40B4-BE49-F238E27FC236}">
                <a16:creationId xmlns:a16="http://schemas.microsoft.com/office/drawing/2014/main" xmlns="" id="{5186F617-9090-48BB-23CE-7A71EA8FC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3794" name="Content Placeholder 2">
            <a:extLst>
              <a:ext uri="{FF2B5EF4-FFF2-40B4-BE49-F238E27FC236}">
                <a16:creationId xmlns:a16="http://schemas.microsoft.com/office/drawing/2014/main" xmlns="" id="{0FD8D8A3-27E0-17FD-ECF7-BF546096E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33795" name="Picture 3">
            <a:extLst>
              <a:ext uri="{FF2B5EF4-FFF2-40B4-BE49-F238E27FC236}">
                <a16:creationId xmlns:a16="http://schemas.microsoft.com/office/drawing/2014/main" xmlns="" id="{B1334B31-F44C-A3AD-53B6-440527F836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3208338"/>
            <a:ext cx="8143875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xmlns="" id="{4658A962-ED9D-A470-7671-BF71F181C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4818" name="Content Placeholder 2">
            <a:extLst>
              <a:ext uri="{FF2B5EF4-FFF2-40B4-BE49-F238E27FC236}">
                <a16:creationId xmlns:a16="http://schemas.microsoft.com/office/drawing/2014/main" xmlns="" id="{66D4BF05-45F7-8C77-3EA0-E5D2329EE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34819" name="Picture 3">
            <a:extLst>
              <a:ext uri="{FF2B5EF4-FFF2-40B4-BE49-F238E27FC236}">
                <a16:creationId xmlns:a16="http://schemas.microsoft.com/office/drawing/2014/main" xmlns="" id="{4A1E9F05-77F7-9080-74B7-97C2A95E28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50" y="3282950"/>
            <a:ext cx="78359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>
            <a:extLst>
              <a:ext uri="{FF2B5EF4-FFF2-40B4-BE49-F238E27FC236}">
                <a16:creationId xmlns:a16="http://schemas.microsoft.com/office/drawing/2014/main" xmlns="" id="{B78DF62D-D81C-D1C1-7E60-BA14480E1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1900: Victor Grignard</a:t>
            </a:r>
          </a:p>
        </p:txBody>
      </p:sp>
      <p:pic>
        <p:nvPicPr>
          <p:cNvPr id="35842" name="Picture 2" descr="Grignard Reagent: Formation, Synthesis &amp; Preparation - Video ...">
            <a:extLst>
              <a:ext uri="{FF2B5EF4-FFF2-40B4-BE49-F238E27FC236}">
                <a16:creationId xmlns:a16="http://schemas.microsoft.com/office/drawing/2014/main" xmlns="" id="{6E6350A4-2882-5AA0-9B75-1B14EABCA5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17788" y="2820988"/>
            <a:ext cx="3625850" cy="2163762"/>
          </a:xfr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xmlns="" id="{88747AE2-22C1-C17A-A864-1C82B9DAE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36866" name="Content Placeholder 4">
            <a:extLst>
              <a:ext uri="{FF2B5EF4-FFF2-40B4-BE49-F238E27FC236}">
                <a16:creationId xmlns:a16="http://schemas.microsoft.com/office/drawing/2014/main" xmlns="" id="{BD01D1FC-B822-55CC-93C3-BDE68A7CB2E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8650" y="3783013"/>
            <a:ext cx="7886700" cy="436562"/>
          </a:xfr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>
            <a:extLst>
              <a:ext uri="{FF2B5EF4-FFF2-40B4-BE49-F238E27FC236}">
                <a16:creationId xmlns:a16="http://schemas.microsoft.com/office/drawing/2014/main" xmlns="" id="{31D003D5-E4DD-B016-292A-9DEBF8562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37890" name="Content Placeholder 3">
            <a:extLst>
              <a:ext uri="{FF2B5EF4-FFF2-40B4-BE49-F238E27FC236}">
                <a16:creationId xmlns:a16="http://schemas.microsoft.com/office/drawing/2014/main" xmlns="" id="{F5B29CAB-2C2D-F4DB-7228-86FF61057D3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8650" y="3176588"/>
            <a:ext cx="7886700" cy="1649412"/>
          </a:xfr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4">
            <a:extLst>
              <a:ext uri="{FF2B5EF4-FFF2-40B4-BE49-F238E27FC236}">
                <a16:creationId xmlns:a16="http://schemas.microsoft.com/office/drawing/2014/main" xmlns="" id="{40B31AF4-EA4F-C70D-0F34-314F9C4E5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198813"/>
            <a:ext cx="4572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aseline="300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aseline="30000">
              <a:latin typeface="Arial" panose="020B0604020202020204" pitchFamily="34" charset="0"/>
            </a:endParaRPr>
          </a:p>
        </p:txBody>
      </p:sp>
      <p:sp>
        <p:nvSpPr>
          <p:cNvPr id="38914" name="TextBox 5">
            <a:extLst>
              <a:ext uri="{FF2B5EF4-FFF2-40B4-BE49-F238E27FC236}">
                <a16:creationId xmlns:a16="http://schemas.microsoft.com/office/drawing/2014/main" xmlns="" id="{2CDEE604-4BD7-E1B0-6D5E-563F00B01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286000"/>
            <a:ext cx="7543800" cy="140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aseline="30000">
                <a:latin typeface="Arial" panose="020B0604020202020204" pitchFamily="34" charset="0"/>
              </a:rPr>
              <a:t>Grignard reagents, RMgX, provided the first source of nucleophilic alkyl groups, Rδ−, to complement the electrophilic alkyl groups, Rδ+, available from the alkyl halides. </a:t>
            </a: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1">
            <a:extLst>
              <a:ext uri="{FF2B5EF4-FFF2-40B4-BE49-F238E27FC236}">
                <a16:creationId xmlns:a16="http://schemas.microsoft.com/office/drawing/2014/main" xmlns="" id="{C7097E4B-1815-EDA7-5D7E-726E7BC60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057400"/>
            <a:ext cx="6172200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aseline="30000">
                <a:latin typeface="Arial" panose="020B0604020202020204" pitchFamily="34" charset="0"/>
              </a:rPr>
              <a:t>Alkyls of the electropositive elements of groups 1–2, as well as Al and Zn, are sometimes called </a:t>
            </a:r>
            <a:r>
              <a:rPr lang="en-US" altLang="en-US" i="1" baseline="30000">
                <a:latin typeface="Arial" panose="020B0604020202020204" pitchFamily="34" charset="0"/>
              </a:rPr>
              <a:t>polar organometallics </a:t>
            </a:r>
            <a:r>
              <a:rPr lang="en-US" altLang="en-US" baseline="30000">
                <a:latin typeface="Arial" panose="020B0604020202020204" pitchFamily="34" charset="0"/>
              </a:rPr>
              <a:t>because the alkyl anion is only weakly stabilized and retains much of the strongly nucleophilic and basic character of the free anion.</a:t>
            </a: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">
            <a:extLst>
              <a:ext uri="{FF2B5EF4-FFF2-40B4-BE49-F238E27FC236}">
                <a16:creationId xmlns:a16="http://schemas.microsoft.com/office/drawing/2014/main" xmlns="" id="{C9322093-1EEA-0558-D907-9FB44BC08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752600"/>
            <a:ext cx="4572000" cy="239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aseline="30000">
                <a:latin typeface="Arial" panose="020B0604020202020204" pitchFamily="34" charset="0"/>
              </a:rPr>
              <a:t>Polar alkyls all react with traces of humidity to hydrolyze the M−C bond to form M−OH and release RH. Air oxidation also occurs very readily, and so polar organometallics must be protected from both air and water.</a:t>
            </a: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>
            <a:extLst>
              <a:ext uri="{FF2B5EF4-FFF2-40B4-BE49-F238E27FC236}">
                <a16:creationId xmlns:a16="http://schemas.microsoft.com/office/drawing/2014/main" xmlns="" id="{35E19939-3C1C-6714-5291-1EAC592E3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2133600"/>
            <a:ext cx="4572000" cy="271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aseline="30000">
                <a:latin typeface="Arial" panose="020B0604020202020204" pitchFamily="34" charset="0"/>
              </a:rPr>
              <a:t>as we move to less electropositive metals by moving to the right and down the periodic table, the compounds become much less reactive, until we reach Hg, where the Hg−C bond is so stable that [Me−Hg]+ cation is indefinitely stable in aqueous sulfuric acid in air.</a:t>
            </a: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>
            <a:extLst>
              <a:ext uri="{FF2B5EF4-FFF2-40B4-BE49-F238E27FC236}">
                <a16:creationId xmlns:a16="http://schemas.microsoft.com/office/drawing/2014/main" xmlns="" id="{01D9F2FE-CF3F-381B-711D-1DBEC33D2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828800"/>
            <a:ext cx="7543800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aseline="30000" dirty="0">
                <a:latin typeface="Arial" panose="020B0604020202020204" pitchFamily="34" charset="0"/>
              </a:rPr>
              <a:t>The inherent stability of the R fragment plays a role, too. As an </a:t>
            </a:r>
            <a:r>
              <a:rPr lang="en-US" altLang="en-US" i="1" baseline="30000" dirty="0">
                <a:latin typeface="Arial" panose="020B0604020202020204" pitchFamily="34" charset="0"/>
              </a:rPr>
              <a:t>sp</a:t>
            </a:r>
            <a:r>
              <a:rPr lang="en-US" altLang="en-US" baseline="30000" dirty="0">
                <a:latin typeface="Arial" panose="020B0604020202020204" pitchFamily="34" charset="0"/>
              </a:rPr>
              <a:t>3 ion, CH</a:t>
            </a:r>
            <a:r>
              <a:rPr lang="en-US" altLang="en-US" baseline="-25000" dirty="0">
                <a:latin typeface="Arial" panose="020B0604020202020204" pitchFamily="34" charset="0"/>
              </a:rPr>
              <a:t>3</a:t>
            </a:r>
            <a:r>
              <a:rPr lang="en-US" altLang="en-US" baseline="30000" dirty="0">
                <a:latin typeface="Arial" panose="020B0604020202020204" pitchFamily="34" charset="0"/>
              </a:rPr>
              <a:t>− is the most reactive. As we move to </a:t>
            </a:r>
            <a:r>
              <a:rPr lang="en-US" altLang="en-US" i="1" baseline="30000" dirty="0">
                <a:latin typeface="Arial" panose="020B0604020202020204" pitchFamily="34" charset="0"/>
              </a:rPr>
              <a:t>sp</a:t>
            </a:r>
            <a:r>
              <a:rPr lang="en-US" altLang="en-US" baseline="30000" dirty="0">
                <a:latin typeface="Arial" panose="020B0604020202020204" pitchFamily="34" charset="0"/>
              </a:rPr>
              <a:t>2 C</a:t>
            </a:r>
            <a:r>
              <a:rPr lang="en-US" altLang="en-US" baseline="-25000" dirty="0">
                <a:latin typeface="Arial" panose="020B0604020202020204" pitchFamily="34" charset="0"/>
              </a:rPr>
              <a:t>6</a:t>
            </a:r>
            <a:r>
              <a:rPr lang="en-US" altLang="en-US" baseline="30000" dirty="0">
                <a:latin typeface="Arial" panose="020B0604020202020204" pitchFamily="34" charset="0"/>
              </a:rPr>
              <a:t>H</a:t>
            </a:r>
            <a:r>
              <a:rPr lang="en-US" altLang="en-US" baseline="-25000" dirty="0">
                <a:latin typeface="Arial" panose="020B0604020202020204" pitchFamily="34" charset="0"/>
              </a:rPr>
              <a:t>5</a:t>
            </a:r>
            <a:r>
              <a:rPr lang="en-US" altLang="en-US" baseline="30000" dirty="0">
                <a:latin typeface="Arial" panose="020B0604020202020204" pitchFamily="34" charset="0"/>
              </a:rPr>
              <a:t>− and even more to </a:t>
            </a:r>
            <a:r>
              <a:rPr lang="en-US" altLang="en-US" i="1" baseline="30000" dirty="0" err="1">
                <a:latin typeface="Arial" panose="020B0604020202020204" pitchFamily="34" charset="0"/>
              </a:rPr>
              <a:t>sp</a:t>
            </a:r>
            <a:r>
              <a:rPr lang="en-US" altLang="en-US" i="1" baseline="30000" dirty="0">
                <a:latin typeface="Arial" panose="020B0604020202020204" pitchFamily="34" charset="0"/>
              </a:rPr>
              <a:t> </a:t>
            </a:r>
            <a:r>
              <a:rPr lang="en-US" altLang="en-US" baseline="30000" dirty="0">
                <a:latin typeface="Arial" panose="020B0604020202020204" pitchFamily="34" charset="0"/>
              </a:rPr>
              <a:t>RC≡C−, where the lone pair of the anion is stabilized by being in an orbital with more s character, the intrinsic reactivity falls off. The same trend makes the acidity of the hydrocarbons increase as we go from CH</a:t>
            </a:r>
            <a:r>
              <a:rPr lang="en-US" altLang="en-US" baseline="-25000" dirty="0">
                <a:latin typeface="Arial" panose="020B0604020202020204" pitchFamily="34" charset="0"/>
              </a:rPr>
              <a:t>4 </a:t>
            </a:r>
            <a:r>
              <a:rPr lang="en-US" altLang="en-US" baseline="30000" dirty="0">
                <a:latin typeface="Arial" panose="020B0604020202020204" pitchFamily="34" charset="0"/>
              </a:rPr>
              <a:t>(</a:t>
            </a:r>
            <a:r>
              <a:rPr lang="en-US" altLang="en-US" baseline="30000" dirty="0" err="1">
                <a:latin typeface="Arial" panose="020B0604020202020204" pitchFamily="34" charset="0"/>
              </a:rPr>
              <a:t>pK</a:t>
            </a:r>
            <a:r>
              <a:rPr lang="en-US" altLang="en-US" baseline="-25000" dirty="0" err="1">
                <a:latin typeface="Arial" panose="020B0604020202020204" pitchFamily="34" charset="0"/>
              </a:rPr>
              <a:t>a</a:t>
            </a:r>
            <a:r>
              <a:rPr lang="en-US" altLang="en-US" baseline="-25000" dirty="0">
                <a:latin typeface="Arial" panose="020B0604020202020204" pitchFamily="34" charset="0"/>
              </a:rPr>
              <a:t> </a:t>
            </a:r>
            <a:r>
              <a:rPr lang="en-US" altLang="en-US" baseline="30000" dirty="0">
                <a:latin typeface="Arial" panose="020B0604020202020204" pitchFamily="34" charset="0"/>
              </a:rPr>
              <a:t>= ∼50) to C</a:t>
            </a:r>
            <a:r>
              <a:rPr lang="en-US" altLang="en-US" baseline="-25000" dirty="0">
                <a:latin typeface="Arial" panose="020B0604020202020204" pitchFamily="34" charset="0"/>
              </a:rPr>
              <a:t>6</a:t>
            </a:r>
            <a:r>
              <a:rPr lang="en-US" altLang="en-US" baseline="30000" dirty="0">
                <a:latin typeface="Arial" panose="020B0604020202020204" pitchFamily="34" charset="0"/>
              </a:rPr>
              <a:t>H</a:t>
            </a:r>
            <a:r>
              <a:rPr lang="en-US" altLang="en-US" baseline="-25000" dirty="0">
                <a:latin typeface="Arial" panose="020B0604020202020204" pitchFamily="34" charset="0"/>
              </a:rPr>
              <a:t>6 </a:t>
            </a:r>
            <a:r>
              <a:rPr lang="en-US" altLang="en-US" baseline="30000" dirty="0">
                <a:latin typeface="Arial" panose="020B0604020202020204" pitchFamily="34" charset="0"/>
              </a:rPr>
              <a:t>(</a:t>
            </a:r>
            <a:r>
              <a:rPr lang="en-US" altLang="en-US" baseline="30000" dirty="0" err="1">
                <a:latin typeface="Arial" panose="020B0604020202020204" pitchFamily="34" charset="0"/>
              </a:rPr>
              <a:t>pK</a:t>
            </a:r>
            <a:r>
              <a:rPr lang="en-US" altLang="en-US" baseline="-25000" dirty="0" err="1">
                <a:latin typeface="Arial" panose="020B0604020202020204" pitchFamily="34" charset="0"/>
              </a:rPr>
              <a:t>a</a:t>
            </a:r>
            <a:r>
              <a:rPr lang="en-US" altLang="en-US" baseline="-25000" dirty="0">
                <a:latin typeface="Arial" panose="020B0604020202020204" pitchFamily="34" charset="0"/>
              </a:rPr>
              <a:t> </a:t>
            </a:r>
            <a:r>
              <a:rPr lang="en-US" altLang="en-US" baseline="30000" dirty="0">
                <a:latin typeface="Arial" panose="020B0604020202020204" pitchFamily="34" charset="0"/>
              </a:rPr>
              <a:t>= ∼43) and to RC≡CH (</a:t>
            </a:r>
            <a:r>
              <a:rPr lang="en-US" altLang="en-US" baseline="30000" dirty="0" err="1">
                <a:latin typeface="Arial" panose="020B0604020202020204" pitchFamily="34" charset="0"/>
              </a:rPr>
              <a:t>pK</a:t>
            </a:r>
            <a:r>
              <a:rPr lang="en-US" altLang="en-US" baseline="-25000" dirty="0" err="1">
                <a:latin typeface="Arial" panose="020B0604020202020204" pitchFamily="34" charset="0"/>
              </a:rPr>
              <a:t>a</a:t>
            </a:r>
            <a:r>
              <a:rPr lang="en-US" altLang="en-US" baseline="-25000" dirty="0">
                <a:latin typeface="Arial" panose="020B0604020202020204" pitchFamily="34" charset="0"/>
              </a:rPr>
              <a:t> </a:t>
            </a:r>
            <a:r>
              <a:rPr lang="en-US" altLang="en-US" baseline="30000" dirty="0">
                <a:latin typeface="Arial" panose="020B0604020202020204" pitchFamily="34" charset="0"/>
              </a:rPr>
              <a:t>= ∼25), so the anion from the latter is the most stable and least reactive</a:t>
            </a:r>
            <a:r>
              <a:rPr lang="en-US" altLang="en-US" sz="2000" baseline="30000" dirty="0">
                <a:latin typeface="Arial" panose="020B0604020202020204" pitchFamily="34" charset="0"/>
              </a:rPr>
              <a:t>.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>
            <a:extLst>
              <a:ext uri="{FF2B5EF4-FFF2-40B4-BE49-F238E27FC236}">
                <a16:creationId xmlns:a16="http://schemas.microsoft.com/office/drawing/2014/main" xmlns="" id="{5BB744A0-8FC4-AB21-DD1D-E16488A88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pic>
        <p:nvPicPr>
          <p:cNvPr id="44034" name="Content Placeholder 5">
            <a:extLst>
              <a:ext uri="{FF2B5EF4-FFF2-40B4-BE49-F238E27FC236}">
                <a16:creationId xmlns:a16="http://schemas.microsoft.com/office/drawing/2014/main" xmlns="" id="{34929803-A6A5-F7AD-6025-7893C60042C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8150" y="1825625"/>
            <a:ext cx="3187700" cy="4351338"/>
          </a:xfr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1">
            <a:extLst>
              <a:ext uri="{FF2B5EF4-FFF2-40B4-BE49-F238E27FC236}">
                <a16:creationId xmlns:a16="http://schemas.microsoft.com/office/drawing/2014/main" xmlns="" id="{9F924739-4CEA-CF5F-B4F3-3806C7C1F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133600"/>
            <a:ext cx="5181600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aseline="30000">
                <a:latin typeface="Arial" panose="020B0604020202020204" pitchFamily="34" charset="0"/>
              </a:rPr>
              <a:t>Pope and Peachey’s Me</a:t>
            </a:r>
            <a:r>
              <a:rPr lang="en-US" altLang="en-US" baseline="-25000">
                <a:latin typeface="Arial" panose="020B0604020202020204" pitchFamily="34" charset="0"/>
              </a:rPr>
              <a:t>3</a:t>
            </a:r>
            <a:r>
              <a:rPr lang="en-US" altLang="en-US" baseline="30000">
                <a:latin typeface="Arial" panose="020B0604020202020204" pitchFamily="34" charset="0"/>
              </a:rPr>
              <a:t>PtI (1909) was an early but isolated example of a d-block metal alkyl. Attempts during the 1920s through 1940s to make further examples of d-block alkyls all failed.</a:t>
            </a: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1">
            <a:extLst>
              <a:ext uri="{FF2B5EF4-FFF2-40B4-BE49-F238E27FC236}">
                <a16:creationId xmlns:a16="http://schemas.microsoft.com/office/drawing/2014/main" xmlns="" id="{EED01A89-3B95-CDEF-CC0A-7AEEF02C9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057400"/>
            <a:ext cx="5867400" cy="337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aseline="30000">
                <a:latin typeface="Arial" panose="020B0604020202020204" pitchFamily="34" charset="0"/>
              </a:rPr>
              <a:t>These failures led to the view that transi­ tion metal–carbon bonds were unusually weak; for a long time after that, few serious attempts were made to look for them. In fact, we now know that such M−C bonds are strong (30–65 kcal/mol is typical). It is the existence of several easy decomposition pathways that makes many transition metal alkyls unstable. Kinetics, not thermodynamics, was to blame for the synthetic failures.</a:t>
            </a: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>
            <a:extLst>
              <a:ext uri="{FF2B5EF4-FFF2-40B4-BE49-F238E27FC236}">
                <a16:creationId xmlns:a16="http://schemas.microsoft.com/office/drawing/2014/main" xmlns="" id="{06A9765F-0D71-3F89-B24E-996B3133F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47106" name="Content Placeholder 2">
            <a:extLst>
              <a:ext uri="{FF2B5EF4-FFF2-40B4-BE49-F238E27FC236}">
                <a16:creationId xmlns:a16="http://schemas.microsoft.com/office/drawing/2014/main" xmlns="" id="{24578827-659C-FBB7-9285-207D55DCA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47107" name="TextBox 4">
            <a:extLst>
              <a:ext uri="{FF2B5EF4-FFF2-40B4-BE49-F238E27FC236}">
                <a16:creationId xmlns:a16="http://schemas.microsoft.com/office/drawing/2014/main" xmlns="" id="{C8666A10-EFDB-C838-F30A-ED437176D8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274888"/>
            <a:ext cx="45720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Its fortunate because it is easier to manipulate the system to block decomposition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pathways than it is to increase the bond strength. In order to be able to design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stable alkyls, we must look at some of these pathways to see how they can be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inhibited.</a:t>
            </a:r>
            <a:r>
              <a:rPr lang="en-US" altLang="en-US" sz="1800">
                <a:latin typeface="Arial" panose="020B0604020202020204" pitchFamily="34" charset="0"/>
              </a:rPr>
              <a:t> </a:t>
            </a:r>
            <a:br>
              <a:rPr lang="en-US" altLang="en-US" sz="1800">
                <a:latin typeface="Arial" panose="020B0604020202020204" pitchFamily="34" charset="0"/>
              </a:rPr>
            </a:br>
            <a:endParaRPr lang="en-IN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xmlns="" id="{314C5432-CE7E-BE7F-71F7-803000940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48130" name="Content Placeholder 2">
            <a:extLst>
              <a:ext uri="{FF2B5EF4-FFF2-40B4-BE49-F238E27FC236}">
                <a16:creationId xmlns:a16="http://schemas.microsoft.com/office/drawing/2014/main" xmlns="" id="{BAA7808C-68C6-662D-A32C-6DF8CCC9B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The major decomposition pathway for alkyls is </a:t>
            </a:r>
            <a:r>
              <a:rPr lang="en-US" altLang="en-US" sz="1800" i="1">
                <a:solidFill>
                  <a:srgbClr val="000000"/>
                </a:solidFill>
                <a:latin typeface="MTMI" charset="0"/>
              </a:rPr>
              <a:t>β elimination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, which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converts a metal alkyl into a hydridometal alkene complex. </a:t>
            </a:r>
            <a:r>
              <a:rPr lang="en-US" altLang="en-US"/>
              <a:t/>
            </a:r>
            <a:br>
              <a:rPr lang="en-US" altLang="en-US"/>
            </a:br>
            <a:endParaRPr lang="en-US" altLang="en-US"/>
          </a:p>
          <a:p>
            <a:endParaRPr lang="en-IN" altLang="en-US"/>
          </a:p>
        </p:txBody>
      </p:sp>
      <p:sp>
        <p:nvSpPr>
          <p:cNvPr id="48131" name="TextBox 4">
            <a:extLst>
              <a:ext uri="{FF2B5EF4-FFF2-40B4-BE49-F238E27FC236}">
                <a16:creationId xmlns:a16="http://schemas.microsoft.com/office/drawing/2014/main" xmlns="" id="{D48EA2DD-04E6-81B1-6288-758FDF263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1088" y="704850"/>
            <a:ext cx="457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l-GR" altLang="en-US" sz="1800" b="1" i="1">
                <a:solidFill>
                  <a:srgbClr val="000000"/>
                </a:solidFill>
                <a:latin typeface="MTMIB" charset="0"/>
              </a:rPr>
              <a:t>β </a:t>
            </a:r>
            <a:r>
              <a:rPr lang="en-IN" altLang="en-US" sz="1800" b="1">
                <a:solidFill>
                  <a:srgbClr val="000000"/>
                </a:solidFill>
                <a:latin typeface="Times-Bold" pitchFamily="2" charset="0"/>
              </a:rPr>
              <a:t>Elimination</a:t>
            </a:r>
            <a:r>
              <a:rPr lang="en-IN" altLang="en-US" sz="1800">
                <a:latin typeface="Arial" panose="020B0604020202020204" pitchFamily="34" charset="0"/>
              </a:rPr>
              <a:t> </a:t>
            </a:r>
            <a:br>
              <a:rPr lang="en-IN" altLang="en-US" sz="1800">
                <a:latin typeface="Arial" panose="020B0604020202020204" pitchFamily="34" charset="0"/>
              </a:rPr>
            </a:br>
            <a:endParaRPr lang="en-IN" altLang="en-US" sz="1800">
              <a:latin typeface="Arial" panose="020B0604020202020204" pitchFamily="34" charset="0"/>
            </a:endParaRPr>
          </a:p>
        </p:txBody>
      </p:sp>
      <p:pic>
        <p:nvPicPr>
          <p:cNvPr id="48132" name="Picture 5">
            <a:extLst>
              <a:ext uri="{FF2B5EF4-FFF2-40B4-BE49-F238E27FC236}">
                <a16:creationId xmlns:a16="http://schemas.microsoft.com/office/drawing/2014/main" xmlns="" id="{D47EAFFE-A083-36D8-651C-52E3C9EEB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3255963"/>
            <a:ext cx="7543800" cy="203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3" name="Picture 4">
            <a:extLst>
              <a:ext uri="{FF2B5EF4-FFF2-40B4-BE49-F238E27FC236}">
                <a16:creationId xmlns:a16="http://schemas.microsoft.com/office/drawing/2014/main" xmlns="" id="{E654AA36-DF45-0D5C-451A-8E6B60F42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0"/>
            <a:ext cx="7543800" cy="203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4" name="TextBox 6">
            <a:extLst>
              <a:ext uri="{FF2B5EF4-FFF2-40B4-BE49-F238E27FC236}">
                <a16:creationId xmlns:a16="http://schemas.microsoft.com/office/drawing/2014/main" xmlns="" id="{39D89E77-59A2-1609-687F-269BFEB00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5613" y="3121025"/>
            <a:ext cx="68040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Times-Roman" pitchFamily="2" charset="0"/>
              </a:rPr>
              <a:t>1. The </a:t>
            </a:r>
            <a:r>
              <a:rPr lang="en-US" altLang="en-US" sz="1800" i="1" dirty="0">
                <a:solidFill>
                  <a:srgbClr val="000000"/>
                </a:solidFill>
                <a:latin typeface="MTMI" charset="0"/>
              </a:rPr>
              <a:t>β </a:t>
            </a:r>
            <a:r>
              <a:rPr lang="en-US" altLang="en-US" sz="1800" dirty="0">
                <a:solidFill>
                  <a:srgbClr val="000000"/>
                </a:solidFill>
                <a:latin typeface="Times-Roman" pitchFamily="2" charset="0"/>
              </a:rPr>
              <a:t>carbon of the alkyl bears a hydrogen substituent.</a:t>
            </a:r>
            <a:br>
              <a:rPr lang="en-US" altLang="en-US" sz="1800" dirty="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 dirty="0">
                <a:solidFill>
                  <a:srgbClr val="000000"/>
                </a:solidFill>
                <a:latin typeface="Times-Roman" pitchFamily="2" charset="0"/>
              </a:rPr>
              <a:t>2. The M</a:t>
            </a:r>
            <a:r>
              <a:rPr lang="en-US" altLang="en-US" sz="1800" dirty="0">
                <a:solidFill>
                  <a:srgbClr val="000000"/>
                </a:solidFill>
                <a:latin typeface="MTSYN" charset="0"/>
              </a:rPr>
              <a:t>-</a:t>
            </a:r>
            <a:r>
              <a:rPr lang="en-US" altLang="en-US" sz="1800" dirty="0">
                <a:solidFill>
                  <a:srgbClr val="000000"/>
                </a:solidFill>
                <a:latin typeface="Times-Roman" pitchFamily="2" charset="0"/>
              </a:rPr>
              <a:t>C</a:t>
            </a:r>
            <a:r>
              <a:rPr lang="en-US" altLang="en-US" sz="1800" dirty="0">
                <a:solidFill>
                  <a:srgbClr val="000000"/>
                </a:solidFill>
                <a:latin typeface="MTSYN" charset="0"/>
              </a:rPr>
              <a:t>-</a:t>
            </a:r>
            <a:r>
              <a:rPr lang="en-US" altLang="en-US" sz="1800" dirty="0">
                <a:solidFill>
                  <a:srgbClr val="000000"/>
                </a:solidFill>
                <a:latin typeface="Times-Roman" pitchFamily="2" charset="0"/>
              </a:rPr>
              <a:t>C</a:t>
            </a:r>
            <a:r>
              <a:rPr lang="en-US" altLang="en-US" sz="1800" dirty="0">
                <a:solidFill>
                  <a:srgbClr val="000000"/>
                </a:solidFill>
                <a:latin typeface="MTSYN" charset="0"/>
              </a:rPr>
              <a:t>-</a:t>
            </a:r>
            <a:r>
              <a:rPr lang="en-US" altLang="en-US" sz="1800" dirty="0">
                <a:solidFill>
                  <a:srgbClr val="000000"/>
                </a:solidFill>
                <a:latin typeface="Times-Roman" pitchFamily="2" charset="0"/>
              </a:rPr>
              <a:t>H unit can take up a roughly coplanar conformation,</a:t>
            </a:r>
            <a:r>
              <a:rPr lang="en-US" altLang="en-US" sz="800" dirty="0">
                <a:solidFill>
                  <a:srgbClr val="000000"/>
                </a:solidFill>
                <a:latin typeface="Times-Roman" pitchFamily="2" charset="0"/>
              </a:rPr>
              <a:t>3b</a:t>
            </a:r>
            <a:br>
              <a:rPr lang="en-US" altLang="en-US" sz="800" dirty="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 dirty="0">
                <a:solidFill>
                  <a:srgbClr val="000000"/>
                </a:solidFill>
                <a:latin typeface="Times-Roman" pitchFamily="2" charset="0"/>
              </a:rPr>
              <a:t>which brings the </a:t>
            </a:r>
            <a:r>
              <a:rPr lang="en-US" altLang="en-US" sz="1800" i="1" dirty="0">
                <a:solidFill>
                  <a:srgbClr val="000000"/>
                </a:solidFill>
                <a:latin typeface="MTMI" charset="0"/>
              </a:rPr>
              <a:t>β </a:t>
            </a:r>
            <a:r>
              <a:rPr lang="en-US" altLang="en-US" sz="1800" dirty="0">
                <a:solidFill>
                  <a:srgbClr val="000000"/>
                </a:solidFill>
                <a:latin typeface="Times-Roman" pitchFamily="2" charset="0"/>
              </a:rPr>
              <a:t>hydrogen close to the metal.</a:t>
            </a:r>
            <a:br>
              <a:rPr lang="en-US" altLang="en-US" sz="1800" dirty="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 dirty="0">
                <a:solidFill>
                  <a:srgbClr val="000000"/>
                </a:solidFill>
                <a:latin typeface="Times-Roman" pitchFamily="2" charset="0"/>
              </a:rPr>
              <a:t>3. There is a vacant site on the metal, symbolized here as </a:t>
            </a:r>
            <a:r>
              <a:rPr lang="en-US" altLang="en-US" sz="1800" dirty="0">
                <a:solidFill>
                  <a:srgbClr val="000000"/>
                </a:solidFill>
                <a:latin typeface="MSAM10" charset="0"/>
              </a:rPr>
              <a:t>�</a:t>
            </a:r>
            <a:r>
              <a:rPr lang="en-US" altLang="en-US" sz="1800" dirty="0">
                <a:solidFill>
                  <a:srgbClr val="000000"/>
                </a:solidFill>
                <a:latin typeface="Times-Roman" pitchFamily="2" charset="0"/>
              </a:rPr>
              <a:t>, cis to the alkyl.</a:t>
            </a:r>
            <a:br>
              <a:rPr lang="en-US" altLang="en-US" sz="1800" dirty="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 dirty="0">
                <a:solidFill>
                  <a:srgbClr val="000000"/>
                </a:solidFill>
                <a:latin typeface="Times-Roman" pitchFamily="2" charset="0"/>
              </a:rPr>
              <a:t>4. The reaction is very slow or does not occur for </a:t>
            </a:r>
            <a:r>
              <a:rPr lang="en-US" altLang="en-US" sz="1800" i="1" dirty="0">
                <a:solidFill>
                  <a:srgbClr val="000000"/>
                </a:solidFill>
                <a:latin typeface="MTMI" charset="0"/>
              </a:rPr>
              <a:t>d</a:t>
            </a:r>
            <a:r>
              <a:rPr lang="en-US" altLang="en-US" sz="800" dirty="0">
                <a:solidFill>
                  <a:srgbClr val="000000"/>
                </a:solidFill>
                <a:latin typeface="Times-Roman" pitchFamily="2" charset="0"/>
              </a:rPr>
              <a:t>0 </a:t>
            </a:r>
            <a:r>
              <a:rPr lang="en-US" altLang="en-US" sz="1800" dirty="0">
                <a:solidFill>
                  <a:srgbClr val="000000"/>
                </a:solidFill>
                <a:latin typeface="Times-Roman" pitchFamily="2" charset="0"/>
              </a:rPr>
              <a:t>and</a:t>
            </a:r>
            <a:br>
              <a:rPr lang="en-US" altLang="en-US" sz="1800" dirty="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 dirty="0">
                <a:solidFill>
                  <a:srgbClr val="000000"/>
                </a:solidFill>
                <a:latin typeface="Times-Roman" pitchFamily="2" charset="0"/>
              </a:rPr>
              <a:t>main-group alkyls.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br>
              <a:rPr lang="en-US" altLang="en-US" sz="1800" dirty="0">
                <a:latin typeface="Arial" panose="020B0604020202020204" pitchFamily="34" charset="0"/>
              </a:rPr>
            </a:br>
            <a:endParaRPr lang="en-IN" altLang="en-US" sz="1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>
            <a:extLst>
              <a:ext uri="{FF2B5EF4-FFF2-40B4-BE49-F238E27FC236}">
                <a16:creationId xmlns:a16="http://schemas.microsoft.com/office/drawing/2014/main" xmlns="" id="{D281EA1D-C2EF-80E3-5AA3-C56454196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50178" name="Content Placeholder 2">
            <a:extLst>
              <a:ext uri="{FF2B5EF4-FFF2-40B4-BE49-F238E27FC236}">
                <a16:creationId xmlns:a16="http://schemas.microsoft.com/office/drawing/2014/main" xmlns="" id="{2FF908A6-ED82-70F6-431B-9E6133FC3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There must also be an empty orbital ready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to accept the </a:t>
            </a:r>
            <a:r>
              <a:rPr lang="en-US" altLang="en-US" sz="1800" i="1">
                <a:solidFill>
                  <a:srgbClr val="000000"/>
                </a:solidFill>
                <a:latin typeface="MTMI" charset="0"/>
              </a:rPr>
              <a:t>β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-H, or more exactly, the pair of electrons that constitutes the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 i="1">
                <a:solidFill>
                  <a:srgbClr val="000000"/>
                </a:solidFill>
                <a:latin typeface="MTMI" charset="0"/>
              </a:rPr>
              <a:t>β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-C</a:t>
            </a:r>
            <a:r>
              <a:rPr lang="en-US" altLang="en-US" sz="1800">
                <a:solidFill>
                  <a:srgbClr val="000000"/>
                </a:solidFill>
                <a:latin typeface="MTSYN" charset="0"/>
              </a:rPr>
              <a:t>-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H bond. The electron count of the product alkene hydride is 2e more than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that of the alkyl starting material. An 18e alkyl is much more reluctant to </a:t>
            </a:r>
            <a:r>
              <a:rPr lang="en-US" altLang="en-US" sz="1800" i="1">
                <a:solidFill>
                  <a:srgbClr val="000000"/>
                </a:solidFill>
                <a:latin typeface="MTMI" charset="0"/>
              </a:rPr>
              <a:t>β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­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eliminate via a 20e intermediate than is a 16e alkyl, which can go via an 18e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alkene hydride. </a:t>
            </a:r>
            <a:r>
              <a:rPr lang="en-US" altLang="en-US"/>
              <a:t/>
            </a:r>
            <a:br>
              <a:rPr lang="en-US" altLang="en-US"/>
            </a:br>
            <a:endParaRPr lang="en-I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>
            <a:extLst>
              <a:ext uri="{FF2B5EF4-FFF2-40B4-BE49-F238E27FC236}">
                <a16:creationId xmlns:a16="http://schemas.microsoft.com/office/drawing/2014/main" xmlns="" id="{ECD518F2-F4B0-DC8A-D480-5CBD7D055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pic>
        <p:nvPicPr>
          <p:cNvPr id="51202" name="Content Placeholder 5">
            <a:extLst>
              <a:ext uri="{FF2B5EF4-FFF2-40B4-BE49-F238E27FC236}">
                <a16:creationId xmlns:a16="http://schemas.microsoft.com/office/drawing/2014/main" xmlns="" id="{B9282269-5EDA-3814-B797-8D326112971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8650" y="2616200"/>
            <a:ext cx="7886700" cy="2770188"/>
          </a:xfr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>
            <a:extLst>
              <a:ext uri="{FF2B5EF4-FFF2-40B4-BE49-F238E27FC236}">
                <a16:creationId xmlns:a16="http://schemas.microsoft.com/office/drawing/2014/main" xmlns="" id="{46A6EB2A-FFB0-153C-D995-CF5D6A718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pic>
        <p:nvPicPr>
          <p:cNvPr id="52226" name="Content Placeholder 3">
            <a:extLst>
              <a:ext uri="{FF2B5EF4-FFF2-40B4-BE49-F238E27FC236}">
                <a16:creationId xmlns:a16="http://schemas.microsoft.com/office/drawing/2014/main" xmlns="" id="{99BAFC00-961B-45B2-3B33-89B493BD96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8650" y="3170238"/>
            <a:ext cx="7886700" cy="1662112"/>
          </a:xfr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>
            <a:extLst>
              <a:ext uri="{FF2B5EF4-FFF2-40B4-BE49-F238E27FC236}">
                <a16:creationId xmlns:a16="http://schemas.microsoft.com/office/drawing/2014/main" xmlns="" id="{E66F52AF-BA65-EFA2-4657-C630CCB64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53250" name="Content Placeholder 2">
            <a:extLst>
              <a:ext uri="{FF2B5EF4-FFF2-40B4-BE49-F238E27FC236}">
                <a16:creationId xmlns:a16="http://schemas.microsoft.com/office/drawing/2014/main" xmlns="" id="{6C515C6F-D19D-8EAE-97F0-1D095F612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altLang="en-US"/>
          </a:p>
        </p:txBody>
      </p:sp>
      <p:pic>
        <p:nvPicPr>
          <p:cNvPr id="53251" name="Picture 3">
            <a:extLst>
              <a:ext uri="{FF2B5EF4-FFF2-40B4-BE49-F238E27FC236}">
                <a16:creationId xmlns:a16="http://schemas.microsoft.com/office/drawing/2014/main" xmlns="" id="{403B6497-D2DE-843B-2BB4-5EA300F34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97013"/>
            <a:ext cx="9144000" cy="386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>
            <a:extLst>
              <a:ext uri="{FF2B5EF4-FFF2-40B4-BE49-F238E27FC236}">
                <a16:creationId xmlns:a16="http://schemas.microsoft.com/office/drawing/2014/main" xmlns="" id="{6A859D8B-A290-7487-27CC-19107BD10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54274" name="Content Placeholder 2">
            <a:extLst>
              <a:ext uri="{FF2B5EF4-FFF2-40B4-BE49-F238E27FC236}">
                <a16:creationId xmlns:a16="http://schemas.microsoft.com/office/drawing/2014/main" xmlns="" id="{161D9D25-F924-F6A9-6DCB-59B8CA287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altLang="en-US"/>
          </a:p>
        </p:txBody>
      </p:sp>
      <p:pic>
        <p:nvPicPr>
          <p:cNvPr id="54275" name="Picture 3">
            <a:extLst>
              <a:ext uri="{FF2B5EF4-FFF2-40B4-BE49-F238E27FC236}">
                <a16:creationId xmlns:a16="http://schemas.microsoft.com/office/drawing/2014/main" xmlns="" id="{51F8F9B3-8A62-337E-25C6-B0837452D9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0200"/>
            <a:ext cx="9144000" cy="619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6" name="Picture 4">
            <a:extLst>
              <a:ext uri="{FF2B5EF4-FFF2-40B4-BE49-F238E27FC236}">
                <a16:creationId xmlns:a16="http://schemas.microsoft.com/office/drawing/2014/main" xmlns="" id="{2E45DAB0-F7F6-7648-EAB5-15104D8EEA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5197475"/>
            <a:ext cx="3429000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>
            <a:extLst>
              <a:ext uri="{FF2B5EF4-FFF2-40B4-BE49-F238E27FC236}">
                <a16:creationId xmlns:a16="http://schemas.microsoft.com/office/drawing/2014/main" xmlns="" id="{B1BA51A9-69DE-2FC3-386F-C10309ED3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55298" name="Content Placeholder 2">
            <a:extLst>
              <a:ext uri="{FF2B5EF4-FFF2-40B4-BE49-F238E27FC236}">
                <a16:creationId xmlns:a16="http://schemas.microsoft.com/office/drawing/2014/main" xmlns="" id="{A197B0FB-FA98-5A21-6FF3-EE26CC400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Organometallic chemistry is concerned with the metal–carbon bond, of which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the simplest is the M</a:t>
            </a:r>
            <a:r>
              <a:rPr lang="en-US" altLang="en-US" sz="1800">
                <a:solidFill>
                  <a:srgbClr val="000000"/>
                </a:solidFill>
                <a:latin typeface="MTSYN" charset="0"/>
              </a:rPr>
              <a:t>-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C single bond of metal alkyls. As </a:t>
            </a:r>
            <a:r>
              <a:rPr lang="en-US" altLang="en-US" sz="1800" i="1">
                <a:solidFill>
                  <a:srgbClr val="000000"/>
                </a:solidFill>
                <a:latin typeface="MTMI" charset="0"/>
              </a:rPr>
              <a:t>σ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-bonding ligands,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alkyls are closely related to the ligands found in coordination compounds, such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as Cl, H</a:t>
            </a:r>
            <a:r>
              <a:rPr lang="en-US" altLang="en-US" sz="1800" baseline="-25000">
                <a:solidFill>
                  <a:srgbClr val="000000"/>
                </a:solidFill>
                <a:latin typeface="Times-Roman" pitchFamily="2" charset="0"/>
              </a:rPr>
              <a:t>2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O, and NH</a:t>
            </a:r>
            <a:r>
              <a:rPr lang="en-US" altLang="en-US" sz="1800" baseline="-25000">
                <a:solidFill>
                  <a:srgbClr val="000000"/>
                </a:solidFill>
                <a:latin typeface="Times-Roman" pitchFamily="2" charset="0"/>
              </a:rPr>
              <a:t>3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. A larger class of organometallic ligands (CO, C2H4) are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soft and can </a:t>
            </a:r>
            <a:r>
              <a:rPr lang="en-US" altLang="en-US" sz="1800" i="1">
                <a:solidFill>
                  <a:srgbClr val="000000"/>
                </a:solidFill>
                <a:latin typeface="MTMI" charset="0"/>
              </a:rPr>
              <a:t>π 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bond.</a:t>
            </a:r>
            <a:r>
              <a:rPr lang="en-US" altLang="en-US"/>
              <a:t> </a:t>
            </a:r>
            <a:br>
              <a:rPr lang="en-US" altLang="en-US"/>
            </a:br>
            <a:endParaRPr lang="en-I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>
            <a:extLst>
              <a:ext uri="{FF2B5EF4-FFF2-40B4-BE49-F238E27FC236}">
                <a16:creationId xmlns:a16="http://schemas.microsoft.com/office/drawing/2014/main" xmlns="" id="{ACE525F3-9520-7767-51A5-D128CDAE9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56322" name="Content Placeholder 2">
            <a:extLst>
              <a:ext uri="{FF2B5EF4-FFF2-40B4-BE49-F238E27FC236}">
                <a16:creationId xmlns:a16="http://schemas.microsoft.com/office/drawing/2014/main" xmlns="" id="{C8205F8E-D083-80FA-6DB3-A1FC84F06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Stable compounds, such as CH</a:t>
            </a:r>
            <a:r>
              <a:rPr lang="en-US" altLang="en-US" sz="1800" baseline="-25000">
                <a:solidFill>
                  <a:srgbClr val="000000"/>
                </a:solidFill>
                <a:latin typeface="Times-Roman" pitchFamily="2" charset="0"/>
              </a:rPr>
              <a:t>4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, have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the noble gas octet, and so carbon can be thought of as following an 8e rule.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This corresponds to carbon using its </a:t>
            </a:r>
            <a:r>
              <a:rPr lang="en-US" altLang="en-US" sz="1800" i="1">
                <a:solidFill>
                  <a:srgbClr val="000000"/>
                </a:solidFill>
                <a:latin typeface="MTMI" charset="0"/>
              </a:rPr>
              <a:t>s 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and three </a:t>
            </a:r>
            <a:r>
              <a:rPr lang="en-US" altLang="en-US" sz="1800" i="1">
                <a:solidFill>
                  <a:srgbClr val="000000"/>
                </a:solidFill>
                <a:latin typeface="MTMI" charset="0"/>
              </a:rPr>
              <a:t>p 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orbitals to form four filled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bonding orbitals and four unfilled antibonding orbitals. </a:t>
            </a:r>
            <a:r>
              <a:rPr lang="en-US" altLang="en-US"/>
              <a:t/>
            </a:r>
            <a:br>
              <a:rPr lang="en-US" altLang="en-US"/>
            </a:br>
            <a:endParaRPr lang="en-I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>
            <a:extLst>
              <a:ext uri="{FF2B5EF4-FFF2-40B4-BE49-F238E27FC236}">
                <a16:creationId xmlns:a16="http://schemas.microsoft.com/office/drawing/2014/main" xmlns="" id="{7D7A2260-6A4C-8094-9088-C165E2186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57346" name="Content Placeholder 2">
            <a:extLst>
              <a:ext uri="{FF2B5EF4-FFF2-40B4-BE49-F238E27FC236}">
                <a16:creationId xmlns:a16="http://schemas.microsoft.com/office/drawing/2014/main" xmlns="" id="{B04950E0-5DC4-4A05-FD0E-C392117F9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 b="1">
                <a:solidFill>
                  <a:srgbClr val="000000"/>
                </a:solidFill>
                <a:latin typeface="Times-Roman" pitchFamily="2" charset="0"/>
              </a:rPr>
              <a:t>On the covalent model,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/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we can consider that of the eight electrons required to fill the bonding orbitals,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four come from carbon and one each comes from the four H substituents. We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can therefore think of each H atom as being a 1e ligand to carbon</a:t>
            </a:r>
            <a:r>
              <a:rPr lang="en-US" altLang="en-US"/>
              <a:t> </a:t>
            </a:r>
            <a:br>
              <a:rPr lang="en-US" altLang="en-US"/>
            </a:br>
            <a:endParaRPr lang="en-I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>
            <a:extLst>
              <a:ext uri="{FF2B5EF4-FFF2-40B4-BE49-F238E27FC236}">
                <a16:creationId xmlns:a16="http://schemas.microsoft.com/office/drawing/2014/main" xmlns="" id="{0A193504-34C4-42EE-0E4A-F75D2987D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/>
              <a:t>Ionic Model</a:t>
            </a:r>
          </a:p>
        </p:txBody>
      </p:sp>
      <p:sp>
        <p:nvSpPr>
          <p:cNvPr id="58370" name="Content Placeholder 2">
            <a:extLst>
              <a:ext uri="{FF2B5EF4-FFF2-40B4-BE49-F238E27FC236}">
                <a16:creationId xmlns:a16="http://schemas.microsoft.com/office/drawing/2014/main" xmlns="" id="{2DFE4D53-F7C0-B271-1681-845637816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For methane, this dissection gives C4</a:t>
            </a:r>
            <a:r>
              <a:rPr lang="en-US" altLang="en-US" sz="1800">
                <a:solidFill>
                  <a:srgbClr val="000000"/>
                </a:solidFill>
                <a:latin typeface="MTSYN" charset="0"/>
              </a:rPr>
              <a:t>- + 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4H</a:t>
            </a:r>
            <a:r>
              <a:rPr lang="en-US" altLang="en-US" sz="1800">
                <a:solidFill>
                  <a:srgbClr val="000000"/>
                </a:solidFill>
                <a:latin typeface="MTSYN" charset="0"/>
              </a:rPr>
              <a:t>+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, with carbon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as the more electronegative element. This makes methane an 8e compound with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an oxidation state of </a:t>
            </a:r>
            <a:r>
              <a:rPr lang="en-US" altLang="en-US" sz="1800">
                <a:solidFill>
                  <a:srgbClr val="000000"/>
                </a:solidFill>
                <a:latin typeface="MTSYN" charset="0"/>
              </a:rPr>
              <a:t>-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4, usually written C(-IV). Note that the net electron count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always remains the same, whether we adopt the covalent </a:t>
            </a:r>
            <a:r>
              <a:rPr lang="en-US" altLang="en-US" sz="1800" i="1">
                <a:solidFill>
                  <a:srgbClr val="000000"/>
                </a:solidFill>
                <a:latin typeface="MTMI" charset="0"/>
              </a:rPr>
              <a:t>(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4e </a:t>
            </a:r>
            <a:r>
              <a:rPr lang="en-US" altLang="en-US" sz="1800">
                <a:solidFill>
                  <a:srgbClr val="000000"/>
                </a:solidFill>
                <a:latin typeface="MTSYN" charset="0"/>
              </a:rPr>
              <a:t>{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C atom</a:t>
            </a:r>
            <a:r>
              <a:rPr lang="en-US" altLang="en-US" sz="1800">
                <a:solidFill>
                  <a:srgbClr val="000000"/>
                </a:solidFill>
                <a:latin typeface="MTSYN" charset="0"/>
              </a:rPr>
              <a:t>} + 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4 </a:t>
            </a:r>
            <a:r>
              <a:rPr lang="en-US" altLang="en-US" sz="1800">
                <a:solidFill>
                  <a:srgbClr val="000000"/>
                </a:solidFill>
                <a:latin typeface="MTSYN" charset="0"/>
              </a:rPr>
              <a:t>×</a:t>
            </a:r>
            <a:br>
              <a:rPr lang="en-US" altLang="en-US" sz="1800">
                <a:solidFill>
                  <a:srgbClr val="000000"/>
                </a:solidFill>
                <a:latin typeface="MTSYN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1e </a:t>
            </a:r>
            <a:r>
              <a:rPr lang="en-US" altLang="en-US" sz="1800">
                <a:solidFill>
                  <a:srgbClr val="000000"/>
                </a:solidFill>
                <a:latin typeface="MTSYN" charset="0"/>
              </a:rPr>
              <a:t>{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4H atoms</a:t>
            </a:r>
            <a:r>
              <a:rPr lang="en-US" altLang="en-US" sz="1800">
                <a:solidFill>
                  <a:srgbClr val="000000"/>
                </a:solidFill>
                <a:latin typeface="MTSYN" charset="0"/>
              </a:rPr>
              <a:t>} = 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8e</a:t>
            </a:r>
            <a:r>
              <a:rPr lang="en-US" altLang="en-US" sz="1800" i="1">
                <a:solidFill>
                  <a:srgbClr val="000000"/>
                </a:solidFill>
                <a:latin typeface="MTMI" charset="0"/>
              </a:rPr>
              <a:t>) 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or ionic </a:t>
            </a:r>
            <a:r>
              <a:rPr lang="en-US" altLang="en-US" sz="1800" i="1">
                <a:solidFill>
                  <a:srgbClr val="000000"/>
                </a:solidFill>
                <a:latin typeface="MTMI" charset="0"/>
              </a:rPr>
              <a:t>(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8e</a:t>
            </a:r>
            <a:r>
              <a:rPr lang="en-US" altLang="en-US" sz="1800">
                <a:solidFill>
                  <a:srgbClr val="000000"/>
                </a:solidFill>
                <a:latin typeface="MTSYN" charset="0"/>
              </a:rPr>
              <a:t>{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C4</a:t>
            </a:r>
            <a:r>
              <a:rPr lang="en-US" altLang="en-US" sz="1800">
                <a:solidFill>
                  <a:srgbClr val="000000"/>
                </a:solidFill>
                <a:latin typeface="MTSYN" charset="0"/>
              </a:rPr>
              <a:t>-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ion</a:t>
            </a:r>
            <a:r>
              <a:rPr lang="en-US" altLang="en-US" sz="1800">
                <a:solidFill>
                  <a:srgbClr val="000000"/>
                </a:solidFill>
                <a:latin typeface="MTSYN" charset="0"/>
              </a:rPr>
              <a:t>} + 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4 </a:t>
            </a:r>
            <a:r>
              <a:rPr lang="en-US" altLang="en-US" sz="1800">
                <a:solidFill>
                  <a:srgbClr val="000000"/>
                </a:solidFill>
                <a:latin typeface="MTSYN" charset="0"/>
              </a:rPr>
              <a:t>× 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0e</a:t>
            </a:r>
            <a:r>
              <a:rPr lang="en-US" altLang="en-US" sz="1800">
                <a:solidFill>
                  <a:srgbClr val="000000"/>
                </a:solidFill>
                <a:latin typeface="MTSYN" charset="0"/>
              </a:rPr>
              <a:t>{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4H</a:t>
            </a:r>
            <a:r>
              <a:rPr lang="en-US" altLang="en-US" sz="1800">
                <a:solidFill>
                  <a:srgbClr val="000000"/>
                </a:solidFill>
                <a:latin typeface="MTSYN" charset="0"/>
              </a:rPr>
              <a:t>+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ions</a:t>
            </a:r>
            <a:r>
              <a:rPr lang="en-US" altLang="en-US" sz="1800">
                <a:solidFill>
                  <a:srgbClr val="000000"/>
                </a:solidFill>
                <a:latin typeface="MTSYN" charset="0"/>
              </a:rPr>
              <a:t>} = 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8e</a:t>
            </a:r>
            <a:r>
              <a:rPr lang="en-US" altLang="en-US" sz="1800" i="1">
                <a:solidFill>
                  <a:srgbClr val="000000"/>
                </a:solidFill>
                <a:latin typeface="MTMI" charset="0"/>
              </a:rPr>
              <a:t>) 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model.</a:t>
            </a:r>
            <a:r>
              <a:rPr lang="en-US" altLang="en-US"/>
              <a:t> </a:t>
            </a:r>
            <a:br>
              <a:rPr lang="en-US" altLang="en-US"/>
            </a:br>
            <a:endParaRPr lang="en-I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>
            <a:extLst>
              <a:ext uri="{FF2B5EF4-FFF2-40B4-BE49-F238E27FC236}">
                <a16:creationId xmlns:a16="http://schemas.microsoft.com/office/drawing/2014/main" xmlns="" id="{660DD37A-6CC5-A665-2C2E-90228A105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59394" name="Content Placeholder 2">
            <a:extLst>
              <a:ext uri="{FF2B5EF4-FFF2-40B4-BE49-F238E27FC236}">
                <a16:creationId xmlns:a16="http://schemas.microsoft.com/office/drawing/2014/main" xmlns="" id="{FB2CC6F5-6422-A887-40FA-11E3D6B24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The 18e rule, which applies to many low-valent transition metal complexes,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follows a similar line of reasoning. The metal now has one </a:t>
            </a:r>
            <a:r>
              <a:rPr lang="en-US" altLang="en-US" sz="1800" i="1">
                <a:solidFill>
                  <a:srgbClr val="000000"/>
                </a:solidFill>
                <a:latin typeface="MTMI" charset="0"/>
              </a:rPr>
              <a:t>s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, and three </a:t>
            </a:r>
            <a:r>
              <a:rPr lang="en-US" altLang="en-US" sz="1800" i="1">
                <a:solidFill>
                  <a:srgbClr val="000000"/>
                </a:solidFill>
                <a:latin typeface="MTMI" charset="0"/>
              </a:rPr>
              <a:t>p 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orbitals,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as before, but now also five </a:t>
            </a:r>
            <a:r>
              <a:rPr lang="en-US" altLang="en-US" sz="1800" i="1">
                <a:solidFill>
                  <a:srgbClr val="000000"/>
                </a:solidFill>
                <a:latin typeface="MTMI" charset="0"/>
              </a:rPr>
              <a:t>d 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orbitals. We </a:t>
            </a:r>
            <a:r>
              <a:rPr lang="en-US" altLang="en-US" sz="1800" b="1">
                <a:solidFill>
                  <a:srgbClr val="000000"/>
                </a:solidFill>
                <a:latin typeface="Times-Roman" pitchFamily="2" charset="0"/>
              </a:rPr>
              <a:t>need 18e to fill 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all nine orbitals;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some come from the metal, the rest from the ligands. </a:t>
            </a:r>
            <a:r>
              <a:rPr lang="en-US" altLang="en-US"/>
              <a:t/>
            </a:r>
            <a:br>
              <a:rPr lang="en-US" altLang="en-US"/>
            </a:br>
            <a:endParaRPr lang="en-I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extBox 4">
            <a:extLst>
              <a:ext uri="{FF2B5EF4-FFF2-40B4-BE49-F238E27FC236}">
                <a16:creationId xmlns:a16="http://schemas.microsoft.com/office/drawing/2014/main" xmlns="" id="{B6873E73-0D95-A2B6-E305-F3DE6F775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551113"/>
            <a:ext cx="4572000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In V(CO)</a:t>
            </a:r>
            <a:r>
              <a:rPr lang="en-US" altLang="en-US" sz="800">
                <a:solidFill>
                  <a:srgbClr val="000000"/>
                </a:solidFill>
                <a:latin typeface="Times-Roman" pitchFamily="2" charset="0"/>
              </a:rPr>
              <a:t>6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,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the complex is 17e but is easily reduced to the 18e anion V(CO)</a:t>
            </a:r>
            <a:r>
              <a:rPr lang="en-US" altLang="en-US" sz="800">
                <a:solidFill>
                  <a:srgbClr val="000000"/>
                </a:solidFill>
                <a:latin typeface="Times-Roman" pitchFamily="2" charset="0"/>
              </a:rPr>
              <a:t>6</a:t>
            </a:r>
            <a:r>
              <a:rPr lang="en-US" altLang="en-US" sz="800">
                <a:solidFill>
                  <a:srgbClr val="000000"/>
                </a:solidFill>
                <a:latin typeface="MTSYN" charset="0"/>
              </a:rPr>
              <a:t>-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. Unlike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V(CO)</a:t>
            </a:r>
            <a:r>
              <a:rPr lang="en-US" altLang="en-US" sz="800">
                <a:solidFill>
                  <a:srgbClr val="000000"/>
                </a:solidFill>
                <a:latin typeface="Times-Roman" pitchFamily="2" charset="0"/>
              </a:rPr>
              <a:t>6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, the Mn(CO)</a:t>
            </a:r>
            <a:r>
              <a:rPr lang="en-US" altLang="en-US" sz="800">
                <a:solidFill>
                  <a:srgbClr val="000000"/>
                </a:solidFill>
                <a:latin typeface="Times-Roman" pitchFamily="2" charset="0"/>
              </a:rPr>
              <a:t>5 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fragment, also 17e, does dimerize, probably because, as</a:t>
            </a:r>
            <a:r>
              <a:rPr lang="en-US" altLang="en-US" sz="1800">
                <a:latin typeface="Arial" panose="020B0604020202020204" pitchFamily="34" charset="0"/>
              </a:rPr>
              <a:t> 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a 5-coordinate species, there is more space available to make the M</a:t>
            </a:r>
            <a:r>
              <a:rPr lang="en-US" altLang="en-US" sz="1800">
                <a:solidFill>
                  <a:srgbClr val="000000"/>
                </a:solidFill>
                <a:latin typeface="MTSYN" charset="0"/>
              </a:rPr>
              <a:t>-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M bond.</a:t>
            </a:r>
            <a:r>
              <a:rPr lang="en-US" altLang="en-US" sz="1800">
                <a:latin typeface="Arial" panose="020B0604020202020204" pitchFamily="34" charset="0"/>
              </a:rPr>
              <a:t> </a:t>
            </a:r>
            <a:br>
              <a:rPr lang="en-US" altLang="en-US" sz="1800">
                <a:latin typeface="Arial" panose="020B0604020202020204" pitchFamily="34" charset="0"/>
              </a:rPr>
            </a:br>
            <a:r>
              <a:rPr lang="en-US" altLang="en-US" sz="1800">
                <a:latin typeface="Arial" panose="020B0604020202020204" pitchFamily="34" charset="0"/>
              </a:rPr>
              <a:t/>
            </a:r>
            <a:br>
              <a:rPr lang="en-US" altLang="en-US" sz="1800">
                <a:latin typeface="Arial" panose="020B0604020202020204" pitchFamily="34" charset="0"/>
              </a:rPr>
            </a:br>
            <a:endParaRPr lang="en-IN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>
            <a:extLst>
              <a:ext uri="{FF2B5EF4-FFF2-40B4-BE49-F238E27FC236}">
                <a16:creationId xmlns:a16="http://schemas.microsoft.com/office/drawing/2014/main" xmlns="" id="{D00F2B7C-D12E-50B0-AF03-95D57AD41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61442" name="Content Placeholder 2">
            <a:extLst>
              <a:ext uri="{FF2B5EF4-FFF2-40B4-BE49-F238E27FC236}">
                <a16:creationId xmlns:a16="http://schemas.microsoft.com/office/drawing/2014/main" xmlns="" id="{F0A8CE1A-303F-F501-DA14-344D07C44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61443" name="TextBox 4">
            <a:extLst>
              <a:ext uri="{FF2B5EF4-FFF2-40B4-BE49-F238E27FC236}">
                <a16:creationId xmlns:a16="http://schemas.microsoft.com/office/drawing/2014/main" xmlns="" id="{3979CFF2-5C9C-7C70-A540-BEEE5F314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136775"/>
            <a:ext cx="4572000" cy="258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In the 17e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fragment Co(CO)</a:t>
            </a:r>
            <a:r>
              <a:rPr lang="en-US" altLang="en-US" sz="800">
                <a:solidFill>
                  <a:srgbClr val="000000"/>
                </a:solidFill>
                <a:latin typeface="Times-Roman" pitchFamily="2" charset="0"/>
              </a:rPr>
              <a:t>4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, dimerization also takes place via a metal–metal bond, but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a pair of COs also move into bridging positions. This makes no difference in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the electron count because the bridging CO is a 1e ligand to each metal, so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an M</a:t>
            </a:r>
            <a:r>
              <a:rPr lang="en-US" altLang="en-US" sz="1800">
                <a:solidFill>
                  <a:srgbClr val="000000"/>
                </a:solidFill>
                <a:latin typeface="MTSYN" charset="0"/>
              </a:rPr>
              <a:t>-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M bond is still required to attain 18e.</a:t>
            </a:r>
            <a:r>
              <a:rPr lang="en-US" altLang="en-US" sz="1800">
                <a:latin typeface="Arial" panose="020B0604020202020204" pitchFamily="34" charset="0"/>
              </a:rPr>
              <a:t> </a:t>
            </a:r>
            <a:br>
              <a:rPr lang="en-US" altLang="en-US" sz="1800">
                <a:latin typeface="Arial" panose="020B0604020202020204" pitchFamily="34" charset="0"/>
              </a:rPr>
            </a:br>
            <a:endParaRPr lang="en-IN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>
            <a:extLst>
              <a:ext uri="{FF2B5EF4-FFF2-40B4-BE49-F238E27FC236}">
                <a16:creationId xmlns:a16="http://schemas.microsoft.com/office/drawing/2014/main" xmlns="" id="{7528C4FA-604F-EAD8-AC49-088A6E833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62466" name="Content Placeholder 2">
            <a:extLst>
              <a:ext uri="{FF2B5EF4-FFF2-40B4-BE49-F238E27FC236}">
                <a16:creationId xmlns:a16="http://schemas.microsoft.com/office/drawing/2014/main" xmlns="" id="{6A928102-EA6B-392B-8B39-6943FB172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altLang="en-US"/>
          </a:p>
        </p:txBody>
      </p:sp>
      <p:pic>
        <p:nvPicPr>
          <p:cNvPr id="62467" name="Picture 3">
            <a:extLst>
              <a:ext uri="{FF2B5EF4-FFF2-40B4-BE49-F238E27FC236}">
                <a16:creationId xmlns:a16="http://schemas.microsoft.com/office/drawing/2014/main" xmlns="" id="{E78F7884-362B-36E7-CD05-49936CEC61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0" y="923925"/>
            <a:ext cx="7823200" cy="501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>
            <a:extLst>
              <a:ext uri="{FF2B5EF4-FFF2-40B4-BE49-F238E27FC236}">
                <a16:creationId xmlns:a16="http://schemas.microsoft.com/office/drawing/2014/main" xmlns="" id="{8F2238D9-9EEC-FA5A-E985-F2EA570A3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63490" name="Content Placeholder 2">
            <a:extLst>
              <a:ext uri="{FF2B5EF4-FFF2-40B4-BE49-F238E27FC236}">
                <a16:creationId xmlns:a16="http://schemas.microsoft.com/office/drawing/2014/main" xmlns="" id="{8A7FE36B-C252-EA1D-6FBB-4A41004A0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altLang="en-US"/>
          </a:p>
        </p:txBody>
      </p:sp>
      <p:pic>
        <p:nvPicPr>
          <p:cNvPr id="63491" name="Picture 3">
            <a:extLst>
              <a:ext uri="{FF2B5EF4-FFF2-40B4-BE49-F238E27FC236}">
                <a16:creationId xmlns:a16="http://schemas.microsoft.com/office/drawing/2014/main" xmlns="" id="{09430135-43E8-2036-B9E1-F84F6221D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600" y="1752600"/>
            <a:ext cx="58928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>
            <a:extLst>
              <a:ext uri="{FF2B5EF4-FFF2-40B4-BE49-F238E27FC236}">
                <a16:creationId xmlns:a16="http://schemas.microsoft.com/office/drawing/2014/main" xmlns="" id="{1B9078C1-6893-6984-8ADA-759194288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64514" name="Content Placeholder 2">
            <a:extLst>
              <a:ext uri="{FF2B5EF4-FFF2-40B4-BE49-F238E27FC236}">
                <a16:creationId xmlns:a16="http://schemas.microsoft.com/office/drawing/2014/main" xmlns="" id="{5AD68837-9634-2051-9528-C8D12EA61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altLang="en-US"/>
          </a:p>
        </p:txBody>
      </p:sp>
      <p:pic>
        <p:nvPicPr>
          <p:cNvPr id="64515" name="Picture 3">
            <a:extLst>
              <a:ext uri="{FF2B5EF4-FFF2-40B4-BE49-F238E27FC236}">
                <a16:creationId xmlns:a16="http://schemas.microsoft.com/office/drawing/2014/main" xmlns="" id="{E903A2D5-CFA3-C1DA-B4EC-61C79F453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300" y="0"/>
            <a:ext cx="68834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>
            <a:extLst>
              <a:ext uri="{FF2B5EF4-FFF2-40B4-BE49-F238E27FC236}">
                <a16:creationId xmlns:a16="http://schemas.microsoft.com/office/drawing/2014/main" xmlns="" id="{D68EFF57-8DF7-3EE4-C9B1-E91835B2D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65538" name="Content Placeholder 2">
            <a:extLst>
              <a:ext uri="{FF2B5EF4-FFF2-40B4-BE49-F238E27FC236}">
                <a16:creationId xmlns:a16="http://schemas.microsoft.com/office/drawing/2014/main" xmlns="" id="{93FA49E8-8AEB-7B4B-0A95-11102A9F5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65539" name="TextBox 4">
            <a:extLst>
              <a:ext uri="{FF2B5EF4-FFF2-40B4-BE49-F238E27FC236}">
                <a16:creationId xmlns:a16="http://schemas.microsoft.com/office/drawing/2014/main" xmlns="" id="{DDB57C13-F1D7-D760-864C-81D652DFF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042988"/>
            <a:ext cx="4572000" cy="363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There are many cases in which the electron count for a stable complex is not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18; examples are MeTiCl</a:t>
            </a:r>
            <a:r>
              <a:rPr lang="en-US" altLang="en-US" sz="800">
                <a:solidFill>
                  <a:srgbClr val="000000"/>
                </a:solidFill>
                <a:latin typeface="Times-Roman" pitchFamily="2" charset="0"/>
              </a:rPr>
              <a:t>3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, 8e; Me</a:t>
            </a:r>
            <a:r>
              <a:rPr lang="en-US" altLang="en-US" sz="800">
                <a:solidFill>
                  <a:srgbClr val="000000"/>
                </a:solidFill>
                <a:latin typeface="Times-Roman" pitchFamily="2" charset="0"/>
              </a:rPr>
              <a:t>2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NbCl</a:t>
            </a:r>
            <a:r>
              <a:rPr lang="en-US" altLang="en-US" sz="800">
                <a:solidFill>
                  <a:srgbClr val="000000"/>
                </a:solidFill>
                <a:latin typeface="Times-Roman" pitchFamily="2" charset="0"/>
              </a:rPr>
              <a:t>3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, 10e; WMe</a:t>
            </a:r>
            <a:r>
              <a:rPr lang="en-US" altLang="en-US" sz="800">
                <a:solidFill>
                  <a:srgbClr val="000000"/>
                </a:solidFill>
                <a:latin typeface="Times-Roman" pitchFamily="2" charset="0"/>
              </a:rPr>
              <a:t>6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, 12e; Pt(PCy</a:t>
            </a:r>
            <a:r>
              <a:rPr lang="en-US" altLang="en-US" sz="800">
                <a:solidFill>
                  <a:srgbClr val="000000"/>
                </a:solidFill>
                <a:latin typeface="Times-Roman" pitchFamily="2" charset="0"/>
              </a:rPr>
              <a:t>3</a:t>
            </a:r>
            <a:r>
              <a:rPr lang="en-US" altLang="en-US" sz="1800" i="1">
                <a:solidFill>
                  <a:srgbClr val="000000"/>
                </a:solidFill>
                <a:latin typeface="MTMI" charset="0"/>
              </a:rPr>
              <a:t>)</a:t>
            </a:r>
            <a:r>
              <a:rPr lang="en-US" altLang="en-US" sz="800">
                <a:solidFill>
                  <a:srgbClr val="000000"/>
                </a:solidFill>
                <a:latin typeface="Times-Roman" pitchFamily="2" charset="0"/>
              </a:rPr>
              <a:t>2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, 14e;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[M(H</a:t>
            </a:r>
            <a:r>
              <a:rPr lang="en-US" altLang="en-US" sz="800">
                <a:solidFill>
                  <a:srgbClr val="000000"/>
                </a:solidFill>
                <a:latin typeface="Times-Roman" pitchFamily="2" charset="0"/>
              </a:rPr>
              <a:t>2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O</a:t>
            </a:r>
            <a:r>
              <a:rPr lang="en-US" altLang="en-US" sz="1800" i="1">
                <a:solidFill>
                  <a:srgbClr val="000000"/>
                </a:solidFill>
                <a:latin typeface="MTMI" charset="0"/>
              </a:rPr>
              <a:t>)</a:t>
            </a:r>
            <a:r>
              <a:rPr lang="en-US" altLang="en-US" sz="800">
                <a:solidFill>
                  <a:srgbClr val="000000"/>
                </a:solidFill>
                <a:latin typeface="Times-Roman" pitchFamily="2" charset="0"/>
              </a:rPr>
              <a:t>6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]</a:t>
            </a:r>
            <a:r>
              <a:rPr lang="en-US" altLang="en-US" sz="800">
                <a:solidFill>
                  <a:srgbClr val="000000"/>
                </a:solidFill>
                <a:latin typeface="Times-Roman" pitchFamily="2" charset="0"/>
              </a:rPr>
              <a:t>2</a:t>
            </a:r>
            <a:r>
              <a:rPr lang="en-US" altLang="en-US" sz="800">
                <a:solidFill>
                  <a:srgbClr val="000000"/>
                </a:solidFill>
                <a:latin typeface="MTSYN" charset="0"/>
              </a:rPr>
              <a:t>+ 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(M </a:t>
            </a:r>
            <a:r>
              <a:rPr lang="en-US" altLang="en-US" sz="1800">
                <a:solidFill>
                  <a:srgbClr val="000000"/>
                </a:solidFill>
                <a:latin typeface="MTSYN" charset="0"/>
              </a:rPr>
              <a:t>= 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V, 15e; Cr, 16e; Mn, 17e; Fe, 18e), CoCp</a:t>
            </a:r>
            <a:r>
              <a:rPr lang="en-US" altLang="en-US" sz="800">
                <a:solidFill>
                  <a:srgbClr val="000000"/>
                </a:solidFill>
                <a:latin typeface="Times-Roman" pitchFamily="2" charset="0"/>
              </a:rPr>
              <a:t>2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, 19e; and NiCp</a:t>
            </a:r>
            <a:r>
              <a:rPr lang="en-US" altLang="en-US" sz="800">
                <a:solidFill>
                  <a:srgbClr val="000000"/>
                </a:solidFill>
                <a:latin typeface="Times-Roman" pitchFamily="2" charset="0"/>
              </a:rPr>
              <a:t>2</a:t>
            </a: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,</a:t>
            </a:r>
            <a:r>
              <a:rPr lang="en-US" altLang="en-US" sz="1800">
                <a:latin typeface="Arial" panose="020B0604020202020204" pitchFamily="34" charset="0"/>
              </a:rPr>
              <a:t/>
            </a:r>
            <a:br>
              <a:rPr lang="en-US" altLang="en-US" sz="1800">
                <a:latin typeface="Arial" panose="020B0604020202020204" pitchFamily="34" charset="0"/>
              </a:rPr>
            </a:br>
            <a:r>
              <a:rPr lang="en-US" altLang="en-US" sz="1400">
                <a:solidFill>
                  <a:srgbClr val="000000"/>
                </a:solidFill>
                <a:latin typeface="Times-Roman" pitchFamily="2" charset="0"/>
              </a:rPr>
              <a:t/>
            </a:r>
            <a:br>
              <a:rPr lang="en-US" altLang="en-US" sz="14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20e. For the 18e rule to be useful, we need to be able to predict when it will be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obeyed and when it will not.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The rule works best for hydrides and carbonyls because these are sterically</a:t>
            </a:r>
            <a:b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</a:br>
            <a:r>
              <a:rPr lang="en-US" altLang="en-US" sz="1800">
                <a:solidFill>
                  <a:srgbClr val="000000"/>
                </a:solidFill>
                <a:latin typeface="Times-Roman" pitchFamily="2" charset="0"/>
              </a:rPr>
              <a:t>small, high-field ligands. </a:t>
            </a:r>
            <a:endParaRPr lang="en-IN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6768</TotalTime>
  <Words>994</Words>
  <Application>Microsoft Office PowerPoint</Application>
  <PresentationFormat>On-screen Show (4:3)</PresentationFormat>
  <Paragraphs>100</Paragraphs>
  <Slides>53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9" baseType="lpstr">
      <vt:lpstr>ＭＳ Ｐゴシック</vt:lpstr>
      <vt:lpstr>ＭＳ Ｐゴシック</vt:lpstr>
      <vt:lpstr>Arial</vt:lpstr>
      <vt:lpstr>Calibri</vt:lpstr>
      <vt:lpstr>Google Sans</vt:lpstr>
      <vt:lpstr>MSAM10</vt:lpstr>
      <vt:lpstr>MTMI</vt:lpstr>
      <vt:lpstr>MTMIB</vt:lpstr>
      <vt:lpstr>MTSYN</vt:lpstr>
      <vt:lpstr>Roboto</vt:lpstr>
      <vt:lpstr>Times New Roman</vt:lpstr>
      <vt:lpstr>Times-Bold</vt:lpstr>
      <vt:lpstr>Times-Roman</vt:lpstr>
      <vt:lpstr>Trebuchet MS</vt:lpstr>
      <vt:lpstr>Office Theme</vt:lpstr>
      <vt:lpstr>CS ChemDraw Drawing</vt:lpstr>
      <vt:lpstr>PowerPoint Presentation</vt:lpstr>
      <vt:lpstr>PowerPoint Presentation</vt:lpstr>
      <vt:lpstr>PowerPoint Presentation</vt:lpstr>
      <vt:lpstr>Important Dates </vt:lpstr>
      <vt:lpstr>PowerPoint Presentation</vt:lpstr>
      <vt:lpstr>PowerPoint Presentation</vt:lpstr>
      <vt:lpstr>PowerPoint Presentation</vt:lpstr>
      <vt:lpstr>What catalyst does?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1900: Victor Grignard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Ionic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Swadhin</dc:creator>
  <cp:lastModifiedBy>User</cp:lastModifiedBy>
  <cp:revision>37</cp:revision>
  <dcterms:created xsi:type="dcterms:W3CDTF">2014-08-04T02:34:09Z</dcterms:created>
  <dcterms:modified xsi:type="dcterms:W3CDTF">2025-08-08T10:03:44Z</dcterms:modified>
</cp:coreProperties>
</file>