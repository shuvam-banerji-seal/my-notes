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6" r:id="rId10"/>
    <p:sldId id="267" r:id="rId11"/>
    <p:sldId id="264" r:id="rId12"/>
    <p:sldId id="322" r:id="rId13"/>
    <p:sldId id="265" r:id="rId14"/>
    <p:sldId id="270" r:id="rId15"/>
    <p:sldId id="269" r:id="rId16"/>
    <p:sldId id="271" r:id="rId17"/>
    <p:sldId id="273" r:id="rId18"/>
    <p:sldId id="272" r:id="rId19"/>
    <p:sldId id="285" r:id="rId20"/>
    <p:sldId id="274" r:id="rId21"/>
    <p:sldId id="323" r:id="rId22"/>
    <p:sldId id="275" r:id="rId23"/>
    <p:sldId id="276" r:id="rId24"/>
    <p:sldId id="277" r:id="rId25"/>
    <p:sldId id="278" r:id="rId26"/>
    <p:sldId id="279" r:id="rId27"/>
    <p:sldId id="280" r:id="rId28"/>
    <p:sldId id="282" r:id="rId29"/>
    <p:sldId id="283" r:id="rId30"/>
    <p:sldId id="284" r:id="rId31"/>
    <p:sldId id="295" r:id="rId32"/>
    <p:sldId id="286" r:id="rId33"/>
    <p:sldId id="290" r:id="rId34"/>
    <p:sldId id="291" r:id="rId35"/>
    <p:sldId id="288" r:id="rId36"/>
    <p:sldId id="324" r:id="rId37"/>
    <p:sldId id="292" r:id="rId38"/>
    <p:sldId id="289" r:id="rId39"/>
    <p:sldId id="287" r:id="rId40"/>
    <p:sldId id="294" r:id="rId41"/>
    <p:sldId id="297" r:id="rId42"/>
    <p:sldId id="298" r:id="rId43"/>
    <p:sldId id="299" r:id="rId44"/>
    <p:sldId id="296" r:id="rId45"/>
    <p:sldId id="303" r:id="rId46"/>
    <p:sldId id="300" r:id="rId47"/>
    <p:sldId id="293" r:id="rId48"/>
    <p:sldId id="304" r:id="rId49"/>
    <p:sldId id="321" r:id="rId50"/>
    <p:sldId id="305" r:id="rId51"/>
    <p:sldId id="306" r:id="rId52"/>
    <p:sldId id="314" r:id="rId53"/>
    <p:sldId id="308" r:id="rId54"/>
    <p:sldId id="312" r:id="rId55"/>
    <p:sldId id="313" r:id="rId56"/>
    <p:sldId id="307" r:id="rId57"/>
    <p:sldId id="309" r:id="rId58"/>
    <p:sldId id="315" r:id="rId59"/>
    <p:sldId id="316" r:id="rId60"/>
    <p:sldId id="317" r:id="rId61"/>
    <p:sldId id="310" r:id="rId62"/>
    <p:sldId id="318" r:id="rId63"/>
    <p:sldId id="319" r:id="rId64"/>
    <p:sldId id="311" r:id="rId65"/>
    <p:sldId id="320"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932" autoAdjust="0"/>
    <p:restoredTop sz="94660"/>
  </p:normalViewPr>
  <p:slideViewPr>
    <p:cSldViewPr snapToGrid="0">
      <p:cViewPr varScale="1">
        <p:scale>
          <a:sx n="102" d="100"/>
          <a:sy n="102" d="100"/>
        </p:scale>
        <p:origin x="216" y="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82F2D-42EC-4D57-A4C1-5571CAF1BE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1E3A0C9-3FC1-4175-AB49-A62EEA0FA8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8531D05-B3F9-4788-AB31-345675698150}"/>
              </a:ext>
            </a:extLst>
          </p:cNvPr>
          <p:cNvSpPr>
            <a:spLocks noGrp="1"/>
          </p:cNvSpPr>
          <p:nvPr>
            <p:ph type="dt" sz="half" idx="10"/>
          </p:nvPr>
        </p:nvSpPr>
        <p:spPr/>
        <p:txBody>
          <a:bodyPr/>
          <a:lstStyle/>
          <a:p>
            <a:fld id="{ACB47ACB-AAE6-47F0-8407-039183CDCE9A}" type="datetimeFigureOut">
              <a:rPr lang="en-IN" smtClean="0"/>
              <a:t>07/08/24</a:t>
            </a:fld>
            <a:endParaRPr lang="en-IN"/>
          </a:p>
        </p:txBody>
      </p:sp>
      <p:sp>
        <p:nvSpPr>
          <p:cNvPr id="5" name="Footer Placeholder 4">
            <a:extLst>
              <a:ext uri="{FF2B5EF4-FFF2-40B4-BE49-F238E27FC236}">
                <a16:creationId xmlns:a16="http://schemas.microsoft.com/office/drawing/2014/main" id="{81BE8B93-A3C1-4C7D-B6A3-6B9982E6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272E5B-5CEA-4C7F-9D2C-BF9ABB9246E6}"/>
              </a:ext>
            </a:extLst>
          </p:cNvPr>
          <p:cNvSpPr>
            <a:spLocks noGrp="1"/>
          </p:cNvSpPr>
          <p:nvPr>
            <p:ph type="sldNum" sz="quarter" idx="12"/>
          </p:nvPr>
        </p:nvSpPr>
        <p:spPr/>
        <p:txBody>
          <a:bodyPr/>
          <a:lstStyle/>
          <a:p>
            <a:fld id="{A28BFD22-F108-4C36-92E6-A0DA6F5F5741}" type="slidenum">
              <a:rPr lang="en-IN" smtClean="0"/>
              <a:t>‹#›</a:t>
            </a:fld>
            <a:endParaRPr lang="en-IN"/>
          </a:p>
        </p:txBody>
      </p:sp>
    </p:spTree>
    <p:extLst>
      <p:ext uri="{BB962C8B-B14F-4D97-AF65-F5344CB8AC3E}">
        <p14:creationId xmlns:p14="http://schemas.microsoft.com/office/powerpoint/2010/main" val="3520947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E0CBD-F7B7-429C-B8DF-003E559E3F4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8D3DBF-7371-4681-BD39-832729337E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729739-1F5D-499C-B448-9BE6A5C54878}"/>
              </a:ext>
            </a:extLst>
          </p:cNvPr>
          <p:cNvSpPr>
            <a:spLocks noGrp="1"/>
          </p:cNvSpPr>
          <p:nvPr>
            <p:ph type="dt" sz="half" idx="10"/>
          </p:nvPr>
        </p:nvSpPr>
        <p:spPr/>
        <p:txBody>
          <a:bodyPr/>
          <a:lstStyle/>
          <a:p>
            <a:fld id="{ACB47ACB-AAE6-47F0-8407-039183CDCE9A}" type="datetimeFigureOut">
              <a:rPr lang="en-IN" smtClean="0"/>
              <a:t>07/08/24</a:t>
            </a:fld>
            <a:endParaRPr lang="en-IN"/>
          </a:p>
        </p:txBody>
      </p:sp>
      <p:sp>
        <p:nvSpPr>
          <p:cNvPr id="5" name="Footer Placeholder 4">
            <a:extLst>
              <a:ext uri="{FF2B5EF4-FFF2-40B4-BE49-F238E27FC236}">
                <a16:creationId xmlns:a16="http://schemas.microsoft.com/office/drawing/2014/main" id="{A7523A3E-C022-4273-8125-BF1EB42587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67B271-3EB5-4BC4-9620-B7285D0FC223}"/>
              </a:ext>
            </a:extLst>
          </p:cNvPr>
          <p:cNvSpPr>
            <a:spLocks noGrp="1"/>
          </p:cNvSpPr>
          <p:nvPr>
            <p:ph type="sldNum" sz="quarter" idx="12"/>
          </p:nvPr>
        </p:nvSpPr>
        <p:spPr/>
        <p:txBody>
          <a:bodyPr/>
          <a:lstStyle/>
          <a:p>
            <a:fld id="{A28BFD22-F108-4C36-92E6-A0DA6F5F5741}" type="slidenum">
              <a:rPr lang="en-IN" smtClean="0"/>
              <a:t>‹#›</a:t>
            </a:fld>
            <a:endParaRPr lang="en-IN"/>
          </a:p>
        </p:txBody>
      </p:sp>
    </p:spTree>
    <p:extLst>
      <p:ext uri="{BB962C8B-B14F-4D97-AF65-F5344CB8AC3E}">
        <p14:creationId xmlns:p14="http://schemas.microsoft.com/office/powerpoint/2010/main" val="1931066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0EA12-236E-4E49-B3D5-292D1CD514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4130467-F8EF-48C2-90B9-C747863DE6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313C0B-4DF9-4279-83D6-01FD36A5BFC6}"/>
              </a:ext>
            </a:extLst>
          </p:cNvPr>
          <p:cNvSpPr>
            <a:spLocks noGrp="1"/>
          </p:cNvSpPr>
          <p:nvPr>
            <p:ph type="dt" sz="half" idx="10"/>
          </p:nvPr>
        </p:nvSpPr>
        <p:spPr/>
        <p:txBody>
          <a:bodyPr/>
          <a:lstStyle/>
          <a:p>
            <a:fld id="{ACB47ACB-AAE6-47F0-8407-039183CDCE9A}" type="datetimeFigureOut">
              <a:rPr lang="en-IN" smtClean="0"/>
              <a:t>07/08/24</a:t>
            </a:fld>
            <a:endParaRPr lang="en-IN"/>
          </a:p>
        </p:txBody>
      </p:sp>
      <p:sp>
        <p:nvSpPr>
          <p:cNvPr id="5" name="Footer Placeholder 4">
            <a:extLst>
              <a:ext uri="{FF2B5EF4-FFF2-40B4-BE49-F238E27FC236}">
                <a16:creationId xmlns:a16="http://schemas.microsoft.com/office/drawing/2014/main" id="{55810533-5FA3-49B0-9A46-3E3379D418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611B9E-D29F-4EA0-86CA-B1692569FD08}"/>
              </a:ext>
            </a:extLst>
          </p:cNvPr>
          <p:cNvSpPr>
            <a:spLocks noGrp="1"/>
          </p:cNvSpPr>
          <p:nvPr>
            <p:ph type="sldNum" sz="quarter" idx="12"/>
          </p:nvPr>
        </p:nvSpPr>
        <p:spPr/>
        <p:txBody>
          <a:bodyPr/>
          <a:lstStyle/>
          <a:p>
            <a:fld id="{A28BFD22-F108-4C36-92E6-A0DA6F5F5741}" type="slidenum">
              <a:rPr lang="en-IN" smtClean="0"/>
              <a:t>‹#›</a:t>
            </a:fld>
            <a:endParaRPr lang="en-IN"/>
          </a:p>
        </p:txBody>
      </p:sp>
    </p:spTree>
    <p:extLst>
      <p:ext uri="{BB962C8B-B14F-4D97-AF65-F5344CB8AC3E}">
        <p14:creationId xmlns:p14="http://schemas.microsoft.com/office/powerpoint/2010/main" val="818425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D1C63-BE87-4AE9-8B79-E2116AD33C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ACE5BB-4DDB-4C2A-A08C-25F6214A2F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C4E5949-4D97-4D1A-81A4-15EA9CBED9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7BD745-BE11-4FC0-A8C3-6E78571BAAAC}"/>
              </a:ext>
            </a:extLst>
          </p:cNvPr>
          <p:cNvSpPr>
            <a:spLocks noGrp="1"/>
          </p:cNvSpPr>
          <p:nvPr>
            <p:ph type="dt" sz="half" idx="10"/>
          </p:nvPr>
        </p:nvSpPr>
        <p:spPr/>
        <p:txBody>
          <a:bodyPr/>
          <a:lstStyle/>
          <a:p>
            <a:fld id="{ACB47ACB-AAE6-47F0-8407-039183CDCE9A}" type="datetimeFigureOut">
              <a:rPr lang="en-IN" smtClean="0"/>
              <a:t>07/08/24</a:t>
            </a:fld>
            <a:endParaRPr lang="en-IN"/>
          </a:p>
        </p:txBody>
      </p:sp>
      <p:sp>
        <p:nvSpPr>
          <p:cNvPr id="6" name="Footer Placeholder 5">
            <a:extLst>
              <a:ext uri="{FF2B5EF4-FFF2-40B4-BE49-F238E27FC236}">
                <a16:creationId xmlns:a16="http://schemas.microsoft.com/office/drawing/2014/main" id="{2A29D642-0E3A-4069-83D0-17BA4DF511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345956-2DD8-4A20-BBA3-1C2DE8DC3465}"/>
              </a:ext>
            </a:extLst>
          </p:cNvPr>
          <p:cNvSpPr>
            <a:spLocks noGrp="1"/>
          </p:cNvSpPr>
          <p:nvPr>
            <p:ph type="sldNum" sz="quarter" idx="12"/>
          </p:nvPr>
        </p:nvSpPr>
        <p:spPr/>
        <p:txBody>
          <a:bodyPr/>
          <a:lstStyle/>
          <a:p>
            <a:fld id="{A28BFD22-F108-4C36-92E6-A0DA6F5F5741}" type="slidenum">
              <a:rPr lang="en-IN" smtClean="0"/>
              <a:t>‹#›</a:t>
            </a:fld>
            <a:endParaRPr lang="en-IN"/>
          </a:p>
        </p:txBody>
      </p:sp>
    </p:spTree>
    <p:extLst>
      <p:ext uri="{BB962C8B-B14F-4D97-AF65-F5344CB8AC3E}">
        <p14:creationId xmlns:p14="http://schemas.microsoft.com/office/powerpoint/2010/main" val="1307583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077DD-30E6-4558-B303-9C589C7E759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68C1D7-BCD2-4D80-A5C2-0110C6543C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A54CBD-E580-4D42-AE7F-18AC2D78DF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1DFD49B-1E09-4BAC-B7AF-1D682B7822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F7D965-42F5-433D-AA7B-B963960E29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CC60801-7AAF-421D-8180-8F9F4B4B77F4}"/>
              </a:ext>
            </a:extLst>
          </p:cNvPr>
          <p:cNvSpPr>
            <a:spLocks noGrp="1"/>
          </p:cNvSpPr>
          <p:nvPr>
            <p:ph type="dt" sz="half" idx="10"/>
          </p:nvPr>
        </p:nvSpPr>
        <p:spPr/>
        <p:txBody>
          <a:bodyPr/>
          <a:lstStyle/>
          <a:p>
            <a:fld id="{ACB47ACB-AAE6-47F0-8407-039183CDCE9A}" type="datetimeFigureOut">
              <a:rPr lang="en-IN" smtClean="0"/>
              <a:t>07/08/24</a:t>
            </a:fld>
            <a:endParaRPr lang="en-IN"/>
          </a:p>
        </p:txBody>
      </p:sp>
      <p:sp>
        <p:nvSpPr>
          <p:cNvPr id="8" name="Footer Placeholder 7">
            <a:extLst>
              <a:ext uri="{FF2B5EF4-FFF2-40B4-BE49-F238E27FC236}">
                <a16:creationId xmlns:a16="http://schemas.microsoft.com/office/drawing/2014/main" id="{D05E6730-B94E-472F-8896-649564802F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A9ED32-089A-4E12-8809-C7FDD34BD0AD}"/>
              </a:ext>
            </a:extLst>
          </p:cNvPr>
          <p:cNvSpPr>
            <a:spLocks noGrp="1"/>
          </p:cNvSpPr>
          <p:nvPr>
            <p:ph type="sldNum" sz="quarter" idx="12"/>
          </p:nvPr>
        </p:nvSpPr>
        <p:spPr/>
        <p:txBody>
          <a:bodyPr/>
          <a:lstStyle/>
          <a:p>
            <a:fld id="{A28BFD22-F108-4C36-92E6-A0DA6F5F5741}" type="slidenum">
              <a:rPr lang="en-IN" smtClean="0"/>
              <a:t>‹#›</a:t>
            </a:fld>
            <a:endParaRPr lang="en-IN"/>
          </a:p>
        </p:txBody>
      </p:sp>
    </p:spTree>
    <p:extLst>
      <p:ext uri="{BB962C8B-B14F-4D97-AF65-F5344CB8AC3E}">
        <p14:creationId xmlns:p14="http://schemas.microsoft.com/office/powerpoint/2010/main" val="210089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5CC42-F064-4336-912A-6DC38E88002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0295A93-DCDD-4E66-8D47-2DF997CEF753}"/>
              </a:ext>
            </a:extLst>
          </p:cNvPr>
          <p:cNvSpPr>
            <a:spLocks noGrp="1"/>
          </p:cNvSpPr>
          <p:nvPr>
            <p:ph type="dt" sz="half" idx="10"/>
          </p:nvPr>
        </p:nvSpPr>
        <p:spPr/>
        <p:txBody>
          <a:bodyPr/>
          <a:lstStyle/>
          <a:p>
            <a:fld id="{ACB47ACB-AAE6-47F0-8407-039183CDCE9A}" type="datetimeFigureOut">
              <a:rPr lang="en-IN" smtClean="0"/>
              <a:t>07/08/24</a:t>
            </a:fld>
            <a:endParaRPr lang="en-IN"/>
          </a:p>
        </p:txBody>
      </p:sp>
      <p:sp>
        <p:nvSpPr>
          <p:cNvPr id="4" name="Footer Placeholder 3">
            <a:extLst>
              <a:ext uri="{FF2B5EF4-FFF2-40B4-BE49-F238E27FC236}">
                <a16:creationId xmlns:a16="http://schemas.microsoft.com/office/drawing/2014/main" id="{67BDE91E-0CF4-42EB-824F-9250EBBD2D4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01FF4DD-A59A-4C20-B303-83827364F9EC}"/>
              </a:ext>
            </a:extLst>
          </p:cNvPr>
          <p:cNvSpPr>
            <a:spLocks noGrp="1"/>
          </p:cNvSpPr>
          <p:nvPr>
            <p:ph type="sldNum" sz="quarter" idx="12"/>
          </p:nvPr>
        </p:nvSpPr>
        <p:spPr/>
        <p:txBody>
          <a:bodyPr/>
          <a:lstStyle/>
          <a:p>
            <a:fld id="{A28BFD22-F108-4C36-92E6-A0DA6F5F5741}" type="slidenum">
              <a:rPr lang="en-IN" smtClean="0"/>
              <a:t>‹#›</a:t>
            </a:fld>
            <a:endParaRPr lang="en-IN"/>
          </a:p>
        </p:txBody>
      </p:sp>
    </p:spTree>
    <p:extLst>
      <p:ext uri="{BB962C8B-B14F-4D97-AF65-F5344CB8AC3E}">
        <p14:creationId xmlns:p14="http://schemas.microsoft.com/office/powerpoint/2010/main" val="968654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FD225B-EABF-4006-9044-7DCAC61BA36D}"/>
              </a:ext>
            </a:extLst>
          </p:cNvPr>
          <p:cNvSpPr>
            <a:spLocks noGrp="1"/>
          </p:cNvSpPr>
          <p:nvPr>
            <p:ph type="dt" sz="half" idx="10"/>
          </p:nvPr>
        </p:nvSpPr>
        <p:spPr/>
        <p:txBody>
          <a:bodyPr/>
          <a:lstStyle/>
          <a:p>
            <a:fld id="{ACB47ACB-AAE6-47F0-8407-039183CDCE9A}" type="datetimeFigureOut">
              <a:rPr lang="en-IN" smtClean="0"/>
              <a:t>07/08/24</a:t>
            </a:fld>
            <a:endParaRPr lang="en-IN"/>
          </a:p>
        </p:txBody>
      </p:sp>
      <p:sp>
        <p:nvSpPr>
          <p:cNvPr id="3" name="Footer Placeholder 2">
            <a:extLst>
              <a:ext uri="{FF2B5EF4-FFF2-40B4-BE49-F238E27FC236}">
                <a16:creationId xmlns:a16="http://schemas.microsoft.com/office/drawing/2014/main" id="{12EDEA44-403E-452C-BB32-75B228BE44E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715B556-C1B9-49AD-AAC4-5E75B7414586}"/>
              </a:ext>
            </a:extLst>
          </p:cNvPr>
          <p:cNvSpPr>
            <a:spLocks noGrp="1"/>
          </p:cNvSpPr>
          <p:nvPr>
            <p:ph type="sldNum" sz="quarter" idx="12"/>
          </p:nvPr>
        </p:nvSpPr>
        <p:spPr/>
        <p:txBody>
          <a:bodyPr/>
          <a:lstStyle/>
          <a:p>
            <a:fld id="{A28BFD22-F108-4C36-92E6-A0DA6F5F5741}" type="slidenum">
              <a:rPr lang="en-IN" smtClean="0"/>
              <a:t>‹#›</a:t>
            </a:fld>
            <a:endParaRPr lang="en-IN"/>
          </a:p>
        </p:txBody>
      </p:sp>
    </p:spTree>
    <p:extLst>
      <p:ext uri="{BB962C8B-B14F-4D97-AF65-F5344CB8AC3E}">
        <p14:creationId xmlns:p14="http://schemas.microsoft.com/office/powerpoint/2010/main" val="3647949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BFAE6-0262-47CC-9492-86977F00A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B81D7A4-470D-4A3E-AFBC-4CF794CD20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A82FFCE-C74C-4148-97F3-C830A6F892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CF1ABE-EC85-4D63-9439-1E154491049A}"/>
              </a:ext>
            </a:extLst>
          </p:cNvPr>
          <p:cNvSpPr>
            <a:spLocks noGrp="1"/>
          </p:cNvSpPr>
          <p:nvPr>
            <p:ph type="dt" sz="half" idx="10"/>
          </p:nvPr>
        </p:nvSpPr>
        <p:spPr/>
        <p:txBody>
          <a:bodyPr/>
          <a:lstStyle/>
          <a:p>
            <a:fld id="{ACB47ACB-AAE6-47F0-8407-039183CDCE9A}" type="datetimeFigureOut">
              <a:rPr lang="en-IN" smtClean="0"/>
              <a:t>07/08/24</a:t>
            </a:fld>
            <a:endParaRPr lang="en-IN"/>
          </a:p>
        </p:txBody>
      </p:sp>
      <p:sp>
        <p:nvSpPr>
          <p:cNvPr id="6" name="Footer Placeholder 5">
            <a:extLst>
              <a:ext uri="{FF2B5EF4-FFF2-40B4-BE49-F238E27FC236}">
                <a16:creationId xmlns:a16="http://schemas.microsoft.com/office/drawing/2014/main" id="{330DFF3E-E329-4961-9054-D3D5A85BC2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63AFFF-8A4D-4FDA-92EA-55340F9558F9}"/>
              </a:ext>
            </a:extLst>
          </p:cNvPr>
          <p:cNvSpPr>
            <a:spLocks noGrp="1"/>
          </p:cNvSpPr>
          <p:nvPr>
            <p:ph type="sldNum" sz="quarter" idx="12"/>
          </p:nvPr>
        </p:nvSpPr>
        <p:spPr/>
        <p:txBody>
          <a:bodyPr/>
          <a:lstStyle/>
          <a:p>
            <a:fld id="{A28BFD22-F108-4C36-92E6-A0DA6F5F5741}" type="slidenum">
              <a:rPr lang="en-IN" smtClean="0"/>
              <a:t>‹#›</a:t>
            </a:fld>
            <a:endParaRPr lang="en-IN"/>
          </a:p>
        </p:txBody>
      </p:sp>
    </p:spTree>
    <p:extLst>
      <p:ext uri="{BB962C8B-B14F-4D97-AF65-F5344CB8AC3E}">
        <p14:creationId xmlns:p14="http://schemas.microsoft.com/office/powerpoint/2010/main" val="1286390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34C7E-656E-4D77-9D84-983FD659D2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DED44C6-1CBA-4E25-8081-9E77DF6FDE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AF6958-AF63-439C-8408-0984686C49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236D2-BCEC-4FA9-A986-E250A73A8253}"/>
              </a:ext>
            </a:extLst>
          </p:cNvPr>
          <p:cNvSpPr>
            <a:spLocks noGrp="1"/>
          </p:cNvSpPr>
          <p:nvPr>
            <p:ph type="dt" sz="half" idx="10"/>
          </p:nvPr>
        </p:nvSpPr>
        <p:spPr/>
        <p:txBody>
          <a:bodyPr/>
          <a:lstStyle/>
          <a:p>
            <a:fld id="{ACB47ACB-AAE6-47F0-8407-039183CDCE9A}" type="datetimeFigureOut">
              <a:rPr lang="en-IN" smtClean="0"/>
              <a:t>07/08/24</a:t>
            </a:fld>
            <a:endParaRPr lang="en-IN"/>
          </a:p>
        </p:txBody>
      </p:sp>
      <p:sp>
        <p:nvSpPr>
          <p:cNvPr id="6" name="Footer Placeholder 5">
            <a:extLst>
              <a:ext uri="{FF2B5EF4-FFF2-40B4-BE49-F238E27FC236}">
                <a16:creationId xmlns:a16="http://schemas.microsoft.com/office/drawing/2014/main" id="{58BE53BB-29A6-49C4-8C57-F025F7E8CD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3AD4DF-69B4-4BAE-81B3-54F4BC1248F2}"/>
              </a:ext>
            </a:extLst>
          </p:cNvPr>
          <p:cNvSpPr>
            <a:spLocks noGrp="1"/>
          </p:cNvSpPr>
          <p:nvPr>
            <p:ph type="sldNum" sz="quarter" idx="12"/>
          </p:nvPr>
        </p:nvSpPr>
        <p:spPr/>
        <p:txBody>
          <a:bodyPr/>
          <a:lstStyle/>
          <a:p>
            <a:fld id="{A28BFD22-F108-4C36-92E6-A0DA6F5F5741}" type="slidenum">
              <a:rPr lang="en-IN" smtClean="0"/>
              <a:t>‹#›</a:t>
            </a:fld>
            <a:endParaRPr lang="en-IN"/>
          </a:p>
        </p:txBody>
      </p:sp>
    </p:spTree>
    <p:extLst>
      <p:ext uri="{BB962C8B-B14F-4D97-AF65-F5344CB8AC3E}">
        <p14:creationId xmlns:p14="http://schemas.microsoft.com/office/powerpoint/2010/main" val="2096377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D3399-D0E5-49AE-B46C-82C3521133B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DB831A-6E54-4572-82E0-2B7EA99080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5514D6-D2F6-49FC-A627-8A9B8EE49416}"/>
              </a:ext>
            </a:extLst>
          </p:cNvPr>
          <p:cNvSpPr>
            <a:spLocks noGrp="1"/>
          </p:cNvSpPr>
          <p:nvPr>
            <p:ph type="dt" sz="half" idx="10"/>
          </p:nvPr>
        </p:nvSpPr>
        <p:spPr/>
        <p:txBody>
          <a:bodyPr/>
          <a:lstStyle/>
          <a:p>
            <a:fld id="{ACB47ACB-AAE6-47F0-8407-039183CDCE9A}" type="datetimeFigureOut">
              <a:rPr lang="en-IN" smtClean="0"/>
              <a:t>07/08/24</a:t>
            </a:fld>
            <a:endParaRPr lang="en-IN"/>
          </a:p>
        </p:txBody>
      </p:sp>
      <p:sp>
        <p:nvSpPr>
          <p:cNvPr id="5" name="Footer Placeholder 4">
            <a:extLst>
              <a:ext uri="{FF2B5EF4-FFF2-40B4-BE49-F238E27FC236}">
                <a16:creationId xmlns:a16="http://schemas.microsoft.com/office/drawing/2014/main" id="{3EBFC122-9D96-44FC-A8D6-3AF5D3DBF8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933E18-09F4-40C6-BAEB-3293319C2E03}"/>
              </a:ext>
            </a:extLst>
          </p:cNvPr>
          <p:cNvSpPr>
            <a:spLocks noGrp="1"/>
          </p:cNvSpPr>
          <p:nvPr>
            <p:ph type="sldNum" sz="quarter" idx="12"/>
          </p:nvPr>
        </p:nvSpPr>
        <p:spPr/>
        <p:txBody>
          <a:bodyPr/>
          <a:lstStyle/>
          <a:p>
            <a:fld id="{A28BFD22-F108-4C36-92E6-A0DA6F5F5741}" type="slidenum">
              <a:rPr lang="en-IN" smtClean="0"/>
              <a:t>‹#›</a:t>
            </a:fld>
            <a:endParaRPr lang="en-IN"/>
          </a:p>
        </p:txBody>
      </p:sp>
    </p:spTree>
    <p:extLst>
      <p:ext uri="{BB962C8B-B14F-4D97-AF65-F5344CB8AC3E}">
        <p14:creationId xmlns:p14="http://schemas.microsoft.com/office/powerpoint/2010/main" val="1710430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E0C40E-6855-4369-8B36-4B6D10B85E9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960106-0280-4FD2-8F7C-B88327C231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A093FD-6C94-4880-B320-C6D28D189EDC}"/>
              </a:ext>
            </a:extLst>
          </p:cNvPr>
          <p:cNvSpPr>
            <a:spLocks noGrp="1"/>
          </p:cNvSpPr>
          <p:nvPr>
            <p:ph type="dt" sz="half" idx="10"/>
          </p:nvPr>
        </p:nvSpPr>
        <p:spPr/>
        <p:txBody>
          <a:bodyPr/>
          <a:lstStyle/>
          <a:p>
            <a:fld id="{ACB47ACB-AAE6-47F0-8407-039183CDCE9A}" type="datetimeFigureOut">
              <a:rPr lang="en-IN" smtClean="0"/>
              <a:t>07/08/24</a:t>
            </a:fld>
            <a:endParaRPr lang="en-IN"/>
          </a:p>
        </p:txBody>
      </p:sp>
      <p:sp>
        <p:nvSpPr>
          <p:cNvPr id="5" name="Footer Placeholder 4">
            <a:extLst>
              <a:ext uri="{FF2B5EF4-FFF2-40B4-BE49-F238E27FC236}">
                <a16:creationId xmlns:a16="http://schemas.microsoft.com/office/drawing/2014/main" id="{C4E302AC-129C-46C9-8647-59E4BFB2EC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A104B1-112C-42D8-BC2B-29B553AEB740}"/>
              </a:ext>
            </a:extLst>
          </p:cNvPr>
          <p:cNvSpPr>
            <a:spLocks noGrp="1"/>
          </p:cNvSpPr>
          <p:nvPr>
            <p:ph type="sldNum" sz="quarter" idx="12"/>
          </p:nvPr>
        </p:nvSpPr>
        <p:spPr/>
        <p:txBody>
          <a:bodyPr/>
          <a:lstStyle/>
          <a:p>
            <a:fld id="{A28BFD22-F108-4C36-92E6-A0DA6F5F5741}" type="slidenum">
              <a:rPr lang="en-IN" smtClean="0"/>
              <a:t>‹#›</a:t>
            </a:fld>
            <a:endParaRPr lang="en-IN"/>
          </a:p>
        </p:txBody>
      </p:sp>
    </p:spTree>
    <p:extLst>
      <p:ext uri="{BB962C8B-B14F-4D97-AF65-F5344CB8AC3E}">
        <p14:creationId xmlns:p14="http://schemas.microsoft.com/office/powerpoint/2010/main" val="3425736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F2781B-F1FC-4E56-BFFE-E56E59555E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46445C-8424-4348-8093-D9DD5B6EB4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D6FD59-248B-49A3-8FBE-88BBD50EEC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B47ACB-AAE6-47F0-8407-039183CDCE9A}" type="datetimeFigureOut">
              <a:rPr lang="en-IN" smtClean="0"/>
              <a:t>07/08/24</a:t>
            </a:fld>
            <a:endParaRPr lang="en-IN"/>
          </a:p>
        </p:txBody>
      </p:sp>
      <p:sp>
        <p:nvSpPr>
          <p:cNvPr id="5" name="Footer Placeholder 4">
            <a:extLst>
              <a:ext uri="{FF2B5EF4-FFF2-40B4-BE49-F238E27FC236}">
                <a16:creationId xmlns:a16="http://schemas.microsoft.com/office/drawing/2014/main" id="{2A42AD4B-E87B-428A-836D-7EC6DB56E8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22BAEBE-53EC-465C-985C-A1978EC29A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8BFD22-F108-4C36-92E6-A0DA6F5F5741}" type="slidenum">
              <a:rPr lang="en-IN" smtClean="0"/>
              <a:t>‹#›</a:t>
            </a:fld>
            <a:endParaRPr lang="en-IN"/>
          </a:p>
        </p:txBody>
      </p:sp>
    </p:spTree>
    <p:extLst>
      <p:ext uri="{BB962C8B-B14F-4D97-AF65-F5344CB8AC3E}">
        <p14:creationId xmlns:p14="http://schemas.microsoft.com/office/powerpoint/2010/main" val="3787582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pubs.acs.org/cms/10.1021/jacsau.1c00106/asset/images/large/au1c00106_0011.jpeg" TargetMode="External"/><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hyperlink" Target="https://pubs.acs.org/action/showCitFormats?doi=10.1021/jacsau.1c00106&amp;href=/doi/10.1021/jacsau.1c00106" TargetMode="External"/><Relationship Id="rId4" Type="http://schemas.openxmlformats.org/officeDocument/2006/relationships/hyperlink" Target="https://pubs.acs.org/action/downloadFigures?doi=10.1021/jacsau.1c00106&amp;id=_i1"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49FD9-CEE8-4972-AA88-348E8D2CA98B}"/>
              </a:ext>
            </a:extLst>
          </p:cNvPr>
          <p:cNvSpPr>
            <a:spLocks noGrp="1"/>
          </p:cNvSpPr>
          <p:nvPr>
            <p:ph type="ctrTitle"/>
          </p:nvPr>
        </p:nvSpPr>
        <p:spPr>
          <a:xfrm>
            <a:off x="1524000" y="2960688"/>
            <a:ext cx="9144000" cy="2387600"/>
          </a:xfrm>
        </p:spPr>
        <p:txBody>
          <a:bodyPr>
            <a:normAutofit fontScale="90000"/>
          </a:bodyPr>
          <a:lstStyle/>
          <a:p>
            <a:r>
              <a:rPr lang="en-IN" dirty="0"/>
              <a:t>Ni(CO)</a:t>
            </a:r>
            <a:r>
              <a:rPr lang="en-IN" baseline="-25000" dirty="0"/>
              <a:t>4</a:t>
            </a:r>
            <a:r>
              <a:rPr lang="en-IN" dirty="0"/>
              <a:t>, Cr(CO)</a:t>
            </a:r>
            <a:r>
              <a:rPr lang="en-IN" baseline="-25000" dirty="0"/>
              <a:t>6</a:t>
            </a:r>
            <a:r>
              <a:rPr lang="en-IN" dirty="0"/>
              <a:t>, Mo(CO)</a:t>
            </a:r>
            <a:r>
              <a:rPr lang="en-IN" baseline="-25000" dirty="0"/>
              <a:t>6</a:t>
            </a:r>
            <a:r>
              <a:rPr lang="en-IN" dirty="0"/>
              <a:t>, W(CO)</a:t>
            </a:r>
            <a:r>
              <a:rPr lang="en-IN" baseline="-25000" dirty="0"/>
              <a:t>6</a:t>
            </a:r>
            <a:r>
              <a:rPr lang="en-IN" dirty="0"/>
              <a:t>, Ru</a:t>
            </a:r>
            <a:r>
              <a:rPr lang="en-IN" baseline="-25000" dirty="0"/>
              <a:t>3</a:t>
            </a:r>
            <a:r>
              <a:rPr lang="en-IN" dirty="0"/>
              <a:t>(CO)</a:t>
            </a:r>
            <a:r>
              <a:rPr lang="en-IN" baseline="-25000" dirty="0"/>
              <a:t>12</a:t>
            </a:r>
            <a:r>
              <a:rPr lang="en-IN" dirty="0"/>
              <a:t>, Co</a:t>
            </a:r>
            <a:r>
              <a:rPr lang="en-IN" baseline="-25000" dirty="0"/>
              <a:t>2</a:t>
            </a:r>
            <a:r>
              <a:rPr lang="en-IN" dirty="0"/>
              <a:t>(CO)</a:t>
            </a:r>
            <a:r>
              <a:rPr lang="en-IN" baseline="-25000" dirty="0"/>
              <a:t>8</a:t>
            </a:r>
            <a:r>
              <a:rPr lang="en-IN" dirty="0"/>
              <a:t>, Mn</a:t>
            </a:r>
            <a:r>
              <a:rPr lang="en-IN" baseline="-25000" dirty="0"/>
              <a:t>2</a:t>
            </a:r>
            <a:r>
              <a:rPr lang="en-IN" dirty="0"/>
              <a:t>(CO)</a:t>
            </a:r>
            <a:r>
              <a:rPr lang="en-IN" baseline="-25000" dirty="0"/>
              <a:t>10</a:t>
            </a:r>
            <a:r>
              <a:rPr lang="en-IN" dirty="0"/>
              <a:t>, Re</a:t>
            </a:r>
            <a:r>
              <a:rPr lang="en-IN" baseline="-25000" dirty="0"/>
              <a:t>2 </a:t>
            </a:r>
            <a:r>
              <a:rPr lang="en-IN" dirty="0"/>
              <a:t>(CO)</a:t>
            </a:r>
            <a:r>
              <a:rPr lang="en-IN" baseline="-25000" dirty="0"/>
              <a:t>10</a:t>
            </a:r>
          </a:p>
        </p:txBody>
      </p:sp>
    </p:spTree>
    <p:extLst>
      <p:ext uri="{BB962C8B-B14F-4D97-AF65-F5344CB8AC3E}">
        <p14:creationId xmlns:p14="http://schemas.microsoft.com/office/powerpoint/2010/main" val="2569566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AE5D0-0C40-41E2-9F10-769CF056F11A}"/>
              </a:ext>
            </a:extLst>
          </p:cNvPr>
          <p:cNvSpPr>
            <a:spLocks noGrp="1"/>
          </p:cNvSpPr>
          <p:nvPr>
            <p:ph type="title"/>
          </p:nvPr>
        </p:nvSpPr>
        <p:spPr>
          <a:xfrm>
            <a:off x="2600325" y="412750"/>
            <a:ext cx="10515600" cy="1325563"/>
          </a:xfrm>
        </p:spPr>
        <p:txBody>
          <a:bodyPr/>
          <a:lstStyle/>
          <a:p>
            <a:r>
              <a:rPr lang="en-IN" dirty="0"/>
              <a:t>Metal-CO Bonding!</a:t>
            </a:r>
          </a:p>
        </p:txBody>
      </p:sp>
      <p:pic>
        <p:nvPicPr>
          <p:cNvPr id="4" name="Content Placeholder 3">
            <a:extLst>
              <a:ext uri="{FF2B5EF4-FFF2-40B4-BE49-F238E27FC236}">
                <a16:creationId xmlns:a16="http://schemas.microsoft.com/office/drawing/2014/main" id="{C5366581-E7F6-46DE-9467-3CB7217B61E5}"/>
              </a:ext>
            </a:extLst>
          </p:cNvPr>
          <p:cNvPicPr>
            <a:picLocks noGrp="1" noChangeAspect="1"/>
          </p:cNvPicPr>
          <p:nvPr>
            <p:ph idx="1"/>
          </p:nvPr>
        </p:nvPicPr>
        <p:blipFill>
          <a:blip r:embed="rId2"/>
          <a:stretch>
            <a:fillRect/>
          </a:stretch>
        </p:blipFill>
        <p:spPr>
          <a:xfrm>
            <a:off x="833437" y="2982514"/>
            <a:ext cx="9977438" cy="2449385"/>
          </a:xfrm>
          <a:prstGeom prst="rect">
            <a:avLst/>
          </a:prstGeom>
        </p:spPr>
      </p:pic>
    </p:spTree>
    <p:extLst>
      <p:ext uri="{BB962C8B-B14F-4D97-AF65-F5344CB8AC3E}">
        <p14:creationId xmlns:p14="http://schemas.microsoft.com/office/powerpoint/2010/main" val="1857191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8E9C8-703E-4EFC-B7AD-1A42DD349FE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FAFA0EA-8246-433E-9E49-90E7018676A6}"/>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45D226AC-32EB-4051-85D4-F565EFE273E9}"/>
              </a:ext>
            </a:extLst>
          </p:cNvPr>
          <p:cNvPicPr>
            <a:picLocks noChangeAspect="1"/>
          </p:cNvPicPr>
          <p:nvPr/>
        </p:nvPicPr>
        <p:blipFill>
          <a:blip r:embed="rId2"/>
          <a:stretch>
            <a:fillRect/>
          </a:stretch>
        </p:blipFill>
        <p:spPr>
          <a:xfrm>
            <a:off x="3671887" y="2534889"/>
            <a:ext cx="4848225" cy="1838325"/>
          </a:xfrm>
          <a:prstGeom prst="rect">
            <a:avLst/>
          </a:prstGeom>
        </p:spPr>
      </p:pic>
    </p:spTree>
    <p:extLst>
      <p:ext uri="{BB962C8B-B14F-4D97-AF65-F5344CB8AC3E}">
        <p14:creationId xmlns:p14="http://schemas.microsoft.com/office/powerpoint/2010/main" val="3320248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8B416-D552-49B2-B445-7EED28AD6AA2}"/>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C83655F2-C4A6-471C-9A54-FD25E8DED9F0}"/>
              </a:ext>
            </a:extLst>
          </p:cNvPr>
          <p:cNvPicPr>
            <a:picLocks noGrp="1" noChangeAspect="1"/>
          </p:cNvPicPr>
          <p:nvPr>
            <p:ph idx="1"/>
          </p:nvPr>
        </p:nvPicPr>
        <p:blipFill>
          <a:blip r:embed="rId2"/>
          <a:stretch>
            <a:fillRect/>
          </a:stretch>
        </p:blipFill>
        <p:spPr>
          <a:xfrm>
            <a:off x="3386137" y="3572669"/>
            <a:ext cx="5419725" cy="857250"/>
          </a:xfrm>
          <a:prstGeom prst="rect">
            <a:avLst/>
          </a:prstGeom>
        </p:spPr>
      </p:pic>
    </p:spTree>
    <p:extLst>
      <p:ext uri="{BB962C8B-B14F-4D97-AF65-F5344CB8AC3E}">
        <p14:creationId xmlns:p14="http://schemas.microsoft.com/office/powerpoint/2010/main" val="4097423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F3AE1-06DD-475D-921E-C5A5C19DFCBB}"/>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6BDE6149-9B4A-4D68-A51F-F23CC495525B}"/>
              </a:ext>
            </a:extLst>
          </p:cNvPr>
          <p:cNvPicPr>
            <a:picLocks noGrp="1" noChangeAspect="1"/>
          </p:cNvPicPr>
          <p:nvPr>
            <p:ph idx="1"/>
          </p:nvPr>
        </p:nvPicPr>
        <p:blipFill>
          <a:blip r:embed="rId2"/>
          <a:stretch>
            <a:fillRect/>
          </a:stretch>
        </p:blipFill>
        <p:spPr>
          <a:xfrm>
            <a:off x="2409825" y="1905794"/>
            <a:ext cx="7372350" cy="4191000"/>
          </a:xfrm>
          <a:prstGeom prst="rect">
            <a:avLst/>
          </a:prstGeom>
        </p:spPr>
      </p:pic>
    </p:spTree>
    <p:extLst>
      <p:ext uri="{BB962C8B-B14F-4D97-AF65-F5344CB8AC3E}">
        <p14:creationId xmlns:p14="http://schemas.microsoft.com/office/powerpoint/2010/main" val="231719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2E2B7-4FAC-4E35-A4FC-6B5C26D8D1F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F30E68E-E932-4E79-BBF8-18B9D1992866}"/>
              </a:ext>
            </a:extLst>
          </p:cNvPr>
          <p:cNvPicPr>
            <a:picLocks noGrp="1" noChangeAspect="1"/>
          </p:cNvPicPr>
          <p:nvPr>
            <p:ph idx="1"/>
          </p:nvPr>
        </p:nvPicPr>
        <p:blipFill>
          <a:blip r:embed="rId2"/>
          <a:stretch>
            <a:fillRect/>
          </a:stretch>
        </p:blipFill>
        <p:spPr>
          <a:xfrm>
            <a:off x="392173" y="2589182"/>
            <a:ext cx="11407653" cy="1679636"/>
          </a:xfrm>
          <a:prstGeom prst="rect">
            <a:avLst/>
          </a:prstGeom>
        </p:spPr>
      </p:pic>
      <p:sp>
        <p:nvSpPr>
          <p:cNvPr id="4" name="TextBox 3">
            <a:extLst>
              <a:ext uri="{FF2B5EF4-FFF2-40B4-BE49-F238E27FC236}">
                <a16:creationId xmlns:a16="http://schemas.microsoft.com/office/drawing/2014/main" id="{EC9AFC91-32FE-C3F7-375C-03029874A739}"/>
              </a:ext>
            </a:extLst>
          </p:cNvPr>
          <p:cNvSpPr txBox="1"/>
          <p:nvPr/>
        </p:nvSpPr>
        <p:spPr>
          <a:xfrm>
            <a:off x="8145194" y="2708666"/>
            <a:ext cx="3488787" cy="1679636"/>
          </a:xfrm>
          <a:prstGeom prst="rect">
            <a:avLst/>
          </a:prstGeom>
          <a:solidFill>
            <a:schemeClr val="tx1">
              <a:alpha val="94000"/>
            </a:schemeClr>
          </a:solidFill>
        </p:spPr>
        <p:txBody>
          <a:bodyPr wrap="square" rtlCol="0">
            <a:spAutoFit/>
          </a:bodyPr>
          <a:lstStyle/>
          <a:p>
            <a:endParaRPr lang="en-US" dirty="0"/>
          </a:p>
        </p:txBody>
      </p:sp>
    </p:spTree>
    <p:extLst>
      <p:ext uri="{BB962C8B-B14F-4D97-AF65-F5344CB8AC3E}">
        <p14:creationId xmlns:p14="http://schemas.microsoft.com/office/powerpoint/2010/main" val="1571713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7895B-244B-4DF2-9D18-3820DBA0A3D3}"/>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8D462A5-D335-406E-B9BF-22EF9C24285A}"/>
              </a:ext>
            </a:extLst>
          </p:cNvPr>
          <p:cNvPicPr>
            <a:picLocks noGrp="1" noChangeAspect="1"/>
          </p:cNvPicPr>
          <p:nvPr>
            <p:ph idx="1"/>
          </p:nvPr>
        </p:nvPicPr>
        <p:blipFill>
          <a:blip r:embed="rId2"/>
          <a:stretch>
            <a:fillRect/>
          </a:stretch>
        </p:blipFill>
        <p:spPr>
          <a:xfrm>
            <a:off x="1962150" y="2082006"/>
            <a:ext cx="8267700" cy="3838575"/>
          </a:xfrm>
          <a:prstGeom prst="rect">
            <a:avLst/>
          </a:prstGeom>
        </p:spPr>
      </p:pic>
    </p:spTree>
    <p:extLst>
      <p:ext uri="{BB962C8B-B14F-4D97-AF65-F5344CB8AC3E}">
        <p14:creationId xmlns:p14="http://schemas.microsoft.com/office/powerpoint/2010/main" val="2020720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A2BB8-09EF-4503-88E7-1D82E5D304F9}"/>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A3C0DB78-3006-4530-87A2-3B1BCF10B8AF}"/>
              </a:ext>
            </a:extLst>
          </p:cNvPr>
          <p:cNvPicPr>
            <a:picLocks noGrp="1" noChangeAspect="1"/>
          </p:cNvPicPr>
          <p:nvPr>
            <p:ph idx="1"/>
          </p:nvPr>
        </p:nvPicPr>
        <p:blipFill>
          <a:blip r:embed="rId2"/>
          <a:stretch>
            <a:fillRect/>
          </a:stretch>
        </p:blipFill>
        <p:spPr>
          <a:xfrm>
            <a:off x="2171700" y="3101181"/>
            <a:ext cx="7848600" cy="1800225"/>
          </a:xfrm>
          <a:prstGeom prst="rect">
            <a:avLst/>
          </a:prstGeom>
        </p:spPr>
      </p:pic>
    </p:spTree>
    <p:extLst>
      <p:ext uri="{BB962C8B-B14F-4D97-AF65-F5344CB8AC3E}">
        <p14:creationId xmlns:p14="http://schemas.microsoft.com/office/powerpoint/2010/main" val="1671194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6F230-6698-4394-9D76-0AACE4357909}"/>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8774C64D-F14A-40F4-BB3E-8FB7DCB465D2}"/>
              </a:ext>
            </a:extLst>
          </p:cNvPr>
          <p:cNvPicPr>
            <a:picLocks noGrp="1" noChangeAspect="1"/>
          </p:cNvPicPr>
          <p:nvPr>
            <p:ph idx="1"/>
          </p:nvPr>
        </p:nvPicPr>
        <p:blipFill>
          <a:blip r:embed="rId2"/>
          <a:stretch>
            <a:fillRect/>
          </a:stretch>
        </p:blipFill>
        <p:spPr>
          <a:xfrm>
            <a:off x="1814512" y="1690688"/>
            <a:ext cx="6878320" cy="3906044"/>
          </a:xfrm>
          <a:prstGeom prst="rect">
            <a:avLst/>
          </a:prstGeom>
        </p:spPr>
      </p:pic>
    </p:spTree>
    <p:extLst>
      <p:ext uri="{BB962C8B-B14F-4D97-AF65-F5344CB8AC3E}">
        <p14:creationId xmlns:p14="http://schemas.microsoft.com/office/powerpoint/2010/main" val="699211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E51AC-77A5-45F6-8516-3C79BF5BCE9F}"/>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AF7B133F-5C93-4677-968E-28B8F4C7D185}"/>
              </a:ext>
            </a:extLst>
          </p:cNvPr>
          <p:cNvPicPr>
            <a:picLocks noGrp="1" noChangeAspect="1"/>
          </p:cNvPicPr>
          <p:nvPr>
            <p:ph idx="1"/>
          </p:nvPr>
        </p:nvPicPr>
        <p:blipFill>
          <a:blip r:embed="rId2"/>
          <a:stretch>
            <a:fillRect/>
          </a:stretch>
        </p:blipFill>
        <p:spPr>
          <a:xfrm>
            <a:off x="4248150" y="1283146"/>
            <a:ext cx="3295650" cy="1314450"/>
          </a:xfrm>
          <a:prstGeom prst="rect">
            <a:avLst/>
          </a:prstGeom>
        </p:spPr>
      </p:pic>
      <p:pic>
        <p:nvPicPr>
          <p:cNvPr id="5" name="Picture 4">
            <a:extLst>
              <a:ext uri="{FF2B5EF4-FFF2-40B4-BE49-F238E27FC236}">
                <a16:creationId xmlns:a16="http://schemas.microsoft.com/office/drawing/2014/main" id="{B6DC3F36-7B18-4AC8-8480-8D583AEEA714}"/>
              </a:ext>
            </a:extLst>
          </p:cNvPr>
          <p:cNvPicPr>
            <a:picLocks noChangeAspect="1"/>
          </p:cNvPicPr>
          <p:nvPr/>
        </p:nvPicPr>
        <p:blipFill>
          <a:blip r:embed="rId3"/>
          <a:stretch>
            <a:fillRect/>
          </a:stretch>
        </p:blipFill>
        <p:spPr>
          <a:xfrm>
            <a:off x="4352924" y="3243708"/>
            <a:ext cx="3838575" cy="3440034"/>
          </a:xfrm>
          <a:prstGeom prst="rect">
            <a:avLst/>
          </a:prstGeom>
        </p:spPr>
      </p:pic>
    </p:spTree>
    <p:extLst>
      <p:ext uri="{BB962C8B-B14F-4D97-AF65-F5344CB8AC3E}">
        <p14:creationId xmlns:p14="http://schemas.microsoft.com/office/powerpoint/2010/main" val="899041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24056-7C97-4641-82D5-7BBE9D7E2BE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095ECE-6730-45E6-B386-7931C310B71F}"/>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FEEF81F8-C1EB-4D8A-A3DC-E34DDD6437E6}"/>
              </a:ext>
            </a:extLst>
          </p:cNvPr>
          <p:cNvPicPr>
            <a:picLocks noChangeAspect="1"/>
          </p:cNvPicPr>
          <p:nvPr/>
        </p:nvPicPr>
        <p:blipFill>
          <a:blip r:embed="rId2"/>
          <a:stretch>
            <a:fillRect/>
          </a:stretch>
        </p:blipFill>
        <p:spPr>
          <a:xfrm>
            <a:off x="2343150" y="2114550"/>
            <a:ext cx="7505700" cy="2628900"/>
          </a:xfrm>
          <a:prstGeom prst="rect">
            <a:avLst/>
          </a:prstGeom>
        </p:spPr>
      </p:pic>
    </p:spTree>
    <p:extLst>
      <p:ext uri="{BB962C8B-B14F-4D97-AF65-F5344CB8AC3E}">
        <p14:creationId xmlns:p14="http://schemas.microsoft.com/office/powerpoint/2010/main" val="3074925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C8797-16CF-F1C6-48FB-1CC2CA4A50B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253D968-C76C-A14B-E7FB-FA5A21CC73EB}"/>
              </a:ext>
            </a:extLst>
          </p:cNvPr>
          <p:cNvSpPr>
            <a:spLocks noGrp="1"/>
          </p:cNvSpPr>
          <p:nvPr>
            <p:ph idx="1"/>
          </p:nvPr>
        </p:nvSpPr>
        <p:spPr/>
        <p:txBody>
          <a:bodyPr/>
          <a:lstStyle/>
          <a:p>
            <a:endParaRPr lang="en-US" dirty="0"/>
          </a:p>
        </p:txBody>
      </p:sp>
      <p:pic>
        <p:nvPicPr>
          <p:cNvPr id="2049" name="Picture 1" descr="Figure 1">
            <a:extLst>
              <a:ext uri="{FF2B5EF4-FFF2-40B4-BE49-F238E27FC236}">
                <a16:creationId xmlns:a16="http://schemas.microsoft.com/office/drawing/2014/main" id="{84956F41-8ABC-8F1B-EB79-59822931EC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0685" y="703263"/>
            <a:ext cx="6698231" cy="54737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6805000B-A4BF-C054-E472-6DF41490577C}"/>
              </a:ext>
            </a:extLst>
          </p:cNvPr>
          <p:cNvSpPr>
            <a:spLocks noChangeArrowheads="1"/>
          </p:cNvSpPr>
          <p:nvPr/>
        </p:nvSpPr>
        <p:spPr bwMode="auto">
          <a:xfrm>
            <a:off x="2220686" y="703263"/>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ctr"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panose="02000000000000000000" pitchFamily="2" charset="0"/>
                <a:hlinkClick r:id="rId3" tooltip="Download Hi-Res Image"/>
              </a:rPr>
              <a:t>Download Hi-Res Image</a:t>
            </a:r>
            <a:r>
              <a:rPr kumimoji="0" lang="en-US" altLang="en-US" sz="1200" b="0" i="0" u="none" strike="noStrike" cap="none" normalizeH="0" baseline="0">
                <a:ln>
                  <a:noFill/>
                </a:ln>
                <a:solidFill>
                  <a:srgbClr val="000000"/>
                </a:solidFill>
                <a:effectLst/>
                <a:latin typeface="Roboto" panose="02000000000000000000" pitchFamily="2" charset="0"/>
                <a:hlinkClick r:id="rId4" tooltip="Download to MS-PowerPoint"/>
              </a:rPr>
              <a:t>Download to MS-PowerPoint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E844E5DE-6C77-3A0B-DFFA-7D89FD978A2C}"/>
              </a:ext>
            </a:extLst>
          </p:cNvPr>
          <p:cNvSpPr txBox="1"/>
          <p:nvPr/>
        </p:nvSpPr>
        <p:spPr>
          <a:xfrm>
            <a:off x="3527474" y="6301343"/>
            <a:ext cx="6098344" cy="369332"/>
          </a:xfrm>
          <a:prstGeom prst="rect">
            <a:avLst/>
          </a:prstGeom>
          <a:noFill/>
        </p:spPr>
        <p:txBody>
          <a:bodyPr wrap="square">
            <a:spAutoFit/>
          </a:bodyPr>
          <a:lstStyle/>
          <a:p>
            <a:r>
              <a:rPr lang="en-IN" b="1" i="0" u="none" strike="noStrike" dirty="0">
                <a:solidFill>
                  <a:srgbClr val="000000"/>
                </a:solidFill>
                <a:effectLst/>
                <a:latin typeface="Roboto" panose="02000000000000000000" pitchFamily="2" charset="0"/>
                <a:hlinkClick r:id="rId5" tooltip="Cite This"/>
              </a:rPr>
              <a:t>Cite </a:t>
            </a:r>
            <a:r>
              <a:rPr lang="en-IN" b="1" i="0" u="none" strike="noStrike" dirty="0" err="1">
                <a:solidFill>
                  <a:srgbClr val="000000"/>
                </a:solidFill>
                <a:effectLst/>
                <a:latin typeface="Roboto" panose="02000000000000000000" pitchFamily="2" charset="0"/>
                <a:hlinkClick r:id="rId5" tooltip="Cite This"/>
              </a:rPr>
              <a:t>This:</a:t>
            </a:r>
            <a:r>
              <a:rPr lang="en-IN" b="0" i="1" u="none" strike="noStrike" dirty="0" err="1">
                <a:solidFill>
                  <a:srgbClr val="000000"/>
                </a:solidFill>
                <a:effectLst/>
                <a:latin typeface="Roboto" panose="02000000000000000000" pitchFamily="2" charset="0"/>
              </a:rPr>
              <a:t>JACS</a:t>
            </a:r>
            <a:r>
              <a:rPr lang="en-IN" b="0" i="1" u="none" strike="noStrike" dirty="0">
                <a:solidFill>
                  <a:srgbClr val="000000"/>
                </a:solidFill>
                <a:effectLst/>
                <a:latin typeface="Roboto" panose="02000000000000000000" pitchFamily="2" charset="0"/>
              </a:rPr>
              <a:t> Au</a:t>
            </a:r>
            <a:r>
              <a:rPr lang="en-IN" b="0" i="0" u="none" strike="noStrike" dirty="0">
                <a:solidFill>
                  <a:srgbClr val="000000"/>
                </a:solidFill>
                <a:effectLst/>
                <a:latin typeface="Roboto" panose="02000000000000000000" pitchFamily="2" charset="0"/>
              </a:rPr>
              <a:t> 2021, 1, 5, 623-645</a:t>
            </a:r>
            <a:endParaRPr lang="en-US" dirty="0"/>
          </a:p>
        </p:txBody>
      </p:sp>
    </p:spTree>
    <p:extLst>
      <p:ext uri="{BB962C8B-B14F-4D97-AF65-F5344CB8AC3E}">
        <p14:creationId xmlns:p14="http://schemas.microsoft.com/office/powerpoint/2010/main" val="2365785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4DE8F-CBE4-4C5E-A5A3-774A1CFA5C55}"/>
              </a:ext>
            </a:extLst>
          </p:cNvPr>
          <p:cNvSpPr>
            <a:spLocks noGrp="1"/>
          </p:cNvSpPr>
          <p:nvPr>
            <p:ph type="title"/>
          </p:nvPr>
        </p:nvSpPr>
        <p:spPr/>
        <p:txBody>
          <a:bodyPr/>
          <a:lstStyle/>
          <a:p>
            <a:r>
              <a:rPr lang="en-US" sz="1800" b="1" i="0" dirty="0">
                <a:solidFill>
                  <a:srgbClr val="000000"/>
                </a:solidFill>
                <a:effectLst/>
                <a:latin typeface="LiberationSans-Bold"/>
              </a:rPr>
              <a:t>Is CO a Special Ligand in Organometallic Chemistry?</a:t>
            </a:r>
            <a:r>
              <a:rPr lang="en-US" dirty="0"/>
              <a:t> </a:t>
            </a:r>
            <a:br>
              <a:rPr lang="en-US" dirty="0"/>
            </a:br>
            <a:endParaRPr lang="en-IN" dirty="0"/>
          </a:p>
        </p:txBody>
      </p:sp>
      <p:sp>
        <p:nvSpPr>
          <p:cNvPr id="3" name="Content Placeholder 2">
            <a:extLst>
              <a:ext uri="{FF2B5EF4-FFF2-40B4-BE49-F238E27FC236}">
                <a16:creationId xmlns:a16="http://schemas.microsoft.com/office/drawing/2014/main" id="{1166A823-C06C-48F9-ACB7-8514473701E8}"/>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71B7573B-6B92-4D5B-A421-8FC1F4289C94}"/>
              </a:ext>
            </a:extLst>
          </p:cNvPr>
          <p:cNvPicPr>
            <a:picLocks noChangeAspect="1"/>
          </p:cNvPicPr>
          <p:nvPr/>
        </p:nvPicPr>
        <p:blipFill>
          <a:blip r:embed="rId2"/>
          <a:stretch>
            <a:fillRect/>
          </a:stretch>
        </p:blipFill>
        <p:spPr>
          <a:xfrm>
            <a:off x="2195512" y="1376362"/>
            <a:ext cx="7800975" cy="4105275"/>
          </a:xfrm>
          <a:prstGeom prst="rect">
            <a:avLst/>
          </a:prstGeom>
        </p:spPr>
      </p:pic>
      <p:sp>
        <p:nvSpPr>
          <p:cNvPr id="6" name="TextBox 5">
            <a:extLst>
              <a:ext uri="{FF2B5EF4-FFF2-40B4-BE49-F238E27FC236}">
                <a16:creationId xmlns:a16="http://schemas.microsoft.com/office/drawing/2014/main" id="{4BDF928B-6E9B-4206-8BD4-EBE974960716}"/>
              </a:ext>
            </a:extLst>
          </p:cNvPr>
          <p:cNvSpPr txBox="1"/>
          <p:nvPr/>
        </p:nvSpPr>
        <p:spPr>
          <a:xfrm>
            <a:off x="4733925" y="5296237"/>
            <a:ext cx="6096000" cy="2031325"/>
          </a:xfrm>
          <a:prstGeom prst="rect">
            <a:avLst/>
          </a:prstGeom>
          <a:noFill/>
        </p:spPr>
        <p:txBody>
          <a:bodyPr wrap="square">
            <a:spAutoFit/>
          </a:bodyPr>
          <a:lstStyle/>
          <a:p>
            <a:r>
              <a:rPr lang="en-US" dirty="0" err="1">
                <a:solidFill>
                  <a:srgbClr val="000000"/>
                </a:solidFill>
                <a:latin typeface="LiberationSerif"/>
              </a:rPr>
              <a:t>C</a:t>
            </a:r>
            <a:r>
              <a:rPr lang="en-US" sz="1800" b="0" i="0" dirty="0" err="1">
                <a:solidFill>
                  <a:srgbClr val="000000"/>
                </a:solidFill>
                <a:effectLst/>
                <a:latin typeface="LiberationSerif"/>
              </a:rPr>
              <a:t>omputero</a:t>
            </a:r>
            <a:r>
              <a:rPr lang="en-US" sz="1800" b="0" i="0" dirty="0">
                <a:solidFill>
                  <a:srgbClr val="000000"/>
                </a:solidFill>
                <a:effectLst/>
                <a:latin typeface="LiberationSerif"/>
              </a:rPr>
              <a:t> molecule Fe(CO)</a:t>
            </a:r>
            <a:r>
              <a:rPr lang="en-US" sz="1200" b="0" i="0" dirty="0">
                <a:solidFill>
                  <a:srgbClr val="000000"/>
                </a:solidFill>
                <a:effectLst/>
                <a:latin typeface="LiberationSerif"/>
              </a:rPr>
              <a:t>4</a:t>
            </a:r>
            <a:r>
              <a:rPr lang="en-US" sz="1800" b="0" i="0" dirty="0">
                <a:solidFill>
                  <a:srgbClr val="000000"/>
                </a:solidFill>
                <a:effectLst/>
                <a:latin typeface="LiberationSerif"/>
              </a:rPr>
              <a:t>BF, the CO</a:t>
            </a:r>
            <a:br>
              <a:rPr lang="en-US" sz="1800" b="0" i="0" dirty="0">
                <a:solidFill>
                  <a:srgbClr val="000000"/>
                </a:solidFill>
                <a:effectLst/>
                <a:latin typeface="LiberationSerif"/>
              </a:rPr>
            </a:br>
            <a:r>
              <a:rPr lang="en-US" sz="1800" b="0" i="0" dirty="0">
                <a:solidFill>
                  <a:srgbClr val="000000"/>
                </a:solidFill>
                <a:effectLst/>
                <a:latin typeface="LiberationSerif"/>
              </a:rPr>
              <a:t>ligand would be released </a:t>
            </a:r>
            <a:r>
              <a:rPr lang="en-US" sz="1800" b="1" i="0" dirty="0">
                <a:solidFill>
                  <a:srgbClr val="000000"/>
                </a:solidFill>
                <a:effectLst/>
                <a:latin typeface="LiberationSerif-Bold"/>
              </a:rPr>
              <a:t>before </a:t>
            </a:r>
            <a:r>
              <a:rPr lang="en-US" sz="1800" b="0" i="0" dirty="0">
                <a:solidFill>
                  <a:srgbClr val="000000"/>
                </a:solidFill>
                <a:effectLst/>
                <a:latin typeface="LiberationSerif"/>
              </a:rPr>
              <a:t>the BF unit! The formation of TM–BF complexes is hampered not only</a:t>
            </a:r>
            <a:br>
              <a:rPr lang="en-US" sz="1800" b="0" i="0" dirty="0">
                <a:solidFill>
                  <a:srgbClr val="000000"/>
                </a:solidFill>
                <a:effectLst/>
                <a:latin typeface="LiberationSerif"/>
              </a:rPr>
            </a:br>
            <a:r>
              <a:rPr lang="en-US" sz="1800" b="0" i="0" dirty="0">
                <a:solidFill>
                  <a:srgbClr val="000000"/>
                </a:solidFill>
                <a:effectLst/>
                <a:latin typeface="LiberationSerif"/>
              </a:rPr>
              <a:t>by the difficulty in accessing BF but also by the expected sensitivity of BF complexes to nucleophilic</a:t>
            </a:r>
            <a:br>
              <a:rPr lang="en-US" sz="1800" b="0" i="0" dirty="0">
                <a:solidFill>
                  <a:srgbClr val="000000"/>
                </a:solidFill>
                <a:effectLst/>
                <a:latin typeface="LiberationSerif"/>
              </a:rPr>
            </a:br>
            <a:r>
              <a:rPr lang="en-US" sz="1800" b="0" i="0" dirty="0">
                <a:solidFill>
                  <a:srgbClr val="000000"/>
                </a:solidFill>
                <a:effectLst/>
                <a:latin typeface="LiberationSerif"/>
              </a:rPr>
              <a:t>attack</a:t>
            </a:r>
            <a:r>
              <a:rPr lang="en-US" dirty="0"/>
              <a:t> </a:t>
            </a:r>
            <a:br>
              <a:rPr lang="en-US" dirty="0"/>
            </a:br>
            <a:endParaRPr lang="en-IN" dirty="0"/>
          </a:p>
        </p:txBody>
      </p:sp>
    </p:spTree>
    <p:extLst>
      <p:ext uri="{BB962C8B-B14F-4D97-AF65-F5344CB8AC3E}">
        <p14:creationId xmlns:p14="http://schemas.microsoft.com/office/powerpoint/2010/main" val="1098209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 descr="phosphines-intro">
            <a:extLst>
              <a:ext uri="{FF2B5EF4-FFF2-40B4-BE49-F238E27FC236}">
                <a16:creationId xmlns:a16="http://schemas.microsoft.com/office/drawing/2014/main" id="{3CED2BA1-7B2B-4632-9FE3-E588888BB854}"/>
              </a:ext>
            </a:extLst>
          </p:cNvPr>
          <p:cNvPicPr>
            <a:picLocks noChangeAspect="1" noChangeArrowheads="1"/>
          </p:cNvPicPr>
          <p:nvPr/>
        </p:nvPicPr>
        <p:blipFill>
          <a:blip r:embed="rId2"/>
          <a:srcRect/>
          <a:stretch>
            <a:fillRect/>
          </a:stretch>
        </p:blipFill>
        <p:spPr bwMode="auto">
          <a:xfrm>
            <a:off x="2743201" y="990600"/>
            <a:ext cx="6354763" cy="3200400"/>
          </a:xfrm>
          <a:prstGeom prst="rect">
            <a:avLst/>
          </a:prstGeom>
          <a:noFill/>
          <a:ln w="38100">
            <a:solidFill>
              <a:schemeClr val="accent6"/>
            </a:solidFill>
            <a:miter lim="800000"/>
            <a:headEnd/>
            <a:tailEnd/>
          </a:ln>
        </p:spPr>
      </p:pic>
      <p:sp>
        <p:nvSpPr>
          <p:cNvPr id="16387" name="TextBox 6">
            <a:extLst>
              <a:ext uri="{FF2B5EF4-FFF2-40B4-BE49-F238E27FC236}">
                <a16:creationId xmlns:a16="http://schemas.microsoft.com/office/drawing/2014/main" id="{E7D3A383-2D5A-4302-9E4A-D8381DC2245C}"/>
              </a:ext>
            </a:extLst>
          </p:cNvPr>
          <p:cNvSpPr txBox="1">
            <a:spLocks noChangeArrowheads="1"/>
          </p:cNvSpPr>
          <p:nvPr/>
        </p:nvSpPr>
        <p:spPr bwMode="auto">
          <a:xfrm>
            <a:off x="2743200" y="4572000"/>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alibri" panose="020F0502020204030204" pitchFamily="34" charset="0"/>
              </a:rPr>
              <a:t>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3">
            <a:extLst>
              <a:ext uri="{FF2B5EF4-FFF2-40B4-BE49-F238E27FC236}">
                <a16:creationId xmlns:a16="http://schemas.microsoft.com/office/drawing/2014/main" id="{A438C64E-3CCE-44F6-A8EA-30B69E038BD1}"/>
              </a:ext>
            </a:extLst>
          </p:cNvPr>
          <p:cNvGraphicFramePr>
            <a:graphicFrameLocks noChangeAspect="1"/>
          </p:cNvGraphicFramePr>
          <p:nvPr/>
        </p:nvGraphicFramePr>
        <p:xfrm>
          <a:off x="2057400" y="938213"/>
          <a:ext cx="7315200" cy="5713412"/>
        </p:xfrm>
        <a:graphic>
          <a:graphicData uri="http://schemas.openxmlformats.org/presentationml/2006/ole">
            <mc:AlternateContent xmlns:mc="http://schemas.openxmlformats.org/markup-compatibility/2006">
              <mc:Choice xmlns:v="urn:schemas-microsoft-com:vml" Requires="v">
                <p:oleObj name="CS ChemDraw Drawing" r:id="rId2" imgW="6044400" imgH="4721760" progId="ChemDraw.Document.6.0">
                  <p:embed/>
                </p:oleObj>
              </mc:Choice>
              <mc:Fallback>
                <p:oleObj name="CS ChemDraw Drawing" r:id="rId2" imgW="6044400" imgH="4721760" progId="ChemDraw.Document.6.0">
                  <p:embed/>
                  <p:pic>
                    <p:nvPicPr>
                      <p:cNvPr id="2050" name="Object 3">
                        <a:extLst>
                          <a:ext uri="{FF2B5EF4-FFF2-40B4-BE49-F238E27FC236}">
                            <a16:creationId xmlns:a16="http://schemas.microsoft.com/office/drawing/2014/main" id="{A438C64E-3CCE-44F6-A8EA-30B69E038B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938213"/>
                        <a:ext cx="7315200" cy="571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1" name="Text Box 5">
            <a:extLst>
              <a:ext uri="{FF2B5EF4-FFF2-40B4-BE49-F238E27FC236}">
                <a16:creationId xmlns:a16="http://schemas.microsoft.com/office/drawing/2014/main" id="{5788CC37-60FC-4C91-A86C-A3198A5FA580}"/>
              </a:ext>
            </a:extLst>
          </p:cNvPr>
          <p:cNvSpPr txBox="1">
            <a:spLocks noChangeArrowheads="1"/>
          </p:cNvSpPr>
          <p:nvPr/>
        </p:nvSpPr>
        <p:spPr bwMode="auto">
          <a:xfrm>
            <a:off x="1752600" y="152400"/>
            <a:ext cx="784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1">
                <a:solidFill>
                  <a:srgbClr val="101CBC"/>
                </a:solidFill>
                <a:latin typeface="Calibri" panose="020F0502020204030204" pitchFamily="34" charset="0"/>
              </a:rPr>
              <a:t>Key Players in the field: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0A9156-3E91-4288-B7D7-93E92E1841B8}"/>
              </a:ext>
            </a:extLst>
          </p:cNvPr>
          <p:cNvPicPr>
            <a:picLocks noChangeAspect="1"/>
          </p:cNvPicPr>
          <p:nvPr/>
        </p:nvPicPr>
        <p:blipFill>
          <a:blip r:embed="rId2"/>
          <a:stretch>
            <a:fillRect/>
          </a:stretch>
        </p:blipFill>
        <p:spPr>
          <a:xfrm>
            <a:off x="0" y="2495549"/>
            <a:ext cx="12383792" cy="933451"/>
          </a:xfrm>
          <a:prstGeom prst="rect">
            <a:avLst/>
          </a:prstGeom>
        </p:spPr>
      </p:pic>
      <p:sp>
        <p:nvSpPr>
          <p:cNvPr id="4" name="TextBox 3">
            <a:extLst>
              <a:ext uri="{FF2B5EF4-FFF2-40B4-BE49-F238E27FC236}">
                <a16:creationId xmlns:a16="http://schemas.microsoft.com/office/drawing/2014/main" id="{C338C2A7-E568-40F4-A392-CA04730E8FBF}"/>
              </a:ext>
            </a:extLst>
          </p:cNvPr>
          <p:cNvSpPr txBox="1"/>
          <p:nvPr/>
        </p:nvSpPr>
        <p:spPr>
          <a:xfrm>
            <a:off x="3114675" y="4104412"/>
            <a:ext cx="6096000" cy="1754326"/>
          </a:xfrm>
          <a:prstGeom prst="rect">
            <a:avLst/>
          </a:prstGeom>
          <a:noFill/>
        </p:spPr>
        <p:txBody>
          <a:bodyPr wrap="square">
            <a:spAutoFit/>
          </a:bodyPr>
          <a:lstStyle/>
          <a:p>
            <a:r>
              <a:rPr lang="en-US" sz="1800" b="0" i="0" dirty="0">
                <a:solidFill>
                  <a:srgbClr val="000000"/>
                </a:solidFill>
                <a:effectLst/>
                <a:latin typeface="LiberationSerif"/>
              </a:rPr>
              <a:t>This complex was first prepared by </a:t>
            </a:r>
            <a:r>
              <a:rPr lang="en-US" sz="1800" b="0" i="1" dirty="0" err="1">
                <a:solidFill>
                  <a:srgbClr val="000000"/>
                </a:solidFill>
                <a:effectLst/>
                <a:latin typeface="LiberationSerif-Italic"/>
              </a:rPr>
              <a:t>Zeise</a:t>
            </a:r>
            <a:r>
              <a:rPr lang="en-US" sz="1800" b="0" i="1" dirty="0">
                <a:solidFill>
                  <a:srgbClr val="000000"/>
                </a:solidFill>
                <a:effectLst/>
                <a:latin typeface="LiberationSerif-Italic"/>
              </a:rPr>
              <a:t> </a:t>
            </a:r>
            <a:r>
              <a:rPr lang="en-US" sz="1800" b="0" i="0" dirty="0">
                <a:solidFill>
                  <a:srgbClr val="000000"/>
                </a:solidFill>
                <a:effectLst/>
                <a:latin typeface="LiberationSerif"/>
              </a:rPr>
              <a:t>in 1827 by boiling PtCl</a:t>
            </a:r>
            <a:r>
              <a:rPr lang="en-US" sz="1200" b="0" i="0" dirty="0">
                <a:solidFill>
                  <a:srgbClr val="000000"/>
                </a:solidFill>
                <a:effectLst/>
                <a:latin typeface="LiberationSerif"/>
              </a:rPr>
              <a:t>4 </a:t>
            </a:r>
            <a:r>
              <a:rPr lang="en-US" sz="1800" b="0" i="0" dirty="0">
                <a:solidFill>
                  <a:srgbClr val="000000"/>
                </a:solidFill>
                <a:effectLst/>
                <a:latin typeface="LiberationSerif"/>
              </a:rPr>
              <a:t>in ethanol. The first preparation from</a:t>
            </a:r>
            <a:br>
              <a:rPr lang="en-US" sz="1800" b="0" i="0" dirty="0">
                <a:solidFill>
                  <a:srgbClr val="000000"/>
                </a:solidFill>
                <a:effectLst/>
                <a:latin typeface="LiberationSerif"/>
              </a:rPr>
            </a:br>
            <a:r>
              <a:rPr lang="en-US" sz="1800" b="0" i="0" dirty="0">
                <a:solidFill>
                  <a:srgbClr val="000000"/>
                </a:solidFill>
                <a:effectLst/>
                <a:latin typeface="LiberationSerif"/>
              </a:rPr>
              <a:t>ethylene was described by </a:t>
            </a:r>
            <a:r>
              <a:rPr lang="en-US" sz="1800" b="0" i="1" dirty="0">
                <a:solidFill>
                  <a:srgbClr val="000000"/>
                </a:solidFill>
                <a:effectLst/>
                <a:latin typeface="LiberationSerif-Italic"/>
              </a:rPr>
              <a:t>Birnbaum </a:t>
            </a:r>
            <a:r>
              <a:rPr lang="en-US" sz="1800" b="0" i="0" dirty="0">
                <a:solidFill>
                  <a:srgbClr val="000000"/>
                </a:solidFill>
                <a:effectLst/>
                <a:latin typeface="LiberationSerif"/>
              </a:rPr>
              <a:t>(1868). With SnCl</a:t>
            </a:r>
            <a:r>
              <a:rPr lang="en-US" sz="1200" b="0" i="0" dirty="0">
                <a:solidFill>
                  <a:srgbClr val="000000"/>
                </a:solidFill>
                <a:effectLst/>
                <a:latin typeface="LiberationSerif"/>
              </a:rPr>
              <a:t>2 </a:t>
            </a:r>
            <a:r>
              <a:rPr lang="en-US" sz="1800" b="0" i="0" dirty="0">
                <a:solidFill>
                  <a:srgbClr val="000000"/>
                </a:solidFill>
                <a:effectLst/>
                <a:latin typeface="LiberationSerif"/>
              </a:rPr>
              <a:t>as a catalyst, this reaction proceeds in a few</a:t>
            </a:r>
            <a:br>
              <a:rPr lang="en-US" sz="1800" b="0" i="0" dirty="0">
                <a:solidFill>
                  <a:srgbClr val="000000"/>
                </a:solidFill>
                <a:effectLst/>
                <a:latin typeface="LiberationSerif"/>
              </a:rPr>
            </a:br>
            <a:r>
              <a:rPr lang="en-US" sz="1800" b="0" i="0" dirty="0">
                <a:solidFill>
                  <a:srgbClr val="000000"/>
                </a:solidFill>
                <a:effectLst/>
                <a:latin typeface="LiberationSerif"/>
              </a:rPr>
              <a:t>hours at 1 bar C2H4 pressure.</a:t>
            </a:r>
            <a:r>
              <a:rPr lang="en-US" dirty="0"/>
              <a:t> </a:t>
            </a:r>
            <a:br>
              <a:rPr lang="en-US" dirty="0"/>
            </a:br>
            <a:endParaRPr lang="en-IN" dirty="0"/>
          </a:p>
        </p:txBody>
      </p:sp>
      <p:sp>
        <p:nvSpPr>
          <p:cNvPr id="5" name="TextBox 4">
            <a:extLst>
              <a:ext uri="{FF2B5EF4-FFF2-40B4-BE49-F238E27FC236}">
                <a16:creationId xmlns:a16="http://schemas.microsoft.com/office/drawing/2014/main" id="{6E16F473-350A-46FC-BEF2-D3BF637F87D8}"/>
              </a:ext>
            </a:extLst>
          </p:cNvPr>
          <p:cNvSpPr txBox="1"/>
          <p:nvPr/>
        </p:nvSpPr>
        <p:spPr>
          <a:xfrm>
            <a:off x="3695700" y="952500"/>
            <a:ext cx="5448300" cy="646331"/>
          </a:xfrm>
          <a:prstGeom prst="rect">
            <a:avLst/>
          </a:prstGeom>
          <a:noFill/>
        </p:spPr>
        <p:txBody>
          <a:bodyPr wrap="square" rtlCol="0">
            <a:spAutoFit/>
          </a:bodyPr>
          <a:lstStyle/>
          <a:p>
            <a:r>
              <a:rPr lang="en-IN" sz="3600" dirty="0"/>
              <a:t>Metal-Olefin Bonding</a:t>
            </a:r>
          </a:p>
        </p:txBody>
      </p:sp>
    </p:spTree>
    <p:extLst>
      <p:ext uri="{BB962C8B-B14F-4D97-AF65-F5344CB8AC3E}">
        <p14:creationId xmlns:p14="http://schemas.microsoft.com/office/powerpoint/2010/main" val="154851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00F567-3201-4A00-857A-D07AF2280134}"/>
              </a:ext>
            </a:extLst>
          </p:cNvPr>
          <p:cNvPicPr>
            <a:picLocks noChangeAspect="1"/>
          </p:cNvPicPr>
          <p:nvPr/>
        </p:nvPicPr>
        <p:blipFill>
          <a:blip r:embed="rId2"/>
          <a:stretch>
            <a:fillRect/>
          </a:stretch>
        </p:blipFill>
        <p:spPr>
          <a:xfrm>
            <a:off x="2481262" y="985837"/>
            <a:ext cx="7229475" cy="4886325"/>
          </a:xfrm>
          <a:prstGeom prst="rect">
            <a:avLst/>
          </a:prstGeom>
        </p:spPr>
      </p:pic>
    </p:spTree>
    <p:extLst>
      <p:ext uri="{BB962C8B-B14F-4D97-AF65-F5344CB8AC3E}">
        <p14:creationId xmlns:p14="http://schemas.microsoft.com/office/powerpoint/2010/main" val="4048350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1F5110-EA0E-4A32-954C-8EFCEBD918BC}"/>
              </a:ext>
            </a:extLst>
          </p:cNvPr>
          <p:cNvSpPr txBox="1"/>
          <p:nvPr/>
        </p:nvSpPr>
        <p:spPr>
          <a:xfrm>
            <a:off x="3048000" y="2638425"/>
            <a:ext cx="6096000" cy="2031325"/>
          </a:xfrm>
          <a:prstGeom prst="rect">
            <a:avLst/>
          </a:prstGeom>
          <a:noFill/>
        </p:spPr>
        <p:txBody>
          <a:bodyPr wrap="square">
            <a:spAutoFit/>
          </a:bodyPr>
          <a:lstStyle/>
          <a:p>
            <a:r>
              <a:rPr lang="en-US" sz="1800" b="0" i="0" dirty="0">
                <a:solidFill>
                  <a:srgbClr val="000000"/>
                </a:solidFill>
                <a:effectLst/>
                <a:latin typeface="LiberationSerif"/>
              </a:rPr>
              <a:t>The coordination of a </a:t>
            </a:r>
            <a:r>
              <a:rPr lang="en-US" sz="1800" b="0" i="0" dirty="0" err="1">
                <a:solidFill>
                  <a:srgbClr val="000000"/>
                </a:solidFill>
                <a:effectLst/>
                <a:latin typeface="LiberationSerif"/>
              </a:rPr>
              <a:t>monoolefin</a:t>
            </a:r>
            <a:r>
              <a:rPr lang="en-US" sz="1800" b="0" i="0" dirty="0">
                <a:solidFill>
                  <a:srgbClr val="000000"/>
                </a:solidFill>
                <a:effectLst/>
                <a:latin typeface="LiberationSerif"/>
              </a:rPr>
              <a:t> to a transition metal is the simplest example of a metal π complex. The</a:t>
            </a:r>
            <a:br>
              <a:rPr lang="en-US" sz="1800" b="0" i="0" dirty="0">
                <a:solidFill>
                  <a:srgbClr val="000000"/>
                </a:solidFill>
                <a:effectLst/>
                <a:latin typeface="LiberationSerif"/>
              </a:rPr>
            </a:br>
            <a:r>
              <a:rPr lang="en-US" sz="1800" b="0" i="0" dirty="0">
                <a:solidFill>
                  <a:srgbClr val="000000"/>
                </a:solidFill>
                <a:effectLst/>
                <a:latin typeface="LiberationSerif"/>
              </a:rPr>
              <a:t>qualitative bonding description by means of the DCD model (</a:t>
            </a:r>
            <a:r>
              <a:rPr lang="en-US" sz="1800" b="0" i="1" dirty="0">
                <a:solidFill>
                  <a:srgbClr val="000000"/>
                </a:solidFill>
                <a:effectLst/>
                <a:latin typeface="LiberationSerif-Italic"/>
              </a:rPr>
              <a:t>Dewar, </a:t>
            </a:r>
            <a:r>
              <a:rPr lang="en-US" sz="1800" b="0" i="1" dirty="0" err="1">
                <a:solidFill>
                  <a:srgbClr val="000000"/>
                </a:solidFill>
                <a:effectLst/>
                <a:latin typeface="LiberationSerif-Italic"/>
              </a:rPr>
              <a:t>Chatt</a:t>
            </a:r>
            <a:r>
              <a:rPr lang="en-US" sz="1800" b="0" i="1" dirty="0">
                <a:solidFill>
                  <a:srgbClr val="000000"/>
                </a:solidFill>
                <a:effectLst/>
                <a:latin typeface="LiberationSerif-Italic"/>
              </a:rPr>
              <a:t>, Duncanson, </a:t>
            </a:r>
            <a:r>
              <a:rPr lang="en-US" sz="1800" b="0" i="0" dirty="0">
                <a:solidFill>
                  <a:srgbClr val="000000"/>
                </a:solidFill>
                <a:effectLst/>
                <a:latin typeface="LiberationSerif"/>
              </a:rPr>
              <a:t>1953) is similar</a:t>
            </a:r>
            <a:br>
              <a:rPr lang="en-US" sz="1800" b="0" i="0" dirty="0">
                <a:solidFill>
                  <a:srgbClr val="000000"/>
                </a:solidFill>
                <a:effectLst/>
                <a:latin typeface="LiberationSerif"/>
              </a:rPr>
            </a:br>
            <a:r>
              <a:rPr lang="en-US" sz="1800" b="0" i="0" dirty="0">
                <a:solidFill>
                  <a:srgbClr val="000000"/>
                </a:solidFill>
                <a:effectLst/>
                <a:latin typeface="LiberationSerif"/>
              </a:rPr>
              <a:t>to that for the M–CO moiety as far as the donor/acceptor synergism is concerned.</a:t>
            </a:r>
            <a:r>
              <a:rPr lang="en-US" dirty="0"/>
              <a:t> </a:t>
            </a:r>
            <a:br>
              <a:rPr lang="en-US" dirty="0"/>
            </a:br>
            <a:endParaRPr lang="en-IN" dirty="0"/>
          </a:p>
        </p:txBody>
      </p:sp>
      <p:pic>
        <p:nvPicPr>
          <p:cNvPr id="5" name="Picture 4">
            <a:extLst>
              <a:ext uri="{FF2B5EF4-FFF2-40B4-BE49-F238E27FC236}">
                <a16:creationId xmlns:a16="http://schemas.microsoft.com/office/drawing/2014/main" id="{596D7A73-A343-4F55-90DB-FCBFE52CC0F3}"/>
              </a:ext>
            </a:extLst>
          </p:cNvPr>
          <p:cNvPicPr>
            <a:picLocks noChangeAspect="1"/>
          </p:cNvPicPr>
          <p:nvPr/>
        </p:nvPicPr>
        <p:blipFill>
          <a:blip r:embed="rId2"/>
          <a:stretch>
            <a:fillRect/>
          </a:stretch>
        </p:blipFill>
        <p:spPr>
          <a:xfrm>
            <a:off x="2938462" y="1628775"/>
            <a:ext cx="6315075" cy="3600450"/>
          </a:xfrm>
          <a:prstGeom prst="rect">
            <a:avLst/>
          </a:prstGeom>
        </p:spPr>
      </p:pic>
    </p:spTree>
    <p:extLst>
      <p:ext uri="{BB962C8B-B14F-4D97-AF65-F5344CB8AC3E}">
        <p14:creationId xmlns:p14="http://schemas.microsoft.com/office/powerpoint/2010/main" val="2448386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Bonding in alkenes">
            <a:extLst>
              <a:ext uri="{FF2B5EF4-FFF2-40B4-BE49-F238E27FC236}">
                <a16:creationId xmlns:a16="http://schemas.microsoft.com/office/drawing/2014/main" id="{979588D0-2CF4-4B03-9419-E5B8C13AA0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6944" y="910727"/>
            <a:ext cx="3981450" cy="5572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6078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42D5A18-B5B7-4DC1-BBC5-4F72D8F08343}"/>
              </a:ext>
            </a:extLst>
          </p:cNvPr>
          <p:cNvPicPr>
            <a:picLocks noChangeAspect="1"/>
          </p:cNvPicPr>
          <p:nvPr/>
        </p:nvPicPr>
        <p:blipFill>
          <a:blip r:embed="rId2"/>
          <a:stretch>
            <a:fillRect/>
          </a:stretch>
        </p:blipFill>
        <p:spPr>
          <a:xfrm>
            <a:off x="2847975" y="2381249"/>
            <a:ext cx="4860880" cy="2447925"/>
          </a:xfrm>
          <a:prstGeom prst="rect">
            <a:avLst/>
          </a:prstGeom>
        </p:spPr>
      </p:pic>
    </p:spTree>
    <p:extLst>
      <p:ext uri="{BB962C8B-B14F-4D97-AF65-F5344CB8AC3E}">
        <p14:creationId xmlns:p14="http://schemas.microsoft.com/office/powerpoint/2010/main" val="3152788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a:extLst>
              <a:ext uri="{FF2B5EF4-FFF2-40B4-BE49-F238E27FC236}">
                <a16:creationId xmlns:a16="http://schemas.microsoft.com/office/drawing/2014/main" id="{99C5B742-4CC9-B5A9-1658-3CE57E833A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50" y="-6721475"/>
            <a:ext cx="6032500" cy="1968500"/>
          </a:xfrm>
          <a:prstGeom prst="rect">
            <a:avLst/>
          </a:prstGeom>
          <a:noFill/>
          <a:extLst>
            <a:ext uri="{909E8E84-426E-40DD-AFC4-6F175D3DCCD1}">
              <a14:hiddenFill xmlns:a14="http://schemas.microsoft.com/office/drawing/2010/main">
                <a:solidFill>
                  <a:srgbClr val="FFFFFF"/>
                </a:solidFill>
              </a14:hiddenFill>
            </a:ext>
          </a:extLst>
        </p:spPr>
      </p:pic>
      <p:pic>
        <p:nvPicPr>
          <p:cNvPr id="3079" name="Picture 7">
            <a:extLst>
              <a:ext uri="{FF2B5EF4-FFF2-40B4-BE49-F238E27FC236}">
                <a16:creationId xmlns:a16="http://schemas.microsoft.com/office/drawing/2014/main" id="{BF37D1AF-56CE-5396-9BC7-6E0D702E6F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2878" y="363953"/>
            <a:ext cx="6057900" cy="568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316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11ED45-19B0-4254-B5E5-A996E23E0B45}"/>
              </a:ext>
            </a:extLst>
          </p:cNvPr>
          <p:cNvSpPr txBox="1"/>
          <p:nvPr/>
        </p:nvSpPr>
        <p:spPr>
          <a:xfrm>
            <a:off x="3048000" y="1997839"/>
            <a:ext cx="6096000" cy="2862322"/>
          </a:xfrm>
          <a:prstGeom prst="rect">
            <a:avLst/>
          </a:prstGeom>
          <a:noFill/>
        </p:spPr>
        <p:txBody>
          <a:bodyPr wrap="square">
            <a:spAutoFit/>
          </a:bodyPr>
          <a:lstStyle/>
          <a:p>
            <a:r>
              <a:rPr lang="en-US" sz="1800" b="0" i="0" dirty="0">
                <a:solidFill>
                  <a:srgbClr val="000000"/>
                </a:solidFill>
                <a:effectLst/>
                <a:latin typeface="LiberationSerif"/>
              </a:rPr>
              <a:t>It is generally accepted that the energy of the TM–olefin bond is dominated by the </a:t>
            </a:r>
            <a:r>
              <a:rPr lang="en-US" sz="1800" b="0" i="0" dirty="0" err="1">
                <a:solidFill>
                  <a:srgbClr val="000000"/>
                </a:solidFill>
                <a:effectLst/>
                <a:latin typeface="LiberationSerif"/>
              </a:rPr>
              <a:t>backbonding</a:t>
            </a:r>
            <a:br>
              <a:rPr lang="en-US" sz="1800" b="0" i="0" dirty="0">
                <a:solidFill>
                  <a:srgbClr val="000000"/>
                </a:solidFill>
                <a:effectLst/>
                <a:latin typeface="LiberationSerif"/>
              </a:rPr>
            </a:br>
            <a:r>
              <a:rPr lang="en-US" sz="1800" b="0" i="0" dirty="0">
                <a:solidFill>
                  <a:srgbClr val="000000"/>
                </a:solidFill>
                <a:effectLst/>
                <a:latin typeface="LiberationSerif"/>
              </a:rPr>
              <a:t>contribution (cf. </a:t>
            </a:r>
            <a:r>
              <a:rPr lang="en-US" sz="1800" b="0" i="1" dirty="0" err="1">
                <a:solidFill>
                  <a:srgbClr val="000000"/>
                </a:solidFill>
                <a:effectLst/>
                <a:latin typeface="LiberationSerif-Italic"/>
              </a:rPr>
              <a:t>Frenking</a:t>
            </a:r>
            <a:r>
              <a:rPr lang="en-US" sz="1800" b="0" i="1" dirty="0">
                <a:solidFill>
                  <a:srgbClr val="000000"/>
                </a:solidFill>
                <a:effectLst/>
                <a:latin typeface="LiberationSerif-Italic"/>
              </a:rPr>
              <a:t>, </a:t>
            </a:r>
            <a:r>
              <a:rPr lang="en-US" sz="1800" b="0" i="0" dirty="0">
                <a:solidFill>
                  <a:srgbClr val="000000"/>
                </a:solidFill>
                <a:effectLst/>
                <a:latin typeface="LiberationSerif"/>
              </a:rPr>
              <a:t>2000).</a:t>
            </a:r>
            <a:br>
              <a:rPr lang="en-US" sz="1800" b="0" i="0" dirty="0">
                <a:solidFill>
                  <a:srgbClr val="000000"/>
                </a:solidFill>
                <a:effectLst/>
                <a:latin typeface="LiberationSerif"/>
              </a:rPr>
            </a:br>
            <a:r>
              <a:rPr lang="en-US" sz="1800" b="0" i="0" dirty="0">
                <a:solidFill>
                  <a:srgbClr val="000000"/>
                </a:solidFill>
                <a:effectLst/>
                <a:latin typeface="LiberationSerif"/>
              </a:rPr>
              <a:t>Both the olefin donor and the olefin acceptor contribution of the interaction serve to weaken the</a:t>
            </a:r>
            <a:br>
              <a:rPr lang="en-US" sz="1800" b="0" i="0" dirty="0">
                <a:solidFill>
                  <a:srgbClr val="000000"/>
                </a:solidFill>
                <a:effectLst/>
                <a:latin typeface="LiberationSerif"/>
              </a:rPr>
            </a:br>
            <a:r>
              <a:rPr lang="en-US" sz="1800" b="0" i="0" dirty="0" err="1">
                <a:solidFill>
                  <a:srgbClr val="000000"/>
                </a:solidFill>
                <a:effectLst/>
                <a:latin typeface="LiberationSerif"/>
              </a:rPr>
              <a:t>intraligand</a:t>
            </a:r>
            <a:r>
              <a:rPr lang="en-US" sz="1800" b="0" i="0" dirty="0">
                <a:solidFill>
                  <a:srgbClr val="000000"/>
                </a:solidFill>
                <a:effectLst/>
                <a:latin typeface="LiberationSerif"/>
              </a:rPr>
              <a:t> ( ) bond. In principle, this is evident from the interaction diagram and is also clear from a</a:t>
            </a:r>
            <a:br>
              <a:rPr lang="en-US" sz="1800" b="0" i="0" dirty="0">
                <a:solidFill>
                  <a:srgbClr val="000000"/>
                </a:solidFill>
                <a:effectLst/>
                <a:latin typeface="LiberationSerif"/>
              </a:rPr>
            </a:br>
            <a:r>
              <a:rPr lang="en-US" sz="1800" b="0" i="0" dirty="0">
                <a:solidFill>
                  <a:srgbClr val="000000"/>
                </a:solidFill>
                <a:effectLst/>
                <a:latin typeface="LiberationSerif"/>
              </a:rPr>
              <a:t>comparison of the </a:t>
            </a:r>
            <a:r>
              <a:rPr lang="en-US" sz="1200" b="0" i="0" dirty="0">
                <a:solidFill>
                  <a:srgbClr val="000000"/>
                </a:solidFill>
                <a:effectLst/>
                <a:latin typeface="LiberationSerif"/>
              </a:rPr>
              <a:t>C=C </a:t>
            </a:r>
            <a:r>
              <a:rPr lang="en-US" sz="1800" b="0" i="0" dirty="0">
                <a:solidFill>
                  <a:srgbClr val="000000"/>
                </a:solidFill>
                <a:effectLst/>
                <a:latin typeface="LiberationSerif"/>
              </a:rPr>
              <a:t>stretching frequencies of free and coordinated ethylene:</a:t>
            </a:r>
            <a:r>
              <a:rPr lang="en-US" dirty="0"/>
              <a:t> </a:t>
            </a:r>
            <a:br>
              <a:rPr lang="en-US" dirty="0"/>
            </a:br>
            <a:endParaRPr lang="en-IN" dirty="0"/>
          </a:p>
        </p:txBody>
      </p:sp>
    </p:spTree>
    <p:extLst>
      <p:ext uri="{BB962C8B-B14F-4D97-AF65-F5344CB8AC3E}">
        <p14:creationId xmlns:p14="http://schemas.microsoft.com/office/powerpoint/2010/main" val="2993414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524BF84-92EB-4117-A42E-8D737AC001D6}"/>
              </a:ext>
            </a:extLst>
          </p:cNvPr>
          <p:cNvGraphicFramePr>
            <a:graphicFrameLocks noGrp="1"/>
          </p:cNvGraphicFramePr>
          <p:nvPr>
            <p:extLst>
              <p:ext uri="{D42A27DB-BD31-4B8C-83A1-F6EECF244321}">
                <p14:modId xmlns:p14="http://schemas.microsoft.com/office/powerpoint/2010/main" val="1676183523"/>
              </p:ext>
            </p:extLst>
          </p:nvPr>
        </p:nvGraphicFramePr>
        <p:xfrm>
          <a:off x="4486274" y="2271554"/>
          <a:ext cx="4714875" cy="2545080"/>
        </p:xfrm>
        <a:graphic>
          <a:graphicData uri="http://schemas.openxmlformats.org/drawingml/2006/table">
            <a:tbl>
              <a:tblPr/>
              <a:tblGrid>
                <a:gridCol w="1618123">
                  <a:extLst>
                    <a:ext uri="{9D8B030D-6E8A-4147-A177-3AD203B41FA5}">
                      <a16:colId xmlns:a16="http://schemas.microsoft.com/office/drawing/2014/main" val="2972130301"/>
                    </a:ext>
                  </a:extLst>
                </a:gridCol>
                <a:gridCol w="725365">
                  <a:extLst>
                    <a:ext uri="{9D8B030D-6E8A-4147-A177-3AD203B41FA5}">
                      <a16:colId xmlns:a16="http://schemas.microsoft.com/office/drawing/2014/main" val="4118387056"/>
                    </a:ext>
                  </a:extLst>
                </a:gridCol>
                <a:gridCol w="1636722">
                  <a:extLst>
                    <a:ext uri="{9D8B030D-6E8A-4147-A177-3AD203B41FA5}">
                      <a16:colId xmlns:a16="http://schemas.microsoft.com/office/drawing/2014/main" val="2347258566"/>
                    </a:ext>
                  </a:extLst>
                </a:gridCol>
                <a:gridCol w="734665">
                  <a:extLst>
                    <a:ext uri="{9D8B030D-6E8A-4147-A177-3AD203B41FA5}">
                      <a16:colId xmlns:a16="http://schemas.microsoft.com/office/drawing/2014/main" val="2787450401"/>
                    </a:ext>
                  </a:extLst>
                </a:gridCol>
              </a:tblGrid>
              <a:tr h="0">
                <a:tc>
                  <a:txBody>
                    <a:bodyPr/>
                    <a:lstStyle/>
                    <a:p>
                      <a:r>
                        <a:rPr lang="en-IN" sz="1500" b="1" i="0">
                          <a:solidFill>
                            <a:srgbClr val="000000"/>
                          </a:solidFill>
                          <a:effectLst/>
                          <a:latin typeface="LiberationSerif-Bold"/>
                        </a:rPr>
                        <a:t>Complex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100" b="1" i="0">
                          <a:solidFill>
                            <a:srgbClr val="000000"/>
                          </a:solidFill>
                          <a:effectLst/>
                          <a:latin typeface="LiberationSerif-Bold"/>
                        </a:rPr>
                        <a:t>c=c</a:t>
                      </a:r>
                      <a:r>
                        <a:rPr lang="en-IN" sz="1500" b="1" i="0">
                          <a:solidFill>
                            <a:srgbClr val="000000"/>
                          </a:solidFill>
                          <a:effectLst/>
                          <a:latin typeface="LiberationSerif-Bold"/>
                        </a:rPr>
                        <a:t>/cm</a:t>
                      </a:r>
                      <a:r>
                        <a:rPr lang="en-IN" sz="1100" b="1" i="0">
                          <a:solidFill>
                            <a:srgbClr val="000000"/>
                          </a:solidFill>
                          <a:effectLst/>
                          <a:latin typeface="LiberationSerif-Bold"/>
                        </a:rPr>
                        <a:t>–1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1" i="0">
                          <a:solidFill>
                            <a:srgbClr val="000000"/>
                          </a:solidFill>
                          <a:effectLst/>
                          <a:latin typeface="LiberationSerif-Bold"/>
                        </a:rPr>
                        <a:t>Complex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100" b="1" i="0">
                          <a:solidFill>
                            <a:srgbClr val="000000"/>
                          </a:solidFill>
                          <a:effectLst/>
                          <a:latin typeface="LiberationSerif-Bold"/>
                        </a:rPr>
                        <a:t>c=c</a:t>
                      </a:r>
                      <a:r>
                        <a:rPr lang="en-IN" sz="1500" b="1" i="0">
                          <a:solidFill>
                            <a:srgbClr val="000000"/>
                          </a:solidFill>
                          <a:effectLst/>
                          <a:latin typeface="LiberationSerif-Bold"/>
                        </a:rPr>
                        <a:t>/cm</a:t>
                      </a:r>
                      <a:r>
                        <a:rPr lang="en-IN" sz="1100" b="1" i="0">
                          <a:solidFill>
                            <a:srgbClr val="000000"/>
                          </a:solidFill>
                          <a:effectLst/>
                          <a:latin typeface="LiberationSerif-Bold"/>
                        </a:rPr>
                        <a:t>–1</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9892133"/>
                  </a:ext>
                </a:extLst>
              </a:tr>
              <a:tr h="0">
                <a:tc>
                  <a:txBody>
                    <a:bodyPr/>
                    <a:lstStyle/>
                    <a:p>
                      <a:r>
                        <a:rPr lang="en-IN" sz="1500" b="0" i="0">
                          <a:solidFill>
                            <a:srgbClr val="000000"/>
                          </a:solidFill>
                          <a:effectLst/>
                          <a:latin typeface="LiberationSerif"/>
                        </a:rPr>
                        <a:t>[(C</a:t>
                      </a:r>
                      <a:r>
                        <a:rPr lang="en-IN" sz="1100" b="0" i="0">
                          <a:solidFill>
                            <a:srgbClr val="000000"/>
                          </a:solidFill>
                          <a:effectLst/>
                          <a:latin typeface="LiberationSerif"/>
                        </a:rPr>
                        <a:t>2</a:t>
                      </a:r>
                      <a:r>
                        <a:rPr lang="en-IN" sz="1500" b="0" i="0">
                          <a:solidFill>
                            <a:srgbClr val="000000"/>
                          </a:solidFill>
                          <a:effectLst/>
                          <a:latin typeface="LiberationSerif"/>
                        </a:rPr>
                        <a:t>H</a:t>
                      </a:r>
                      <a:r>
                        <a:rPr lang="en-IN" sz="1100" b="0" i="0">
                          <a:solidFill>
                            <a:srgbClr val="000000"/>
                          </a:solidFill>
                          <a:effectLst/>
                          <a:latin typeface="LiberationSerif"/>
                        </a:rPr>
                        <a:t>4</a:t>
                      </a:r>
                      <a:r>
                        <a:rPr lang="en-IN" sz="1500" b="0" i="0">
                          <a:solidFill>
                            <a:srgbClr val="000000"/>
                          </a:solidFill>
                          <a:effectLst/>
                          <a:latin typeface="LiberationSerif"/>
                        </a:rPr>
                        <a:t>)</a:t>
                      </a:r>
                      <a:r>
                        <a:rPr lang="en-IN" sz="1100" b="0" i="0">
                          <a:solidFill>
                            <a:srgbClr val="000000"/>
                          </a:solidFill>
                          <a:effectLst/>
                          <a:latin typeface="LiberationSerif"/>
                        </a:rPr>
                        <a:t>2</a:t>
                      </a:r>
                      <a:r>
                        <a:rPr lang="en-IN" sz="1500" b="0" i="0">
                          <a:solidFill>
                            <a:srgbClr val="000000"/>
                          </a:solidFill>
                          <a:effectLst/>
                          <a:latin typeface="LiberationSerif"/>
                        </a:rPr>
                        <a:t>Ag]BF</a:t>
                      </a:r>
                      <a:r>
                        <a:rPr lang="en-IN" sz="1100" b="0" i="0">
                          <a:solidFill>
                            <a:srgbClr val="000000"/>
                          </a:solidFill>
                          <a:effectLst/>
                          <a:latin typeface="LiberationSerif"/>
                        </a:rPr>
                        <a:t>4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0" i="0">
                          <a:solidFill>
                            <a:srgbClr val="000000"/>
                          </a:solidFill>
                          <a:effectLst/>
                          <a:latin typeface="LiberationSerif"/>
                        </a:rPr>
                        <a:t>1584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0" i="0">
                          <a:solidFill>
                            <a:srgbClr val="000000"/>
                          </a:solidFill>
                          <a:effectLst/>
                          <a:latin typeface="LiberationSerif"/>
                        </a:rPr>
                        <a:t>(C</a:t>
                      </a:r>
                      <a:r>
                        <a:rPr lang="en-IN" sz="1100" b="0" i="0">
                          <a:solidFill>
                            <a:srgbClr val="000000"/>
                          </a:solidFill>
                          <a:effectLst/>
                          <a:latin typeface="LiberationSerif"/>
                        </a:rPr>
                        <a:t>2</a:t>
                      </a:r>
                      <a:r>
                        <a:rPr lang="en-IN" sz="1500" b="0" i="0">
                          <a:solidFill>
                            <a:srgbClr val="000000"/>
                          </a:solidFill>
                          <a:effectLst/>
                          <a:latin typeface="LiberationSerif"/>
                        </a:rPr>
                        <a:t>H</a:t>
                      </a:r>
                      <a:r>
                        <a:rPr lang="en-IN" sz="1100" b="0" i="0">
                          <a:solidFill>
                            <a:srgbClr val="000000"/>
                          </a:solidFill>
                          <a:effectLst/>
                          <a:latin typeface="LiberationSerif"/>
                        </a:rPr>
                        <a:t>4</a:t>
                      </a:r>
                      <a:r>
                        <a:rPr lang="en-IN" sz="1500" b="0" i="0">
                          <a:solidFill>
                            <a:srgbClr val="000000"/>
                          </a:solidFill>
                          <a:effectLst/>
                          <a:latin typeface="LiberationSerif"/>
                        </a:rPr>
                        <a:t>)Fe(CO)</a:t>
                      </a:r>
                      <a:r>
                        <a:rPr lang="en-IN" sz="1100" b="0" i="0">
                          <a:solidFill>
                            <a:srgbClr val="000000"/>
                          </a:solidFill>
                          <a:effectLst/>
                          <a:latin typeface="LiberationSerif"/>
                        </a:rPr>
                        <a:t>4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0" i="0">
                          <a:solidFill>
                            <a:srgbClr val="000000"/>
                          </a:solidFill>
                          <a:effectLst/>
                          <a:latin typeface="LiberationSerif"/>
                        </a:rPr>
                        <a:t>1551</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8436673"/>
                  </a:ext>
                </a:extLst>
              </a:tr>
              <a:tr h="0">
                <a:tc>
                  <a:txBody>
                    <a:bodyPr/>
                    <a:lstStyle/>
                    <a:p>
                      <a:r>
                        <a:rPr lang="en-IN" sz="1500" b="0" i="0">
                          <a:solidFill>
                            <a:srgbClr val="000000"/>
                          </a:solidFill>
                          <a:effectLst/>
                          <a:latin typeface="LiberationSerif"/>
                        </a:rPr>
                        <a:t>[(C</a:t>
                      </a:r>
                      <a:r>
                        <a:rPr lang="en-IN" sz="1100" b="0" i="0">
                          <a:solidFill>
                            <a:srgbClr val="000000"/>
                          </a:solidFill>
                          <a:effectLst/>
                          <a:latin typeface="LiberationSerif"/>
                        </a:rPr>
                        <a:t>2</a:t>
                      </a:r>
                      <a:r>
                        <a:rPr lang="en-IN" sz="1500" b="0" i="0">
                          <a:solidFill>
                            <a:srgbClr val="000000"/>
                          </a:solidFill>
                          <a:effectLst/>
                          <a:latin typeface="LiberationSerif"/>
                        </a:rPr>
                        <a:t>H</a:t>
                      </a:r>
                      <a:r>
                        <a:rPr lang="en-IN" sz="1100" b="0" i="0">
                          <a:solidFill>
                            <a:srgbClr val="000000"/>
                          </a:solidFill>
                          <a:effectLst/>
                          <a:latin typeface="LiberationSerif"/>
                        </a:rPr>
                        <a:t>4</a:t>
                      </a:r>
                      <a:r>
                        <a:rPr lang="en-IN" sz="1500" b="0" i="0">
                          <a:solidFill>
                            <a:srgbClr val="000000"/>
                          </a:solidFill>
                          <a:effectLst/>
                          <a:latin typeface="LiberationSerif"/>
                        </a:rPr>
                        <a:t>)</a:t>
                      </a:r>
                      <a:r>
                        <a:rPr lang="en-IN" sz="1100" b="0" i="0">
                          <a:solidFill>
                            <a:srgbClr val="000000"/>
                          </a:solidFill>
                          <a:effectLst/>
                          <a:latin typeface="LiberationSerif"/>
                        </a:rPr>
                        <a:t>2</a:t>
                      </a:r>
                      <a:r>
                        <a:rPr lang="en-IN" sz="1500" b="0" i="0">
                          <a:solidFill>
                            <a:srgbClr val="000000"/>
                          </a:solidFill>
                          <a:effectLst/>
                          <a:latin typeface="LiberationSerif"/>
                        </a:rPr>
                        <a:t>Re(CO)</a:t>
                      </a:r>
                      <a:r>
                        <a:rPr lang="en-IN" sz="1100" b="0" i="0">
                          <a:solidFill>
                            <a:srgbClr val="000000"/>
                          </a:solidFill>
                          <a:effectLst/>
                          <a:latin typeface="LiberationSerif"/>
                        </a:rPr>
                        <a:t>4</a:t>
                      </a:r>
                      <a:r>
                        <a:rPr lang="en-IN" sz="1500" b="0" i="0">
                          <a:solidFill>
                            <a:srgbClr val="000000"/>
                          </a:solidFill>
                          <a:effectLst/>
                          <a:latin typeface="LiberationSerif"/>
                        </a:rPr>
                        <a:t>]PF</a:t>
                      </a:r>
                      <a:r>
                        <a:rPr lang="en-IN" sz="1100" b="0" i="0">
                          <a:solidFill>
                            <a:srgbClr val="000000"/>
                          </a:solidFill>
                          <a:effectLst/>
                          <a:latin typeface="LiberationSerif"/>
                        </a:rPr>
                        <a:t>6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0" i="0">
                          <a:solidFill>
                            <a:srgbClr val="000000"/>
                          </a:solidFill>
                          <a:effectLst/>
                          <a:latin typeface="LiberationSerif"/>
                        </a:rPr>
                        <a:t>1539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0" i="0">
                          <a:solidFill>
                            <a:srgbClr val="000000"/>
                          </a:solidFill>
                          <a:effectLst/>
                          <a:latin typeface="LiberationSerif"/>
                        </a:rPr>
                        <a:t>[CpFe(CO)</a:t>
                      </a:r>
                      <a:r>
                        <a:rPr lang="en-IN" sz="1100" b="0" i="0">
                          <a:solidFill>
                            <a:srgbClr val="000000"/>
                          </a:solidFill>
                          <a:effectLst/>
                          <a:latin typeface="LiberationSerif"/>
                        </a:rPr>
                        <a:t>2</a:t>
                      </a:r>
                      <a:r>
                        <a:rPr lang="en-IN" sz="1500" b="0" i="0">
                          <a:solidFill>
                            <a:srgbClr val="000000"/>
                          </a:solidFill>
                          <a:effectLst/>
                          <a:latin typeface="LiberationSerif"/>
                        </a:rPr>
                        <a:t>C</a:t>
                      </a:r>
                      <a:r>
                        <a:rPr lang="en-IN" sz="1100" b="0" i="0">
                          <a:solidFill>
                            <a:srgbClr val="000000"/>
                          </a:solidFill>
                          <a:effectLst/>
                          <a:latin typeface="LiberationSerif"/>
                        </a:rPr>
                        <a:t>2</a:t>
                      </a:r>
                      <a:r>
                        <a:rPr lang="en-IN" sz="1500" b="0" i="0">
                          <a:solidFill>
                            <a:srgbClr val="000000"/>
                          </a:solidFill>
                          <a:effectLst/>
                          <a:latin typeface="LiberationSerif"/>
                        </a:rPr>
                        <a:t>H</a:t>
                      </a:r>
                      <a:r>
                        <a:rPr lang="en-IN" sz="1100" b="0" i="0">
                          <a:solidFill>
                            <a:srgbClr val="000000"/>
                          </a:solidFill>
                          <a:effectLst/>
                          <a:latin typeface="LiberationSerif"/>
                        </a:rPr>
                        <a:t>4</a:t>
                      </a:r>
                      <a:r>
                        <a:rPr lang="en-IN" sz="1500" b="0" i="0">
                          <a:solidFill>
                            <a:srgbClr val="000000"/>
                          </a:solidFill>
                          <a:effectLst/>
                          <a:latin typeface="LiberationSerif"/>
                        </a:rPr>
                        <a:t>]PF</a:t>
                      </a:r>
                      <a:r>
                        <a:rPr lang="en-IN" sz="1100" b="0" i="0">
                          <a:solidFill>
                            <a:srgbClr val="000000"/>
                          </a:solidFill>
                          <a:effectLst/>
                          <a:latin typeface="LiberationSerif"/>
                        </a:rPr>
                        <a:t>6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0" i="0" dirty="0">
                          <a:solidFill>
                            <a:srgbClr val="000000"/>
                          </a:solidFill>
                          <a:effectLst/>
                          <a:latin typeface="LiberationSerif"/>
                        </a:rPr>
                        <a:t>1527</a:t>
                      </a:r>
                      <a:endParaRPr lang="en-IN" dirty="0">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1896250"/>
                  </a:ext>
                </a:extLst>
              </a:tr>
              <a:tr h="0">
                <a:tc>
                  <a:txBody>
                    <a:bodyPr/>
                    <a:lstStyle/>
                    <a:p>
                      <a:r>
                        <a:rPr lang="en-IN" sz="1500" b="0" i="0">
                          <a:solidFill>
                            <a:srgbClr val="000000"/>
                          </a:solidFill>
                          <a:effectLst/>
                          <a:latin typeface="LiberationSerif"/>
                        </a:rPr>
                        <a:t>[C</a:t>
                      </a:r>
                      <a:r>
                        <a:rPr lang="en-IN" sz="1100" b="0" i="0">
                          <a:solidFill>
                            <a:srgbClr val="000000"/>
                          </a:solidFill>
                          <a:effectLst/>
                          <a:latin typeface="LiberationSerif"/>
                        </a:rPr>
                        <a:t>2</a:t>
                      </a:r>
                      <a:r>
                        <a:rPr lang="en-IN" sz="1500" b="0" i="0">
                          <a:solidFill>
                            <a:srgbClr val="000000"/>
                          </a:solidFill>
                          <a:effectLst/>
                          <a:latin typeface="LiberationSerif"/>
                        </a:rPr>
                        <a:t>H</a:t>
                      </a:r>
                      <a:r>
                        <a:rPr lang="en-IN" sz="1100" b="0" i="0">
                          <a:solidFill>
                            <a:srgbClr val="000000"/>
                          </a:solidFill>
                          <a:effectLst/>
                          <a:latin typeface="LiberationSerif"/>
                        </a:rPr>
                        <a:t>4</a:t>
                      </a:r>
                      <a:r>
                        <a:rPr lang="en-IN" sz="1500" b="0" i="0">
                          <a:solidFill>
                            <a:srgbClr val="000000"/>
                          </a:solidFill>
                          <a:effectLst/>
                          <a:latin typeface="LiberationSerif"/>
                        </a:rPr>
                        <a:t>PdCl</a:t>
                      </a:r>
                      <a:r>
                        <a:rPr lang="en-IN" sz="1100" b="0" i="0">
                          <a:solidFill>
                            <a:srgbClr val="000000"/>
                          </a:solidFill>
                          <a:effectLst/>
                          <a:latin typeface="LiberationSerif"/>
                        </a:rPr>
                        <a:t>2</a:t>
                      </a:r>
                      <a:r>
                        <a:rPr lang="en-IN" sz="1500" b="0" i="0">
                          <a:solidFill>
                            <a:srgbClr val="000000"/>
                          </a:solidFill>
                          <a:effectLst/>
                          <a:latin typeface="LiberationSerif"/>
                        </a:rPr>
                        <a:t>]</a:t>
                      </a:r>
                      <a:r>
                        <a:rPr lang="en-IN" sz="1100" b="0" i="0">
                          <a:solidFill>
                            <a:srgbClr val="000000"/>
                          </a:solidFill>
                          <a:effectLst/>
                          <a:latin typeface="LiberationSerif"/>
                        </a:rPr>
                        <a:t>2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0" i="0">
                          <a:solidFill>
                            <a:srgbClr val="000000"/>
                          </a:solidFill>
                          <a:effectLst/>
                          <a:latin typeface="LiberationSerif"/>
                        </a:rPr>
                        <a:t>1525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0" i="0">
                          <a:solidFill>
                            <a:srgbClr val="000000"/>
                          </a:solidFill>
                          <a:effectLst/>
                          <a:latin typeface="LiberationSerif"/>
                        </a:rPr>
                        <a:t>K[PtCl</a:t>
                      </a:r>
                      <a:r>
                        <a:rPr lang="en-IN" sz="1100" b="0" i="0">
                          <a:solidFill>
                            <a:srgbClr val="000000"/>
                          </a:solidFill>
                          <a:effectLst/>
                          <a:latin typeface="LiberationSerif"/>
                        </a:rPr>
                        <a:t>3</a:t>
                      </a:r>
                      <a:r>
                        <a:rPr lang="en-IN" sz="1500" b="0" i="0">
                          <a:solidFill>
                            <a:srgbClr val="000000"/>
                          </a:solidFill>
                          <a:effectLst/>
                          <a:latin typeface="LiberationSerif"/>
                        </a:rPr>
                        <a:t>(C</a:t>
                      </a:r>
                      <a:r>
                        <a:rPr lang="en-IN" sz="1100" b="0" i="0">
                          <a:solidFill>
                            <a:srgbClr val="000000"/>
                          </a:solidFill>
                          <a:effectLst/>
                          <a:latin typeface="LiberationSerif"/>
                        </a:rPr>
                        <a:t>2</a:t>
                      </a:r>
                      <a:r>
                        <a:rPr lang="en-IN" sz="1500" b="0" i="0">
                          <a:solidFill>
                            <a:srgbClr val="000000"/>
                          </a:solidFill>
                          <a:effectLst/>
                          <a:latin typeface="LiberationSerif"/>
                        </a:rPr>
                        <a:t>H</a:t>
                      </a:r>
                      <a:r>
                        <a:rPr lang="en-IN" sz="1100" b="0" i="0">
                          <a:solidFill>
                            <a:srgbClr val="000000"/>
                          </a:solidFill>
                          <a:effectLst/>
                          <a:latin typeface="LiberationSerif"/>
                        </a:rPr>
                        <a:t>4</a:t>
                      </a:r>
                      <a:r>
                        <a:rPr lang="en-IN" sz="1500" b="0" i="0">
                          <a:solidFill>
                            <a:srgbClr val="000000"/>
                          </a:solidFill>
                          <a:effectLst/>
                          <a:latin typeface="LiberationSerif"/>
                        </a:rPr>
                        <a:t>)] · H</a:t>
                      </a:r>
                      <a:r>
                        <a:rPr lang="en-IN" sz="1100" b="0" i="0">
                          <a:solidFill>
                            <a:srgbClr val="000000"/>
                          </a:solidFill>
                          <a:effectLst/>
                          <a:latin typeface="LiberationSerif"/>
                        </a:rPr>
                        <a:t>2</a:t>
                      </a:r>
                      <a:r>
                        <a:rPr lang="en-IN" sz="1500" b="0" i="0">
                          <a:solidFill>
                            <a:srgbClr val="000000"/>
                          </a:solidFill>
                          <a:effectLst/>
                          <a:latin typeface="LiberationSerif"/>
                        </a:rPr>
                        <a:t>O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0" i="0">
                          <a:solidFill>
                            <a:srgbClr val="000000"/>
                          </a:solidFill>
                          <a:effectLst/>
                          <a:latin typeface="LiberationSerif"/>
                        </a:rPr>
                        <a:t>1516</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7921935"/>
                  </a:ext>
                </a:extLst>
              </a:tr>
              <a:tr h="0">
                <a:tc>
                  <a:txBody>
                    <a:bodyPr/>
                    <a:lstStyle/>
                    <a:p>
                      <a:r>
                        <a:rPr lang="en-IN" sz="1500" b="0" i="0">
                          <a:solidFill>
                            <a:srgbClr val="000000"/>
                          </a:solidFill>
                          <a:effectLst/>
                          <a:latin typeface="LiberationSerif"/>
                        </a:rPr>
                        <a:t>CpMn(CO)</a:t>
                      </a:r>
                      <a:r>
                        <a:rPr lang="en-IN" sz="1100" b="0" i="0">
                          <a:solidFill>
                            <a:srgbClr val="000000"/>
                          </a:solidFill>
                          <a:effectLst/>
                          <a:latin typeface="LiberationSerif"/>
                        </a:rPr>
                        <a:t>2</a:t>
                      </a:r>
                      <a:r>
                        <a:rPr lang="en-IN" sz="1500" b="0" i="0">
                          <a:solidFill>
                            <a:srgbClr val="000000"/>
                          </a:solidFill>
                          <a:effectLst/>
                          <a:latin typeface="LiberationSerif"/>
                        </a:rPr>
                        <a:t>(C</a:t>
                      </a:r>
                      <a:r>
                        <a:rPr lang="en-IN" sz="1100" b="0" i="0">
                          <a:solidFill>
                            <a:srgbClr val="000000"/>
                          </a:solidFill>
                          <a:effectLst/>
                          <a:latin typeface="LiberationSerif"/>
                        </a:rPr>
                        <a:t>2</a:t>
                      </a:r>
                      <a:r>
                        <a:rPr lang="en-IN" sz="1500" b="0" i="0">
                          <a:solidFill>
                            <a:srgbClr val="000000"/>
                          </a:solidFill>
                          <a:effectLst/>
                          <a:latin typeface="LiberationSerif"/>
                        </a:rPr>
                        <a:t>H</a:t>
                      </a:r>
                      <a:r>
                        <a:rPr lang="en-IN" sz="1100" b="0" i="0">
                          <a:solidFill>
                            <a:srgbClr val="000000"/>
                          </a:solidFill>
                          <a:effectLst/>
                          <a:latin typeface="LiberationSerif"/>
                        </a:rPr>
                        <a:t>4</a:t>
                      </a:r>
                      <a:r>
                        <a:rPr lang="en-IN" sz="1500" b="0" i="0">
                          <a:solidFill>
                            <a:srgbClr val="000000"/>
                          </a:solidFill>
                          <a:effectLst/>
                          <a:latin typeface="LiberationSerif"/>
                        </a:rPr>
                        <a:t>)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0" i="0">
                          <a:solidFill>
                            <a:srgbClr val="000000"/>
                          </a:solidFill>
                          <a:effectLst/>
                          <a:latin typeface="LiberationSerif"/>
                        </a:rPr>
                        <a:t>1508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0" i="0">
                          <a:solidFill>
                            <a:srgbClr val="000000"/>
                          </a:solidFill>
                          <a:effectLst/>
                          <a:latin typeface="LiberationSerif"/>
                        </a:rPr>
                        <a:t>[C</a:t>
                      </a:r>
                      <a:r>
                        <a:rPr lang="en-IN" sz="1100" b="0" i="0">
                          <a:solidFill>
                            <a:srgbClr val="000000"/>
                          </a:solidFill>
                          <a:effectLst/>
                          <a:latin typeface="LiberationSerif"/>
                        </a:rPr>
                        <a:t>2</a:t>
                      </a:r>
                      <a:r>
                        <a:rPr lang="en-IN" sz="1500" b="0" i="0">
                          <a:solidFill>
                            <a:srgbClr val="000000"/>
                          </a:solidFill>
                          <a:effectLst/>
                          <a:latin typeface="LiberationSerif"/>
                        </a:rPr>
                        <a:t>H</a:t>
                      </a:r>
                      <a:r>
                        <a:rPr lang="en-IN" sz="1100" b="0" i="0">
                          <a:solidFill>
                            <a:srgbClr val="000000"/>
                          </a:solidFill>
                          <a:effectLst/>
                          <a:latin typeface="LiberationSerif"/>
                        </a:rPr>
                        <a:t>4</a:t>
                      </a:r>
                      <a:r>
                        <a:rPr lang="en-IN" sz="1500" b="0" i="0">
                          <a:solidFill>
                            <a:srgbClr val="000000"/>
                          </a:solidFill>
                          <a:effectLst/>
                          <a:latin typeface="LiberationSerif"/>
                        </a:rPr>
                        <a:t>PtCl</a:t>
                      </a:r>
                      <a:r>
                        <a:rPr lang="en-IN" sz="1100" b="0" i="0">
                          <a:solidFill>
                            <a:srgbClr val="000000"/>
                          </a:solidFill>
                          <a:effectLst/>
                          <a:latin typeface="LiberationSerif"/>
                        </a:rPr>
                        <a:t>2</a:t>
                      </a:r>
                      <a:r>
                        <a:rPr lang="en-IN" sz="1500" b="0" i="0">
                          <a:solidFill>
                            <a:srgbClr val="000000"/>
                          </a:solidFill>
                          <a:effectLst/>
                          <a:latin typeface="LiberationSerif"/>
                        </a:rPr>
                        <a:t>]</a:t>
                      </a:r>
                      <a:r>
                        <a:rPr lang="en-IN" sz="1100" b="0" i="0">
                          <a:solidFill>
                            <a:srgbClr val="000000"/>
                          </a:solidFill>
                          <a:effectLst/>
                          <a:latin typeface="LiberationSerif"/>
                        </a:rPr>
                        <a:t>2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0" i="0">
                          <a:solidFill>
                            <a:srgbClr val="000000"/>
                          </a:solidFill>
                          <a:effectLst/>
                          <a:latin typeface="LiberationSerif"/>
                        </a:rPr>
                        <a:t>1506</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1826936"/>
                  </a:ext>
                </a:extLst>
              </a:tr>
              <a:tr h="0">
                <a:tc>
                  <a:txBody>
                    <a:bodyPr/>
                    <a:lstStyle/>
                    <a:p>
                      <a:r>
                        <a:rPr lang="en-IN" sz="1500" b="0" i="0">
                          <a:solidFill>
                            <a:srgbClr val="000000"/>
                          </a:solidFill>
                          <a:effectLst/>
                          <a:latin typeface="LiberationSerif"/>
                        </a:rPr>
                        <a:t>CpRh(C</a:t>
                      </a:r>
                      <a:r>
                        <a:rPr lang="en-IN" sz="1100" b="0" i="0">
                          <a:solidFill>
                            <a:srgbClr val="000000"/>
                          </a:solidFill>
                          <a:effectLst/>
                          <a:latin typeface="LiberationSerif"/>
                        </a:rPr>
                        <a:t>2</a:t>
                      </a:r>
                      <a:r>
                        <a:rPr lang="en-IN" sz="1500" b="0" i="0">
                          <a:solidFill>
                            <a:srgbClr val="000000"/>
                          </a:solidFill>
                          <a:effectLst/>
                          <a:latin typeface="LiberationSerif"/>
                        </a:rPr>
                        <a:t>H</a:t>
                      </a:r>
                      <a:r>
                        <a:rPr lang="en-IN" sz="1100" b="0" i="0">
                          <a:solidFill>
                            <a:srgbClr val="000000"/>
                          </a:solidFill>
                          <a:effectLst/>
                          <a:latin typeface="LiberationSerif"/>
                        </a:rPr>
                        <a:t>4</a:t>
                      </a:r>
                      <a:r>
                        <a:rPr lang="en-IN" sz="1500" b="0" i="0">
                          <a:solidFill>
                            <a:srgbClr val="000000"/>
                          </a:solidFill>
                          <a:effectLst/>
                          <a:latin typeface="LiberationSerif"/>
                        </a:rPr>
                        <a:t>)</a:t>
                      </a:r>
                      <a:r>
                        <a:rPr lang="en-IN" sz="1100" b="0" i="0">
                          <a:solidFill>
                            <a:srgbClr val="000000"/>
                          </a:solidFill>
                          <a:effectLst/>
                          <a:latin typeface="LiberationSerif"/>
                        </a:rPr>
                        <a:t>2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0" i="0">
                          <a:solidFill>
                            <a:srgbClr val="000000"/>
                          </a:solidFill>
                          <a:effectLst/>
                          <a:latin typeface="LiberationSerif"/>
                        </a:rPr>
                        <a:t>1493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1" i="0">
                          <a:solidFill>
                            <a:srgbClr val="000000"/>
                          </a:solidFill>
                          <a:effectLst/>
                          <a:latin typeface="LiberationSerif-Bold"/>
                        </a:rPr>
                        <a:t>C</a:t>
                      </a:r>
                      <a:r>
                        <a:rPr lang="en-IN" sz="1100" b="1" i="0">
                          <a:solidFill>
                            <a:srgbClr val="000000"/>
                          </a:solidFill>
                          <a:effectLst/>
                          <a:latin typeface="LiberationSerif-Bold"/>
                        </a:rPr>
                        <a:t>2</a:t>
                      </a:r>
                      <a:r>
                        <a:rPr lang="en-IN" sz="1500" b="1" i="0">
                          <a:solidFill>
                            <a:srgbClr val="000000"/>
                          </a:solidFill>
                          <a:effectLst/>
                          <a:latin typeface="LiberationSerif-Bold"/>
                        </a:rPr>
                        <a:t>H</a:t>
                      </a:r>
                      <a:r>
                        <a:rPr lang="en-IN" sz="1100" b="1" i="0">
                          <a:solidFill>
                            <a:srgbClr val="000000"/>
                          </a:solidFill>
                          <a:effectLst/>
                          <a:latin typeface="LiberationSerif-Bold"/>
                        </a:rPr>
                        <a:t>4</a:t>
                      </a:r>
                      <a:r>
                        <a:rPr lang="en-IN" sz="1500" b="1" i="0">
                          <a:solidFill>
                            <a:srgbClr val="000000"/>
                          </a:solidFill>
                          <a:effectLst/>
                          <a:latin typeface="LiberationSerif-Bold"/>
                        </a:rPr>
                        <a:t>, free </a:t>
                      </a:r>
                      <a:endParaRPr lang="en-IN">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IN" sz="1500" b="1" i="0" dirty="0">
                          <a:solidFill>
                            <a:srgbClr val="000000"/>
                          </a:solidFill>
                          <a:effectLst/>
                          <a:latin typeface="LiberationSerif-Bold"/>
                        </a:rPr>
                        <a:t>1623</a:t>
                      </a:r>
                      <a:endParaRPr lang="en-IN" dirty="0">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3731362"/>
                  </a:ext>
                </a:extLst>
              </a:tr>
            </a:tbl>
          </a:graphicData>
        </a:graphic>
      </p:graphicFrame>
      <p:sp>
        <p:nvSpPr>
          <p:cNvPr id="3" name="Rectangle 1">
            <a:extLst>
              <a:ext uri="{FF2B5EF4-FFF2-40B4-BE49-F238E27FC236}">
                <a16:creationId xmlns:a16="http://schemas.microsoft.com/office/drawing/2014/main" id="{5A007556-FA86-4BA2-89E7-4C03DC073E5F}"/>
              </a:ext>
            </a:extLst>
          </p:cNvPr>
          <p:cNvSpPr>
            <a:spLocks noChangeArrowheads="1"/>
          </p:cNvSpPr>
          <p:nvPr/>
        </p:nvSpPr>
        <p:spPr bwMode="auto">
          <a:xfrm>
            <a:off x="4486275" y="22717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22932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37B498-DA6B-4A98-A488-946417F8647E}"/>
              </a:ext>
            </a:extLst>
          </p:cNvPr>
          <p:cNvSpPr txBox="1"/>
          <p:nvPr/>
        </p:nvSpPr>
        <p:spPr>
          <a:xfrm>
            <a:off x="2981325" y="966311"/>
            <a:ext cx="6096000" cy="1477328"/>
          </a:xfrm>
          <a:prstGeom prst="rect">
            <a:avLst/>
          </a:prstGeom>
          <a:noFill/>
        </p:spPr>
        <p:txBody>
          <a:bodyPr wrap="square">
            <a:spAutoFit/>
          </a:bodyPr>
          <a:lstStyle/>
          <a:p>
            <a:r>
              <a:rPr lang="en-US" sz="1800" b="0" i="0" dirty="0">
                <a:solidFill>
                  <a:srgbClr val="000000"/>
                </a:solidFill>
                <a:effectLst/>
                <a:latin typeface="LiberationSerif"/>
              </a:rPr>
              <a:t>An important structural aspect is the </a:t>
            </a:r>
            <a:r>
              <a:rPr lang="en-US" sz="1800" b="1" i="0" dirty="0">
                <a:solidFill>
                  <a:srgbClr val="000000"/>
                </a:solidFill>
                <a:effectLst/>
                <a:latin typeface="LiberationSerif-Bold"/>
              </a:rPr>
              <a:t>loss of planarity of the olefin upon coordination to a transition</a:t>
            </a:r>
            <a:br>
              <a:rPr lang="en-US" sz="1800" b="1" i="0" dirty="0">
                <a:solidFill>
                  <a:srgbClr val="000000"/>
                </a:solidFill>
                <a:effectLst/>
                <a:latin typeface="LiberationSerif-Bold"/>
              </a:rPr>
            </a:br>
            <a:r>
              <a:rPr lang="en-US" sz="1800" b="1" i="0" dirty="0">
                <a:solidFill>
                  <a:srgbClr val="000000"/>
                </a:solidFill>
                <a:effectLst/>
                <a:latin typeface="LiberationSerif-Bold"/>
              </a:rPr>
              <a:t>metal. </a:t>
            </a:r>
            <a:r>
              <a:rPr lang="en-US" sz="1800" b="0" i="0" dirty="0">
                <a:solidFill>
                  <a:srgbClr val="000000"/>
                </a:solidFill>
                <a:effectLst/>
                <a:latin typeface="LiberationSerif"/>
              </a:rPr>
              <a:t>In substituted </a:t>
            </a:r>
            <a:r>
              <a:rPr lang="en-US" sz="1800" b="0" i="0" dirty="0" err="1">
                <a:solidFill>
                  <a:srgbClr val="000000"/>
                </a:solidFill>
                <a:effectLst/>
                <a:latin typeface="LiberationSerif"/>
              </a:rPr>
              <a:t>ethylenes</a:t>
            </a:r>
            <a:r>
              <a:rPr lang="en-US" sz="1800" b="0" i="0" dirty="0">
                <a:solidFill>
                  <a:srgbClr val="000000"/>
                </a:solidFill>
                <a:effectLst/>
                <a:latin typeface="LiberationSerif"/>
              </a:rPr>
              <a:t> C</a:t>
            </a:r>
            <a:r>
              <a:rPr lang="en-US" sz="1200" b="0" i="0" dirty="0">
                <a:solidFill>
                  <a:srgbClr val="000000"/>
                </a:solidFill>
                <a:effectLst/>
                <a:latin typeface="LiberationSerif"/>
              </a:rPr>
              <a:t>2</a:t>
            </a:r>
            <a:r>
              <a:rPr lang="en-US" sz="1800" b="0" i="0" dirty="0">
                <a:solidFill>
                  <a:srgbClr val="000000"/>
                </a:solidFill>
                <a:effectLst/>
                <a:latin typeface="LiberationSerif"/>
              </a:rPr>
              <a:t>X</a:t>
            </a:r>
            <a:r>
              <a:rPr lang="en-US" sz="1200" b="0" i="0" dirty="0">
                <a:solidFill>
                  <a:srgbClr val="000000"/>
                </a:solidFill>
                <a:effectLst/>
                <a:latin typeface="LiberationSerif"/>
              </a:rPr>
              <a:t>4</a:t>
            </a:r>
            <a:r>
              <a:rPr lang="en-US" sz="1800" b="0" i="0" dirty="0">
                <a:solidFill>
                  <a:srgbClr val="000000"/>
                </a:solidFill>
                <a:effectLst/>
                <a:latin typeface="LiberationSerif"/>
              </a:rPr>
              <a:t>, this deformation increases with increasing electronegativity of X</a:t>
            </a:r>
            <a:r>
              <a:rPr lang="en-US" dirty="0"/>
              <a:t> </a:t>
            </a:r>
            <a:br>
              <a:rPr lang="en-US" dirty="0"/>
            </a:br>
            <a:endParaRPr lang="en-IN" dirty="0"/>
          </a:p>
        </p:txBody>
      </p:sp>
      <p:pic>
        <p:nvPicPr>
          <p:cNvPr id="4" name="Picture 3">
            <a:extLst>
              <a:ext uri="{FF2B5EF4-FFF2-40B4-BE49-F238E27FC236}">
                <a16:creationId xmlns:a16="http://schemas.microsoft.com/office/drawing/2014/main" id="{8B26477D-9D62-4AA7-AD1C-F2057878B149}"/>
              </a:ext>
            </a:extLst>
          </p:cNvPr>
          <p:cNvPicPr>
            <a:picLocks noChangeAspect="1"/>
          </p:cNvPicPr>
          <p:nvPr/>
        </p:nvPicPr>
        <p:blipFill>
          <a:blip r:embed="rId2"/>
          <a:stretch>
            <a:fillRect/>
          </a:stretch>
        </p:blipFill>
        <p:spPr>
          <a:xfrm>
            <a:off x="4876799" y="2638425"/>
            <a:ext cx="4200525" cy="2723778"/>
          </a:xfrm>
          <a:prstGeom prst="rect">
            <a:avLst/>
          </a:prstGeom>
        </p:spPr>
      </p:pic>
      <p:sp>
        <p:nvSpPr>
          <p:cNvPr id="8" name="TextBox 7">
            <a:extLst>
              <a:ext uri="{FF2B5EF4-FFF2-40B4-BE49-F238E27FC236}">
                <a16:creationId xmlns:a16="http://schemas.microsoft.com/office/drawing/2014/main" id="{47C5987E-046C-481E-ABC1-3B0F97BEB8C4}"/>
              </a:ext>
            </a:extLst>
          </p:cNvPr>
          <p:cNvSpPr txBox="1"/>
          <p:nvPr/>
        </p:nvSpPr>
        <p:spPr>
          <a:xfrm>
            <a:off x="2286000" y="5362203"/>
            <a:ext cx="6096000" cy="1754326"/>
          </a:xfrm>
          <a:prstGeom prst="rect">
            <a:avLst/>
          </a:prstGeom>
          <a:noFill/>
        </p:spPr>
        <p:txBody>
          <a:bodyPr wrap="square">
            <a:spAutoFit/>
          </a:bodyPr>
          <a:lstStyle/>
          <a:p>
            <a:r>
              <a:rPr lang="en-US" sz="1800" b="0" i="0" dirty="0">
                <a:solidFill>
                  <a:srgbClr val="343434"/>
                </a:solidFill>
                <a:effectLst/>
                <a:latin typeface="LiberationSerif"/>
              </a:rPr>
              <a:t>Structure (neutron diffraction) of </a:t>
            </a:r>
            <a:r>
              <a:rPr lang="en-US" sz="1800" b="1" i="0" dirty="0">
                <a:solidFill>
                  <a:srgbClr val="343434"/>
                </a:solidFill>
                <a:effectLst/>
                <a:latin typeface="LiberationSerif-Bold"/>
              </a:rPr>
              <a:t>K[PtCl</a:t>
            </a:r>
            <a:r>
              <a:rPr lang="en-US" sz="1200" b="1" i="0" dirty="0">
                <a:solidFill>
                  <a:srgbClr val="343434"/>
                </a:solidFill>
                <a:effectLst/>
                <a:latin typeface="LiberationSerif-Bold"/>
              </a:rPr>
              <a:t>3</a:t>
            </a:r>
            <a:r>
              <a:rPr lang="en-US" sz="1800" b="1" i="0" dirty="0">
                <a:solidFill>
                  <a:srgbClr val="343434"/>
                </a:solidFill>
                <a:effectLst/>
                <a:latin typeface="LiberationSerif-Bold"/>
              </a:rPr>
              <a:t>(C</a:t>
            </a:r>
            <a:r>
              <a:rPr lang="en-US" sz="1200" b="1" i="0" dirty="0">
                <a:solidFill>
                  <a:srgbClr val="343434"/>
                </a:solidFill>
                <a:effectLst/>
                <a:latin typeface="LiberationSerif-Bold"/>
              </a:rPr>
              <a:t>2</a:t>
            </a:r>
            <a:r>
              <a:rPr lang="en-US" sz="1800" b="1" i="0" dirty="0">
                <a:solidFill>
                  <a:srgbClr val="343434"/>
                </a:solidFill>
                <a:effectLst/>
                <a:latin typeface="LiberationSerif-Bold"/>
              </a:rPr>
              <a:t>H</a:t>
            </a:r>
            <a:r>
              <a:rPr lang="en-US" sz="1200" b="1" i="0" dirty="0">
                <a:solidFill>
                  <a:srgbClr val="343434"/>
                </a:solidFill>
                <a:effectLst/>
                <a:latin typeface="LiberationSerif-Bold"/>
              </a:rPr>
              <a:t>4</a:t>
            </a:r>
            <a:r>
              <a:rPr lang="en-US" sz="1800" b="1" i="0" dirty="0">
                <a:solidFill>
                  <a:srgbClr val="343434"/>
                </a:solidFill>
                <a:effectLst/>
                <a:latin typeface="LiberationSerif-Bold"/>
              </a:rPr>
              <a:t>)]. </a:t>
            </a:r>
            <a:r>
              <a:rPr lang="en-US" sz="1800" b="0" i="0" dirty="0">
                <a:solidFill>
                  <a:srgbClr val="343434"/>
                </a:solidFill>
                <a:effectLst/>
                <a:latin typeface="LiberationSerif"/>
              </a:rPr>
              <a:t>The C–C bond length is 137 pm, similar to that of the</a:t>
            </a:r>
            <a:br>
              <a:rPr lang="en-US" sz="1800" b="0" i="0" dirty="0">
                <a:solidFill>
                  <a:srgbClr val="343434"/>
                </a:solidFill>
                <a:effectLst/>
                <a:latin typeface="LiberationSerif"/>
              </a:rPr>
            </a:br>
            <a:r>
              <a:rPr lang="en-US" sz="1800" b="0" i="0" dirty="0" err="1">
                <a:solidFill>
                  <a:srgbClr val="343434"/>
                </a:solidFill>
                <a:effectLst/>
                <a:latin typeface="LiberationSerif"/>
              </a:rPr>
              <a:t>uncomplexed</a:t>
            </a:r>
            <a:r>
              <a:rPr lang="en-US" sz="1800" b="0" i="0" dirty="0">
                <a:solidFill>
                  <a:srgbClr val="343434"/>
                </a:solidFill>
                <a:effectLst/>
                <a:latin typeface="LiberationSerif"/>
              </a:rPr>
              <a:t> olefin (133 pm). The olefin is oriented perpendicular to the PtCl</a:t>
            </a:r>
            <a:r>
              <a:rPr lang="en-US" sz="1200" b="0" i="0" dirty="0">
                <a:solidFill>
                  <a:srgbClr val="343434"/>
                </a:solidFill>
                <a:effectLst/>
                <a:latin typeface="LiberationSerif"/>
              </a:rPr>
              <a:t>3 </a:t>
            </a:r>
            <a:r>
              <a:rPr lang="en-US" sz="1800" b="0" i="0" dirty="0">
                <a:solidFill>
                  <a:srgbClr val="343434"/>
                </a:solidFill>
                <a:effectLst/>
                <a:latin typeface="LiberationSerif"/>
              </a:rPr>
              <a:t>plane. The Pt–Cl bond</a:t>
            </a:r>
            <a:br>
              <a:rPr lang="en-US" sz="1800" b="0" i="0" dirty="0">
                <a:solidFill>
                  <a:srgbClr val="343434"/>
                </a:solidFill>
                <a:effectLst/>
                <a:latin typeface="LiberationSerif"/>
              </a:rPr>
            </a:br>
            <a:r>
              <a:rPr lang="en-US" sz="1800" b="0" i="1" dirty="0">
                <a:solidFill>
                  <a:srgbClr val="343434"/>
                </a:solidFill>
                <a:effectLst/>
                <a:latin typeface="LiberationSerif-Italic"/>
              </a:rPr>
              <a:t>trans </a:t>
            </a:r>
            <a:r>
              <a:rPr lang="en-US" sz="1800" b="0" i="0" dirty="0">
                <a:solidFill>
                  <a:srgbClr val="343434"/>
                </a:solidFill>
                <a:effectLst/>
                <a:latin typeface="LiberationSerif"/>
              </a:rPr>
              <a:t>to the olefin is slightly elongated. </a:t>
            </a:r>
            <a:br>
              <a:rPr lang="en-US" dirty="0"/>
            </a:br>
            <a:endParaRPr lang="en-IN" dirty="0"/>
          </a:p>
        </p:txBody>
      </p:sp>
    </p:spTree>
    <p:extLst>
      <p:ext uri="{BB962C8B-B14F-4D97-AF65-F5344CB8AC3E}">
        <p14:creationId xmlns:p14="http://schemas.microsoft.com/office/powerpoint/2010/main" val="1139695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C7E65C-C4A5-43AC-9DD9-E3D60089A8F8}"/>
              </a:ext>
            </a:extLst>
          </p:cNvPr>
          <p:cNvSpPr txBox="1"/>
          <p:nvPr/>
        </p:nvSpPr>
        <p:spPr>
          <a:xfrm>
            <a:off x="3048000" y="1582341"/>
            <a:ext cx="6096000" cy="3693319"/>
          </a:xfrm>
          <a:prstGeom prst="rect">
            <a:avLst/>
          </a:prstGeom>
          <a:noFill/>
        </p:spPr>
        <p:txBody>
          <a:bodyPr wrap="square">
            <a:spAutoFit/>
          </a:bodyPr>
          <a:lstStyle/>
          <a:p>
            <a:r>
              <a:rPr lang="en-US" sz="1800" b="0" i="0" dirty="0">
                <a:solidFill>
                  <a:srgbClr val="000000"/>
                </a:solidFill>
                <a:effectLst/>
                <a:latin typeface="Times-Roman"/>
              </a:rPr>
              <a:t>For </a:t>
            </a:r>
            <a:r>
              <a:rPr lang="en-US" sz="1800" b="0" i="0" dirty="0" err="1">
                <a:solidFill>
                  <a:srgbClr val="000000"/>
                </a:solidFill>
                <a:effectLst/>
                <a:latin typeface="Times-Roman"/>
              </a:rPr>
              <a:t>Zeise’s</a:t>
            </a:r>
            <a:br>
              <a:rPr lang="en-US" sz="1800" b="0" i="0" dirty="0">
                <a:solidFill>
                  <a:srgbClr val="000000"/>
                </a:solidFill>
                <a:effectLst/>
                <a:latin typeface="Times-Roman"/>
              </a:rPr>
            </a:br>
            <a:r>
              <a:rPr lang="en-US" sz="1800" b="0" i="0" dirty="0">
                <a:solidFill>
                  <a:srgbClr val="000000"/>
                </a:solidFill>
                <a:effectLst/>
                <a:latin typeface="Times-Roman"/>
              </a:rPr>
              <a:t>salt itself, M</a:t>
            </a:r>
            <a:r>
              <a:rPr lang="en-US" sz="1800" b="0" i="0" dirty="0">
                <a:solidFill>
                  <a:srgbClr val="000000"/>
                </a:solidFill>
                <a:effectLst/>
                <a:latin typeface="MTSYN"/>
              </a:rPr>
              <a:t>-</a:t>
            </a:r>
            <a:r>
              <a:rPr lang="en-US" sz="1800" b="0" i="0" dirty="0">
                <a:solidFill>
                  <a:srgbClr val="000000"/>
                </a:solidFill>
                <a:effectLst/>
                <a:latin typeface="Times-Roman"/>
              </a:rPr>
              <a:t>L </a:t>
            </a:r>
            <a:r>
              <a:rPr lang="en-US" sz="1800" b="0" i="1" dirty="0">
                <a:solidFill>
                  <a:srgbClr val="000000"/>
                </a:solidFill>
                <a:effectLst/>
                <a:latin typeface="MTMI"/>
              </a:rPr>
              <a:t>σ </a:t>
            </a:r>
            <a:r>
              <a:rPr lang="en-US" sz="1800" b="0" i="0" dirty="0">
                <a:solidFill>
                  <a:srgbClr val="000000"/>
                </a:solidFill>
                <a:effectLst/>
                <a:latin typeface="Times-Roman"/>
              </a:rPr>
              <a:t>bonding predominates because the Pt(II) is weakly </a:t>
            </a:r>
            <a:r>
              <a:rPr lang="en-US" sz="1800" b="0" i="1" dirty="0">
                <a:solidFill>
                  <a:srgbClr val="000000"/>
                </a:solidFill>
                <a:effectLst/>
                <a:latin typeface="MTMI"/>
              </a:rPr>
              <a:t>π </a:t>
            </a:r>
            <a:r>
              <a:rPr lang="en-US" sz="1800" b="0" i="0" dirty="0">
                <a:solidFill>
                  <a:srgbClr val="000000"/>
                </a:solidFill>
                <a:effectLst/>
                <a:latin typeface="Times-Roman"/>
              </a:rPr>
              <a:t>basic,</a:t>
            </a:r>
            <a:br>
              <a:rPr lang="en-US" sz="1800" b="0" i="0" dirty="0">
                <a:solidFill>
                  <a:srgbClr val="000000"/>
                </a:solidFill>
                <a:effectLst/>
                <a:latin typeface="Times-Roman"/>
              </a:rPr>
            </a:br>
            <a:r>
              <a:rPr lang="en-US" sz="1800" b="0" i="0" dirty="0">
                <a:solidFill>
                  <a:srgbClr val="000000"/>
                </a:solidFill>
                <a:effectLst/>
                <a:latin typeface="Times-Roman"/>
              </a:rPr>
              <a:t>and the ligand (C</a:t>
            </a:r>
            <a:r>
              <a:rPr lang="en-US" sz="1800" b="0" i="0" dirty="0">
                <a:solidFill>
                  <a:srgbClr val="000000"/>
                </a:solidFill>
                <a:effectLst/>
                <a:latin typeface="MTSYN"/>
              </a:rPr>
              <a:t>-</a:t>
            </a:r>
            <a:r>
              <a:rPr lang="en-US" sz="1800" b="0" i="0" dirty="0">
                <a:solidFill>
                  <a:srgbClr val="000000"/>
                </a:solidFill>
                <a:effectLst/>
                <a:latin typeface="Times-Roman"/>
              </a:rPr>
              <a:t>C: 1.375 A) ˚ more nearly resembles the free alkene (1.337 A). ˚</a:t>
            </a:r>
            <a:br>
              <a:rPr lang="en-US" sz="1800" b="0" i="0" dirty="0">
                <a:solidFill>
                  <a:srgbClr val="000000"/>
                </a:solidFill>
                <a:effectLst/>
                <a:latin typeface="Times-Roman"/>
              </a:rPr>
            </a:br>
            <a:r>
              <a:rPr lang="en-US" sz="1800" b="0" i="0" dirty="0">
                <a:solidFill>
                  <a:srgbClr val="000000"/>
                </a:solidFill>
                <a:effectLst/>
                <a:latin typeface="Times-Roman"/>
              </a:rPr>
              <a:t>The substituents are only slightly bent back away from the metal, and the C</a:t>
            </a:r>
            <a:r>
              <a:rPr lang="en-US" sz="1800" b="0" i="0" dirty="0">
                <a:solidFill>
                  <a:srgbClr val="000000"/>
                </a:solidFill>
                <a:effectLst/>
                <a:latin typeface="MTSYN"/>
              </a:rPr>
              <a:t>-</a:t>
            </a:r>
            <a:r>
              <a:rPr lang="en-US" sz="1800" b="0" i="0" dirty="0">
                <a:solidFill>
                  <a:srgbClr val="000000"/>
                </a:solidFill>
                <a:effectLst/>
                <a:latin typeface="Times-Roman"/>
              </a:rPr>
              <a:t>C</a:t>
            </a:r>
            <a:br>
              <a:rPr lang="en-US" sz="1800" b="0" i="0" dirty="0">
                <a:solidFill>
                  <a:srgbClr val="000000"/>
                </a:solidFill>
                <a:effectLst/>
                <a:latin typeface="Times-Roman"/>
              </a:rPr>
            </a:br>
            <a:r>
              <a:rPr lang="en-US" sz="1800" b="0" i="0" dirty="0">
                <a:solidFill>
                  <a:srgbClr val="000000"/>
                </a:solidFill>
                <a:effectLst/>
                <a:latin typeface="Times-Roman"/>
              </a:rPr>
              <a:t>distance is not greatly lengthened compared to free ethylene. Pt(0), in contrast, is</a:t>
            </a:r>
            <a:br>
              <a:rPr lang="en-US" sz="1800" b="0" i="0" dirty="0">
                <a:solidFill>
                  <a:srgbClr val="000000"/>
                </a:solidFill>
                <a:effectLst/>
                <a:latin typeface="Times-Roman"/>
              </a:rPr>
            </a:br>
            <a:r>
              <a:rPr lang="en-US" sz="1800" b="0" i="0" dirty="0">
                <a:solidFill>
                  <a:srgbClr val="000000"/>
                </a:solidFill>
                <a:effectLst/>
                <a:latin typeface="Times-Roman"/>
              </a:rPr>
              <a:t>much more strongly </a:t>
            </a:r>
            <a:r>
              <a:rPr lang="en-US" sz="1800" b="0" i="1" dirty="0">
                <a:solidFill>
                  <a:srgbClr val="000000"/>
                </a:solidFill>
                <a:effectLst/>
                <a:latin typeface="MTMI"/>
              </a:rPr>
              <a:t>π </a:t>
            </a:r>
            <a:r>
              <a:rPr lang="en-US" sz="1800" b="0" i="0" dirty="0">
                <a:solidFill>
                  <a:srgbClr val="000000"/>
                </a:solidFill>
                <a:effectLst/>
                <a:latin typeface="Times-Roman"/>
              </a:rPr>
              <a:t>basic, and in Pt(PPh</a:t>
            </a:r>
            <a:r>
              <a:rPr lang="en-US" sz="800" b="0" i="0" dirty="0">
                <a:solidFill>
                  <a:srgbClr val="000000"/>
                </a:solidFill>
                <a:effectLst/>
                <a:latin typeface="Times-Roman"/>
              </a:rPr>
              <a:t>3</a:t>
            </a:r>
            <a:r>
              <a:rPr lang="en-US" sz="1800" b="0" i="1" dirty="0">
                <a:solidFill>
                  <a:srgbClr val="000000"/>
                </a:solidFill>
                <a:effectLst/>
                <a:latin typeface="MTMI"/>
              </a:rPr>
              <a:t>)</a:t>
            </a:r>
            <a:r>
              <a:rPr lang="en-US" sz="800" b="0" i="0" dirty="0">
                <a:solidFill>
                  <a:srgbClr val="000000"/>
                </a:solidFill>
                <a:effectLst/>
                <a:latin typeface="Times-Roman"/>
              </a:rPr>
              <a:t>2</a:t>
            </a:r>
            <a:r>
              <a:rPr lang="en-US" sz="1800" b="0" i="0" dirty="0">
                <a:solidFill>
                  <a:srgbClr val="000000"/>
                </a:solidFill>
                <a:effectLst/>
                <a:latin typeface="Times-Roman"/>
              </a:rPr>
              <a:t>C</a:t>
            </a:r>
            <a:r>
              <a:rPr lang="en-US" sz="800" b="0" i="0" dirty="0">
                <a:solidFill>
                  <a:srgbClr val="000000"/>
                </a:solidFill>
                <a:effectLst/>
                <a:latin typeface="Times-Roman"/>
              </a:rPr>
              <a:t>2</a:t>
            </a:r>
            <a:r>
              <a:rPr lang="en-US" sz="1800" b="0" i="0" dirty="0">
                <a:solidFill>
                  <a:srgbClr val="000000"/>
                </a:solidFill>
                <a:effectLst/>
                <a:latin typeface="Times-Roman"/>
              </a:rPr>
              <a:t>H</a:t>
            </a:r>
            <a:r>
              <a:rPr lang="en-US" sz="800" b="0" i="0" dirty="0">
                <a:solidFill>
                  <a:srgbClr val="000000"/>
                </a:solidFill>
                <a:effectLst/>
                <a:latin typeface="Times-Roman"/>
              </a:rPr>
              <a:t>4</a:t>
            </a:r>
            <a:r>
              <a:rPr lang="en-US" sz="1800" b="0" i="0" dirty="0">
                <a:solidFill>
                  <a:srgbClr val="000000"/>
                </a:solidFill>
                <a:effectLst/>
                <a:latin typeface="Times-Roman"/>
              </a:rPr>
              <a:t>, the C</a:t>
            </a:r>
            <a:r>
              <a:rPr lang="en-US" sz="1800" b="0" i="0" dirty="0">
                <a:solidFill>
                  <a:srgbClr val="000000"/>
                </a:solidFill>
                <a:effectLst/>
                <a:latin typeface="MTSYN"/>
              </a:rPr>
              <a:t>-</a:t>
            </a:r>
            <a:r>
              <a:rPr lang="en-US" sz="1800" b="0" i="0" dirty="0">
                <a:solidFill>
                  <a:srgbClr val="000000"/>
                </a:solidFill>
                <a:effectLst/>
                <a:latin typeface="Times-Roman"/>
              </a:rPr>
              <a:t>C distance becomes</a:t>
            </a:r>
            <a:br>
              <a:rPr lang="en-US" sz="1800" b="0" i="0" dirty="0">
                <a:solidFill>
                  <a:srgbClr val="000000"/>
                </a:solidFill>
                <a:effectLst/>
                <a:latin typeface="Times-Roman"/>
              </a:rPr>
            </a:br>
            <a:r>
              <a:rPr lang="en-US" sz="1800" b="0" i="0" dirty="0">
                <a:solidFill>
                  <a:srgbClr val="000000"/>
                </a:solidFill>
                <a:effectLst/>
                <a:latin typeface="Times-Roman"/>
              </a:rPr>
              <a:t>much longer (1.43 A). ˚ </a:t>
            </a:r>
            <a:br>
              <a:rPr lang="en-US" dirty="0"/>
            </a:br>
            <a:endParaRPr lang="en-IN" dirty="0"/>
          </a:p>
        </p:txBody>
      </p:sp>
    </p:spTree>
    <p:extLst>
      <p:ext uri="{BB962C8B-B14F-4D97-AF65-F5344CB8AC3E}">
        <p14:creationId xmlns:p14="http://schemas.microsoft.com/office/powerpoint/2010/main" val="4035399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0333D9-732F-48AB-B699-B53B32DEF206}"/>
              </a:ext>
            </a:extLst>
          </p:cNvPr>
          <p:cNvSpPr txBox="1"/>
          <p:nvPr/>
        </p:nvSpPr>
        <p:spPr>
          <a:xfrm>
            <a:off x="2533650" y="1370737"/>
            <a:ext cx="6096000" cy="1754326"/>
          </a:xfrm>
          <a:prstGeom prst="rect">
            <a:avLst/>
          </a:prstGeom>
          <a:noFill/>
        </p:spPr>
        <p:txBody>
          <a:bodyPr wrap="square">
            <a:spAutoFit/>
          </a:bodyPr>
          <a:lstStyle/>
          <a:p>
            <a:r>
              <a:rPr lang="en-US" sz="1800" b="0" i="0" dirty="0">
                <a:solidFill>
                  <a:srgbClr val="000000"/>
                </a:solidFill>
                <a:effectLst/>
                <a:latin typeface="Times-Roman"/>
              </a:rPr>
              <a:t>In such a case the metal alkene system approaches the</a:t>
            </a:r>
            <a:br>
              <a:rPr lang="en-US" sz="1800" b="0" i="0" dirty="0">
                <a:solidFill>
                  <a:srgbClr val="000000"/>
                </a:solidFill>
                <a:effectLst/>
                <a:latin typeface="Times-Roman"/>
              </a:rPr>
            </a:br>
            <a:r>
              <a:rPr lang="en-US" sz="1800" b="0" i="1" dirty="0" err="1">
                <a:solidFill>
                  <a:srgbClr val="000000"/>
                </a:solidFill>
                <a:effectLst/>
                <a:latin typeface="Times-Italic"/>
              </a:rPr>
              <a:t>metalacyclopropane</a:t>
            </a:r>
            <a:r>
              <a:rPr lang="en-US" sz="1800" b="0" i="1" dirty="0">
                <a:solidFill>
                  <a:srgbClr val="000000"/>
                </a:solidFill>
                <a:effectLst/>
                <a:latin typeface="Times-Italic"/>
              </a:rPr>
              <a:t> </a:t>
            </a:r>
            <a:r>
              <a:rPr lang="en-US" sz="1800" b="0" i="0" dirty="0">
                <a:solidFill>
                  <a:srgbClr val="000000"/>
                </a:solidFill>
                <a:effectLst/>
                <a:latin typeface="Times-Roman"/>
              </a:rPr>
              <a:t>extreme, </a:t>
            </a:r>
            <a:r>
              <a:rPr lang="en-US" sz="1800" b="1" i="0" dirty="0">
                <a:solidFill>
                  <a:srgbClr val="000000"/>
                </a:solidFill>
                <a:effectLst/>
                <a:latin typeface="Times-Bold"/>
              </a:rPr>
              <a:t>5.3</a:t>
            </a:r>
            <a:r>
              <a:rPr lang="en-US" sz="1800" b="0" i="0" dirty="0">
                <a:solidFill>
                  <a:srgbClr val="000000"/>
                </a:solidFill>
                <a:effectLst/>
                <a:latin typeface="Times-Roman"/>
              </a:rPr>
              <a:t>, as contrasted with the Dewar–</a:t>
            </a:r>
            <a:r>
              <a:rPr lang="en-US" sz="1800" b="0" i="0" dirty="0" err="1">
                <a:solidFill>
                  <a:srgbClr val="000000"/>
                </a:solidFill>
                <a:effectLst/>
                <a:latin typeface="Times-Roman"/>
              </a:rPr>
              <a:t>Chatt</a:t>
            </a:r>
            <a:r>
              <a:rPr lang="en-US" sz="1800" b="0" i="0" dirty="0">
                <a:solidFill>
                  <a:srgbClr val="000000"/>
                </a:solidFill>
                <a:effectLst/>
                <a:latin typeface="Times-Roman"/>
              </a:rPr>
              <a:t> model,</a:t>
            </a:r>
            <a:br>
              <a:rPr lang="en-US" sz="1800" b="0" i="0" dirty="0">
                <a:solidFill>
                  <a:srgbClr val="000000"/>
                </a:solidFill>
                <a:effectLst/>
                <a:latin typeface="Times-Roman"/>
              </a:rPr>
            </a:br>
            <a:r>
              <a:rPr lang="en-US" sz="1800" b="1" i="0" dirty="0">
                <a:solidFill>
                  <a:srgbClr val="000000"/>
                </a:solidFill>
                <a:effectLst/>
                <a:latin typeface="Times-Bold"/>
              </a:rPr>
              <a:t>5.4</a:t>
            </a:r>
            <a:r>
              <a:rPr lang="en-US" sz="1800" b="0" i="0" dirty="0">
                <a:solidFill>
                  <a:srgbClr val="000000"/>
                </a:solidFill>
                <a:effectLst/>
                <a:latin typeface="Times-Roman"/>
              </a:rPr>
              <a:t>, involving minimal </a:t>
            </a:r>
            <a:r>
              <a:rPr lang="en-US" sz="1800" b="0" i="1" dirty="0">
                <a:solidFill>
                  <a:srgbClr val="000000"/>
                </a:solidFill>
                <a:effectLst/>
                <a:latin typeface="MTMI"/>
              </a:rPr>
              <a:t>π </a:t>
            </a:r>
            <a:r>
              <a:rPr lang="en-US" sz="1800" b="0" i="0" dirty="0">
                <a:solidFill>
                  <a:srgbClr val="000000"/>
                </a:solidFill>
                <a:effectLst/>
                <a:latin typeface="Times-Roman"/>
              </a:rPr>
              <a:t>back donation; both are considered </a:t>
            </a:r>
            <a:r>
              <a:rPr lang="en-US" sz="1800" b="0" i="1" dirty="0">
                <a:solidFill>
                  <a:srgbClr val="000000"/>
                </a:solidFill>
                <a:effectLst/>
                <a:latin typeface="MTMI"/>
              </a:rPr>
              <a:t>η</a:t>
            </a:r>
            <a:r>
              <a:rPr lang="en-US" sz="800" b="0" i="0" dirty="0">
                <a:solidFill>
                  <a:srgbClr val="000000"/>
                </a:solidFill>
                <a:effectLst/>
                <a:latin typeface="Times-Roman"/>
              </a:rPr>
              <a:t>2 </a:t>
            </a:r>
            <a:r>
              <a:rPr lang="en-US" sz="1800" b="0" i="0" dirty="0">
                <a:solidFill>
                  <a:srgbClr val="000000"/>
                </a:solidFill>
                <a:effectLst/>
                <a:latin typeface="Times-Roman"/>
              </a:rPr>
              <a:t>structures.</a:t>
            </a:r>
            <a:r>
              <a:rPr lang="en-US" dirty="0"/>
              <a:t> </a:t>
            </a:r>
            <a:br>
              <a:rPr lang="en-US" dirty="0"/>
            </a:br>
            <a:endParaRPr lang="en-IN" dirty="0"/>
          </a:p>
        </p:txBody>
      </p:sp>
      <p:pic>
        <p:nvPicPr>
          <p:cNvPr id="4" name="Picture 3">
            <a:extLst>
              <a:ext uri="{FF2B5EF4-FFF2-40B4-BE49-F238E27FC236}">
                <a16:creationId xmlns:a16="http://schemas.microsoft.com/office/drawing/2014/main" id="{AD61F5BE-D7B3-49A3-828F-5C366F02E1E5}"/>
              </a:ext>
            </a:extLst>
          </p:cNvPr>
          <p:cNvPicPr>
            <a:picLocks noChangeAspect="1"/>
          </p:cNvPicPr>
          <p:nvPr/>
        </p:nvPicPr>
        <p:blipFill>
          <a:blip r:embed="rId2"/>
          <a:stretch>
            <a:fillRect/>
          </a:stretch>
        </p:blipFill>
        <p:spPr>
          <a:xfrm>
            <a:off x="2362200" y="3305568"/>
            <a:ext cx="6743700" cy="3268577"/>
          </a:xfrm>
          <a:prstGeom prst="rect">
            <a:avLst/>
          </a:prstGeom>
        </p:spPr>
      </p:pic>
    </p:spTree>
    <p:extLst>
      <p:ext uri="{BB962C8B-B14F-4D97-AF65-F5344CB8AC3E}">
        <p14:creationId xmlns:p14="http://schemas.microsoft.com/office/powerpoint/2010/main" val="53269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558AEC-98FB-4C71-8C29-3D6315C35295}"/>
              </a:ext>
            </a:extLst>
          </p:cNvPr>
          <p:cNvSpPr txBox="1"/>
          <p:nvPr/>
        </p:nvSpPr>
        <p:spPr>
          <a:xfrm>
            <a:off x="3048000" y="2274838"/>
            <a:ext cx="6096000" cy="2308324"/>
          </a:xfrm>
          <a:prstGeom prst="rect">
            <a:avLst/>
          </a:prstGeom>
          <a:noFill/>
        </p:spPr>
        <p:txBody>
          <a:bodyPr wrap="square">
            <a:spAutoFit/>
          </a:bodyPr>
          <a:lstStyle/>
          <a:p>
            <a:r>
              <a:rPr lang="en-US" sz="1800" b="0" i="0" dirty="0">
                <a:solidFill>
                  <a:srgbClr val="000000"/>
                </a:solidFill>
                <a:effectLst/>
                <a:latin typeface="Times-Roman"/>
              </a:rPr>
              <a:t>The presence of electron-withdrawing groups on the alkene also encourages</a:t>
            </a:r>
            <a:br>
              <a:rPr lang="en-US" sz="1800" b="0" i="0" dirty="0">
                <a:solidFill>
                  <a:srgbClr val="000000"/>
                </a:solidFill>
                <a:effectLst/>
                <a:latin typeface="Times-Roman"/>
              </a:rPr>
            </a:br>
            <a:r>
              <a:rPr lang="en-US" sz="1800" b="0" i="0" dirty="0">
                <a:solidFill>
                  <a:srgbClr val="000000"/>
                </a:solidFill>
                <a:effectLst/>
                <a:latin typeface="Times-Roman"/>
              </a:rPr>
              <a:t>back donation and makes the alkene bind more strongly to the metal; for example,</a:t>
            </a:r>
            <a:br>
              <a:rPr lang="en-US" sz="1800" b="0" i="0" dirty="0">
                <a:solidFill>
                  <a:srgbClr val="000000"/>
                </a:solidFill>
                <a:effectLst/>
                <a:latin typeface="Times-Roman"/>
              </a:rPr>
            </a:br>
            <a:r>
              <a:rPr lang="en-US" sz="1800" b="0" i="0" dirty="0">
                <a:solidFill>
                  <a:srgbClr val="000000"/>
                </a:solidFill>
                <a:effectLst/>
                <a:latin typeface="Times-Roman"/>
              </a:rPr>
              <a:t>Pt(PPh</a:t>
            </a:r>
            <a:r>
              <a:rPr lang="en-US" sz="800" b="0" i="0" dirty="0">
                <a:solidFill>
                  <a:srgbClr val="000000"/>
                </a:solidFill>
                <a:effectLst/>
                <a:latin typeface="Times-Roman"/>
              </a:rPr>
              <a:t>3</a:t>
            </a:r>
            <a:r>
              <a:rPr lang="en-US" sz="1800" b="0" i="1" dirty="0">
                <a:solidFill>
                  <a:srgbClr val="000000"/>
                </a:solidFill>
                <a:effectLst/>
                <a:latin typeface="MTMI"/>
              </a:rPr>
              <a:t>)</a:t>
            </a:r>
            <a:r>
              <a:rPr lang="en-US" sz="800" b="0" i="0" dirty="0">
                <a:solidFill>
                  <a:srgbClr val="000000"/>
                </a:solidFill>
                <a:effectLst/>
                <a:latin typeface="Times-Roman"/>
              </a:rPr>
              <a:t>2</a:t>
            </a:r>
            <a:r>
              <a:rPr lang="en-US" sz="1800" b="0" i="1" dirty="0">
                <a:solidFill>
                  <a:srgbClr val="000000"/>
                </a:solidFill>
                <a:effectLst/>
                <a:latin typeface="MTMI"/>
              </a:rPr>
              <a:t>(</a:t>
            </a:r>
            <a:r>
              <a:rPr lang="en-US" sz="1800" b="0" i="0" dirty="0">
                <a:solidFill>
                  <a:srgbClr val="000000"/>
                </a:solidFill>
                <a:effectLst/>
                <a:latin typeface="Times-Roman"/>
              </a:rPr>
              <a:t>C</a:t>
            </a:r>
            <a:r>
              <a:rPr lang="en-US" sz="800" b="0" i="0" dirty="0">
                <a:solidFill>
                  <a:srgbClr val="000000"/>
                </a:solidFill>
                <a:effectLst/>
                <a:latin typeface="Times-Roman"/>
              </a:rPr>
              <a:t>2</a:t>
            </a:r>
            <a:r>
              <a:rPr lang="en-US" sz="1800" b="0" i="0" dirty="0">
                <a:solidFill>
                  <a:srgbClr val="000000"/>
                </a:solidFill>
                <a:effectLst/>
                <a:latin typeface="Times-Roman"/>
              </a:rPr>
              <a:t>CN</a:t>
            </a:r>
            <a:r>
              <a:rPr lang="en-US" sz="800" b="0" i="0" dirty="0">
                <a:solidFill>
                  <a:srgbClr val="000000"/>
                </a:solidFill>
                <a:effectLst/>
                <a:latin typeface="Times-Roman"/>
              </a:rPr>
              <a:t>4</a:t>
            </a:r>
            <a:r>
              <a:rPr lang="en-US" sz="1800" b="0" i="1" dirty="0">
                <a:solidFill>
                  <a:srgbClr val="000000"/>
                </a:solidFill>
                <a:effectLst/>
                <a:latin typeface="MTMI"/>
              </a:rPr>
              <a:t>) </a:t>
            </a:r>
            <a:r>
              <a:rPr lang="en-US" sz="1800" b="0" i="0" dirty="0">
                <a:solidFill>
                  <a:srgbClr val="000000"/>
                </a:solidFill>
                <a:effectLst/>
                <a:latin typeface="Times-Roman"/>
              </a:rPr>
              <a:t>has an even longer C</a:t>
            </a:r>
            <a:r>
              <a:rPr lang="en-US" sz="1800" b="0" i="0" dirty="0">
                <a:solidFill>
                  <a:srgbClr val="000000"/>
                </a:solidFill>
                <a:effectLst/>
                <a:latin typeface="MTSYN"/>
              </a:rPr>
              <a:t>-</a:t>
            </a:r>
            <a:r>
              <a:rPr lang="en-US" sz="1800" b="0" i="0" dirty="0">
                <a:solidFill>
                  <a:srgbClr val="000000"/>
                </a:solidFill>
                <a:effectLst/>
                <a:latin typeface="Times-Roman"/>
              </a:rPr>
              <a:t>C distance (1.49 A) ˚ than the C</a:t>
            </a:r>
            <a:r>
              <a:rPr lang="en-US" sz="800" b="0" i="0" dirty="0">
                <a:solidFill>
                  <a:srgbClr val="000000"/>
                </a:solidFill>
                <a:effectLst/>
                <a:latin typeface="Times-Roman"/>
              </a:rPr>
              <a:t>2</a:t>
            </a:r>
            <a:r>
              <a:rPr lang="en-US" sz="1800" b="0" i="0" dirty="0">
                <a:solidFill>
                  <a:srgbClr val="000000"/>
                </a:solidFill>
                <a:effectLst/>
                <a:latin typeface="Times-Roman"/>
              </a:rPr>
              <a:t>H</a:t>
            </a:r>
            <a:r>
              <a:rPr lang="en-US" sz="800" b="0" i="0" dirty="0">
                <a:solidFill>
                  <a:srgbClr val="000000"/>
                </a:solidFill>
                <a:effectLst/>
                <a:latin typeface="Times-Roman"/>
              </a:rPr>
              <a:t>4</a:t>
            </a:r>
            <a:br>
              <a:rPr lang="en-US" sz="800" b="0" i="0" dirty="0">
                <a:solidFill>
                  <a:srgbClr val="000000"/>
                </a:solidFill>
                <a:effectLst/>
                <a:latin typeface="Times-Roman"/>
              </a:rPr>
            </a:br>
            <a:r>
              <a:rPr lang="en-US" sz="1800" b="0" i="0" dirty="0">
                <a:solidFill>
                  <a:srgbClr val="000000"/>
                </a:solidFill>
                <a:effectLst/>
                <a:latin typeface="Times-Roman"/>
              </a:rPr>
              <a:t>complex.</a:t>
            </a:r>
            <a:r>
              <a:rPr lang="en-US" dirty="0"/>
              <a:t> </a:t>
            </a:r>
            <a:br>
              <a:rPr lang="en-US" dirty="0"/>
            </a:br>
            <a:endParaRPr lang="en-IN" dirty="0"/>
          </a:p>
        </p:txBody>
      </p:sp>
    </p:spTree>
    <p:extLst>
      <p:ext uri="{BB962C8B-B14F-4D97-AF65-F5344CB8AC3E}">
        <p14:creationId xmlns:p14="http://schemas.microsoft.com/office/powerpoint/2010/main" val="40149251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995536-6E9A-45FA-93A6-3DD5061916DD}"/>
              </a:ext>
            </a:extLst>
          </p:cNvPr>
          <p:cNvSpPr txBox="1"/>
          <p:nvPr/>
        </p:nvSpPr>
        <p:spPr>
          <a:xfrm>
            <a:off x="3048000" y="1582341"/>
            <a:ext cx="6096000" cy="1754326"/>
          </a:xfrm>
          <a:prstGeom prst="rect">
            <a:avLst/>
          </a:prstGeom>
          <a:noFill/>
        </p:spPr>
        <p:txBody>
          <a:bodyPr wrap="square">
            <a:spAutoFit/>
          </a:bodyPr>
          <a:lstStyle/>
          <a:p>
            <a:r>
              <a:rPr lang="en-US" sz="1800" b="0" i="0" dirty="0">
                <a:solidFill>
                  <a:srgbClr val="000000"/>
                </a:solidFill>
                <a:effectLst/>
                <a:latin typeface="Times-Roman"/>
              </a:rPr>
              <a:t>This means that Pd(II), Hg(II), Ag(I), and Cu(I)</a:t>
            </a:r>
            <a:br>
              <a:rPr lang="en-US" sz="1800" b="0" i="0" dirty="0">
                <a:solidFill>
                  <a:srgbClr val="000000"/>
                </a:solidFill>
                <a:effectLst/>
                <a:latin typeface="Times-Roman"/>
              </a:rPr>
            </a:br>
            <a:r>
              <a:rPr lang="en-US" sz="1800" b="0" i="0" dirty="0">
                <a:solidFill>
                  <a:srgbClr val="000000"/>
                </a:solidFill>
                <a:effectLst/>
                <a:latin typeface="Times-Roman"/>
              </a:rPr>
              <a:t>alkene complexes tend to be L-type, or Dewar–</a:t>
            </a:r>
            <a:r>
              <a:rPr lang="en-US" sz="1800" b="0" i="0" dirty="0" err="1">
                <a:solidFill>
                  <a:srgbClr val="000000"/>
                </a:solidFill>
                <a:effectLst/>
                <a:latin typeface="Times-Roman"/>
              </a:rPr>
              <a:t>Chatt</a:t>
            </a:r>
            <a:r>
              <a:rPr lang="en-US" sz="1800" b="0" i="0" dirty="0">
                <a:solidFill>
                  <a:srgbClr val="000000"/>
                </a:solidFill>
                <a:effectLst/>
                <a:latin typeface="Times-Roman"/>
              </a:rPr>
              <a:t>, in character, while those</a:t>
            </a:r>
            <a:br>
              <a:rPr lang="en-US" sz="1800" b="0" i="0" dirty="0">
                <a:solidFill>
                  <a:srgbClr val="000000"/>
                </a:solidFill>
                <a:effectLst/>
                <a:latin typeface="Times-Roman"/>
              </a:rPr>
            </a:br>
            <a:r>
              <a:rPr lang="en-US" sz="1800" b="0" i="0" dirty="0">
                <a:solidFill>
                  <a:srgbClr val="000000"/>
                </a:solidFill>
                <a:effectLst/>
                <a:latin typeface="Times-Roman"/>
              </a:rPr>
              <a:t>of Ni(0), Pd(0), and Pt(0), tend to be X</a:t>
            </a:r>
            <a:r>
              <a:rPr lang="en-US" sz="800" b="0" i="0" dirty="0">
                <a:solidFill>
                  <a:srgbClr val="000000"/>
                </a:solidFill>
                <a:effectLst/>
                <a:latin typeface="Times-Roman"/>
              </a:rPr>
              <a:t>2</a:t>
            </a:r>
            <a:r>
              <a:rPr lang="en-US" sz="1800" b="0" i="0" dirty="0">
                <a:solidFill>
                  <a:srgbClr val="000000"/>
                </a:solidFill>
                <a:effectLst/>
                <a:latin typeface="Times-Roman"/>
              </a:rPr>
              <a:t>, or </a:t>
            </a:r>
            <a:r>
              <a:rPr lang="en-US" sz="1800" b="0" i="0" dirty="0" err="1">
                <a:solidFill>
                  <a:srgbClr val="000000"/>
                </a:solidFill>
                <a:effectLst/>
                <a:latin typeface="Times-Roman"/>
              </a:rPr>
              <a:t>metalacyclopropane</a:t>
            </a:r>
            <a:r>
              <a:rPr lang="en-US" sz="1800" b="0" i="0" dirty="0">
                <a:solidFill>
                  <a:srgbClr val="000000"/>
                </a:solidFill>
                <a:effectLst/>
                <a:latin typeface="Times-Roman"/>
              </a:rPr>
              <a:t>-like</a:t>
            </a:r>
            <a:r>
              <a:rPr lang="en-US" dirty="0"/>
              <a:t> </a:t>
            </a:r>
            <a:br>
              <a:rPr lang="en-US" dirty="0"/>
            </a:br>
            <a:endParaRPr lang="en-IN" dirty="0"/>
          </a:p>
        </p:txBody>
      </p:sp>
    </p:spTree>
    <p:extLst>
      <p:ext uri="{BB962C8B-B14F-4D97-AF65-F5344CB8AC3E}">
        <p14:creationId xmlns:p14="http://schemas.microsoft.com/office/powerpoint/2010/main" val="3977675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4D5CE3-1568-4DBD-96F5-9DDC1CD1386A}"/>
              </a:ext>
            </a:extLst>
          </p:cNvPr>
          <p:cNvSpPr txBox="1"/>
          <p:nvPr/>
        </p:nvSpPr>
        <p:spPr>
          <a:xfrm>
            <a:off x="3048000" y="2136339"/>
            <a:ext cx="6096000" cy="2585323"/>
          </a:xfrm>
          <a:prstGeom prst="rect">
            <a:avLst/>
          </a:prstGeom>
          <a:noFill/>
        </p:spPr>
        <p:txBody>
          <a:bodyPr wrap="square">
            <a:spAutoFit/>
          </a:bodyPr>
          <a:lstStyle/>
          <a:p>
            <a:r>
              <a:rPr lang="en-US" sz="1800" b="0" i="0" dirty="0">
                <a:solidFill>
                  <a:srgbClr val="000000"/>
                </a:solidFill>
                <a:effectLst/>
                <a:latin typeface="Times-Roman"/>
              </a:rPr>
              <a:t>Alkenes are more commonly actor, rather than spectator, ligands. Since simple</a:t>
            </a:r>
            <a:br>
              <a:rPr lang="en-US" sz="1800" b="0" i="0" dirty="0">
                <a:solidFill>
                  <a:srgbClr val="000000"/>
                </a:solidFill>
                <a:effectLst/>
                <a:latin typeface="Times-Roman"/>
              </a:rPr>
            </a:br>
            <a:r>
              <a:rPr lang="en-US" sz="1800" b="0" i="0" dirty="0">
                <a:solidFill>
                  <a:srgbClr val="000000"/>
                </a:solidFill>
                <a:effectLst/>
                <a:latin typeface="Times-Roman"/>
              </a:rPr>
              <a:t>alkenes in the free state are subject to electrophilic but not nucleophilic attack, the</a:t>
            </a:r>
            <a:br>
              <a:rPr lang="en-US" sz="1800" b="0" i="0" dirty="0">
                <a:solidFill>
                  <a:srgbClr val="000000"/>
                </a:solidFill>
                <a:effectLst/>
                <a:latin typeface="Times-Roman"/>
              </a:rPr>
            </a:br>
            <a:r>
              <a:rPr lang="en-US" sz="1800" b="0" i="0" dirty="0">
                <a:solidFill>
                  <a:srgbClr val="000000"/>
                </a:solidFill>
                <a:effectLst/>
                <a:latin typeface="Times-Roman"/>
              </a:rPr>
              <a:t>effect of binding is very significant. It means that the appropriate metal fragment</a:t>
            </a:r>
            <a:br>
              <a:rPr lang="en-US" sz="1800" b="0" i="0" dirty="0">
                <a:solidFill>
                  <a:srgbClr val="000000"/>
                </a:solidFill>
                <a:effectLst/>
                <a:latin typeface="Times-Roman"/>
              </a:rPr>
            </a:br>
            <a:r>
              <a:rPr lang="en-US" sz="1800" b="0" i="0" dirty="0">
                <a:solidFill>
                  <a:srgbClr val="000000"/>
                </a:solidFill>
                <a:effectLst/>
                <a:latin typeface="Times-Roman"/>
              </a:rPr>
              <a:t>inverts the chemical character of the alkene, a phenomenon known as </a:t>
            </a:r>
            <a:r>
              <a:rPr lang="en-US" sz="1800" b="0" i="1" dirty="0">
                <a:solidFill>
                  <a:srgbClr val="000000"/>
                </a:solidFill>
                <a:effectLst/>
                <a:latin typeface="Times-Italic"/>
              </a:rPr>
              <a:t>umpolung</a:t>
            </a:r>
            <a:r>
              <a:rPr lang="en-US" sz="1800" b="0" i="0" dirty="0">
                <a:solidFill>
                  <a:srgbClr val="000000"/>
                </a:solidFill>
                <a:effectLst/>
                <a:latin typeface="Times-Roman"/>
              </a:rPr>
              <a:t>.</a:t>
            </a:r>
            <a:r>
              <a:rPr lang="en-US" dirty="0"/>
              <a:t> </a:t>
            </a:r>
            <a:br>
              <a:rPr lang="en-US" dirty="0"/>
            </a:br>
            <a:endParaRPr lang="en-IN" dirty="0"/>
          </a:p>
        </p:txBody>
      </p:sp>
    </p:spTree>
    <p:extLst>
      <p:ext uri="{BB962C8B-B14F-4D97-AF65-F5344CB8AC3E}">
        <p14:creationId xmlns:p14="http://schemas.microsoft.com/office/powerpoint/2010/main" val="32485985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61B111-E21F-4A87-BD64-2279FE4BE34A}"/>
              </a:ext>
            </a:extLst>
          </p:cNvPr>
          <p:cNvPicPr>
            <a:picLocks noChangeAspect="1"/>
          </p:cNvPicPr>
          <p:nvPr/>
        </p:nvPicPr>
        <p:blipFill>
          <a:blip r:embed="rId2"/>
          <a:stretch>
            <a:fillRect/>
          </a:stretch>
        </p:blipFill>
        <p:spPr>
          <a:xfrm>
            <a:off x="0" y="2904160"/>
            <a:ext cx="12192000" cy="1049680"/>
          </a:xfrm>
          <a:prstGeom prst="rect">
            <a:avLst/>
          </a:prstGeom>
        </p:spPr>
      </p:pic>
    </p:spTree>
    <p:extLst>
      <p:ext uri="{BB962C8B-B14F-4D97-AF65-F5344CB8AC3E}">
        <p14:creationId xmlns:p14="http://schemas.microsoft.com/office/powerpoint/2010/main" val="104988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205EA2-369B-4128-BA5A-4F34BA369BC6}"/>
              </a:ext>
            </a:extLst>
          </p:cNvPr>
          <p:cNvSpPr txBox="1"/>
          <p:nvPr/>
        </p:nvSpPr>
        <p:spPr>
          <a:xfrm>
            <a:off x="1838739" y="1859340"/>
            <a:ext cx="7307745" cy="2031325"/>
          </a:xfrm>
          <a:prstGeom prst="rect">
            <a:avLst/>
          </a:prstGeom>
          <a:noFill/>
        </p:spPr>
        <p:txBody>
          <a:bodyPr wrap="square">
            <a:spAutoFit/>
          </a:bodyPr>
          <a:lstStyle/>
          <a:p>
            <a:r>
              <a:rPr lang="en-US" sz="1800" b="1" i="0" dirty="0">
                <a:solidFill>
                  <a:srgbClr val="000000"/>
                </a:solidFill>
                <a:effectLst/>
                <a:latin typeface="Times-Bold"/>
              </a:rPr>
              <a:t>ALLYL COMPLEXES</a:t>
            </a:r>
            <a:br>
              <a:rPr lang="en-US" sz="1800" b="1" i="0" dirty="0">
                <a:solidFill>
                  <a:srgbClr val="000000"/>
                </a:solidFill>
                <a:effectLst/>
                <a:latin typeface="Times-Bold"/>
              </a:rPr>
            </a:br>
            <a:r>
              <a:rPr lang="en-US" sz="1800" b="0" i="0" dirty="0">
                <a:solidFill>
                  <a:srgbClr val="000000"/>
                </a:solidFill>
                <a:effectLst/>
                <a:latin typeface="Times-Roman"/>
              </a:rPr>
              <a:t>The allyl group,</a:t>
            </a:r>
            <a:r>
              <a:rPr lang="en-US" sz="800" b="0" i="0" dirty="0">
                <a:solidFill>
                  <a:srgbClr val="000000"/>
                </a:solidFill>
                <a:effectLst/>
                <a:latin typeface="Times-Roman"/>
              </a:rPr>
              <a:t>12 </a:t>
            </a:r>
            <a:r>
              <a:rPr lang="en-US" sz="1800" b="0" i="0" dirty="0">
                <a:solidFill>
                  <a:srgbClr val="000000"/>
                </a:solidFill>
                <a:effectLst/>
                <a:latin typeface="Times-Roman"/>
              </a:rPr>
              <a:t>commonly an actor ligand, binds in one of two ways. In the</a:t>
            </a:r>
            <a:br>
              <a:rPr lang="en-US" sz="1800" b="0" i="0" dirty="0">
                <a:solidFill>
                  <a:srgbClr val="000000"/>
                </a:solidFill>
                <a:effectLst/>
                <a:latin typeface="Times-Roman"/>
              </a:rPr>
            </a:br>
            <a:r>
              <a:rPr lang="en-US" sz="1800" b="0" i="0" dirty="0" err="1">
                <a:solidFill>
                  <a:srgbClr val="000000"/>
                </a:solidFill>
                <a:effectLst/>
                <a:latin typeface="Times-Roman"/>
              </a:rPr>
              <a:t>monohapto</a:t>
            </a:r>
            <a:r>
              <a:rPr lang="en-US" sz="1800" b="0" i="0" dirty="0">
                <a:solidFill>
                  <a:srgbClr val="000000"/>
                </a:solidFill>
                <a:effectLst/>
                <a:latin typeface="Times-Roman"/>
              </a:rPr>
              <a:t> form, </a:t>
            </a:r>
            <a:r>
              <a:rPr lang="en-US" sz="1800" b="1" i="0" dirty="0">
                <a:solidFill>
                  <a:srgbClr val="000000"/>
                </a:solidFill>
                <a:effectLst/>
                <a:latin typeface="Times-Bold"/>
              </a:rPr>
              <a:t>5.12</a:t>
            </a:r>
            <a:r>
              <a:rPr lang="en-US" sz="1800" b="0" i="0" dirty="0">
                <a:solidFill>
                  <a:srgbClr val="000000"/>
                </a:solidFill>
                <a:effectLst/>
                <a:latin typeface="Times-Roman"/>
              </a:rPr>
              <a:t>, it is a simple 1e X-type ligand like Me, and in the </a:t>
            </a:r>
            <a:r>
              <a:rPr lang="en-US" sz="1800" b="0" i="0" dirty="0" err="1">
                <a:solidFill>
                  <a:srgbClr val="000000"/>
                </a:solidFill>
                <a:effectLst/>
                <a:latin typeface="Times-Roman"/>
              </a:rPr>
              <a:t>trihapto</a:t>
            </a:r>
            <a:r>
              <a:rPr lang="en-US" dirty="0">
                <a:solidFill>
                  <a:srgbClr val="000000"/>
                </a:solidFill>
                <a:latin typeface="Times-Roman"/>
              </a:rPr>
              <a:t> </a:t>
            </a:r>
            <a:r>
              <a:rPr lang="en-US" sz="1800" b="0" i="0" dirty="0">
                <a:solidFill>
                  <a:srgbClr val="000000"/>
                </a:solidFill>
                <a:effectLst/>
                <a:latin typeface="Times-Roman"/>
              </a:rPr>
              <a:t>form, </a:t>
            </a:r>
            <a:r>
              <a:rPr lang="en-US" sz="1800" b="1" i="0" dirty="0">
                <a:solidFill>
                  <a:srgbClr val="000000"/>
                </a:solidFill>
                <a:effectLst/>
                <a:latin typeface="Times-Bold"/>
              </a:rPr>
              <a:t>5.13</a:t>
            </a:r>
            <a:r>
              <a:rPr lang="en-US" sz="1800" b="0" i="0" dirty="0">
                <a:solidFill>
                  <a:srgbClr val="000000"/>
                </a:solidFill>
                <a:effectLst/>
                <a:latin typeface="Times-Roman"/>
              </a:rPr>
              <a:t>, it acts as a 3e LX </a:t>
            </a:r>
            <a:r>
              <a:rPr lang="en-US" sz="1800" b="0" i="0" dirty="0" err="1">
                <a:solidFill>
                  <a:srgbClr val="000000"/>
                </a:solidFill>
                <a:effectLst/>
                <a:latin typeface="Times-Roman"/>
              </a:rPr>
              <a:t>enyl</a:t>
            </a:r>
            <a:r>
              <a:rPr lang="en-US" sz="1800" b="0" i="0" dirty="0">
                <a:solidFill>
                  <a:srgbClr val="000000"/>
                </a:solidFill>
                <a:effectLst/>
                <a:latin typeface="Times-Roman"/>
              </a:rPr>
              <a:t> ligand. It is often useful to think of </a:t>
            </a:r>
            <a:r>
              <a:rPr lang="en-US" sz="1800" b="1" i="0" dirty="0">
                <a:solidFill>
                  <a:srgbClr val="000000"/>
                </a:solidFill>
                <a:effectLst/>
                <a:latin typeface="Times-Bold"/>
              </a:rPr>
              <a:t>5.13 </a:t>
            </a:r>
            <a:r>
              <a:rPr lang="en-US" sz="1800" b="0" i="0" dirty="0">
                <a:solidFill>
                  <a:srgbClr val="000000"/>
                </a:solidFill>
                <a:effectLst/>
                <a:latin typeface="Times-Roman"/>
              </a:rPr>
              <a:t>in terms of the resonance forms </a:t>
            </a:r>
            <a:r>
              <a:rPr lang="en-US" sz="1800" b="1" i="0" dirty="0">
                <a:solidFill>
                  <a:srgbClr val="000000"/>
                </a:solidFill>
                <a:effectLst/>
                <a:latin typeface="Times-Bold"/>
              </a:rPr>
              <a:t>5.14a </a:t>
            </a:r>
            <a:r>
              <a:rPr lang="en-US" sz="1800" b="0" i="0" dirty="0">
                <a:solidFill>
                  <a:srgbClr val="000000"/>
                </a:solidFill>
                <a:effectLst/>
                <a:latin typeface="Times-Roman"/>
              </a:rPr>
              <a:t>and </a:t>
            </a:r>
            <a:r>
              <a:rPr lang="en-US" sz="1800" b="1" i="0" dirty="0">
                <a:solidFill>
                  <a:srgbClr val="000000"/>
                </a:solidFill>
                <a:effectLst/>
                <a:latin typeface="Times-Bold"/>
              </a:rPr>
              <a:t>5.14b</a:t>
            </a:r>
            <a:r>
              <a:rPr lang="en-US" sz="1800" b="0" i="0" dirty="0">
                <a:solidFill>
                  <a:srgbClr val="000000"/>
                </a:solidFill>
                <a:effectLst/>
                <a:latin typeface="Times-Roman"/>
              </a:rPr>
              <a:t>. Intermediate cases between </a:t>
            </a:r>
            <a:r>
              <a:rPr lang="en-US" sz="1800" b="1" i="0" dirty="0">
                <a:solidFill>
                  <a:srgbClr val="000000"/>
                </a:solidFill>
                <a:effectLst/>
                <a:latin typeface="Times-Bold"/>
              </a:rPr>
              <a:t>5.12 </a:t>
            </a:r>
            <a:r>
              <a:rPr lang="en-US" sz="1800" b="0" i="0" dirty="0">
                <a:solidFill>
                  <a:srgbClr val="000000"/>
                </a:solidFill>
                <a:effectLst/>
                <a:latin typeface="Times-Roman"/>
              </a:rPr>
              <a:t>and </a:t>
            </a:r>
            <a:r>
              <a:rPr lang="en-US" sz="1800" b="1" i="0" dirty="0">
                <a:solidFill>
                  <a:srgbClr val="000000"/>
                </a:solidFill>
                <a:effectLst/>
                <a:latin typeface="Times-Bold"/>
              </a:rPr>
              <a:t>5.13 </a:t>
            </a:r>
            <a:r>
              <a:rPr lang="en-US" sz="1800" b="0" i="0" dirty="0">
                <a:solidFill>
                  <a:srgbClr val="000000"/>
                </a:solidFill>
                <a:effectLst/>
                <a:latin typeface="Times-Roman"/>
              </a:rPr>
              <a:t>(</a:t>
            </a:r>
            <a:r>
              <a:rPr lang="en-US" sz="1800" b="0" i="1" dirty="0">
                <a:solidFill>
                  <a:srgbClr val="000000"/>
                </a:solidFill>
                <a:effectLst/>
                <a:latin typeface="MTMI"/>
              </a:rPr>
              <a:t>η</a:t>
            </a:r>
            <a:r>
              <a:rPr lang="en-US" sz="800" b="0" i="0" dirty="0">
                <a:solidFill>
                  <a:srgbClr val="000000"/>
                </a:solidFill>
                <a:effectLst/>
                <a:latin typeface="Times-Roman"/>
              </a:rPr>
              <a:t>2</a:t>
            </a:r>
            <a:r>
              <a:rPr lang="en-US" sz="1800" b="0" i="0" dirty="0">
                <a:solidFill>
                  <a:srgbClr val="000000"/>
                </a:solidFill>
                <a:effectLst/>
                <a:latin typeface="Times-Roman"/>
              </a:rPr>
              <a:t>-allyls) are also known.</a:t>
            </a:r>
            <a:r>
              <a:rPr lang="en-US" sz="800" b="0" i="0" dirty="0">
                <a:solidFill>
                  <a:srgbClr val="000000"/>
                </a:solidFill>
                <a:effectLst/>
                <a:latin typeface="Times-Roman"/>
              </a:rPr>
              <a:t>13</a:t>
            </a:r>
            <a:r>
              <a:rPr lang="en-US" dirty="0"/>
              <a:t> </a:t>
            </a:r>
            <a:br>
              <a:rPr lang="en-US" dirty="0"/>
            </a:br>
            <a:endParaRPr lang="en-IN" dirty="0"/>
          </a:p>
        </p:txBody>
      </p:sp>
    </p:spTree>
    <p:extLst>
      <p:ext uri="{BB962C8B-B14F-4D97-AF65-F5344CB8AC3E}">
        <p14:creationId xmlns:p14="http://schemas.microsoft.com/office/powerpoint/2010/main" val="5564110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439AC8-93D2-4000-8E61-A92567F573BF}"/>
              </a:ext>
            </a:extLst>
          </p:cNvPr>
          <p:cNvSpPr txBox="1"/>
          <p:nvPr/>
        </p:nvSpPr>
        <p:spPr>
          <a:xfrm>
            <a:off x="1876010" y="1410782"/>
            <a:ext cx="9076911" cy="4647426"/>
          </a:xfrm>
          <a:prstGeom prst="rect">
            <a:avLst/>
          </a:prstGeom>
          <a:noFill/>
        </p:spPr>
        <p:txBody>
          <a:bodyPr wrap="square">
            <a:spAutoFit/>
          </a:bodyPr>
          <a:lstStyle/>
          <a:p>
            <a:r>
              <a:rPr lang="en-US" sz="4000" b="1" i="0" dirty="0">
                <a:solidFill>
                  <a:srgbClr val="000000"/>
                </a:solidFill>
                <a:effectLst/>
                <a:latin typeface="Times-Bold"/>
              </a:rPr>
              <a:t>DIENE COMPLEXES</a:t>
            </a:r>
            <a:br>
              <a:rPr lang="en-US" sz="1800" b="1" i="0" dirty="0">
                <a:solidFill>
                  <a:srgbClr val="000000"/>
                </a:solidFill>
                <a:effectLst/>
                <a:latin typeface="Times-Bold"/>
              </a:rPr>
            </a:br>
            <a:r>
              <a:rPr lang="en-US" sz="3200" b="0" i="0" dirty="0">
                <a:solidFill>
                  <a:srgbClr val="000000"/>
                </a:solidFill>
                <a:effectLst/>
                <a:latin typeface="Times-Roman"/>
              </a:rPr>
              <a:t>This ligand usually acts as a 4e donor in its </a:t>
            </a:r>
            <a:r>
              <a:rPr lang="en-US" sz="3200" b="0" i="0" dirty="0" err="1">
                <a:solidFill>
                  <a:srgbClr val="000000"/>
                </a:solidFill>
                <a:effectLst/>
                <a:latin typeface="Times-Roman"/>
              </a:rPr>
              <a:t>cisoid</a:t>
            </a:r>
            <a:r>
              <a:rPr lang="en-US" sz="3200" b="0" i="0" dirty="0">
                <a:solidFill>
                  <a:srgbClr val="000000"/>
                </a:solidFill>
                <a:effectLst/>
                <a:latin typeface="Times-Roman"/>
              </a:rPr>
              <a:t> conformation.</a:t>
            </a:r>
            <a:br>
              <a:rPr lang="en-US" sz="3200" b="0" i="0" dirty="0">
                <a:solidFill>
                  <a:srgbClr val="000000"/>
                </a:solidFill>
                <a:effectLst/>
                <a:latin typeface="Times-Roman"/>
              </a:rPr>
            </a:br>
            <a:r>
              <a:rPr lang="en-US" sz="3200" b="0" i="0" dirty="0">
                <a:solidFill>
                  <a:srgbClr val="000000"/>
                </a:solidFill>
                <a:effectLst/>
                <a:latin typeface="Times-Roman"/>
              </a:rPr>
              <a:t>This L2 (diene or </a:t>
            </a:r>
            <a:r>
              <a:rPr lang="en-US" sz="3200" b="0" i="1" dirty="0">
                <a:solidFill>
                  <a:srgbClr val="000000"/>
                </a:solidFill>
                <a:effectLst/>
                <a:latin typeface="MTMI"/>
              </a:rPr>
              <a:t>π</a:t>
            </a:r>
            <a:r>
              <a:rPr lang="en-US" sz="3200" b="0" i="0" dirty="0">
                <a:solidFill>
                  <a:srgbClr val="000000"/>
                </a:solidFill>
                <a:effectLst/>
                <a:latin typeface="Times-Roman"/>
              </a:rPr>
              <a:t>2) form is analogous to the </a:t>
            </a:r>
            <a:r>
              <a:rPr lang="en-US" sz="3200" b="0" i="0" dirty="0" err="1">
                <a:solidFill>
                  <a:srgbClr val="000000"/>
                </a:solidFill>
                <a:effectLst/>
                <a:latin typeface="Times-Roman"/>
              </a:rPr>
              <a:t>Chatt</a:t>
            </a:r>
            <a:r>
              <a:rPr lang="en-US" sz="3200" b="0" i="0" dirty="0">
                <a:solidFill>
                  <a:srgbClr val="000000"/>
                </a:solidFill>
                <a:effectLst/>
                <a:latin typeface="Times-Roman"/>
              </a:rPr>
              <a:t>–Dewar extreme for alkenes,</a:t>
            </a:r>
            <a:br>
              <a:rPr lang="en-US" sz="3200" b="0" i="0" dirty="0">
                <a:solidFill>
                  <a:srgbClr val="000000"/>
                </a:solidFill>
                <a:effectLst/>
                <a:latin typeface="Times-Roman"/>
              </a:rPr>
            </a:br>
            <a:r>
              <a:rPr lang="en-US" sz="3200" b="0" i="0" dirty="0">
                <a:solidFill>
                  <a:srgbClr val="000000"/>
                </a:solidFill>
                <a:effectLst/>
                <a:latin typeface="Times-Roman"/>
              </a:rPr>
              <a:t>while the LX2 form </a:t>
            </a:r>
            <a:r>
              <a:rPr lang="en-US" sz="3200" b="1" i="0" dirty="0">
                <a:solidFill>
                  <a:srgbClr val="000000"/>
                </a:solidFill>
                <a:effectLst/>
                <a:latin typeface="Times-Bold"/>
              </a:rPr>
              <a:t>5.16 </a:t>
            </a:r>
            <a:r>
              <a:rPr lang="en-US" sz="3200" b="0" i="0" dirty="0">
                <a:solidFill>
                  <a:srgbClr val="000000"/>
                </a:solidFill>
                <a:effectLst/>
                <a:latin typeface="Times-Roman"/>
              </a:rPr>
              <a:t>is related to the </a:t>
            </a:r>
            <a:r>
              <a:rPr lang="en-US" sz="3200" b="0" i="0" dirty="0" err="1">
                <a:solidFill>
                  <a:srgbClr val="000000"/>
                </a:solidFill>
                <a:effectLst/>
                <a:latin typeface="Times-Roman"/>
              </a:rPr>
              <a:t>metalacyclopropane</a:t>
            </a:r>
            <a:br>
              <a:rPr lang="en-US" sz="3200" b="0" i="0" dirty="0">
                <a:solidFill>
                  <a:srgbClr val="000000"/>
                </a:solidFill>
                <a:effectLst/>
                <a:latin typeface="Times-Roman"/>
              </a:rPr>
            </a:br>
            <a:r>
              <a:rPr lang="en-US" sz="3200" b="0" i="0" dirty="0">
                <a:solidFill>
                  <a:srgbClr val="000000"/>
                </a:solidFill>
                <a:effectLst/>
                <a:latin typeface="Times-Roman"/>
              </a:rPr>
              <a:t>extreme. </a:t>
            </a:r>
            <a:br>
              <a:rPr lang="en-US" sz="3200" dirty="0"/>
            </a:br>
            <a:endParaRPr lang="en-IN" sz="3200" dirty="0"/>
          </a:p>
        </p:txBody>
      </p:sp>
    </p:spTree>
    <p:extLst>
      <p:ext uri="{BB962C8B-B14F-4D97-AF65-F5344CB8AC3E}">
        <p14:creationId xmlns:p14="http://schemas.microsoft.com/office/powerpoint/2010/main" val="57327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C3C0C7C-E408-4635-89A1-77B0C15365AE}"/>
              </a:ext>
            </a:extLst>
          </p:cNvPr>
          <p:cNvPicPr>
            <a:picLocks noChangeAspect="1"/>
          </p:cNvPicPr>
          <p:nvPr/>
        </p:nvPicPr>
        <p:blipFill>
          <a:blip r:embed="rId2"/>
          <a:stretch>
            <a:fillRect/>
          </a:stretch>
        </p:blipFill>
        <p:spPr>
          <a:xfrm>
            <a:off x="214312" y="885825"/>
            <a:ext cx="11763375" cy="5086350"/>
          </a:xfrm>
          <a:prstGeom prst="rect">
            <a:avLst/>
          </a:prstGeom>
        </p:spPr>
      </p:pic>
    </p:spTree>
    <p:extLst>
      <p:ext uri="{BB962C8B-B14F-4D97-AF65-F5344CB8AC3E}">
        <p14:creationId xmlns:p14="http://schemas.microsoft.com/office/powerpoint/2010/main" val="8643782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DDAB90-F94D-41B4-8AB5-72FF31645EDE}"/>
              </a:ext>
            </a:extLst>
          </p:cNvPr>
          <p:cNvPicPr>
            <a:picLocks noChangeAspect="1"/>
          </p:cNvPicPr>
          <p:nvPr/>
        </p:nvPicPr>
        <p:blipFill>
          <a:blip r:embed="rId2"/>
          <a:stretch>
            <a:fillRect/>
          </a:stretch>
        </p:blipFill>
        <p:spPr>
          <a:xfrm>
            <a:off x="2008153" y="0"/>
            <a:ext cx="8175694" cy="6858000"/>
          </a:xfrm>
          <a:prstGeom prst="rect">
            <a:avLst/>
          </a:prstGeom>
        </p:spPr>
      </p:pic>
    </p:spTree>
    <p:extLst>
      <p:ext uri="{BB962C8B-B14F-4D97-AF65-F5344CB8AC3E}">
        <p14:creationId xmlns:p14="http://schemas.microsoft.com/office/powerpoint/2010/main" val="18654563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08AE848-B7DF-4CAD-9B69-90D2C8B4407C}"/>
              </a:ext>
            </a:extLst>
          </p:cNvPr>
          <p:cNvPicPr>
            <a:picLocks noChangeAspect="1"/>
          </p:cNvPicPr>
          <p:nvPr/>
        </p:nvPicPr>
        <p:blipFill>
          <a:blip r:embed="rId2"/>
          <a:stretch>
            <a:fillRect/>
          </a:stretch>
        </p:blipFill>
        <p:spPr>
          <a:xfrm>
            <a:off x="1367016" y="0"/>
            <a:ext cx="9457968" cy="6858000"/>
          </a:xfrm>
          <a:prstGeom prst="rect">
            <a:avLst/>
          </a:prstGeom>
        </p:spPr>
      </p:pic>
    </p:spTree>
    <p:extLst>
      <p:ext uri="{BB962C8B-B14F-4D97-AF65-F5344CB8AC3E}">
        <p14:creationId xmlns:p14="http://schemas.microsoft.com/office/powerpoint/2010/main" val="11523275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C91184-D3B3-415C-9BB4-96DBF4660405}"/>
              </a:ext>
            </a:extLst>
          </p:cNvPr>
          <p:cNvPicPr>
            <a:picLocks noChangeAspect="1"/>
          </p:cNvPicPr>
          <p:nvPr/>
        </p:nvPicPr>
        <p:blipFill>
          <a:blip r:embed="rId2"/>
          <a:stretch>
            <a:fillRect/>
          </a:stretch>
        </p:blipFill>
        <p:spPr>
          <a:xfrm>
            <a:off x="2089736" y="1103195"/>
            <a:ext cx="7760439" cy="4652712"/>
          </a:xfrm>
          <a:prstGeom prst="rect">
            <a:avLst/>
          </a:prstGeom>
        </p:spPr>
      </p:pic>
    </p:spTree>
    <p:extLst>
      <p:ext uri="{BB962C8B-B14F-4D97-AF65-F5344CB8AC3E}">
        <p14:creationId xmlns:p14="http://schemas.microsoft.com/office/powerpoint/2010/main" val="21640976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F18201-410D-4716-BFB3-56B8E309378E}"/>
              </a:ext>
            </a:extLst>
          </p:cNvPr>
          <p:cNvSpPr txBox="1"/>
          <p:nvPr/>
        </p:nvSpPr>
        <p:spPr>
          <a:xfrm>
            <a:off x="2512114" y="1213296"/>
            <a:ext cx="8003485" cy="5293757"/>
          </a:xfrm>
          <a:prstGeom prst="rect">
            <a:avLst/>
          </a:prstGeom>
          <a:noFill/>
        </p:spPr>
        <p:txBody>
          <a:bodyPr wrap="square">
            <a:spAutoFit/>
          </a:bodyPr>
          <a:lstStyle/>
          <a:p>
            <a:r>
              <a:rPr lang="en-US" sz="3200" b="0" i="0" dirty="0">
                <a:solidFill>
                  <a:srgbClr val="000000"/>
                </a:solidFill>
                <a:effectLst/>
                <a:latin typeface="Times-Roman"/>
              </a:rPr>
              <a:t>We expect the frontier orbitals of the butadiene, </a:t>
            </a:r>
            <a:r>
              <a:rPr lang="en-US" sz="3200" b="0" i="1" dirty="0">
                <a:solidFill>
                  <a:srgbClr val="000000"/>
                </a:solidFill>
                <a:effectLst/>
                <a:latin typeface="MTMI"/>
              </a:rPr>
              <a:t>ψ</a:t>
            </a:r>
            <a:r>
              <a:rPr lang="en-US" sz="3200" b="0" i="0" dirty="0">
                <a:solidFill>
                  <a:srgbClr val="000000"/>
                </a:solidFill>
                <a:effectLst/>
                <a:latin typeface="Times-Roman"/>
              </a:rPr>
              <a:t>2 (HOMO) and </a:t>
            </a:r>
            <a:r>
              <a:rPr lang="en-US" sz="3200" b="0" i="1" dirty="0">
                <a:solidFill>
                  <a:srgbClr val="000000"/>
                </a:solidFill>
                <a:effectLst/>
                <a:latin typeface="MTMI"/>
              </a:rPr>
              <a:t>ψ</a:t>
            </a:r>
            <a:r>
              <a:rPr lang="en-US" sz="3200" b="0" i="0" dirty="0">
                <a:solidFill>
                  <a:srgbClr val="000000"/>
                </a:solidFill>
                <a:effectLst/>
                <a:latin typeface="Times-Roman"/>
              </a:rPr>
              <a:t>3 (LUMO),</a:t>
            </a:r>
            <a:br>
              <a:rPr lang="en-US" sz="3200" b="0" i="0" dirty="0">
                <a:solidFill>
                  <a:srgbClr val="000000"/>
                </a:solidFill>
                <a:effectLst/>
                <a:latin typeface="Times-Roman"/>
              </a:rPr>
            </a:br>
            <a:r>
              <a:rPr lang="en-US" sz="3200" b="0" i="0" dirty="0">
                <a:solidFill>
                  <a:srgbClr val="000000"/>
                </a:solidFill>
                <a:effectLst/>
                <a:latin typeface="Times-Roman"/>
              </a:rPr>
              <a:t>to be the most important in bonding to the metal. The MO diagram (Fig. 5.2)</a:t>
            </a:r>
            <a:br>
              <a:rPr lang="en-US" sz="3200" b="0" i="0" dirty="0">
                <a:solidFill>
                  <a:srgbClr val="000000"/>
                </a:solidFill>
                <a:effectLst/>
                <a:latin typeface="Times-Roman"/>
              </a:rPr>
            </a:br>
            <a:r>
              <a:rPr lang="en-US" sz="3200" b="0" i="0" dirty="0">
                <a:solidFill>
                  <a:srgbClr val="000000"/>
                </a:solidFill>
                <a:effectLst/>
                <a:latin typeface="Times-Roman"/>
              </a:rPr>
              <a:t>shows that both the depletion of electron density in </a:t>
            </a:r>
            <a:r>
              <a:rPr lang="en-US" sz="3200" b="0" i="1" dirty="0">
                <a:solidFill>
                  <a:srgbClr val="000000"/>
                </a:solidFill>
                <a:effectLst/>
                <a:latin typeface="MTMI"/>
              </a:rPr>
              <a:t>ψ</a:t>
            </a:r>
            <a:r>
              <a:rPr lang="en-US" sz="3200" b="0" i="0" dirty="0">
                <a:solidFill>
                  <a:srgbClr val="000000"/>
                </a:solidFill>
                <a:effectLst/>
                <a:latin typeface="Times-Roman"/>
              </a:rPr>
              <a:t>2 by </a:t>
            </a:r>
            <a:r>
              <a:rPr lang="en-US" sz="3200" b="0" i="1" dirty="0">
                <a:solidFill>
                  <a:srgbClr val="000000"/>
                </a:solidFill>
                <a:effectLst/>
                <a:latin typeface="MTMI"/>
              </a:rPr>
              <a:t>σ </a:t>
            </a:r>
            <a:r>
              <a:rPr lang="en-US" sz="3200" b="0" i="0" dirty="0">
                <a:solidFill>
                  <a:srgbClr val="000000"/>
                </a:solidFill>
                <a:effectLst/>
                <a:latin typeface="Times-Roman"/>
              </a:rPr>
              <a:t>donation to the</a:t>
            </a:r>
            <a:br>
              <a:rPr lang="en-US" sz="3200" b="0" i="0" dirty="0">
                <a:solidFill>
                  <a:srgbClr val="000000"/>
                </a:solidFill>
                <a:effectLst/>
                <a:latin typeface="Times-Roman"/>
              </a:rPr>
            </a:br>
            <a:r>
              <a:rPr lang="en-US" sz="3200" b="0" i="0" dirty="0">
                <a:solidFill>
                  <a:srgbClr val="000000"/>
                </a:solidFill>
                <a:effectLst/>
                <a:latin typeface="Times-Roman"/>
              </a:rPr>
              <a:t>metal and population of </a:t>
            </a:r>
            <a:r>
              <a:rPr lang="en-US" sz="3200" b="0" i="1" dirty="0">
                <a:solidFill>
                  <a:srgbClr val="000000"/>
                </a:solidFill>
                <a:effectLst/>
                <a:latin typeface="MTMI"/>
              </a:rPr>
              <a:t>ψ</a:t>
            </a:r>
            <a:r>
              <a:rPr lang="en-US" sz="3200" b="0" i="0" dirty="0">
                <a:solidFill>
                  <a:srgbClr val="000000"/>
                </a:solidFill>
                <a:effectLst/>
                <a:latin typeface="Times-Roman"/>
              </a:rPr>
              <a:t>3 by back donation from the metal lengthens C1C2</a:t>
            </a:r>
            <a:br>
              <a:rPr lang="en-US" sz="3200" b="0" i="0" dirty="0">
                <a:solidFill>
                  <a:srgbClr val="000000"/>
                </a:solidFill>
                <a:effectLst/>
                <a:latin typeface="Times-Roman"/>
              </a:rPr>
            </a:br>
            <a:r>
              <a:rPr lang="en-US" sz="3200" b="0" i="0" dirty="0">
                <a:solidFill>
                  <a:srgbClr val="000000"/>
                </a:solidFill>
                <a:effectLst/>
                <a:latin typeface="Times-Roman"/>
              </a:rPr>
              <a:t>and shortens C2C3 because </a:t>
            </a:r>
            <a:r>
              <a:rPr lang="en-US" sz="3200" b="0" i="1" dirty="0">
                <a:solidFill>
                  <a:srgbClr val="000000"/>
                </a:solidFill>
                <a:effectLst/>
                <a:latin typeface="MTMI"/>
              </a:rPr>
              <a:t>ψ</a:t>
            </a:r>
            <a:r>
              <a:rPr lang="en-US" sz="3200" b="0" i="0" dirty="0">
                <a:solidFill>
                  <a:srgbClr val="000000"/>
                </a:solidFill>
                <a:effectLst/>
                <a:latin typeface="Times-Roman"/>
              </a:rPr>
              <a:t>2 is C1C2 antibonding and </a:t>
            </a:r>
            <a:r>
              <a:rPr lang="en-US" sz="3200" b="0" i="1" dirty="0">
                <a:solidFill>
                  <a:srgbClr val="000000"/>
                </a:solidFill>
                <a:effectLst/>
                <a:latin typeface="MTMI"/>
              </a:rPr>
              <a:t>ψ</a:t>
            </a:r>
            <a:r>
              <a:rPr lang="en-US" sz="3200" b="0" i="0" dirty="0">
                <a:solidFill>
                  <a:srgbClr val="000000"/>
                </a:solidFill>
                <a:effectLst/>
                <a:latin typeface="Times-Roman"/>
              </a:rPr>
              <a:t>3 is C2C3 bonding</a:t>
            </a:r>
            <a:r>
              <a:rPr lang="en-US" sz="3200" dirty="0"/>
              <a:t> </a:t>
            </a:r>
            <a:br>
              <a:rPr lang="en-US" dirty="0"/>
            </a:br>
            <a:endParaRPr lang="en-IN" dirty="0"/>
          </a:p>
        </p:txBody>
      </p:sp>
    </p:spTree>
    <p:extLst>
      <p:ext uri="{BB962C8B-B14F-4D97-AF65-F5344CB8AC3E}">
        <p14:creationId xmlns:p14="http://schemas.microsoft.com/office/powerpoint/2010/main" val="13526378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2AC48C-4A03-44C5-BF0B-ABEFB73269AE}"/>
              </a:ext>
            </a:extLst>
          </p:cNvPr>
          <p:cNvPicPr>
            <a:picLocks noChangeAspect="1"/>
          </p:cNvPicPr>
          <p:nvPr/>
        </p:nvPicPr>
        <p:blipFill>
          <a:blip r:embed="rId2"/>
          <a:stretch>
            <a:fillRect/>
          </a:stretch>
        </p:blipFill>
        <p:spPr>
          <a:xfrm>
            <a:off x="1166812" y="2386012"/>
            <a:ext cx="9858375" cy="2085975"/>
          </a:xfrm>
          <a:prstGeom prst="rect">
            <a:avLst/>
          </a:prstGeom>
        </p:spPr>
      </p:pic>
    </p:spTree>
    <p:extLst>
      <p:ext uri="{BB962C8B-B14F-4D97-AF65-F5344CB8AC3E}">
        <p14:creationId xmlns:p14="http://schemas.microsoft.com/office/powerpoint/2010/main" val="18312428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1E976C-A36E-40E7-8FD8-B4F88F14C9C3}"/>
              </a:ext>
            </a:extLst>
          </p:cNvPr>
          <p:cNvPicPr>
            <a:picLocks noChangeAspect="1"/>
          </p:cNvPicPr>
          <p:nvPr/>
        </p:nvPicPr>
        <p:blipFill>
          <a:blip r:embed="rId2"/>
          <a:stretch>
            <a:fillRect/>
          </a:stretch>
        </p:blipFill>
        <p:spPr>
          <a:xfrm>
            <a:off x="5562600" y="3176587"/>
            <a:ext cx="1066800" cy="504825"/>
          </a:xfrm>
          <a:prstGeom prst="rect">
            <a:avLst/>
          </a:prstGeom>
        </p:spPr>
      </p:pic>
      <p:pic>
        <p:nvPicPr>
          <p:cNvPr id="3" name="Picture 2">
            <a:extLst>
              <a:ext uri="{FF2B5EF4-FFF2-40B4-BE49-F238E27FC236}">
                <a16:creationId xmlns:a16="http://schemas.microsoft.com/office/drawing/2014/main" id="{0C4D89F0-5964-44AC-B7D5-FD19104D109B}"/>
              </a:ext>
            </a:extLst>
          </p:cNvPr>
          <p:cNvPicPr>
            <a:picLocks noChangeAspect="1"/>
          </p:cNvPicPr>
          <p:nvPr/>
        </p:nvPicPr>
        <p:blipFill>
          <a:blip r:embed="rId2"/>
          <a:stretch>
            <a:fillRect/>
          </a:stretch>
        </p:blipFill>
        <p:spPr>
          <a:xfrm>
            <a:off x="5715000" y="3328987"/>
            <a:ext cx="1066800" cy="504825"/>
          </a:xfrm>
          <a:prstGeom prst="rect">
            <a:avLst/>
          </a:prstGeom>
        </p:spPr>
      </p:pic>
      <p:pic>
        <p:nvPicPr>
          <p:cNvPr id="4" name="Picture 3">
            <a:extLst>
              <a:ext uri="{FF2B5EF4-FFF2-40B4-BE49-F238E27FC236}">
                <a16:creationId xmlns:a16="http://schemas.microsoft.com/office/drawing/2014/main" id="{319C4482-FAB2-4C7B-B77B-BF65AE1DC632}"/>
              </a:ext>
            </a:extLst>
          </p:cNvPr>
          <p:cNvPicPr>
            <a:picLocks noChangeAspect="1"/>
          </p:cNvPicPr>
          <p:nvPr/>
        </p:nvPicPr>
        <p:blipFill>
          <a:blip r:embed="rId3"/>
          <a:stretch>
            <a:fillRect/>
          </a:stretch>
        </p:blipFill>
        <p:spPr>
          <a:xfrm>
            <a:off x="2038350" y="2252662"/>
            <a:ext cx="8115300" cy="2352675"/>
          </a:xfrm>
          <a:prstGeom prst="rect">
            <a:avLst/>
          </a:prstGeom>
        </p:spPr>
      </p:pic>
      <p:sp>
        <p:nvSpPr>
          <p:cNvPr id="6" name="TextBox 5">
            <a:extLst>
              <a:ext uri="{FF2B5EF4-FFF2-40B4-BE49-F238E27FC236}">
                <a16:creationId xmlns:a16="http://schemas.microsoft.com/office/drawing/2014/main" id="{54055D7B-0ECE-442F-9977-1E93784FA855}"/>
              </a:ext>
            </a:extLst>
          </p:cNvPr>
          <p:cNvSpPr txBox="1"/>
          <p:nvPr/>
        </p:nvSpPr>
        <p:spPr>
          <a:xfrm>
            <a:off x="2879863" y="5155241"/>
            <a:ext cx="6097656" cy="1477328"/>
          </a:xfrm>
          <a:prstGeom prst="rect">
            <a:avLst/>
          </a:prstGeom>
          <a:noFill/>
        </p:spPr>
        <p:txBody>
          <a:bodyPr wrap="square">
            <a:spAutoFit/>
          </a:bodyPr>
          <a:lstStyle/>
          <a:p>
            <a:r>
              <a:rPr lang="en-US" sz="1800" b="0" i="0" dirty="0">
                <a:solidFill>
                  <a:srgbClr val="000000"/>
                </a:solidFill>
                <a:effectLst/>
                <a:latin typeface="Times-Roman"/>
              </a:rPr>
              <a:t>The C</a:t>
            </a:r>
            <a:r>
              <a:rPr lang="en-US" sz="800" b="0" i="0" dirty="0">
                <a:solidFill>
                  <a:srgbClr val="000000"/>
                </a:solidFill>
                <a:effectLst/>
                <a:latin typeface="Times-Roman"/>
              </a:rPr>
              <a:t>1</a:t>
            </a:r>
            <a:r>
              <a:rPr lang="en-US" sz="1800" b="0" i="0" dirty="0">
                <a:solidFill>
                  <a:srgbClr val="000000"/>
                </a:solidFill>
                <a:effectLst/>
                <a:latin typeface="Times-Roman"/>
              </a:rPr>
              <a:t>C</a:t>
            </a:r>
            <a:r>
              <a:rPr lang="en-US" sz="800" b="0" i="0" dirty="0">
                <a:solidFill>
                  <a:srgbClr val="000000"/>
                </a:solidFill>
                <a:effectLst/>
                <a:latin typeface="Times-Roman"/>
              </a:rPr>
              <a:t>2</a:t>
            </a:r>
            <a:r>
              <a:rPr lang="en-US" sz="1800" b="0" i="0" dirty="0">
                <a:solidFill>
                  <a:srgbClr val="000000"/>
                </a:solidFill>
                <a:effectLst/>
                <a:latin typeface="Times-Roman"/>
              </a:rPr>
              <a:t>, and C</a:t>
            </a:r>
            <a:r>
              <a:rPr lang="en-US" sz="800" b="0" i="0" dirty="0">
                <a:solidFill>
                  <a:srgbClr val="000000"/>
                </a:solidFill>
                <a:effectLst/>
                <a:latin typeface="Times-Roman"/>
              </a:rPr>
              <a:t>3</a:t>
            </a:r>
            <a:r>
              <a:rPr lang="en-US" sz="1800" b="0" i="0" dirty="0">
                <a:solidFill>
                  <a:srgbClr val="000000"/>
                </a:solidFill>
                <a:effectLst/>
                <a:latin typeface="Times-Roman"/>
              </a:rPr>
              <a:t>C</a:t>
            </a:r>
            <a:r>
              <a:rPr lang="en-US" sz="800" b="0" i="0" dirty="0">
                <a:solidFill>
                  <a:srgbClr val="000000"/>
                </a:solidFill>
                <a:effectLst/>
                <a:latin typeface="Times-Roman"/>
              </a:rPr>
              <a:t>4 </a:t>
            </a:r>
            <a:r>
              <a:rPr lang="en-US" sz="1800" b="0" i="0" dirty="0">
                <a:solidFill>
                  <a:srgbClr val="000000"/>
                </a:solidFill>
                <a:effectLst/>
                <a:latin typeface="Times-Roman"/>
              </a:rPr>
              <a:t>distances</a:t>
            </a:r>
            <a:br>
              <a:rPr lang="en-US" sz="1800" b="0" i="0" dirty="0">
                <a:solidFill>
                  <a:srgbClr val="000000"/>
                </a:solidFill>
                <a:effectLst/>
                <a:latin typeface="Times-Roman"/>
              </a:rPr>
            </a:br>
            <a:r>
              <a:rPr lang="en-US" sz="1800" b="0" i="0" dirty="0">
                <a:solidFill>
                  <a:srgbClr val="000000"/>
                </a:solidFill>
                <a:effectLst/>
                <a:latin typeface="Times-Roman"/>
              </a:rPr>
              <a:t>[1.46 A(average)] ˚ are much longer than C</a:t>
            </a:r>
            <a:r>
              <a:rPr lang="en-US" sz="800" b="0" i="0" dirty="0">
                <a:solidFill>
                  <a:srgbClr val="000000"/>
                </a:solidFill>
                <a:effectLst/>
                <a:latin typeface="Times-Roman"/>
              </a:rPr>
              <a:t>2</a:t>
            </a:r>
            <a:r>
              <a:rPr lang="en-US" sz="1800" b="0" i="0" dirty="0">
                <a:solidFill>
                  <a:srgbClr val="000000"/>
                </a:solidFill>
                <a:effectLst/>
                <a:latin typeface="Times-Roman"/>
              </a:rPr>
              <a:t>C</a:t>
            </a:r>
            <a:r>
              <a:rPr lang="en-US" sz="800" b="0" i="0" dirty="0">
                <a:solidFill>
                  <a:srgbClr val="000000"/>
                </a:solidFill>
                <a:effectLst/>
                <a:latin typeface="Times-Roman"/>
              </a:rPr>
              <a:t>3 </a:t>
            </a:r>
            <a:r>
              <a:rPr lang="en-US" sz="1800" b="0" i="0" dirty="0">
                <a:solidFill>
                  <a:srgbClr val="000000"/>
                </a:solidFill>
                <a:effectLst/>
                <a:latin typeface="Times-Roman"/>
              </a:rPr>
              <a:t>(1.40 A), ˚ and C</a:t>
            </a:r>
            <a:r>
              <a:rPr lang="en-US" sz="800" b="0" i="0" dirty="0">
                <a:solidFill>
                  <a:srgbClr val="000000"/>
                </a:solidFill>
                <a:effectLst/>
                <a:latin typeface="Times-Roman"/>
              </a:rPr>
              <a:t>1 </a:t>
            </a:r>
            <a:r>
              <a:rPr lang="en-US" sz="1800" b="0" i="0" dirty="0">
                <a:solidFill>
                  <a:srgbClr val="000000"/>
                </a:solidFill>
                <a:effectLst/>
                <a:latin typeface="Times-Roman"/>
              </a:rPr>
              <a:t>and C</a:t>
            </a:r>
            <a:r>
              <a:rPr lang="en-US" sz="800" b="0" i="0" dirty="0">
                <a:solidFill>
                  <a:srgbClr val="000000"/>
                </a:solidFill>
                <a:effectLst/>
                <a:latin typeface="Times-Roman"/>
              </a:rPr>
              <a:t>4 </a:t>
            </a:r>
            <a:r>
              <a:rPr lang="en-US" sz="1800" b="0" i="0" dirty="0">
                <a:solidFill>
                  <a:srgbClr val="000000"/>
                </a:solidFill>
                <a:effectLst/>
                <a:latin typeface="Times-Roman"/>
              </a:rPr>
              <a:t>are closer</a:t>
            </a:r>
            <a:br>
              <a:rPr lang="en-US" sz="1800" b="0" i="0" dirty="0">
                <a:solidFill>
                  <a:srgbClr val="000000"/>
                </a:solidFill>
                <a:effectLst/>
                <a:latin typeface="Times-Roman"/>
              </a:rPr>
            </a:br>
            <a:r>
              <a:rPr lang="en-US" sz="1800" b="0" i="0" dirty="0">
                <a:solidFill>
                  <a:srgbClr val="000000"/>
                </a:solidFill>
                <a:effectLst/>
                <a:latin typeface="Times-Roman"/>
              </a:rPr>
              <a:t>to the metal than C</a:t>
            </a:r>
            <a:r>
              <a:rPr lang="en-US" sz="800" b="0" i="0" dirty="0">
                <a:solidFill>
                  <a:srgbClr val="000000"/>
                </a:solidFill>
                <a:effectLst/>
                <a:latin typeface="Times-Roman"/>
              </a:rPr>
              <a:t>2 </a:t>
            </a:r>
            <a:r>
              <a:rPr lang="en-US" sz="1800" b="0" i="0" dirty="0">
                <a:solidFill>
                  <a:srgbClr val="000000"/>
                </a:solidFill>
                <a:effectLst/>
                <a:latin typeface="Times-Roman"/>
              </a:rPr>
              <a:t>and C</a:t>
            </a:r>
            <a:r>
              <a:rPr lang="en-US" sz="800" b="0" i="0" dirty="0">
                <a:solidFill>
                  <a:srgbClr val="000000"/>
                </a:solidFill>
                <a:effectLst/>
                <a:latin typeface="Times-Roman"/>
              </a:rPr>
              <a:t>3 </a:t>
            </a:r>
            <a:r>
              <a:rPr lang="en-US" sz="1800" b="0" i="0" dirty="0">
                <a:solidFill>
                  <a:srgbClr val="000000"/>
                </a:solidFill>
                <a:effectLst/>
                <a:latin typeface="Times-Roman"/>
              </a:rPr>
              <a:t>by 0.18 A.</a:t>
            </a:r>
            <a:r>
              <a:rPr lang="en-US" dirty="0"/>
              <a:t> </a:t>
            </a:r>
            <a:br>
              <a:rPr lang="en-US" dirty="0"/>
            </a:br>
            <a:endParaRPr lang="en-IN" dirty="0"/>
          </a:p>
        </p:txBody>
      </p:sp>
    </p:spTree>
    <p:extLst>
      <p:ext uri="{BB962C8B-B14F-4D97-AF65-F5344CB8AC3E}">
        <p14:creationId xmlns:p14="http://schemas.microsoft.com/office/powerpoint/2010/main" val="6000568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09915B-F0A9-4DAB-B2B6-42318DC01966}"/>
              </a:ext>
            </a:extLst>
          </p:cNvPr>
          <p:cNvSpPr txBox="1"/>
          <p:nvPr/>
        </p:nvSpPr>
        <p:spPr>
          <a:xfrm>
            <a:off x="416616" y="-127189"/>
            <a:ext cx="8319880" cy="7602081"/>
          </a:xfrm>
          <a:prstGeom prst="rect">
            <a:avLst/>
          </a:prstGeom>
          <a:noFill/>
        </p:spPr>
        <p:txBody>
          <a:bodyPr wrap="square">
            <a:spAutoFit/>
          </a:bodyPr>
          <a:lstStyle/>
          <a:p>
            <a:r>
              <a:rPr lang="en-US" sz="4000" b="1" i="0" dirty="0">
                <a:solidFill>
                  <a:srgbClr val="000000"/>
                </a:solidFill>
                <a:effectLst/>
                <a:latin typeface="Times-Bold"/>
              </a:rPr>
              <a:t>Alkyne Complexes</a:t>
            </a:r>
            <a:br>
              <a:rPr lang="en-US" sz="1800" b="1" i="0" dirty="0">
                <a:solidFill>
                  <a:srgbClr val="000000"/>
                </a:solidFill>
                <a:effectLst/>
                <a:latin typeface="Times-Bold"/>
              </a:rPr>
            </a:br>
            <a:r>
              <a:rPr lang="en-US" sz="3200" b="0" i="0" dirty="0">
                <a:solidFill>
                  <a:srgbClr val="000000"/>
                </a:solidFill>
                <a:effectLst/>
                <a:latin typeface="Times-Roman"/>
              </a:rPr>
              <a:t>Alkynes behave in ways broadly similar to alkenes, but being more electronegative, they tend to encourage back donation and bind more strongly. The substituents tend to fold back away from the metal by 30</a:t>
            </a:r>
            <a:r>
              <a:rPr lang="en-US" sz="3200" b="0" i="0" dirty="0">
                <a:solidFill>
                  <a:srgbClr val="000000"/>
                </a:solidFill>
                <a:effectLst/>
                <a:latin typeface="MTSYN"/>
              </a:rPr>
              <a:t>◦ </a:t>
            </a:r>
            <a:r>
              <a:rPr lang="en-US" sz="3200" b="0" i="0" dirty="0">
                <a:solidFill>
                  <a:srgbClr val="000000"/>
                </a:solidFill>
                <a:effectLst/>
                <a:latin typeface="Times-Roman"/>
              </a:rPr>
              <a:t>–40</a:t>
            </a:r>
            <a:r>
              <a:rPr lang="en-US" sz="3200" b="0" i="0" dirty="0">
                <a:solidFill>
                  <a:srgbClr val="000000"/>
                </a:solidFill>
                <a:effectLst/>
                <a:latin typeface="MTSYN"/>
              </a:rPr>
              <a:t>◦ </a:t>
            </a:r>
            <a:r>
              <a:rPr lang="en-US" sz="3200" b="0" i="0" dirty="0">
                <a:solidFill>
                  <a:srgbClr val="000000"/>
                </a:solidFill>
                <a:effectLst/>
                <a:latin typeface="Times-Roman"/>
              </a:rPr>
              <a:t>in the complex, and</a:t>
            </a:r>
            <a:br>
              <a:rPr lang="en-US" sz="3200" b="0" i="0" dirty="0">
                <a:solidFill>
                  <a:srgbClr val="000000"/>
                </a:solidFill>
                <a:effectLst/>
                <a:latin typeface="Times-Roman"/>
              </a:rPr>
            </a:br>
            <a:r>
              <a:rPr lang="en-US" sz="3200" b="0" i="0" dirty="0">
                <a:solidFill>
                  <a:srgbClr val="000000"/>
                </a:solidFill>
                <a:effectLst/>
                <a:latin typeface="Times-Roman"/>
              </a:rPr>
              <a:t>the M</a:t>
            </a:r>
            <a:r>
              <a:rPr lang="en-US" sz="3200" b="0" i="0" dirty="0">
                <a:solidFill>
                  <a:srgbClr val="000000"/>
                </a:solidFill>
                <a:effectLst/>
                <a:latin typeface="MTSYN"/>
              </a:rPr>
              <a:t>-</a:t>
            </a:r>
            <a:r>
              <a:rPr lang="en-US" sz="3200" b="0" i="0" dirty="0">
                <a:solidFill>
                  <a:srgbClr val="000000"/>
                </a:solidFill>
                <a:effectLst/>
                <a:latin typeface="Times-Roman"/>
              </a:rPr>
              <a:t>C distances are slightly shorter than in the corresponding alkene complexes. The </a:t>
            </a:r>
            <a:r>
              <a:rPr lang="en-US" sz="3200" b="0" i="0" dirty="0" err="1">
                <a:solidFill>
                  <a:srgbClr val="000000"/>
                </a:solidFill>
                <a:effectLst/>
                <a:latin typeface="Times-Roman"/>
              </a:rPr>
              <a:t>metalacyclopropene</a:t>
            </a:r>
            <a:r>
              <a:rPr lang="en-US" sz="3200" b="0" i="0" dirty="0">
                <a:solidFill>
                  <a:srgbClr val="000000"/>
                </a:solidFill>
                <a:effectLst/>
                <a:latin typeface="Times-Roman"/>
              </a:rPr>
              <a:t> model (</a:t>
            </a:r>
            <a:r>
              <a:rPr lang="en-US" sz="3200" b="1" i="0" dirty="0">
                <a:solidFill>
                  <a:srgbClr val="000000"/>
                </a:solidFill>
                <a:effectLst/>
                <a:latin typeface="Times-Bold"/>
              </a:rPr>
              <a:t>5.6</a:t>
            </a:r>
            <a:r>
              <a:rPr lang="en-US" sz="3200" b="0" i="0" dirty="0">
                <a:solidFill>
                  <a:srgbClr val="000000"/>
                </a:solidFill>
                <a:effectLst/>
                <a:latin typeface="Times-Roman"/>
              </a:rPr>
              <a:t>) seems often to be the most appropriate description when alkynes act as 2e donors. More interestingly, alkynes</a:t>
            </a:r>
            <a:br>
              <a:rPr lang="en-US" sz="3200" b="0" i="0" dirty="0">
                <a:solidFill>
                  <a:srgbClr val="000000"/>
                </a:solidFill>
                <a:effectLst/>
                <a:latin typeface="Times-Roman"/>
              </a:rPr>
            </a:br>
            <a:r>
              <a:rPr lang="en-US" sz="3200" b="0" i="0" dirty="0">
                <a:solidFill>
                  <a:srgbClr val="000000"/>
                </a:solidFill>
                <a:effectLst/>
                <a:latin typeface="Times-Roman"/>
              </a:rPr>
              <a:t>can form complexes that appear to be coordinatively unsaturated. For example,</a:t>
            </a:r>
            <a:br>
              <a:rPr lang="en-US" sz="3200" b="0" i="0" dirty="0">
                <a:solidFill>
                  <a:srgbClr val="000000"/>
                </a:solidFill>
                <a:effectLst/>
                <a:latin typeface="Times-Roman"/>
              </a:rPr>
            </a:br>
            <a:r>
              <a:rPr lang="en-US" sz="3200" b="1" i="0" dirty="0">
                <a:solidFill>
                  <a:srgbClr val="000000"/>
                </a:solidFill>
                <a:effectLst/>
                <a:latin typeface="Times-Bold"/>
              </a:rPr>
              <a:t>5.7</a:t>
            </a:r>
            <a:r>
              <a:rPr lang="en-US" sz="3200" b="0" i="0" dirty="0">
                <a:solidFill>
                  <a:srgbClr val="000000"/>
                </a:solidFill>
                <a:effectLst/>
                <a:latin typeface="Times-Roman"/>
              </a:rPr>
              <a:t>6 appears to be 14e</a:t>
            </a:r>
            <a:r>
              <a:rPr lang="en-US" sz="3200" dirty="0">
                <a:solidFill>
                  <a:srgbClr val="000000"/>
                </a:solidFill>
                <a:latin typeface="Times-Roman"/>
              </a:rPr>
              <a:t>.</a:t>
            </a:r>
            <a:br>
              <a:rPr lang="en-US" sz="3200" dirty="0"/>
            </a:br>
            <a:endParaRPr lang="en-IN" sz="3200" dirty="0"/>
          </a:p>
        </p:txBody>
      </p:sp>
      <p:pic>
        <p:nvPicPr>
          <p:cNvPr id="4" name="Picture 3">
            <a:extLst>
              <a:ext uri="{FF2B5EF4-FFF2-40B4-BE49-F238E27FC236}">
                <a16:creationId xmlns:a16="http://schemas.microsoft.com/office/drawing/2014/main" id="{272960E7-38F8-410C-A13A-C38728A16E93}"/>
              </a:ext>
            </a:extLst>
          </p:cNvPr>
          <p:cNvPicPr>
            <a:picLocks noChangeAspect="1"/>
          </p:cNvPicPr>
          <p:nvPr/>
        </p:nvPicPr>
        <p:blipFill>
          <a:blip r:embed="rId2"/>
          <a:stretch>
            <a:fillRect/>
          </a:stretch>
        </p:blipFill>
        <p:spPr>
          <a:xfrm>
            <a:off x="8736496" y="1628981"/>
            <a:ext cx="3252581" cy="2657453"/>
          </a:xfrm>
          <a:prstGeom prst="rect">
            <a:avLst/>
          </a:prstGeom>
        </p:spPr>
      </p:pic>
      <p:pic>
        <p:nvPicPr>
          <p:cNvPr id="5" name="Picture 4">
            <a:extLst>
              <a:ext uri="{FF2B5EF4-FFF2-40B4-BE49-F238E27FC236}">
                <a16:creationId xmlns:a16="http://schemas.microsoft.com/office/drawing/2014/main" id="{49F186E0-612A-47A7-ACE7-951BC860E72C}"/>
              </a:ext>
            </a:extLst>
          </p:cNvPr>
          <p:cNvPicPr>
            <a:picLocks noChangeAspect="1"/>
          </p:cNvPicPr>
          <p:nvPr/>
        </p:nvPicPr>
        <p:blipFill>
          <a:blip r:embed="rId3"/>
          <a:stretch>
            <a:fillRect/>
          </a:stretch>
        </p:blipFill>
        <p:spPr>
          <a:xfrm>
            <a:off x="8965096" y="4353841"/>
            <a:ext cx="2426597" cy="2504159"/>
          </a:xfrm>
          <a:prstGeom prst="rect">
            <a:avLst/>
          </a:prstGeom>
        </p:spPr>
      </p:pic>
    </p:spTree>
    <p:extLst>
      <p:ext uri="{BB962C8B-B14F-4D97-AF65-F5344CB8AC3E}">
        <p14:creationId xmlns:p14="http://schemas.microsoft.com/office/powerpoint/2010/main" val="38858132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D28B08-BDC8-45F9-AAD6-C4B990A35297}"/>
              </a:ext>
            </a:extLst>
          </p:cNvPr>
          <p:cNvPicPr>
            <a:picLocks noChangeAspect="1"/>
          </p:cNvPicPr>
          <p:nvPr/>
        </p:nvPicPr>
        <p:blipFill>
          <a:blip r:embed="rId2"/>
          <a:stretch>
            <a:fillRect/>
          </a:stretch>
        </p:blipFill>
        <p:spPr>
          <a:xfrm>
            <a:off x="3157537" y="1831906"/>
            <a:ext cx="3948942" cy="4550564"/>
          </a:xfrm>
          <a:prstGeom prst="rect">
            <a:avLst/>
          </a:prstGeom>
        </p:spPr>
      </p:pic>
    </p:spTree>
    <p:extLst>
      <p:ext uri="{BB962C8B-B14F-4D97-AF65-F5344CB8AC3E}">
        <p14:creationId xmlns:p14="http://schemas.microsoft.com/office/powerpoint/2010/main" val="4882478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8E5629A-E4E8-48F9-B356-D4993662B257}"/>
              </a:ext>
            </a:extLst>
          </p:cNvPr>
          <p:cNvPicPr>
            <a:picLocks noChangeAspect="1"/>
          </p:cNvPicPr>
          <p:nvPr/>
        </p:nvPicPr>
        <p:blipFill>
          <a:blip r:embed="rId2"/>
          <a:stretch>
            <a:fillRect/>
          </a:stretch>
        </p:blipFill>
        <p:spPr>
          <a:xfrm>
            <a:off x="0" y="2237340"/>
            <a:ext cx="12192000" cy="2383319"/>
          </a:xfrm>
          <a:prstGeom prst="rect">
            <a:avLst/>
          </a:prstGeom>
        </p:spPr>
      </p:pic>
    </p:spTree>
    <p:extLst>
      <p:ext uri="{BB962C8B-B14F-4D97-AF65-F5344CB8AC3E}">
        <p14:creationId xmlns:p14="http://schemas.microsoft.com/office/powerpoint/2010/main" val="37269631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E640EF-FACB-4448-9558-5B78EF9C175C}"/>
              </a:ext>
            </a:extLst>
          </p:cNvPr>
          <p:cNvPicPr>
            <a:picLocks noChangeAspect="1"/>
          </p:cNvPicPr>
          <p:nvPr/>
        </p:nvPicPr>
        <p:blipFill>
          <a:blip r:embed="rId2"/>
          <a:stretch>
            <a:fillRect/>
          </a:stretch>
        </p:blipFill>
        <p:spPr>
          <a:xfrm>
            <a:off x="1461052" y="2583084"/>
            <a:ext cx="6826014" cy="2505752"/>
          </a:xfrm>
          <a:prstGeom prst="rect">
            <a:avLst/>
          </a:prstGeom>
        </p:spPr>
      </p:pic>
    </p:spTree>
    <p:extLst>
      <p:ext uri="{BB962C8B-B14F-4D97-AF65-F5344CB8AC3E}">
        <p14:creationId xmlns:p14="http://schemas.microsoft.com/office/powerpoint/2010/main" val="4295512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92A7586-F22B-4339-AA4B-47D12080B5FB}"/>
              </a:ext>
            </a:extLst>
          </p:cNvPr>
          <p:cNvPicPr>
            <a:picLocks noChangeAspect="1"/>
          </p:cNvPicPr>
          <p:nvPr/>
        </p:nvPicPr>
        <p:blipFill>
          <a:blip r:embed="rId2"/>
          <a:stretch>
            <a:fillRect/>
          </a:stretch>
        </p:blipFill>
        <p:spPr>
          <a:xfrm>
            <a:off x="0" y="1830952"/>
            <a:ext cx="12192000" cy="3196095"/>
          </a:xfrm>
          <a:prstGeom prst="rect">
            <a:avLst/>
          </a:prstGeom>
        </p:spPr>
      </p:pic>
    </p:spTree>
    <p:extLst>
      <p:ext uri="{BB962C8B-B14F-4D97-AF65-F5344CB8AC3E}">
        <p14:creationId xmlns:p14="http://schemas.microsoft.com/office/powerpoint/2010/main" val="3254525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Outline for Today Review MO construction for Conjugated Systems Discuss  Diels-Alder Reaction Chapter 14 – Aromaticity Tie in Aromaticity to  Diels-Alder. - ppt download">
            <a:extLst>
              <a:ext uri="{FF2B5EF4-FFF2-40B4-BE49-F238E27FC236}">
                <a16:creationId xmlns:a16="http://schemas.microsoft.com/office/drawing/2014/main" id="{15C0A8E6-AA4C-4145-8EFC-D75915C403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51717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8B5D74-849B-4A36-9653-D26BE638CF63}"/>
              </a:ext>
            </a:extLst>
          </p:cNvPr>
          <p:cNvPicPr>
            <a:picLocks noChangeAspect="1"/>
          </p:cNvPicPr>
          <p:nvPr/>
        </p:nvPicPr>
        <p:blipFill>
          <a:blip r:embed="rId2"/>
          <a:stretch>
            <a:fillRect/>
          </a:stretch>
        </p:blipFill>
        <p:spPr>
          <a:xfrm>
            <a:off x="-623231" y="556592"/>
            <a:ext cx="7852672" cy="6858000"/>
          </a:xfrm>
          <a:prstGeom prst="rect">
            <a:avLst/>
          </a:prstGeom>
        </p:spPr>
      </p:pic>
      <p:sp>
        <p:nvSpPr>
          <p:cNvPr id="5" name="TextBox 4">
            <a:extLst>
              <a:ext uri="{FF2B5EF4-FFF2-40B4-BE49-F238E27FC236}">
                <a16:creationId xmlns:a16="http://schemas.microsoft.com/office/drawing/2014/main" id="{F857C3A2-42B1-43C6-9047-1199CE719332}"/>
              </a:ext>
            </a:extLst>
          </p:cNvPr>
          <p:cNvSpPr txBox="1"/>
          <p:nvPr/>
        </p:nvSpPr>
        <p:spPr>
          <a:xfrm>
            <a:off x="8153399" y="1075731"/>
            <a:ext cx="2203175" cy="646331"/>
          </a:xfrm>
          <a:prstGeom prst="rect">
            <a:avLst/>
          </a:prstGeom>
          <a:noFill/>
        </p:spPr>
        <p:txBody>
          <a:bodyPr wrap="square">
            <a:spAutoFit/>
          </a:bodyPr>
          <a:lstStyle/>
          <a:p>
            <a:br>
              <a:rPr lang="en-US" dirty="0"/>
            </a:br>
            <a:endParaRPr lang="en-IN" dirty="0"/>
          </a:p>
        </p:txBody>
      </p:sp>
    </p:spTree>
    <p:extLst>
      <p:ext uri="{BB962C8B-B14F-4D97-AF65-F5344CB8AC3E}">
        <p14:creationId xmlns:p14="http://schemas.microsoft.com/office/powerpoint/2010/main" val="32734331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38D13F-07A3-4C45-8694-E92B293C18B4}"/>
              </a:ext>
            </a:extLst>
          </p:cNvPr>
          <p:cNvPicPr>
            <a:picLocks noChangeAspect="1"/>
          </p:cNvPicPr>
          <p:nvPr/>
        </p:nvPicPr>
        <p:blipFill>
          <a:blip r:embed="rId2"/>
          <a:stretch>
            <a:fillRect/>
          </a:stretch>
        </p:blipFill>
        <p:spPr>
          <a:xfrm>
            <a:off x="0" y="1834444"/>
            <a:ext cx="12192000" cy="3189111"/>
          </a:xfrm>
          <a:prstGeom prst="rect">
            <a:avLst/>
          </a:prstGeom>
        </p:spPr>
      </p:pic>
    </p:spTree>
    <p:extLst>
      <p:ext uri="{BB962C8B-B14F-4D97-AF65-F5344CB8AC3E}">
        <p14:creationId xmlns:p14="http://schemas.microsoft.com/office/powerpoint/2010/main" val="32388830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69BB53-A0DD-4F71-B7BE-A55ED3C82A8F}"/>
              </a:ext>
            </a:extLst>
          </p:cNvPr>
          <p:cNvSpPr txBox="1"/>
          <p:nvPr/>
        </p:nvSpPr>
        <p:spPr>
          <a:xfrm>
            <a:off x="2971800" y="1789063"/>
            <a:ext cx="6572250" cy="3016210"/>
          </a:xfrm>
          <a:prstGeom prst="rect">
            <a:avLst/>
          </a:prstGeom>
          <a:noFill/>
        </p:spPr>
        <p:txBody>
          <a:bodyPr wrap="square">
            <a:spAutoFit/>
          </a:bodyPr>
          <a:lstStyle/>
          <a:p>
            <a:pPr algn="ctr"/>
            <a:r>
              <a:rPr lang="en-US" sz="4000" b="1" i="0" dirty="0">
                <a:solidFill>
                  <a:srgbClr val="000000"/>
                </a:solidFill>
                <a:effectLst/>
                <a:latin typeface="LiberationSerif"/>
              </a:rPr>
              <a:t>Metal-Carbene Complexes</a:t>
            </a:r>
          </a:p>
          <a:p>
            <a:pPr algn="ctr"/>
            <a:endParaRPr lang="en-US" dirty="0">
              <a:solidFill>
                <a:srgbClr val="000000"/>
              </a:solidFill>
              <a:latin typeface="LiberationSerif"/>
            </a:endParaRPr>
          </a:p>
          <a:p>
            <a:pPr algn="ctr"/>
            <a:endParaRPr lang="en-US" sz="3200" dirty="0">
              <a:solidFill>
                <a:srgbClr val="000000"/>
              </a:solidFill>
              <a:latin typeface="LiberationSerif"/>
            </a:endParaRPr>
          </a:p>
          <a:p>
            <a:pPr algn="ctr"/>
            <a:endParaRPr lang="en-US" sz="3200" b="0" i="0" dirty="0">
              <a:solidFill>
                <a:srgbClr val="000000"/>
              </a:solidFill>
              <a:effectLst/>
              <a:latin typeface="LiberationSerif"/>
            </a:endParaRPr>
          </a:p>
          <a:p>
            <a:pPr algn="ctr"/>
            <a:r>
              <a:rPr lang="en-US" sz="3200" b="0" i="0" dirty="0" err="1">
                <a:solidFill>
                  <a:srgbClr val="000000"/>
                </a:solidFill>
                <a:effectLst/>
                <a:latin typeface="Times-Roman"/>
              </a:rPr>
              <a:t>L</a:t>
            </a:r>
            <a:r>
              <a:rPr lang="en-US" sz="3200" b="0" i="1" dirty="0" err="1">
                <a:solidFill>
                  <a:srgbClr val="000000"/>
                </a:solidFill>
                <a:effectLst/>
                <a:latin typeface="MTMI"/>
              </a:rPr>
              <a:t>n</a:t>
            </a:r>
            <a:r>
              <a:rPr lang="en-US" sz="3200" b="0" i="0" dirty="0" err="1">
                <a:solidFill>
                  <a:srgbClr val="000000"/>
                </a:solidFill>
                <a:effectLst/>
                <a:latin typeface="Times-Roman"/>
              </a:rPr>
              <a:t>M</a:t>
            </a:r>
            <a:r>
              <a:rPr lang="en-US" sz="3200" b="0" i="0" dirty="0">
                <a:solidFill>
                  <a:srgbClr val="000000"/>
                </a:solidFill>
                <a:effectLst/>
                <a:latin typeface="MTSYN"/>
              </a:rPr>
              <a:t>=</a:t>
            </a:r>
            <a:r>
              <a:rPr lang="en-US" sz="3200" b="0" i="0" dirty="0">
                <a:solidFill>
                  <a:srgbClr val="000000"/>
                </a:solidFill>
                <a:effectLst/>
                <a:latin typeface="Times-Roman"/>
              </a:rPr>
              <a:t>CR</a:t>
            </a:r>
            <a:r>
              <a:rPr lang="en-US" sz="3200" b="0" i="0" baseline="-25000" dirty="0">
                <a:solidFill>
                  <a:srgbClr val="000000"/>
                </a:solidFill>
                <a:effectLst/>
                <a:latin typeface="Times-Roman"/>
              </a:rPr>
              <a:t>2</a:t>
            </a:r>
            <a:endParaRPr lang="en-US" sz="3200" b="0" i="0" baseline="-25000" dirty="0">
              <a:solidFill>
                <a:srgbClr val="000000"/>
              </a:solidFill>
              <a:effectLst/>
              <a:latin typeface="LiberationSerif"/>
            </a:endParaRPr>
          </a:p>
          <a:p>
            <a:br>
              <a:rPr lang="en-US" dirty="0"/>
            </a:br>
            <a:endParaRPr lang="en-IN" dirty="0"/>
          </a:p>
        </p:txBody>
      </p:sp>
    </p:spTree>
    <p:extLst>
      <p:ext uri="{BB962C8B-B14F-4D97-AF65-F5344CB8AC3E}">
        <p14:creationId xmlns:p14="http://schemas.microsoft.com/office/powerpoint/2010/main" val="40153020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B1C370-D728-4F5C-AAD7-FD5A2BE7D158}"/>
              </a:ext>
            </a:extLst>
          </p:cNvPr>
          <p:cNvSpPr txBox="1"/>
          <p:nvPr/>
        </p:nvSpPr>
        <p:spPr>
          <a:xfrm>
            <a:off x="2381250" y="753160"/>
            <a:ext cx="6096000" cy="1569660"/>
          </a:xfrm>
          <a:prstGeom prst="rect">
            <a:avLst/>
          </a:prstGeom>
          <a:noFill/>
        </p:spPr>
        <p:txBody>
          <a:bodyPr wrap="square">
            <a:spAutoFit/>
          </a:bodyPr>
          <a:lstStyle/>
          <a:p>
            <a:r>
              <a:rPr lang="en-US" sz="3200" b="0" i="0" dirty="0">
                <a:solidFill>
                  <a:srgbClr val="000000"/>
                </a:solidFill>
                <a:effectLst/>
                <a:latin typeface="LiberationSerif"/>
              </a:rPr>
              <a:t>Compounds that contain metal–carbon double bonds are generally called metal carbene complexes. </a:t>
            </a:r>
          </a:p>
        </p:txBody>
      </p:sp>
      <p:sp>
        <p:nvSpPr>
          <p:cNvPr id="5" name="TextBox 4">
            <a:extLst>
              <a:ext uri="{FF2B5EF4-FFF2-40B4-BE49-F238E27FC236}">
                <a16:creationId xmlns:a16="http://schemas.microsoft.com/office/drawing/2014/main" id="{CE6E4B6C-8146-4AC2-8D6D-39F644672247}"/>
              </a:ext>
            </a:extLst>
          </p:cNvPr>
          <p:cNvSpPr txBox="1"/>
          <p:nvPr/>
        </p:nvSpPr>
        <p:spPr>
          <a:xfrm>
            <a:off x="2038350" y="4175463"/>
            <a:ext cx="8839200" cy="1846659"/>
          </a:xfrm>
          <a:prstGeom prst="rect">
            <a:avLst/>
          </a:prstGeom>
          <a:noFill/>
        </p:spPr>
        <p:txBody>
          <a:bodyPr wrap="square">
            <a:spAutoFit/>
          </a:bodyPr>
          <a:lstStyle/>
          <a:p>
            <a:r>
              <a:rPr lang="en-US" sz="3200" dirty="0">
                <a:solidFill>
                  <a:srgbClr val="000000"/>
                </a:solidFill>
                <a:latin typeface="Times-Roman"/>
              </a:rPr>
              <a:t>I</a:t>
            </a:r>
            <a:r>
              <a:rPr lang="en-US" sz="3200" b="0" i="0" dirty="0">
                <a:solidFill>
                  <a:srgbClr val="000000"/>
                </a:solidFill>
                <a:effectLst/>
                <a:latin typeface="Times-Roman"/>
              </a:rPr>
              <a:t>n metal carbene complexes, </a:t>
            </a:r>
            <a:r>
              <a:rPr lang="en-US" sz="3200" b="0" i="0" dirty="0" err="1">
                <a:solidFill>
                  <a:srgbClr val="000000"/>
                </a:solidFill>
                <a:effectLst/>
                <a:latin typeface="Times-Roman"/>
              </a:rPr>
              <a:t>L</a:t>
            </a:r>
            <a:r>
              <a:rPr lang="en-US" sz="3200" b="0" i="1" dirty="0" err="1">
                <a:solidFill>
                  <a:srgbClr val="000000"/>
                </a:solidFill>
                <a:effectLst/>
                <a:latin typeface="MTMI"/>
              </a:rPr>
              <a:t>n</a:t>
            </a:r>
            <a:r>
              <a:rPr lang="en-US" sz="3200" b="0" i="0" dirty="0" err="1">
                <a:solidFill>
                  <a:srgbClr val="000000"/>
                </a:solidFill>
                <a:effectLst/>
                <a:latin typeface="Times-Roman"/>
              </a:rPr>
              <a:t>M</a:t>
            </a:r>
            <a:r>
              <a:rPr lang="en-US" sz="3200" b="0" i="0" dirty="0">
                <a:solidFill>
                  <a:srgbClr val="000000"/>
                </a:solidFill>
                <a:effectLst/>
                <a:latin typeface="MTSYN"/>
              </a:rPr>
              <a:t>=</a:t>
            </a:r>
            <a:r>
              <a:rPr lang="en-US" sz="3200" b="0" i="0" dirty="0">
                <a:solidFill>
                  <a:srgbClr val="000000"/>
                </a:solidFill>
                <a:effectLst/>
                <a:latin typeface="Times-Roman"/>
              </a:rPr>
              <a:t>CR2, which have a trigonal planar carbon and at least</a:t>
            </a:r>
            <a:br>
              <a:rPr lang="en-US" sz="3200" b="0" i="0" dirty="0">
                <a:solidFill>
                  <a:srgbClr val="000000"/>
                </a:solidFill>
                <a:effectLst/>
                <a:latin typeface="Times-Roman"/>
              </a:rPr>
            </a:br>
            <a:r>
              <a:rPr lang="en-US" sz="3200" b="0" i="0" dirty="0">
                <a:solidFill>
                  <a:srgbClr val="000000"/>
                </a:solidFill>
                <a:effectLst/>
                <a:latin typeface="Times-Roman"/>
              </a:rPr>
              <a:t>formally contain an M</a:t>
            </a:r>
            <a:r>
              <a:rPr lang="en-US" sz="3200" b="0" i="0" dirty="0">
                <a:solidFill>
                  <a:srgbClr val="000000"/>
                </a:solidFill>
                <a:effectLst/>
                <a:latin typeface="MTSYN"/>
              </a:rPr>
              <a:t>=</a:t>
            </a:r>
            <a:r>
              <a:rPr lang="en-US" sz="3200" b="0" i="0" dirty="0">
                <a:solidFill>
                  <a:srgbClr val="000000"/>
                </a:solidFill>
                <a:effectLst/>
                <a:latin typeface="Times-Roman"/>
              </a:rPr>
              <a:t>C double bond,</a:t>
            </a:r>
            <a:r>
              <a:rPr lang="en-US" sz="3200" dirty="0"/>
              <a:t> </a:t>
            </a:r>
            <a:br>
              <a:rPr lang="en-US" dirty="0"/>
            </a:br>
            <a:endParaRPr lang="en-IN" dirty="0"/>
          </a:p>
        </p:txBody>
      </p:sp>
    </p:spTree>
    <p:extLst>
      <p:ext uri="{BB962C8B-B14F-4D97-AF65-F5344CB8AC3E}">
        <p14:creationId xmlns:p14="http://schemas.microsoft.com/office/powerpoint/2010/main" val="3473681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19DEC1-D3F2-4841-A0D1-0E18442BC82D}"/>
              </a:ext>
            </a:extLst>
          </p:cNvPr>
          <p:cNvSpPr txBox="1"/>
          <p:nvPr/>
        </p:nvSpPr>
        <p:spPr>
          <a:xfrm>
            <a:off x="3048000" y="2762935"/>
            <a:ext cx="6096000" cy="1569660"/>
          </a:xfrm>
          <a:prstGeom prst="rect">
            <a:avLst/>
          </a:prstGeom>
          <a:noFill/>
        </p:spPr>
        <p:txBody>
          <a:bodyPr wrap="square">
            <a:spAutoFit/>
          </a:bodyPr>
          <a:lstStyle/>
          <a:p>
            <a:r>
              <a:rPr lang="en-US" sz="3200" b="0" i="0" dirty="0">
                <a:solidFill>
                  <a:srgbClr val="000000"/>
                </a:solidFill>
                <a:effectLst/>
                <a:latin typeface="LiberationSerif"/>
              </a:rPr>
              <a:t>Two types: “Fischer carbene complexes”  and “Schrock</a:t>
            </a:r>
            <a:br>
              <a:rPr lang="en-US" sz="3200" b="0" i="0" dirty="0">
                <a:solidFill>
                  <a:srgbClr val="000000"/>
                </a:solidFill>
                <a:effectLst/>
                <a:latin typeface="LiberationSerif"/>
              </a:rPr>
            </a:br>
            <a:r>
              <a:rPr lang="en-US" sz="3200" b="0" i="0" dirty="0">
                <a:solidFill>
                  <a:srgbClr val="000000"/>
                </a:solidFill>
                <a:effectLst/>
                <a:latin typeface="LiberationSerif"/>
              </a:rPr>
              <a:t>carbene complexes”</a:t>
            </a:r>
            <a:r>
              <a:rPr lang="en-US" sz="3200" dirty="0"/>
              <a:t> </a:t>
            </a:r>
            <a:endParaRPr lang="en-IN" sz="3200" dirty="0"/>
          </a:p>
        </p:txBody>
      </p:sp>
    </p:spTree>
    <p:extLst>
      <p:ext uri="{BB962C8B-B14F-4D97-AF65-F5344CB8AC3E}">
        <p14:creationId xmlns:p14="http://schemas.microsoft.com/office/powerpoint/2010/main" val="26009512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C95690-44F3-4C10-85CB-8B8A750BF11A}"/>
              </a:ext>
            </a:extLst>
          </p:cNvPr>
          <p:cNvSpPr txBox="1"/>
          <p:nvPr/>
        </p:nvSpPr>
        <p:spPr>
          <a:xfrm>
            <a:off x="800101" y="549968"/>
            <a:ext cx="11239500" cy="5293757"/>
          </a:xfrm>
          <a:prstGeom prst="rect">
            <a:avLst/>
          </a:prstGeom>
          <a:noFill/>
        </p:spPr>
        <p:txBody>
          <a:bodyPr wrap="square">
            <a:spAutoFit/>
          </a:bodyPr>
          <a:lstStyle/>
          <a:p>
            <a:r>
              <a:rPr lang="en-US" sz="3200" b="1" i="0" dirty="0">
                <a:solidFill>
                  <a:srgbClr val="000000"/>
                </a:solidFill>
                <a:effectLst/>
                <a:latin typeface="Times-Roman"/>
              </a:rPr>
              <a:t>Carbenes, </a:t>
            </a:r>
            <a:r>
              <a:rPr lang="en-US" sz="3200" b="1" i="0" dirty="0" err="1">
                <a:solidFill>
                  <a:srgbClr val="000000"/>
                </a:solidFill>
                <a:effectLst/>
                <a:latin typeface="Times-Roman"/>
              </a:rPr>
              <a:t>L</a:t>
            </a:r>
            <a:r>
              <a:rPr lang="en-US" sz="3200" b="1" i="1" dirty="0" err="1">
                <a:solidFill>
                  <a:srgbClr val="000000"/>
                </a:solidFill>
                <a:effectLst/>
                <a:latin typeface="MTMI"/>
              </a:rPr>
              <a:t>n</a:t>
            </a:r>
            <a:r>
              <a:rPr lang="en-US" sz="3200" b="1" i="0" dirty="0" err="1">
                <a:solidFill>
                  <a:srgbClr val="000000"/>
                </a:solidFill>
                <a:effectLst/>
                <a:latin typeface="Times-Roman"/>
              </a:rPr>
              <a:t>M</a:t>
            </a:r>
            <a:r>
              <a:rPr lang="en-US" sz="3200" b="1" i="0" dirty="0">
                <a:solidFill>
                  <a:srgbClr val="000000"/>
                </a:solidFill>
                <a:effectLst/>
                <a:latin typeface="MTSYN"/>
              </a:rPr>
              <a:t>=</a:t>
            </a:r>
            <a:r>
              <a:rPr lang="en-US" sz="3200" b="1" i="0" dirty="0">
                <a:solidFill>
                  <a:srgbClr val="000000"/>
                </a:solidFill>
                <a:effectLst/>
                <a:latin typeface="Times-Roman"/>
              </a:rPr>
              <a:t>CR2, have Fischer character:</a:t>
            </a:r>
          </a:p>
          <a:p>
            <a:br>
              <a:rPr lang="en-US" sz="3200" b="0" i="0" dirty="0">
                <a:solidFill>
                  <a:srgbClr val="000000"/>
                </a:solidFill>
                <a:effectLst/>
                <a:latin typeface="Times-Roman"/>
              </a:rPr>
            </a:br>
            <a:r>
              <a:rPr lang="en-US" sz="3200" b="0" i="0" dirty="0">
                <a:solidFill>
                  <a:srgbClr val="000000"/>
                </a:solidFill>
                <a:effectLst/>
                <a:latin typeface="Times-Roman"/>
              </a:rPr>
              <a:t>1) Low oxidation state, </a:t>
            </a:r>
          </a:p>
          <a:p>
            <a:r>
              <a:rPr lang="en-US" sz="3200" dirty="0">
                <a:solidFill>
                  <a:srgbClr val="000000"/>
                </a:solidFill>
                <a:latin typeface="Times-Roman"/>
              </a:rPr>
              <a:t>2)</a:t>
            </a:r>
            <a:r>
              <a:rPr lang="en-US" sz="3200" b="0" i="0" dirty="0">
                <a:solidFill>
                  <a:srgbClr val="000000"/>
                </a:solidFill>
                <a:effectLst/>
                <a:latin typeface="Times-Roman"/>
              </a:rPr>
              <a:t> </a:t>
            </a:r>
            <a:r>
              <a:rPr lang="en-US" sz="3200" b="0" i="1" dirty="0">
                <a:solidFill>
                  <a:srgbClr val="000000"/>
                </a:solidFill>
                <a:effectLst/>
                <a:latin typeface="MTMI"/>
              </a:rPr>
              <a:t>π</a:t>
            </a:r>
            <a:r>
              <a:rPr lang="en-US" sz="3200" b="0" i="0" dirty="0">
                <a:solidFill>
                  <a:srgbClr val="000000"/>
                </a:solidFill>
                <a:effectLst/>
                <a:latin typeface="Times-Roman"/>
              </a:rPr>
              <a:t>-acceptor ligands L, and </a:t>
            </a:r>
            <a:r>
              <a:rPr lang="en-US" sz="3200" b="0" i="1" dirty="0">
                <a:solidFill>
                  <a:srgbClr val="000000"/>
                </a:solidFill>
                <a:effectLst/>
                <a:latin typeface="MTMI"/>
              </a:rPr>
              <a:t>π</a:t>
            </a:r>
            <a:r>
              <a:rPr lang="en-US" sz="3200" b="0" i="0" dirty="0">
                <a:solidFill>
                  <a:srgbClr val="000000"/>
                </a:solidFill>
                <a:effectLst/>
                <a:latin typeface="Times-Roman"/>
              </a:rPr>
              <a:t>-donor substituents, R, such as </a:t>
            </a:r>
            <a:r>
              <a:rPr lang="en-US" sz="3200" b="0" i="0" dirty="0">
                <a:solidFill>
                  <a:srgbClr val="000000"/>
                </a:solidFill>
                <a:effectLst/>
                <a:latin typeface="MTSYN"/>
              </a:rPr>
              <a:t>-</a:t>
            </a:r>
            <a:r>
              <a:rPr lang="en-US" sz="3200" b="0" i="0" dirty="0" err="1">
                <a:solidFill>
                  <a:srgbClr val="000000"/>
                </a:solidFill>
                <a:effectLst/>
                <a:latin typeface="Times-Roman"/>
              </a:rPr>
              <a:t>OMe</a:t>
            </a:r>
            <a:r>
              <a:rPr lang="en-US" sz="3200" b="0" i="0" dirty="0">
                <a:solidFill>
                  <a:srgbClr val="000000"/>
                </a:solidFill>
                <a:effectLst/>
                <a:latin typeface="Times-Roman"/>
              </a:rPr>
              <a:t> or </a:t>
            </a:r>
            <a:r>
              <a:rPr lang="en-US" sz="3200" b="0" i="0" dirty="0">
                <a:solidFill>
                  <a:srgbClr val="000000"/>
                </a:solidFill>
                <a:effectLst/>
                <a:latin typeface="MTSYN"/>
              </a:rPr>
              <a:t>-</a:t>
            </a:r>
            <a:r>
              <a:rPr lang="en-US" sz="3200" b="0" i="0" dirty="0">
                <a:solidFill>
                  <a:srgbClr val="000000"/>
                </a:solidFill>
                <a:effectLst/>
                <a:latin typeface="Times-Roman"/>
              </a:rPr>
              <a:t>NMe2, on the carbene carbon. </a:t>
            </a:r>
          </a:p>
          <a:p>
            <a:r>
              <a:rPr lang="en-US" sz="3200" dirty="0">
                <a:solidFill>
                  <a:srgbClr val="000000"/>
                </a:solidFill>
                <a:latin typeface="Times-Roman"/>
              </a:rPr>
              <a:t>3) </a:t>
            </a:r>
            <a:r>
              <a:rPr lang="en-US" sz="3200" b="0" i="0" dirty="0">
                <a:solidFill>
                  <a:srgbClr val="000000"/>
                </a:solidFill>
                <a:effectLst/>
                <a:latin typeface="Times-Roman"/>
              </a:rPr>
              <a:t>Such a carbene behaves as if it carries a </a:t>
            </a:r>
            <a:r>
              <a:rPr lang="en-US" sz="3200" b="0" i="1" dirty="0">
                <a:solidFill>
                  <a:srgbClr val="000000"/>
                </a:solidFill>
                <a:effectLst/>
                <a:latin typeface="MTMI"/>
              </a:rPr>
              <a:t>∂</a:t>
            </a:r>
            <a:r>
              <a:rPr lang="en-US" sz="3200" b="0" i="0" dirty="0">
                <a:solidFill>
                  <a:srgbClr val="000000"/>
                </a:solidFill>
                <a:effectLst/>
                <a:latin typeface="MTSYN"/>
              </a:rPr>
              <a:t>+ </a:t>
            </a:r>
            <a:r>
              <a:rPr lang="en-US" sz="3200" b="0" i="0" dirty="0">
                <a:solidFill>
                  <a:srgbClr val="000000"/>
                </a:solidFill>
                <a:effectLst/>
                <a:latin typeface="Times-Roman"/>
              </a:rPr>
              <a:t>charge and is electrophilic. </a:t>
            </a:r>
          </a:p>
          <a:p>
            <a:r>
              <a:rPr lang="en-US" sz="3200" dirty="0">
                <a:solidFill>
                  <a:srgbClr val="000000"/>
                </a:solidFill>
                <a:latin typeface="Times-Roman"/>
              </a:rPr>
              <a:t>4) </a:t>
            </a:r>
            <a:r>
              <a:rPr lang="en-US" sz="3200" b="0" i="0" dirty="0">
                <a:solidFill>
                  <a:srgbClr val="000000"/>
                </a:solidFill>
                <a:effectLst/>
                <a:latin typeface="Times-Roman"/>
              </a:rPr>
              <a:t>In the most common model, the CR2 ligand in a Fischer carbene is considered to act as a 2e lone-pair</a:t>
            </a:r>
            <a:br>
              <a:rPr lang="en-US" sz="3200" b="0" i="0" dirty="0">
                <a:solidFill>
                  <a:srgbClr val="000000"/>
                </a:solidFill>
                <a:effectLst/>
                <a:latin typeface="Times-Roman"/>
              </a:rPr>
            </a:br>
            <a:r>
              <a:rPr lang="en-US" sz="3200" b="0" i="0" dirty="0">
                <a:solidFill>
                  <a:srgbClr val="000000"/>
                </a:solidFill>
                <a:effectLst/>
                <a:latin typeface="Times-Roman"/>
              </a:rPr>
              <a:t>donor (L type). </a:t>
            </a:r>
            <a:br>
              <a:rPr lang="en-US" dirty="0"/>
            </a:br>
            <a:endParaRPr lang="en-IN" dirty="0"/>
          </a:p>
        </p:txBody>
      </p:sp>
    </p:spTree>
    <p:extLst>
      <p:ext uri="{BB962C8B-B14F-4D97-AF65-F5344CB8AC3E}">
        <p14:creationId xmlns:p14="http://schemas.microsoft.com/office/powerpoint/2010/main" val="24751532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815EF0-1820-4AC8-B0FF-126320969185}"/>
              </a:ext>
            </a:extLst>
          </p:cNvPr>
          <p:cNvSpPr txBox="1"/>
          <p:nvPr/>
        </p:nvSpPr>
        <p:spPr>
          <a:xfrm>
            <a:off x="2143124" y="2522577"/>
            <a:ext cx="8067675" cy="2062103"/>
          </a:xfrm>
          <a:prstGeom prst="rect">
            <a:avLst/>
          </a:prstGeom>
          <a:noFill/>
        </p:spPr>
        <p:txBody>
          <a:bodyPr wrap="square">
            <a:spAutoFit/>
          </a:bodyPr>
          <a:lstStyle/>
          <a:p>
            <a:r>
              <a:rPr lang="en-US" sz="3200" b="0" i="0" dirty="0">
                <a:solidFill>
                  <a:srgbClr val="000000"/>
                </a:solidFill>
                <a:effectLst/>
                <a:latin typeface="Times-Roman"/>
              </a:rPr>
              <a:t>Fischer made the first carbene complexes in 1964 by the attack of an </a:t>
            </a:r>
            <a:r>
              <a:rPr lang="en-US" sz="3200" b="0" i="0" dirty="0" err="1">
                <a:solidFill>
                  <a:srgbClr val="000000"/>
                </a:solidFill>
                <a:effectLst/>
                <a:latin typeface="Times-Roman"/>
              </a:rPr>
              <a:t>alkyllithium</a:t>
            </a:r>
            <a:r>
              <a:rPr lang="en-US" sz="3200" dirty="0">
                <a:solidFill>
                  <a:srgbClr val="000000"/>
                </a:solidFill>
                <a:latin typeface="Times-Roman"/>
              </a:rPr>
              <a:t> </a:t>
            </a:r>
            <a:r>
              <a:rPr lang="en-US" sz="3200" b="0" i="0" dirty="0">
                <a:solidFill>
                  <a:srgbClr val="000000"/>
                </a:solidFill>
                <a:effectLst/>
                <a:latin typeface="Times-Roman"/>
              </a:rPr>
              <a:t>on a metal carbonyl followed by methylation</a:t>
            </a:r>
            <a:r>
              <a:rPr lang="en-US" sz="3200" dirty="0"/>
              <a:t> :</a:t>
            </a:r>
            <a:br>
              <a:rPr lang="en-US" sz="3200" dirty="0"/>
            </a:br>
            <a:endParaRPr lang="en-IN" sz="3200" dirty="0"/>
          </a:p>
        </p:txBody>
      </p:sp>
      <p:pic>
        <p:nvPicPr>
          <p:cNvPr id="4" name="Picture 3">
            <a:extLst>
              <a:ext uri="{FF2B5EF4-FFF2-40B4-BE49-F238E27FC236}">
                <a16:creationId xmlns:a16="http://schemas.microsoft.com/office/drawing/2014/main" id="{02053E54-7147-42C4-9FEC-53F3B334A692}"/>
              </a:ext>
            </a:extLst>
          </p:cNvPr>
          <p:cNvPicPr>
            <a:picLocks noChangeAspect="1"/>
          </p:cNvPicPr>
          <p:nvPr/>
        </p:nvPicPr>
        <p:blipFill>
          <a:blip r:embed="rId2"/>
          <a:stretch>
            <a:fillRect/>
          </a:stretch>
        </p:blipFill>
        <p:spPr>
          <a:xfrm>
            <a:off x="1981201" y="4509648"/>
            <a:ext cx="7923215" cy="1423988"/>
          </a:xfrm>
          <a:prstGeom prst="rect">
            <a:avLst/>
          </a:prstGeom>
        </p:spPr>
      </p:pic>
      <p:pic>
        <p:nvPicPr>
          <p:cNvPr id="6" name="Picture 5">
            <a:extLst>
              <a:ext uri="{FF2B5EF4-FFF2-40B4-BE49-F238E27FC236}">
                <a16:creationId xmlns:a16="http://schemas.microsoft.com/office/drawing/2014/main" id="{D93A51D8-C17F-4251-8216-82913742BEAA}"/>
              </a:ext>
            </a:extLst>
          </p:cNvPr>
          <p:cNvPicPr>
            <a:picLocks noChangeAspect="1"/>
          </p:cNvPicPr>
          <p:nvPr/>
        </p:nvPicPr>
        <p:blipFill>
          <a:blip r:embed="rId3"/>
          <a:stretch>
            <a:fillRect/>
          </a:stretch>
        </p:blipFill>
        <p:spPr>
          <a:xfrm>
            <a:off x="5572125" y="-28575"/>
            <a:ext cx="3886200" cy="2440641"/>
          </a:xfrm>
          <a:prstGeom prst="rect">
            <a:avLst/>
          </a:prstGeom>
        </p:spPr>
      </p:pic>
    </p:spTree>
    <p:extLst>
      <p:ext uri="{BB962C8B-B14F-4D97-AF65-F5344CB8AC3E}">
        <p14:creationId xmlns:p14="http://schemas.microsoft.com/office/powerpoint/2010/main" val="42925019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D2F17B-80D4-4EA8-84ED-9C2BD3754576}"/>
              </a:ext>
            </a:extLst>
          </p:cNvPr>
          <p:cNvPicPr>
            <a:picLocks noChangeAspect="1"/>
          </p:cNvPicPr>
          <p:nvPr/>
        </p:nvPicPr>
        <p:blipFill>
          <a:blip r:embed="rId2"/>
          <a:stretch>
            <a:fillRect/>
          </a:stretch>
        </p:blipFill>
        <p:spPr>
          <a:xfrm>
            <a:off x="615072" y="1676400"/>
            <a:ext cx="11576928" cy="4828536"/>
          </a:xfrm>
          <a:prstGeom prst="rect">
            <a:avLst/>
          </a:prstGeom>
        </p:spPr>
      </p:pic>
    </p:spTree>
    <p:extLst>
      <p:ext uri="{BB962C8B-B14F-4D97-AF65-F5344CB8AC3E}">
        <p14:creationId xmlns:p14="http://schemas.microsoft.com/office/powerpoint/2010/main" val="8297431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FF33B90-7EA9-47BC-8469-D5FA96FB9574}"/>
              </a:ext>
            </a:extLst>
          </p:cNvPr>
          <p:cNvPicPr>
            <a:picLocks noChangeAspect="1"/>
          </p:cNvPicPr>
          <p:nvPr/>
        </p:nvPicPr>
        <p:blipFill>
          <a:blip r:embed="rId2"/>
          <a:stretch>
            <a:fillRect/>
          </a:stretch>
        </p:blipFill>
        <p:spPr>
          <a:xfrm>
            <a:off x="2124075" y="1513857"/>
            <a:ext cx="7138987" cy="4853606"/>
          </a:xfrm>
          <a:prstGeom prst="rect">
            <a:avLst/>
          </a:prstGeom>
        </p:spPr>
      </p:pic>
    </p:spTree>
    <p:extLst>
      <p:ext uri="{BB962C8B-B14F-4D97-AF65-F5344CB8AC3E}">
        <p14:creationId xmlns:p14="http://schemas.microsoft.com/office/powerpoint/2010/main" val="27480486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3822B05-7DB4-4E37-9073-308C803435A5}"/>
              </a:ext>
            </a:extLst>
          </p:cNvPr>
          <p:cNvPicPr>
            <a:picLocks noChangeAspect="1"/>
          </p:cNvPicPr>
          <p:nvPr/>
        </p:nvPicPr>
        <p:blipFill>
          <a:blip r:embed="rId2"/>
          <a:stretch>
            <a:fillRect/>
          </a:stretch>
        </p:blipFill>
        <p:spPr>
          <a:xfrm>
            <a:off x="2557462" y="2633662"/>
            <a:ext cx="7077075" cy="1590675"/>
          </a:xfrm>
          <a:prstGeom prst="rect">
            <a:avLst/>
          </a:prstGeom>
        </p:spPr>
      </p:pic>
    </p:spTree>
    <p:extLst>
      <p:ext uri="{BB962C8B-B14F-4D97-AF65-F5344CB8AC3E}">
        <p14:creationId xmlns:p14="http://schemas.microsoft.com/office/powerpoint/2010/main" val="32884647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E114BF-D58E-4DE9-83D6-262F82F412A8}"/>
              </a:ext>
            </a:extLst>
          </p:cNvPr>
          <p:cNvSpPr txBox="1"/>
          <p:nvPr/>
        </p:nvSpPr>
        <p:spPr>
          <a:xfrm>
            <a:off x="1209675" y="1312039"/>
            <a:ext cx="9496425" cy="4308872"/>
          </a:xfrm>
          <a:prstGeom prst="rect">
            <a:avLst/>
          </a:prstGeom>
          <a:noFill/>
        </p:spPr>
        <p:txBody>
          <a:bodyPr wrap="square">
            <a:spAutoFit/>
          </a:bodyPr>
          <a:lstStyle/>
          <a:p>
            <a:endParaRPr lang="en-US" sz="3200" dirty="0">
              <a:solidFill>
                <a:srgbClr val="000000"/>
              </a:solidFill>
              <a:latin typeface="Times-Roman"/>
            </a:endParaRPr>
          </a:p>
          <a:p>
            <a:pPr marL="342900" indent="-342900">
              <a:buAutoNum type="arabicParenR"/>
            </a:pPr>
            <a:r>
              <a:rPr lang="en-US" sz="3200" b="0" i="0" dirty="0">
                <a:solidFill>
                  <a:srgbClr val="000000"/>
                </a:solidFill>
                <a:effectLst/>
                <a:latin typeface="Times-Roman"/>
              </a:rPr>
              <a:t>Bound</a:t>
            </a:r>
            <a:r>
              <a:rPr lang="en-US" sz="3200" dirty="0">
                <a:solidFill>
                  <a:srgbClr val="000000"/>
                </a:solidFill>
                <a:latin typeface="Times-Roman"/>
              </a:rPr>
              <a:t> </a:t>
            </a:r>
            <a:r>
              <a:rPr lang="en-US" sz="3200" b="0" i="0" dirty="0">
                <a:solidFill>
                  <a:srgbClr val="000000"/>
                </a:solidFill>
                <a:effectLst/>
                <a:latin typeface="Times-Roman"/>
              </a:rPr>
              <a:t>to higher oxidation state, </a:t>
            </a:r>
          </a:p>
          <a:p>
            <a:pPr marL="342900" indent="-342900">
              <a:buAutoNum type="arabicParenR"/>
            </a:pPr>
            <a:r>
              <a:rPr lang="en-US" sz="3200" b="0" i="0" dirty="0">
                <a:solidFill>
                  <a:srgbClr val="000000"/>
                </a:solidFill>
                <a:effectLst/>
                <a:latin typeface="Times-Roman"/>
              </a:rPr>
              <a:t>having non-</a:t>
            </a:r>
            <a:r>
              <a:rPr lang="en-US" sz="3200" b="0" i="1" dirty="0">
                <a:solidFill>
                  <a:srgbClr val="000000"/>
                </a:solidFill>
                <a:effectLst/>
                <a:latin typeface="MTMI"/>
              </a:rPr>
              <a:t>π</a:t>
            </a:r>
            <a:r>
              <a:rPr lang="en-US" sz="3200" b="0" i="0" dirty="0">
                <a:solidFill>
                  <a:srgbClr val="000000"/>
                </a:solidFill>
                <a:effectLst/>
                <a:latin typeface="Times-Roman"/>
              </a:rPr>
              <a:t>-acceptor ligands</a:t>
            </a:r>
            <a:br>
              <a:rPr lang="en-US" sz="3200" b="0" i="0" dirty="0">
                <a:solidFill>
                  <a:srgbClr val="000000"/>
                </a:solidFill>
                <a:effectLst/>
                <a:latin typeface="Times-Roman"/>
              </a:rPr>
            </a:br>
            <a:r>
              <a:rPr lang="en-US" sz="3200" b="0" i="0" dirty="0">
                <a:solidFill>
                  <a:srgbClr val="000000"/>
                </a:solidFill>
                <a:effectLst/>
                <a:latin typeface="Times-Roman"/>
              </a:rPr>
              <a:t>and non-</a:t>
            </a:r>
            <a:r>
              <a:rPr lang="en-US" sz="3200" b="0" i="1" dirty="0">
                <a:solidFill>
                  <a:srgbClr val="000000"/>
                </a:solidFill>
                <a:effectLst/>
                <a:latin typeface="MTMI"/>
              </a:rPr>
              <a:t>π</a:t>
            </a:r>
            <a:r>
              <a:rPr lang="en-US" sz="3200" b="0" i="0" dirty="0">
                <a:solidFill>
                  <a:srgbClr val="000000"/>
                </a:solidFill>
                <a:effectLst/>
                <a:latin typeface="Times-Roman"/>
              </a:rPr>
              <a:t>-donor R groups. </a:t>
            </a:r>
          </a:p>
          <a:p>
            <a:pPr marL="342900" indent="-342900">
              <a:buAutoNum type="arabicParenR"/>
            </a:pPr>
            <a:r>
              <a:rPr lang="en-US" sz="3200" b="0" i="0" dirty="0">
                <a:solidFill>
                  <a:srgbClr val="000000"/>
                </a:solidFill>
                <a:effectLst/>
                <a:latin typeface="Times-Roman"/>
              </a:rPr>
              <a:t>In this case, the carbene behaves as a nucleophile,</a:t>
            </a:r>
            <a:br>
              <a:rPr lang="en-US" sz="3200" b="0" i="0" dirty="0">
                <a:solidFill>
                  <a:srgbClr val="000000"/>
                </a:solidFill>
                <a:effectLst/>
                <a:latin typeface="Times-Roman"/>
              </a:rPr>
            </a:br>
            <a:r>
              <a:rPr lang="en-US" sz="3200" b="0" i="0" dirty="0">
                <a:solidFill>
                  <a:srgbClr val="000000"/>
                </a:solidFill>
                <a:effectLst/>
                <a:latin typeface="Times-Roman"/>
              </a:rPr>
              <a:t>having a </a:t>
            </a:r>
            <a:r>
              <a:rPr lang="en-US" sz="3200" b="0" i="1" dirty="0">
                <a:solidFill>
                  <a:srgbClr val="000000"/>
                </a:solidFill>
                <a:effectLst/>
                <a:latin typeface="MTMI"/>
              </a:rPr>
              <a:t>∂</a:t>
            </a:r>
            <a:r>
              <a:rPr lang="en-US" sz="3200" b="0" i="0" dirty="0">
                <a:solidFill>
                  <a:srgbClr val="000000"/>
                </a:solidFill>
                <a:effectLst/>
                <a:latin typeface="MTSYN"/>
              </a:rPr>
              <a:t>- </a:t>
            </a:r>
            <a:r>
              <a:rPr lang="en-US" sz="3200" b="0" i="0" dirty="0">
                <a:solidFill>
                  <a:srgbClr val="000000"/>
                </a:solidFill>
                <a:effectLst/>
                <a:latin typeface="Times-Roman"/>
              </a:rPr>
              <a:t>carbon.</a:t>
            </a:r>
          </a:p>
          <a:p>
            <a:pPr marL="342900" indent="-342900">
              <a:buAutoNum type="arabicParenR"/>
            </a:pPr>
            <a:r>
              <a:rPr lang="en-US" sz="3200" b="0" i="0" dirty="0">
                <a:solidFill>
                  <a:srgbClr val="000000"/>
                </a:solidFill>
                <a:effectLst/>
                <a:latin typeface="Times-Roman"/>
              </a:rPr>
              <a:t> The CR2 ligand in a Schrock carbene is often considered to act like an X2-type bis-alkyl</a:t>
            </a:r>
            <a:br>
              <a:rPr lang="en-US" dirty="0"/>
            </a:br>
            <a:endParaRPr lang="en-IN" dirty="0"/>
          </a:p>
        </p:txBody>
      </p:sp>
      <p:sp>
        <p:nvSpPr>
          <p:cNvPr id="5" name="TextBox 4">
            <a:extLst>
              <a:ext uri="{FF2B5EF4-FFF2-40B4-BE49-F238E27FC236}">
                <a16:creationId xmlns:a16="http://schemas.microsoft.com/office/drawing/2014/main" id="{7DA49E61-DECF-4C5B-A03C-6C030331DD8A}"/>
              </a:ext>
            </a:extLst>
          </p:cNvPr>
          <p:cNvSpPr txBox="1"/>
          <p:nvPr/>
        </p:nvSpPr>
        <p:spPr>
          <a:xfrm>
            <a:off x="1066799" y="748784"/>
            <a:ext cx="10620376" cy="707886"/>
          </a:xfrm>
          <a:prstGeom prst="rect">
            <a:avLst/>
          </a:prstGeom>
          <a:noFill/>
        </p:spPr>
        <p:txBody>
          <a:bodyPr wrap="square">
            <a:spAutoFit/>
          </a:bodyPr>
          <a:lstStyle/>
          <a:p>
            <a:r>
              <a:rPr lang="en-US" sz="4000" b="1" i="0" dirty="0">
                <a:solidFill>
                  <a:srgbClr val="000000"/>
                </a:solidFill>
                <a:effectLst/>
                <a:latin typeface="Times-Roman"/>
              </a:rPr>
              <a:t>Carbenes, </a:t>
            </a:r>
            <a:r>
              <a:rPr lang="en-US" sz="4000" b="1" i="0" dirty="0" err="1">
                <a:solidFill>
                  <a:srgbClr val="000000"/>
                </a:solidFill>
                <a:effectLst/>
                <a:latin typeface="Times-Roman"/>
              </a:rPr>
              <a:t>L</a:t>
            </a:r>
            <a:r>
              <a:rPr lang="en-US" sz="4000" b="1" i="1" dirty="0" err="1">
                <a:solidFill>
                  <a:srgbClr val="000000"/>
                </a:solidFill>
                <a:effectLst/>
                <a:latin typeface="MTMI"/>
              </a:rPr>
              <a:t>n</a:t>
            </a:r>
            <a:r>
              <a:rPr lang="en-US" sz="4000" b="1" i="0" dirty="0" err="1">
                <a:solidFill>
                  <a:srgbClr val="000000"/>
                </a:solidFill>
                <a:effectLst/>
                <a:latin typeface="Times-Roman"/>
              </a:rPr>
              <a:t>M</a:t>
            </a:r>
            <a:r>
              <a:rPr lang="en-US" sz="4000" b="1" i="0" dirty="0">
                <a:solidFill>
                  <a:srgbClr val="000000"/>
                </a:solidFill>
                <a:effectLst/>
                <a:latin typeface="MTSYN"/>
              </a:rPr>
              <a:t>=</a:t>
            </a:r>
            <a:r>
              <a:rPr lang="en-US" sz="4000" b="1" i="0" dirty="0">
                <a:solidFill>
                  <a:srgbClr val="000000"/>
                </a:solidFill>
                <a:effectLst/>
                <a:latin typeface="Times-Roman"/>
              </a:rPr>
              <a:t>CR2, have </a:t>
            </a:r>
            <a:r>
              <a:rPr lang="en-US" sz="4000" b="1" dirty="0">
                <a:solidFill>
                  <a:srgbClr val="000000"/>
                </a:solidFill>
                <a:latin typeface="Times-Roman"/>
              </a:rPr>
              <a:t>Schrock</a:t>
            </a:r>
            <a:r>
              <a:rPr lang="en-US" sz="4000" b="1" i="0" dirty="0">
                <a:solidFill>
                  <a:srgbClr val="000000"/>
                </a:solidFill>
                <a:effectLst/>
                <a:latin typeface="Times-Roman"/>
              </a:rPr>
              <a:t> character:</a:t>
            </a:r>
          </a:p>
        </p:txBody>
      </p:sp>
    </p:spTree>
    <p:extLst>
      <p:ext uri="{BB962C8B-B14F-4D97-AF65-F5344CB8AC3E}">
        <p14:creationId xmlns:p14="http://schemas.microsoft.com/office/powerpoint/2010/main" val="36044958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406F96-B362-45FC-ACB1-803A5901ECFC}"/>
              </a:ext>
            </a:extLst>
          </p:cNvPr>
          <p:cNvPicPr>
            <a:picLocks noChangeAspect="1"/>
          </p:cNvPicPr>
          <p:nvPr/>
        </p:nvPicPr>
        <p:blipFill>
          <a:blip r:embed="rId2"/>
          <a:stretch>
            <a:fillRect/>
          </a:stretch>
        </p:blipFill>
        <p:spPr>
          <a:xfrm>
            <a:off x="7800975" y="357187"/>
            <a:ext cx="3466905" cy="2081213"/>
          </a:xfrm>
          <a:prstGeom prst="rect">
            <a:avLst/>
          </a:prstGeom>
        </p:spPr>
      </p:pic>
      <p:pic>
        <p:nvPicPr>
          <p:cNvPr id="3" name="Picture 2">
            <a:extLst>
              <a:ext uri="{FF2B5EF4-FFF2-40B4-BE49-F238E27FC236}">
                <a16:creationId xmlns:a16="http://schemas.microsoft.com/office/drawing/2014/main" id="{A3BFA246-C627-472A-955E-85B4B311A17B}"/>
              </a:ext>
            </a:extLst>
          </p:cNvPr>
          <p:cNvPicPr>
            <a:picLocks noChangeAspect="1"/>
          </p:cNvPicPr>
          <p:nvPr/>
        </p:nvPicPr>
        <p:blipFill>
          <a:blip r:embed="rId3"/>
          <a:stretch>
            <a:fillRect/>
          </a:stretch>
        </p:blipFill>
        <p:spPr>
          <a:xfrm>
            <a:off x="458321" y="826944"/>
            <a:ext cx="7342654" cy="5673869"/>
          </a:xfrm>
          <a:prstGeom prst="rect">
            <a:avLst/>
          </a:prstGeom>
        </p:spPr>
      </p:pic>
    </p:spTree>
    <p:extLst>
      <p:ext uri="{BB962C8B-B14F-4D97-AF65-F5344CB8AC3E}">
        <p14:creationId xmlns:p14="http://schemas.microsoft.com/office/powerpoint/2010/main" val="35028682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836FD1-ECBA-4C42-BDF0-55F70105712C}"/>
              </a:ext>
            </a:extLst>
          </p:cNvPr>
          <p:cNvPicPr>
            <a:picLocks noChangeAspect="1"/>
          </p:cNvPicPr>
          <p:nvPr/>
        </p:nvPicPr>
        <p:blipFill>
          <a:blip r:embed="rId2"/>
          <a:stretch>
            <a:fillRect/>
          </a:stretch>
        </p:blipFill>
        <p:spPr>
          <a:xfrm>
            <a:off x="2538412" y="1752600"/>
            <a:ext cx="7115175" cy="3352800"/>
          </a:xfrm>
          <a:prstGeom prst="rect">
            <a:avLst/>
          </a:prstGeom>
        </p:spPr>
      </p:pic>
    </p:spTree>
    <p:extLst>
      <p:ext uri="{BB962C8B-B14F-4D97-AF65-F5344CB8AC3E}">
        <p14:creationId xmlns:p14="http://schemas.microsoft.com/office/powerpoint/2010/main" val="39701295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D35F7A3-6579-4F74-B3C5-BE907C7EE25F}"/>
              </a:ext>
            </a:extLst>
          </p:cNvPr>
          <p:cNvPicPr>
            <a:picLocks noChangeAspect="1"/>
          </p:cNvPicPr>
          <p:nvPr/>
        </p:nvPicPr>
        <p:blipFill>
          <a:blip r:embed="rId2"/>
          <a:stretch>
            <a:fillRect/>
          </a:stretch>
        </p:blipFill>
        <p:spPr>
          <a:xfrm>
            <a:off x="2600325" y="2595562"/>
            <a:ext cx="6991350" cy="1666875"/>
          </a:xfrm>
          <a:prstGeom prst="rect">
            <a:avLst/>
          </a:prstGeom>
        </p:spPr>
      </p:pic>
    </p:spTree>
    <p:extLst>
      <p:ext uri="{BB962C8B-B14F-4D97-AF65-F5344CB8AC3E}">
        <p14:creationId xmlns:p14="http://schemas.microsoft.com/office/powerpoint/2010/main" val="757314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AE2168-38B4-4038-BCDC-5F503AA8D2C5}"/>
              </a:ext>
            </a:extLst>
          </p:cNvPr>
          <p:cNvPicPr>
            <a:picLocks noChangeAspect="1"/>
          </p:cNvPicPr>
          <p:nvPr/>
        </p:nvPicPr>
        <p:blipFill>
          <a:blip r:embed="rId2"/>
          <a:stretch>
            <a:fillRect/>
          </a:stretch>
        </p:blipFill>
        <p:spPr>
          <a:xfrm>
            <a:off x="1219200" y="866775"/>
            <a:ext cx="9753600" cy="5124450"/>
          </a:xfrm>
          <a:prstGeom prst="rect">
            <a:avLst/>
          </a:prstGeom>
        </p:spPr>
      </p:pic>
    </p:spTree>
    <p:extLst>
      <p:ext uri="{BB962C8B-B14F-4D97-AF65-F5344CB8AC3E}">
        <p14:creationId xmlns:p14="http://schemas.microsoft.com/office/powerpoint/2010/main" val="13074108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71DA58-7453-42EC-8A12-E18D50BBE19E}"/>
              </a:ext>
            </a:extLst>
          </p:cNvPr>
          <p:cNvSpPr txBox="1"/>
          <p:nvPr/>
        </p:nvSpPr>
        <p:spPr>
          <a:xfrm>
            <a:off x="1728787" y="1827937"/>
            <a:ext cx="8734426" cy="3662541"/>
          </a:xfrm>
          <a:prstGeom prst="rect">
            <a:avLst/>
          </a:prstGeom>
          <a:noFill/>
        </p:spPr>
        <p:txBody>
          <a:bodyPr wrap="square">
            <a:spAutoFit/>
          </a:bodyPr>
          <a:lstStyle/>
          <a:p>
            <a:r>
              <a:rPr lang="en-US" sz="3600" b="1" i="1" dirty="0">
                <a:solidFill>
                  <a:srgbClr val="000000"/>
                </a:solidFill>
                <a:effectLst/>
                <a:latin typeface="Times-BoldItalic"/>
              </a:rPr>
              <a:t>Spectroscopy </a:t>
            </a:r>
            <a:r>
              <a:rPr lang="en-US" sz="3200" b="0" i="0" baseline="30000" dirty="0">
                <a:solidFill>
                  <a:srgbClr val="000000"/>
                </a:solidFill>
                <a:effectLst/>
                <a:latin typeface="Times-Roman"/>
              </a:rPr>
              <a:t>13</a:t>
            </a:r>
            <a:r>
              <a:rPr lang="en-US" sz="3200" b="0" i="0" dirty="0">
                <a:solidFill>
                  <a:srgbClr val="000000"/>
                </a:solidFill>
                <a:effectLst/>
                <a:latin typeface="Times-Roman"/>
              </a:rPr>
              <a:t>C NMR is very valuable for detecting carbene complexes</a:t>
            </a:r>
            <a:br>
              <a:rPr lang="en-US" sz="3200" b="0" i="0" dirty="0">
                <a:solidFill>
                  <a:srgbClr val="000000"/>
                </a:solidFill>
                <a:effectLst/>
                <a:latin typeface="Times-Roman"/>
              </a:rPr>
            </a:br>
            <a:r>
              <a:rPr lang="en-US" sz="3200" b="0" i="0" dirty="0">
                <a:solidFill>
                  <a:srgbClr val="000000"/>
                </a:solidFill>
                <a:effectLst/>
                <a:latin typeface="Times-Roman"/>
              </a:rPr>
              <a:t>because the very </a:t>
            </a:r>
            <a:r>
              <a:rPr lang="en-US" sz="3200" b="0" i="0" dirty="0" err="1">
                <a:solidFill>
                  <a:srgbClr val="000000"/>
                </a:solidFill>
                <a:effectLst/>
                <a:latin typeface="Times-Roman"/>
              </a:rPr>
              <a:t>deshielded</a:t>
            </a:r>
            <a:r>
              <a:rPr lang="en-US" sz="3200" b="0" i="0" dirty="0">
                <a:solidFill>
                  <a:srgbClr val="000000"/>
                </a:solidFill>
                <a:effectLst/>
                <a:latin typeface="Times-Roman"/>
              </a:rPr>
              <a:t> carbene carbon resonates at </a:t>
            </a:r>
            <a:r>
              <a:rPr lang="en-US" sz="3200" b="0" i="0" dirty="0">
                <a:solidFill>
                  <a:srgbClr val="000000"/>
                </a:solidFill>
                <a:effectLst/>
                <a:latin typeface="MTSYN"/>
              </a:rPr>
              <a:t>∼</a:t>
            </a:r>
            <a:r>
              <a:rPr lang="en-US" sz="3200" b="0" i="0" dirty="0">
                <a:solidFill>
                  <a:srgbClr val="000000"/>
                </a:solidFill>
                <a:effectLst/>
                <a:latin typeface="Times-Roman"/>
              </a:rPr>
              <a:t>200–400 ppm to low</a:t>
            </a:r>
            <a:br>
              <a:rPr lang="en-US" sz="3200" b="0" i="0" dirty="0">
                <a:solidFill>
                  <a:srgbClr val="000000"/>
                </a:solidFill>
                <a:effectLst/>
                <a:latin typeface="Times-Roman"/>
              </a:rPr>
            </a:br>
            <a:r>
              <a:rPr lang="en-US" sz="3200" b="0" i="0" dirty="0">
                <a:solidFill>
                  <a:srgbClr val="000000"/>
                </a:solidFill>
                <a:effectLst/>
                <a:latin typeface="Times-Roman"/>
              </a:rPr>
              <a:t>field of TMS.</a:t>
            </a:r>
            <a:r>
              <a:rPr lang="en-US" sz="3200" dirty="0"/>
              <a:t> </a:t>
            </a:r>
            <a:r>
              <a:rPr lang="en-US" sz="3200" b="0" i="0" dirty="0">
                <a:solidFill>
                  <a:srgbClr val="000000"/>
                </a:solidFill>
                <a:effectLst/>
                <a:latin typeface="Times-Roman"/>
              </a:rPr>
              <a:t>A proton substituent at</a:t>
            </a:r>
            <a:br>
              <a:rPr lang="en-US" sz="3200" b="0" i="0" dirty="0">
                <a:solidFill>
                  <a:srgbClr val="000000"/>
                </a:solidFill>
                <a:effectLst/>
                <a:latin typeface="Times-Roman"/>
              </a:rPr>
            </a:br>
            <a:r>
              <a:rPr lang="en-US" sz="3200" b="0" i="0" dirty="0">
                <a:solidFill>
                  <a:srgbClr val="000000"/>
                </a:solidFill>
                <a:effectLst/>
                <a:latin typeface="Times-Roman"/>
              </a:rPr>
              <a:t>the carbene carbon resonates from </a:t>
            </a:r>
            <a:r>
              <a:rPr lang="en-US" sz="3200" b="0" i="0" dirty="0">
                <a:solidFill>
                  <a:srgbClr val="000000"/>
                </a:solidFill>
                <a:effectLst/>
                <a:latin typeface="MTSYN"/>
              </a:rPr>
              <a:t>+</a:t>
            </a:r>
            <a:r>
              <a:rPr lang="en-US" sz="3200" b="0" i="0" dirty="0">
                <a:solidFill>
                  <a:srgbClr val="000000"/>
                </a:solidFill>
                <a:effectLst/>
                <a:latin typeface="Times-Roman"/>
              </a:rPr>
              <a:t>10 to </a:t>
            </a:r>
            <a:r>
              <a:rPr lang="en-US" sz="3200" b="0" i="0" dirty="0">
                <a:solidFill>
                  <a:srgbClr val="000000"/>
                </a:solidFill>
                <a:effectLst/>
                <a:latin typeface="MTSYN"/>
              </a:rPr>
              <a:t>+</a:t>
            </a:r>
            <a:r>
              <a:rPr lang="en-US" sz="3200" b="0" i="0" dirty="0">
                <a:solidFill>
                  <a:srgbClr val="000000"/>
                </a:solidFill>
                <a:effectLst/>
                <a:latin typeface="Times-Roman"/>
              </a:rPr>
              <a:t>20</a:t>
            </a:r>
            <a:r>
              <a:rPr lang="en-US" sz="3200" b="0" i="1" dirty="0">
                <a:solidFill>
                  <a:srgbClr val="000000"/>
                </a:solidFill>
                <a:effectLst/>
                <a:latin typeface="MTMI"/>
              </a:rPr>
              <a:t>δ</a:t>
            </a:r>
            <a:r>
              <a:rPr lang="en-US" sz="3200" dirty="0"/>
              <a:t> </a:t>
            </a:r>
            <a:br>
              <a:rPr lang="en-US" dirty="0"/>
            </a:br>
            <a:br>
              <a:rPr lang="en-US" dirty="0"/>
            </a:br>
            <a:endParaRPr lang="en-IN" dirty="0"/>
          </a:p>
        </p:txBody>
      </p:sp>
    </p:spTree>
    <p:extLst>
      <p:ext uri="{BB962C8B-B14F-4D97-AF65-F5344CB8AC3E}">
        <p14:creationId xmlns:p14="http://schemas.microsoft.com/office/powerpoint/2010/main" val="13229483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0171D4D-777D-4649-8013-887490798B9D}"/>
              </a:ext>
            </a:extLst>
          </p:cNvPr>
          <p:cNvPicPr>
            <a:picLocks noChangeAspect="1"/>
          </p:cNvPicPr>
          <p:nvPr/>
        </p:nvPicPr>
        <p:blipFill>
          <a:blip r:embed="rId2"/>
          <a:stretch>
            <a:fillRect/>
          </a:stretch>
        </p:blipFill>
        <p:spPr>
          <a:xfrm>
            <a:off x="661987" y="295275"/>
            <a:ext cx="10658475" cy="2343150"/>
          </a:xfrm>
          <a:prstGeom prst="rect">
            <a:avLst/>
          </a:prstGeom>
        </p:spPr>
      </p:pic>
      <p:sp>
        <p:nvSpPr>
          <p:cNvPr id="4" name="TextBox 3">
            <a:extLst>
              <a:ext uri="{FF2B5EF4-FFF2-40B4-BE49-F238E27FC236}">
                <a16:creationId xmlns:a16="http://schemas.microsoft.com/office/drawing/2014/main" id="{E62EC8AC-55DA-4DA2-864A-734596BEE5F1}"/>
              </a:ext>
            </a:extLst>
          </p:cNvPr>
          <p:cNvSpPr txBox="1"/>
          <p:nvPr/>
        </p:nvSpPr>
        <p:spPr>
          <a:xfrm>
            <a:off x="1081089" y="2638425"/>
            <a:ext cx="10448924" cy="1908215"/>
          </a:xfrm>
          <a:prstGeom prst="rect">
            <a:avLst/>
          </a:prstGeom>
          <a:noFill/>
        </p:spPr>
        <p:txBody>
          <a:bodyPr wrap="square">
            <a:spAutoFit/>
          </a:bodyPr>
          <a:lstStyle/>
          <a:p>
            <a:r>
              <a:rPr lang="en-US" sz="2000" b="0" i="0" dirty="0">
                <a:solidFill>
                  <a:srgbClr val="000000"/>
                </a:solidFill>
                <a:effectLst/>
                <a:latin typeface="Times-Roman"/>
              </a:rPr>
              <a:t>This is an example of a bridging carbene, but in its reactions it almost always</a:t>
            </a:r>
            <a:br>
              <a:rPr lang="en-US" sz="2000" b="0" i="0" dirty="0">
                <a:solidFill>
                  <a:srgbClr val="000000"/>
                </a:solidFill>
                <a:effectLst/>
                <a:latin typeface="Times-Roman"/>
              </a:rPr>
            </a:br>
            <a:r>
              <a:rPr lang="en-US" sz="2000" b="0" i="0" dirty="0">
                <a:solidFill>
                  <a:srgbClr val="000000"/>
                </a:solidFill>
                <a:effectLst/>
                <a:latin typeface="Times-Roman"/>
              </a:rPr>
              <a:t>loses Me2AlCl first to give the mononuclear 16e Cp2Ti</a:t>
            </a:r>
            <a:r>
              <a:rPr lang="en-US" sz="2000" b="0" i="0" dirty="0">
                <a:solidFill>
                  <a:srgbClr val="000000"/>
                </a:solidFill>
                <a:effectLst/>
                <a:latin typeface="MTSYN"/>
              </a:rPr>
              <a:t>=</a:t>
            </a:r>
            <a:r>
              <a:rPr lang="en-US" sz="2000" b="0" i="0" dirty="0">
                <a:solidFill>
                  <a:srgbClr val="000000"/>
                </a:solidFill>
                <a:effectLst/>
                <a:latin typeface="Times-Roman"/>
              </a:rPr>
              <a:t>CH2; a base is sometimes</a:t>
            </a:r>
            <a:br>
              <a:rPr lang="en-US" sz="2000" b="0" i="0" dirty="0">
                <a:solidFill>
                  <a:srgbClr val="000000"/>
                </a:solidFill>
                <a:effectLst/>
                <a:latin typeface="Times-Roman"/>
              </a:rPr>
            </a:br>
            <a:r>
              <a:rPr lang="en-US" sz="2000" b="0" i="0" dirty="0">
                <a:solidFill>
                  <a:srgbClr val="000000"/>
                </a:solidFill>
                <a:effectLst/>
                <a:latin typeface="Times-Roman"/>
              </a:rPr>
              <a:t>added to help remove the aluminum fragment by complexation. This reagent even</a:t>
            </a:r>
            <a:br>
              <a:rPr lang="en-US" sz="2000" b="0" i="0" dirty="0">
                <a:solidFill>
                  <a:srgbClr val="000000"/>
                </a:solidFill>
                <a:effectLst/>
                <a:latin typeface="Times-Roman"/>
              </a:rPr>
            </a:br>
            <a:r>
              <a:rPr lang="en-US" sz="2000" b="0" i="0" dirty="0">
                <a:solidFill>
                  <a:srgbClr val="000000"/>
                </a:solidFill>
                <a:effectLst/>
                <a:latin typeface="Times-Roman"/>
              </a:rPr>
              <a:t>gives a Wittig-type product with esters, substrates that are not methylenated with</a:t>
            </a:r>
            <a:br>
              <a:rPr lang="en-US" sz="2000" b="0" i="0" dirty="0">
                <a:solidFill>
                  <a:srgbClr val="000000"/>
                </a:solidFill>
                <a:effectLst/>
                <a:latin typeface="Times-Roman"/>
              </a:rPr>
            </a:br>
            <a:r>
              <a:rPr lang="en-US" sz="2000" b="0" i="0" dirty="0">
                <a:solidFill>
                  <a:srgbClr val="000000"/>
                </a:solidFill>
                <a:effectLst/>
                <a:latin typeface="Times-Roman"/>
              </a:rPr>
              <a:t>Ph3P</a:t>
            </a:r>
            <a:r>
              <a:rPr lang="en-US" sz="2000" b="0" i="0" dirty="0">
                <a:solidFill>
                  <a:srgbClr val="000000"/>
                </a:solidFill>
                <a:effectLst/>
                <a:latin typeface="MTSYN"/>
              </a:rPr>
              <a:t>=</a:t>
            </a:r>
            <a:r>
              <a:rPr lang="en-US" sz="2000" b="0" i="0" dirty="0">
                <a:solidFill>
                  <a:srgbClr val="000000"/>
                </a:solidFill>
                <a:effectLst/>
                <a:latin typeface="Times-Roman"/>
              </a:rPr>
              <a:t>CH2.</a:t>
            </a:r>
            <a:r>
              <a:rPr lang="en-US" sz="2000" dirty="0"/>
              <a:t> </a:t>
            </a:r>
            <a:br>
              <a:rPr lang="en-US" dirty="0"/>
            </a:br>
            <a:endParaRPr lang="en-IN" dirty="0"/>
          </a:p>
        </p:txBody>
      </p:sp>
      <p:pic>
        <p:nvPicPr>
          <p:cNvPr id="5" name="Picture 4">
            <a:extLst>
              <a:ext uri="{FF2B5EF4-FFF2-40B4-BE49-F238E27FC236}">
                <a16:creationId xmlns:a16="http://schemas.microsoft.com/office/drawing/2014/main" id="{5D70C461-0A81-493E-914C-3F3FA5E5A298}"/>
              </a:ext>
            </a:extLst>
          </p:cNvPr>
          <p:cNvPicPr>
            <a:picLocks noChangeAspect="1"/>
          </p:cNvPicPr>
          <p:nvPr/>
        </p:nvPicPr>
        <p:blipFill>
          <a:blip r:embed="rId3"/>
          <a:stretch>
            <a:fillRect/>
          </a:stretch>
        </p:blipFill>
        <p:spPr>
          <a:xfrm>
            <a:off x="2390775" y="4981575"/>
            <a:ext cx="6896100" cy="800100"/>
          </a:xfrm>
          <a:prstGeom prst="rect">
            <a:avLst/>
          </a:prstGeom>
        </p:spPr>
      </p:pic>
    </p:spTree>
    <p:extLst>
      <p:ext uri="{BB962C8B-B14F-4D97-AF65-F5344CB8AC3E}">
        <p14:creationId xmlns:p14="http://schemas.microsoft.com/office/powerpoint/2010/main" val="25639509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E0B9FA-09D0-42A1-8DB9-5BC13D96FCDB}"/>
              </a:ext>
            </a:extLst>
          </p:cNvPr>
          <p:cNvPicPr>
            <a:picLocks noChangeAspect="1"/>
          </p:cNvPicPr>
          <p:nvPr/>
        </p:nvPicPr>
        <p:blipFill>
          <a:blip r:embed="rId2"/>
          <a:stretch>
            <a:fillRect/>
          </a:stretch>
        </p:blipFill>
        <p:spPr>
          <a:xfrm>
            <a:off x="1757362" y="600075"/>
            <a:ext cx="8677275" cy="5657850"/>
          </a:xfrm>
          <a:prstGeom prst="rect">
            <a:avLst/>
          </a:prstGeom>
        </p:spPr>
      </p:pic>
    </p:spTree>
    <p:extLst>
      <p:ext uri="{BB962C8B-B14F-4D97-AF65-F5344CB8AC3E}">
        <p14:creationId xmlns:p14="http://schemas.microsoft.com/office/powerpoint/2010/main" val="36527473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374F4F-31FF-4D95-9D19-FF97C3C8FFAB}"/>
              </a:ext>
            </a:extLst>
          </p:cNvPr>
          <p:cNvPicPr>
            <a:picLocks noChangeAspect="1"/>
          </p:cNvPicPr>
          <p:nvPr/>
        </p:nvPicPr>
        <p:blipFill>
          <a:blip r:embed="rId2"/>
          <a:stretch>
            <a:fillRect/>
          </a:stretch>
        </p:blipFill>
        <p:spPr>
          <a:xfrm>
            <a:off x="3159742" y="0"/>
            <a:ext cx="5872516" cy="6858000"/>
          </a:xfrm>
          <a:prstGeom prst="rect">
            <a:avLst/>
          </a:prstGeom>
        </p:spPr>
      </p:pic>
    </p:spTree>
    <p:extLst>
      <p:ext uri="{BB962C8B-B14F-4D97-AF65-F5344CB8AC3E}">
        <p14:creationId xmlns:p14="http://schemas.microsoft.com/office/powerpoint/2010/main" val="9473366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6A877A-146A-4E91-9AB6-7A72847D2F32}"/>
              </a:ext>
            </a:extLst>
          </p:cNvPr>
          <p:cNvPicPr>
            <a:picLocks noChangeAspect="1"/>
          </p:cNvPicPr>
          <p:nvPr/>
        </p:nvPicPr>
        <p:blipFill>
          <a:blip r:embed="rId2"/>
          <a:stretch>
            <a:fillRect/>
          </a:stretch>
        </p:blipFill>
        <p:spPr>
          <a:xfrm>
            <a:off x="3600450" y="2076450"/>
            <a:ext cx="4991100" cy="2705100"/>
          </a:xfrm>
          <a:prstGeom prst="rect">
            <a:avLst/>
          </a:prstGeom>
        </p:spPr>
      </p:pic>
      <p:pic>
        <p:nvPicPr>
          <p:cNvPr id="3" name="Picture 2">
            <a:extLst>
              <a:ext uri="{FF2B5EF4-FFF2-40B4-BE49-F238E27FC236}">
                <a16:creationId xmlns:a16="http://schemas.microsoft.com/office/drawing/2014/main" id="{0516D3E7-52AF-46D6-B907-44C9BA75FC3A}"/>
              </a:ext>
            </a:extLst>
          </p:cNvPr>
          <p:cNvPicPr>
            <a:picLocks noChangeAspect="1"/>
          </p:cNvPicPr>
          <p:nvPr/>
        </p:nvPicPr>
        <p:blipFill>
          <a:blip r:embed="rId3"/>
          <a:stretch>
            <a:fillRect/>
          </a:stretch>
        </p:blipFill>
        <p:spPr>
          <a:xfrm>
            <a:off x="3752850" y="2195512"/>
            <a:ext cx="4686300" cy="2466975"/>
          </a:xfrm>
          <a:prstGeom prst="rect">
            <a:avLst/>
          </a:prstGeom>
        </p:spPr>
      </p:pic>
    </p:spTree>
    <p:extLst>
      <p:ext uri="{BB962C8B-B14F-4D97-AF65-F5344CB8AC3E}">
        <p14:creationId xmlns:p14="http://schemas.microsoft.com/office/powerpoint/2010/main" val="402362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19472</TotalTime>
  <Words>1552</Words>
  <Application>Microsoft Macintosh PowerPoint</Application>
  <PresentationFormat>Widescreen</PresentationFormat>
  <Paragraphs>73</Paragraphs>
  <Slides>65</Slides>
  <Notes>0</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81" baseType="lpstr">
      <vt:lpstr>Arial</vt:lpstr>
      <vt:lpstr>Calibri</vt:lpstr>
      <vt:lpstr>Calibri Light</vt:lpstr>
      <vt:lpstr>LiberationSans-Bold</vt:lpstr>
      <vt:lpstr>LiberationSerif</vt:lpstr>
      <vt:lpstr>LiberationSerif-Bold</vt:lpstr>
      <vt:lpstr>LiberationSerif-Italic</vt:lpstr>
      <vt:lpstr>MTMI</vt:lpstr>
      <vt:lpstr>MTSYN</vt:lpstr>
      <vt:lpstr>Roboto</vt:lpstr>
      <vt:lpstr>Times-Bold</vt:lpstr>
      <vt:lpstr>Times-BoldItalic</vt:lpstr>
      <vt:lpstr>Times-Italic</vt:lpstr>
      <vt:lpstr>Times-Roman</vt:lpstr>
      <vt:lpstr>Office Theme</vt:lpstr>
      <vt:lpstr>CS ChemDraw Drawing</vt:lpstr>
      <vt:lpstr>Ni(CO)4, Cr(CO)6, Mo(CO)6, W(CO)6, Ru3(CO)12, Co2(CO)8, Mn2(CO)10, Re2 (CO)10</vt:lpstr>
      <vt:lpstr>Metal-CO Bonding!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Is CO a Special Ligand in Organometallic Chemistry?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Ni(CO)4, Cr(CO)6, Mo(CO)6, W(CO)6, Ru3(CO)12, Co2(CO)8, Mn2(CO)10, Re2 (CO)10</dc:title>
  <dc:creator>Swadhin Mandal</dc:creator>
  <cp:lastModifiedBy>Swadhin Mandal</cp:lastModifiedBy>
  <cp:revision>37</cp:revision>
  <dcterms:created xsi:type="dcterms:W3CDTF">2020-08-24T03:49:37Z</dcterms:created>
  <dcterms:modified xsi:type="dcterms:W3CDTF">2024-08-19T03:00:29Z</dcterms:modified>
</cp:coreProperties>
</file>