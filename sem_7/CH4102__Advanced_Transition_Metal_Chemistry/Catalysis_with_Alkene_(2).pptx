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6" r:id="rId2"/>
    <p:sldId id="257" r:id="rId3"/>
    <p:sldId id="258" r:id="rId4"/>
    <p:sldId id="259" r:id="rId5"/>
    <p:sldId id="260" r:id="rId6"/>
    <p:sldId id="263" r:id="rId7"/>
    <p:sldId id="264" r:id="rId8"/>
    <p:sldId id="265" r:id="rId9"/>
    <p:sldId id="266" r:id="rId10"/>
    <p:sldId id="267" r:id="rId11"/>
    <p:sldId id="268" r:id="rId12"/>
    <p:sldId id="269" r:id="rId13"/>
    <p:sldId id="271" r:id="rId14"/>
    <p:sldId id="272" r:id="rId15"/>
    <p:sldId id="324" r:id="rId16"/>
    <p:sldId id="323" r:id="rId17"/>
    <p:sldId id="308" r:id="rId18"/>
    <p:sldId id="309" r:id="rId19"/>
    <p:sldId id="310" r:id="rId20"/>
    <p:sldId id="311" r:id="rId21"/>
    <p:sldId id="314" r:id="rId22"/>
    <p:sldId id="315" r:id="rId23"/>
    <p:sldId id="316" r:id="rId24"/>
    <p:sldId id="317" r:id="rId25"/>
    <p:sldId id="325" r:id="rId26"/>
    <p:sldId id="345" r:id="rId27"/>
    <p:sldId id="326" r:id="rId28"/>
    <p:sldId id="280" r:id="rId29"/>
    <p:sldId id="328" r:id="rId30"/>
    <p:sldId id="262" r:id="rId31"/>
    <p:sldId id="330" r:id="rId32"/>
    <p:sldId id="277" r:id="rId33"/>
    <p:sldId id="278" r:id="rId34"/>
    <p:sldId id="329" r:id="rId35"/>
    <p:sldId id="331" r:id="rId36"/>
    <p:sldId id="332" r:id="rId37"/>
    <p:sldId id="333" r:id="rId38"/>
    <p:sldId id="334" r:id="rId39"/>
    <p:sldId id="335" r:id="rId40"/>
    <p:sldId id="273" r:id="rId41"/>
    <p:sldId id="274" r:id="rId42"/>
    <p:sldId id="275" r:id="rId43"/>
    <p:sldId id="276" r:id="rId44"/>
    <p:sldId id="336" r:id="rId45"/>
    <p:sldId id="337" r:id="rId46"/>
    <p:sldId id="338" r:id="rId47"/>
    <p:sldId id="339" r:id="rId48"/>
    <p:sldId id="340" r:id="rId49"/>
    <p:sldId id="341" r:id="rId50"/>
    <p:sldId id="342" r:id="rId51"/>
    <p:sldId id="343" r:id="rId52"/>
    <p:sldId id="2246" r:id="rId53"/>
    <p:sldId id="2235"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184" autoAdjust="0"/>
    <p:restoredTop sz="94660"/>
  </p:normalViewPr>
  <p:slideViewPr>
    <p:cSldViewPr snapToGrid="0">
      <p:cViewPr varScale="1">
        <p:scale>
          <a:sx n="114" d="100"/>
          <a:sy n="114" d="100"/>
        </p:scale>
        <p:origin x="192" y="312"/>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019409-7EA9-A440-9D9B-FADC5B3F9FC5}" type="datetimeFigureOut">
              <a:rPr lang="en-US" smtClean="0"/>
              <a:t>9/4/24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FCA56E-3B45-A843-9CA4-EADD557A91F7}" type="slidenum">
              <a:rPr lang="en-US" smtClean="0"/>
              <a:t>‹#›</a:t>
            </a:fld>
            <a:endParaRPr lang="en-US"/>
          </a:p>
        </p:txBody>
      </p:sp>
    </p:spTree>
    <p:extLst>
      <p:ext uri="{BB962C8B-B14F-4D97-AF65-F5344CB8AC3E}">
        <p14:creationId xmlns:p14="http://schemas.microsoft.com/office/powerpoint/2010/main" val="1218002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a:extLst>
              <a:ext uri="{FF2B5EF4-FFF2-40B4-BE49-F238E27FC236}">
                <a16:creationId xmlns:a16="http://schemas.microsoft.com/office/drawing/2014/main" id="{9EBF8EC2-6E44-12DF-60BB-FC2DEA980D1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6" name="Notes Placeholder 2">
            <a:extLst>
              <a:ext uri="{FF2B5EF4-FFF2-40B4-BE49-F238E27FC236}">
                <a16:creationId xmlns:a16="http://schemas.microsoft.com/office/drawing/2014/main" id="{6544723F-8F09-6C9C-28B4-91361047C76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ＭＳ Ｐゴシック" panose="020B0600070205080204" pitchFamily="34" charset="-128"/>
            </a:endParaRPr>
          </a:p>
        </p:txBody>
      </p:sp>
      <p:sp>
        <p:nvSpPr>
          <p:cNvPr id="47107" name="Slide Number Placeholder 3">
            <a:extLst>
              <a:ext uri="{FF2B5EF4-FFF2-40B4-BE49-F238E27FC236}">
                <a16:creationId xmlns:a16="http://schemas.microsoft.com/office/drawing/2014/main" id="{E0960AE8-BA00-73DC-167B-1E9BF2ED883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456EE40C-266F-5747-AF10-039F90C24A9B}" type="slidenum">
              <a:rPr lang="en-US" altLang="en-US" sz="1200">
                <a:latin typeface="Calibri" panose="020F0502020204030204" pitchFamily="34" charset="0"/>
              </a:rPr>
              <a:pPr eaLnBrk="1" hangingPunct="1"/>
              <a:t>20</a:t>
            </a:fld>
            <a:endParaRPr lang="en-US" altLang="en-US" sz="1200">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a:extLst>
              <a:ext uri="{FF2B5EF4-FFF2-40B4-BE49-F238E27FC236}">
                <a16:creationId xmlns:a16="http://schemas.microsoft.com/office/drawing/2014/main" id="{CD8B52E7-083B-A597-56AA-072E2C2ECFB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4B0267A-5779-B54C-AA2A-08DB0BA71404}" type="slidenum">
              <a:rPr lang="en-US" altLang="en-US" sz="1200">
                <a:latin typeface="Calibri" panose="020F0502020204030204" pitchFamily="34" charset="0"/>
              </a:rPr>
              <a:pPr eaLnBrk="1" hangingPunct="1"/>
              <a:t>28</a:t>
            </a:fld>
            <a:endParaRPr lang="en-US" altLang="en-US" sz="1200">
              <a:latin typeface="Calibri" panose="020F0502020204030204" pitchFamily="34" charset="0"/>
            </a:endParaRPr>
          </a:p>
        </p:txBody>
      </p:sp>
      <p:sp>
        <p:nvSpPr>
          <p:cNvPr id="19458" name="Rectangle 2">
            <a:extLst>
              <a:ext uri="{FF2B5EF4-FFF2-40B4-BE49-F238E27FC236}">
                <a16:creationId xmlns:a16="http://schemas.microsoft.com/office/drawing/2014/main" id="{36BBA298-7FAD-62A3-4844-7C63B8C6335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Rectangle 3">
            <a:extLst>
              <a:ext uri="{FF2B5EF4-FFF2-40B4-BE49-F238E27FC236}">
                <a16:creationId xmlns:a16="http://schemas.microsoft.com/office/drawing/2014/main" id="{3863B88A-30B8-A99C-B814-126D2834797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408FBC48-145A-C253-B22F-1C9065D437C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E7DB8A0-83B2-C64E-806D-A8BA4EAA880C}" type="slidenum">
              <a:rPr lang="en-US" altLang="en-US" sz="1200">
                <a:latin typeface="Calibri" panose="020F0502020204030204" pitchFamily="34" charset="0"/>
              </a:rPr>
              <a:pPr eaLnBrk="1" hangingPunct="1"/>
              <a:t>29</a:t>
            </a:fld>
            <a:endParaRPr lang="en-US" altLang="en-US" sz="1200">
              <a:latin typeface="Calibri" panose="020F0502020204030204" pitchFamily="34" charset="0"/>
            </a:endParaRPr>
          </a:p>
        </p:txBody>
      </p:sp>
      <p:sp>
        <p:nvSpPr>
          <p:cNvPr id="25602" name="Rectangle 2">
            <a:extLst>
              <a:ext uri="{FF2B5EF4-FFF2-40B4-BE49-F238E27FC236}">
                <a16:creationId xmlns:a16="http://schemas.microsoft.com/office/drawing/2014/main" id="{EE2B4C03-BE0A-74ED-D052-0BA4D958BF6C}"/>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25603" name="Rectangle 3">
            <a:extLst>
              <a:ext uri="{FF2B5EF4-FFF2-40B4-BE49-F238E27FC236}">
                <a16:creationId xmlns:a16="http://schemas.microsoft.com/office/drawing/2014/main" id="{5ED647A4-1041-2690-85D4-B59E0ABACA1A}"/>
              </a:ext>
            </a:extLst>
          </p:cNvPr>
          <p:cNvSpPr>
            <a:spLocks noGrp="1" noChangeArrowheads="1"/>
          </p:cNvSpPr>
          <p:nvPr>
            <p:ph type="body" idx="1"/>
          </p:nvPr>
        </p:nvSpPr>
        <p:spPr bwMode="auto">
          <a:xfrm>
            <a:off x="914400" y="4343400"/>
            <a:ext cx="5029200" cy="4114800"/>
          </a:xfrm>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altLang="en-US">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C76446E5-AADC-3407-6A4F-764E75161AD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FCC9665A-7CFD-2E47-BE1E-D547A8ABD393}" type="slidenum">
              <a:rPr lang="en-US" altLang="en-US" sz="1200">
                <a:latin typeface="Calibri" panose="020F0502020204030204" pitchFamily="34" charset="0"/>
              </a:rPr>
              <a:pPr eaLnBrk="1" hangingPunct="1"/>
              <a:t>30</a:t>
            </a:fld>
            <a:endParaRPr lang="en-US" altLang="en-US" sz="1200">
              <a:latin typeface="Calibri" panose="020F0502020204030204" pitchFamily="34" charset="0"/>
            </a:endParaRPr>
          </a:p>
        </p:txBody>
      </p:sp>
      <p:sp>
        <p:nvSpPr>
          <p:cNvPr id="23554" name="Rectangle 2">
            <a:extLst>
              <a:ext uri="{FF2B5EF4-FFF2-40B4-BE49-F238E27FC236}">
                <a16:creationId xmlns:a16="http://schemas.microsoft.com/office/drawing/2014/main" id="{E800D70E-449F-9036-BADE-487FB1590687}"/>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23555" name="Rectangle 3">
            <a:extLst>
              <a:ext uri="{FF2B5EF4-FFF2-40B4-BE49-F238E27FC236}">
                <a16:creationId xmlns:a16="http://schemas.microsoft.com/office/drawing/2014/main" id="{A5CC0F9F-E625-5E21-AA58-F27785619BB2}"/>
              </a:ext>
            </a:extLst>
          </p:cNvPr>
          <p:cNvSpPr>
            <a:spLocks noGrp="1" noChangeArrowheads="1"/>
          </p:cNvSpPr>
          <p:nvPr>
            <p:ph type="body" idx="1"/>
          </p:nvPr>
        </p:nvSpPr>
        <p:spPr bwMode="auto">
          <a:xfrm>
            <a:off x="914400" y="4343400"/>
            <a:ext cx="5029200" cy="4114800"/>
          </a:xfrm>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altLang="en-US">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0E64CD7C-7B25-AE5F-03C9-5BF5057E6F1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3B9A8DF-CCC6-5341-9BAD-98BD9AB3D6D0}" type="slidenum">
              <a:rPr lang="en-US" altLang="en-US" sz="1200">
                <a:latin typeface="Calibri" panose="020F0502020204030204" pitchFamily="34" charset="0"/>
              </a:rPr>
              <a:pPr eaLnBrk="1" hangingPunct="1"/>
              <a:t>31</a:t>
            </a:fld>
            <a:endParaRPr lang="en-US" altLang="en-US" sz="1200">
              <a:latin typeface="Calibri" panose="020F0502020204030204" pitchFamily="34" charset="0"/>
            </a:endParaRPr>
          </a:p>
        </p:txBody>
      </p:sp>
      <p:sp>
        <p:nvSpPr>
          <p:cNvPr id="29698" name="Rectangle 2">
            <a:extLst>
              <a:ext uri="{FF2B5EF4-FFF2-40B4-BE49-F238E27FC236}">
                <a16:creationId xmlns:a16="http://schemas.microsoft.com/office/drawing/2014/main" id="{4847E402-9816-402A-8777-812BB8A546C2}"/>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29699" name="Rectangle 3">
            <a:extLst>
              <a:ext uri="{FF2B5EF4-FFF2-40B4-BE49-F238E27FC236}">
                <a16:creationId xmlns:a16="http://schemas.microsoft.com/office/drawing/2014/main" id="{857D96B4-ED84-364C-09E6-8D3DC6E5B99C}"/>
              </a:ext>
            </a:extLst>
          </p:cNvPr>
          <p:cNvSpPr>
            <a:spLocks noGrp="1" noChangeArrowheads="1"/>
          </p:cNvSpPr>
          <p:nvPr>
            <p:ph type="body" idx="1"/>
          </p:nvPr>
        </p:nvSpPr>
        <p:spPr bwMode="auto">
          <a:xfrm>
            <a:off x="914400" y="4343400"/>
            <a:ext cx="5029200" cy="4114800"/>
          </a:xfrm>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altLang="en-US">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9C0F16CF-FF3F-EC28-F6D5-A5D9EEEFC9E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7C3098B-9EF4-854F-965F-DC63D771E887}" type="slidenum">
              <a:rPr lang="en-US" altLang="en-US" sz="1200">
                <a:latin typeface="Calibri" panose="020F0502020204030204" pitchFamily="34" charset="0"/>
              </a:rPr>
              <a:pPr eaLnBrk="1" hangingPunct="1"/>
              <a:t>34</a:t>
            </a:fld>
            <a:endParaRPr lang="en-US" altLang="en-US" sz="1200">
              <a:latin typeface="Calibri" panose="020F0502020204030204" pitchFamily="34" charset="0"/>
            </a:endParaRPr>
          </a:p>
        </p:txBody>
      </p:sp>
      <p:sp>
        <p:nvSpPr>
          <p:cNvPr id="27650" name="Rectangle 2">
            <a:extLst>
              <a:ext uri="{FF2B5EF4-FFF2-40B4-BE49-F238E27FC236}">
                <a16:creationId xmlns:a16="http://schemas.microsoft.com/office/drawing/2014/main" id="{88A4910A-A926-575E-A980-D5C099F9D778}"/>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27651" name="Rectangle 3">
            <a:extLst>
              <a:ext uri="{FF2B5EF4-FFF2-40B4-BE49-F238E27FC236}">
                <a16:creationId xmlns:a16="http://schemas.microsoft.com/office/drawing/2014/main" id="{84CD4245-52D4-89D2-0F89-876D70EEE842}"/>
              </a:ext>
            </a:extLst>
          </p:cNvPr>
          <p:cNvSpPr>
            <a:spLocks noGrp="1" noChangeArrowheads="1"/>
          </p:cNvSpPr>
          <p:nvPr>
            <p:ph type="body" idx="1"/>
          </p:nvPr>
        </p:nvSpPr>
        <p:spPr bwMode="auto">
          <a:xfrm>
            <a:off x="914400" y="4343400"/>
            <a:ext cx="5029200" cy="4114800"/>
          </a:xfrm>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altLang="en-US">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2A32334B-DC54-2B34-CA72-61046285E0B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A6D582BC-57FD-D94A-8508-84276F026628}" type="slidenum">
              <a:rPr lang="en-US" altLang="en-US" sz="1200">
                <a:latin typeface="Calibri" panose="020F0502020204030204" pitchFamily="34" charset="0"/>
              </a:rPr>
              <a:pPr eaLnBrk="1" hangingPunct="1"/>
              <a:t>35</a:t>
            </a:fld>
            <a:endParaRPr lang="en-US" altLang="en-US" sz="1200">
              <a:latin typeface="Calibri" panose="020F0502020204030204" pitchFamily="34" charset="0"/>
            </a:endParaRPr>
          </a:p>
        </p:txBody>
      </p:sp>
      <p:sp>
        <p:nvSpPr>
          <p:cNvPr id="31746" name="Rectangle 2">
            <a:extLst>
              <a:ext uri="{FF2B5EF4-FFF2-40B4-BE49-F238E27FC236}">
                <a16:creationId xmlns:a16="http://schemas.microsoft.com/office/drawing/2014/main" id="{4C03ED88-84C8-1792-177F-2F0E5B727AE5}"/>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31747" name="Rectangle 3">
            <a:extLst>
              <a:ext uri="{FF2B5EF4-FFF2-40B4-BE49-F238E27FC236}">
                <a16:creationId xmlns:a16="http://schemas.microsoft.com/office/drawing/2014/main" id="{857D83BB-F751-6C54-64E3-B6A36FA6590B}"/>
              </a:ext>
            </a:extLst>
          </p:cNvPr>
          <p:cNvSpPr>
            <a:spLocks noGrp="1" noChangeArrowheads="1"/>
          </p:cNvSpPr>
          <p:nvPr>
            <p:ph type="body" idx="1"/>
          </p:nvPr>
        </p:nvSpPr>
        <p:spPr bwMode="auto">
          <a:xfrm>
            <a:off x="914400" y="4343400"/>
            <a:ext cx="5029200" cy="4114800"/>
          </a:xfrm>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altLang="en-US">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a:extLst>
              <a:ext uri="{FF2B5EF4-FFF2-40B4-BE49-F238E27FC236}">
                <a16:creationId xmlns:a16="http://schemas.microsoft.com/office/drawing/2014/main" id="{ACA378F8-DCFD-9C01-30F4-5D22807267A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B1934004-A1B9-FC44-9CB2-B027AB880560}" type="slidenum">
              <a:rPr lang="en-US" altLang="en-US" sz="1200">
                <a:latin typeface="Calibri" panose="020F0502020204030204" pitchFamily="34" charset="0"/>
              </a:rPr>
              <a:pPr eaLnBrk="1" hangingPunct="1"/>
              <a:t>36</a:t>
            </a:fld>
            <a:endParaRPr lang="en-US" altLang="en-US" sz="1200">
              <a:latin typeface="Calibri" panose="020F0502020204030204" pitchFamily="34" charset="0"/>
            </a:endParaRPr>
          </a:p>
        </p:txBody>
      </p:sp>
      <p:sp>
        <p:nvSpPr>
          <p:cNvPr id="33794" name="Rectangle 2">
            <a:extLst>
              <a:ext uri="{FF2B5EF4-FFF2-40B4-BE49-F238E27FC236}">
                <a16:creationId xmlns:a16="http://schemas.microsoft.com/office/drawing/2014/main" id="{D129CEDB-48B6-DC56-E59E-C18D23D3E944}"/>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33795" name="Rectangle 3">
            <a:extLst>
              <a:ext uri="{FF2B5EF4-FFF2-40B4-BE49-F238E27FC236}">
                <a16:creationId xmlns:a16="http://schemas.microsoft.com/office/drawing/2014/main" id="{22DC96A1-0DE8-A6ED-67D3-E98B483A4326}"/>
              </a:ext>
            </a:extLst>
          </p:cNvPr>
          <p:cNvSpPr>
            <a:spLocks noGrp="1" noChangeArrowheads="1"/>
          </p:cNvSpPr>
          <p:nvPr>
            <p:ph type="body" idx="1"/>
          </p:nvPr>
        </p:nvSpPr>
        <p:spPr bwMode="auto">
          <a:xfrm>
            <a:off x="914400" y="4343400"/>
            <a:ext cx="5029200" cy="4114800"/>
          </a:xfrm>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altLang="en-US">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a:extLst>
              <a:ext uri="{FF2B5EF4-FFF2-40B4-BE49-F238E27FC236}">
                <a16:creationId xmlns:a16="http://schemas.microsoft.com/office/drawing/2014/main" id="{FFDF698D-AF99-CFD2-ECDC-8B0A8C3C370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F4FD3EB4-5137-8441-A80C-7456D38DAD1A}" type="slidenum">
              <a:rPr lang="en-US" altLang="en-US" sz="1200">
                <a:latin typeface="Calibri" panose="020F0502020204030204" pitchFamily="34" charset="0"/>
              </a:rPr>
              <a:pPr eaLnBrk="1" hangingPunct="1"/>
              <a:t>37</a:t>
            </a:fld>
            <a:endParaRPr lang="en-US" altLang="en-US" sz="1200">
              <a:latin typeface="Calibri" panose="020F0502020204030204" pitchFamily="34" charset="0"/>
            </a:endParaRPr>
          </a:p>
        </p:txBody>
      </p:sp>
      <p:sp>
        <p:nvSpPr>
          <p:cNvPr id="35842" name="Rectangle 2">
            <a:extLst>
              <a:ext uri="{FF2B5EF4-FFF2-40B4-BE49-F238E27FC236}">
                <a16:creationId xmlns:a16="http://schemas.microsoft.com/office/drawing/2014/main" id="{A36D992A-BC52-E794-8298-0DA4923AB683}"/>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35843" name="Rectangle 3">
            <a:extLst>
              <a:ext uri="{FF2B5EF4-FFF2-40B4-BE49-F238E27FC236}">
                <a16:creationId xmlns:a16="http://schemas.microsoft.com/office/drawing/2014/main" id="{CAA05F86-EC67-BE13-9EEB-DDC69B76AD92}"/>
              </a:ext>
            </a:extLst>
          </p:cNvPr>
          <p:cNvSpPr>
            <a:spLocks noGrp="1" noChangeArrowheads="1"/>
          </p:cNvSpPr>
          <p:nvPr>
            <p:ph type="body" idx="1"/>
          </p:nvPr>
        </p:nvSpPr>
        <p:spPr bwMode="auto">
          <a:xfrm>
            <a:off x="914400" y="4343400"/>
            <a:ext cx="5029200" cy="4114800"/>
          </a:xfrm>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altLang="en-US">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a:extLst>
              <a:ext uri="{FF2B5EF4-FFF2-40B4-BE49-F238E27FC236}">
                <a16:creationId xmlns:a16="http://schemas.microsoft.com/office/drawing/2014/main" id="{1171D852-70AB-6A0D-C8BC-D5B7EB60A9E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DDEF1663-2E7D-EB43-87C1-AA16FDC6271B}" type="slidenum">
              <a:rPr lang="en-US" altLang="en-US" sz="1200">
                <a:latin typeface="Calibri" panose="020F0502020204030204" pitchFamily="34" charset="0"/>
              </a:rPr>
              <a:pPr eaLnBrk="1" hangingPunct="1"/>
              <a:t>38</a:t>
            </a:fld>
            <a:endParaRPr lang="en-US" altLang="en-US" sz="1200">
              <a:latin typeface="Calibri" panose="020F0502020204030204" pitchFamily="34" charset="0"/>
            </a:endParaRPr>
          </a:p>
        </p:txBody>
      </p:sp>
      <p:sp>
        <p:nvSpPr>
          <p:cNvPr id="37890" name="Rectangle 2">
            <a:extLst>
              <a:ext uri="{FF2B5EF4-FFF2-40B4-BE49-F238E27FC236}">
                <a16:creationId xmlns:a16="http://schemas.microsoft.com/office/drawing/2014/main" id="{8A53D675-D1F0-AB3F-5FA7-3DF697231667}"/>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37891" name="Rectangle 3">
            <a:extLst>
              <a:ext uri="{FF2B5EF4-FFF2-40B4-BE49-F238E27FC236}">
                <a16:creationId xmlns:a16="http://schemas.microsoft.com/office/drawing/2014/main" id="{279A24F1-96D9-1FED-B3D4-CFB7FA6825F5}"/>
              </a:ext>
            </a:extLst>
          </p:cNvPr>
          <p:cNvSpPr>
            <a:spLocks noGrp="1" noChangeArrowheads="1"/>
          </p:cNvSpPr>
          <p:nvPr>
            <p:ph type="body" idx="1"/>
          </p:nvPr>
        </p:nvSpPr>
        <p:spPr bwMode="auto">
          <a:xfrm>
            <a:off x="914400" y="4343400"/>
            <a:ext cx="5029200" cy="4114800"/>
          </a:xfrm>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altLang="en-US">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a:extLst>
              <a:ext uri="{FF2B5EF4-FFF2-40B4-BE49-F238E27FC236}">
                <a16:creationId xmlns:a16="http://schemas.microsoft.com/office/drawing/2014/main" id="{1D3076CA-64B5-0D19-1EA0-478E0F5B9F5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22473094-EFC5-5343-894A-94EE10089404}" type="slidenum">
              <a:rPr lang="en-US" altLang="en-US" sz="1200">
                <a:latin typeface="Calibri" panose="020F0502020204030204" pitchFamily="34" charset="0"/>
              </a:rPr>
              <a:pPr eaLnBrk="1" hangingPunct="1"/>
              <a:t>39</a:t>
            </a:fld>
            <a:endParaRPr lang="en-US" altLang="en-US" sz="1200">
              <a:latin typeface="Calibri" panose="020F0502020204030204" pitchFamily="34" charset="0"/>
            </a:endParaRPr>
          </a:p>
        </p:txBody>
      </p:sp>
      <p:sp>
        <p:nvSpPr>
          <p:cNvPr id="39938" name="Rectangle 2">
            <a:extLst>
              <a:ext uri="{FF2B5EF4-FFF2-40B4-BE49-F238E27FC236}">
                <a16:creationId xmlns:a16="http://schemas.microsoft.com/office/drawing/2014/main" id="{5FEA8950-DC9B-82D5-9AA6-2D444C642C26}"/>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39939" name="Rectangle 3">
            <a:extLst>
              <a:ext uri="{FF2B5EF4-FFF2-40B4-BE49-F238E27FC236}">
                <a16:creationId xmlns:a16="http://schemas.microsoft.com/office/drawing/2014/main" id="{8D491EBB-63A8-0670-5C72-8AAA2915E217}"/>
              </a:ext>
            </a:extLst>
          </p:cNvPr>
          <p:cNvSpPr>
            <a:spLocks noGrp="1" noChangeArrowheads="1"/>
          </p:cNvSpPr>
          <p:nvPr>
            <p:ph type="body" idx="1"/>
          </p:nvPr>
        </p:nvSpPr>
        <p:spPr bwMode="auto">
          <a:xfrm>
            <a:off x="914400" y="4343400"/>
            <a:ext cx="5029200" cy="4114800"/>
          </a:xfrm>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altLang="en-US">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a:extLst>
              <a:ext uri="{FF2B5EF4-FFF2-40B4-BE49-F238E27FC236}">
                <a16:creationId xmlns:a16="http://schemas.microsoft.com/office/drawing/2014/main" id="{438A49DF-BF9E-3197-BD9D-8C496D8744E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FF156010-8614-BF4A-875D-93AB7808C18F}" type="slidenum">
              <a:rPr lang="en-US" altLang="en-US" sz="1200">
                <a:latin typeface="Calibri" panose="020F0502020204030204" pitchFamily="34" charset="0"/>
              </a:rPr>
              <a:pPr eaLnBrk="1" hangingPunct="1"/>
              <a:t>40</a:t>
            </a:fld>
            <a:endParaRPr lang="en-US" altLang="en-US" sz="1200">
              <a:latin typeface="Calibri" panose="020F0502020204030204" pitchFamily="34" charset="0"/>
            </a:endParaRPr>
          </a:p>
        </p:txBody>
      </p:sp>
      <p:sp>
        <p:nvSpPr>
          <p:cNvPr id="41986" name="Rectangle 2">
            <a:extLst>
              <a:ext uri="{FF2B5EF4-FFF2-40B4-BE49-F238E27FC236}">
                <a16:creationId xmlns:a16="http://schemas.microsoft.com/office/drawing/2014/main" id="{789A3D31-A57E-F84F-C859-F9EA7345F17E}"/>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41987" name="Rectangle 3">
            <a:extLst>
              <a:ext uri="{FF2B5EF4-FFF2-40B4-BE49-F238E27FC236}">
                <a16:creationId xmlns:a16="http://schemas.microsoft.com/office/drawing/2014/main" id="{5AF34191-F844-4912-099F-A8F5B0C79AAC}"/>
              </a:ext>
            </a:extLst>
          </p:cNvPr>
          <p:cNvSpPr>
            <a:spLocks noGrp="1" noChangeArrowheads="1"/>
          </p:cNvSpPr>
          <p:nvPr>
            <p:ph type="body" idx="1"/>
          </p:nvPr>
        </p:nvSpPr>
        <p:spPr bwMode="auto">
          <a:xfrm>
            <a:off x="914400" y="4343400"/>
            <a:ext cx="5029200" cy="4114800"/>
          </a:xfrm>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altLang="en-US">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id="{BB275427-4CAE-E137-C9B0-190F8D3828C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E1D89AFF-79CF-6446-9009-EACA78EF0A5C}" type="slidenum">
              <a:rPr lang="en-US" altLang="en-US" sz="1200">
                <a:latin typeface="Calibri" panose="020F0502020204030204" pitchFamily="34" charset="0"/>
              </a:rPr>
              <a:pPr eaLnBrk="1" hangingPunct="1"/>
              <a:t>41</a:t>
            </a:fld>
            <a:endParaRPr lang="en-US" altLang="en-US" sz="1200">
              <a:latin typeface="Calibri" panose="020F0502020204030204" pitchFamily="34" charset="0"/>
            </a:endParaRPr>
          </a:p>
        </p:txBody>
      </p:sp>
      <p:sp>
        <p:nvSpPr>
          <p:cNvPr id="44034" name="Rectangle 2">
            <a:extLst>
              <a:ext uri="{FF2B5EF4-FFF2-40B4-BE49-F238E27FC236}">
                <a16:creationId xmlns:a16="http://schemas.microsoft.com/office/drawing/2014/main" id="{5B4149DF-1B44-5D5B-EBB3-C845837BA195}"/>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44035" name="Rectangle 3">
            <a:extLst>
              <a:ext uri="{FF2B5EF4-FFF2-40B4-BE49-F238E27FC236}">
                <a16:creationId xmlns:a16="http://schemas.microsoft.com/office/drawing/2014/main" id="{7E265352-C3F4-DC17-2F07-2C45AD42B0F3}"/>
              </a:ext>
            </a:extLst>
          </p:cNvPr>
          <p:cNvSpPr>
            <a:spLocks noGrp="1" noChangeArrowheads="1"/>
          </p:cNvSpPr>
          <p:nvPr>
            <p:ph type="body" idx="1"/>
          </p:nvPr>
        </p:nvSpPr>
        <p:spPr bwMode="auto">
          <a:xfrm>
            <a:off x="914400" y="4343400"/>
            <a:ext cx="5029200" cy="4114800"/>
          </a:xfrm>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altLang="en-US">
              <a:ea typeface="ＭＳ Ｐゴシック"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a:extLst>
              <a:ext uri="{FF2B5EF4-FFF2-40B4-BE49-F238E27FC236}">
                <a16:creationId xmlns:a16="http://schemas.microsoft.com/office/drawing/2014/main" id="{BDA5D874-63A5-B934-7562-5DC21F0F466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0A3D6081-C429-5E42-9191-6916D2FACF75}" type="slidenum">
              <a:rPr lang="en-US" altLang="en-US" sz="1200">
                <a:latin typeface="Calibri" panose="020F0502020204030204" pitchFamily="34" charset="0"/>
              </a:rPr>
              <a:pPr eaLnBrk="1" hangingPunct="1"/>
              <a:t>42</a:t>
            </a:fld>
            <a:endParaRPr lang="en-US" altLang="en-US" sz="1200">
              <a:latin typeface="Calibri" panose="020F0502020204030204" pitchFamily="34" charset="0"/>
            </a:endParaRPr>
          </a:p>
        </p:txBody>
      </p:sp>
      <p:sp>
        <p:nvSpPr>
          <p:cNvPr id="46082" name="Rectangle 2">
            <a:extLst>
              <a:ext uri="{FF2B5EF4-FFF2-40B4-BE49-F238E27FC236}">
                <a16:creationId xmlns:a16="http://schemas.microsoft.com/office/drawing/2014/main" id="{46523F2C-ACF6-7F17-B084-FC142AD8091D}"/>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46083" name="Rectangle 3">
            <a:extLst>
              <a:ext uri="{FF2B5EF4-FFF2-40B4-BE49-F238E27FC236}">
                <a16:creationId xmlns:a16="http://schemas.microsoft.com/office/drawing/2014/main" id="{4A9C4A54-617C-43A0-5C08-FDD5E8065739}"/>
              </a:ext>
            </a:extLst>
          </p:cNvPr>
          <p:cNvSpPr>
            <a:spLocks noGrp="1" noChangeArrowheads="1"/>
          </p:cNvSpPr>
          <p:nvPr>
            <p:ph type="body" idx="1"/>
          </p:nvPr>
        </p:nvSpPr>
        <p:spPr bwMode="auto">
          <a:xfrm>
            <a:off x="914400" y="4343400"/>
            <a:ext cx="5029200" cy="4114800"/>
          </a:xfrm>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altLang="en-US">
              <a:ea typeface="ＭＳ Ｐゴシック"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241CB0A8-F289-D05A-4CB3-75586028392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72FF8839-2723-1646-BDF5-91A8975C8EB6}" type="slidenum">
              <a:rPr lang="en-US" altLang="en-US" sz="1200">
                <a:latin typeface="Calibri" panose="020F0502020204030204" pitchFamily="34" charset="0"/>
              </a:rPr>
              <a:pPr eaLnBrk="1" hangingPunct="1"/>
              <a:t>43</a:t>
            </a:fld>
            <a:endParaRPr lang="en-US" altLang="en-US" sz="1200">
              <a:latin typeface="Calibri" panose="020F0502020204030204" pitchFamily="34" charset="0"/>
            </a:endParaRPr>
          </a:p>
        </p:txBody>
      </p:sp>
      <p:sp>
        <p:nvSpPr>
          <p:cNvPr id="48130" name="Rectangle 2">
            <a:extLst>
              <a:ext uri="{FF2B5EF4-FFF2-40B4-BE49-F238E27FC236}">
                <a16:creationId xmlns:a16="http://schemas.microsoft.com/office/drawing/2014/main" id="{8B14398B-4023-283B-2169-DDBFE68F001D}"/>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48131" name="Rectangle 3">
            <a:extLst>
              <a:ext uri="{FF2B5EF4-FFF2-40B4-BE49-F238E27FC236}">
                <a16:creationId xmlns:a16="http://schemas.microsoft.com/office/drawing/2014/main" id="{EDA23FC3-CB98-D762-4289-CC22319A1086}"/>
              </a:ext>
            </a:extLst>
          </p:cNvPr>
          <p:cNvSpPr>
            <a:spLocks noGrp="1" noChangeArrowheads="1"/>
          </p:cNvSpPr>
          <p:nvPr>
            <p:ph type="body" idx="1"/>
          </p:nvPr>
        </p:nvSpPr>
        <p:spPr bwMode="auto">
          <a:xfrm>
            <a:off x="914400" y="4343400"/>
            <a:ext cx="5029200" cy="4114800"/>
          </a:xfrm>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altLang="en-US">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3999D-EBA7-4D58-B06D-42C7AAA922F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1742D39-58C9-4836-9816-AC439BAD97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6C5D8F7-D2ED-49FA-9CF1-9C467F1B197F}"/>
              </a:ext>
            </a:extLst>
          </p:cNvPr>
          <p:cNvSpPr>
            <a:spLocks noGrp="1"/>
          </p:cNvSpPr>
          <p:nvPr>
            <p:ph type="dt" sz="half" idx="10"/>
          </p:nvPr>
        </p:nvSpPr>
        <p:spPr/>
        <p:txBody>
          <a:bodyPr/>
          <a:lstStyle/>
          <a:p>
            <a:fld id="{B8547568-B47D-48C6-AABD-348010117F8F}" type="datetimeFigureOut">
              <a:rPr lang="en-IN" smtClean="0"/>
              <a:t>04/09/24</a:t>
            </a:fld>
            <a:endParaRPr lang="en-IN"/>
          </a:p>
        </p:txBody>
      </p:sp>
      <p:sp>
        <p:nvSpPr>
          <p:cNvPr id="5" name="Footer Placeholder 4">
            <a:extLst>
              <a:ext uri="{FF2B5EF4-FFF2-40B4-BE49-F238E27FC236}">
                <a16:creationId xmlns:a16="http://schemas.microsoft.com/office/drawing/2014/main" id="{366284FE-61A5-486E-B1BD-18DC0F4FC7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9382FB-9C75-4B16-9A44-550514604A14}"/>
              </a:ext>
            </a:extLst>
          </p:cNvPr>
          <p:cNvSpPr>
            <a:spLocks noGrp="1"/>
          </p:cNvSpPr>
          <p:nvPr>
            <p:ph type="sldNum" sz="quarter" idx="12"/>
          </p:nvPr>
        </p:nvSpPr>
        <p:spPr/>
        <p:txBody>
          <a:bodyPr/>
          <a:lstStyle/>
          <a:p>
            <a:fld id="{62D50ED2-2E9B-420B-8B35-D4F470868D8F}" type="slidenum">
              <a:rPr lang="en-IN" smtClean="0"/>
              <a:t>‹#›</a:t>
            </a:fld>
            <a:endParaRPr lang="en-IN"/>
          </a:p>
        </p:txBody>
      </p:sp>
    </p:spTree>
    <p:extLst>
      <p:ext uri="{BB962C8B-B14F-4D97-AF65-F5344CB8AC3E}">
        <p14:creationId xmlns:p14="http://schemas.microsoft.com/office/powerpoint/2010/main" val="3260903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6AC36-0A01-48F3-B1D5-B65ADB98CF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1FEA3E2-F56A-472B-A20E-226A9A68F8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3DE68D-F853-4F91-B175-704F94638DFA}"/>
              </a:ext>
            </a:extLst>
          </p:cNvPr>
          <p:cNvSpPr>
            <a:spLocks noGrp="1"/>
          </p:cNvSpPr>
          <p:nvPr>
            <p:ph type="dt" sz="half" idx="10"/>
          </p:nvPr>
        </p:nvSpPr>
        <p:spPr/>
        <p:txBody>
          <a:bodyPr/>
          <a:lstStyle/>
          <a:p>
            <a:fld id="{B8547568-B47D-48C6-AABD-348010117F8F}" type="datetimeFigureOut">
              <a:rPr lang="en-IN" smtClean="0"/>
              <a:t>04/09/24</a:t>
            </a:fld>
            <a:endParaRPr lang="en-IN"/>
          </a:p>
        </p:txBody>
      </p:sp>
      <p:sp>
        <p:nvSpPr>
          <p:cNvPr id="5" name="Footer Placeholder 4">
            <a:extLst>
              <a:ext uri="{FF2B5EF4-FFF2-40B4-BE49-F238E27FC236}">
                <a16:creationId xmlns:a16="http://schemas.microsoft.com/office/drawing/2014/main" id="{D74F3C4C-055C-483E-A507-9B99FF8BBB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F8FB49-C935-4AC1-9C28-A5D10B15FF87}"/>
              </a:ext>
            </a:extLst>
          </p:cNvPr>
          <p:cNvSpPr>
            <a:spLocks noGrp="1"/>
          </p:cNvSpPr>
          <p:nvPr>
            <p:ph type="sldNum" sz="quarter" idx="12"/>
          </p:nvPr>
        </p:nvSpPr>
        <p:spPr/>
        <p:txBody>
          <a:bodyPr/>
          <a:lstStyle/>
          <a:p>
            <a:fld id="{62D50ED2-2E9B-420B-8B35-D4F470868D8F}" type="slidenum">
              <a:rPr lang="en-IN" smtClean="0"/>
              <a:t>‹#›</a:t>
            </a:fld>
            <a:endParaRPr lang="en-IN"/>
          </a:p>
        </p:txBody>
      </p:sp>
    </p:spTree>
    <p:extLst>
      <p:ext uri="{BB962C8B-B14F-4D97-AF65-F5344CB8AC3E}">
        <p14:creationId xmlns:p14="http://schemas.microsoft.com/office/powerpoint/2010/main" val="1008592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E4A7-B6A1-494A-ADA9-30D0F68740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9071807-71DB-424B-BD85-7D98078D17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E1722DE-F399-434D-8820-9830F1DCA866}"/>
              </a:ext>
            </a:extLst>
          </p:cNvPr>
          <p:cNvSpPr>
            <a:spLocks noGrp="1"/>
          </p:cNvSpPr>
          <p:nvPr>
            <p:ph type="dt" sz="half" idx="10"/>
          </p:nvPr>
        </p:nvSpPr>
        <p:spPr/>
        <p:txBody>
          <a:bodyPr/>
          <a:lstStyle/>
          <a:p>
            <a:fld id="{B8547568-B47D-48C6-AABD-348010117F8F}" type="datetimeFigureOut">
              <a:rPr lang="en-IN" smtClean="0"/>
              <a:t>04/09/24</a:t>
            </a:fld>
            <a:endParaRPr lang="en-IN"/>
          </a:p>
        </p:txBody>
      </p:sp>
      <p:sp>
        <p:nvSpPr>
          <p:cNvPr id="5" name="Footer Placeholder 4">
            <a:extLst>
              <a:ext uri="{FF2B5EF4-FFF2-40B4-BE49-F238E27FC236}">
                <a16:creationId xmlns:a16="http://schemas.microsoft.com/office/drawing/2014/main" id="{6D281997-F2DB-4176-AE17-58F7F145CF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F0347B-CCBE-4D91-B2E7-739C115B47AB}"/>
              </a:ext>
            </a:extLst>
          </p:cNvPr>
          <p:cNvSpPr>
            <a:spLocks noGrp="1"/>
          </p:cNvSpPr>
          <p:nvPr>
            <p:ph type="sldNum" sz="quarter" idx="12"/>
          </p:nvPr>
        </p:nvSpPr>
        <p:spPr/>
        <p:txBody>
          <a:bodyPr/>
          <a:lstStyle/>
          <a:p>
            <a:fld id="{62D50ED2-2E9B-420B-8B35-D4F470868D8F}" type="slidenum">
              <a:rPr lang="en-IN" smtClean="0"/>
              <a:t>‹#›</a:t>
            </a:fld>
            <a:endParaRPr lang="en-IN"/>
          </a:p>
        </p:txBody>
      </p:sp>
    </p:spTree>
    <p:extLst>
      <p:ext uri="{BB962C8B-B14F-4D97-AF65-F5344CB8AC3E}">
        <p14:creationId xmlns:p14="http://schemas.microsoft.com/office/powerpoint/2010/main" val="1718613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5A998-3F53-4F8D-9EEA-58DFD29CCD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CD71B00-B163-4797-8475-7C287FB6BE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14B834B-6A22-4B5E-9A2F-68C70A4CA0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5F5D31F-9FF6-4F6E-889D-664278CB7CFA}"/>
              </a:ext>
            </a:extLst>
          </p:cNvPr>
          <p:cNvSpPr>
            <a:spLocks noGrp="1"/>
          </p:cNvSpPr>
          <p:nvPr>
            <p:ph type="dt" sz="half" idx="10"/>
          </p:nvPr>
        </p:nvSpPr>
        <p:spPr/>
        <p:txBody>
          <a:bodyPr/>
          <a:lstStyle/>
          <a:p>
            <a:fld id="{B8547568-B47D-48C6-AABD-348010117F8F}" type="datetimeFigureOut">
              <a:rPr lang="en-IN" smtClean="0"/>
              <a:t>04/09/24</a:t>
            </a:fld>
            <a:endParaRPr lang="en-IN"/>
          </a:p>
        </p:txBody>
      </p:sp>
      <p:sp>
        <p:nvSpPr>
          <p:cNvPr id="6" name="Footer Placeholder 5">
            <a:extLst>
              <a:ext uri="{FF2B5EF4-FFF2-40B4-BE49-F238E27FC236}">
                <a16:creationId xmlns:a16="http://schemas.microsoft.com/office/drawing/2014/main" id="{EE1A5D88-C036-4C1A-ACA3-408152486A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E22E99-D7EC-4727-9813-FE0AAEA318A4}"/>
              </a:ext>
            </a:extLst>
          </p:cNvPr>
          <p:cNvSpPr>
            <a:spLocks noGrp="1"/>
          </p:cNvSpPr>
          <p:nvPr>
            <p:ph type="sldNum" sz="quarter" idx="12"/>
          </p:nvPr>
        </p:nvSpPr>
        <p:spPr/>
        <p:txBody>
          <a:bodyPr/>
          <a:lstStyle/>
          <a:p>
            <a:fld id="{62D50ED2-2E9B-420B-8B35-D4F470868D8F}" type="slidenum">
              <a:rPr lang="en-IN" smtClean="0"/>
              <a:t>‹#›</a:t>
            </a:fld>
            <a:endParaRPr lang="en-IN"/>
          </a:p>
        </p:txBody>
      </p:sp>
    </p:spTree>
    <p:extLst>
      <p:ext uri="{BB962C8B-B14F-4D97-AF65-F5344CB8AC3E}">
        <p14:creationId xmlns:p14="http://schemas.microsoft.com/office/powerpoint/2010/main" val="988593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A839F-B275-4937-8A87-F3ABEAD74B9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A11BC17-D14E-4201-910F-3BFEE06EAF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CCA00D-F51F-476F-9A38-9E4C0202CC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401C867-8122-41BF-943B-B7378513E0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01546A-33A2-46E2-8D2E-D71E90B9C9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B58A0FA-B2BB-499E-AE49-C433830D96F4}"/>
              </a:ext>
            </a:extLst>
          </p:cNvPr>
          <p:cNvSpPr>
            <a:spLocks noGrp="1"/>
          </p:cNvSpPr>
          <p:nvPr>
            <p:ph type="dt" sz="half" idx="10"/>
          </p:nvPr>
        </p:nvSpPr>
        <p:spPr/>
        <p:txBody>
          <a:bodyPr/>
          <a:lstStyle/>
          <a:p>
            <a:fld id="{B8547568-B47D-48C6-AABD-348010117F8F}" type="datetimeFigureOut">
              <a:rPr lang="en-IN" smtClean="0"/>
              <a:t>04/09/24</a:t>
            </a:fld>
            <a:endParaRPr lang="en-IN"/>
          </a:p>
        </p:txBody>
      </p:sp>
      <p:sp>
        <p:nvSpPr>
          <p:cNvPr id="8" name="Footer Placeholder 7">
            <a:extLst>
              <a:ext uri="{FF2B5EF4-FFF2-40B4-BE49-F238E27FC236}">
                <a16:creationId xmlns:a16="http://schemas.microsoft.com/office/drawing/2014/main" id="{7D3DD2C6-E87B-4F01-BCFC-29DBC5D643E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36B8D57-6BA1-4744-A984-C3E475182189}"/>
              </a:ext>
            </a:extLst>
          </p:cNvPr>
          <p:cNvSpPr>
            <a:spLocks noGrp="1"/>
          </p:cNvSpPr>
          <p:nvPr>
            <p:ph type="sldNum" sz="quarter" idx="12"/>
          </p:nvPr>
        </p:nvSpPr>
        <p:spPr/>
        <p:txBody>
          <a:bodyPr/>
          <a:lstStyle/>
          <a:p>
            <a:fld id="{62D50ED2-2E9B-420B-8B35-D4F470868D8F}" type="slidenum">
              <a:rPr lang="en-IN" smtClean="0"/>
              <a:t>‹#›</a:t>
            </a:fld>
            <a:endParaRPr lang="en-IN"/>
          </a:p>
        </p:txBody>
      </p:sp>
    </p:spTree>
    <p:extLst>
      <p:ext uri="{BB962C8B-B14F-4D97-AF65-F5344CB8AC3E}">
        <p14:creationId xmlns:p14="http://schemas.microsoft.com/office/powerpoint/2010/main" val="36914647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61855-CE0E-4681-9570-C63248EB0A1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0A0A1AF-A63B-49B9-B623-82BD21FD1184}"/>
              </a:ext>
            </a:extLst>
          </p:cNvPr>
          <p:cNvSpPr>
            <a:spLocks noGrp="1"/>
          </p:cNvSpPr>
          <p:nvPr>
            <p:ph type="dt" sz="half" idx="10"/>
          </p:nvPr>
        </p:nvSpPr>
        <p:spPr/>
        <p:txBody>
          <a:bodyPr/>
          <a:lstStyle/>
          <a:p>
            <a:fld id="{B8547568-B47D-48C6-AABD-348010117F8F}" type="datetimeFigureOut">
              <a:rPr lang="en-IN" smtClean="0"/>
              <a:t>04/09/24</a:t>
            </a:fld>
            <a:endParaRPr lang="en-IN"/>
          </a:p>
        </p:txBody>
      </p:sp>
      <p:sp>
        <p:nvSpPr>
          <p:cNvPr id="4" name="Footer Placeholder 3">
            <a:extLst>
              <a:ext uri="{FF2B5EF4-FFF2-40B4-BE49-F238E27FC236}">
                <a16:creationId xmlns:a16="http://schemas.microsoft.com/office/drawing/2014/main" id="{F7FCBC63-6F4C-4CFB-B5A8-B55BCB3B7CB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821D7DA-90D8-42DA-8BED-FF1FF8CB2552}"/>
              </a:ext>
            </a:extLst>
          </p:cNvPr>
          <p:cNvSpPr>
            <a:spLocks noGrp="1"/>
          </p:cNvSpPr>
          <p:nvPr>
            <p:ph type="sldNum" sz="quarter" idx="12"/>
          </p:nvPr>
        </p:nvSpPr>
        <p:spPr/>
        <p:txBody>
          <a:bodyPr/>
          <a:lstStyle/>
          <a:p>
            <a:fld id="{62D50ED2-2E9B-420B-8B35-D4F470868D8F}" type="slidenum">
              <a:rPr lang="en-IN" smtClean="0"/>
              <a:t>‹#›</a:t>
            </a:fld>
            <a:endParaRPr lang="en-IN"/>
          </a:p>
        </p:txBody>
      </p:sp>
    </p:spTree>
    <p:extLst>
      <p:ext uri="{BB962C8B-B14F-4D97-AF65-F5344CB8AC3E}">
        <p14:creationId xmlns:p14="http://schemas.microsoft.com/office/powerpoint/2010/main" val="28361446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248E4A-0CC8-4471-BB93-14D2D4451BE5}"/>
              </a:ext>
            </a:extLst>
          </p:cNvPr>
          <p:cNvSpPr>
            <a:spLocks noGrp="1"/>
          </p:cNvSpPr>
          <p:nvPr>
            <p:ph type="dt" sz="half" idx="10"/>
          </p:nvPr>
        </p:nvSpPr>
        <p:spPr/>
        <p:txBody>
          <a:bodyPr/>
          <a:lstStyle/>
          <a:p>
            <a:fld id="{B8547568-B47D-48C6-AABD-348010117F8F}" type="datetimeFigureOut">
              <a:rPr lang="en-IN" smtClean="0"/>
              <a:t>04/09/24</a:t>
            </a:fld>
            <a:endParaRPr lang="en-IN"/>
          </a:p>
        </p:txBody>
      </p:sp>
      <p:sp>
        <p:nvSpPr>
          <p:cNvPr id="3" name="Footer Placeholder 2">
            <a:extLst>
              <a:ext uri="{FF2B5EF4-FFF2-40B4-BE49-F238E27FC236}">
                <a16:creationId xmlns:a16="http://schemas.microsoft.com/office/drawing/2014/main" id="{AD410600-174E-46E5-BE87-DBF79408369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CBD6F47-D7C2-403F-8A39-02A36627397C}"/>
              </a:ext>
            </a:extLst>
          </p:cNvPr>
          <p:cNvSpPr>
            <a:spLocks noGrp="1"/>
          </p:cNvSpPr>
          <p:nvPr>
            <p:ph type="sldNum" sz="quarter" idx="12"/>
          </p:nvPr>
        </p:nvSpPr>
        <p:spPr/>
        <p:txBody>
          <a:bodyPr/>
          <a:lstStyle/>
          <a:p>
            <a:fld id="{62D50ED2-2E9B-420B-8B35-D4F470868D8F}" type="slidenum">
              <a:rPr lang="en-IN" smtClean="0"/>
              <a:t>‹#›</a:t>
            </a:fld>
            <a:endParaRPr lang="en-IN"/>
          </a:p>
        </p:txBody>
      </p:sp>
    </p:spTree>
    <p:extLst>
      <p:ext uri="{BB962C8B-B14F-4D97-AF65-F5344CB8AC3E}">
        <p14:creationId xmlns:p14="http://schemas.microsoft.com/office/powerpoint/2010/main" val="37076408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B4E59-2A5E-47A8-96B9-228857FFCE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ABD934B-1A9A-4892-8102-6FB09E89CB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3504CD2-BECF-4B1F-AB61-4A801C4A01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21E01E-0400-4307-BC6B-506B1128E5DA}"/>
              </a:ext>
            </a:extLst>
          </p:cNvPr>
          <p:cNvSpPr>
            <a:spLocks noGrp="1"/>
          </p:cNvSpPr>
          <p:nvPr>
            <p:ph type="dt" sz="half" idx="10"/>
          </p:nvPr>
        </p:nvSpPr>
        <p:spPr/>
        <p:txBody>
          <a:bodyPr/>
          <a:lstStyle/>
          <a:p>
            <a:fld id="{B8547568-B47D-48C6-AABD-348010117F8F}" type="datetimeFigureOut">
              <a:rPr lang="en-IN" smtClean="0"/>
              <a:t>04/09/24</a:t>
            </a:fld>
            <a:endParaRPr lang="en-IN"/>
          </a:p>
        </p:txBody>
      </p:sp>
      <p:sp>
        <p:nvSpPr>
          <p:cNvPr id="6" name="Footer Placeholder 5">
            <a:extLst>
              <a:ext uri="{FF2B5EF4-FFF2-40B4-BE49-F238E27FC236}">
                <a16:creationId xmlns:a16="http://schemas.microsoft.com/office/drawing/2014/main" id="{B5539FED-9B72-4332-810E-F56FD9D302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DA570B-B5A4-40F8-89DA-3B4751C394C3}"/>
              </a:ext>
            </a:extLst>
          </p:cNvPr>
          <p:cNvSpPr>
            <a:spLocks noGrp="1"/>
          </p:cNvSpPr>
          <p:nvPr>
            <p:ph type="sldNum" sz="quarter" idx="12"/>
          </p:nvPr>
        </p:nvSpPr>
        <p:spPr/>
        <p:txBody>
          <a:bodyPr/>
          <a:lstStyle/>
          <a:p>
            <a:fld id="{62D50ED2-2E9B-420B-8B35-D4F470868D8F}" type="slidenum">
              <a:rPr lang="en-IN" smtClean="0"/>
              <a:t>‹#›</a:t>
            </a:fld>
            <a:endParaRPr lang="en-IN"/>
          </a:p>
        </p:txBody>
      </p:sp>
    </p:spTree>
    <p:extLst>
      <p:ext uri="{BB962C8B-B14F-4D97-AF65-F5344CB8AC3E}">
        <p14:creationId xmlns:p14="http://schemas.microsoft.com/office/powerpoint/2010/main" val="40012247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6CE3E-084F-4341-91DC-6EC6D6D0F9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84ED984-2865-40EF-9886-34B9164B6B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9042E86-DF1F-428F-82ED-3AD39791F2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5ED1BF-B62E-4E8E-A301-5F913AAE3D0D}"/>
              </a:ext>
            </a:extLst>
          </p:cNvPr>
          <p:cNvSpPr>
            <a:spLocks noGrp="1"/>
          </p:cNvSpPr>
          <p:nvPr>
            <p:ph type="dt" sz="half" idx="10"/>
          </p:nvPr>
        </p:nvSpPr>
        <p:spPr/>
        <p:txBody>
          <a:bodyPr/>
          <a:lstStyle/>
          <a:p>
            <a:fld id="{B8547568-B47D-48C6-AABD-348010117F8F}" type="datetimeFigureOut">
              <a:rPr lang="en-IN" smtClean="0"/>
              <a:t>04/09/24</a:t>
            </a:fld>
            <a:endParaRPr lang="en-IN"/>
          </a:p>
        </p:txBody>
      </p:sp>
      <p:sp>
        <p:nvSpPr>
          <p:cNvPr id="6" name="Footer Placeholder 5">
            <a:extLst>
              <a:ext uri="{FF2B5EF4-FFF2-40B4-BE49-F238E27FC236}">
                <a16:creationId xmlns:a16="http://schemas.microsoft.com/office/drawing/2014/main" id="{56B6389D-ABED-4039-959C-115D694E3F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67E3BCF-F385-4873-BDEA-859143EAEA02}"/>
              </a:ext>
            </a:extLst>
          </p:cNvPr>
          <p:cNvSpPr>
            <a:spLocks noGrp="1"/>
          </p:cNvSpPr>
          <p:nvPr>
            <p:ph type="sldNum" sz="quarter" idx="12"/>
          </p:nvPr>
        </p:nvSpPr>
        <p:spPr/>
        <p:txBody>
          <a:bodyPr/>
          <a:lstStyle/>
          <a:p>
            <a:fld id="{62D50ED2-2E9B-420B-8B35-D4F470868D8F}" type="slidenum">
              <a:rPr lang="en-IN" smtClean="0"/>
              <a:t>‹#›</a:t>
            </a:fld>
            <a:endParaRPr lang="en-IN"/>
          </a:p>
        </p:txBody>
      </p:sp>
    </p:spTree>
    <p:extLst>
      <p:ext uri="{BB962C8B-B14F-4D97-AF65-F5344CB8AC3E}">
        <p14:creationId xmlns:p14="http://schemas.microsoft.com/office/powerpoint/2010/main" val="3955840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CAD71-5A20-499B-B086-9E035258DAE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0ED550B-240C-4612-85A9-C9C09E71D7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7229BD-F40E-4906-9644-8C507112A028}"/>
              </a:ext>
            </a:extLst>
          </p:cNvPr>
          <p:cNvSpPr>
            <a:spLocks noGrp="1"/>
          </p:cNvSpPr>
          <p:nvPr>
            <p:ph type="dt" sz="half" idx="10"/>
          </p:nvPr>
        </p:nvSpPr>
        <p:spPr/>
        <p:txBody>
          <a:bodyPr/>
          <a:lstStyle/>
          <a:p>
            <a:fld id="{B8547568-B47D-48C6-AABD-348010117F8F}" type="datetimeFigureOut">
              <a:rPr lang="en-IN" smtClean="0"/>
              <a:t>04/09/24</a:t>
            </a:fld>
            <a:endParaRPr lang="en-IN"/>
          </a:p>
        </p:txBody>
      </p:sp>
      <p:sp>
        <p:nvSpPr>
          <p:cNvPr id="5" name="Footer Placeholder 4">
            <a:extLst>
              <a:ext uri="{FF2B5EF4-FFF2-40B4-BE49-F238E27FC236}">
                <a16:creationId xmlns:a16="http://schemas.microsoft.com/office/drawing/2014/main" id="{7EAD64DB-5242-4AAE-A059-D5A52D8CF4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620D08-3919-45D4-A590-56CD32B64797}"/>
              </a:ext>
            </a:extLst>
          </p:cNvPr>
          <p:cNvSpPr>
            <a:spLocks noGrp="1"/>
          </p:cNvSpPr>
          <p:nvPr>
            <p:ph type="sldNum" sz="quarter" idx="12"/>
          </p:nvPr>
        </p:nvSpPr>
        <p:spPr/>
        <p:txBody>
          <a:bodyPr/>
          <a:lstStyle/>
          <a:p>
            <a:fld id="{62D50ED2-2E9B-420B-8B35-D4F470868D8F}" type="slidenum">
              <a:rPr lang="en-IN" smtClean="0"/>
              <a:t>‹#›</a:t>
            </a:fld>
            <a:endParaRPr lang="en-IN"/>
          </a:p>
        </p:txBody>
      </p:sp>
    </p:spTree>
    <p:extLst>
      <p:ext uri="{BB962C8B-B14F-4D97-AF65-F5344CB8AC3E}">
        <p14:creationId xmlns:p14="http://schemas.microsoft.com/office/powerpoint/2010/main" val="28691709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9B9100-C142-4905-9703-804D13ABDCA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01699A3-D216-4113-8061-3BA4F2070E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9CD716-0AFB-4004-9B02-55299ECF5422}"/>
              </a:ext>
            </a:extLst>
          </p:cNvPr>
          <p:cNvSpPr>
            <a:spLocks noGrp="1"/>
          </p:cNvSpPr>
          <p:nvPr>
            <p:ph type="dt" sz="half" idx="10"/>
          </p:nvPr>
        </p:nvSpPr>
        <p:spPr/>
        <p:txBody>
          <a:bodyPr/>
          <a:lstStyle/>
          <a:p>
            <a:fld id="{B8547568-B47D-48C6-AABD-348010117F8F}" type="datetimeFigureOut">
              <a:rPr lang="en-IN" smtClean="0"/>
              <a:t>04/09/24</a:t>
            </a:fld>
            <a:endParaRPr lang="en-IN"/>
          </a:p>
        </p:txBody>
      </p:sp>
      <p:sp>
        <p:nvSpPr>
          <p:cNvPr id="5" name="Footer Placeholder 4">
            <a:extLst>
              <a:ext uri="{FF2B5EF4-FFF2-40B4-BE49-F238E27FC236}">
                <a16:creationId xmlns:a16="http://schemas.microsoft.com/office/drawing/2014/main" id="{78C2C3EB-7EB0-4F03-A166-646CD4690B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745B2E-94C8-448A-A22A-D3CC9E9BA331}"/>
              </a:ext>
            </a:extLst>
          </p:cNvPr>
          <p:cNvSpPr>
            <a:spLocks noGrp="1"/>
          </p:cNvSpPr>
          <p:nvPr>
            <p:ph type="sldNum" sz="quarter" idx="12"/>
          </p:nvPr>
        </p:nvSpPr>
        <p:spPr/>
        <p:txBody>
          <a:bodyPr/>
          <a:lstStyle/>
          <a:p>
            <a:fld id="{62D50ED2-2E9B-420B-8B35-D4F470868D8F}" type="slidenum">
              <a:rPr lang="en-IN" smtClean="0"/>
              <a:t>‹#›</a:t>
            </a:fld>
            <a:endParaRPr lang="en-IN"/>
          </a:p>
        </p:txBody>
      </p:sp>
    </p:spTree>
    <p:extLst>
      <p:ext uri="{BB962C8B-B14F-4D97-AF65-F5344CB8AC3E}">
        <p14:creationId xmlns:p14="http://schemas.microsoft.com/office/powerpoint/2010/main" val="39880973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1048581" name="Header 1"/>
          <p:cNvSpPr>
            <a:spLocks noGrp="1"/>
          </p:cNvSpPr>
          <p:nvPr>
            <p:ph type="title"/>
          </p:nvPr>
        </p:nvSpPr>
        <p:spPr>
          <a:xfrm>
            <a:off x="464820" y="427735"/>
            <a:ext cx="8366759" cy="304800"/>
          </a:xfrm>
        </p:spPr>
        <p:txBody>
          <a:bodyPr/>
          <a:lstStyle/>
          <a:p>
            <a:r>
              <a:rPr lang="en-US"/>
              <a:t>Title</a:t>
            </a:r>
          </a:p>
        </p:txBody>
      </p:sp>
      <p:sp>
        <p:nvSpPr>
          <p:cNvPr id="1048582" name="Text 2"/>
          <p:cNvSpPr>
            <a:spLocks noGrp="1"/>
          </p:cNvSpPr>
          <p:nvPr>
            <p:ph type="body" idx="1"/>
          </p:nvPr>
        </p:nvSpPr>
        <p:spPr>
          <a:xfrm>
            <a:off x="464820" y="2459483"/>
            <a:ext cx="8366759" cy="1524001"/>
          </a:xfrm>
        </p:spPr>
        <p:txBody>
          <a:bodyPr/>
          <a:lstStyle/>
          <a:p>
            <a:pPr lvl="0"/>
            <a:r>
              <a:rPr lang="en-US"/>
              <a:t>Text</a:t>
            </a:r>
          </a:p>
          <a:p>
            <a:pPr lvl="1"/>
            <a:r>
              <a:rPr lang="en-US"/>
              <a:t>Second level</a:t>
            </a:r>
          </a:p>
          <a:p>
            <a:pPr lvl="2"/>
            <a:r>
              <a:rPr lang="en-US"/>
              <a:t>Third level</a:t>
            </a:r>
          </a:p>
          <a:p>
            <a:pPr lvl="3"/>
            <a:r>
              <a:rPr lang="en-US"/>
              <a:t>Fourth level</a:t>
            </a:r>
          </a:p>
          <a:p>
            <a:pPr lvl="4"/>
            <a:r>
              <a:rPr lang="en-US"/>
              <a:t>Fifth level</a:t>
            </a:r>
          </a:p>
        </p:txBody>
      </p:sp>
      <p:sp>
        <p:nvSpPr>
          <p:cNvPr id="1048583" name="Date 3"/>
          <p:cNvSpPr>
            <a:spLocks noGrp="1"/>
          </p:cNvSpPr>
          <p:nvPr>
            <p:ph type="dt" sz="half" idx="10"/>
          </p:nvPr>
        </p:nvSpPr>
        <p:spPr/>
        <p:txBody>
          <a:bodyPr/>
          <a:lstStyle/>
          <a:p>
            <a:fld id="{2DA48FBF-8F97-4E58-AE2C-7F77068338D7}" type="datetime1">
              <a:rPr lang="en-IN" smtClean="0"/>
              <a:t>04/09/24</a:t>
            </a:fld>
            <a:endParaRPr lang="en-US"/>
          </a:p>
        </p:txBody>
      </p:sp>
      <p:sp>
        <p:nvSpPr>
          <p:cNvPr id="1048584" name="Footer 4"/>
          <p:cNvSpPr>
            <a:spLocks noGrp="1"/>
          </p:cNvSpPr>
          <p:nvPr>
            <p:ph type="ftr" sz="quarter" idx="11"/>
          </p:nvPr>
        </p:nvSpPr>
        <p:spPr/>
        <p:txBody>
          <a:bodyPr/>
          <a:lstStyle/>
          <a:p>
            <a:endParaRPr lang="en-US"/>
          </a:p>
        </p:txBody>
      </p:sp>
      <p:sp>
        <p:nvSpPr>
          <p:cNvPr id="1048585" name="Slide number 5"/>
          <p:cNvSpPr>
            <a:spLocks noGrp="1"/>
          </p:cNvSpPr>
          <p:nvPr>
            <p:ph type="sldNum" sz="quarter" idx="12"/>
          </p:nvPr>
        </p:nvSpPr>
        <p:spPr/>
        <p:txBody>
          <a:bodyPr/>
          <a:lstStyle/>
          <a:p>
            <a:fld id="{80F073CC-40D5-4B23-8DF0-9BD0A0C12F2C}" type="slidenum">
              <a:rPr lang="en-US" smtClean="0"/>
              <a:t>‹#›</a:t>
            </a:fld>
            <a:endParaRPr lang="en-US"/>
          </a:p>
        </p:txBody>
      </p:sp>
    </p:spTree>
    <p:extLst>
      <p:ext uri="{BB962C8B-B14F-4D97-AF65-F5344CB8AC3E}">
        <p14:creationId xmlns:p14="http://schemas.microsoft.com/office/powerpoint/2010/main" val="19246458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785278-5468-4F7D-A675-41A2B31613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A1810F5-E8FE-4478-A50A-A205ED77F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A10CFB-6166-4924-8870-56C8D1228F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547568-B47D-48C6-AABD-348010117F8F}" type="datetimeFigureOut">
              <a:rPr lang="en-IN" smtClean="0"/>
              <a:t>04/09/24</a:t>
            </a:fld>
            <a:endParaRPr lang="en-IN"/>
          </a:p>
        </p:txBody>
      </p:sp>
      <p:sp>
        <p:nvSpPr>
          <p:cNvPr id="5" name="Footer Placeholder 4">
            <a:extLst>
              <a:ext uri="{FF2B5EF4-FFF2-40B4-BE49-F238E27FC236}">
                <a16:creationId xmlns:a16="http://schemas.microsoft.com/office/drawing/2014/main" id="{67778E0A-DF93-4089-A6E2-AD054887D8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052F44D-50E6-47BF-8E55-327DB8ABDF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D50ED2-2E9B-420B-8B35-D4F470868D8F}" type="slidenum">
              <a:rPr lang="en-IN" smtClean="0"/>
              <a:t>‹#›</a:t>
            </a:fld>
            <a:endParaRPr lang="en-IN"/>
          </a:p>
        </p:txBody>
      </p:sp>
    </p:spTree>
    <p:extLst>
      <p:ext uri="{BB962C8B-B14F-4D97-AF65-F5344CB8AC3E}">
        <p14:creationId xmlns:p14="http://schemas.microsoft.com/office/powerpoint/2010/main" val="41391000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hyperlink" Target="https://en.wikipedia.org/wiki/Tetracarbonylhydrocobalt" TargetMode="External"/><Relationship Id="rId3" Type="http://schemas.openxmlformats.org/officeDocument/2006/relationships/image" Target="../media/image8.emf"/><Relationship Id="rId7" Type="http://schemas.openxmlformats.org/officeDocument/2006/relationships/hyperlink" Target="https://en.wikipedia.org/wiki/Otto_Roelen" TargetMode="External"/><Relationship Id="rId2" Type="http://schemas.openxmlformats.org/officeDocument/2006/relationships/image" Target="../media/image7.emf"/><Relationship Id="rId1" Type="http://schemas.openxmlformats.org/officeDocument/2006/relationships/slideLayout" Target="../slideLayouts/slideLayout7.xml"/><Relationship Id="rId6" Type="http://schemas.openxmlformats.org/officeDocument/2006/relationships/hyperlink" Target="https://en.wikipedia.org/wiki/Alkene" TargetMode="External"/><Relationship Id="rId5" Type="http://schemas.openxmlformats.org/officeDocument/2006/relationships/hyperlink" Target="https://en.wikipedia.org/wiki/Aldehyde" TargetMode="External"/><Relationship Id="rId10" Type="http://schemas.openxmlformats.org/officeDocument/2006/relationships/hyperlink" Target="https://en.wikipedia.org/wiki/Carbon_monoxide" TargetMode="External"/><Relationship Id="rId4" Type="http://schemas.openxmlformats.org/officeDocument/2006/relationships/hyperlink" Target="https://en.wikipedia.org/wiki/Organic_chemistry" TargetMode="External"/><Relationship Id="rId9" Type="http://schemas.openxmlformats.org/officeDocument/2006/relationships/hyperlink" Target="https://en.wikipedia.org/wiki/Atmosphere_(unit)"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7.xml"/><Relationship Id="rId4" Type="http://schemas.openxmlformats.org/officeDocument/2006/relationships/image" Target="../media/image12.emf"/></Relationships>
</file>

<file path=ppt/slides/_rels/slide1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7.xml"/><Relationship Id="rId5" Type="http://schemas.openxmlformats.org/officeDocument/2006/relationships/hyperlink" Target="https://en.wikipedia.org/wiki/Wacker_Chemie" TargetMode="Externa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en.wikipedia.org/wiki/File:Wackonwackoff_updated.tif"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23.emf"/><Relationship Id="rId4" Type="http://schemas.openxmlformats.org/officeDocument/2006/relationships/oleObject" Target="../embeddings/oleObject3.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6.emf"/><Relationship Id="rId5" Type="http://schemas.openxmlformats.org/officeDocument/2006/relationships/oleObject" Target="../embeddings/oleObject6.bin"/><Relationship Id="rId4" Type="http://schemas.openxmlformats.org/officeDocument/2006/relationships/image" Target="../media/image25.emf"/></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oleObject" Target="../embeddings/oleObject7.bin"/><Relationship Id="rId1" Type="http://schemas.openxmlformats.org/officeDocument/2006/relationships/slideLayout" Target="../slideLayouts/slideLayout7.xml"/><Relationship Id="rId5" Type="http://schemas.openxmlformats.org/officeDocument/2006/relationships/image" Target="../media/image34.emf"/><Relationship Id="rId4" Type="http://schemas.openxmlformats.org/officeDocument/2006/relationships/oleObject" Target="../embeddings/oleObject8.bin"/></Relationships>
</file>

<file path=ppt/slides/_rels/slide24.xml.rels><?xml version="1.0" encoding="UTF-8" standalone="yes"?>
<Relationships xmlns="http://schemas.openxmlformats.org/package/2006/relationships"><Relationship Id="rId8" Type="http://schemas.openxmlformats.org/officeDocument/2006/relationships/image" Target="../media/image38.emf"/><Relationship Id="rId13" Type="http://schemas.openxmlformats.org/officeDocument/2006/relationships/oleObject" Target="../embeddings/oleObject14.bin"/><Relationship Id="rId3" Type="http://schemas.openxmlformats.org/officeDocument/2006/relationships/oleObject" Target="../embeddings/oleObject9.bin"/><Relationship Id="rId7" Type="http://schemas.openxmlformats.org/officeDocument/2006/relationships/oleObject" Target="../embeddings/oleObject11.bin"/><Relationship Id="rId12" Type="http://schemas.openxmlformats.org/officeDocument/2006/relationships/image" Target="../media/image40.emf"/><Relationship Id="rId2"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37.emf"/><Relationship Id="rId11" Type="http://schemas.openxmlformats.org/officeDocument/2006/relationships/oleObject" Target="../embeddings/oleObject13.bin"/><Relationship Id="rId5" Type="http://schemas.openxmlformats.org/officeDocument/2006/relationships/oleObject" Target="../embeddings/oleObject10.bin"/><Relationship Id="rId10" Type="http://schemas.openxmlformats.org/officeDocument/2006/relationships/image" Target="../media/image39.emf"/><Relationship Id="rId4" Type="http://schemas.openxmlformats.org/officeDocument/2006/relationships/image" Target="../media/image36.emf"/><Relationship Id="rId9" Type="http://schemas.openxmlformats.org/officeDocument/2006/relationships/oleObject" Target="../embeddings/oleObject12.bin"/><Relationship Id="rId14" Type="http://schemas.openxmlformats.org/officeDocument/2006/relationships/image" Target="../media/image41.emf"/></Relationships>
</file>

<file path=ppt/slides/_rels/slide25.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1.xml"/><Relationship Id="rId4" Type="http://schemas.openxmlformats.org/officeDocument/2006/relationships/image" Target="../media/image44.jpeg"/></Relationships>
</file>

<file path=ppt/slides/_rels/slide2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47.emf"/></Relationships>
</file>

<file path=ppt/slides/_rels/slide29.xml.rels><?xml version="1.0" encoding="UTF-8" standalone="yes"?>
<Relationships xmlns="http://schemas.openxmlformats.org/package/2006/relationships"><Relationship Id="rId3" Type="http://schemas.openxmlformats.org/officeDocument/2006/relationships/image" Target="../media/image48.emf"/><Relationship Id="rId7" Type="http://schemas.openxmlformats.org/officeDocument/2006/relationships/image" Target="../media/image50.emf"/><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oleObject" Target="../embeddings/oleObject17.bin"/><Relationship Id="rId5" Type="http://schemas.openxmlformats.org/officeDocument/2006/relationships/image" Target="../media/image49.emf"/><Relationship Id="rId4" Type="http://schemas.openxmlformats.org/officeDocument/2006/relationships/oleObject" Target="../embeddings/oleObject16.bin"/></Relationships>
</file>

<file path=ppt/slides/_rels/slide30.xml.rels><?xml version="1.0" encoding="UTF-8" standalone="yes"?>
<Relationships xmlns="http://schemas.openxmlformats.org/package/2006/relationships"><Relationship Id="rId8" Type="http://schemas.openxmlformats.org/officeDocument/2006/relationships/image" Target="../media/image53.emf"/><Relationship Id="rId3" Type="http://schemas.openxmlformats.org/officeDocument/2006/relationships/oleObject" Target="../embeddings/oleObject18.bin"/><Relationship Id="rId7" Type="http://schemas.openxmlformats.org/officeDocument/2006/relationships/oleObject" Target="../embeddings/oleObject20.bin"/><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52.emf"/><Relationship Id="rId5" Type="http://schemas.openxmlformats.org/officeDocument/2006/relationships/oleObject" Target="../embeddings/oleObject19.bin"/><Relationship Id="rId4" Type="http://schemas.openxmlformats.org/officeDocument/2006/relationships/image" Target="../media/image51.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55.png"/><Relationship Id="rId4" Type="http://schemas.openxmlformats.org/officeDocument/2006/relationships/image" Target="../media/image54.emf"/></Relationships>
</file>

<file path=ppt/slides/_rels/slide3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59.emf"/><Relationship Id="rId5" Type="http://schemas.openxmlformats.org/officeDocument/2006/relationships/oleObject" Target="../embeddings/oleObject23.bin"/><Relationship Id="rId4" Type="http://schemas.openxmlformats.org/officeDocument/2006/relationships/image" Target="../media/image58.e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60.emf"/></Relationships>
</file>

<file path=ppt/slides/_rels/slide36.xml.rels><?xml version="1.0" encoding="UTF-8" standalone="yes"?>
<Relationships xmlns="http://schemas.openxmlformats.org/package/2006/relationships"><Relationship Id="rId8" Type="http://schemas.openxmlformats.org/officeDocument/2006/relationships/image" Target="../media/image63.emf"/><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62.emf"/><Relationship Id="rId5" Type="http://schemas.openxmlformats.org/officeDocument/2006/relationships/oleObject" Target="../embeddings/oleObject26.bin"/><Relationship Id="rId4" Type="http://schemas.openxmlformats.org/officeDocument/2006/relationships/image" Target="../media/image61.emf"/></Relationships>
</file>

<file path=ppt/slides/_rels/slide37.xml.rels><?xml version="1.0" encoding="UTF-8" standalone="yes"?>
<Relationships xmlns="http://schemas.openxmlformats.org/package/2006/relationships"><Relationship Id="rId8" Type="http://schemas.openxmlformats.org/officeDocument/2006/relationships/image" Target="../media/image64.emf"/><Relationship Id="rId13" Type="http://schemas.openxmlformats.org/officeDocument/2006/relationships/oleObject" Target="../embeddings/oleObject33.bin"/><Relationship Id="rId3" Type="http://schemas.openxmlformats.org/officeDocument/2006/relationships/oleObject" Target="../embeddings/oleObject28.bin"/><Relationship Id="rId7" Type="http://schemas.openxmlformats.org/officeDocument/2006/relationships/oleObject" Target="../embeddings/oleObject30.bin"/><Relationship Id="rId12" Type="http://schemas.openxmlformats.org/officeDocument/2006/relationships/image" Target="../media/image66.emf"/><Relationship Id="rId2" Type="http://schemas.openxmlformats.org/officeDocument/2006/relationships/notesSlide" Target="../notesSlides/notesSlide9.xml"/><Relationship Id="rId16" Type="http://schemas.openxmlformats.org/officeDocument/2006/relationships/image" Target="../media/image68.emf"/><Relationship Id="rId1" Type="http://schemas.openxmlformats.org/officeDocument/2006/relationships/slideLayout" Target="../slideLayouts/slideLayout6.xml"/><Relationship Id="rId6" Type="http://schemas.openxmlformats.org/officeDocument/2006/relationships/image" Target="../media/image61.emf"/><Relationship Id="rId11" Type="http://schemas.openxmlformats.org/officeDocument/2006/relationships/oleObject" Target="../embeddings/oleObject32.bin"/><Relationship Id="rId5" Type="http://schemas.openxmlformats.org/officeDocument/2006/relationships/oleObject" Target="../embeddings/oleObject29.bin"/><Relationship Id="rId15" Type="http://schemas.openxmlformats.org/officeDocument/2006/relationships/oleObject" Target="../embeddings/oleObject34.bin"/><Relationship Id="rId10" Type="http://schemas.openxmlformats.org/officeDocument/2006/relationships/image" Target="../media/image65.emf"/><Relationship Id="rId4" Type="http://schemas.openxmlformats.org/officeDocument/2006/relationships/image" Target="../media/image62.emf"/><Relationship Id="rId9" Type="http://schemas.openxmlformats.org/officeDocument/2006/relationships/oleObject" Target="../embeddings/oleObject31.bin"/><Relationship Id="rId14" Type="http://schemas.openxmlformats.org/officeDocument/2006/relationships/image" Target="../media/image67.e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69.emf"/><Relationship Id="rId4" Type="http://schemas.openxmlformats.org/officeDocument/2006/relationships/image" Target="../media/image63.emf"/></Relationships>
</file>

<file path=ppt/slides/_rels/slide39.xml.rels><?xml version="1.0" encoding="UTF-8" standalone="yes"?>
<Relationships xmlns="http://schemas.openxmlformats.org/package/2006/relationships"><Relationship Id="rId8" Type="http://schemas.openxmlformats.org/officeDocument/2006/relationships/image" Target="../media/image72.emf"/><Relationship Id="rId13" Type="http://schemas.openxmlformats.org/officeDocument/2006/relationships/oleObject" Target="../embeddings/oleObject41.bin"/><Relationship Id="rId3" Type="http://schemas.openxmlformats.org/officeDocument/2006/relationships/oleObject" Target="../embeddings/oleObject36.bin"/><Relationship Id="rId7" Type="http://schemas.openxmlformats.org/officeDocument/2006/relationships/oleObject" Target="../embeddings/oleObject38.bin"/><Relationship Id="rId12" Type="http://schemas.openxmlformats.org/officeDocument/2006/relationships/image" Target="../media/image74.emf"/><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71.emf"/><Relationship Id="rId11" Type="http://schemas.openxmlformats.org/officeDocument/2006/relationships/oleObject" Target="../embeddings/oleObject40.bin"/><Relationship Id="rId5" Type="http://schemas.openxmlformats.org/officeDocument/2006/relationships/oleObject" Target="../embeddings/oleObject37.bin"/><Relationship Id="rId10" Type="http://schemas.openxmlformats.org/officeDocument/2006/relationships/image" Target="../media/image73.emf"/><Relationship Id="rId4" Type="http://schemas.openxmlformats.org/officeDocument/2006/relationships/image" Target="../media/image70.emf"/><Relationship Id="rId9" Type="http://schemas.openxmlformats.org/officeDocument/2006/relationships/oleObject" Target="../embeddings/oleObject39.bin"/><Relationship Id="rId14" Type="http://schemas.openxmlformats.org/officeDocument/2006/relationships/image" Target="../media/image75.emf"/></Relationships>
</file>

<file path=ppt/slides/_rels/slide40.xml.rels><?xml version="1.0" encoding="UTF-8" standalone="yes"?>
<Relationships xmlns="http://schemas.openxmlformats.org/package/2006/relationships"><Relationship Id="rId8" Type="http://schemas.openxmlformats.org/officeDocument/2006/relationships/image" Target="../media/image78.emf"/><Relationship Id="rId3" Type="http://schemas.openxmlformats.org/officeDocument/2006/relationships/oleObject" Target="../embeddings/oleObject42.bin"/><Relationship Id="rId7" Type="http://schemas.openxmlformats.org/officeDocument/2006/relationships/oleObject" Target="../embeddings/oleObject44.bin"/><Relationship Id="rId12" Type="http://schemas.openxmlformats.org/officeDocument/2006/relationships/image" Target="../media/image80.emf"/><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77.emf"/><Relationship Id="rId11" Type="http://schemas.openxmlformats.org/officeDocument/2006/relationships/oleObject" Target="../embeddings/oleObject46.bin"/><Relationship Id="rId5" Type="http://schemas.openxmlformats.org/officeDocument/2006/relationships/oleObject" Target="../embeddings/oleObject43.bin"/><Relationship Id="rId10" Type="http://schemas.openxmlformats.org/officeDocument/2006/relationships/image" Target="../media/image79.emf"/><Relationship Id="rId4" Type="http://schemas.openxmlformats.org/officeDocument/2006/relationships/image" Target="../media/image76.emf"/><Relationship Id="rId9" Type="http://schemas.openxmlformats.org/officeDocument/2006/relationships/oleObject" Target="../embeddings/oleObject45.bin"/></Relationships>
</file>

<file path=ppt/slides/_rels/slide41.xml.rels><?xml version="1.0" encoding="UTF-8" standalone="yes"?>
<Relationships xmlns="http://schemas.openxmlformats.org/package/2006/relationships"><Relationship Id="rId8" Type="http://schemas.openxmlformats.org/officeDocument/2006/relationships/image" Target="../media/image83.emf"/><Relationship Id="rId3" Type="http://schemas.openxmlformats.org/officeDocument/2006/relationships/oleObject" Target="../embeddings/oleObject47.bin"/><Relationship Id="rId7" Type="http://schemas.openxmlformats.org/officeDocument/2006/relationships/oleObject" Target="../embeddings/oleObject49.bin"/><Relationship Id="rId12" Type="http://schemas.openxmlformats.org/officeDocument/2006/relationships/image" Target="../media/image85.emf"/><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82.emf"/><Relationship Id="rId11" Type="http://schemas.openxmlformats.org/officeDocument/2006/relationships/oleObject" Target="../embeddings/oleObject51.bin"/><Relationship Id="rId5" Type="http://schemas.openxmlformats.org/officeDocument/2006/relationships/oleObject" Target="../embeddings/oleObject48.bin"/><Relationship Id="rId10" Type="http://schemas.openxmlformats.org/officeDocument/2006/relationships/image" Target="../media/image84.emf"/><Relationship Id="rId4" Type="http://schemas.openxmlformats.org/officeDocument/2006/relationships/image" Target="../media/image81.emf"/><Relationship Id="rId9" Type="http://schemas.openxmlformats.org/officeDocument/2006/relationships/oleObject" Target="../embeddings/oleObject50.bin"/></Relationships>
</file>

<file path=ppt/slides/_rels/slide42.xml.rels><?xml version="1.0" encoding="UTF-8" standalone="yes"?>
<Relationships xmlns="http://schemas.openxmlformats.org/package/2006/relationships"><Relationship Id="rId8" Type="http://schemas.openxmlformats.org/officeDocument/2006/relationships/image" Target="../media/image88.emf"/><Relationship Id="rId3" Type="http://schemas.openxmlformats.org/officeDocument/2006/relationships/oleObject" Target="../embeddings/oleObject52.bin"/><Relationship Id="rId7" Type="http://schemas.openxmlformats.org/officeDocument/2006/relationships/oleObject" Target="../embeddings/oleObject54.bin"/><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87.emf"/><Relationship Id="rId5" Type="http://schemas.openxmlformats.org/officeDocument/2006/relationships/oleObject" Target="../embeddings/oleObject53.bin"/><Relationship Id="rId10" Type="http://schemas.openxmlformats.org/officeDocument/2006/relationships/image" Target="../media/image85.emf"/><Relationship Id="rId4" Type="http://schemas.openxmlformats.org/officeDocument/2006/relationships/image" Target="../media/image86.emf"/><Relationship Id="rId9" Type="http://schemas.openxmlformats.org/officeDocument/2006/relationships/oleObject" Target="../embeddings/oleObject55.bin"/></Relationships>
</file>

<file path=ppt/slides/_rels/slide43.xml.rels><?xml version="1.0" encoding="UTF-8" standalone="yes"?>
<Relationships xmlns="http://schemas.openxmlformats.org/package/2006/relationships"><Relationship Id="rId8" Type="http://schemas.openxmlformats.org/officeDocument/2006/relationships/image" Target="../media/image88.emf"/><Relationship Id="rId3" Type="http://schemas.openxmlformats.org/officeDocument/2006/relationships/oleObject" Target="../embeddings/oleObject56.bin"/><Relationship Id="rId7" Type="http://schemas.openxmlformats.org/officeDocument/2006/relationships/oleObject" Target="../embeddings/oleObject58.bin"/><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87.emf"/><Relationship Id="rId5" Type="http://schemas.openxmlformats.org/officeDocument/2006/relationships/oleObject" Target="../embeddings/oleObject57.bin"/><Relationship Id="rId10" Type="http://schemas.openxmlformats.org/officeDocument/2006/relationships/image" Target="../media/image85.emf"/><Relationship Id="rId4" Type="http://schemas.openxmlformats.org/officeDocument/2006/relationships/image" Target="../media/image86.emf"/><Relationship Id="rId9" Type="http://schemas.openxmlformats.org/officeDocument/2006/relationships/oleObject" Target="../embeddings/oleObject59.bin"/></Relationships>
</file>

<file path=ppt/slides/_rels/slide44.xml.rels><?xml version="1.0" encoding="UTF-8" standalone="yes"?>
<Relationships xmlns="http://schemas.openxmlformats.org/package/2006/relationships"><Relationship Id="rId2" Type="http://schemas.openxmlformats.org/officeDocument/2006/relationships/image" Target="../media/image89.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94.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95.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97.emf"/><Relationship Id="rId7" Type="http://schemas.openxmlformats.org/officeDocument/2006/relationships/image" Target="../media/image100.emf"/><Relationship Id="rId2" Type="http://schemas.openxmlformats.org/officeDocument/2006/relationships/oleObject" Target="../embeddings/oleObject60.bin"/><Relationship Id="rId1" Type="http://schemas.openxmlformats.org/officeDocument/2006/relationships/slideLayout" Target="../slideLayouts/slideLayout7.xml"/><Relationship Id="rId6" Type="http://schemas.openxmlformats.org/officeDocument/2006/relationships/oleObject" Target="../embeddings/oleObject61.bin"/><Relationship Id="rId5" Type="http://schemas.openxmlformats.org/officeDocument/2006/relationships/image" Target="../media/image99.png"/><Relationship Id="rId4" Type="http://schemas.openxmlformats.org/officeDocument/2006/relationships/image" Target="../media/image9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5B546-A3CF-453B-BDD5-977C13C2A8A4}"/>
              </a:ext>
            </a:extLst>
          </p:cNvPr>
          <p:cNvSpPr>
            <a:spLocks noGrp="1"/>
          </p:cNvSpPr>
          <p:nvPr>
            <p:ph type="ctrTitle"/>
          </p:nvPr>
        </p:nvSpPr>
        <p:spPr/>
        <p:txBody>
          <a:bodyPr/>
          <a:lstStyle/>
          <a:p>
            <a:r>
              <a:rPr lang="en-US" dirty="0"/>
              <a:t>Catalysis with Alkene</a:t>
            </a:r>
            <a:endParaRPr lang="en-IN" dirty="0"/>
          </a:p>
        </p:txBody>
      </p:sp>
      <p:sp>
        <p:nvSpPr>
          <p:cNvPr id="3" name="Subtitle 2">
            <a:extLst>
              <a:ext uri="{FF2B5EF4-FFF2-40B4-BE49-F238E27FC236}">
                <a16:creationId xmlns:a16="http://schemas.microsoft.com/office/drawing/2014/main" id="{174D6F9F-9063-41F7-B342-25544FDDBBD5}"/>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798337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1118E-26D7-4E04-9038-6F92EB5F15F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670C8BF-6B99-4F75-AF41-A70B1C1E6722}"/>
              </a:ext>
            </a:extLst>
          </p:cNvPr>
          <p:cNvSpPr>
            <a:spLocks noGrp="1"/>
          </p:cNvSpPr>
          <p:nvPr>
            <p:ph idx="1"/>
          </p:nvPr>
        </p:nvSpPr>
        <p:spPr/>
        <p:txBody>
          <a:bodyPr/>
          <a:lstStyle/>
          <a:p>
            <a:endParaRPr lang="en-IN" dirty="0"/>
          </a:p>
        </p:txBody>
      </p:sp>
      <p:pic>
        <p:nvPicPr>
          <p:cNvPr id="4" name="Picture 3">
            <a:extLst>
              <a:ext uri="{FF2B5EF4-FFF2-40B4-BE49-F238E27FC236}">
                <a16:creationId xmlns:a16="http://schemas.microsoft.com/office/drawing/2014/main" id="{E8854284-34EA-4BBD-AD30-56B6D07D9D20}"/>
              </a:ext>
            </a:extLst>
          </p:cNvPr>
          <p:cNvPicPr>
            <a:picLocks noChangeAspect="1"/>
          </p:cNvPicPr>
          <p:nvPr/>
        </p:nvPicPr>
        <p:blipFill>
          <a:blip r:embed="rId2"/>
          <a:stretch>
            <a:fillRect/>
          </a:stretch>
        </p:blipFill>
        <p:spPr>
          <a:xfrm>
            <a:off x="2857500" y="1724025"/>
            <a:ext cx="6477000" cy="3409950"/>
          </a:xfrm>
          <a:prstGeom prst="rect">
            <a:avLst/>
          </a:prstGeom>
        </p:spPr>
      </p:pic>
    </p:spTree>
    <p:extLst>
      <p:ext uri="{BB962C8B-B14F-4D97-AF65-F5344CB8AC3E}">
        <p14:creationId xmlns:p14="http://schemas.microsoft.com/office/powerpoint/2010/main" val="3682006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AA9AA-0ABE-4FFB-BD29-189EED0931B0}"/>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FE5B8F7-4ADC-484D-BB64-787CAF1EA003}"/>
              </a:ext>
            </a:extLst>
          </p:cNvPr>
          <p:cNvPicPr>
            <a:picLocks noGrp="1" noChangeAspect="1"/>
          </p:cNvPicPr>
          <p:nvPr>
            <p:ph idx="1"/>
          </p:nvPr>
        </p:nvPicPr>
        <p:blipFill>
          <a:blip r:embed="rId2"/>
          <a:stretch>
            <a:fillRect/>
          </a:stretch>
        </p:blipFill>
        <p:spPr>
          <a:xfrm>
            <a:off x="7029007" y="2051216"/>
            <a:ext cx="2514600" cy="2028825"/>
          </a:xfrm>
          <a:prstGeom prst="rect">
            <a:avLst/>
          </a:prstGeom>
        </p:spPr>
      </p:pic>
      <p:pic>
        <p:nvPicPr>
          <p:cNvPr id="4" name="Picture 3">
            <a:extLst>
              <a:ext uri="{FF2B5EF4-FFF2-40B4-BE49-F238E27FC236}">
                <a16:creationId xmlns:a16="http://schemas.microsoft.com/office/drawing/2014/main" id="{1006ED0F-FE94-44BF-A28A-58C35DF94B61}"/>
              </a:ext>
            </a:extLst>
          </p:cNvPr>
          <p:cNvPicPr>
            <a:picLocks noChangeAspect="1"/>
          </p:cNvPicPr>
          <p:nvPr/>
        </p:nvPicPr>
        <p:blipFill>
          <a:blip r:embed="rId3"/>
          <a:stretch>
            <a:fillRect/>
          </a:stretch>
        </p:blipFill>
        <p:spPr>
          <a:xfrm>
            <a:off x="1701652" y="2705100"/>
            <a:ext cx="2324100" cy="1447800"/>
          </a:xfrm>
          <a:prstGeom prst="rect">
            <a:avLst/>
          </a:prstGeom>
        </p:spPr>
      </p:pic>
    </p:spTree>
    <p:extLst>
      <p:ext uri="{BB962C8B-B14F-4D97-AF65-F5344CB8AC3E}">
        <p14:creationId xmlns:p14="http://schemas.microsoft.com/office/powerpoint/2010/main" val="1186386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08450-E3D4-44C2-A2E2-50D7EDA2157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67CCCA2-C3FA-448D-BA92-4AA9C94F76DD}"/>
              </a:ext>
            </a:extLst>
          </p:cNvPr>
          <p:cNvSpPr>
            <a:spLocks noGrp="1"/>
          </p:cNvSpPr>
          <p:nvPr>
            <p:ph idx="1"/>
          </p:nvPr>
        </p:nvSpPr>
        <p:spPr/>
        <p:txBody>
          <a:bodyPr/>
          <a:lstStyle/>
          <a:p>
            <a:endParaRPr lang="en-IN" dirty="0"/>
          </a:p>
        </p:txBody>
      </p:sp>
      <p:pic>
        <p:nvPicPr>
          <p:cNvPr id="4" name="Picture 3">
            <a:extLst>
              <a:ext uri="{FF2B5EF4-FFF2-40B4-BE49-F238E27FC236}">
                <a16:creationId xmlns:a16="http://schemas.microsoft.com/office/drawing/2014/main" id="{DB0EADCE-A1BF-482F-B9D2-91361391DD34}"/>
              </a:ext>
            </a:extLst>
          </p:cNvPr>
          <p:cNvPicPr>
            <a:picLocks noChangeAspect="1"/>
          </p:cNvPicPr>
          <p:nvPr/>
        </p:nvPicPr>
        <p:blipFill>
          <a:blip r:embed="rId2"/>
          <a:stretch>
            <a:fillRect/>
          </a:stretch>
        </p:blipFill>
        <p:spPr>
          <a:xfrm>
            <a:off x="3581400" y="2633662"/>
            <a:ext cx="5029200" cy="1590675"/>
          </a:xfrm>
          <a:prstGeom prst="rect">
            <a:avLst/>
          </a:prstGeom>
        </p:spPr>
      </p:pic>
    </p:spTree>
    <p:extLst>
      <p:ext uri="{BB962C8B-B14F-4D97-AF65-F5344CB8AC3E}">
        <p14:creationId xmlns:p14="http://schemas.microsoft.com/office/powerpoint/2010/main" val="76958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1F5B8-7E81-4044-9E89-EB66A3853C5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8F26563-B036-4580-B882-C7DBF9AFC8C6}"/>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33CE8BCE-CA7F-485C-9B15-23F6CB425347}"/>
              </a:ext>
            </a:extLst>
          </p:cNvPr>
          <p:cNvPicPr>
            <a:picLocks noChangeAspect="1"/>
          </p:cNvPicPr>
          <p:nvPr/>
        </p:nvPicPr>
        <p:blipFill>
          <a:blip r:embed="rId2"/>
          <a:stretch>
            <a:fillRect/>
          </a:stretch>
        </p:blipFill>
        <p:spPr>
          <a:xfrm>
            <a:off x="3124200" y="2196306"/>
            <a:ext cx="5943600" cy="3609975"/>
          </a:xfrm>
          <a:prstGeom prst="rect">
            <a:avLst/>
          </a:prstGeom>
        </p:spPr>
      </p:pic>
    </p:spTree>
    <p:extLst>
      <p:ext uri="{BB962C8B-B14F-4D97-AF65-F5344CB8AC3E}">
        <p14:creationId xmlns:p14="http://schemas.microsoft.com/office/powerpoint/2010/main" val="1216672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81" name="Object 3">
            <a:extLst>
              <a:ext uri="{FF2B5EF4-FFF2-40B4-BE49-F238E27FC236}">
                <a16:creationId xmlns:a16="http://schemas.microsoft.com/office/drawing/2014/main" id="{12C15A3C-0954-4C91-BF00-DA31E0151B98}"/>
              </a:ext>
            </a:extLst>
          </p:cNvPr>
          <p:cNvGraphicFramePr>
            <a:graphicFrameLocks noChangeAspect="1"/>
          </p:cNvGraphicFramePr>
          <p:nvPr/>
        </p:nvGraphicFramePr>
        <p:xfrm>
          <a:off x="2514600" y="1295401"/>
          <a:ext cx="6629400" cy="5178425"/>
        </p:xfrm>
        <a:graphic>
          <a:graphicData uri="http://schemas.openxmlformats.org/presentationml/2006/ole">
            <mc:AlternateContent xmlns:mc="http://schemas.openxmlformats.org/markup-compatibility/2006">
              <mc:Choice xmlns:v="urn:schemas-microsoft-com:vml" Requires="v">
                <p:oleObj name="CS ChemDraw Drawing" r:id="rId2" imgW="6045708" imgH="4722876" progId="ChemDraw.Document.6.0">
                  <p:embed/>
                </p:oleObj>
              </mc:Choice>
              <mc:Fallback>
                <p:oleObj name="CS ChemDraw Drawing" r:id="rId2" imgW="6045708" imgH="4722876" progId="ChemDraw.Document.6.0">
                  <p:embed/>
                  <p:pic>
                    <p:nvPicPr>
                      <p:cNvPr id="20481" name="Object 3">
                        <a:extLst>
                          <a:ext uri="{FF2B5EF4-FFF2-40B4-BE49-F238E27FC236}">
                            <a16:creationId xmlns:a16="http://schemas.microsoft.com/office/drawing/2014/main" id="{12C15A3C-0954-4C91-BF00-DA31E0151B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1295401"/>
                        <a:ext cx="6629400" cy="517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0482" name="Text Box 5">
            <a:extLst>
              <a:ext uri="{FF2B5EF4-FFF2-40B4-BE49-F238E27FC236}">
                <a16:creationId xmlns:a16="http://schemas.microsoft.com/office/drawing/2014/main" id="{BF7B5644-E65B-486F-A0AF-0320257AD073}"/>
              </a:ext>
            </a:extLst>
          </p:cNvPr>
          <p:cNvSpPr txBox="1">
            <a:spLocks noChangeArrowheads="1"/>
          </p:cNvSpPr>
          <p:nvPr/>
        </p:nvSpPr>
        <p:spPr bwMode="auto">
          <a:xfrm>
            <a:off x="1905000" y="457200"/>
            <a:ext cx="7848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US" sz="1800" b="1">
                <a:solidFill>
                  <a:srgbClr val="101CBC"/>
                </a:solidFill>
                <a:latin typeface="Calibri" panose="020F0502020204030204" pitchFamily="34" charset="0"/>
              </a:rPr>
              <a:t>Key Players in the field: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F8B2564-1051-4431-B7DD-334DE8FC445B}"/>
              </a:ext>
            </a:extLst>
          </p:cNvPr>
          <p:cNvPicPr>
            <a:picLocks noChangeAspect="1"/>
          </p:cNvPicPr>
          <p:nvPr/>
        </p:nvPicPr>
        <p:blipFill>
          <a:blip r:embed="rId2"/>
          <a:stretch>
            <a:fillRect/>
          </a:stretch>
        </p:blipFill>
        <p:spPr>
          <a:xfrm>
            <a:off x="979082" y="444796"/>
            <a:ext cx="3429000" cy="609600"/>
          </a:xfrm>
          <a:prstGeom prst="rect">
            <a:avLst/>
          </a:prstGeom>
        </p:spPr>
      </p:pic>
      <p:pic>
        <p:nvPicPr>
          <p:cNvPr id="3" name="Picture 2">
            <a:extLst>
              <a:ext uri="{FF2B5EF4-FFF2-40B4-BE49-F238E27FC236}">
                <a16:creationId xmlns:a16="http://schemas.microsoft.com/office/drawing/2014/main" id="{6B391642-860A-4530-8BE8-D3AA44F8775D}"/>
              </a:ext>
            </a:extLst>
          </p:cNvPr>
          <p:cNvPicPr>
            <a:picLocks noChangeAspect="1"/>
          </p:cNvPicPr>
          <p:nvPr/>
        </p:nvPicPr>
        <p:blipFill>
          <a:blip r:embed="rId3"/>
          <a:stretch>
            <a:fillRect/>
          </a:stretch>
        </p:blipFill>
        <p:spPr>
          <a:xfrm>
            <a:off x="2117558" y="3108158"/>
            <a:ext cx="7010400" cy="2438400"/>
          </a:xfrm>
          <a:prstGeom prst="rect">
            <a:avLst/>
          </a:prstGeom>
        </p:spPr>
      </p:pic>
      <p:sp>
        <p:nvSpPr>
          <p:cNvPr id="5" name="TextBox 4">
            <a:extLst>
              <a:ext uri="{FF2B5EF4-FFF2-40B4-BE49-F238E27FC236}">
                <a16:creationId xmlns:a16="http://schemas.microsoft.com/office/drawing/2014/main" id="{7D49C8E9-B8B0-248B-6079-42E4BC3CB71C}"/>
              </a:ext>
            </a:extLst>
          </p:cNvPr>
          <p:cNvSpPr txBox="1"/>
          <p:nvPr/>
        </p:nvSpPr>
        <p:spPr>
          <a:xfrm>
            <a:off x="1491916" y="1111780"/>
            <a:ext cx="9432758" cy="2031325"/>
          </a:xfrm>
          <a:prstGeom prst="rect">
            <a:avLst/>
          </a:prstGeom>
          <a:noFill/>
        </p:spPr>
        <p:txBody>
          <a:bodyPr wrap="square">
            <a:spAutoFit/>
          </a:bodyPr>
          <a:lstStyle/>
          <a:p>
            <a:r>
              <a:rPr lang="en-IN" b="0" i="0" u="none" strike="noStrike" dirty="0">
                <a:solidFill>
                  <a:srgbClr val="202122"/>
                </a:solidFill>
                <a:effectLst/>
                <a:latin typeface="Arial" panose="020B0604020202020204" pitchFamily="34" charset="0"/>
              </a:rPr>
              <a:t>In </a:t>
            </a:r>
            <a:r>
              <a:rPr lang="en-IN" b="0" i="0" u="none" strike="noStrike" dirty="0">
                <a:solidFill>
                  <a:srgbClr val="795CB2"/>
                </a:solidFill>
                <a:effectLst/>
                <a:latin typeface="Arial" panose="020B0604020202020204" pitchFamily="34" charset="0"/>
                <a:hlinkClick r:id="rId4" tooltip="Organic chemistry"/>
              </a:rPr>
              <a:t>organic chemistry</a:t>
            </a:r>
            <a:r>
              <a:rPr lang="en-IN" b="0" i="0" u="none" strike="noStrike" dirty="0">
                <a:solidFill>
                  <a:srgbClr val="202122"/>
                </a:solidFill>
                <a:effectLst/>
                <a:latin typeface="Arial" panose="020B0604020202020204" pitchFamily="34" charset="0"/>
              </a:rPr>
              <a:t>, </a:t>
            </a:r>
            <a:r>
              <a:rPr lang="en-IN" b="1" i="0" u="none" strike="noStrike" dirty="0">
                <a:solidFill>
                  <a:srgbClr val="202122"/>
                </a:solidFill>
                <a:effectLst/>
                <a:latin typeface="Arial" panose="020B0604020202020204" pitchFamily="34" charset="0"/>
              </a:rPr>
              <a:t>hydroformylation</a:t>
            </a:r>
            <a:r>
              <a:rPr lang="en-IN" b="0" i="0" u="none" strike="noStrike" dirty="0">
                <a:solidFill>
                  <a:srgbClr val="202122"/>
                </a:solidFill>
                <a:effectLst/>
                <a:latin typeface="Arial" panose="020B0604020202020204" pitchFamily="34" charset="0"/>
              </a:rPr>
              <a:t>, also known as </a:t>
            </a:r>
            <a:r>
              <a:rPr lang="en-IN" b="1" i="0" u="none" strike="noStrike" dirty="0">
                <a:solidFill>
                  <a:srgbClr val="202122"/>
                </a:solidFill>
                <a:effectLst/>
                <a:latin typeface="Arial" panose="020B0604020202020204" pitchFamily="34" charset="0"/>
              </a:rPr>
              <a:t>oxo synthesis</a:t>
            </a:r>
            <a:r>
              <a:rPr lang="en-IN" b="0" i="0" u="none" strike="noStrike" dirty="0">
                <a:solidFill>
                  <a:srgbClr val="202122"/>
                </a:solidFill>
                <a:effectLst/>
                <a:latin typeface="Arial" panose="020B0604020202020204" pitchFamily="34" charset="0"/>
              </a:rPr>
              <a:t> or </a:t>
            </a:r>
            <a:r>
              <a:rPr lang="en-IN" b="1" i="0" u="none" strike="noStrike" dirty="0">
                <a:solidFill>
                  <a:srgbClr val="202122"/>
                </a:solidFill>
                <a:effectLst/>
                <a:latin typeface="Arial" panose="020B0604020202020204" pitchFamily="34" charset="0"/>
              </a:rPr>
              <a:t>oxo process</a:t>
            </a:r>
            <a:r>
              <a:rPr lang="en-IN" b="0" i="0" u="none" strike="noStrike" dirty="0">
                <a:solidFill>
                  <a:srgbClr val="202122"/>
                </a:solidFill>
                <a:effectLst/>
                <a:latin typeface="Arial" panose="020B0604020202020204" pitchFamily="34" charset="0"/>
              </a:rPr>
              <a:t>, is an industrial process for the production of </a:t>
            </a:r>
            <a:r>
              <a:rPr lang="en-IN" b="0" i="0" u="none" strike="noStrike" dirty="0">
                <a:solidFill>
                  <a:srgbClr val="795CB2"/>
                </a:solidFill>
                <a:effectLst/>
                <a:latin typeface="Arial" panose="020B0604020202020204" pitchFamily="34" charset="0"/>
                <a:hlinkClick r:id="rId5" tooltip="Aldehyde"/>
              </a:rPr>
              <a:t>aldehydes</a:t>
            </a:r>
            <a:r>
              <a:rPr lang="en-IN" b="0" i="0" u="none" strike="noStrike" dirty="0">
                <a:solidFill>
                  <a:srgbClr val="202122"/>
                </a:solidFill>
                <a:effectLst/>
                <a:latin typeface="Arial" panose="020B0604020202020204" pitchFamily="34" charset="0"/>
              </a:rPr>
              <a:t> (R−CH=O) from </a:t>
            </a:r>
            <a:r>
              <a:rPr lang="en-IN" b="0" i="0" u="none" strike="noStrike" dirty="0">
                <a:solidFill>
                  <a:srgbClr val="795CB2"/>
                </a:solidFill>
                <a:effectLst/>
                <a:latin typeface="Arial" panose="020B0604020202020204" pitchFamily="34" charset="0"/>
                <a:hlinkClick r:id="rId6" tooltip="Alkene"/>
              </a:rPr>
              <a:t>alkenes</a:t>
            </a:r>
            <a:r>
              <a:rPr lang="en-IN" b="0" i="0" u="none" strike="noStrike" dirty="0">
                <a:solidFill>
                  <a:srgbClr val="202122"/>
                </a:solidFill>
                <a:effectLst/>
                <a:latin typeface="Arial" panose="020B0604020202020204" pitchFamily="34" charset="0"/>
              </a:rPr>
              <a:t> (R</a:t>
            </a:r>
            <a:r>
              <a:rPr lang="en-IN" b="0" i="0" u="none" strike="noStrike" baseline="-25000" dirty="0">
                <a:solidFill>
                  <a:srgbClr val="202122"/>
                </a:solidFill>
                <a:effectLst/>
                <a:latin typeface="Arial" panose="020B0604020202020204" pitchFamily="34" charset="0"/>
              </a:rPr>
              <a:t>2</a:t>
            </a:r>
            <a:r>
              <a:rPr lang="en-IN" b="0" i="0" u="none" strike="noStrike" dirty="0">
                <a:solidFill>
                  <a:srgbClr val="202122"/>
                </a:solidFill>
                <a:effectLst/>
                <a:latin typeface="Arial" panose="020B0604020202020204" pitchFamily="34" charset="0"/>
              </a:rPr>
              <a:t>C=CR</a:t>
            </a:r>
            <a:r>
              <a:rPr lang="en-IN" b="0" i="0" u="none" strike="noStrike" baseline="-25000" dirty="0">
                <a:solidFill>
                  <a:srgbClr val="202122"/>
                </a:solidFill>
                <a:effectLst/>
                <a:latin typeface="Arial" panose="020B0604020202020204" pitchFamily="34" charset="0"/>
              </a:rPr>
              <a:t>2</a:t>
            </a:r>
            <a:r>
              <a:rPr lang="en-IN" b="0" i="0" u="none" strike="noStrike" dirty="0">
                <a:solidFill>
                  <a:srgbClr val="202122"/>
                </a:solidFill>
                <a:effectLst/>
                <a:latin typeface="Arial" panose="020B0604020202020204" pitchFamily="34" charset="0"/>
              </a:rPr>
              <a:t>).</a:t>
            </a:r>
          </a:p>
          <a:p>
            <a:r>
              <a:rPr lang="en-IN" b="0" i="0" u="none" strike="noStrike" dirty="0">
                <a:solidFill>
                  <a:srgbClr val="202122"/>
                </a:solidFill>
                <a:effectLst/>
                <a:latin typeface="Arial" panose="020B0604020202020204" pitchFamily="34" charset="0"/>
              </a:rPr>
              <a:t>This process has undergone continuous growth since its invention: production capacity reached 6.6×10</a:t>
            </a:r>
            <a:r>
              <a:rPr lang="en-IN" b="0" i="0" u="none" strike="noStrike" baseline="30000" dirty="0">
                <a:solidFill>
                  <a:srgbClr val="202122"/>
                </a:solidFill>
                <a:effectLst/>
                <a:latin typeface="Arial" panose="020B0604020202020204" pitchFamily="34" charset="0"/>
              </a:rPr>
              <a:t>6</a:t>
            </a:r>
            <a:r>
              <a:rPr lang="en-IN" b="0" i="0" u="none" strike="noStrike" dirty="0">
                <a:solidFill>
                  <a:srgbClr val="202122"/>
                </a:solidFill>
                <a:effectLst/>
                <a:latin typeface="Arial" panose="020B0604020202020204" pitchFamily="34" charset="0"/>
              </a:rPr>
              <a:t> tons</a:t>
            </a:r>
            <a:r>
              <a:rPr lang="en-IN" dirty="0">
                <a:solidFill>
                  <a:srgbClr val="202122"/>
                </a:solidFill>
                <a:latin typeface="Arial" panose="020B0604020202020204" pitchFamily="34" charset="0"/>
              </a:rPr>
              <a:t>. </a:t>
            </a:r>
            <a:r>
              <a:rPr lang="en-IN" b="0" i="0" u="none" strike="noStrike" dirty="0">
                <a:solidFill>
                  <a:srgbClr val="202122"/>
                </a:solidFill>
                <a:effectLst/>
                <a:latin typeface="Arial" panose="020B0604020202020204" pitchFamily="34" charset="0"/>
              </a:rPr>
              <a:t>The process was discovered by the German chemist </a:t>
            </a:r>
            <a:r>
              <a:rPr lang="en-IN" b="0" i="0" u="none" strike="noStrike" dirty="0">
                <a:solidFill>
                  <a:srgbClr val="795CB2"/>
                </a:solidFill>
                <a:effectLst/>
                <a:latin typeface="Arial" panose="020B0604020202020204" pitchFamily="34" charset="0"/>
                <a:hlinkClick r:id="rId7" tooltip="Otto Roelen"/>
              </a:rPr>
              <a:t>Otto Roelen</a:t>
            </a:r>
            <a:r>
              <a:rPr lang="en-IN" b="0" i="0" u="none" strike="noStrike" dirty="0">
                <a:solidFill>
                  <a:srgbClr val="202122"/>
                </a:solidFill>
                <a:effectLst/>
                <a:latin typeface="Arial" panose="020B0604020202020204" pitchFamily="34" charset="0"/>
              </a:rPr>
              <a:t> in 1938. He used catalyst </a:t>
            </a:r>
            <a:r>
              <a:rPr lang="en-IN" b="0" i="0" u="none" strike="noStrike" dirty="0">
                <a:solidFill>
                  <a:srgbClr val="795CB2"/>
                </a:solidFill>
                <a:effectLst/>
                <a:latin typeface="Arial" panose="020B0604020202020204" pitchFamily="34" charset="0"/>
                <a:hlinkClick r:id="rId8"/>
              </a:rPr>
              <a:t>HCo(CO)</a:t>
            </a:r>
            <a:r>
              <a:rPr lang="en-IN" b="0" i="0" u="none" strike="noStrike" baseline="-25000" dirty="0">
                <a:solidFill>
                  <a:srgbClr val="795CB2"/>
                </a:solidFill>
                <a:effectLst/>
                <a:latin typeface="Arial" panose="020B0604020202020204" pitchFamily="34" charset="0"/>
                <a:hlinkClick r:id="rId8"/>
              </a:rPr>
              <a:t>4</a:t>
            </a:r>
            <a:r>
              <a:rPr lang="en-IN" baseline="-25000" dirty="0">
                <a:solidFill>
                  <a:srgbClr val="202122"/>
                </a:solidFill>
                <a:latin typeface="Arial" panose="020B0604020202020204" pitchFamily="34" charset="0"/>
              </a:rPr>
              <a:t>. </a:t>
            </a:r>
            <a:r>
              <a:rPr lang="en-IN" dirty="0">
                <a:solidFill>
                  <a:srgbClr val="202122"/>
                </a:solidFill>
                <a:latin typeface="Arial" panose="020B0604020202020204" pitchFamily="34" charset="0"/>
              </a:rPr>
              <a:t>The process takes place </a:t>
            </a:r>
            <a:r>
              <a:rPr lang="en-IN" b="0" i="0" u="none" strike="noStrike" dirty="0">
                <a:solidFill>
                  <a:srgbClr val="202122"/>
                </a:solidFill>
                <a:effectLst/>
                <a:latin typeface="Arial" panose="020B0604020202020204" pitchFamily="34" charset="0"/>
              </a:rPr>
              <a:t>between 10 and 100 </a:t>
            </a:r>
            <a:r>
              <a:rPr lang="en-IN" b="0" i="0" u="none" strike="noStrike" dirty="0">
                <a:solidFill>
                  <a:srgbClr val="795CB2"/>
                </a:solidFill>
                <a:effectLst/>
                <a:latin typeface="Arial" panose="020B0604020202020204" pitchFamily="34" charset="0"/>
                <a:hlinkClick r:id="rId9" tooltip="Atmosphere (unit)"/>
              </a:rPr>
              <a:t>atmospheres</a:t>
            </a:r>
            <a:r>
              <a:rPr lang="en-IN" b="0" i="0" u="none" strike="noStrike" dirty="0">
                <a:solidFill>
                  <a:srgbClr val="202122"/>
                </a:solidFill>
                <a:effectLst/>
                <a:latin typeface="Arial" panose="020B0604020202020204" pitchFamily="34" charset="0"/>
              </a:rPr>
              <a:t>) of </a:t>
            </a:r>
            <a:r>
              <a:rPr lang="en-IN" b="0" i="0" u="none" strike="noStrike" dirty="0">
                <a:solidFill>
                  <a:srgbClr val="795CB2"/>
                </a:solidFill>
                <a:effectLst/>
                <a:latin typeface="Arial" panose="020B0604020202020204" pitchFamily="34" charset="0"/>
                <a:hlinkClick r:id="rId10" tooltip="Carbon monoxide"/>
              </a:rPr>
              <a:t>carbon monoxide</a:t>
            </a:r>
            <a:r>
              <a:rPr lang="en-IN" b="0" i="0" u="none" strike="noStrike" dirty="0">
                <a:solidFill>
                  <a:srgbClr val="202122"/>
                </a:solidFill>
                <a:effectLst/>
                <a:latin typeface="Arial" panose="020B0604020202020204" pitchFamily="34" charset="0"/>
              </a:rPr>
              <a:t> and hydrogen at temperatures between 40 and 200 °C.</a:t>
            </a:r>
            <a:endParaRPr lang="en-US" dirty="0"/>
          </a:p>
        </p:txBody>
      </p:sp>
    </p:spTree>
    <p:extLst>
      <p:ext uri="{BB962C8B-B14F-4D97-AF65-F5344CB8AC3E}">
        <p14:creationId xmlns:p14="http://schemas.microsoft.com/office/powerpoint/2010/main" val="2485220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CD4D4BE-820E-4F41-BD0E-6B9A1BF6E9E4}"/>
              </a:ext>
            </a:extLst>
          </p:cNvPr>
          <p:cNvPicPr>
            <a:picLocks noChangeAspect="1"/>
          </p:cNvPicPr>
          <p:nvPr/>
        </p:nvPicPr>
        <p:blipFill>
          <a:blip r:embed="rId2"/>
          <a:stretch>
            <a:fillRect/>
          </a:stretch>
        </p:blipFill>
        <p:spPr>
          <a:xfrm>
            <a:off x="2333403" y="1557005"/>
            <a:ext cx="7525193" cy="4786594"/>
          </a:xfrm>
          <a:prstGeom prst="rect">
            <a:avLst/>
          </a:prstGeom>
        </p:spPr>
      </p:pic>
    </p:spTree>
    <p:extLst>
      <p:ext uri="{BB962C8B-B14F-4D97-AF65-F5344CB8AC3E}">
        <p14:creationId xmlns:p14="http://schemas.microsoft.com/office/powerpoint/2010/main" val="2026869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7264AAC-168D-4E2E-AD0C-66645A98B556}"/>
              </a:ext>
            </a:extLst>
          </p:cNvPr>
          <p:cNvPicPr>
            <a:picLocks noChangeAspect="1"/>
          </p:cNvPicPr>
          <p:nvPr/>
        </p:nvPicPr>
        <p:blipFill>
          <a:blip r:embed="rId2"/>
          <a:stretch>
            <a:fillRect/>
          </a:stretch>
        </p:blipFill>
        <p:spPr>
          <a:xfrm>
            <a:off x="1009649" y="2396805"/>
            <a:ext cx="9459778" cy="1851345"/>
          </a:xfrm>
          <a:prstGeom prst="rect">
            <a:avLst/>
          </a:prstGeom>
        </p:spPr>
      </p:pic>
      <p:pic>
        <p:nvPicPr>
          <p:cNvPr id="3" name="Picture 2">
            <a:extLst>
              <a:ext uri="{FF2B5EF4-FFF2-40B4-BE49-F238E27FC236}">
                <a16:creationId xmlns:a16="http://schemas.microsoft.com/office/drawing/2014/main" id="{D5D3C01F-C694-4302-82CB-D10AED78854C}"/>
              </a:ext>
            </a:extLst>
          </p:cNvPr>
          <p:cNvPicPr>
            <a:picLocks noChangeAspect="1"/>
          </p:cNvPicPr>
          <p:nvPr/>
        </p:nvPicPr>
        <p:blipFill>
          <a:blip r:embed="rId3"/>
          <a:stretch>
            <a:fillRect/>
          </a:stretch>
        </p:blipFill>
        <p:spPr>
          <a:xfrm>
            <a:off x="352425" y="531849"/>
            <a:ext cx="10778418" cy="1358864"/>
          </a:xfrm>
          <a:prstGeom prst="rect">
            <a:avLst/>
          </a:prstGeom>
        </p:spPr>
      </p:pic>
      <p:pic>
        <p:nvPicPr>
          <p:cNvPr id="4" name="Picture 3">
            <a:extLst>
              <a:ext uri="{FF2B5EF4-FFF2-40B4-BE49-F238E27FC236}">
                <a16:creationId xmlns:a16="http://schemas.microsoft.com/office/drawing/2014/main" id="{7371FD08-A421-4230-83E6-D96D82486A7A}"/>
              </a:ext>
            </a:extLst>
          </p:cNvPr>
          <p:cNvPicPr>
            <a:picLocks noChangeAspect="1"/>
          </p:cNvPicPr>
          <p:nvPr/>
        </p:nvPicPr>
        <p:blipFill>
          <a:blip r:embed="rId4"/>
          <a:stretch>
            <a:fillRect/>
          </a:stretch>
        </p:blipFill>
        <p:spPr>
          <a:xfrm>
            <a:off x="622758" y="4573551"/>
            <a:ext cx="9846669" cy="1752600"/>
          </a:xfrm>
          <a:prstGeom prst="rect">
            <a:avLst/>
          </a:prstGeom>
        </p:spPr>
      </p:pic>
    </p:spTree>
    <p:extLst>
      <p:ext uri="{BB962C8B-B14F-4D97-AF65-F5344CB8AC3E}">
        <p14:creationId xmlns:p14="http://schemas.microsoft.com/office/powerpoint/2010/main" val="1516535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A3AFE65-8F2C-4A2B-B95F-4008810803CC}"/>
              </a:ext>
            </a:extLst>
          </p:cNvPr>
          <p:cNvPicPr>
            <a:picLocks noChangeAspect="1"/>
          </p:cNvPicPr>
          <p:nvPr/>
        </p:nvPicPr>
        <p:blipFill>
          <a:blip r:embed="rId2"/>
          <a:stretch>
            <a:fillRect/>
          </a:stretch>
        </p:blipFill>
        <p:spPr>
          <a:xfrm>
            <a:off x="3371850" y="2989077"/>
            <a:ext cx="5448300" cy="2428875"/>
          </a:xfrm>
          <a:prstGeom prst="rect">
            <a:avLst/>
          </a:prstGeom>
        </p:spPr>
      </p:pic>
      <p:sp>
        <p:nvSpPr>
          <p:cNvPr id="3" name="TextBox 2">
            <a:extLst>
              <a:ext uri="{FF2B5EF4-FFF2-40B4-BE49-F238E27FC236}">
                <a16:creationId xmlns:a16="http://schemas.microsoft.com/office/drawing/2014/main" id="{C24712D9-84A4-4403-878C-BDA3F87A3DF1}"/>
              </a:ext>
            </a:extLst>
          </p:cNvPr>
          <p:cNvSpPr txBox="1"/>
          <p:nvPr/>
        </p:nvSpPr>
        <p:spPr>
          <a:xfrm>
            <a:off x="1765005" y="382772"/>
            <a:ext cx="4040372" cy="369332"/>
          </a:xfrm>
          <a:prstGeom prst="rect">
            <a:avLst/>
          </a:prstGeom>
          <a:noFill/>
        </p:spPr>
        <p:txBody>
          <a:bodyPr wrap="square" rtlCol="0">
            <a:spAutoFit/>
          </a:bodyPr>
          <a:lstStyle/>
          <a:p>
            <a:r>
              <a:rPr lang="en-US" dirty="0"/>
              <a:t>Wacker Process</a:t>
            </a:r>
            <a:endParaRPr lang="en-IN" dirty="0"/>
          </a:p>
        </p:txBody>
      </p:sp>
      <p:pic>
        <p:nvPicPr>
          <p:cNvPr id="4" name="Picture 3">
            <a:extLst>
              <a:ext uri="{FF2B5EF4-FFF2-40B4-BE49-F238E27FC236}">
                <a16:creationId xmlns:a16="http://schemas.microsoft.com/office/drawing/2014/main" id="{DCE8E5AC-7AAA-498F-AB99-6948E68B42E8}"/>
              </a:ext>
            </a:extLst>
          </p:cNvPr>
          <p:cNvPicPr>
            <a:picLocks noChangeAspect="1"/>
          </p:cNvPicPr>
          <p:nvPr/>
        </p:nvPicPr>
        <p:blipFill>
          <a:blip r:embed="rId3"/>
          <a:stretch>
            <a:fillRect/>
          </a:stretch>
        </p:blipFill>
        <p:spPr>
          <a:xfrm>
            <a:off x="747380" y="1341953"/>
            <a:ext cx="7162800" cy="1057275"/>
          </a:xfrm>
          <a:prstGeom prst="rect">
            <a:avLst/>
          </a:prstGeom>
        </p:spPr>
      </p:pic>
      <p:pic>
        <p:nvPicPr>
          <p:cNvPr id="8" name="Picture 7" descr="A black background with a black square&#10;&#10;Description automatically generated with medium confidence">
            <a:extLst>
              <a:ext uri="{FF2B5EF4-FFF2-40B4-BE49-F238E27FC236}">
                <a16:creationId xmlns:a16="http://schemas.microsoft.com/office/drawing/2014/main" id="{C4755303-10DD-59BF-39C4-CE4B1E163A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35758" y="1440048"/>
            <a:ext cx="2794000" cy="1028700"/>
          </a:xfrm>
          <a:prstGeom prst="rect">
            <a:avLst/>
          </a:prstGeom>
        </p:spPr>
      </p:pic>
      <p:sp>
        <p:nvSpPr>
          <p:cNvPr id="10" name="TextBox 9">
            <a:extLst>
              <a:ext uri="{FF2B5EF4-FFF2-40B4-BE49-F238E27FC236}">
                <a16:creationId xmlns:a16="http://schemas.microsoft.com/office/drawing/2014/main" id="{5BEBC420-DFE8-01E5-F4F0-DFC0F28E77D2}"/>
              </a:ext>
            </a:extLst>
          </p:cNvPr>
          <p:cNvSpPr txBox="1"/>
          <p:nvPr/>
        </p:nvSpPr>
        <p:spPr>
          <a:xfrm>
            <a:off x="2757377" y="752104"/>
            <a:ext cx="6096000" cy="369332"/>
          </a:xfrm>
          <a:prstGeom prst="rect">
            <a:avLst/>
          </a:prstGeom>
          <a:noFill/>
        </p:spPr>
        <p:txBody>
          <a:bodyPr wrap="square">
            <a:spAutoFit/>
          </a:bodyPr>
          <a:lstStyle/>
          <a:p>
            <a:r>
              <a:rPr lang="en-IN" b="0" i="0" u="none" strike="noStrike" dirty="0">
                <a:solidFill>
                  <a:srgbClr val="202122"/>
                </a:solidFill>
                <a:effectLst/>
                <a:latin typeface="Arial" panose="020B0604020202020204" pitchFamily="34" charset="0"/>
              </a:rPr>
              <a:t>Wacker process began in 1956 at </a:t>
            </a:r>
            <a:r>
              <a:rPr lang="en-IN" b="0" i="0" u="none" strike="noStrike" dirty="0">
                <a:solidFill>
                  <a:srgbClr val="795CB2"/>
                </a:solidFill>
                <a:effectLst/>
                <a:latin typeface="Arial" panose="020B0604020202020204" pitchFamily="34" charset="0"/>
                <a:hlinkClick r:id="rId5" tooltip="Wacker Chemie"/>
              </a:rPr>
              <a:t>Wacker Chemie</a:t>
            </a:r>
            <a:endParaRPr lang="en-US" dirty="0"/>
          </a:p>
        </p:txBody>
      </p:sp>
    </p:spTree>
    <p:extLst>
      <p:ext uri="{BB962C8B-B14F-4D97-AF65-F5344CB8AC3E}">
        <p14:creationId xmlns:p14="http://schemas.microsoft.com/office/powerpoint/2010/main" val="9427745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CF14DB1-C15A-47D4-9D72-75ECAA8568DF}"/>
              </a:ext>
            </a:extLst>
          </p:cNvPr>
          <p:cNvPicPr>
            <a:picLocks noChangeAspect="1"/>
          </p:cNvPicPr>
          <p:nvPr/>
        </p:nvPicPr>
        <p:blipFill>
          <a:blip r:embed="rId2"/>
          <a:stretch>
            <a:fillRect/>
          </a:stretch>
        </p:blipFill>
        <p:spPr>
          <a:xfrm>
            <a:off x="2457450" y="1749609"/>
            <a:ext cx="7277100" cy="4124325"/>
          </a:xfrm>
          <a:prstGeom prst="rect">
            <a:avLst/>
          </a:prstGeom>
        </p:spPr>
      </p:pic>
    </p:spTree>
    <p:extLst>
      <p:ext uri="{BB962C8B-B14F-4D97-AF65-F5344CB8AC3E}">
        <p14:creationId xmlns:p14="http://schemas.microsoft.com/office/powerpoint/2010/main" val="18742885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0731C99-6226-43D2-8B41-2BC306497620}"/>
              </a:ext>
            </a:extLst>
          </p:cNvPr>
          <p:cNvPicPr>
            <a:picLocks noChangeAspect="1"/>
          </p:cNvPicPr>
          <p:nvPr/>
        </p:nvPicPr>
        <p:blipFill>
          <a:blip r:embed="rId2"/>
          <a:stretch>
            <a:fillRect/>
          </a:stretch>
        </p:blipFill>
        <p:spPr>
          <a:xfrm>
            <a:off x="1863183" y="1915522"/>
            <a:ext cx="8465633" cy="3026956"/>
          </a:xfrm>
          <a:prstGeom prst="rect">
            <a:avLst/>
          </a:prstGeom>
        </p:spPr>
      </p:pic>
    </p:spTree>
    <p:extLst>
      <p:ext uri="{BB962C8B-B14F-4D97-AF65-F5344CB8AC3E}">
        <p14:creationId xmlns:p14="http://schemas.microsoft.com/office/powerpoint/2010/main" val="15922301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051" name="Picture 3">
            <a:hlinkClick r:id="rId2"/>
            <a:extLst>
              <a:ext uri="{FF2B5EF4-FFF2-40B4-BE49-F238E27FC236}">
                <a16:creationId xmlns:a16="http://schemas.microsoft.com/office/drawing/2014/main" id="{9B213DEC-1159-7B71-BFEA-468394E46B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0"/>
            <a:ext cx="563721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8513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8B65CE9-97A3-4749-2CED-D56723206A21}"/>
              </a:ext>
            </a:extLst>
          </p:cNvPr>
          <p:cNvSpPr txBox="1"/>
          <p:nvPr/>
        </p:nvSpPr>
        <p:spPr>
          <a:xfrm>
            <a:off x="4365171" y="640783"/>
            <a:ext cx="3461658" cy="646331"/>
          </a:xfrm>
          <a:prstGeom prst="rect">
            <a:avLst/>
          </a:prstGeom>
          <a:noFill/>
        </p:spPr>
        <p:txBody>
          <a:bodyPr wrap="square" rtlCol="0">
            <a:spAutoFit/>
          </a:bodyPr>
          <a:lstStyle/>
          <a:p>
            <a:r>
              <a:rPr lang="en-US" sz="3600" b="1" dirty="0" err="1"/>
              <a:t>Hydrosilylation</a:t>
            </a:r>
            <a:endParaRPr lang="en-US" sz="3600" b="1" dirty="0"/>
          </a:p>
        </p:txBody>
      </p:sp>
      <p:sp>
        <p:nvSpPr>
          <p:cNvPr id="7" name="TextBox 6">
            <a:extLst>
              <a:ext uri="{FF2B5EF4-FFF2-40B4-BE49-F238E27FC236}">
                <a16:creationId xmlns:a16="http://schemas.microsoft.com/office/drawing/2014/main" id="{50F3870E-AAF0-FB64-F556-B7F0355E887D}"/>
              </a:ext>
            </a:extLst>
          </p:cNvPr>
          <p:cNvSpPr txBox="1"/>
          <p:nvPr/>
        </p:nvSpPr>
        <p:spPr>
          <a:xfrm>
            <a:off x="2331846" y="1502711"/>
            <a:ext cx="8336153" cy="1200329"/>
          </a:xfrm>
          <a:prstGeom prst="rect">
            <a:avLst/>
          </a:prstGeom>
          <a:noFill/>
        </p:spPr>
        <p:txBody>
          <a:bodyPr wrap="square">
            <a:spAutoFit/>
          </a:bodyPr>
          <a:lstStyle/>
          <a:p>
            <a:r>
              <a:rPr lang="en-IN" b="1" i="0" strike="noStrike" dirty="0" err="1">
                <a:solidFill>
                  <a:srgbClr val="202122"/>
                </a:solidFill>
                <a:effectLst/>
                <a:latin typeface="Arial" panose="020B0604020202020204" pitchFamily="34" charset="0"/>
              </a:rPr>
              <a:t>Hydrosilylation</a:t>
            </a:r>
            <a:r>
              <a:rPr lang="en-IN" b="0" i="0" strike="noStrike" dirty="0">
                <a:solidFill>
                  <a:srgbClr val="202122"/>
                </a:solidFill>
                <a:effectLst/>
                <a:latin typeface="Arial" panose="020B0604020202020204" pitchFamily="34" charset="0"/>
              </a:rPr>
              <a:t>, also called </a:t>
            </a:r>
            <a:r>
              <a:rPr lang="en-IN" b="1" i="0" strike="noStrike" dirty="0">
                <a:solidFill>
                  <a:srgbClr val="202122"/>
                </a:solidFill>
                <a:effectLst/>
                <a:latin typeface="Arial" panose="020B0604020202020204" pitchFamily="34" charset="0"/>
              </a:rPr>
              <a:t>catalytic </a:t>
            </a:r>
            <a:r>
              <a:rPr lang="en-IN" b="1" i="0" strike="noStrike" dirty="0" err="1">
                <a:solidFill>
                  <a:srgbClr val="202122"/>
                </a:solidFill>
                <a:effectLst/>
                <a:latin typeface="Arial" panose="020B0604020202020204" pitchFamily="34" charset="0"/>
              </a:rPr>
              <a:t>hydrosilation</a:t>
            </a:r>
            <a:r>
              <a:rPr lang="en-IN" b="0" i="0" strike="noStrike" dirty="0">
                <a:solidFill>
                  <a:srgbClr val="202122"/>
                </a:solidFill>
                <a:effectLst/>
                <a:latin typeface="Arial" panose="020B0604020202020204" pitchFamily="34" charset="0"/>
              </a:rPr>
              <a:t>, describes the addition of Si-H bonds across unsaturated bond</a:t>
            </a:r>
          </a:p>
          <a:p>
            <a:endParaRPr lang="en-IN" dirty="0">
              <a:solidFill>
                <a:srgbClr val="202122"/>
              </a:solidFill>
              <a:latin typeface="Arial" panose="020B0604020202020204" pitchFamily="34" charset="0"/>
            </a:endParaRPr>
          </a:p>
          <a:p>
            <a:endParaRPr lang="en-US" dirty="0"/>
          </a:p>
        </p:txBody>
      </p:sp>
      <p:pic>
        <p:nvPicPr>
          <p:cNvPr id="9" name="Picture 8">
            <a:extLst>
              <a:ext uri="{FF2B5EF4-FFF2-40B4-BE49-F238E27FC236}">
                <a16:creationId xmlns:a16="http://schemas.microsoft.com/office/drawing/2014/main" id="{05B32BE8-A9DB-E7AF-77A4-846EB92B0C75}"/>
              </a:ext>
            </a:extLst>
          </p:cNvPr>
          <p:cNvPicPr>
            <a:picLocks noChangeAspect="1"/>
          </p:cNvPicPr>
          <p:nvPr/>
        </p:nvPicPr>
        <p:blipFill>
          <a:blip r:embed="rId2"/>
          <a:stretch>
            <a:fillRect/>
          </a:stretch>
        </p:blipFill>
        <p:spPr>
          <a:xfrm>
            <a:off x="2331846" y="2512539"/>
            <a:ext cx="8217600" cy="916461"/>
          </a:xfrm>
          <a:prstGeom prst="rect">
            <a:avLst/>
          </a:prstGeom>
        </p:spPr>
      </p:pic>
      <p:sp>
        <p:nvSpPr>
          <p:cNvPr id="11" name="TextBox 10">
            <a:extLst>
              <a:ext uri="{FF2B5EF4-FFF2-40B4-BE49-F238E27FC236}">
                <a16:creationId xmlns:a16="http://schemas.microsoft.com/office/drawing/2014/main" id="{738BE45C-3BD6-62A4-F9DA-C0ACFE1C91B7}"/>
              </a:ext>
            </a:extLst>
          </p:cNvPr>
          <p:cNvSpPr txBox="1"/>
          <p:nvPr/>
        </p:nvSpPr>
        <p:spPr>
          <a:xfrm>
            <a:off x="2472267" y="3735315"/>
            <a:ext cx="7247466" cy="1200329"/>
          </a:xfrm>
          <a:prstGeom prst="rect">
            <a:avLst/>
          </a:prstGeom>
          <a:noFill/>
        </p:spPr>
        <p:txBody>
          <a:bodyPr wrap="square">
            <a:spAutoFit/>
          </a:bodyPr>
          <a:lstStyle/>
          <a:p>
            <a:r>
              <a:rPr lang="en-IN" sz="1800" dirty="0">
                <a:effectLst/>
                <a:latin typeface="Times" pitchFamily="2" charset="0"/>
              </a:rPr>
              <a:t>One of the earliest catalysts (1957), H</a:t>
            </a:r>
            <a:r>
              <a:rPr lang="en-IN" sz="800" dirty="0">
                <a:effectLst/>
                <a:latin typeface="Times" pitchFamily="2" charset="0"/>
              </a:rPr>
              <a:t>2</a:t>
            </a:r>
            <a:r>
              <a:rPr lang="en-IN" sz="1800" dirty="0">
                <a:effectLst/>
                <a:latin typeface="Times" pitchFamily="2" charset="0"/>
              </a:rPr>
              <a:t>PtCl</a:t>
            </a:r>
            <a:r>
              <a:rPr lang="en-IN" sz="800" dirty="0">
                <a:effectLst/>
                <a:latin typeface="Times" pitchFamily="2" charset="0"/>
              </a:rPr>
              <a:t>6</a:t>
            </a:r>
            <a:r>
              <a:rPr lang="en-IN" sz="1800" dirty="0">
                <a:effectLst/>
                <a:latin typeface="Times" pitchFamily="2" charset="0"/>
              </a:rPr>
              <a:t>, or Speier’s catalyst,</a:t>
            </a:r>
            <a:r>
              <a:rPr lang="en-IN" sz="800" dirty="0">
                <a:effectLst/>
                <a:latin typeface="Times" pitchFamily="2" charset="0"/>
              </a:rPr>
              <a:t>23 </a:t>
            </a:r>
            <a:r>
              <a:rPr lang="en-IN" sz="1800" dirty="0">
                <a:effectLst/>
                <a:latin typeface="Times" pitchFamily="2" charset="0"/>
              </a:rPr>
              <a:t>is extremely active; 0.1 ppm of catalyst is effective. Commercially, the catalyst is normally not even recovered from the product, even though Pt is a precious metal. </a:t>
            </a:r>
            <a:endParaRPr lang="en-IN" dirty="0"/>
          </a:p>
        </p:txBody>
      </p:sp>
      <p:sp>
        <p:nvSpPr>
          <p:cNvPr id="13" name="TextBox 12">
            <a:extLst>
              <a:ext uri="{FF2B5EF4-FFF2-40B4-BE49-F238E27FC236}">
                <a16:creationId xmlns:a16="http://schemas.microsoft.com/office/drawing/2014/main" id="{141E37A1-70AA-3C12-CE52-8C4878DE16AE}"/>
              </a:ext>
            </a:extLst>
          </p:cNvPr>
          <p:cNvSpPr txBox="1"/>
          <p:nvPr/>
        </p:nvSpPr>
        <p:spPr>
          <a:xfrm>
            <a:off x="1485180" y="5661604"/>
            <a:ext cx="9805120" cy="646331"/>
          </a:xfrm>
          <a:prstGeom prst="rect">
            <a:avLst/>
          </a:prstGeom>
          <a:noFill/>
        </p:spPr>
        <p:txBody>
          <a:bodyPr wrap="square">
            <a:spAutoFit/>
          </a:bodyPr>
          <a:lstStyle/>
          <a:p>
            <a:r>
              <a:rPr lang="en-IN" b="0" i="0" u="none" strike="noStrike" dirty="0" err="1">
                <a:solidFill>
                  <a:srgbClr val="202122"/>
                </a:solidFill>
                <a:effectLst/>
                <a:latin typeface="Arial" panose="020B0604020202020204" pitchFamily="34" charset="0"/>
              </a:rPr>
              <a:t>Hydrosilylation</a:t>
            </a:r>
            <a:r>
              <a:rPr lang="en-IN" b="0" i="0" u="none" strike="noStrike" dirty="0">
                <a:solidFill>
                  <a:srgbClr val="202122"/>
                </a:solidFill>
                <a:effectLst/>
                <a:latin typeface="Arial" panose="020B0604020202020204" pitchFamily="34" charset="0"/>
              </a:rPr>
              <a:t> has been called the "most important application of platinum in homogeneous catalysis”.</a:t>
            </a:r>
            <a:endParaRPr lang="en-US" dirty="0"/>
          </a:p>
        </p:txBody>
      </p:sp>
    </p:spTree>
    <p:extLst>
      <p:ext uri="{BB962C8B-B14F-4D97-AF65-F5344CB8AC3E}">
        <p14:creationId xmlns:p14="http://schemas.microsoft.com/office/powerpoint/2010/main" val="21379472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6C44F-F5E6-5E91-42DF-E45CC0E9BD06}"/>
              </a:ext>
            </a:extLst>
          </p:cNvPr>
          <p:cNvSpPr>
            <a:spLocks noGrp="1"/>
          </p:cNvSpPr>
          <p:nvPr>
            <p:ph type="title"/>
          </p:nvPr>
        </p:nvSpPr>
        <p:spPr/>
        <p:txBody>
          <a:bodyPr/>
          <a:lstStyle/>
          <a:p>
            <a:endParaRPr lang="en-US" dirty="0"/>
          </a:p>
        </p:txBody>
      </p:sp>
      <p:sp>
        <p:nvSpPr>
          <p:cNvPr id="4" name="AutoShape 2" descr="Hydrosilylation reaction of various unsaturated systems.">
            <a:extLst>
              <a:ext uri="{FF2B5EF4-FFF2-40B4-BE49-F238E27FC236}">
                <a16:creationId xmlns:a16="http://schemas.microsoft.com/office/drawing/2014/main" id="{B72672A6-AEFF-0294-DCE4-D3AAA7DFE6B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Content Placeholder 5">
            <a:extLst>
              <a:ext uri="{FF2B5EF4-FFF2-40B4-BE49-F238E27FC236}">
                <a16:creationId xmlns:a16="http://schemas.microsoft.com/office/drawing/2014/main" id="{CBD6FE71-0A6E-1668-0BAF-1D1AE6AE4496}"/>
              </a:ext>
            </a:extLst>
          </p:cNvPr>
          <p:cNvPicPr>
            <a:picLocks noGrp="1" noChangeAspect="1"/>
          </p:cNvPicPr>
          <p:nvPr>
            <p:ph idx="1"/>
          </p:nvPr>
        </p:nvPicPr>
        <p:blipFill>
          <a:blip r:embed="rId2"/>
          <a:stretch>
            <a:fillRect/>
          </a:stretch>
        </p:blipFill>
        <p:spPr>
          <a:xfrm>
            <a:off x="1050571" y="1905258"/>
            <a:ext cx="8935310" cy="3769172"/>
          </a:xfrm>
          <a:prstGeom prst="rect">
            <a:avLst/>
          </a:prstGeom>
        </p:spPr>
      </p:pic>
    </p:spTree>
    <p:extLst>
      <p:ext uri="{BB962C8B-B14F-4D97-AF65-F5344CB8AC3E}">
        <p14:creationId xmlns:p14="http://schemas.microsoft.com/office/powerpoint/2010/main" val="31765429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BA4B0-62C0-BF00-B652-0A6C5CC0D470}"/>
              </a:ext>
            </a:extLst>
          </p:cNvPr>
          <p:cNvSpPr>
            <a:spLocks noGrp="1"/>
          </p:cNvSpPr>
          <p:nvPr>
            <p:ph type="title"/>
          </p:nvPr>
        </p:nvSpPr>
        <p:spPr/>
        <p:txBody>
          <a:bodyPr>
            <a:normAutofit fontScale="90000"/>
          </a:bodyPr>
          <a:lstStyle/>
          <a:p>
            <a:r>
              <a:rPr lang="en-IN" sz="1800" dirty="0">
                <a:effectLst/>
                <a:latin typeface="Times" pitchFamily="2" charset="0"/>
              </a:rPr>
              <a:t>The unsaturated </a:t>
            </a:r>
            <a:r>
              <a:rPr lang="en-IN" sz="1800" dirty="0" err="1">
                <a:effectLst/>
                <a:latin typeface="Times" pitchFamily="2" charset="0"/>
              </a:rPr>
              <a:t>vinylsilane</a:t>
            </a:r>
            <a:r>
              <a:rPr lang="en-IN" sz="1800" dirty="0">
                <a:effectLst/>
                <a:latin typeface="Times" pitchFamily="2" charset="0"/>
              </a:rPr>
              <a:t>, RCH</a:t>
            </a:r>
            <a:r>
              <a:rPr lang="en-IN" sz="1800" dirty="0">
                <a:effectLst/>
                <a:latin typeface="MTSYN"/>
              </a:rPr>
              <a:t>=</a:t>
            </a:r>
            <a:r>
              <a:rPr lang="en-IN" sz="1800" dirty="0">
                <a:effectLst/>
                <a:latin typeface="Times" pitchFamily="2" charset="0"/>
              </a:rPr>
              <a:t>CHSiR</a:t>
            </a:r>
            <a:r>
              <a:rPr lang="en-IN" sz="1800" dirty="0">
                <a:effectLst/>
                <a:latin typeface="MTSYN"/>
              </a:rPr>
              <a:t>′</a:t>
            </a:r>
            <a:r>
              <a:rPr lang="en-IN" sz="1800" dirty="0">
                <a:effectLst/>
                <a:latin typeface="Times" pitchFamily="2" charset="0"/>
              </a:rPr>
              <a:t>3, is also a product. Although minor in most cases, con­ditions can be found in which it predominates. The Chalk–Harrod mechanism (in left) cannot explain the formation of this </a:t>
            </a:r>
            <a:r>
              <a:rPr lang="en-IN" sz="1800" i="1" dirty="0">
                <a:effectLst/>
                <a:latin typeface="Times" pitchFamily="2" charset="0"/>
              </a:rPr>
              <a:t>dehydrogenative </a:t>
            </a:r>
            <a:r>
              <a:rPr lang="en-IN" sz="1800" i="1" dirty="0" err="1">
                <a:effectLst/>
                <a:latin typeface="Times" pitchFamily="2" charset="0"/>
              </a:rPr>
              <a:t>silation</a:t>
            </a:r>
            <a:r>
              <a:rPr lang="en-IN" sz="1800" i="1" dirty="0">
                <a:effectLst/>
                <a:latin typeface="Times" pitchFamily="2" charset="0"/>
              </a:rPr>
              <a:t> </a:t>
            </a:r>
            <a:r>
              <a:rPr lang="en-IN" sz="1800" dirty="0">
                <a:effectLst/>
                <a:latin typeface="Times" pitchFamily="2" charset="0"/>
              </a:rPr>
              <a:t>product, but the alternate mechanism of Fig. 9.7</a:t>
            </a:r>
            <a:r>
              <a:rPr lang="en-IN" sz="1800" dirty="0">
                <a:effectLst/>
                <a:latin typeface="MTMI"/>
              </a:rPr>
              <a:t>b</a:t>
            </a:r>
            <a:r>
              <a:rPr lang="en-IN" sz="1800" dirty="0">
                <a:effectLst/>
                <a:latin typeface="Times" pitchFamily="2" charset="0"/>
              </a:rPr>
              <a:t>, in which the alkene inserts into the M</a:t>
            </a:r>
            <a:r>
              <a:rPr lang="en-IN" sz="1800" dirty="0">
                <a:effectLst/>
                <a:latin typeface="MTSYN"/>
              </a:rPr>
              <a:t>−</a:t>
            </a:r>
            <a:r>
              <a:rPr lang="en-IN" sz="1800" dirty="0">
                <a:effectLst/>
                <a:latin typeface="Times" pitchFamily="2" charset="0"/>
              </a:rPr>
              <a:t>Si bond first, does explain it because </a:t>
            </a:r>
            <a:r>
              <a:rPr lang="el-GR" sz="1800" dirty="0">
                <a:effectLst/>
                <a:latin typeface="MTMI"/>
              </a:rPr>
              <a:t>β </a:t>
            </a:r>
            <a:r>
              <a:rPr lang="en-IN" sz="1800" dirty="0">
                <a:effectLst/>
                <a:latin typeface="Times" pitchFamily="2" charset="0"/>
              </a:rPr>
              <a:t>elimination of the intermediate alkyl leads directly to the </a:t>
            </a:r>
            <a:r>
              <a:rPr lang="en-IN" sz="1800" dirty="0" err="1">
                <a:effectLst/>
                <a:latin typeface="Times" pitchFamily="2" charset="0"/>
              </a:rPr>
              <a:t>vinylsilane</a:t>
            </a:r>
            <a:r>
              <a:rPr lang="en-IN" sz="1800" dirty="0">
                <a:effectLst/>
                <a:latin typeface="Times" pitchFamily="2" charset="0"/>
              </a:rPr>
              <a:t>. </a:t>
            </a:r>
            <a:br>
              <a:rPr lang="en-IN" dirty="0"/>
            </a:br>
            <a:endParaRPr lang="en-US" dirty="0"/>
          </a:p>
        </p:txBody>
      </p:sp>
      <p:sp>
        <p:nvSpPr>
          <p:cNvPr id="3" name="Content Placeholder 2">
            <a:extLst>
              <a:ext uri="{FF2B5EF4-FFF2-40B4-BE49-F238E27FC236}">
                <a16:creationId xmlns:a16="http://schemas.microsoft.com/office/drawing/2014/main" id="{651266BC-4EF1-F67B-D7C7-A69079F97135}"/>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9C0F490A-CA78-91D8-057B-2325C1F6FAF7}"/>
              </a:ext>
            </a:extLst>
          </p:cNvPr>
          <p:cNvPicPr>
            <a:picLocks noChangeAspect="1"/>
          </p:cNvPicPr>
          <p:nvPr/>
        </p:nvPicPr>
        <p:blipFill>
          <a:blip r:embed="rId2"/>
          <a:stretch>
            <a:fillRect/>
          </a:stretch>
        </p:blipFill>
        <p:spPr>
          <a:xfrm>
            <a:off x="1459895" y="2105706"/>
            <a:ext cx="8165610" cy="3791176"/>
          </a:xfrm>
          <a:prstGeom prst="rect">
            <a:avLst/>
          </a:prstGeom>
        </p:spPr>
      </p:pic>
    </p:spTree>
    <p:extLst>
      <p:ext uri="{BB962C8B-B14F-4D97-AF65-F5344CB8AC3E}">
        <p14:creationId xmlns:p14="http://schemas.microsoft.com/office/powerpoint/2010/main" val="3341920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8DB67D95-A074-A841-E0EB-6D3018ED2816}"/>
              </a:ext>
            </a:extLst>
          </p:cNvPr>
          <p:cNvSpPr>
            <a:spLocks noChangeArrowheads="1"/>
          </p:cNvSpPr>
          <p:nvPr/>
        </p:nvSpPr>
        <p:spPr bwMode="auto">
          <a:xfrm>
            <a:off x="5695950" y="2000251"/>
            <a:ext cx="3614738" cy="385763"/>
          </a:xfrm>
          <a:prstGeom prst="rect">
            <a:avLst/>
          </a:prstGeom>
          <a:noFill/>
          <a:ln>
            <a:noFill/>
          </a:ln>
          <a:effectLst>
            <a:prstShdw prst="shdw17" dist="17961" dir="2700000">
              <a:srgbClr val="4D004D"/>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79330" tIns="38969" rIns="79330" bIns="38969">
            <a:spAutoFit/>
          </a:bodyPr>
          <a:lstStyle/>
          <a:p>
            <a:pPr algn="ctr" defTabSz="801688">
              <a:defRPr/>
            </a:pPr>
            <a:r>
              <a:rPr lang="de-CH" sz="2000" b="1" i="1" dirty="0"/>
              <a:t>Hydroamiantion</a:t>
            </a:r>
            <a:endParaRPr lang="de-CH" sz="2000" dirty="0">
              <a:latin typeface="Univers 55" charset="0"/>
            </a:endParaRPr>
          </a:p>
        </p:txBody>
      </p:sp>
      <p:grpSp>
        <p:nvGrpSpPr>
          <p:cNvPr id="43011" name="Group 8">
            <a:extLst>
              <a:ext uri="{FF2B5EF4-FFF2-40B4-BE49-F238E27FC236}">
                <a16:creationId xmlns:a16="http://schemas.microsoft.com/office/drawing/2014/main" id="{5C03D02E-E933-24BB-A303-7426D690F8CF}"/>
              </a:ext>
            </a:extLst>
          </p:cNvPr>
          <p:cNvGrpSpPr>
            <a:grpSpLocks/>
          </p:cNvGrpSpPr>
          <p:nvPr/>
        </p:nvGrpSpPr>
        <p:grpSpPr bwMode="auto">
          <a:xfrm>
            <a:off x="2266950" y="1192211"/>
            <a:ext cx="3429000" cy="812800"/>
            <a:chOff x="336" y="784"/>
            <a:chExt cx="2160" cy="512"/>
          </a:xfrm>
        </p:grpSpPr>
        <p:sp>
          <p:nvSpPr>
            <p:cNvPr id="43024" name="Line 9">
              <a:extLst>
                <a:ext uri="{FF2B5EF4-FFF2-40B4-BE49-F238E27FC236}">
                  <a16:creationId xmlns:a16="http://schemas.microsoft.com/office/drawing/2014/main" id="{0DA0CF43-8B54-1B28-D8A2-126907F8FD51}"/>
                </a:ext>
              </a:extLst>
            </p:cNvPr>
            <p:cNvSpPr>
              <a:spLocks noChangeShapeType="1"/>
            </p:cNvSpPr>
            <p:nvPr/>
          </p:nvSpPr>
          <p:spPr bwMode="auto">
            <a:xfrm>
              <a:off x="1824" y="1008"/>
              <a:ext cx="672" cy="288"/>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 name="Rectangle 10">
              <a:extLst>
                <a:ext uri="{FF2B5EF4-FFF2-40B4-BE49-F238E27FC236}">
                  <a16:creationId xmlns:a16="http://schemas.microsoft.com/office/drawing/2014/main" id="{6DC6E50A-CD1F-2220-EA02-F4CC4CAA1BFD}"/>
                </a:ext>
              </a:extLst>
            </p:cNvPr>
            <p:cNvSpPr>
              <a:spLocks noChangeArrowheads="1"/>
            </p:cNvSpPr>
            <p:nvPr/>
          </p:nvSpPr>
          <p:spPr bwMode="auto">
            <a:xfrm>
              <a:off x="336" y="784"/>
              <a:ext cx="1471" cy="224"/>
            </a:xfrm>
            <a:prstGeom prst="rect">
              <a:avLst/>
            </a:prstGeom>
            <a:solidFill>
              <a:srgbClr val="7030A0"/>
            </a:solidFill>
            <a:ln w="12700">
              <a:solidFill>
                <a:schemeClr val="tx1"/>
              </a:solidFill>
              <a:miter lim="800000"/>
              <a:headEnd/>
              <a:tailEnd/>
            </a:ln>
            <a:effectLst>
              <a:outerShdw dist="107763" dir="2700000" algn="ctr" rotWithShape="0">
                <a:srgbClr val="808080"/>
              </a:outerShdw>
            </a:effectLst>
          </p:spPr>
          <p:txBody>
            <a:bodyPr lIns="79330" tIns="38969" rIns="79330" bIns="38969">
              <a:spAutoFit/>
            </a:bodyPr>
            <a:lstStyle/>
            <a:p>
              <a:pPr>
                <a:defRPr/>
              </a:pPr>
              <a:endParaRPr lang="en-IN"/>
            </a:p>
          </p:txBody>
        </p:sp>
        <p:sp>
          <p:nvSpPr>
            <p:cNvPr id="43026" name="Rectangle 11">
              <a:extLst>
                <a:ext uri="{FF2B5EF4-FFF2-40B4-BE49-F238E27FC236}">
                  <a16:creationId xmlns:a16="http://schemas.microsoft.com/office/drawing/2014/main" id="{FDD1D2C7-57EA-84A4-5170-5DCB35791E8C}"/>
                </a:ext>
              </a:extLst>
            </p:cNvPr>
            <p:cNvSpPr>
              <a:spLocks noChangeArrowheads="1"/>
            </p:cNvSpPr>
            <p:nvPr/>
          </p:nvSpPr>
          <p:spPr bwMode="auto">
            <a:xfrm>
              <a:off x="374" y="799"/>
              <a:ext cx="1436"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79330" tIns="38969" rIns="79330" bIns="38969">
              <a:spAutoFit/>
            </a:bodyPr>
            <a:lstStyle>
              <a:lvl1pPr defTabSz="801688"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801688"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801688"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801688"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801688"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8016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8016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8016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8016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de-CH" altLang="en-US" sz="1800" b="1">
                  <a:latin typeface="Constantia" panose="02030602050306030303" pitchFamily="18" charset="0"/>
                </a:rPr>
                <a:t>Intramolecular</a:t>
              </a:r>
            </a:p>
            <a:p>
              <a:pPr algn="ctr" eaLnBrk="1" hangingPunct="1"/>
              <a:r>
                <a:rPr lang="de-CH" altLang="en-US" sz="1800">
                  <a:latin typeface="Constantia" panose="02030602050306030303" pitchFamily="18" charset="0"/>
                </a:rPr>
                <a:t>Hydroamination</a:t>
              </a:r>
            </a:p>
          </p:txBody>
        </p:sp>
      </p:grpSp>
      <p:grpSp>
        <p:nvGrpSpPr>
          <p:cNvPr id="43012" name="Group 12">
            <a:extLst>
              <a:ext uri="{FF2B5EF4-FFF2-40B4-BE49-F238E27FC236}">
                <a16:creationId xmlns:a16="http://schemas.microsoft.com/office/drawing/2014/main" id="{CCFC224C-514D-140E-DCDD-5C58ADDB4BE2}"/>
              </a:ext>
            </a:extLst>
          </p:cNvPr>
          <p:cNvGrpSpPr>
            <a:grpSpLocks/>
          </p:cNvGrpSpPr>
          <p:nvPr/>
        </p:nvGrpSpPr>
        <p:grpSpPr bwMode="auto">
          <a:xfrm>
            <a:off x="2197100" y="2105024"/>
            <a:ext cx="3505200" cy="657225"/>
            <a:chOff x="288" y="1344"/>
            <a:chExt cx="2208" cy="414"/>
          </a:xfrm>
        </p:grpSpPr>
        <p:sp>
          <p:nvSpPr>
            <p:cNvPr id="43021" name="Line 13">
              <a:extLst>
                <a:ext uri="{FF2B5EF4-FFF2-40B4-BE49-F238E27FC236}">
                  <a16:creationId xmlns:a16="http://schemas.microsoft.com/office/drawing/2014/main" id="{A8F72B94-A123-C782-F286-2BDA083478B3}"/>
                </a:ext>
              </a:extLst>
            </p:cNvPr>
            <p:cNvSpPr>
              <a:spLocks noChangeShapeType="1"/>
            </p:cNvSpPr>
            <p:nvPr/>
          </p:nvSpPr>
          <p:spPr bwMode="auto">
            <a:xfrm flipV="1">
              <a:off x="1824" y="1392"/>
              <a:ext cx="672" cy="288"/>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 name="Rectangle 14">
              <a:extLst>
                <a:ext uri="{FF2B5EF4-FFF2-40B4-BE49-F238E27FC236}">
                  <a16:creationId xmlns:a16="http://schemas.microsoft.com/office/drawing/2014/main" id="{BD0EF203-C50A-3961-C6CF-E4F5C6F35C21}"/>
                </a:ext>
              </a:extLst>
            </p:cNvPr>
            <p:cNvSpPr>
              <a:spLocks noChangeArrowheads="1"/>
            </p:cNvSpPr>
            <p:nvPr/>
          </p:nvSpPr>
          <p:spPr bwMode="auto">
            <a:xfrm>
              <a:off x="335" y="1344"/>
              <a:ext cx="1489" cy="224"/>
            </a:xfrm>
            <a:prstGeom prst="rect">
              <a:avLst/>
            </a:prstGeom>
            <a:solidFill>
              <a:srgbClr val="00B050"/>
            </a:solidFill>
            <a:ln w="12700">
              <a:solidFill>
                <a:schemeClr val="tx1"/>
              </a:solidFill>
              <a:miter lim="800000"/>
              <a:headEnd/>
              <a:tailEnd/>
            </a:ln>
            <a:effectLst>
              <a:outerShdw dist="107763" dir="2700000" algn="ctr" rotWithShape="0">
                <a:srgbClr val="808080"/>
              </a:outerShdw>
            </a:effectLst>
          </p:spPr>
          <p:txBody>
            <a:bodyPr lIns="79330" tIns="38969" rIns="79330" bIns="38969">
              <a:spAutoFit/>
            </a:bodyPr>
            <a:lstStyle/>
            <a:p>
              <a:pPr>
                <a:defRPr/>
              </a:pPr>
              <a:endParaRPr lang="en-IN"/>
            </a:p>
          </p:txBody>
        </p:sp>
        <p:sp>
          <p:nvSpPr>
            <p:cNvPr id="43023" name="Rectangle 15">
              <a:extLst>
                <a:ext uri="{FF2B5EF4-FFF2-40B4-BE49-F238E27FC236}">
                  <a16:creationId xmlns:a16="http://schemas.microsoft.com/office/drawing/2014/main" id="{52E04DE5-40C4-C23C-4444-84151311CF61}"/>
                </a:ext>
              </a:extLst>
            </p:cNvPr>
            <p:cNvSpPr>
              <a:spLocks noChangeArrowheads="1"/>
            </p:cNvSpPr>
            <p:nvPr/>
          </p:nvSpPr>
          <p:spPr bwMode="auto">
            <a:xfrm>
              <a:off x="288" y="1359"/>
              <a:ext cx="1584"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79330" tIns="38969" rIns="79330" bIns="38969">
              <a:spAutoFit/>
            </a:bodyPr>
            <a:lstStyle>
              <a:lvl1pPr defTabSz="801688"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801688"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801688"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801688"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801688"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8016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8016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8016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801688"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de-CH" altLang="en-US" sz="1800" b="1">
                  <a:latin typeface="Constantia" panose="02030602050306030303" pitchFamily="18" charset="0"/>
                </a:rPr>
                <a:t>Intermolecular</a:t>
              </a:r>
            </a:p>
            <a:p>
              <a:pPr algn="ctr" eaLnBrk="1" hangingPunct="1"/>
              <a:r>
                <a:rPr lang="de-CH" altLang="en-US" sz="1800">
                  <a:latin typeface="Constantia" panose="02030602050306030303" pitchFamily="18" charset="0"/>
                </a:rPr>
                <a:t>Hydroamination</a:t>
              </a:r>
            </a:p>
          </p:txBody>
        </p:sp>
      </p:grpSp>
      <p:graphicFrame>
        <p:nvGraphicFramePr>
          <p:cNvPr id="43013" name="Object 22">
            <a:extLst>
              <a:ext uri="{FF2B5EF4-FFF2-40B4-BE49-F238E27FC236}">
                <a16:creationId xmlns:a16="http://schemas.microsoft.com/office/drawing/2014/main" id="{625C1B4E-69D1-C316-5DC9-CE6432C71906}"/>
              </a:ext>
            </a:extLst>
          </p:cNvPr>
          <p:cNvGraphicFramePr>
            <a:graphicFrameLocks noChangeAspect="1"/>
          </p:cNvGraphicFramePr>
          <p:nvPr/>
        </p:nvGraphicFramePr>
        <p:xfrm>
          <a:off x="3452813" y="3643313"/>
          <a:ext cx="4724400" cy="1143000"/>
        </p:xfrm>
        <a:graphic>
          <a:graphicData uri="http://schemas.openxmlformats.org/presentationml/2006/ole">
            <mc:AlternateContent xmlns:mc="http://schemas.openxmlformats.org/markup-compatibility/2006">
              <mc:Choice xmlns:v="urn:schemas-microsoft-com:vml" Requires="v">
                <p:oleObj name="CS ChemDraw Drawing" r:id="rId2" imgW="3873500" imgH="952500" progId="ChemDraw.Document.6.0">
                  <p:embed/>
                </p:oleObj>
              </mc:Choice>
              <mc:Fallback>
                <p:oleObj name="CS ChemDraw Drawing" r:id="rId2" imgW="3873500" imgH="952500" progId="ChemDraw.Document.6.0">
                  <p:embed/>
                  <p:pic>
                    <p:nvPicPr>
                      <p:cNvPr id="43013" name="Object 22">
                        <a:extLst>
                          <a:ext uri="{FF2B5EF4-FFF2-40B4-BE49-F238E27FC236}">
                            <a16:creationId xmlns:a16="http://schemas.microsoft.com/office/drawing/2014/main" id="{625C1B4E-69D1-C316-5DC9-CE6432C719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2813" y="3643313"/>
                        <a:ext cx="4724400" cy="1143000"/>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4D004D">
                                  <a:alpha val="74997"/>
                                </a:srgbClr>
                              </a:outerShdw>
                            </a:effectLst>
                          </a14:hiddenEffects>
                        </a:ext>
                      </a:extLst>
                    </p:spPr>
                  </p:pic>
                </p:oleObj>
              </mc:Fallback>
            </mc:AlternateContent>
          </a:graphicData>
        </a:graphic>
      </p:graphicFrame>
      <p:sp>
        <p:nvSpPr>
          <p:cNvPr id="43014" name="Rectangle 15">
            <a:extLst>
              <a:ext uri="{FF2B5EF4-FFF2-40B4-BE49-F238E27FC236}">
                <a16:creationId xmlns:a16="http://schemas.microsoft.com/office/drawing/2014/main" id="{E5E52A7C-968D-4144-5CC3-C5C36E7D85AA}"/>
              </a:ext>
            </a:extLst>
          </p:cNvPr>
          <p:cNvSpPr>
            <a:spLocks noChangeArrowheads="1"/>
          </p:cNvSpPr>
          <p:nvPr/>
        </p:nvSpPr>
        <p:spPr bwMode="auto">
          <a:xfrm>
            <a:off x="8167688" y="4530725"/>
            <a:ext cx="22503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buFont typeface="Zapf Dingbats" charset="2"/>
              <a:buNone/>
            </a:pPr>
            <a:r>
              <a:rPr lang="pt-BR" altLang="en-US" sz="1800">
                <a:latin typeface="Constantia" panose="02030602050306030303" pitchFamily="18" charset="0"/>
              </a:rPr>
              <a:t>R = R' = Alkyl or Aryl</a:t>
            </a:r>
            <a:endParaRPr lang="en-US" altLang="en-US" sz="1800">
              <a:latin typeface="Constantia" panose="02030602050306030303" pitchFamily="18" charset="0"/>
            </a:endParaRPr>
          </a:p>
        </p:txBody>
      </p:sp>
      <p:sp>
        <p:nvSpPr>
          <p:cNvPr id="43015" name="TextBox 16">
            <a:extLst>
              <a:ext uri="{FF2B5EF4-FFF2-40B4-BE49-F238E27FC236}">
                <a16:creationId xmlns:a16="http://schemas.microsoft.com/office/drawing/2014/main" id="{0B2FD4E5-0DBB-638A-EBAC-25BCEFA0A87E}"/>
              </a:ext>
            </a:extLst>
          </p:cNvPr>
          <p:cNvSpPr txBox="1">
            <a:spLocks noChangeArrowheads="1"/>
          </p:cNvSpPr>
          <p:nvPr/>
        </p:nvSpPr>
        <p:spPr bwMode="auto">
          <a:xfrm>
            <a:off x="2095500" y="3171825"/>
            <a:ext cx="42370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a:latin typeface="Constantia" panose="02030602050306030303" pitchFamily="18" charset="0"/>
              </a:rPr>
              <a:t> </a:t>
            </a:r>
            <a:r>
              <a:rPr lang="en-US" altLang="en-US" sz="2000" b="1">
                <a:solidFill>
                  <a:srgbClr val="FF0000"/>
                </a:solidFill>
                <a:latin typeface="Constantia" panose="02030602050306030303" pitchFamily="18" charset="0"/>
              </a:rPr>
              <a:t>Intramolecular Hydroamination:</a:t>
            </a:r>
          </a:p>
        </p:txBody>
      </p:sp>
      <p:sp>
        <p:nvSpPr>
          <p:cNvPr id="43016" name="TextBox 17">
            <a:extLst>
              <a:ext uri="{FF2B5EF4-FFF2-40B4-BE49-F238E27FC236}">
                <a16:creationId xmlns:a16="http://schemas.microsoft.com/office/drawing/2014/main" id="{706A3A35-B020-C978-D490-620A18BEFC05}"/>
              </a:ext>
            </a:extLst>
          </p:cNvPr>
          <p:cNvSpPr txBox="1">
            <a:spLocks noChangeArrowheads="1"/>
          </p:cNvSpPr>
          <p:nvPr/>
        </p:nvSpPr>
        <p:spPr bwMode="auto">
          <a:xfrm>
            <a:off x="2095500" y="4814888"/>
            <a:ext cx="42370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a:latin typeface="Constantia" panose="02030602050306030303" pitchFamily="18" charset="0"/>
              </a:rPr>
              <a:t> </a:t>
            </a:r>
            <a:r>
              <a:rPr lang="en-US" altLang="en-US" sz="2000" b="1">
                <a:solidFill>
                  <a:srgbClr val="FF0000"/>
                </a:solidFill>
                <a:latin typeface="Constantia" panose="02030602050306030303" pitchFamily="18" charset="0"/>
              </a:rPr>
              <a:t>Intermolecular</a:t>
            </a:r>
            <a:r>
              <a:rPr lang="en-US" altLang="en-US" sz="2000" b="1">
                <a:solidFill>
                  <a:schemeClr val="bg1"/>
                </a:solidFill>
                <a:latin typeface="Constantia" panose="02030602050306030303" pitchFamily="18" charset="0"/>
              </a:rPr>
              <a:t> </a:t>
            </a:r>
            <a:r>
              <a:rPr lang="en-US" altLang="en-US" sz="2000" b="1">
                <a:solidFill>
                  <a:srgbClr val="FF0000"/>
                </a:solidFill>
                <a:latin typeface="Constantia" panose="02030602050306030303" pitchFamily="18" charset="0"/>
              </a:rPr>
              <a:t>Hydroamination:</a:t>
            </a:r>
          </a:p>
        </p:txBody>
      </p:sp>
      <p:graphicFrame>
        <p:nvGraphicFramePr>
          <p:cNvPr id="43017" name="Object 25">
            <a:extLst>
              <a:ext uri="{FF2B5EF4-FFF2-40B4-BE49-F238E27FC236}">
                <a16:creationId xmlns:a16="http://schemas.microsoft.com/office/drawing/2014/main" id="{040A5C10-C982-4C7D-2793-45FC20EE9551}"/>
              </a:ext>
            </a:extLst>
          </p:cNvPr>
          <p:cNvGraphicFramePr>
            <a:graphicFrameLocks noChangeAspect="1"/>
          </p:cNvGraphicFramePr>
          <p:nvPr/>
        </p:nvGraphicFramePr>
        <p:xfrm>
          <a:off x="2595564" y="5429251"/>
          <a:ext cx="7253287" cy="785813"/>
        </p:xfrm>
        <a:graphic>
          <a:graphicData uri="http://schemas.openxmlformats.org/presentationml/2006/ole">
            <mc:AlternateContent xmlns:mc="http://schemas.openxmlformats.org/markup-compatibility/2006">
              <mc:Choice xmlns:v="urn:schemas-microsoft-com:vml" Requires="v">
                <p:oleObj name="CS ChemDraw Drawing" r:id="rId4" imgW="5626100" imgH="622300" progId="ChemDraw.Document.6.0">
                  <p:embed/>
                </p:oleObj>
              </mc:Choice>
              <mc:Fallback>
                <p:oleObj name="CS ChemDraw Drawing" r:id="rId4" imgW="5626100" imgH="622300" progId="ChemDraw.Document.6.0">
                  <p:embed/>
                  <p:pic>
                    <p:nvPicPr>
                      <p:cNvPr id="43017" name="Object 25">
                        <a:extLst>
                          <a:ext uri="{FF2B5EF4-FFF2-40B4-BE49-F238E27FC236}">
                            <a16:creationId xmlns:a16="http://schemas.microsoft.com/office/drawing/2014/main" id="{040A5C10-C982-4C7D-2793-45FC20EE95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5564" y="5429251"/>
                        <a:ext cx="7253287" cy="785813"/>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4D004D">
                                  <a:alpha val="74997"/>
                                </a:srgbClr>
                              </a:outerShdw>
                            </a:effectLst>
                          </a14:hiddenEffects>
                        </a:ext>
                      </a:extLst>
                    </p:spPr>
                  </p:pic>
                </p:oleObj>
              </mc:Fallback>
            </mc:AlternateContent>
          </a:graphicData>
        </a:graphic>
      </p:graphicFrame>
      <p:sp>
        <p:nvSpPr>
          <p:cNvPr id="2059" name="Title 19">
            <a:extLst>
              <a:ext uri="{FF2B5EF4-FFF2-40B4-BE49-F238E27FC236}">
                <a16:creationId xmlns:a16="http://schemas.microsoft.com/office/drawing/2014/main" id="{BABD3BA9-7281-8B29-F50A-803EE1421E6A}"/>
              </a:ext>
            </a:extLst>
          </p:cNvPr>
          <p:cNvSpPr>
            <a:spLocks noGrp="1"/>
          </p:cNvSpPr>
          <p:nvPr>
            <p:ph type="title"/>
          </p:nvPr>
        </p:nvSpPr>
        <p:spPr>
          <a:xfrm>
            <a:off x="2881314" y="71438"/>
            <a:ext cx="6732587" cy="647700"/>
          </a:xfrm>
        </p:spPr>
        <p:txBody>
          <a:bodyPr rtlCol="0">
            <a:normAutofit/>
          </a:bodyPr>
          <a:lstStyle/>
          <a:p>
            <a:pPr>
              <a:defRPr/>
            </a:pPr>
            <a:r>
              <a:rPr lang="de-CH" sz="3800" b="1">
                <a:solidFill>
                  <a:schemeClr val="bg1"/>
                </a:solidFill>
                <a:latin typeface="Times New Roman" pitchFamily="18" charset="0"/>
                <a:cs typeface="Times New Roman" pitchFamily="18" charset="0"/>
              </a:rPr>
              <a:t>Types of  Hydroamination</a:t>
            </a:r>
            <a:endParaRPr lang="en-IN" sz="3800" b="1">
              <a:solidFill>
                <a:schemeClr val="bg1"/>
              </a:solidFill>
              <a:latin typeface="Times New Roman" pitchFamily="18" charset="0"/>
              <a:cs typeface="Times New Roman" pitchFamily="18" charset="0"/>
            </a:endParaRPr>
          </a:p>
        </p:txBody>
      </p:sp>
      <p:sp>
        <p:nvSpPr>
          <p:cNvPr id="43019" name="Slide Number Placeholder 20">
            <a:extLst>
              <a:ext uri="{FF2B5EF4-FFF2-40B4-BE49-F238E27FC236}">
                <a16:creationId xmlns:a16="http://schemas.microsoft.com/office/drawing/2014/main" id="{0B77AFF1-10D5-1116-DE09-37CE3C3D379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A6140E85-8636-6C41-AE63-256EEEAC1788}" type="slidenum">
              <a:rPr lang="en-US" altLang="en-US" b="1">
                <a:solidFill>
                  <a:srgbClr val="7030A0"/>
                </a:solidFill>
                <a:latin typeface="Times New Roman" panose="02020603050405020304" pitchFamily="18" charset="0"/>
              </a:rPr>
              <a:pPr eaLnBrk="1" hangingPunct="1"/>
              <a:t>17</a:t>
            </a:fld>
            <a:endParaRPr lang="en-US" altLang="en-US" b="1">
              <a:solidFill>
                <a:srgbClr val="7030A0"/>
              </a:solidFill>
              <a:latin typeface="Times New Roman" panose="02020603050405020304" pitchFamily="18" charset="0"/>
            </a:endParaRPr>
          </a:p>
        </p:txBody>
      </p:sp>
      <p:sp>
        <p:nvSpPr>
          <p:cNvPr id="43020" name="Text Box 4">
            <a:extLst>
              <a:ext uri="{FF2B5EF4-FFF2-40B4-BE49-F238E27FC236}">
                <a16:creationId xmlns:a16="http://schemas.microsoft.com/office/drawing/2014/main" id="{D0AD3677-8C95-E41B-79CA-9400F4FF66A6}"/>
              </a:ext>
            </a:extLst>
          </p:cNvPr>
          <p:cNvSpPr>
            <a:spLocks noGrp="1" noChangeArrowheads="1"/>
          </p:cNvSpPr>
          <p:nvPr>
            <p:ph idx="1"/>
          </p:nvPr>
        </p:nvSpPr>
        <p:spPr>
          <a:xfrm>
            <a:off x="1981200" y="152400"/>
            <a:ext cx="8686800" cy="960328"/>
          </a:xfrm>
        </p:spPr>
        <p:txBody>
          <a:bodyPr>
            <a:spAutoFit/>
          </a:bodyPr>
          <a:lstStyle/>
          <a:p>
            <a:pPr algn="just">
              <a:lnSpc>
                <a:spcPct val="150000"/>
              </a:lnSpc>
              <a:buFont typeface="Wingdings 2" pitchFamily="2" charset="2"/>
              <a:buNone/>
            </a:pPr>
            <a:r>
              <a:rPr lang="en-GB" altLang="en-US" sz="2000" b="1" i="1" u="sng" dirty="0">
                <a:solidFill>
                  <a:srgbClr val="FF0000"/>
                </a:solidFill>
                <a:latin typeface="Times New Roman" panose="02020603050405020304" pitchFamily="18" charset="0"/>
                <a:ea typeface="ＭＳ Ｐゴシック" panose="020B0600070205080204" pitchFamily="34" charset="-128"/>
              </a:rPr>
              <a:t>Definition:</a:t>
            </a:r>
            <a:r>
              <a:rPr lang="en-GB" altLang="en-US" sz="2000" dirty="0">
                <a:solidFill>
                  <a:srgbClr val="FF0000"/>
                </a:solidFill>
                <a:latin typeface="Times New Roman" panose="02020603050405020304" pitchFamily="18" charset="0"/>
                <a:ea typeface="ＭＳ Ｐゴシック" panose="020B0600070205080204" pitchFamily="34" charset="-128"/>
              </a:rPr>
              <a:t> </a:t>
            </a:r>
            <a:r>
              <a:rPr lang="en-GB" altLang="en-US" sz="2000" dirty="0">
                <a:latin typeface="Times New Roman" panose="02020603050405020304" pitchFamily="18" charset="0"/>
                <a:ea typeface="ＭＳ Ｐゴシック" panose="020B0600070205080204" pitchFamily="34" charset="-128"/>
              </a:rPr>
              <a:t>Hydroamination is the formal addition of an N-H bond to C-C multiple bonds.</a:t>
            </a:r>
            <a:endParaRPr lang="en-GB" altLang="en-US" sz="2000" i="1" u="sng" dirty="0">
              <a:latin typeface="Times New Roman" panose="02020603050405020304" pitchFamily="18" charset="0"/>
              <a:ea typeface="ＭＳ Ｐゴシック" panose="020B0600070205080204" pitchFamily="34"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a:extLst>
              <a:ext uri="{FF2B5EF4-FFF2-40B4-BE49-F238E27FC236}">
                <a16:creationId xmlns:a16="http://schemas.microsoft.com/office/drawing/2014/main" id="{2719478A-8D02-8A29-E519-DCFAC49D0E89}"/>
              </a:ext>
            </a:extLst>
          </p:cNvPr>
          <p:cNvSpPr>
            <a:spLocks noGrp="1" noChangeArrowheads="1"/>
          </p:cNvSpPr>
          <p:nvPr>
            <p:ph type="title"/>
          </p:nvPr>
        </p:nvSpPr>
        <p:spPr>
          <a:xfrm>
            <a:off x="1095375" y="428625"/>
            <a:ext cx="9144000" cy="420688"/>
          </a:xfrm>
        </p:spPr>
        <p:txBody>
          <a:bodyPr rtlCol="0">
            <a:normAutofit fontScale="90000"/>
          </a:bodyPr>
          <a:lstStyle/>
          <a:p>
            <a:pPr>
              <a:defRPr/>
            </a:pPr>
            <a:r>
              <a:rPr lang="de-CH" dirty="0">
                <a:solidFill>
                  <a:schemeClr val="bg1"/>
                </a:solidFill>
                <a:ea typeface="+mj-ea"/>
              </a:rPr>
              <a:t>  </a:t>
            </a:r>
            <a:r>
              <a:rPr lang="de-CH" i="1" dirty="0">
                <a:solidFill>
                  <a:schemeClr val="bg1"/>
                </a:solidFill>
                <a:ea typeface="+mj-ea"/>
              </a:rPr>
              <a:t> </a:t>
            </a:r>
            <a:r>
              <a:rPr lang="de-CH" b="1" dirty="0">
                <a:solidFill>
                  <a:schemeClr val="bg1"/>
                </a:solidFill>
                <a:latin typeface="Times New Roman" pitchFamily="18" charset="0"/>
                <a:ea typeface="+mj-ea"/>
                <a:cs typeface="Times New Roman" pitchFamily="18" charset="0"/>
              </a:rPr>
              <a:t>Advantages</a:t>
            </a:r>
          </a:p>
        </p:txBody>
      </p:sp>
      <p:sp>
        <p:nvSpPr>
          <p:cNvPr id="44034" name="TextBox 15">
            <a:extLst>
              <a:ext uri="{FF2B5EF4-FFF2-40B4-BE49-F238E27FC236}">
                <a16:creationId xmlns:a16="http://schemas.microsoft.com/office/drawing/2014/main" id="{5E5870C0-5440-1A9E-A5D0-B8E949E84799}"/>
              </a:ext>
            </a:extLst>
          </p:cNvPr>
          <p:cNvSpPr txBox="1">
            <a:spLocks noChangeArrowheads="1"/>
          </p:cNvSpPr>
          <p:nvPr/>
        </p:nvSpPr>
        <p:spPr bwMode="auto">
          <a:xfrm>
            <a:off x="1809750" y="1643064"/>
            <a:ext cx="8858250" cy="415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buFont typeface="Wingdings" pitchFamily="2" charset="2"/>
              <a:buChar char="§"/>
            </a:pPr>
            <a:r>
              <a:rPr lang="en-US" altLang="en-US">
                <a:latin typeface="Times New Roman" panose="02020603050405020304" pitchFamily="18" charset="0"/>
              </a:rPr>
              <a:t>  Most efficient route to amines, imines, enamines.</a:t>
            </a:r>
          </a:p>
          <a:p>
            <a:pPr eaLnBrk="1" hangingPunct="1">
              <a:buFont typeface="Zapf Dingbats" charset="2"/>
              <a:buNone/>
            </a:pPr>
            <a:endParaRPr lang="en-US" altLang="en-US">
              <a:latin typeface="Times New Roman" panose="02020603050405020304" pitchFamily="18" charset="0"/>
            </a:endParaRPr>
          </a:p>
          <a:p>
            <a:pPr eaLnBrk="1" hangingPunct="1">
              <a:buFont typeface="Wingdings" pitchFamily="2" charset="2"/>
              <a:buChar char="§"/>
            </a:pPr>
            <a:r>
              <a:rPr lang="en-US" altLang="en-US">
                <a:latin typeface="Times New Roman" panose="02020603050405020304" pitchFamily="18" charset="0"/>
              </a:rPr>
              <a:t>   No by product - </a:t>
            </a:r>
            <a:r>
              <a:rPr lang="en-US" altLang="en-US">
                <a:latin typeface="Constantia" panose="02030602050306030303" pitchFamily="18" charset="0"/>
              </a:rPr>
              <a:t>100%</a:t>
            </a:r>
            <a:r>
              <a:rPr lang="en-US" altLang="en-US">
                <a:latin typeface="Times New Roman" panose="02020603050405020304" pitchFamily="18" charset="0"/>
              </a:rPr>
              <a:t> atom economy.</a:t>
            </a:r>
          </a:p>
          <a:p>
            <a:pPr eaLnBrk="1" hangingPunct="1">
              <a:buFont typeface="Arial" panose="020B0604020202020204" pitchFamily="34" charset="0"/>
              <a:buChar char="•"/>
            </a:pPr>
            <a:endParaRPr lang="en-US" altLang="en-US">
              <a:latin typeface="Times New Roman" panose="02020603050405020304" pitchFamily="18" charset="0"/>
            </a:endParaRPr>
          </a:p>
          <a:p>
            <a:pPr eaLnBrk="1" hangingPunct="1">
              <a:buFont typeface="Wingdings" pitchFamily="2" charset="2"/>
              <a:buChar char="§"/>
            </a:pPr>
            <a:r>
              <a:rPr lang="en-US" altLang="en-US">
                <a:latin typeface="Times New Roman" panose="02020603050405020304" pitchFamily="18" charset="0"/>
              </a:rPr>
              <a:t>  C-N bond formation is of fundamental interest in organic chemistry.   </a:t>
            </a:r>
          </a:p>
          <a:p>
            <a:pPr eaLnBrk="1" hangingPunct="1">
              <a:buFont typeface="Zapf Dingbats" charset="2"/>
              <a:buNone/>
            </a:pPr>
            <a:endParaRPr lang="en-US" altLang="en-US">
              <a:latin typeface="Times New Roman" panose="02020603050405020304" pitchFamily="18" charset="0"/>
            </a:endParaRPr>
          </a:p>
          <a:p>
            <a:pPr eaLnBrk="1" hangingPunct="1">
              <a:buFont typeface="Wingdings" pitchFamily="2" charset="2"/>
              <a:buChar char="§"/>
            </a:pPr>
            <a:r>
              <a:rPr lang="en-US" altLang="en-US">
                <a:latin typeface="Times New Roman" panose="02020603050405020304" pitchFamily="18" charset="0"/>
              </a:rPr>
              <a:t>   Examples of nitrogen-containing compounds can be  found in   </a:t>
            </a:r>
          </a:p>
          <a:p>
            <a:pPr eaLnBrk="1" hangingPunct="1">
              <a:buFont typeface="Zapf Dingbats" charset="2"/>
              <a:buNone/>
            </a:pPr>
            <a:r>
              <a:rPr lang="en-US" altLang="en-US">
                <a:latin typeface="Times New Roman" panose="02020603050405020304" pitchFamily="18" charset="0"/>
              </a:rPr>
              <a:t>     </a:t>
            </a:r>
          </a:p>
          <a:p>
            <a:pPr eaLnBrk="1" hangingPunct="1">
              <a:buFont typeface="Zapf Dingbats" charset="2"/>
              <a:buNone/>
            </a:pPr>
            <a:r>
              <a:rPr lang="en-US" altLang="en-US">
                <a:latin typeface="Times New Roman" panose="02020603050405020304" pitchFamily="18" charset="0"/>
              </a:rPr>
              <a:t>     Pharmaceutical, Agricultural, and Industrial fields.</a:t>
            </a:r>
          </a:p>
          <a:p>
            <a:pPr eaLnBrk="1" hangingPunct="1">
              <a:buFont typeface="Arial" panose="020B0604020202020204" pitchFamily="34" charset="0"/>
              <a:buChar char="•"/>
            </a:pPr>
            <a:endParaRPr lang="en-US" altLang="en-US">
              <a:latin typeface="Times New Roman" panose="02020603050405020304" pitchFamily="18" charset="0"/>
            </a:endParaRPr>
          </a:p>
          <a:p>
            <a:pPr eaLnBrk="1" hangingPunct="1"/>
            <a:endParaRPr lang="en-US" altLang="en-US">
              <a:latin typeface="Constantia" panose="02030602050306030303" pitchFamily="18" charset="0"/>
            </a:endParaRPr>
          </a:p>
        </p:txBody>
      </p:sp>
      <p:sp>
        <p:nvSpPr>
          <p:cNvPr id="44035" name="TextBox 5">
            <a:extLst>
              <a:ext uri="{FF2B5EF4-FFF2-40B4-BE49-F238E27FC236}">
                <a16:creationId xmlns:a16="http://schemas.microsoft.com/office/drawing/2014/main" id="{23607B4A-FF4C-C45E-F195-DF8C2B41E326}"/>
              </a:ext>
            </a:extLst>
          </p:cNvPr>
          <p:cNvSpPr txBox="1">
            <a:spLocks noChangeArrowheads="1"/>
          </p:cNvSpPr>
          <p:nvPr/>
        </p:nvSpPr>
        <p:spPr bwMode="auto">
          <a:xfrm>
            <a:off x="2066926" y="5857876"/>
            <a:ext cx="86010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200">
                <a:solidFill>
                  <a:srgbClr val="FF0000"/>
                </a:solidFill>
                <a:latin typeface="Constantia" panose="02030602050306030303" pitchFamily="18" charset="0"/>
              </a:rPr>
              <a:t>Ricci; A</a:t>
            </a:r>
            <a:r>
              <a:rPr lang="en-US" altLang="en-US" sz="2200" i="1">
                <a:solidFill>
                  <a:srgbClr val="FF0000"/>
                </a:solidFill>
                <a:latin typeface="Constantia" panose="02030602050306030303" pitchFamily="18" charset="0"/>
              </a:rPr>
              <a:t>.</a:t>
            </a:r>
            <a:r>
              <a:rPr lang="en-US" altLang="en-US" sz="2200" b="1" i="1">
                <a:solidFill>
                  <a:srgbClr val="FF0000"/>
                </a:solidFill>
                <a:latin typeface="Constantia" panose="02030602050306030303" pitchFamily="18" charset="0"/>
              </a:rPr>
              <a:t> </a:t>
            </a:r>
            <a:r>
              <a:rPr lang="en-US" altLang="en-US" sz="2200" i="1">
                <a:solidFill>
                  <a:srgbClr val="FF0000"/>
                </a:solidFill>
                <a:latin typeface="Constantia" panose="02030602050306030303" pitchFamily="18" charset="0"/>
              </a:rPr>
              <a:t>Modern Amminition Methods. Wiley VCH, Weinheim</a:t>
            </a:r>
            <a:r>
              <a:rPr lang="en-US" altLang="en-US" sz="2200" b="1" i="1">
                <a:solidFill>
                  <a:srgbClr val="FF0000"/>
                </a:solidFill>
                <a:latin typeface="Constantia" panose="02030602050306030303" pitchFamily="18" charset="0"/>
              </a:rPr>
              <a:t>, </a:t>
            </a:r>
            <a:r>
              <a:rPr lang="en-US" altLang="en-US" sz="2200" b="1">
                <a:solidFill>
                  <a:srgbClr val="FF0000"/>
                </a:solidFill>
                <a:latin typeface="Constantia" panose="02030602050306030303" pitchFamily="18" charset="0"/>
              </a:rPr>
              <a:t>2000</a:t>
            </a:r>
            <a:r>
              <a:rPr lang="en-US" altLang="en-US" sz="2200" b="1" i="1">
                <a:solidFill>
                  <a:srgbClr val="FF0000"/>
                </a:solidFill>
                <a:latin typeface="Constantia" panose="02030602050306030303" pitchFamily="18" charset="0"/>
              </a:rPr>
              <a:t> </a:t>
            </a:r>
            <a:endParaRPr lang="en-US" altLang="en-US" sz="2200">
              <a:solidFill>
                <a:srgbClr val="FF0000"/>
              </a:solidFill>
              <a:latin typeface="Constantia" panose="02030602050306030303" pitchFamily="18" charset="0"/>
            </a:endParaRPr>
          </a:p>
          <a:p>
            <a:pPr eaLnBrk="1" hangingPunct="1"/>
            <a:endParaRPr lang="en-US" altLang="en-US" sz="1800">
              <a:latin typeface="Constantia" panose="02030602050306030303" pitchFamily="18" charset="0"/>
            </a:endParaRPr>
          </a:p>
        </p:txBody>
      </p:sp>
      <p:sp>
        <p:nvSpPr>
          <p:cNvPr id="44036" name="Slide Number Placeholder 20">
            <a:extLst>
              <a:ext uri="{FF2B5EF4-FFF2-40B4-BE49-F238E27FC236}">
                <a16:creationId xmlns:a16="http://schemas.microsoft.com/office/drawing/2014/main" id="{5095F036-5DFB-A24E-682D-EC1C194CE8B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04AA4505-F2DE-044B-9733-981B51997A51}" type="slidenum">
              <a:rPr lang="en-US" altLang="en-US" b="1">
                <a:solidFill>
                  <a:srgbClr val="7030A0"/>
                </a:solidFill>
                <a:latin typeface="Times New Roman" panose="02020603050405020304" pitchFamily="18" charset="0"/>
              </a:rPr>
              <a:pPr eaLnBrk="1" hangingPunct="1"/>
              <a:t>18</a:t>
            </a:fld>
            <a:endParaRPr lang="en-US" altLang="en-US" b="1">
              <a:solidFill>
                <a:srgbClr val="7030A0"/>
              </a:solidFill>
              <a:latin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D6325C3B-46ED-9C55-3235-5DA3DCA9B918}"/>
              </a:ext>
            </a:extLst>
          </p:cNvPr>
          <p:cNvSpPr>
            <a:spLocks noGrp="1" noChangeArrowheads="1"/>
          </p:cNvSpPr>
          <p:nvPr>
            <p:ph type="title"/>
          </p:nvPr>
        </p:nvSpPr>
        <p:spPr>
          <a:xfrm>
            <a:off x="1909763" y="1"/>
            <a:ext cx="8686800" cy="804863"/>
          </a:xfrm>
        </p:spPr>
        <p:txBody>
          <a:bodyPr/>
          <a:lstStyle/>
          <a:p>
            <a:r>
              <a:rPr lang="en-GB" altLang="en-US" sz="4000" b="1">
                <a:solidFill>
                  <a:schemeClr val="bg1"/>
                </a:solidFill>
                <a:latin typeface="Times New Roman" panose="02020603050405020304" pitchFamily="18" charset="0"/>
                <a:ea typeface="ＭＳ Ｐゴシック" panose="020B0600070205080204" pitchFamily="34" charset="-128"/>
              </a:rPr>
              <a:t>Application</a:t>
            </a:r>
          </a:p>
        </p:txBody>
      </p:sp>
      <p:sp>
        <p:nvSpPr>
          <p:cNvPr id="45058" name="TextBox 20">
            <a:extLst>
              <a:ext uri="{FF2B5EF4-FFF2-40B4-BE49-F238E27FC236}">
                <a16:creationId xmlns:a16="http://schemas.microsoft.com/office/drawing/2014/main" id="{C8134518-3169-D466-24B9-874D35D4100F}"/>
              </a:ext>
            </a:extLst>
          </p:cNvPr>
          <p:cNvSpPr txBox="1">
            <a:spLocks noChangeArrowheads="1"/>
          </p:cNvSpPr>
          <p:nvPr/>
        </p:nvSpPr>
        <p:spPr bwMode="auto">
          <a:xfrm>
            <a:off x="3309938" y="5929314"/>
            <a:ext cx="79295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buFont typeface="Zapf Dingbats" charset="2"/>
              <a:buNone/>
            </a:pPr>
            <a:r>
              <a:rPr lang="en-US" altLang="en-US" sz="1800" i="1">
                <a:solidFill>
                  <a:schemeClr val="bg1"/>
                </a:solidFill>
                <a:latin typeface="Constantia" panose="02030602050306030303" pitchFamily="18" charset="0"/>
              </a:rPr>
              <a:t> </a:t>
            </a:r>
          </a:p>
        </p:txBody>
      </p:sp>
      <p:sp>
        <p:nvSpPr>
          <p:cNvPr id="45059" name="Rectangle 2">
            <a:extLst>
              <a:ext uri="{FF2B5EF4-FFF2-40B4-BE49-F238E27FC236}">
                <a16:creationId xmlns:a16="http://schemas.microsoft.com/office/drawing/2014/main" id="{1393FB3C-1CBE-B033-ABEE-653463696C22}"/>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onstantia" panose="02030602050306030303" pitchFamily="18" charset="0"/>
            </a:endParaRPr>
          </a:p>
        </p:txBody>
      </p:sp>
      <p:sp>
        <p:nvSpPr>
          <p:cNvPr id="45060" name="TextBox 6">
            <a:extLst>
              <a:ext uri="{FF2B5EF4-FFF2-40B4-BE49-F238E27FC236}">
                <a16:creationId xmlns:a16="http://schemas.microsoft.com/office/drawing/2014/main" id="{2B396720-04E6-477E-908C-18DC925D1606}"/>
              </a:ext>
            </a:extLst>
          </p:cNvPr>
          <p:cNvSpPr txBox="1">
            <a:spLocks noChangeArrowheads="1"/>
          </p:cNvSpPr>
          <p:nvPr/>
        </p:nvSpPr>
        <p:spPr bwMode="auto">
          <a:xfrm>
            <a:off x="1809750" y="4572000"/>
            <a:ext cx="8489950"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just" eaLnBrk="1" hangingPunct="1">
              <a:lnSpc>
                <a:spcPct val="150000"/>
              </a:lnSpc>
              <a:buFont typeface="Wingdings" pitchFamily="2" charset="2"/>
              <a:buChar char="§"/>
            </a:pPr>
            <a:r>
              <a:rPr lang="en-GB" altLang="en-US" sz="1800">
                <a:latin typeface="Constantia" panose="02030602050306030303" pitchFamily="18" charset="0"/>
              </a:rPr>
              <a:t> </a:t>
            </a:r>
            <a:r>
              <a:rPr lang="en-GB" altLang="en-US" sz="2000">
                <a:latin typeface="Times New Roman" panose="02020603050405020304" pitchFamily="18" charset="0"/>
              </a:rPr>
              <a:t>Hydroamination was used in the first and second step as a key synthetic tool to </a:t>
            </a:r>
          </a:p>
          <a:p>
            <a:pPr algn="just" eaLnBrk="1" hangingPunct="1">
              <a:lnSpc>
                <a:spcPct val="150000"/>
              </a:lnSpc>
            </a:pPr>
            <a:r>
              <a:rPr lang="en-GB" altLang="en-US" sz="2000">
                <a:latin typeface="Times New Roman" panose="02020603050405020304" pitchFamily="18" charset="0"/>
              </a:rPr>
              <a:t>synthesize the molecule in less number of steps.</a:t>
            </a:r>
            <a:endParaRPr lang="en-US" altLang="en-US" sz="2000">
              <a:latin typeface="Times New Roman" panose="02020603050405020304" pitchFamily="18" charset="0"/>
            </a:endParaRPr>
          </a:p>
        </p:txBody>
      </p:sp>
      <p:sp>
        <p:nvSpPr>
          <p:cNvPr id="45061" name="TextBox 20">
            <a:extLst>
              <a:ext uri="{FF2B5EF4-FFF2-40B4-BE49-F238E27FC236}">
                <a16:creationId xmlns:a16="http://schemas.microsoft.com/office/drawing/2014/main" id="{5AC6EB23-7E9F-8D56-0FEA-7C179F3CD0C2}"/>
              </a:ext>
            </a:extLst>
          </p:cNvPr>
          <p:cNvSpPr txBox="1">
            <a:spLocks noChangeArrowheads="1"/>
          </p:cNvSpPr>
          <p:nvPr/>
        </p:nvSpPr>
        <p:spPr bwMode="auto">
          <a:xfrm>
            <a:off x="2309814" y="5786439"/>
            <a:ext cx="814387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150000"/>
              </a:lnSpc>
              <a:buFont typeface="Zapf Dingbats" charset="2"/>
              <a:buNone/>
            </a:pPr>
            <a:r>
              <a:rPr lang="en-US" altLang="en-US" sz="1800" i="1">
                <a:solidFill>
                  <a:schemeClr val="bg1"/>
                </a:solidFill>
                <a:latin typeface="Constantia" panose="02030602050306030303" pitchFamily="18" charset="0"/>
              </a:rPr>
              <a:t> </a:t>
            </a:r>
            <a:r>
              <a:rPr lang="en-US" altLang="en-US" sz="2000">
                <a:solidFill>
                  <a:srgbClr val="FF0000"/>
                </a:solidFill>
                <a:latin typeface="Constantia" panose="02030602050306030303" pitchFamily="18" charset="0"/>
              </a:rPr>
              <a:t>Marks, T. J.  and co-workers  </a:t>
            </a:r>
            <a:r>
              <a:rPr lang="en-US" altLang="en-US" sz="2000" i="1">
                <a:solidFill>
                  <a:srgbClr val="FF0000"/>
                </a:solidFill>
                <a:latin typeface="Constantia" panose="02030602050306030303" pitchFamily="18" charset="0"/>
              </a:rPr>
              <a:t>J. Am. Chem. Soc. </a:t>
            </a:r>
            <a:r>
              <a:rPr lang="en-US" altLang="en-US" sz="2000" b="1">
                <a:solidFill>
                  <a:srgbClr val="FF0000"/>
                </a:solidFill>
                <a:latin typeface="Constantia" panose="02030602050306030303" pitchFamily="18" charset="0"/>
              </a:rPr>
              <a:t>1999</a:t>
            </a:r>
            <a:r>
              <a:rPr lang="en-US" altLang="en-US" sz="2000">
                <a:solidFill>
                  <a:srgbClr val="FF0000"/>
                </a:solidFill>
                <a:latin typeface="Constantia" panose="02030602050306030303" pitchFamily="18" charset="0"/>
              </a:rPr>
              <a:t>, </a:t>
            </a:r>
            <a:r>
              <a:rPr lang="en-US" altLang="en-US" sz="2000" i="1">
                <a:solidFill>
                  <a:srgbClr val="FF0000"/>
                </a:solidFill>
                <a:latin typeface="Constantia" panose="02030602050306030303" pitchFamily="18" charset="0"/>
              </a:rPr>
              <a:t>121</a:t>
            </a:r>
            <a:r>
              <a:rPr lang="en-US" altLang="en-US" sz="2000">
                <a:solidFill>
                  <a:srgbClr val="FF0000"/>
                </a:solidFill>
                <a:latin typeface="Constantia" panose="02030602050306030303" pitchFamily="18" charset="0"/>
              </a:rPr>
              <a:t>, 3633-3639</a:t>
            </a:r>
          </a:p>
          <a:p>
            <a:pPr eaLnBrk="1" hangingPunct="1">
              <a:lnSpc>
                <a:spcPct val="150000"/>
              </a:lnSpc>
            </a:pPr>
            <a:r>
              <a:rPr lang="en-US" altLang="en-US" sz="2000">
                <a:solidFill>
                  <a:srgbClr val="FF0000"/>
                </a:solidFill>
                <a:latin typeface="Constantia" panose="02030602050306030303" pitchFamily="18" charset="0"/>
              </a:rPr>
              <a:t> Livinghouse, T. and co-workers  </a:t>
            </a:r>
            <a:r>
              <a:rPr lang="en-US" altLang="en-US" sz="2000" i="1">
                <a:solidFill>
                  <a:srgbClr val="FF0000"/>
                </a:solidFill>
                <a:latin typeface="Constantia" panose="02030602050306030303" pitchFamily="18" charset="0"/>
              </a:rPr>
              <a:t>Org. Lett.</a:t>
            </a:r>
            <a:r>
              <a:rPr lang="en-US" altLang="en-US" sz="2000" b="1" i="1">
                <a:solidFill>
                  <a:srgbClr val="FF0000"/>
                </a:solidFill>
                <a:latin typeface="Constantia" panose="02030602050306030303" pitchFamily="18" charset="0"/>
              </a:rPr>
              <a:t> </a:t>
            </a:r>
            <a:r>
              <a:rPr lang="en-US" altLang="en-US" sz="2000" b="1">
                <a:solidFill>
                  <a:srgbClr val="FF0000"/>
                </a:solidFill>
                <a:latin typeface="Constantia" panose="02030602050306030303" pitchFamily="18" charset="0"/>
              </a:rPr>
              <a:t>2010</a:t>
            </a:r>
            <a:r>
              <a:rPr lang="en-US" altLang="en-US" sz="2000">
                <a:solidFill>
                  <a:srgbClr val="FF0000"/>
                </a:solidFill>
                <a:latin typeface="Constantia" panose="02030602050306030303" pitchFamily="18" charset="0"/>
              </a:rPr>
              <a:t>, </a:t>
            </a:r>
            <a:r>
              <a:rPr lang="en-US" altLang="en-US" sz="2000" i="1">
                <a:solidFill>
                  <a:srgbClr val="FF0000"/>
                </a:solidFill>
                <a:latin typeface="Constantia" panose="02030602050306030303" pitchFamily="18" charset="0"/>
              </a:rPr>
              <a:t>12</a:t>
            </a:r>
            <a:r>
              <a:rPr lang="en-US" altLang="en-US" sz="2000">
                <a:solidFill>
                  <a:srgbClr val="FF0000"/>
                </a:solidFill>
                <a:latin typeface="Constantia" panose="02030602050306030303" pitchFamily="18" charset="0"/>
              </a:rPr>
              <a:t>, 4271−4273</a:t>
            </a:r>
          </a:p>
          <a:p>
            <a:pPr eaLnBrk="1" hangingPunct="1">
              <a:buFont typeface="Zapf Dingbats" charset="2"/>
              <a:buNone/>
            </a:pPr>
            <a:endParaRPr lang="en-US" altLang="en-US" sz="2000">
              <a:solidFill>
                <a:srgbClr val="FF0000"/>
              </a:solidFill>
              <a:latin typeface="Constantia" panose="02030602050306030303" pitchFamily="18" charset="0"/>
            </a:endParaRPr>
          </a:p>
        </p:txBody>
      </p:sp>
      <p:graphicFrame>
        <p:nvGraphicFramePr>
          <p:cNvPr id="45062" name="Object 2">
            <a:extLst>
              <a:ext uri="{FF2B5EF4-FFF2-40B4-BE49-F238E27FC236}">
                <a16:creationId xmlns:a16="http://schemas.microsoft.com/office/drawing/2014/main" id="{ABBC121A-8241-C9AE-0E82-42B9D8FD109D}"/>
              </a:ext>
            </a:extLst>
          </p:cNvPr>
          <p:cNvGraphicFramePr>
            <a:graphicFrameLocks noChangeAspect="1"/>
          </p:cNvGraphicFramePr>
          <p:nvPr/>
        </p:nvGraphicFramePr>
        <p:xfrm>
          <a:off x="1704975" y="1285876"/>
          <a:ext cx="8820150" cy="3179763"/>
        </p:xfrm>
        <a:graphic>
          <a:graphicData uri="http://schemas.openxmlformats.org/presentationml/2006/ole">
            <mc:AlternateContent xmlns:mc="http://schemas.openxmlformats.org/markup-compatibility/2006">
              <mc:Choice xmlns:v="urn:schemas-microsoft-com:vml" Requires="v">
                <p:oleObj name="CS ChemDraw Drawing" r:id="rId2" imgW="10058400" imgH="3594100" progId="ChemDraw.Document.6.0">
                  <p:embed/>
                </p:oleObj>
              </mc:Choice>
              <mc:Fallback>
                <p:oleObj name="CS ChemDraw Drawing" r:id="rId2" imgW="10058400" imgH="3594100" progId="ChemDraw.Document.6.0">
                  <p:embed/>
                  <p:pic>
                    <p:nvPicPr>
                      <p:cNvPr id="45062" name="Object 2">
                        <a:extLst>
                          <a:ext uri="{FF2B5EF4-FFF2-40B4-BE49-F238E27FC236}">
                            <a16:creationId xmlns:a16="http://schemas.microsoft.com/office/drawing/2014/main" id="{ABBC121A-8241-C9AE-0E82-42B9D8FD10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4975" y="1285876"/>
                        <a:ext cx="8820150" cy="317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5063" name="Slide Number Placeholder 20">
            <a:extLst>
              <a:ext uri="{FF2B5EF4-FFF2-40B4-BE49-F238E27FC236}">
                <a16:creationId xmlns:a16="http://schemas.microsoft.com/office/drawing/2014/main" id="{3CBED09B-3734-7C81-5432-A17F5922811F}"/>
              </a:ext>
            </a:extLst>
          </p:cNvPr>
          <p:cNvSpPr>
            <a:spLocks noGrp="1"/>
          </p:cNvSpPr>
          <p:nvPr>
            <p:ph type="sldNum" sz="quarter" idx="12"/>
          </p:nvPr>
        </p:nvSpPr>
        <p:spPr bwMode="auto">
          <a:xfrm>
            <a:off x="9691688" y="6356351"/>
            <a:ext cx="7620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883EE340-BCD0-8E4F-A55D-9BC3B9A634B7}" type="slidenum">
              <a:rPr lang="en-US" altLang="en-US" b="1">
                <a:solidFill>
                  <a:srgbClr val="7030A0"/>
                </a:solidFill>
                <a:latin typeface="Times New Roman" panose="02020603050405020304" pitchFamily="18" charset="0"/>
              </a:rPr>
              <a:pPr eaLnBrk="1" hangingPunct="1"/>
              <a:t>19</a:t>
            </a:fld>
            <a:endParaRPr lang="en-US" altLang="en-US" b="1">
              <a:solidFill>
                <a:srgbClr val="7030A0"/>
              </a:solidFill>
              <a:latin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A1EBCA0D-19B8-26C9-3A4E-AFC8D9140F7E}"/>
              </a:ext>
            </a:extLst>
          </p:cNvPr>
          <p:cNvSpPr>
            <a:spLocks noGrp="1" noChangeArrowheads="1"/>
          </p:cNvSpPr>
          <p:nvPr>
            <p:ph type="title"/>
          </p:nvPr>
        </p:nvSpPr>
        <p:spPr>
          <a:xfrm>
            <a:off x="1909763" y="1"/>
            <a:ext cx="8686800" cy="804863"/>
          </a:xfrm>
        </p:spPr>
        <p:txBody>
          <a:bodyPr/>
          <a:lstStyle/>
          <a:p>
            <a:r>
              <a:rPr lang="en-GB" altLang="en-US" sz="4000" b="1">
                <a:solidFill>
                  <a:schemeClr val="bg1"/>
                </a:solidFill>
                <a:latin typeface="Times New Roman" panose="02020603050405020304" pitchFamily="18" charset="0"/>
                <a:ea typeface="ＭＳ Ｐゴシック" panose="020B0600070205080204" pitchFamily="34" charset="-128"/>
              </a:rPr>
              <a:t>Application</a:t>
            </a:r>
          </a:p>
        </p:txBody>
      </p:sp>
      <p:sp>
        <p:nvSpPr>
          <p:cNvPr id="46082" name="TextBox 20">
            <a:extLst>
              <a:ext uri="{FF2B5EF4-FFF2-40B4-BE49-F238E27FC236}">
                <a16:creationId xmlns:a16="http://schemas.microsoft.com/office/drawing/2014/main" id="{78811190-4B3A-6984-4754-DBC1F6E0CC87}"/>
              </a:ext>
            </a:extLst>
          </p:cNvPr>
          <p:cNvSpPr txBox="1">
            <a:spLocks noChangeArrowheads="1"/>
          </p:cNvSpPr>
          <p:nvPr/>
        </p:nvSpPr>
        <p:spPr bwMode="auto">
          <a:xfrm>
            <a:off x="2309814" y="3214688"/>
            <a:ext cx="8143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buFont typeface="Zapf Dingbats" charset="2"/>
              <a:buNone/>
            </a:pPr>
            <a:r>
              <a:rPr lang="en-US" altLang="en-US" sz="1800" i="1">
                <a:solidFill>
                  <a:schemeClr val="bg1"/>
                </a:solidFill>
                <a:latin typeface="Constantia" panose="02030602050306030303" pitchFamily="18" charset="0"/>
              </a:rPr>
              <a:t> </a:t>
            </a:r>
            <a:r>
              <a:rPr lang="en-US" altLang="en-US" sz="2000">
                <a:solidFill>
                  <a:srgbClr val="FF0000"/>
                </a:solidFill>
                <a:latin typeface="Constantia" panose="02030602050306030303" pitchFamily="18" charset="0"/>
              </a:rPr>
              <a:t>Livinghouse, T. and co-workers  </a:t>
            </a:r>
            <a:r>
              <a:rPr lang="en-US" altLang="en-US" sz="2000" i="1">
                <a:solidFill>
                  <a:srgbClr val="FF0000"/>
                </a:solidFill>
                <a:latin typeface="Constantia" panose="02030602050306030303" pitchFamily="18" charset="0"/>
              </a:rPr>
              <a:t>J. Am. Chem. Soc. </a:t>
            </a:r>
            <a:r>
              <a:rPr lang="en-US" altLang="en-US" sz="2000" b="1">
                <a:solidFill>
                  <a:srgbClr val="FF0000"/>
                </a:solidFill>
                <a:latin typeface="Constantia" panose="02030602050306030303" pitchFamily="18" charset="0"/>
              </a:rPr>
              <a:t>1993</a:t>
            </a:r>
            <a:r>
              <a:rPr lang="en-US" altLang="en-US" sz="2000">
                <a:solidFill>
                  <a:srgbClr val="FF0000"/>
                </a:solidFill>
                <a:latin typeface="Constantia" panose="02030602050306030303" pitchFamily="18" charset="0"/>
              </a:rPr>
              <a:t>, </a:t>
            </a:r>
            <a:r>
              <a:rPr lang="en-US" altLang="en-US" sz="2000" i="1">
                <a:solidFill>
                  <a:srgbClr val="FF0000"/>
                </a:solidFill>
                <a:latin typeface="Constantia" panose="02030602050306030303" pitchFamily="18" charset="0"/>
              </a:rPr>
              <a:t>115</a:t>
            </a:r>
            <a:r>
              <a:rPr lang="en-US" altLang="en-US" sz="2000">
                <a:solidFill>
                  <a:srgbClr val="FF0000"/>
                </a:solidFill>
                <a:latin typeface="Constantia" panose="02030602050306030303" pitchFamily="18" charset="0"/>
              </a:rPr>
              <a:t>, 11485−11589</a:t>
            </a:r>
          </a:p>
        </p:txBody>
      </p:sp>
      <p:sp>
        <p:nvSpPr>
          <p:cNvPr id="46083" name="TextBox 20">
            <a:extLst>
              <a:ext uri="{FF2B5EF4-FFF2-40B4-BE49-F238E27FC236}">
                <a16:creationId xmlns:a16="http://schemas.microsoft.com/office/drawing/2014/main" id="{5DE80280-47BB-E5E4-869F-CE0DE9A4337C}"/>
              </a:ext>
            </a:extLst>
          </p:cNvPr>
          <p:cNvSpPr txBox="1">
            <a:spLocks noChangeArrowheads="1"/>
          </p:cNvSpPr>
          <p:nvPr/>
        </p:nvSpPr>
        <p:spPr bwMode="auto">
          <a:xfrm>
            <a:off x="2452689" y="6000750"/>
            <a:ext cx="8143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buFont typeface="Zapf Dingbats" charset="2"/>
              <a:buNone/>
            </a:pPr>
            <a:r>
              <a:rPr lang="en-US" altLang="en-US" sz="1800" i="1">
                <a:solidFill>
                  <a:schemeClr val="bg1"/>
                </a:solidFill>
                <a:latin typeface="Constantia" panose="02030602050306030303" pitchFamily="18" charset="0"/>
              </a:rPr>
              <a:t> </a:t>
            </a:r>
            <a:r>
              <a:rPr lang="en-US" altLang="en-US" sz="2000">
                <a:solidFill>
                  <a:srgbClr val="FF0000"/>
                </a:solidFill>
                <a:latin typeface="Constantia" panose="02030602050306030303" pitchFamily="18" charset="0"/>
              </a:rPr>
              <a:t>Livinghouse, T. and co-workers  </a:t>
            </a:r>
            <a:r>
              <a:rPr lang="en-US" altLang="en-US" sz="2000" i="1">
                <a:solidFill>
                  <a:srgbClr val="FF0000"/>
                </a:solidFill>
                <a:latin typeface="Constantia" panose="02030602050306030303" pitchFamily="18" charset="0"/>
              </a:rPr>
              <a:t>J. Org. Chem. </a:t>
            </a:r>
            <a:r>
              <a:rPr lang="en-US" altLang="en-US" sz="2000" b="1">
                <a:solidFill>
                  <a:srgbClr val="FF0000"/>
                </a:solidFill>
                <a:latin typeface="Constantia" panose="02030602050306030303" pitchFamily="18" charset="0"/>
              </a:rPr>
              <a:t>1992</a:t>
            </a:r>
            <a:r>
              <a:rPr lang="en-US" altLang="en-US" sz="2000">
                <a:solidFill>
                  <a:srgbClr val="FF0000"/>
                </a:solidFill>
                <a:latin typeface="Constantia" panose="02030602050306030303" pitchFamily="18" charset="0"/>
              </a:rPr>
              <a:t>, </a:t>
            </a:r>
            <a:r>
              <a:rPr lang="en-US" altLang="en-US" sz="2000" i="1">
                <a:solidFill>
                  <a:srgbClr val="FF0000"/>
                </a:solidFill>
                <a:latin typeface="Constantia" panose="02030602050306030303" pitchFamily="18" charset="0"/>
              </a:rPr>
              <a:t>57</a:t>
            </a:r>
            <a:r>
              <a:rPr lang="en-US" altLang="en-US" sz="2000">
                <a:solidFill>
                  <a:srgbClr val="FF0000"/>
                </a:solidFill>
                <a:latin typeface="Constantia" panose="02030602050306030303" pitchFamily="18" charset="0"/>
              </a:rPr>
              <a:t>, 1323-1324</a:t>
            </a:r>
          </a:p>
        </p:txBody>
      </p:sp>
      <p:graphicFrame>
        <p:nvGraphicFramePr>
          <p:cNvPr id="46084" name="Object 6">
            <a:extLst>
              <a:ext uri="{FF2B5EF4-FFF2-40B4-BE49-F238E27FC236}">
                <a16:creationId xmlns:a16="http://schemas.microsoft.com/office/drawing/2014/main" id="{7E34A587-282E-BDC6-61CF-622508A018B5}"/>
              </a:ext>
            </a:extLst>
          </p:cNvPr>
          <p:cNvGraphicFramePr>
            <a:graphicFrameLocks noChangeAspect="1"/>
          </p:cNvGraphicFramePr>
          <p:nvPr/>
        </p:nvGraphicFramePr>
        <p:xfrm>
          <a:off x="1925638" y="1073150"/>
          <a:ext cx="8450262" cy="1938338"/>
        </p:xfrm>
        <a:graphic>
          <a:graphicData uri="http://schemas.openxmlformats.org/presentationml/2006/ole">
            <mc:AlternateContent xmlns:mc="http://schemas.openxmlformats.org/markup-compatibility/2006">
              <mc:Choice xmlns:v="urn:schemas-microsoft-com:vml" Requires="v">
                <p:oleObj name="CS ChemDraw Drawing" r:id="rId3" imgW="7708900" imgH="1752600" progId="ChemDraw.Document.6.0">
                  <p:embed/>
                </p:oleObj>
              </mc:Choice>
              <mc:Fallback>
                <p:oleObj name="CS ChemDraw Drawing" r:id="rId3" imgW="7708900" imgH="1752600" progId="ChemDraw.Document.6.0">
                  <p:embed/>
                  <p:pic>
                    <p:nvPicPr>
                      <p:cNvPr id="46084" name="Object 6">
                        <a:extLst>
                          <a:ext uri="{FF2B5EF4-FFF2-40B4-BE49-F238E27FC236}">
                            <a16:creationId xmlns:a16="http://schemas.microsoft.com/office/drawing/2014/main" id="{7E34A587-282E-BDC6-61CF-622508A018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5638" y="1073150"/>
                        <a:ext cx="8450262"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6085" name="Object 7">
            <a:extLst>
              <a:ext uri="{FF2B5EF4-FFF2-40B4-BE49-F238E27FC236}">
                <a16:creationId xmlns:a16="http://schemas.microsoft.com/office/drawing/2014/main" id="{738C9126-75C2-0B43-4490-BAAE2F0E0CBF}"/>
              </a:ext>
            </a:extLst>
          </p:cNvPr>
          <p:cNvGraphicFramePr>
            <a:graphicFrameLocks noChangeAspect="1"/>
          </p:cNvGraphicFramePr>
          <p:nvPr/>
        </p:nvGraphicFramePr>
        <p:xfrm>
          <a:off x="1738313" y="4143376"/>
          <a:ext cx="8755062" cy="1643063"/>
        </p:xfrm>
        <a:graphic>
          <a:graphicData uri="http://schemas.openxmlformats.org/presentationml/2006/ole">
            <mc:AlternateContent xmlns:mc="http://schemas.openxmlformats.org/markup-compatibility/2006">
              <mc:Choice xmlns:v="urn:schemas-microsoft-com:vml" Requires="v">
                <p:oleObj name="CS ChemDraw Drawing" r:id="rId5" imgW="8813800" imgH="1663700" progId="ChemDraw.Document.6.0">
                  <p:embed/>
                </p:oleObj>
              </mc:Choice>
              <mc:Fallback>
                <p:oleObj name="CS ChemDraw Drawing" r:id="rId5" imgW="8813800" imgH="1663700" progId="ChemDraw.Document.6.0">
                  <p:embed/>
                  <p:pic>
                    <p:nvPicPr>
                      <p:cNvPr id="46085" name="Object 7">
                        <a:extLst>
                          <a:ext uri="{FF2B5EF4-FFF2-40B4-BE49-F238E27FC236}">
                            <a16:creationId xmlns:a16="http://schemas.microsoft.com/office/drawing/2014/main" id="{738C9126-75C2-0B43-4490-BAAE2F0E0CB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38313" y="4143376"/>
                        <a:ext cx="8755062" cy="164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6086" name="Slide Number Placeholder 20">
            <a:extLst>
              <a:ext uri="{FF2B5EF4-FFF2-40B4-BE49-F238E27FC236}">
                <a16:creationId xmlns:a16="http://schemas.microsoft.com/office/drawing/2014/main" id="{51B5A675-C9F9-8172-A9E3-9305CECEF294}"/>
              </a:ext>
            </a:extLst>
          </p:cNvPr>
          <p:cNvSpPr>
            <a:spLocks noGrp="1"/>
          </p:cNvSpPr>
          <p:nvPr>
            <p:ph type="sldNum" sz="quarter" idx="12"/>
          </p:nvPr>
        </p:nvSpPr>
        <p:spPr bwMode="auto">
          <a:xfrm>
            <a:off x="9691688" y="6356351"/>
            <a:ext cx="7620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FF3550CE-A669-A64A-933A-F17F2F02CA68}" type="slidenum">
              <a:rPr lang="en-US" altLang="en-US" b="1">
                <a:solidFill>
                  <a:srgbClr val="7030A0"/>
                </a:solidFill>
                <a:latin typeface="Times New Roman" panose="02020603050405020304" pitchFamily="18" charset="0"/>
              </a:rPr>
              <a:pPr eaLnBrk="1" hangingPunct="1"/>
              <a:t>20</a:t>
            </a:fld>
            <a:endParaRPr lang="en-US" altLang="en-US" b="1">
              <a:solidFill>
                <a:srgbClr val="7030A0"/>
              </a:solidFill>
              <a:latin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86B525E-6A49-FC9B-9DCF-AA89B3AF460B}"/>
              </a:ext>
            </a:extLst>
          </p:cNvPr>
          <p:cNvSpPr txBox="1">
            <a:spLocks noChangeArrowheads="1"/>
          </p:cNvSpPr>
          <p:nvPr/>
        </p:nvSpPr>
        <p:spPr>
          <a:xfrm>
            <a:off x="1766888" y="71438"/>
            <a:ext cx="8686800" cy="919162"/>
          </a:xfrm>
          <a:prstGeom prst="rect">
            <a:avLst/>
          </a:prstGeom>
        </p:spPr>
        <p:txBody>
          <a:bodyPr/>
          <a:lstStyle/>
          <a:p>
            <a:pPr algn="ctr">
              <a:defRPr/>
            </a:pPr>
            <a:r>
              <a:rPr lang="en-GB" sz="4000" b="1" dirty="0">
                <a:solidFill>
                  <a:schemeClr val="bg1"/>
                </a:solidFill>
                <a:latin typeface="Times New Roman" pitchFamily="18" charset="0"/>
                <a:ea typeface="+mj-ea"/>
                <a:cs typeface="Times New Roman" pitchFamily="18" charset="0"/>
              </a:rPr>
              <a:t>Group 4 Metal Based Catalysts</a:t>
            </a:r>
          </a:p>
        </p:txBody>
      </p:sp>
      <p:sp>
        <p:nvSpPr>
          <p:cNvPr id="50178" name="TextBox 153">
            <a:extLst>
              <a:ext uri="{FF2B5EF4-FFF2-40B4-BE49-F238E27FC236}">
                <a16:creationId xmlns:a16="http://schemas.microsoft.com/office/drawing/2014/main" id="{29F8C3C7-4A52-9600-DBA7-76E6F6DA5FB8}"/>
              </a:ext>
            </a:extLst>
          </p:cNvPr>
          <p:cNvSpPr txBox="1">
            <a:spLocks noChangeArrowheads="1"/>
          </p:cNvSpPr>
          <p:nvPr/>
        </p:nvSpPr>
        <p:spPr bwMode="auto">
          <a:xfrm>
            <a:off x="1738314" y="2984500"/>
            <a:ext cx="32861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buFont typeface="Zapf Dingbats" charset="2"/>
              <a:buNone/>
            </a:pPr>
            <a:r>
              <a:rPr lang="en-US" altLang="en-US" sz="2000" dirty="0">
                <a:solidFill>
                  <a:srgbClr val="FF0000"/>
                </a:solidFill>
                <a:latin typeface="Constantia" panose="02030602050306030303" pitchFamily="18" charset="0"/>
              </a:rPr>
              <a:t> Schafer and co-workers </a:t>
            </a:r>
          </a:p>
          <a:p>
            <a:pPr algn="ctr" eaLnBrk="1" hangingPunct="1">
              <a:buFont typeface="Zapf Dingbats" charset="2"/>
              <a:buNone/>
            </a:pPr>
            <a:r>
              <a:rPr lang="en-US" altLang="en-US" sz="2000" i="1" dirty="0" err="1">
                <a:solidFill>
                  <a:srgbClr val="FF0000"/>
                </a:solidFill>
                <a:latin typeface="Constantia" panose="02030602050306030303" pitchFamily="18" charset="0"/>
              </a:rPr>
              <a:t>Angew</a:t>
            </a:r>
            <a:r>
              <a:rPr lang="en-US" altLang="en-US" sz="2000" i="1" dirty="0">
                <a:solidFill>
                  <a:srgbClr val="FF0000"/>
                </a:solidFill>
                <a:latin typeface="Constantia" panose="02030602050306030303" pitchFamily="18" charset="0"/>
              </a:rPr>
              <a:t>. Chem. Int. Ed.</a:t>
            </a:r>
            <a:r>
              <a:rPr lang="en-US" altLang="en-US" sz="2000" dirty="0">
                <a:solidFill>
                  <a:srgbClr val="FF0000"/>
                </a:solidFill>
                <a:latin typeface="Constantia" panose="02030602050306030303" pitchFamily="18" charset="0"/>
              </a:rPr>
              <a:t> </a:t>
            </a:r>
            <a:r>
              <a:rPr lang="en-US" altLang="en-US" sz="2000" b="1" dirty="0">
                <a:solidFill>
                  <a:srgbClr val="FF0000"/>
                </a:solidFill>
                <a:latin typeface="Constantia" panose="02030602050306030303" pitchFamily="18" charset="0"/>
              </a:rPr>
              <a:t>2007</a:t>
            </a:r>
            <a:r>
              <a:rPr lang="en-US" altLang="en-US" sz="2000" dirty="0">
                <a:solidFill>
                  <a:srgbClr val="FF0000"/>
                </a:solidFill>
                <a:latin typeface="Constantia" panose="02030602050306030303" pitchFamily="18" charset="0"/>
              </a:rPr>
              <a:t>, </a:t>
            </a:r>
          </a:p>
          <a:p>
            <a:pPr algn="ctr" eaLnBrk="1" hangingPunct="1">
              <a:buFont typeface="Zapf Dingbats" charset="2"/>
              <a:buNone/>
            </a:pPr>
            <a:r>
              <a:rPr lang="en-US" altLang="en-US" sz="2000" i="1" dirty="0">
                <a:solidFill>
                  <a:srgbClr val="FF0000"/>
                </a:solidFill>
                <a:latin typeface="Constantia" panose="02030602050306030303" pitchFamily="18" charset="0"/>
              </a:rPr>
              <a:t>46, </a:t>
            </a:r>
            <a:r>
              <a:rPr lang="en-US" altLang="en-US" sz="2000" dirty="0">
                <a:solidFill>
                  <a:srgbClr val="FF0000"/>
                </a:solidFill>
                <a:latin typeface="Constantia" panose="02030602050306030303" pitchFamily="18" charset="0"/>
              </a:rPr>
              <a:t>354-358</a:t>
            </a:r>
          </a:p>
        </p:txBody>
      </p:sp>
      <p:grpSp>
        <p:nvGrpSpPr>
          <p:cNvPr id="50179" name="Group 9">
            <a:extLst>
              <a:ext uri="{FF2B5EF4-FFF2-40B4-BE49-F238E27FC236}">
                <a16:creationId xmlns:a16="http://schemas.microsoft.com/office/drawing/2014/main" id="{1AFE726F-93A6-9B48-0C02-55CEC1FDBC3C}"/>
              </a:ext>
            </a:extLst>
          </p:cNvPr>
          <p:cNvGrpSpPr>
            <a:grpSpLocks/>
          </p:cNvGrpSpPr>
          <p:nvPr/>
        </p:nvGrpSpPr>
        <p:grpSpPr bwMode="auto">
          <a:xfrm>
            <a:off x="2166938" y="1125538"/>
            <a:ext cx="8286750" cy="4506912"/>
            <a:chOff x="642910" y="1124775"/>
            <a:chExt cx="8286778" cy="4507849"/>
          </a:xfrm>
        </p:grpSpPr>
        <p:pic>
          <p:nvPicPr>
            <p:cNvPr id="3" name="Picture 297">
              <a:extLst>
                <a:ext uri="{FF2B5EF4-FFF2-40B4-BE49-F238E27FC236}">
                  <a16:creationId xmlns:a16="http://schemas.microsoft.com/office/drawing/2014/main" id="{E9068834-DB55-01D7-0381-B8E909AC1821}"/>
                </a:ext>
              </a:extLst>
            </p:cNvPr>
            <p:cNvPicPr>
              <a:picLocks noChangeAspect="1" noChangeArrowheads="1"/>
            </p:cNvPicPr>
            <p:nvPr/>
          </p:nvPicPr>
          <p:blipFill>
            <a:blip r:embed="rId2" cstate="print">
              <a:duotone>
                <a:prstClr val="black"/>
                <a:srgbClr val="FFC000">
                  <a:tint val="45000"/>
                  <a:satMod val="400000"/>
                </a:srgbClr>
              </a:duotone>
            </a:blip>
            <a:srcRect/>
            <a:stretch>
              <a:fillRect/>
            </a:stretch>
          </p:blipFill>
          <p:spPr bwMode="auto">
            <a:xfrm>
              <a:off x="6286512" y="1124775"/>
              <a:ext cx="1857388" cy="1875597"/>
            </a:xfrm>
            <a:prstGeom prst="rect">
              <a:avLst/>
            </a:prstGeom>
            <a:noFill/>
            <a:ln w="63500" cap="flat" cmpd="sng" algn="ctr">
              <a:noFill/>
              <a:prstDash val="solid"/>
              <a:miter lim="800000"/>
              <a:headEnd type="none" w="med" len="med"/>
              <a:tailEnd type="none" w="med" len="med"/>
            </a:ln>
            <a:effectLst/>
          </p:spPr>
        </p:pic>
        <p:sp>
          <p:nvSpPr>
            <p:cNvPr id="50184" name="TextBox 153">
              <a:extLst>
                <a:ext uri="{FF2B5EF4-FFF2-40B4-BE49-F238E27FC236}">
                  <a16:creationId xmlns:a16="http://schemas.microsoft.com/office/drawing/2014/main" id="{F48540E3-2919-CFAB-9C13-279F48FA6554}"/>
                </a:ext>
              </a:extLst>
            </p:cNvPr>
            <p:cNvSpPr txBox="1">
              <a:spLocks noChangeArrowheads="1"/>
            </p:cNvSpPr>
            <p:nvPr/>
          </p:nvSpPr>
          <p:spPr bwMode="auto">
            <a:xfrm>
              <a:off x="5429250" y="3056279"/>
              <a:ext cx="350043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buFont typeface="Zapf Dingbats" charset="2"/>
                <a:buNone/>
              </a:pPr>
              <a:r>
                <a:rPr lang="en-US" altLang="en-US" sz="2000">
                  <a:solidFill>
                    <a:srgbClr val="FF0000"/>
                  </a:solidFill>
                  <a:latin typeface="Constantia" panose="02030602050306030303" pitchFamily="18" charset="0"/>
                </a:rPr>
                <a:t>  Schafer and co-workers </a:t>
              </a:r>
            </a:p>
            <a:p>
              <a:pPr algn="ctr" eaLnBrk="1" hangingPunct="1">
                <a:buFont typeface="Zapf Dingbats" charset="2"/>
                <a:buNone/>
              </a:pPr>
              <a:r>
                <a:rPr lang="en-US" altLang="en-US" sz="2000" i="1">
                  <a:solidFill>
                    <a:srgbClr val="FF0000"/>
                  </a:solidFill>
                  <a:latin typeface="Constantia" panose="02030602050306030303" pitchFamily="18" charset="0"/>
                </a:rPr>
                <a:t>Angew. Chem. Int. Ed.</a:t>
              </a:r>
              <a:r>
                <a:rPr lang="en-US" altLang="en-US" sz="2000">
                  <a:solidFill>
                    <a:srgbClr val="FF0000"/>
                  </a:solidFill>
                  <a:latin typeface="Constantia" panose="02030602050306030303" pitchFamily="18" charset="0"/>
                </a:rPr>
                <a:t> </a:t>
              </a:r>
              <a:r>
                <a:rPr lang="en-US" altLang="en-US" sz="2000" b="1">
                  <a:solidFill>
                    <a:srgbClr val="FF0000"/>
                  </a:solidFill>
                  <a:latin typeface="Constantia" panose="02030602050306030303" pitchFamily="18" charset="0"/>
                </a:rPr>
                <a:t>2010</a:t>
              </a:r>
              <a:r>
                <a:rPr lang="en-US" altLang="en-US" sz="2000">
                  <a:solidFill>
                    <a:srgbClr val="FF0000"/>
                  </a:solidFill>
                  <a:latin typeface="Constantia" panose="02030602050306030303" pitchFamily="18" charset="0"/>
                </a:rPr>
                <a:t>, </a:t>
              </a:r>
            </a:p>
            <a:p>
              <a:pPr algn="ctr" eaLnBrk="1" hangingPunct="1">
                <a:buFont typeface="Zapf Dingbats" charset="2"/>
                <a:buNone/>
              </a:pPr>
              <a:r>
                <a:rPr lang="en-US" altLang="en-US" sz="2000" i="1">
                  <a:solidFill>
                    <a:srgbClr val="FF0000"/>
                  </a:solidFill>
                  <a:latin typeface="Constantia" panose="02030602050306030303" pitchFamily="18" charset="0"/>
                </a:rPr>
                <a:t>49, </a:t>
              </a:r>
              <a:r>
                <a:rPr lang="en-US" altLang="en-US" sz="2000">
                  <a:solidFill>
                    <a:srgbClr val="FF0000"/>
                  </a:solidFill>
                  <a:latin typeface="Constantia" panose="02030602050306030303" pitchFamily="18" charset="0"/>
                </a:rPr>
                <a:t>6382-6386</a:t>
              </a:r>
            </a:p>
          </p:txBody>
        </p:sp>
        <p:pic>
          <p:nvPicPr>
            <p:cNvPr id="5" name="Picture 9">
              <a:extLst>
                <a:ext uri="{FF2B5EF4-FFF2-40B4-BE49-F238E27FC236}">
                  <a16:creationId xmlns:a16="http://schemas.microsoft.com/office/drawing/2014/main" id="{170FF71C-4B03-11C2-1B84-937D900377E1}"/>
                </a:ext>
              </a:extLst>
            </p:cNvPr>
            <p:cNvPicPr>
              <a:picLocks noChangeAspect="1" noChangeArrowheads="1"/>
            </p:cNvPicPr>
            <p:nvPr/>
          </p:nvPicPr>
          <p:blipFill>
            <a:blip r:embed="rId3" cstate="print">
              <a:duotone>
                <a:prstClr val="black"/>
                <a:srgbClr val="FFC000">
                  <a:tint val="45000"/>
                  <a:satMod val="400000"/>
                </a:srgbClr>
              </a:duotone>
            </a:blip>
            <a:srcRect/>
            <a:stretch>
              <a:fillRect/>
            </a:stretch>
          </p:blipFill>
          <p:spPr bwMode="auto">
            <a:xfrm>
              <a:off x="642910" y="1142984"/>
              <a:ext cx="2517049" cy="1714512"/>
            </a:xfrm>
            <a:prstGeom prst="rect">
              <a:avLst/>
            </a:prstGeom>
            <a:noFill/>
            <a:ln w="12700" cap="flat" cmpd="sng">
              <a:noFill/>
              <a:prstDash val="solid"/>
              <a:miter lim="800000"/>
              <a:headEnd/>
              <a:tailEnd/>
            </a:ln>
          </p:spPr>
        </p:pic>
        <p:pic>
          <p:nvPicPr>
            <p:cNvPr id="7" name="Picture 10">
              <a:extLst>
                <a:ext uri="{FF2B5EF4-FFF2-40B4-BE49-F238E27FC236}">
                  <a16:creationId xmlns:a16="http://schemas.microsoft.com/office/drawing/2014/main" id="{9F74255D-CB6A-B55C-9722-3F7EBD6CF9CF}"/>
                </a:ext>
              </a:extLst>
            </p:cNvPr>
            <p:cNvPicPr>
              <a:picLocks noChangeAspect="1" noChangeArrowheads="1"/>
            </p:cNvPicPr>
            <p:nvPr/>
          </p:nvPicPr>
          <p:blipFill>
            <a:blip r:embed="rId4" cstate="print">
              <a:duotone>
                <a:prstClr val="black"/>
                <a:srgbClr val="FFC000">
                  <a:tint val="45000"/>
                  <a:satMod val="400000"/>
                </a:srgbClr>
              </a:duotone>
            </a:blip>
            <a:srcRect/>
            <a:stretch>
              <a:fillRect/>
            </a:stretch>
          </p:blipFill>
          <p:spPr bwMode="auto">
            <a:xfrm>
              <a:off x="3143240" y="4071942"/>
              <a:ext cx="2071702" cy="1560682"/>
            </a:xfrm>
            <a:prstGeom prst="rect">
              <a:avLst/>
            </a:prstGeom>
            <a:noFill/>
            <a:ln w="12700" cap="flat" cmpd="sng">
              <a:noFill/>
              <a:prstDash val="solid"/>
              <a:miter lim="800000"/>
              <a:headEnd/>
              <a:tailEnd/>
            </a:ln>
          </p:spPr>
        </p:pic>
      </p:grpSp>
      <p:sp>
        <p:nvSpPr>
          <p:cNvPr id="50180" name="TextBox 153">
            <a:extLst>
              <a:ext uri="{FF2B5EF4-FFF2-40B4-BE49-F238E27FC236}">
                <a16:creationId xmlns:a16="http://schemas.microsoft.com/office/drawing/2014/main" id="{8DA8EDC8-07BE-AA20-2C6E-3078C8C9C8F7}"/>
              </a:ext>
            </a:extLst>
          </p:cNvPr>
          <p:cNvSpPr txBox="1">
            <a:spLocks noChangeArrowheads="1"/>
          </p:cNvSpPr>
          <p:nvPr/>
        </p:nvSpPr>
        <p:spPr bwMode="auto">
          <a:xfrm>
            <a:off x="3309939" y="5792789"/>
            <a:ext cx="50006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buFont typeface="Zapf Dingbats" charset="2"/>
              <a:buNone/>
            </a:pPr>
            <a:r>
              <a:rPr lang="en-US" altLang="en-US" sz="2000">
                <a:solidFill>
                  <a:srgbClr val="FF0000"/>
                </a:solidFill>
                <a:latin typeface="Constantia" panose="02030602050306030303" pitchFamily="18" charset="0"/>
              </a:rPr>
              <a:t> Hultzsch and co-workers </a:t>
            </a:r>
          </a:p>
          <a:p>
            <a:pPr algn="ctr" eaLnBrk="1" hangingPunct="1">
              <a:buFont typeface="Zapf Dingbats" charset="2"/>
              <a:buNone/>
            </a:pPr>
            <a:r>
              <a:rPr lang="en-US" altLang="en-US" sz="2000" i="1">
                <a:solidFill>
                  <a:srgbClr val="FF0000"/>
                </a:solidFill>
                <a:latin typeface="Constantia" panose="02030602050306030303" pitchFamily="18" charset="0"/>
              </a:rPr>
              <a:t>Angew. Chem. Int. Ed.</a:t>
            </a:r>
            <a:r>
              <a:rPr lang="en-US" altLang="en-US" sz="2000">
                <a:solidFill>
                  <a:srgbClr val="FF0000"/>
                </a:solidFill>
                <a:latin typeface="Constantia" panose="02030602050306030303" pitchFamily="18" charset="0"/>
              </a:rPr>
              <a:t> </a:t>
            </a:r>
            <a:r>
              <a:rPr lang="en-US" altLang="en-US" sz="2000" b="1">
                <a:solidFill>
                  <a:srgbClr val="FF0000"/>
                </a:solidFill>
                <a:latin typeface="Constantia" panose="02030602050306030303" pitchFamily="18" charset="0"/>
              </a:rPr>
              <a:t>2004</a:t>
            </a:r>
            <a:r>
              <a:rPr lang="en-US" altLang="en-US" sz="2000">
                <a:solidFill>
                  <a:srgbClr val="FF0000"/>
                </a:solidFill>
                <a:latin typeface="Constantia" panose="02030602050306030303" pitchFamily="18" charset="0"/>
              </a:rPr>
              <a:t>, </a:t>
            </a:r>
            <a:r>
              <a:rPr lang="en-US" altLang="en-US" sz="2000" i="1">
                <a:solidFill>
                  <a:srgbClr val="FF0000"/>
                </a:solidFill>
                <a:latin typeface="Constantia" panose="02030602050306030303" pitchFamily="18" charset="0"/>
              </a:rPr>
              <a:t>43, </a:t>
            </a:r>
            <a:r>
              <a:rPr lang="en-US" altLang="en-US" sz="2000">
                <a:solidFill>
                  <a:srgbClr val="FF0000"/>
                </a:solidFill>
                <a:latin typeface="Constantia" panose="02030602050306030303" pitchFamily="18" charset="0"/>
              </a:rPr>
              <a:t>5542-5546</a:t>
            </a:r>
          </a:p>
        </p:txBody>
      </p:sp>
      <p:sp>
        <p:nvSpPr>
          <p:cNvPr id="50181" name="TextBox 8">
            <a:extLst>
              <a:ext uri="{FF2B5EF4-FFF2-40B4-BE49-F238E27FC236}">
                <a16:creationId xmlns:a16="http://schemas.microsoft.com/office/drawing/2014/main" id="{E0C50423-7833-8BE2-D05D-906EA6887153}"/>
              </a:ext>
            </a:extLst>
          </p:cNvPr>
          <p:cNvSpPr txBox="1">
            <a:spLocks noChangeArrowheads="1"/>
          </p:cNvSpPr>
          <p:nvPr/>
        </p:nvSpPr>
        <p:spPr bwMode="auto">
          <a:xfrm>
            <a:off x="6810376" y="5143500"/>
            <a:ext cx="79919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buFont typeface="Zapf Dingbats" charset="2"/>
              <a:buNone/>
            </a:pPr>
            <a:r>
              <a:rPr lang="en-US" altLang="en-US" sz="1600" b="1">
                <a:latin typeface="Constantia" panose="02030602050306030303" pitchFamily="18" charset="0"/>
              </a:rPr>
              <a:t>M = Zr</a:t>
            </a:r>
          </a:p>
        </p:txBody>
      </p:sp>
      <p:sp>
        <p:nvSpPr>
          <p:cNvPr id="50182" name="Slide Number Placeholder 20">
            <a:extLst>
              <a:ext uri="{FF2B5EF4-FFF2-40B4-BE49-F238E27FC236}">
                <a16:creationId xmlns:a16="http://schemas.microsoft.com/office/drawing/2014/main" id="{1012EDAA-2616-84CA-6D11-2507BE8997F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89411F76-A29D-584B-AECD-C1AF37AA9C8A}" type="slidenum">
              <a:rPr lang="en-US" altLang="en-US" b="1">
                <a:solidFill>
                  <a:srgbClr val="7030A0"/>
                </a:solidFill>
                <a:latin typeface="Times New Roman" panose="02020603050405020304" pitchFamily="18" charset="0"/>
              </a:rPr>
              <a:pPr eaLnBrk="1" hangingPunct="1"/>
              <a:t>21</a:t>
            </a:fld>
            <a:endParaRPr lang="en-US" altLang="en-US" b="1">
              <a:solidFill>
                <a:srgbClr val="7030A0"/>
              </a:solidFill>
              <a:latin typeface="Times New Roman" panose="02020603050405020304" pitchFamily="18" charset="0"/>
            </a:endParaRPr>
          </a:p>
        </p:txBody>
      </p:sp>
      <p:sp>
        <p:nvSpPr>
          <p:cNvPr id="4" name="TextBox 153">
            <a:extLst>
              <a:ext uri="{FF2B5EF4-FFF2-40B4-BE49-F238E27FC236}">
                <a16:creationId xmlns:a16="http://schemas.microsoft.com/office/drawing/2014/main" id="{59EC9223-85BB-AF32-D772-110AE7F41E1F}"/>
              </a:ext>
            </a:extLst>
          </p:cNvPr>
          <p:cNvSpPr txBox="1">
            <a:spLocks noChangeArrowheads="1"/>
          </p:cNvSpPr>
          <p:nvPr/>
        </p:nvSpPr>
        <p:spPr bwMode="auto">
          <a:xfrm>
            <a:off x="4323444" y="134939"/>
            <a:ext cx="32861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buFont typeface="Zapf Dingbats" charset="2"/>
              <a:buNone/>
            </a:pPr>
            <a:r>
              <a:rPr lang="en-US" altLang="en-US" sz="2000" dirty="0">
                <a:solidFill>
                  <a:srgbClr val="FF0000"/>
                </a:solidFill>
                <a:latin typeface="Constantia" panose="02030602050306030303" pitchFamily="18" charset="0"/>
              </a:rPr>
              <a:t>Secondary </a:t>
            </a:r>
            <a:r>
              <a:rPr lang="en-US" altLang="en-US" sz="2000" dirty="0" err="1">
                <a:solidFill>
                  <a:srgbClr val="FF0000"/>
                </a:solidFill>
                <a:latin typeface="Constantia" panose="02030602050306030303" pitchFamily="18" charset="0"/>
              </a:rPr>
              <a:t>aminoalkene</a:t>
            </a:r>
            <a:endParaRPr lang="en-US" altLang="en-US" sz="2000" dirty="0">
              <a:solidFill>
                <a:srgbClr val="FF0000"/>
              </a:solidFill>
              <a:latin typeface="Constantia" panose="02030602050306030303"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F62EB7D6-A594-4574-ECF6-1A7C0EA58148}"/>
              </a:ext>
            </a:extLst>
          </p:cNvPr>
          <p:cNvSpPr txBox="1">
            <a:spLocks noChangeArrowheads="1"/>
          </p:cNvSpPr>
          <p:nvPr/>
        </p:nvSpPr>
        <p:spPr>
          <a:xfrm>
            <a:off x="1752600" y="152400"/>
            <a:ext cx="8686800" cy="704850"/>
          </a:xfrm>
          <a:prstGeom prst="rect">
            <a:avLst/>
          </a:prstGeom>
        </p:spPr>
        <p:txBody>
          <a:bodyPr/>
          <a:lstStyle/>
          <a:p>
            <a:pPr algn="ctr">
              <a:defRPr/>
            </a:pPr>
            <a:r>
              <a:rPr lang="en-GB" sz="4000" b="1" dirty="0">
                <a:solidFill>
                  <a:schemeClr val="bg1"/>
                </a:solidFill>
                <a:latin typeface="Times New Roman" pitchFamily="18" charset="0"/>
                <a:ea typeface="+mj-ea"/>
                <a:cs typeface="Times New Roman" pitchFamily="18" charset="0"/>
              </a:rPr>
              <a:t>Green Catalyst</a:t>
            </a:r>
          </a:p>
        </p:txBody>
      </p:sp>
      <p:pic>
        <p:nvPicPr>
          <p:cNvPr id="5" name="Picture 301">
            <a:extLst>
              <a:ext uri="{FF2B5EF4-FFF2-40B4-BE49-F238E27FC236}">
                <a16:creationId xmlns:a16="http://schemas.microsoft.com/office/drawing/2014/main" id="{D92B6B43-04AB-64A0-2ECF-037530351523}"/>
              </a:ext>
            </a:extLst>
          </p:cNvPr>
          <p:cNvPicPr>
            <a:picLocks noChangeAspect="1" noChangeArrowheads="1"/>
          </p:cNvPicPr>
          <p:nvPr/>
        </p:nvPicPr>
        <p:blipFill>
          <a:blip r:embed="rId2" cstate="print">
            <a:duotone>
              <a:prstClr val="black"/>
              <a:srgbClr val="48FF1E">
                <a:tint val="45000"/>
                <a:satMod val="400000"/>
              </a:srgbClr>
            </a:duotone>
          </a:blip>
          <a:srcRect/>
          <a:stretch>
            <a:fillRect/>
          </a:stretch>
        </p:blipFill>
        <p:spPr bwMode="auto">
          <a:xfrm>
            <a:off x="2024034" y="928671"/>
            <a:ext cx="2000264" cy="2020571"/>
          </a:xfrm>
          <a:prstGeom prst="rect">
            <a:avLst/>
          </a:prstGeom>
          <a:noFill/>
          <a:ln w="63500" cap="flat" cmpd="sng" algn="ctr">
            <a:noFill/>
            <a:prstDash val="solid"/>
            <a:miter lim="800000"/>
            <a:headEnd type="none" w="med" len="med"/>
            <a:tailEnd type="none" w="med" len="med"/>
          </a:ln>
          <a:effectLst/>
        </p:spPr>
      </p:pic>
      <p:sp>
        <p:nvSpPr>
          <p:cNvPr id="51203" name="TextBox 160">
            <a:extLst>
              <a:ext uri="{FF2B5EF4-FFF2-40B4-BE49-F238E27FC236}">
                <a16:creationId xmlns:a16="http://schemas.microsoft.com/office/drawing/2014/main" id="{00C3C441-8E2C-DFB5-6E9D-A974FD02EF58}"/>
              </a:ext>
            </a:extLst>
          </p:cNvPr>
          <p:cNvSpPr txBox="1">
            <a:spLocks noChangeArrowheads="1"/>
          </p:cNvSpPr>
          <p:nvPr/>
        </p:nvSpPr>
        <p:spPr bwMode="auto">
          <a:xfrm>
            <a:off x="4310064" y="1500189"/>
            <a:ext cx="52863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buFont typeface="Zapf Dingbats" charset="2"/>
              <a:buNone/>
            </a:pPr>
            <a:r>
              <a:rPr lang="en-US" altLang="en-US" sz="2000">
                <a:solidFill>
                  <a:srgbClr val="FF0000"/>
                </a:solidFill>
                <a:latin typeface="Constantia" panose="02030602050306030303" pitchFamily="18" charset="0"/>
              </a:rPr>
              <a:t>Roesky, Blechert and co-workers </a:t>
            </a:r>
          </a:p>
          <a:p>
            <a:pPr algn="ctr" eaLnBrk="1" hangingPunct="1">
              <a:buFont typeface="Zapf Dingbats" charset="2"/>
              <a:buNone/>
            </a:pPr>
            <a:r>
              <a:rPr lang="en-US" altLang="en-US" sz="2000" i="1">
                <a:solidFill>
                  <a:srgbClr val="FF0000"/>
                </a:solidFill>
                <a:latin typeface="Constantia" panose="02030602050306030303" pitchFamily="18" charset="0"/>
              </a:rPr>
              <a:t>    Angew. Chem., Int. Ed.</a:t>
            </a:r>
            <a:r>
              <a:rPr lang="en-US" altLang="en-US" sz="2000">
                <a:solidFill>
                  <a:srgbClr val="FF0000"/>
                </a:solidFill>
                <a:latin typeface="Constantia" panose="02030602050306030303" pitchFamily="18" charset="0"/>
              </a:rPr>
              <a:t> </a:t>
            </a:r>
            <a:r>
              <a:rPr lang="en-US" altLang="en-US" sz="2000" b="1">
                <a:solidFill>
                  <a:srgbClr val="FF0000"/>
                </a:solidFill>
                <a:latin typeface="Constantia" panose="02030602050306030303" pitchFamily="18" charset="0"/>
              </a:rPr>
              <a:t>2005</a:t>
            </a:r>
            <a:r>
              <a:rPr lang="en-US" altLang="en-US" sz="2000">
                <a:solidFill>
                  <a:srgbClr val="FF0000"/>
                </a:solidFill>
                <a:latin typeface="Constantia" panose="02030602050306030303" pitchFamily="18" charset="0"/>
              </a:rPr>
              <a:t>, </a:t>
            </a:r>
            <a:r>
              <a:rPr lang="en-US" altLang="en-US" sz="2000" i="1">
                <a:solidFill>
                  <a:srgbClr val="FF0000"/>
                </a:solidFill>
                <a:latin typeface="Constantia" panose="02030602050306030303" pitchFamily="18" charset="0"/>
              </a:rPr>
              <a:t>44</a:t>
            </a:r>
            <a:r>
              <a:rPr lang="en-US" altLang="en-US" sz="2000">
                <a:solidFill>
                  <a:srgbClr val="FF0000"/>
                </a:solidFill>
                <a:latin typeface="Constantia" panose="02030602050306030303" pitchFamily="18" charset="0"/>
              </a:rPr>
              <a:t>, 7794-7798</a:t>
            </a:r>
          </a:p>
        </p:txBody>
      </p:sp>
      <p:grpSp>
        <p:nvGrpSpPr>
          <p:cNvPr id="51204" name="Group 10">
            <a:extLst>
              <a:ext uri="{FF2B5EF4-FFF2-40B4-BE49-F238E27FC236}">
                <a16:creationId xmlns:a16="http://schemas.microsoft.com/office/drawing/2014/main" id="{BCB72FE0-51EC-B762-DB35-5F35475F329F}"/>
              </a:ext>
            </a:extLst>
          </p:cNvPr>
          <p:cNvGrpSpPr>
            <a:grpSpLocks/>
          </p:cNvGrpSpPr>
          <p:nvPr/>
        </p:nvGrpSpPr>
        <p:grpSpPr bwMode="auto">
          <a:xfrm>
            <a:off x="1666876" y="3500438"/>
            <a:ext cx="8615363" cy="3016250"/>
            <a:chOff x="142814" y="3500438"/>
            <a:chExt cx="8615430" cy="3015931"/>
          </a:xfrm>
        </p:grpSpPr>
        <p:pic>
          <p:nvPicPr>
            <p:cNvPr id="8" name="Picture 299">
              <a:extLst>
                <a:ext uri="{FF2B5EF4-FFF2-40B4-BE49-F238E27FC236}">
                  <a16:creationId xmlns:a16="http://schemas.microsoft.com/office/drawing/2014/main" id="{B2CFA0D3-5998-039C-E715-B78A12A0B04A}"/>
                </a:ext>
              </a:extLst>
            </p:cNvPr>
            <p:cNvPicPr>
              <a:picLocks noChangeAspect="1" noChangeArrowheads="1"/>
            </p:cNvPicPr>
            <p:nvPr/>
          </p:nvPicPr>
          <p:blipFill>
            <a:blip r:embed="rId3" cstate="print">
              <a:duotone>
                <a:prstClr val="black"/>
                <a:srgbClr val="48FF1E">
                  <a:tint val="45000"/>
                  <a:satMod val="400000"/>
                </a:srgbClr>
              </a:duotone>
            </a:blip>
            <a:stretch>
              <a:fillRect/>
            </a:stretch>
          </p:blipFill>
          <p:spPr bwMode="auto">
            <a:xfrm>
              <a:off x="785767" y="3500438"/>
              <a:ext cx="1857388" cy="1869294"/>
            </a:xfrm>
            <a:prstGeom prst="rect">
              <a:avLst/>
            </a:prstGeom>
            <a:noFill/>
            <a:ln>
              <a:noFill/>
            </a:ln>
          </p:spPr>
        </p:pic>
        <p:pic>
          <p:nvPicPr>
            <p:cNvPr id="9" name="Picture 300">
              <a:extLst>
                <a:ext uri="{FF2B5EF4-FFF2-40B4-BE49-F238E27FC236}">
                  <a16:creationId xmlns:a16="http://schemas.microsoft.com/office/drawing/2014/main" id="{15C8D980-C64E-1715-F2D2-52C08062C3B2}"/>
                </a:ext>
              </a:extLst>
            </p:cNvPr>
            <p:cNvPicPr>
              <a:picLocks noChangeAspect="1" noChangeArrowheads="1"/>
            </p:cNvPicPr>
            <p:nvPr/>
          </p:nvPicPr>
          <p:blipFill>
            <a:blip r:embed="rId4" cstate="print">
              <a:duotone>
                <a:prstClr val="black"/>
                <a:srgbClr val="48FF1E">
                  <a:tint val="45000"/>
                  <a:satMod val="400000"/>
                </a:srgbClr>
              </a:duotone>
            </a:blip>
            <a:stretch>
              <a:fillRect/>
            </a:stretch>
          </p:blipFill>
          <p:spPr bwMode="auto">
            <a:xfrm>
              <a:off x="6215074" y="3500438"/>
              <a:ext cx="2071702" cy="1787351"/>
            </a:xfrm>
            <a:prstGeom prst="rect">
              <a:avLst/>
            </a:prstGeom>
            <a:noFill/>
            <a:ln>
              <a:noFill/>
            </a:ln>
          </p:spPr>
        </p:pic>
        <p:sp>
          <p:nvSpPr>
            <p:cNvPr id="51208" name="TextBox 158">
              <a:extLst>
                <a:ext uri="{FF2B5EF4-FFF2-40B4-BE49-F238E27FC236}">
                  <a16:creationId xmlns:a16="http://schemas.microsoft.com/office/drawing/2014/main" id="{8BC8E0CC-7CDC-8FE5-C731-2C2BA2A60E5F}"/>
                </a:ext>
              </a:extLst>
            </p:cNvPr>
            <p:cNvSpPr txBox="1">
              <a:spLocks noChangeArrowheads="1"/>
            </p:cNvSpPr>
            <p:nvPr/>
          </p:nvSpPr>
          <p:spPr bwMode="auto">
            <a:xfrm>
              <a:off x="142814" y="5500702"/>
              <a:ext cx="2928937" cy="1015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buFont typeface="Zapf Dingbats" charset="2"/>
                <a:buNone/>
              </a:pPr>
              <a:r>
                <a:rPr lang="en-US" altLang="en-US" sz="2000">
                  <a:solidFill>
                    <a:srgbClr val="FF0000"/>
                  </a:solidFill>
                  <a:latin typeface="Constantia" panose="02030602050306030303" pitchFamily="18" charset="0"/>
                </a:rPr>
                <a:t>     Hill and co-workers </a:t>
              </a:r>
            </a:p>
            <a:p>
              <a:pPr algn="ctr" eaLnBrk="1" hangingPunct="1">
                <a:buFont typeface="Zapf Dingbats" charset="2"/>
                <a:buNone/>
              </a:pPr>
              <a:r>
                <a:rPr lang="en-US" altLang="en-US" sz="2000" i="1">
                  <a:solidFill>
                    <a:srgbClr val="FF0000"/>
                  </a:solidFill>
                  <a:latin typeface="Constantia" panose="02030602050306030303" pitchFamily="18" charset="0"/>
                </a:rPr>
                <a:t>J. Am. Chem. Soc.</a:t>
              </a:r>
              <a:r>
                <a:rPr lang="en-US" altLang="en-US" sz="2000">
                  <a:solidFill>
                    <a:srgbClr val="FF0000"/>
                  </a:solidFill>
                  <a:latin typeface="Constantia" panose="02030602050306030303" pitchFamily="18" charset="0"/>
                </a:rPr>
                <a:t> </a:t>
              </a:r>
              <a:r>
                <a:rPr lang="en-US" altLang="en-US" sz="2000" b="1">
                  <a:solidFill>
                    <a:srgbClr val="FF0000"/>
                  </a:solidFill>
                  <a:latin typeface="Constantia" panose="02030602050306030303" pitchFamily="18" charset="0"/>
                </a:rPr>
                <a:t>2005</a:t>
              </a:r>
              <a:r>
                <a:rPr lang="en-US" altLang="en-US" sz="2000">
                  <a:solidFill>
                    <a:srgbClr val="FF0000"/>
                  </a:solidFill>
                  <a:latin typeface="Constantia" panose="02030602050306030303" pitchFamily="18" charset="0"/>
                </a:rPr>
                <a:t>, </a:t>
              </a:r>
            </a:p>
            <a:p>
              <a:pPr algn="ctr" eaLnBrk="1" hangingPunct="1">
                <a:buFont typeface="Zapf Dingbats" charset="2"/>
                <a:buNone/>
              </a:pPr>
              <a:r>
                <a:rPr lang="en-US" altLang="en-US" sz="2000" i="1">
                  <a:solidFill>
                    <a:srgbClr val="FF0000"/>
                  </a:solidFill>
                  <a:latin typeface="Constantia" panose="02030602050306030303" pitchFamily="18" charset="0"/>
                </a:rPr>
                <a:t>    127</a:t>
              </a:r>
              <a:r>
                <a:rPr lang="en-US" altLang="en-US" sz="2000">
                  <a:solidFill>
                    <a:srgbClr val="FF0000"/>
                  </a:solidFill>
                  <a:latin typeface="Constantia" panose="02030602050306030303" pitchFamily="18" charset="0"/>
                </a:rPr>
                <a:t>, 2042-2043</a:t>
              </a:r>
            </a:p>
          </p:txBody>
        </p:sp>
        <p:sp>
          <p:nvSpPr>
            <p:cNvPr id="51209" name="TextBox 159">
              <a:extLst>
                <a:ext uri="{FF2B5EF4-FFF2-40B4-BE49-F238E27FC236}">
                  <a16:creationId xmlns:a16="http://schemas.microsoft.com/office/drawing/2014/main" id="{5D9CDB73-CFF7-B6E7-F81C-D50A71EA3BEF}"/>
                </a:ext>
              </a:extLst>
            </p:cNvPr>
            <p:cNvSpPr txBox="1">
              <a:spLocks noChangeArrowheads="1"/>
            </p:cNvSpPr>
            <p:nvPr/>
          </p:nvSpPr>
          <p:spPr bwMode="auto">
            <a:xfrm>
              <a:off x="5500694" y="5429265"/>
              <a:ext cx="3257550" cy="1015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buFont typeface="Zapf Dingbats" charset="2"/>
                <a:buNone/>
              </a:pPr>
              <a:r>
                <a:rPr lang="en-US" altLang="en-US" sz="1800">
                  <a:solidFill>
                    <a:srgbClr val="FF0000"/>
                  </a:solidFill>
                  <a:latin typeface="Constantia" panose="02030602050306030303" pitchFamily="18" charset="0"/>
                </a:rPr>
                <a:t>          </a:t>
              </a:r>
              <a:r>
                <a:rPr lang="en-US" altLang="en-US" sz="2000">
                  <a:solidFill>
                    <a:srgbClr val="FF0000"/>
                  </a:solidFill>
                  <a:latin typeface="Constantia" panose="02030602050306030303" pitchFamily="18" charset="0"/>
                </a:rPr>
                <a:t>Hill and co-workers </a:t>
              </a:r>
            </a:p>
            <a:p>
              <a:pPr algn="ctr" eaLnBrk="1" hangingPunct="1">
                <a:buFont typeface="Zapf Dingbats" charset="2"/>
                <a:buNone/>
              </a:pPr>
              <a:r>
                <a:rPr lang="en-US" altLang="en-US" sz="2000" i="1">
                  <a:solidFill>
                    <a:srgbClr val="FF0000"/>
                  </a:solidFill>
                  <a:latin typeface="Constantia" panose="02030602050306030303" pitchFamily="18" charset="0"/>
                </a:rPr>
                <a:t>J. Am. Chem. Soc.</a:t>
              </a:r>
              <a:r>
                <a:rPr lang="en-US" altLang="en-US" sz="2000">
                  <a:solidFill>
                    <a:srgbClr val="FF0000"/>
                  </a:solidFill>
                  <a:latin typeface="Constantia" panose="02030602050306030303" pitchFamily="18" charset="0"/>
                </a:rPr>
                <a:t> </a:t>
              </a:r>
              <a:r>
                <a:rPr lang="en-US" altLang="en-US" sz="2000" b="1">
                  <a:solidFill>
                    <a:srgbClr val="FF0000"/>
                  </a:solidFill>
                  <a:latin typeface="Constantia" panose="02030602050306030303" pitchFamily="18" charset="0"/>
                </a:rPr>
                <a:t>2009</a:t>
              </a:r>
              <a:r>
                <a:rPr lang="en-US" altLang="en-US" sz="2000">
                  <a:solidFill>
                    <a:srgbClr val="FF0000"/>
                  </a:solidFill>
                  <a:latin typeface="Constantia" panose="02030602050306030303" pitchFamily="18" charset="0"/>
                </a:rPr>
                <a:t>, </a:t>
              </a:r>
              <a:r>
                <a:rPr lang="en-US" altLang="en-US" sz="2000" i="1">
                  <a:solidFill>
                    <a:srgbClr val="FF0000"/>
                  </a:solidFill>
                  <a:latin typeface="Constantia" panose="02030602050306030303" pitchFamily="18" charset="0"/>
                </a:rPr>
                <a:t>131</a:t>
              </a:r>
              <a:r>
                <a:rPr lang="en-US" altLang="en-US" sz="2000">
                  <a:solidFill>
                    <a:srgbClr val="FF0000"/>
                  </a:solidFill>
                  <a:latin typeface="Constantia" panose="02030602050306030303" pitchFamily="18" charset="0"/>
                </a:rPr>
                <a:t>,                   </a:t>
              </a:r>
            </a:p>
            <a:p>
              <a:pPr algn="ctr" eaLnBrk="1" hangingPunct="1">
                <a:buFont typeface="Zapf Dingbats" charset="2"/>
                <a:buNone/>
              </a:pPr>
              <a:r>
                <a:rPr lang="en-US" altLang="en-US" sz="2000">
                  <a:solidFill>
                    <a:srgbClr val="FF0000"/>
                  </a:solidFill>
                  <a:latin typeface="Constantia" panose="02030602050306030303" pitchFamily="18" charset="0"/>
                </a:rPr>
                <a:t>          9670-9685</a:t>
              </a:r>
            </a:p>
          </p:txBody>
        </p:sp>
        <p:sp>
          <p:nvSpPr>
            <p:cNvPr id="12" name="Rectangle 2">
              <a:extLst>
                <a:ext uri="{FF2B5EF4-FFF2-40B4-BE49-F238E27FC236}">
                  <a16:creationId xmlns:a16="http://schemas.microsoft.com/office/drawing/2014/main" id="{BD6201BD-BF22-7E19-9463-22509322A80C}"/>
                </a:ext>
              </a:extLst>
            </p:cNvPr>
            <p:cNvSpPr txBox="1">
              <a:spLocks noChangeArrowheads="1"/>
            </p:cNvSpPr>
            <p:nvPr/>
          </p:nvSpPr>
          <p:spPr bwMode="auto">
            <a:xfrm>
              <a:off x="3143212" y="3857587"/>
              <a:ext cx="2928961" cy="785730"/>
            </a:xfrm>
            <a:prstGeom prst="rect">
              <a:avLst/>
            </a:prstGeom>
            <a:noFill/>
            <a:ln w="12700">
              <a:noFill/>
              <a:miter lim="800000"/>
              <a:headEnd/>
              <a:tailEnd/>
            </a:ln>
            <a:effectLst/>
          </p:spPr>
          <p:txBody>
            <a:bodyPr lIns="79330" tIns="38969" rIns="79330" bIns="38969" anchor="ctr"/>
            <a:lstStyle/>
            <a:p>
              <a:pPr algn="ctr" defTabSz="801688">
                <a:defRPr/>
              </a:pPr>
              <a:r>
                <a:rPr lang="en-GB" sz="2500" b="1" kern="0" dirty="0">
                  <a:solidFill>
                    <a:srgbClr val="7030A0"/>
                  </a:solidFill>
                  <a:latin typeface="Times New Roman" pitchFamily="18" charset="0"/>
                  <a:ea typeface="+mj-ea"/>
                  <a:cs typeface="Times New Roman" pitchFamily="18" charset="0"/>
                </a:rPr>
                <a:t>Group 2  Metal Based Catalyst</a:t>
              </a:r>
            </a:p>
            <a:p>
              <a:pPr algn="ctr" defTabSz="801688">
                <a:defRPr/>
              </a:pPr>
              <a:r>
                <a:rPr lang="en-GB" sz="2500" b="1" kern="0" dirty="0">
                  <a:solidFill>
                    <a:srgbClr val="7030A0"/>
                  </a:solidFill>
                  <a:latin typeface="Times New Roman" pitchFamily="18" charset="0"/>
                  <a:ea typeface="+mj-ea"/>
                  <a:cs typeface="Times New Roman" pitchFamily="18" charset="0"/>
                </a:rPr>
                <a:t>(Primary aminoalkane)</a:t>
              </a:r>
            </a:p>
          </p:txBody>
        </p:sp>
      </p:grpSp>
      <p:sp>
        <p:nvSpPr>
          <p:cNvPr id="51205" name="Slide Number Placeholder 20">
            <a:extLst>
              <a:ext uri="{FF2B5EF4-FFF2-40B4-BE49-F238E27FC236}">
                <a16:creationId xmlns:a16="http://schemas.microsoft.com/office/drawing/2014/main" id="{FC77651E-BB7B-6803-6EC8-4E46F10392E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3DC53276-C9F0-8440-A806-740E5C903C64}" type="slidenum">
              <a:rPr lang="en-US" altLang="en-US" b="1">
                <a:solidFill>
                  <a:srgbClr val="7030A0"/>
                </a:solidFill>
                <a:latin typeface="Times New Roman" panose="02020603050405020304" pitchFamily="18" charset="0"/>
              </a:rPr>
              <a:pPr eaLnBrk="1" hangingPunct="1"/>
              <a:t>22</a:t>
            </a:fld>
            <a:endParaRPr lang="en-US" altLang="en-US" b="1">
              <a:solidFill>
                <a:srgbClr val="7030A0"/>
              </a:solidFill>
              <a:latin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FC67B9B-70D2-9489-8355-8AAE2459C850}"/>
              </a:ext>
            </a:extLst>
          </p:cNvPr>
          <p:cNvSpPr txBox="1">
            <a:spLocks noChangeArrowheads="1"/>
          </p:cNvSpPr>
          <p:nvPr/>
        </p:nvSpPr>
        <p:spPr>
          <a:xfrm>
            <a:off x="1752600" y="152400"/>
            <a:ext cx="8686800" cy="304800"/>
          </a:xfrm>
          <a:prstGeom prst="rect">
            <a:avLst/>
          </a:prstGeom>
        </p:spPr>
        <p:txBody>
          <a:bodyPr/>
          <a:lstStyle/>
          <a:p>
            <a:pPr algn="ctr">
              <a:defRPr/>
            </a:pPr>
            <a:r>
              <a:rPr lang="en-GB" sz="3600" b="1" dirty="0">
                <a:solidFill>
                  <a:schemeClr val="bg1"/>
                </a:solidFill>
                <a:latin typeface="Times New Roman" pitchFamily="18" charset="0"/>
                <a:ea typeface="+mj-ea"/>
                <a:cs typeface="Times New Roman" pitchFamily="18" charset="0"/>
              </a:rPr>
              <a:t>Assembly of Group 2 and Group 4 into Single System </a:t>
            </a:r>
          </a:p>
        </p:txBody>
      </p:sp>
      <p:graphicFrame>
        <p:nvGraphicFramePr>
          <p:cNvPr id="52226" name="Object 12">
            <a:extLst>
              <a:ext uri="{FF2B5EF4-FFF2-40B4-BE49-F238E27FC236}">
                <a16:creationId xmlns:a16="http://schemas.microsoft.com/office/drawing/2014/main" id="{4148C8FF-660F-19CE-3E58-0BDEF728C34E}"/>
              </a:ext>
            </a:extLst>
          </p:cNvPr>
          <p:cNvGraphicFramePr>
            <a:graphicFrameLocks noChangeAspect="1"/>
          </p:cNvGraphicFramePr>
          <p:nvPr/>
        </p:nvGraphicFramePr>
        <p:xfrm>
          <a:off x="3095625" y="1571625"/>
          <a:ext cx="6000750" cy="1976438"/>
        </p:xfrm>
        <a:graphic>
          <a:graphicData uri="http://schemas.openxmlformats.org/presentationml/2006/ole">
            <mc:AlternateContent xmlns:mc="http://schemas.openxmlformats.org/markup-compatibility/2006">
              <mc:Choice xmlns:v="urn:schemas-microsoft-com:vml" Requires="v">
                <p:oleObj name="CS ChemDraw Drawing" r:id="rId2" imgW="24485600" imgH="8077200" progId="ChemDraw.Document.6.0">
                  <p:embed/>
                </p:oleObj>
              </mc:Choice>
              <mc:Fallback>
                <p:oleObj name="CS ChemDraw Drawing" r:id="rId2" imgW="24485600" imgH="8077200" progId="ChemDraw.Document.6.0">
                  <p:embed/>
                  <p:pic>
                    <p:nvPicPr>
                      <p:cNvPr id="52226" name="Object 12">
                        <a:extLst>
                          <a:ext uri="{FF2B5EF4-FFF2-40B4-BE49-F238E27FC236}">
                            <a16:creationId xmlns:a16="http://schemas.microsoft.com/office/drawing/2014/main" id="{4148C8FF-660F-19CE-3E58-0BDEF728C3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5625" y="1571625"/>
                        <a:ext cx="6000750" cy="1976438"/>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4D004D">
                                  <a:alpha val="74997"/>
                                </a:srgbClr>
                              </a:outerShdw>
                            </a:effectLst>
                          </a14:hiddenEffects>
                        </a:ext>
                      </a:extLst>
                    </p:spPr>
                  </p:pic>
                </p:oleObj>
              </mc:Fallback>
            </mc:AlternateContent>
          </a:graphicData>
        </a:graphic>
      </p:graphicFrame>
      <p:grpSp>
        <p:nvGrpSpPr>
          <p:cNvPr id="52227" name="Group 5">
            <a:extLst>
              <a:ext uri="{FF2B5EF4-FFF2-40B4-BE49-F238E27FC236}">
                <a16:creationId xmlns:a16="http://schemas.microsoft.com/office/drawing/2014/main" id="{A2926DC0-D815-FBAE-EA0B-12BA10B330C2}"/>
              </a:ext>
            </a:extLst>
          </p:cNvPr>
          <p:cNvGrpSpPr>
            <a:grpSpLocks/>
          </p:cNvGrpSpPr>
          <p:nvPr/>
        </p:nvGrpSpPr>
        <p:grpSpPr bwMode="auto">
          <a:xfrm>
            <a:off x="1982789" y="3714751"/>
            <a:ext cx="8542337" cy="2105025"/>
            <a:chOff x="357188" y="3643312"/>
            <a:chExt cx="8542337" cy="2104739"/>
          </a:xfrm>
        </p:grpSpPr>
        <p:graphicFrame>
          <p:nvGraphicFramePr>
            <p:cNvPr id="52230" name="Object 13">
              <a:extLst>
                <a:ext uri="{FF2B5EF4-FFF2-40B4-BE49-F238E27FC236}">
                  <a16:creationId xmlns:a16="http://schemas.microsoft.com/office/drawing/2014/main" id="{2B6430C6-BC29-BE24-B752-DA8477C04646}"/>
                </a:ext>
              </a:extLst>
            </p:cNvPr>
            <p:cNvGraphicFramePr>
              <a:graphicFrameLocks noChangeAspect="1"/>
            </p:cNvGraphicFramePr>
            <p:nvPr/>
          </p:nvGraphicFramePr>
          <p:xfrm>
            <a:off x="357188" y="3643312"/>
            <a:ext cx="8542337" cy="1714500"/>
          </p:xfrm>
          <a:graphic>
            <a:graphicData uri="http://schemas.openxmlformats.org/presentationml/2006/ole">
              <mc:AlternateContent xmlns:mc="http://schemas.openxmlformats.org/markup-compatibility/2006">
                <mc:Choice xmlns:v="urn:schemas-microsoft-com:vml" Requires="v">
                  <p:oleObj name="CS ChemDraw Drawing" r:id="rId4" imgW="8280400" imgH="1676400" progId="ChemDraw.Document.6.0">
                    <p:embed/>
                  </p:oleObj>
                </mc:Choice>
                <mc:Fallback>
                  <p:oleObj name="CS ChemDraw Drawing" r:id="rId4" imgW="8280400" imgH="1676400" progId="ChemDraw.Document.6.0">
                    <p:embed/>
                    <p:pic>
                      <p:nvPicPr>
                        <p:cNvPr id="52230" name="Object 13">
                          <a:extLst>
                            <a:ext uri="{FF2B5EF4-FFF2-40B4-BE49-F238E27FC236}">
                              <a16:creationId xmlns:a16="http://schemas.microsoft.com/office/drawing/2014/main" id="{2B6430C6-BC29-BE24-B752-DA8477C046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188" y="3643312"/>
                          <a:ext cx="8542337" cy="1714500"/>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4D004D">
                                    <a:alpha val="74997"/>
                                  </a:srgbClr>
                                </a:outerShdw>
                              </a:effectLst>
                            </a14:hiddenEffects>
                          </a:ext>
                        </a:extLst>
                      </p:spPr>
                    </p:pic>
                  </p:oleObj>
                </mc:Fallback>
              </mc:AlternateContent>
            </a:graphicData>
          </a:graphic>
        </p:graphicFrame>
        <p:sp>
          <p:nvSpPr>
            <p:cNvPr id="52231" name="TextBox 14">
              <a:extLst>
                <a:ext uri="{FF2B5EF4-FFF2-40B4-BE49-F238E27FC236}">
                  <a16:creationId xmlns:a16="http://schemas.microsoft.com/office/drawing/2014/main" id="{DB7D58B4-64EB-003E-6B31-80EDB373422B}"/>
                </a:ext>
              </a:extLst>
            </p:cNvPr>
            <p:cNvSpPr txBox="1">
              <a:spLocks noChangeArrowheads="1"/>
            </p:cNvSpPr>
            <p:nvPr/>
          </p:nvSpPr>
          <p:spPr bwMode="auto">
            <a:xfrm>
              <a:off x="7256451" y="5286386"/>
              <a:ext cx="2968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buFont typeface="Zapf Dingbats" charset="2"/>
                <a:buNone/>
              </a:pPr>
              <a:r>
                <a:rPr lang="en-US" altLang="en-US" b="1">
                  <a:latin typeface="Constantia" panose="02030602050306030303" pitchFamily="18" charset="0"/>
                </a:rPr>
                <a:t>1</a:t>
              </a:r>
            </a:p>
          </p:txBody>
        </p:sp>
      </p:grpSp>
      <p:sp>
        <p:nvSpPr>
          <p:cNvPr id="52228" name="TextBox 6">
            <a:extLst>
              <a:ext uri="{FF2B5EF4-FFF2-40B4-BE49-F238E27FC236}">
                <a16:creationId xmlns:a16="http://schemas.microsoft.com/office/drawing/2014/main" id="{2BA405C0-8B99-C5E3-B878-9B68988CE902}"/>
              </a:ext>
            </a:extLst>
          </p:cNvPr>
          <p:cNvSpPr txBox="1">
            <a:spLocks noChangeArrowheads="1"/>
          </p:cNvSpPr>
          <p:nvPr/>
        </p:nvSpPr>
        <p:spPr bwMode="auto">
          <a:xfrm>
            <a:off x="1619250" y="6000750"/>
            <a:ext cx="9048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buFont typeface="Wingdings" pitchFamily="2" charset="2"/>
              <a:buChar char="§"/>
            </a:pPr>
            <a:r>
              <a:rPr lang="en-US" altLang="en-US" sz="2000">
                <a:latin typeface="Times New Roman" panose="02020603050405020304" pitchFamily="18" charset="0"/>
              </a:rPr>
              <a:t>  Complex </a:t>
            </a:r>
            <a:r>
              <a:rPr lang="en-US" altLang="en-US" sz="2000" b="1">
                <a:latin typeface="Times New Roman" panose="02020603050405020304" pitchFamily="18" charset="0"/>
              </a:rPr>
              <a:t>1</a:t>
            </a:r>
            <a:r>
              <a:rPr lang="en-US" altLang="en-US" sz="2000">
                <a:latin typeface="Times New Roman" panose="02020603050405020304" pitchFamily="18" charset="0"/>
              </a:rPr>
              <a:t> is highly sensitive and only stable under inert condition inside glovebox</a:t>
            </a:r>
            <a:r>
              <a:rPr lang="en-US" altLang="en-US" sz="1800">
                <a:latin typeface="Constantia" panose="02030602050306030303" pitchFamily="18" charset="0"/>
              </a:rPr>
              <a:t>.</a:t>
            </a:r>
          </a:p>
        </p:txBody>
      </p:sp>
      <p:sp>
        <p:nvSpPr>
          <p:cNvPr id="52229" name="Slide Number Placeholder 20">
            <a:extLst>
              <a:ext uri="{FF2B5EF4-FFF2-40B4-BE49-F238E27FC236}">
                <a16:creationId xmlns:a16="http://schemas.microsoft.com/office/drawing/2014/main" id="{1D91A2A0-4829-9507-8948-0C89B595783C}"/>
              </a:ext>
            </a:extLst>
          </p:cNvPr>
          <p:cNvSpPr>
            <a:spLocks noGrp="1"/>
          </p:cNvSpPr>
          <p:nvPr>
            <p:ph type="sldNum" sz="quarter" idx="12"/>
          </p:nvPr>
        </p:nvSpPr>
        <p:spPr bwMode="auto">
          <a:xfrm>
            <a:off x="9448800" y="6421439"/>
            <a:ext cx="7620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5B2C779B-238D-A643-8D5D-D264F7363D8E}" type="slidenum">
              <a:rPr lang="en-US" altLang="en-US" b="1">
                <a:solidFill>
                  <a:srgbClr val="7030A0"/>
                </a:solidFill>
                <a:latin typeface="Times New Roman" panose="02020603050405020304" pitchFamily="18" charset="0"/>
              </a:rPr>
              <a:pPr eaLnBrk="1" hangingPunct="1"/>
              <a:t>23</a:t>
            </a:fld>
            <a:endParaRPr lang="en-US" altLang="en-US" b="1">
              <a:solidFill>
                <a:srgbClr val="7030A0"/>
              </a:solidFill>
              <a:latin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7D5B936D-3ADB-4B8C-8D59-2698262B3D79}"/>
              </a:ext>
            </a:extLst>
          </p:cNvPr>
          <p:cNvSpPr txBox="1">
            <a:spLocks/>
          </p:cNvSpPr>
          <p:nvPr/>
        </p:nvSpPr>
        <p:spPr>
          <a:xfrm>
            <a:off x="1595438" y="0"/>
            <a:ext cx="8686800" cy="304800"/>
          </a:xfrm>
          <a:prstGeom prst="rect">
            <a:avLst/>
          </a:prstGeom>
        </p:spPr>
        <p:txBody>
          <a:bodyPr/>
          <a:lstStyle/>
          <a:p>
            <a:pPr algn="ctr">
              <a:defRPr/>
            </a:pPr>
            <a:r>
              <a:rPr lang="en-US" sz="4000" b="1" dirty="0">
                <a:solidFill>
                  <a:schemeClr val="bg1"/>
                </a:solidFill>
                <a:latin typeface="Times New Roman" pitchFamily="18" charset="0"/>
                <a:ea typeface="+mj-ea"/>
                <a:cs typeface="Times New Roman" pitchFamily="18" charset="0"/>
              </a:rPr>
              <a:t>Summary</a:t>
            </a:r>
            <a:endParaRPr lang="en-IN" sz="4000" b="1" dirty="0">
              <a:solidFill>
                <a:schemeClr val="bg1"/>
              </a:solidFill>
              <a:latin typeface="Times New Roman" pitchFamily="18" charset="0"/>
              <a:ea typeface="+mj-ea"/>
              <a:cs typeface="Times New Roman" pitchFamily="18" charset="0"/>
            </a:endParaRPr>
          </a:p>
        </p:txBody>
      </p:sp>
      <p:pic>
        <p:nvPicPr>
          <p:cNvPr id="53250" name="Picture 1">
            <a:extLst>
              <a:ext uri="{FF2B5EF4-FFF2-40B4-BE49-F238E27FC236}">
                <a16:creationId xmlns:a16="http://schemas.microsoft.com/office/drawing/2014/main" id="{232FBA0A-8E9A-4147-1015-266956C2FF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964" t="3784" r="5072" b="6071"/>
          <a:stretch>
            <a:fillRect/>
          </a:stretch>
        </p:blipFill>
        <p:spPr bwMode="auto">
          <a:xfrm>
            <a:off x="5024438" y="3170238"/>
            <a:ext cx="2286000" cy="173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3251" name="Object 20">
            <a:extLst>
              <a:ext uri="{FF2B5EF4-FFF2-40B4-BE49-F238E27FC236}">
                <a16:creationId xmlns:a16="http://schemas.microsoft.com/office/drawing/2014/main" id="{78AEDF6D-DBAC-D168-1184-2DFCCA6E8741}"/>
              </a:ext>
            </a:extLst>
          </p:cNvPr>
          <p:cNvGraphicFramePr>
            <a:graphicFrameLocks noChangeAspect="1"/>
          </p:cNvGraphicFramePr>
          <p:nvPr/>
        </p:nvGraphicFramePr>
        <p:xfrm>
          <a:off x="6667500" y="4313238"/>
          <a:ext cx="2497138" cy="823912"/>
        </p:xfrm>
        <a:graphic>
          <a:graphicData uri="http://schemas.openxmlformats.org/presentationml/2006/ole">
            <mc:AlternateContent xmlns:mc="http://schemas.openxmlformats.org/markup-compatibility/2006">
              <mc:Choice xmlns:v="urn:schemas-microsoft-com:vml" Requires="v">
                <p:oleObj name="CS ChemDraw Drawing" r:id="rId3" imgW="1346200" imgH="444500" progId="ChemDraw.Document.6.0">
                  <p:embed/>
                </p:oleObj>
              </mc:Choice>
              <mc:Fallback>
                <p:oleObj name="CS ChemDraw Drawing" r:id="rId3" imgW="1346200" imgH="444500" progId="ChemDraw.Document.6.0">
                  <p:embed/>
                  <p:pic>
                    <p:nvPicPr>
                      <p:cNvPr id="53251" name="Object 20">
                        <a:extLst>
                          <a:ext uri="{FF2B5EF4-FFF2-40B4-BE49-F238E27FC236}">
                            <a16:creationId xmlns:a16="http://schemas.microsoft.com/office/drawing/2014/main" id="{78AEDF6D-DBAC-D168-1184-2DFCCA6E87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7500" y="4313238"/>
                        <a:ext cx="2497138"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52" name="Object 21">
            <a:extLst>
              <a:ext uri="{FF2B5EF4-FFF2-40B4-BE49-F238E27FC236}">
                <a16:creationId xmlns:a16="http://schemas.microsoft.com/office/drawing/2014/main" id="{FA920EA2-9DA4-09C2-74EC-C0CFC3A0531E}"/>
              </a:ext>
            </a:extLst>
          </p:cNvPr>
          <p:cNvGraphicFramePr>
            <a:graphicFrameLocks noChangeAspect="1"/>
          </p:cNvGraphicFramePr>
          <p:nvPr/>
        </p:nvGraphicFramePr>
        <p:xfrm>
          <a:off x="7167563" y="5170488"/>
          <a:ext cx="2074862" cy="615950"/>
        </p:xfrm>
        <a:graphic>
          <a:graphicData uri="http://schemas.openxmlformats.org/presentationml/2006/ole">
            <mc:AlternateContent xmlns:mc="http://schemas.openxmlformats.org/markup-compatibility/2006">
              <mc:Choice xmlns:v="urn:schemas-microsoft-com:vml" Requires="v">
                <p:oleObj name="CS ChemDraw Drawing" r:id="rId5" imgW="2032000" imgH="609600" progId="ChemDraw.Document.6.0">
                  <p:embed/>
                </p:oleObj>
              </mc:Choice>
              <mc:Fallback>
                <p:oleObj name="CS ChemDraw Drawing" r:id="rId5" imgW="2032000" imgH="609600" progId="ChemDraw.Document.6.0">
                  <p:embed/>
                  <p:pic>
                    <p:nvPicPr>
                      <p:cNvPr id="53252" name="Object 21">
                        <a:extLst>
                          <a:ext uri="{FF2B5EF4-FFF2-40B4-BE49-F238E27FC236}">
                            <a16:creationId xmlns:a16="http://schemas.microsoft.com/office/drawing/2014/main" id="{FA920EA2-9DA4-09C2-74EC-C0CFC3A0531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67563" y="5170488"/>
                        <a:ext cx="2074862" cy="615950"/>
                      </a:xfrm>
                      <a:prstGeom prst="rect">
                        <a:avLst/>
                      </a:prstGeom>
                      <a:gradFill rotWithShape="1">
                        <a:gsLst>
                          <a:gs pos="0">
                            <a:srgbClr val="FF99CC"/>
                          </a:gs>
                          <a:gs pos="100000">
                            <a:srgbClr val="76475E"/>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53" name="Object 24">
            <a:extLst>
              <a:ext uri="{FF2B5EF4-FFF2-40B4-BE49-F238E27FC236}">
                <a16:creationId xmlns:a16="http://schemas.microsoft.com/office/drawing/2014/main" id="{C8ABA76D-7AF9-0E49-B176-F3898A0F2AD0}"/>
              </a:ext>
            </a:extLst>
          </p:cNvPr>
          <p:cNvGraphicFramePr>
            <a:graphicFrameLocks noChangeAspect="1"/>
          </p:cNvGraphicFramePr>
          <p:nvPr/>
        </p:nvGraphicFramePr>
        <p:xfrm>
          <a:off x="9096376" y="3455989"/>
          <a:ext cx="1166813" cy="1493837"/>
        </p:xfrm>
        <a:graphic>
          <a:graphicData uri="http://schemas.openxmlformats.org/presentationml/2006/ole">
            <mc:AlternateContent xmlns:mc="http://schemas.openxmlformats.org/markup-compatibility/2006">
              <mc:Choice xmlns:v="urn:schemas-microsoft-com:vml" Requires="v">
                <p:oleObj name="CS ChemDraw Drawing" r:id="rId7" imgW="889000" imgH="927100" progId="ChemDraw.Document.6.0">
                  <p:embed/>
                </p:oleObj>
              </mc:Choice>
              <mc:Fallback>
                <p:oleObj name="CS ChemDraw Drawing" r:id="rId7" imgW="889000" imgH="927100" progId="ChemDraw.Document.6.0">
                  <p:embed/>
                  <p:pic>
                    <p:nvPicPr>
                      <p:cNvPr id="53253" name="Object 24">
                        <a:extLst>
                          <a:ext uri="{FF2B5EF4-FFF2-40B4-BE49-F238E27FC236}">
                            <a16:creationId xmlns:a16="http://schemas.microsoft.com/office/drawing/2014/main" id="{C8ABA76D-7AF9-0E49-B176-F3898A0F2AD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96376" y="3455989"/>
                        <a:ext cx="1166813" cy="1493837"/>
                      </a:xfrm>
                      <a:prstGeom prst="rect">
                        <a:avLst/>
                      </a:prstGeom>
                      <a:solidFill>
                        <a:srgbClr val="CC99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54" name="TextBox 25">
            <a:extLst>
              <a:ext uri="{FF2B5EF4-FFF2-40B4-BE49-F238E27FC236}">
                <a16:creationId xmlns:a16="http://schemas.microsoft.com/office/drawing/2014/main" id="{5AF8AF9D-75DA-FF30-27A9-1737F9FB5B14}"/>
              </a:ext>
            </a:extLst>
          </p:cNvPr>
          <p:cNvSpPr txBox="1">
            <a:spLocks noChangeArrowheads="1"/>
          </p:cNvSpPr>
          <p:nvPr/>
        </p:nvSpPr>
        <p:spPr bwMode="auto">
          <a:xfrm>
            <a:off x="7453313" y="3527425"/>
            <a:ext cx="1357312" cy="92333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buFont typeface="Zapf Dingbats" charset="2"/>
              <a:buNone/>
            </a:pPr>
            <a:r>
              <a:rPr lang="en-US" altLang="en-US" sz="1800">
                <a:latin typeface="Times New Roman" panose="02020603050405020304" pitchFamily="18" charset="0"/>
              </a:rPr>
              <a:t>Primary aminoalkene activation</a:t>
            </a:r>
          </a:p>
        </p:txBody>
      </p:sp>
      <p:graphicFrame>
        <p:nvGraphicFramePr>
          <p:cNvPr id="53255" name="Object 26">
            <a:extLst>
              <a:ext uri="{FF2B5EF4-FFF2-40B4-BE49-F238E27FC236}">
                <a16:creationId xmlns:a16="http://schemas.microsoft.com/office/drawing/2014/main" id="{B61043AE-280D-BC60-448D-AABB5027D91E}"/>
              </a:ext>
            </a:extLst>
          </p:cNvPr>
          <p:cNvGraphicFramePr>
            <a:graphicFrameLocks noChangeAspect="1"/>
          </p:cNvGraphicFramePr>
          <p:nvPr/>
        </p:nvGraphicFramePr>
        <p:xfrm>
          <a:off x="3238500" y="3670301"/>
          <a:ext cx="1944688" cy="720725"/>
        </p:xfrm>
        <a:graphic>
          <a:graphicData uri="http://schemas.openxmlformats.org/presentationml/2006/ole">
            <mc:AlternateContent xmlns:mc="http://schemas.openxmlformats.org/markup-compatibility/2006">
              <mc:Choice xmlns:v="urn:schemas-microsoft-com:vml" Requires="v">
                <p:oleObj name="CS ChemDraw Drawing" r:id="rId9" imgW="1422400" imgH="469900" progId="ChemDraw.Document.6.0">
                  <p:embed/>
                </p:oleObj>
              </mc:Choice>
              <mc:Fallback>
                <p:oleObj name="CS ChemDraw Drawing" r:id="rId9" imgW="1422400" imgH="469900" progId="ChemDraw.Document.6.0">
                  <p:embed/>
                  <p:pic>
                    <p:nvPicPr>
                      <p:cNvPr id="53255" name="Object 26">
                        <a:extLst>
                          <a:ext uri="{FF2B5EF4-FFF2-40B4-BE49-F238E27FC236}">
                            <a16:creationId xmlns:a16="http://schemas.microsoft.com/office/drawing/2014/main" id="{B61043AE-280D-BC60-448D-AABB5027D91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38500" y="3670301"/>
                        <a:ext cx="1944688"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56" name="Object 27">
            <a:extLst>
              <a:ext uri="{FF2B5EF4-FFF2-40B4-BE49-F238E27FC236}">
                <a16:creationId xmlns:a16="http://schemas.microsoft.com/office/drawing/2014/main" id="{47E7A747-AFC8-1BC2-C957-1A3DE9EF0A10}"/>
              </a:ext>
            </a:extLst>
          </p:cNvPr>
          <p:cNvGraphicFramePr>
            <a:graphicFrameLocks noChangeAspect="1"/>
          </p:cNvGraphicFramePr>
          <p:nvPr/>
        </p:nvGraphicFramePr>
        <p:xfrm>
          <a:off x="2809875" y="2955926"/>
          <a:ext cx="2006600" cy="676275"/>
        </p:xfrm>
        <a:graphic>
          <a:graphicData uri="http://schemas.openxmlformats.org/presentationml/2006/ole">
            <mc:AlternateContent xmlns:mc="http://schemas.openxmlformats.org/markup-compatibility/2006">
              <mc:Choice xmlns:v="urn:schemas-microsoft-com:vml" Requires="v">
                <p:oleObj name="CS ChemDraw Drawing" r:id="rId11" imgW="2870200" imgH="965200" progId="ChemDraw.Document.6.0">
                  <p:embed/>
                </p:oleObj>
              </mc:Choice>
              <mc:Fallback>
                <p:oleObj name="CS ChemDraw Drawing" r:id="rId11" imgW="2870200" imgH="965200" progId="ChemDraw.Document.6.0">
                  <p:embed/>
                  <p:pic>
                    <p:nvPicPr>
                      <p:cNvPr id="53256" name="Object 27">
                        <a:extLst>
                          <a:ext uri="{FF2B5EF4-FFF2-40B4-BE49-F238E27FC236}">
                            <a16:creationId xmlns:a16="http://schemas.microsoft.com/office/drawing/2014/main" id="{47E7A747-AFC8-1BC2-C957-1A3DE9EF0A1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09875" y="2955926"/>
                        <a:ext cx="2006600" cy="676275"/>
                      </a:xfrm>
                      <a:prstGeom prst="rect">
                        <a:avLst/>
                      </a:prstGeom>
                      <a:gradFill rotWithShape="1">
                        <a:gsLst>
                          <a:gs pos="0">
                            <a:srgbClr val="FDCAC0"/>
                          </a:gs>
                          <a:gs pos="100000">
                            <a:srgbClr val="755D59"/>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57" name="Object 30">
            <a:extLst>
              <a:ext uri="{FF2B5EF4-FFF2-40B4-BE49-F238E27FC236}">
                <a16:creationId xmlns:a16="http://schemas.microsoft.com/office/drawing/2014/main" id="{DEA9E67E-8AE1-7232-DCB5-7A69B72AF28E}"/>
              </a:ext>
            </a:extLst>
          </p:cNvPr>
          <p:cNvGraphicFramePr>
            <a:graphicFrameLocks noChangeAspect="1"/>
          </p:cNvGraphicFramePr>
          <p:nvPr/>
        </p:nvGraphicFramePr>
        <p:xfrm>
          <a:off x="2095501" y="4384676"/>
          <a:ext cx="1127125" cy="1243013"/>
        </p:xfrm>
        <a:graphic>
          <a:graphicData uri="http://schemas.openxmlformats.org/presentationml/2006/ole">
            <mc:AlternateContent xmlns:mc="http://schemas.openxmlformats.org/markup-compatibility/2006">
              <mc:Choice xmlns:v="urn:schemas-microsoft-com:vml" Requires="v">
                <p:oleObj name="CS ChemDraw Drawing" r:id="rId13" imgW="1130300" imgH="1295400" progId="ChemDraw.Document.6.0">
                  <p:embed/>
                </p:oleObj>
              </mc:Choice>
              <mc:Fallback>
                <p:oleObj name="CS ChemDraw Drawing" r:id="rId13" imgW="1130300" imgH="1295400" progId="ChemDraw.Document.6.0">
                  <p:embed/>
                  <p:pic>
                    <p:nvPicPr>
                      <p:cNvPr id="53257" name="Object 30">
                        <a:extLst>
                          <a:ext uri="{FF2B5EF4-FFF2-40B4-BE49-F238E27FC236}">
                            <a16:creationId xmlns:a16="http://schemas.microsoft.com/office/drawing/2014/main" id="{DEA9E67E-8AE1-7232-DCB5-7A69B72AF28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95501" y="4384676"/>
                        <a:ext cx="1127125" cy="1243013"/>
                      </a:xfrm>
                      <a:prstGeom prst="rect">
                        <a:avLst/>
                      </a:prstGeom>
                      <a:solidFill>
                        <a:srgbClr val="CC99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58" name="TextBox 32">
            <a:extLst>
              <a:ext uri="{FF2B5EF4-FFF2-40B4-BE49-F238E27FC236}">
                <a16:creationId xmlns:a16="http://schemas.microsoft.com/office/drawing/2014/main" id="{4440D27B-91DB-B894-79D5-F8FA7501B2F2}"/>
              </a:ext>
            </a:extLst>
          </p:cNvPr>
          <p:cNvSpPr txBox="1">
            <a:spLocks noChangeArrowheads="1"/>
          </p:cNvSpPr>
          <p:nvPr/>
        </p:nvSpPr>
        <p:spPr bwMode="auto">
          <a:xfrm>
            <a:off x="3524251" y="4213225"/>
            <a:ext cx="1357313" cy="92333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buFont typeface="Zapf Dingbats" charset="2"/>
              <a:buNone/>
            </a:pPr>
            <a:r>
              <a:rPr lang="en-US" altLang="en-US" sz="1800">
                <a:latin typeface="Times New Roman" panose="02020603050405020304" pitchFamily="18" charset="0"/>
              </a:rPr>
              <a:t>Secondary aminoalkene </a:t>
            </a:r>
          </a:p>
          <a:p>
            <a:pPr eaLnBrk="1" hangingPunct="1">
              <a:buFont typeface="Zapf Dingbats" charset="2"/>
              <a:buNone/>
            </a:pPr>
            <a:r>
              <a:rPr lang="en-US" altLang="en-US" sz="1800">
                <a:latin typeface="Times New Roman" panose="02020603050405020304" pitchFamily="18" charset="0"/>
              </a:rPr>
              <a:t>activation</a:t>
            </a:r>
          </a:p>
        </p:txBody>
      </p:sp>
      <p:sp>
        <p:nvSpPr>
          <p:cNvPr id="53259" name="Rectangle 29">
            <a:extLst>
              <a:ext uri="{FF2B5EF4-FFF2-40B4-BE49-F238E27FC236}">
                <a16:creationId xmlns:a16="http://schemas.microsoft.com/office/drawing/2014/main" id="{55126DAC-CABF-5D04-3696-3A8F99E21583}"/>
              </a:ext>
            </a:extLst>
          </p:cNvPr>
          <p:cNvSpPr>
            <a:spLocks noChangeArrowheads="1"/>
          </p:cNvSpPr>
          <p:nvPr/>
        </p:nvSpPr>
        <p:spPr bwMode="auto">
          <a:xfrm>
            <a:off x="1809750" y="785813"/>
            <a:ext cx="8858250" cy="50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just" eaLnBrk="1" hangingPunct="1">
              <a:lnSpc>
                <a:spcPct val="150000"/>
              </a:lnSpc>
              <a:buFont typeface="Wingdings" pitchFamily="2" charset="2"/>
              <a:buChar char="§"/>
            </a:pPr>
            <a:r>
              <a:rPr lang="en-US" altLang="en-US" sz="2000" dirty="0">
                <a:latin typeface="Times New Roman" panose="02020603050405020304" pitchFamily="18" charset="0"/>
              </a:rPr>
              <a:t>heterobimetallic complex containing Group 2 metal and Group 4 metals. </a:t>
            </a:r>
            <a:endParaRPr lang="en-US" altLang="en-US" sz="2000" dirty="0">
              <a:latin typeface="Constantia" panose="02030602050306030303" pitchFamily="18" charset="0"/>
            </a:endParaRPr>
          </a:p>
        </p:txBody>
      </p:sp>
      <p:sp>
        <p:nvSpPr>
          <p:cNvPr id="53260" name="TextBox 12">
            <a:extLst>
              <a:ext uri="{FF2B5EF4-FFF2-40B4-BE49-F238E27FC236}">
                <a16:creationId xmlns:a16="http://schemas.microsoft.com/office/drawing/2014/main" id="{1944D5CA-3134-D103-632C-B170F9892A89}"/>
              </a:ext>
            </a:extLst>
          </p:cNvPr>
          <p:cNvSpPr txBox="1">
            <a:spLocks noChangeArrowheads="1"/>
          </p:cNvSpPr>
          <p:nvPr/>
        </p:nvSpPr>
        <p:spPr bwMode="auto">
          <a:xfrm>
            <a:off x="1881189" y="6059489"/>
            <a:ext cx="86439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buFont typeface="Zapf Dingbats" charset="2"/>
              <a:buNone/>
            </a:pPr>
            <a:r>
              <a:rPr lang="en-US" altLang="en-US" sz="1800" dirty="0">
                <a:solidFill>
                  <a:srgbClr val="FF0000"/>
                </a:solidFill>
                <a:latin typeface="Constantia" panose="02030602050306030303" pitchFamily="18" charset="0"/>
              </a:rPr>
              <a:t>Mandal et al. </a:t>
            </a:r>
            <a:r>
              <a:rPr lang="en-US" altLang="en-US" sz="1800" i="1" dirty="0" err="1">
                <a:solidFill>
                  <a:srgbClr val="FF0000"/>
                </a:solidFill>
                <a:latin typeface="Constantia" panose="02030602050306030303" pitchFamily="18" charset="0"/>
              </a:rPr>
              <a:t>Angew</a:t>
            </a:r>
            <a:r>
              <a:rPr lang="en-US" altLang="en-US" sz="1800" i="1" dirty="0">
                <a:solidFill>
                  <a:srgbClr val="FF0000"/>
                </a:solidFill>
                <a:latin typeface="Constantia" panose="02030602050306030303" pitchFamily="18" charset="0"/>
              </a:rPr>
              <a:t>. Chem. Int. Ed. </a:t>
            </a:r>
            <a:r>
              <a:rPr lang="en-US" altLang="en-US" sz="1800" b="1" dirty="0">
                <a:solidFill>
                  <a:srgbClr val="FF0000"/>
                </a:solidFill>
                <a:latin typeface="Constantia" panose="02030602050306030303" pitchFamily="18" charset="0"/>
              </a:rPr>
              <a:t>2011</a:t>
            </a:r>
            <a:r>
              <a:rPr lang="en-US" altLang="en-US" sz="1800" dirty="0">
                <a:solidFill>
                  <a:srgbClr val="FF0000"/>
                </a:solidFill>
                <a:latin typeface="Constantia" panose="02030602050306030303" pitchFamily="18" charset="0"/>
              </a:rPr>
              <a:t>, </a:t>
            </a:r>
            <a:r>
              <a:rPr lang="en-US" altLang="en-US" sz="1800" i="1" dirty="0">
                <a:solidFill>
                  <a:srgbClr val="FF0000"/>
                </a:solidFill>
                <a:latin typeface="Constantia" panose="02030602050306030303" pitchFamily="18" charset="0"/>
              </a:rPr>
              <a:t>50</a:t>
            </a:r>
            <a:r>
              <a:rPr lang="en-US" altLang="en-US" sz="1800" dirty="0">
                <a:solidFill>
                  <a:srgbClr val="FF0000"/>
                </a:solidFill>
                <a:latin typeface="Constantia" panose="02030602050306030303" pitchFamily="18" charset="0"/>
              </a:rPr>
              <a:t>, 3968-3972 (Selected as </a:t>
            </a:r>
            <a:r>
              <a:rPr lang="en-US" altLang="en-US" sz="1800" b="1" dirty="0">
                <a:solidFill>
                  <a:srgbClr val="FF0000"/>
                </a:solidFill>
                <a:latin typeface="Constantia" panose="02030602050306030303" pitchFamily="18" charset="0"/>
              </a:rPr>
              <a:t>Hot Paper</a:t>
            </a:r>
            <a:r>
              <a:rPr lang="en-US" altLang="en-US" sz="1800" dirty="0">
                <a:solidFill>
                  <a:srgbClr val="FF0000"/>
                </a:solidFill>
                <a:latin typeface="Constantia" panose="02030602050306030303" pitchFamily="18" charset="0"/>
              </a:rPr>
              <a:t>)</a:t>
            </a:r>
          </a:p>
        </p:txBody>
      </p:sp>
      <p:sp>
        <p:nvSpPr>
          <p:cNvPr id="53261" name="Rectangle 13">
            <a:extLst>
              <a:ext uri="{FF2B5EF4-FFF2-40B4-BE49-F238E27FC236}">
                <a16:creationId xmlns:a16="http://schemas.microsoft.com/office/drawing/2014/main" id="{6E19784E-9FAF-8B12-FEC3-25B64E886019}"/>
              </a:ext>
            </a:extLst>
          </p:cNvPr>
          <p:cNvSpPr>
            <a:spLocks noChangeArrowheads="1"/>
          </p:cNvSpPr>
          <p:nvPr/>
        </p:nvSpPr>
        <p:spPr bwMode="auto">
          <a:xfrm>
            <a:off x="1809750" y="2028825"/>
            <a:ext cx="86439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buFont typeface="Wingdings" pitchFamily="2" charset="2"/>
              <a:buChar char="§"/>
            </a:pPr>
            <a:r>
              <a:rPr lang="en-US" altLang="en-US" sz="2000">
                <a:latin typeface="Times New Roman" panose="02020603050405020304" pitchFamily="18" charset="0"/>
              </a:rPr>
              <a:t> The catalyst behaved as a dual catalyst in hydroamination reaction.</a:t>
            </a:r>
            <a:endParaRPr lang="en-US" altLang="en-US" sz="2000">
              <a:latin typeface="Constantia" panose="02030602050306030303" pitchFamily="18" charset="0"/>
            </a:endParaRPr>
          </a:p>
        </p:txBody>
      </p:sp>
      <p:sp>
        <p:nvSpPr>
          <p:cNvPr id="53262" name="Slide Number Placeholder 20">
            <a:extLst>
              <a:ext uri="{FF2B5EF4-FFF2-40B4-BE49-F238E27FC236}">
                <a16:creationId xmlns:a16="http://schemas.microsoft.com/office/drawing/2014/main" id="{22EC0262-2CA5-341A-DA9B-7EEB695616FC}"/>
              </a:ext>
            </a:extLst>
          </p:cNvPr>
          <p:cNvSpPr>
            <a:spLocks noGrp="1"/>
          </p:cNvSpPr>
          <p:nvPr>
            <p:ph type="sldNum" sz="quarter" idx="12"/>
          </p:nvPr>
        </p:nvSpPr>
        <p:spPr bwMode="auto">
          <a:xfrm>
            <a:off x="9477375" y="6421439"/>
            <a:ext cx="7620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424B1BEB-BB1B-704B-AB21-F38FA5FE5458}" type="slidenum">
              <a:rPr lang="en-US" altLang="en-US" b="1">
                <a:solidFill>
                  <a:srgbClr val="7030A0"/>
                </a:solidFill>
                <a:latin typeface="Times New Roman" panose="02020603050405020304" pitchFamily="18" charset="0"/>
              </a:rPr>
              <a:pPr eaLnBrk="1" hangingPunct="1"/>
              <a:t>24</a:t>
            </a:fld>
            <a:endParaRPr lang="en-US" altLang="en-US" b="1">
              <a:solidFill>
                <a:srgbClr val="7030A0"/>
              </a:solidFill>
              <a:latin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a:extLst>
              <a:ext uri="{FF2B5EF4-FFF2-40B4-BE49-F238E27FC236}">
                <a16:creationId xmlns:a16="http://schemas.microsoft.com/office/drawing/2014/main" id="{A507C439-6BB6-0EA2-DF85-44F8A8B46A85}"/>
              </a:ext>
            </a:extLst>
          </p:cNvPr>
          <p:cNvSpPr>
            <a:spLocks noGrp="1"/>
          </p:cNvSpPr>
          <p:nvPr>
            <p:ph type="ctrTitle"/>
          </p:nvPr>
        </p:nvSpPr>
        <p:spPr/>
        <p:txBody>
          <a:bodyPr/>
          <a:lstStyle/>
          <a:p>
            <a:pPr eaLnBrk="1" hangingPunct="1"/>
            <a:endParaRPr lang="en-US" altLang="en-US">
              <a:ea typeface="ＭＳ Ｐゴシック" panose="020B0600070205080204" pitchFamily="34" charset="-128"/>
            </a:endParaRPr>
          </a:p>
        </p:txBody>
      </p:sp>
      <p:sp>
        <p:nvSpPr>
          <p:cNvPr id="14338" name="Subtitle 2">
            <a:extLst>
              <a:ext uri="{FF2B5EF4-FFF2-40B4-BE49-F238E27FC236}">
                <a16:creationId xmlns:a16="http://schemas.microsoft.com/office/drawing/2014/main" id="{E863D3EE-91D9-93E4-94EB-66D80E9D65FF}"/>
              </a:ext>
            </a:extLst>
          </p:cNvPr>
          <p:cNvSpPr>
            <a:spLocks noGrp="1"/>
          </p:cNvSpPr>
          <p:nvPr>
            <p:ph type="subTitle" idx="1"/>
          </p:nvPr>
        </p:nvSpPr>
        <p:spPr>
          <a:xfrm>
            <a:off x="2362200" y="4800600"/>
            <a:ext cx="8305800" cy="1752600"/>
          </a:xfrm>
        </p:spPr>
        <p:txBody>
          <a:bodyPr/>
          <a:lstStyle/>
          <a:p>
            <a:pPr eaLnBrk="1" hangingPunct="1"/>
            <a:endParaRPr lang="en-US" altLang="en-US" sz="1800" b="1">
              <a:solidFill>
                <a:srgbClr val="0000FF"/>
              </a:solidFill>
              <a:ea typeface="ＭＳ Ｐゴシック" panose="020B0600070205080204" pitchFamily="34" charset="-128"/>
            </a:endParaRPr>
          </a:p>
          <a:p>
            <a:pPr eaLnBrk="1" hangingPunct="1"/>
            <a:r>
              <a:rPr lang="en-US" altLang="en-US" sz="1800" b="1">
                <a:solidFill>
                  <a:srgbClr val="0000FF"/>
                </a:solidFill>
                <a:ea typeface="ＭＳ Ｐゴシック" panose="020B0600070205080204" pitchFamily="34" charset="-128"/>
              </a:rPr>
              <a:t>Richard Schrock, MIT, Robert Grubbs,  Caltech, Yves Chauvin, France: </a:t>
            </a:r>
            <a:r>
              <a:rPr lang="en-US" altLang="en-US" sz="2800">
                <a:solidFill>
                  <a:srgbClr val="0000FF"/>
                </a:solidFill>
                <a:ea typeface="ＭＳ Ｐゴシック" panose="020B0600070205080204" pitchFamily="34" charset="-128"/>
              </a:rPr>
              <a:t>2005 Chemistry Nobel Prize</a:t>
            </a:r>
          </a:p>
        </p:txBody>
      </p:sp>
      <p:sp>
        <p:nvSpPr>
          <p:cNvPr id="14339" name="Rectangle 3">
            <a:extLst>
              <a:ext uri="{FF2B5EF4-FFF2-40B4-BE49-F238E27FC236}">
                <a16:creationId xmlns:a16="http://schemas.microsoft.com/office/drawing/2014/main" id="{17C396FD-32CA-BD1A-BB26-D02E2EBF2B6A}"/>
              </a:ext>
            </a:extLst>
          </p:cNvPr>
          <p:cNvSpPr>
            <a:spLocks noChangeArrowheads="1"/>
          </p:cNvSpPr>
          <p:nvPr/>
        </p:nvSpPr>
        <p:spPr bwMode="auto">
          <a:xfrm>
            <a:off x="2895600" y="838201"/>
            <a:ext cx="4724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4000" b="1" i="1">
                <a:solidFill>
                  <a:srgbClr val="006699"/>
                </a:solidFill>
                <a:latin typeface="Arial Narrow" panose="020B0604020202020204" pitchFamily="34" charset="0"/>
              </a:rPr>
              <a:t>Olefin Metathesis</a:t>
            </a:r>
            <a:endParaRPr lang="en-US" altLang="en-US" sz="4000">
              <a:latin typeface="Calibri" panose="020F0502020204030204" pitchFamily="34" charset="0"/>
            </a:endParaRPr>
          </a:p>
        </p:txBody>
      </p:sp>
      <p:sp>
        <p:nvSpPr>
          <p:cNvPr id="14340" name="AutoShape 2" descr="data:image/jpeg;base64,/9j/4AAQSkZJRgABAQAAAQABAAD/2wCEAAkGBwgHBgkIBwgKCgkLDRYPDQwMDRsUFRAWIB0iIiAdHx8kKDQsJCYxJx8fLT0tMTU3Ojo6Iys/RD84QzQ5OjcBCgoKDQwNGg8PGjclHyU3Nzc3Nzc3Nzc3Nzc3Nzc3Nzc3Nzc3Nzc3Nzc3Nzc3Nzc3Nzc3Nzc3Nzc3Nzc3Nzc3N//AABEIAKAAtgMBIgACEQEDEQH/xAAbAAABBQEBAAAAAAAAAAAAAAAEAAIDBQYBB//EAEcQAAIBAwMBBAUIBwQJBQAAAAECAwAEEQUSITEGE0FRIjJhcZEUIzNCgaGx0RVSYnKSweEHQ1OyFiQmgoOTosLwJURUdPH/xAAZAQADAQEBAAAAAAAAAAAAAAAAAQIDBAX/xAAmEQACAgIBBAIDAAMAAAAAAAAAAQIRAxIhBDFBURMUIiNhMnHw/9oADAMBAAIRAxEAPwDJG01BBn5LN/yzUZjvx1tpR/wzXuUsKbfVHUfjTXhiVSzKAB14rzPifs7Pss8PBu8cwv8AwNXd8/6h/hNe2NHbhNwjyPHGKieO3B4gGfA7RS+Jj+z/AA8WMkn1kz9hrokf/DFe0CG025e25zjlBTvkVkxIa3QHOOUFHxy9h9lejxXvnHVB8aXyt147sfxV7WdLsiT/AKtDx+wKr5NMs/lmwwRYJ/VFTJzh3YLPF+DyX9IFesPwNPGrgY+a/wCqvW/0Hpjk5hX+AVDLomjIcSxRLnzjXmr/ADD5oejy0aspGO4P2NXDqo8Imx+9Xpp0fs+TjZbn3xgfypw7NaFIfoYB/wANaP2IPmh6PMDqW4cxN8RUTXoPVH+2vV/9DtGIyLaLHgdgoXU+zegaZZS3l5FFHBEu522ZwPspXkD5oHlxuR+o3wppuU/VcfZXqCdl9JkmRFtoyj4KuB1BGc0rfslot1PcRC0ZO4faWdcBuM5Hn1pbTZSyo8vF2p4wx+ykblB1Vx9lerf6B6N/ggfZTT2H0Q8bV+P9aesvQfYieU/KYz9Vqb36E+Pwr1cdhdGzwoPub+tcbsLo+Po2+J/OjWXoXzxPLO+jx1PwpjOhH1vhXqMnYXRwuTG38R/Ohm7D6azssUYKg+LsPClrJD+eJ513sY/W+FKvQj2Fsf8ACX/mNSo0Y/sI3Eh9A+8fjTLhvmWprMTESajnfELe6upo4Tox8lYgD/w06TARPs6VCr/6o59tJ5NqKB0O3wpASSEY6E+kak3ekeeO8WhpJDgfvH8aeX9M8fXWkAWpwZPfmqLWtRhsJmkk5dTu29KtJLlIIZJZTtRBuY+ysBufWdRkvLnJhD/NRHxPmfYPxzScb7mmONsu4NWubsCRoisZ9UdM0XGZpuC3ok8ih7ZMkE1aWww2fKrR1RxxQK9ofrUHNbt1GUI6ECryfDAUFKvFV4LcUyhudb1PTbiA3Ld5aD0cgcj31odL1yz1BRG7ht3HI61V3cUciOkihkbjB86zZjk069CIxC+tG3srOjnyYlVo9FjCjUkA6B8fdRXfZcoByDVTplyLm4t5VOdxz91HI/zx99ZxXLMGFSyMEJU4xUbltqksMk+CimzN823upsjYCD3VpRJIxdQxV8YH6tMadwoyRnGabJIQrkVDI28pk44oANibfjPlQ7EK05Xg7v5CpISRxnwqBmy037/8hQAwOz+qjZHX0hXa7hF58fGlTAl/um4A91Ml9KJlJx7akx823uqKXmF/dmtmhWMT6B1zwfHwp7hnVVHhjwqOH6BjnB8PZRGcE+PA6ClQWDyDgYIxuJzT2PpN++tRy+qox4nwp2MSMf2lpahZm+2GpuZV02P64DMPwqCxCxhVT1UAUChe0HznayY59GOJRn24/rRNmARUtHVh7FtbEnGaNRiOhqtiD+dFIzjqtUkdFhm/PWo5D6NMDFugrjhiKKCwS4GfxqovoxKnpD1T19lXMqcHNVUxwpPnxU0TLlUFdlZsTrAxztckVpAD3xA6hjWD029FpqcTNwRIAfaDwa33AuW8ieKHFWcMuGK4z3Rz1rjnlM064HzR99NkA3oKepNnJPUf3VDKcOv2VNJ9G3meBUcgzKMcjzp6hYRF1oZj6MpHjIfxoyNeaFMeUf2ufxo1AhiZfSAOTn9WuVLHFtHC/fSp0FhSj0D16VDIcRHNTJ6tQzfRGtWiSEBTGSFGP2lzTsBXC7Rjg9KjVl7oghOT1JqfKFgfQB49WlQC7sNk5A60zLPHyw4PgetSx7SHBHn1ApqR4TAA3ZHTHSigMJqpI1u76nD4z7gKPsMHmqzWjJHrN07ZO12BUePl91ceVoEWV5mRT0AyMc4+2sqOuL1RpO82VLHdIye2sxPqSELGnytpD5NgfeaFTUbhSCm9lJAO8YxVatGiyJm1+UqCMeNMa8TO0yKD5VS6p8oitIiXVGchQVJ4P/5VQsV13uUiVnPQyZahJsbkka+S5hxguucedVVxyTjoeRjxquhOpMo7+2jUZ/uxg1LJbzYCwsyAjLnGfh91KUWhbbAOFm1DIHzcbhnc9B516LazLdRxTw5KyAMCawdvBGJZ4epxuA862uk5jtYE6YUdPKkjDKuLLCf6P25FMk+lXjzrs/Cj3iop5YxMNz4PPArQ5ySQjuznzH41G2DMRnAxUD3O75uJSzE55OPGoZTIZNxdEB54GTRaGW0Z4POcUNIyrCCz7fSPP20Gs+0enMzcdBQk80Tk4Qj2saWyAs0aNhnvGPtA/pSqjXWIrAkNdRqW8CRSosVmpTHSoWAYFTVYktyD9O/x/pSaW4HSVvgKtzQ9SxWJcY3vj31L3Sn6zfGqf5RdjpMf4RSF1e/4g/hFLdBRcugI6daiS3jUYA+2q4XV4f7wfw103N0PrL8KNkGrM52phMOrM2PRkwR7eKbFAskO3Klhz7QP50Z2jjkuYBM5VmiOeB4UDCwYqDWbfJ1YueCeKJ1Ug7vLIxQeoQLM6QjJG4OxB6EHIq3PcpHuIGaqLi5t0nJd+7fqoJxmi3RsopF1qUaXemRoV56j2HwoaBTIqlCBIPWQnGDUj3lv8iQ98owOTnpQkF3HMzSWSs8Sn0j0z7qEimkH7CW+dKqPHDbqimfaj5zubw8h4VPHPG6Db5+NDzLncQPsoZLSS4ArVA07tzvHGMdc9K1sckcEJTnvYgox7KydncW635jlk2uAp4XPNWUd/E2t2qK0zg7g26MbThScVejqzjy5U3Rf3UwCKc+Iqnu3zO77yBnPWpZ9UsIp3FxMsUZAcb2xnPlnw4qgbVrC41M29rMZWOJFX1lJU8jPPBFS5eDMOOqtkraQz3L+USHHxPFM7rtHeAd3b21oueDM5ZvgKH7Qdrb/AEuzSW1sIFDybFDk5HXnp7Kyb9sO0l3ewQSzdwkjbcRptz9vWrUV5Cmbc9nbljv1PW5gvUrFiMCo5F7LWHM9z8oYcndI0pP2CsZq8N2ttPPJdzM3dkjc+cVR6dbSzXIivDKA8YZd5PQ8ggeVaOKjjc32RG35KJ6hb9qNOWPOlacXizjcAsY/OlWP7MW0unXFzFNbXF1bsAymFeA3j91dqYbzjtHsOTUXTPRs0iaYTx/WlkVgbDxTwOKZGC/C/f0oiKMDaeviWPT3AU1GwbIvCuE1JOoU7k4Q9B5VCxHnUuIA93H3sMkZHrKRWctWJYeY4rTM5PnWd1IGz1IAKdkvpLjz8R/550RRpCVMU92sLESsFx5mqrUXju8lGBGOOKNurSO5ud8wB45DdPhTItOsllb/AFZPDIzVml/0pI7Z8qWJ7rOOTxVxaavHaw4d1GeAM80dFBYrhPky7T03dKJEVmcFbeMEgEHb91MfHsg0y9hvCDE4EniPOirqYIjZPh4VXyxGC9WZECAHnAqDVr0dw5z1HT20qtkuVIN7K3G7W79Fzju0x7wT+dXs7tJcWErcHvyMD91hWQ7FyY1whj9JC3PtyDWxl9W3bHq3I/zf1rparg4e/Jju3G46pZxPhlMCttCnJOSPCq7Qpn/TluzDAEUnn4D21edswkevaaWEnMTD0enDf1qm03a19alQ+RDP1xzwazvkEXP9oECroVs3j34H3GsVNFJFf2e+QMzAMGHGB5Vvf7Qju0C34xm4H+U1jNVA/SdkADgRL19xqcnB39Ik5RX9LDXiRYXJDkp3LeP7SfnQzIy60FZcBbSIBfL0KfrDhtOuIwAAsCjPvdM/hU9oFk7T3ZHIESDzziMCqf5dHP8A70T1kderjH+I0XZbJim5PLn+QrlT9nQFEr9FLuAD76VY4Ja40jDIrk2agQjA3yY4/VFMcIp9YnPkQMUMxB5dzk/VxTN0Y5yfhXTSM+Q5JIcZOcDjGc5NNefvWGwYx4eVDgKYt43MoPh1q0sbKG5skeVSM5wFbHGeKiTSBENuY2JRmDHHh0FJ449oAHPnmihptup9B5B54brVD2lvX0y4hihj3IyFjv8ADmpUosfPgsBFH+qaD1azgmsZS4CmNS6uPqkVSr2pKtmSBD7FehdX12e+0i4njjEcK+gozkt5k/h8aTpdhpOyXSh8o7yQFeE3ZPvpXFvEnRiCevtHnVRpl33YVl9V1GR+Io6WcSksMjwwRQuUa8xkFiGF0CFuBzmpbdfTCYU4PUVQteSRyPgYXPAoxdR7lSxdVGfR4zzQkXLJxwWMjx7gpHpDjPnVNqKukQ7vpuwQRnjmiIrkyuJFDYJPB8T7Kj1Nu6hQk8k8++hv0TGN2xvZuKI6lFdRYjaPKzIenP1h9uOPbWvul2W+WYfTqw5/aFUmh6J3GlXl5djD3UBVFPG1Mck/d8KoLS6d0jDuS8bqck5zyK1jK+5z5aj/AIlz26A/SuknKBj3m3cPaPzql0UZ1Wz9T6OcHaMDoauO3zAX2iv3auDNIvXpytUWiM36cswQFBFwAo/3qzfcEaL+0Mf+g23H/uB/lrMwWsc/aOxgmXehhBIJ/ZNa3+0gD9FQf/aH+WqSAf7bWygDC2/1f3acuZHRjbWO0N7T2EFvo87woFd2Rc5zkblNQWa/7U6hhj6ACkkeQUVb9rI92mIvgZkz9mD/ACqo0z0u0erOOQHPj7a1zJLpZUcqnKedOTs0Wgsq25Y4AZmPl9alQMZ26RC3mw/7qVYYYJ40XllU2Z3N78peJtZfaspQMzEZGeta/TdBdY+8l1rvxt/+TtUe/H51ValrFvMzC3tEdc+i7rzj3Cql55ZfWb8qiUUuzNVkb7mvudXsLLbFDIZnUYcxyMwPuzXLjt7cLGsOnWkUSKuA0hLn7sCsgqHFOKUcklnd9qNZuGJa9kXPhH6I+6qm4ubm7fdcTySHzdifxp2yuEAdKVDIj6C5FaGWWyOnx6DEWa87ptzbfQMhGSufE5rNvJyNvO05NaGRIYNWtrsQiZJGJUYycspw32ZzVRQil0di9kisCHXKspHIINWVvNIhKOxOOmaZexm11iVlA2TYkXHtHP8A1bqmaHYRIPV6kUvJ1VcbHPbrOhVzjn4U35PEq7VXp4k5opFAQEEHPn4VLb2rSEsiswB5cjAH8qqzPReSO1gMSd4eGxx+yKs9H0ltQuVu7tSLKI5XP1z+VEaVYW93d9zNcRkoN3cK3pMB5+z3VfXriOMRRjaOgUdKEhTmkqRR9q78RWcgUjMoMaAeR6/dWAbMcmQa0HaiUy6jFDnITOfuqnlhLYPlTkYon1DUJdZhsRP3YltZd4cr63HT2HjrUWkQyQ61bOUJRO/JbP6wJGfLrUKpt6UVFIfOo5sKNH/aM6/o2APnb8qzx19Ws12beGXtTA0TSn5l895yennRFw3yuIQ3JaSMHcFJPB8xXNFsobDWEvFkbuxGy7WGSCceNXsmy01o0XPabYltAZTtQSht3uFUWgSpPqWtXCkMsjkq2PDdwase3NxG9ja90+5C+MqfZVD2bkENvqLLjoMA1v1LUelbObEm8yL88aNB/uf99crkhP6EtgOeI/wb86VV08f1Iz6h/sZnBzREIwBQ8fJFGIOK5GjrFilTjUZPplfZmkBDc94rJLFyw4KH6wpSsSuR0/GpjmoZPWxQA1IwykmtF2eDXdlpxlHpRyshPsAYD7sVSooER91bbs3YrDpcbOuHiIcj2dauKEB6ppXypWkjXEiD0fZ7KCtUZ4AF4Pk3StjLGIm3EEo3U/yrOTWrW+pTRRsV3ncg6jn+tKSOjBPwwW0t2e42PAVUcswOQfZR1xBvUHYRjoM5xVjb2bRJjaC/1iBjmuzRybeRyeAKpIyyT2fBnmMttcx3UeN8Db8j6w8R9ozWslYSYYdGXINVj2oCbWUHz99EQzBNOYt/dDaf5fdTM2Y/VX7zUnP6oxQxHFdLd5I8hPrMTSNJjQxsBSSQBjknpUEcpmlUxJ814v0z7hRBUbcHBB6giuAYAA6eVSBJ407J60xDTgentpUBPHKUYNhSR5qDQ9+kk8008KoveIq7FAGSBinFsCuCTilKG8dfA4tRdoubewu5NKgjG1GVUyXOAcLg9KVBW99PbAiN/RP1SMgfZSreGXSNUZzxqTtlBaijF6UPbJtQCiegrJmhyoxzKf3RT2PFRx/TN+6KQDm4FQkcipj41GR099ABKLvVUH1iBXqEMAi7rj0Wi2tXnWkwd/qNpFj1pRXqYiJxx08/CqXYRBZKZI2hbbuT0GDeOPzFCXGlq2o2kq5Kxk5z4AdPvopsQ3uCOJVxx5jpU+4BcVX+xrjsd7seQFC3G3cFUZPn5VK7Eg+VMjjLZLcVXAgC409iMo1Z/XO9srS43cCVQoHtz/WtsiZTB8KxXbecNJBbDqWLt9nT8aTEZlV2qAK74V3wpHpUDIe8KvtcHnofA09pO7Xf49B76Tcih5pMy7eqx/j40gJYy3ian6KDUEfU4p8rbUoSAa75NcU8D30Mr7ulSBsAZ86sRLLM6nbGu40qjifguTgsePdSpAf/2Q==">
            <a:extLst>
              <a:ext uri="{FF2B5EF4-FFF2-40B4-BE49-F238E27FC236}">
                <a16:creationId xmlns:a16="http://schemas.microsoft.com/office/drawing/2014/main" id="{5F111CEA-C80C-172D-B9E5-CE840B4FBCDF}"/>
              </a:ext>
            </a:extLst>
          </p:cNvPr>
          <p:cNvSpPr>
            <a:spLocks noChangeAspect="1" noChangeArrowheads="1"/>
          </p:cNvSpPr>
          <p:nvPr/>
        </p:nvSpPr>
        <p:spPr bwMode="auto">
          <a:xfrm>
            <a:off x="1679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pic>
        <p:nvPicPr>
          <p:cNvPr id="14341" name="Picture 5" descr="schrock.jpg">
            <a:extLst>
              <a:ext uri="{FF2B5EF4-FFF2-40B4-BE49-F238E27FC236}">
                <a16:creationId xmlns:a16="http://schemas.microsoft.com/office/drawing/2014/main" id="{BBBE4512-D1E2-A412-9272-69F7E2408C4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24384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2" name="Picture 6" descr="grubbs.jpg">
            <a:extLst>
              <a:ext uri="{FF2B5EF4-FFF2-40B4-BE49-F238E27FC236}">
                <a16:creationId xmlns:a16="http://schemas.microsoft.com/office/drawing/2014/main" id="{B614F45B-6672-F4A8-5662-3525FB9C077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57801" y="2286001"/>
            <a:ext cx="2619375" cy="230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3" name="Picture 7" descr="Chauvin.jpg">
            <a:extLst>
              <a:ext uri="{FF2B5EF4-FFF2-40B4-BE49-F238E27FC236}">
                <a16:creationId xmlns:a16="http://schemas.microsoft.com/office/drawing/2014/main" id="{223FEFB2-3799-6F7B-201E-908E1EFCE11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229600" y="2362201"/>
            <a:ext cx="1733550"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F4652-C5EA-5B10-B03A-EAB790372C67}"/>
              </a:ext>
            </a:extLst>
          </p:cNvPr>
          <p:cNvSpPr>
            <a:spLocks noGrp="1"/>
          </p:cNvSpPr>
          <p:nvPr>
            <p:ph type="title"/>
          </p:nvPr>
        </p:nvSpPr>
        <p:spPr>
          <a:xfrm>
            <a:off x="1467853" y="204704"/>
            <a:ext cx="10515600" cy="1325563"/>
          </a:xfrm>
        </p:spPr>
        <p:txBody>
          <a:bodyPr>
            <a:normAutofit/>
          </a:bodyPr>
          <a:lstStyle/>
          <a:p>
            <a:r>
              <a:rPr lang="en-IN" b="0" i="0" u="none" strike="noStrike" dirty="0">
                <a:solidFill>
                  <a:srgbClr val="202124"/>
                </a:solidFill>
                <a:effectLst/>
                <a:latin typeface="Google Sans"/>
              </a:rPr>
              <a:t>.</a:t>
            </a:r>
            <a:endParaRPr lang="en-US" dirty="0"/>
          </a:p>
        </p:txBody>
      </p:sp>
      <p:pic>
        <p:nvPicPr>
          <p:cNvPr id="5" name="Content Placeholder 4" descr="A black background with red and blue text&#10;&#10;Description automatically generated">
            <a:extLst>
              <a:ext uri="{FF2B5EF4-FFF2-40B4-BE49-F238E27FC236}">
                <a16:creationId xmlns:a16="http://schemas.microsoft.com/office/drawing/2014/main" id="{D45A92EE-66D8-BC6A-75DC-FA42EFA8E7F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80874" y="1266129"/>
            <a:ext cx="5430252" cy="2814681"/>
          </a:xfrm>
        </p:spPr>
      </p:pic>
      <p:sp>
        <p:nvSpPr>
          <p:cNvPr id="7" name="TextBox 6">
            <a:extLst>
              <a:ext uri="{FF2B5EF4-FFF2-40B4-BE49-F238E27FC236}">
                <a16:creationId xmlns:a16="http://schemas.microsoft.com/office/drawing/2014/main" id="{6ABCF4FF-CEC6-50F6-3A5F-B8A6F58B32A7}"/>
              </a:ext>
            </a:extLst>
          </p:cNvPr>
          <p:cNvSpPr txBox="1"/>
          <p:nvPr/>
        </p:nvSpPr>
        <p:spPr>
          <a:xfrm>
            <a:off x="3461084" y="5142235"/>
            <a:ext cx="6870032" cy="923330"/>
          </a:xfrm>
          <a:prstGeom prst="rect">
            <a:avLst/>
          </a:prstGeom>
          <a:noFill/>
        </p:spPr>
        <p:txBody>
          <a:bodyPr wrap="square">
            <a:spAutoFit/>
          </a:bodyPr>
          <a:lstStyle/>
          <a:p>
            <a:r>
              <a:rPr lang="en-IN" b="0" i="0" u="none" strike="noStrike" dirty="0">
                <a:solidFill>
                  <a:srgbClr val="202124"/>
                </a:solidFill>
                <a:effectLst/>
                <a:latin typeface="Google Sans"/>
              </a:rPr>
              <a:t>In organic chemistry, olefin metathesis is </a:t>
            </a:r>
            <a:r>
              <a:rPr lang="en-IN" b="0" i="0" u="none" strike="noStrike" dirty="0">
                <a:solidFill>
                  <a:srgbClr val="040C28"/>
                </a:solidFill>
                <a:effectLst/>
                <a:latin typeface="Google Sans"/>
              </a:rPr>
              <a:t>an organic reaction that entails the redistribution of fragments of alkenes (olefins) by the scission and regeneration of carbon-carbon double bonds</a:t>
            </a:r>
            <a:endParaRPr lang="en-US" dirty="0"/>
          </a:p>
        </p:txBody>
      </p:sp>
      <p:sp>
        <p:nvSpPr>
          <p:cNvPr id="8" name="TextBox 7">
            <a:extLst>
              <a:ext uri="{FF2B5EF4-FFF2-40B4-BE49-F238E27FC236}">
                <a16:creationId xmlns:a16="http://schemas.microsoft.com/office/drawing/2014/main" id="{2E3B9022-1EE8-0A97-D043-D1ED2948E398}"/>
              </a:ext>
            </a:extLst>
          </p:cNvPr>
          <p:cNvSpPr txBox="1"/>
          <p:nvPr/>
        </p:nvSpPr>
        <p:spPr>
          <a:xfrm>
            <a:off x="3461084" y="204704"/>
            <a:ext cx="6096000" cy="369332"/>
          </a:xfrm>
          <a:prstGeom prst="rect">
            <a:avLst/>
          </a:prstGeom>
          <a:noFill/>
        </p:spPr>
        <p:txBody>
          <a:bodyPr wrap="square">
            <a:spAutoFit/>
          </a:bodyPr>
          <a:lstStyle/>
          <a:p>
            <a:r>
              <a:rPr lang="en-IN" b="0" i="0" u="none" strike="noStrike" dirty="0">
                <a:solidFill>
                  <a:srgbClr val="202124"/>
                </a:solidFill>
                <a:effectLst/>
                <a:latin typeface="Google Sans"/>
              </a:rPr>
              <a:t>What is Olefin Metathesis?</a:t>
            </a:r>
            <a:endParaRPr lang="en-US" dirty="0"/>
          </a:p>
        </p:txBody>
      </p:sp>
    </p:spTree>
    <p:extLst>
      <p:ext uri="{BB962C8B-B14F-4D97-AF65-F5344CB8AC3E}">
        <p14:creationId xmlns:p14="http://schemas.microsoft.com/office/powerpoint/2010/main" val="29449865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a:extLst>
              <a:ext uri="{FF2B5EF4-FFF2-40B4-BE49-F238E27FC236}">
                <a16:creationId xmlns:a16="http://schemas.microsoft.com/office/drawing/2014/main" id="{91B4CB2F-F6AC-A405-DD5A-E5881777F8F9}"/>
              </a:ext>
            </a:extLst>
          </p:cNvPr>
          <p:cNvSpPr>
            <a:spLocks noGrp="1"/>
          </p:cNvSpPr>
          <p:nvPr>
            <p:ph type="title"/>
          </p:nvPr>
        </p:nvSpPr>
        <p:spPr/>
        <p:txBody>
          <a:bodyPr/>
          <a:lstStyle/>
          <a:p>
            <a:pPr eaLnBrk="1" hangingPunct="1"/>
            <a:endParaRPr lang="en-US" altLang="en-US" dirty="0">
              <a:ea typeface="ＭＳ Ｐゴシック" panose="020B0600070205080204" pitchFamily="34" charset="-128"/>
            </a:endParaRPr>
          </a:p>
        </p:txBody>
      </p:sp>
      <p:sp>
        <p:nvSpPr>
          <p:cNvPr id="15363" name="Text Box 5">
            <a:extLst>
              <a:ext uri="{FF2B5EF4-FFF2-40B4-BE49-F238E27FC236}">
                <a16:creationId xmlns:a16="http://schemas.microsoft.com/office/drawing/2014/main" id="{D19374F9-D432-9EAC-BAFA-083F8B4C5EE0}"/>
              </a:ext>
            </a:extLst>
          </p:cNvPr>
          <p:cNvSpPr txBox="1">
            <a:spLocks noChangeArrowheads="1"/>
          </p:cNvSpPr>
          <p:nvPr/>
        </p:nvSpPr>
        <p:spPr bwMode="auto">
          <a:xfrm>
            <a:off x="1703388" y="6297614"/>
            <a:ext cx="42259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400">
                <a:latin typeface="Calibri" panose="020F0502020204030204" pitchFamily="34" charset="0"/>
              </a:rPr>
              <a:t>Trnka, T. M.; Grubbs, R. H. </a:t>
            </a:r>
            <a:r>
              <a:rPr lang="en-US" altLang="en-US" sz="1400" i="1">
                <a:latin typeface="Calibri" panose="020F0502020204030204" pitchFamily="34" charset="0"/>
              </a:rPr>
              <a:t>Acc. Chem. Res.</a:t>
            </a:r>
            <a:r>
              <a:rPr lang="en-US" altLang="en-US" sz="1400">
                <a:latin typeface="Calibri" panose="020F0502020204030204" pitchFamily="34" charset="0"/>
              </a:rPr>
              <a:t> 2001, </a:t>
            </a:r>
            <a:r>
              <a:rPr lang="en-US" altLang="en-US" sz="1400" i="1">
                <a:latin typeface="Calibri" panose="020F0502020204030204" pitchFamily="34" charset="0"/>
              </a:rPr>
              <a:t>34</a:t>
            </a:r>
            <a:r>
              <a:rPr lang="en-US" altLang="en-US" sz="1400">
                <a:latin typeface="Calibri" panose="020F0502020204030204" pitchFamily="34" charset="0"/>
              </a:rPr>
              <a:t>, 18.</a:t>
            </a:r>
          </a:p>
        </p:txBody>
      </p:sp>
      <p:pic>
        <p:nvPicPr>
          <p:cNvPr id="15364" name="Picture 2">
            <a:extLst>
              <a:ext uri="{FF2B5EF4-FFF2-40B4-BE49-F238E27FC236}">
                <a16:creationId xmlns:a16="http://schemas.microsoft.com/office/drawing/2014/main" id="{F9CBC92F-71AD-C996-E7E5-FDE9E978524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2209800"/>
            <a:ext cx="4686300"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Number Placeholder 4">
            <a:extLst>
              <a:ext uri="{FF2B5EF4-FFF2-40B4-BE49-F238E27FC236}">
                <a16:creationId xmlns:a16="http://schemas.microsoft.com/office/drawing/2014/main" id="{7D1E8B63-3771-E45D-1375-1B6FAA8C90B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98AFEDB5-1640-8A43-A54B-FC3145DA1289}" type="slidenum">
              <a:rPr lang="en-US" altLang="en-US" sz="1200">
                <a:solidFill>
                  <a:srgbClr val="898989"/>
                </a:solidFill>
                <a:latin typeface="Calibri" panose="020F0502020204030204" pitchFamily="34" charset="0"/>
              </a:rPr>
              <a:pPr eaLnBrk="1" hangingPunct="1"/>
              <a:t>28</a:t>
            </a:fld>
            <a:endParaRPr lang="en-US" altLang="en-US" sz="1200">
              <a:solidFill>
                <a:srgbClr val="898989"/>
              </a:solidFill>
              <a:latin typeface="Calibri" panose="020F0502020204030204" pitchFamily="34" charset="0"/>
            </a:endParaRPr>
          </a:p>
        </p:txBody>
      </p:sp>
      <p:sp>
        <p:nvSpPr>
          <p:cNvPr id="18434" name="Oval 9">
            <a:extLst>
              <a:ext uri="{FF2B5EF4-FFF2-40B4-BE49-F238E27FC236}">
                <a16:creationId xmlns:a16="http://schemas.microsoft.com/office/drawing/2014/main" id="{A44D72F8-6FCB-D226-897A-BB06DF6C3794}"/>
              </a:ext>
            </a:extLst>
          </p:cNvPr>
          <p:cNvSpPr>
            <a:spLocks noChangeArrowheads="1"/>
          </p:cNvSpPr>
          <p:nvPr/>
        </p:nvSpPr>
        <p:spPr bwMode="auto">
          <a:xfrm>
            <a:off x="5219700" y="3162300"/>
            <a:ext cx="1638300" cy="1092200"/>
          </a:xfrm>
          <a:prstGeom prst="ellipse">
            <a:avLst/>
          </a:prstGeom>
          <a:solidFill>
            <a:srgbClr val="7497DE"/>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graphicFrame>
        <p:nvGraphicFramePr>
          <p:cNvPr id="18435" name="Object 2">
            <a:extLst>
              <a:ext uri="{FF2B5EF4-FFF2-40B4-BE49-F238E27FC236}">
                <a16:creationId xmlns:a16="http://schemas.microsoft.com/office/drawing/2014/main" id="{A924FD08-8BC7-D3C2-5D04-C26DCC252895}"/>
              </a:ext>
            </a:extLst>
          </p:cNvPr>
          <p:cNvGraphicFramePr>
            <a:graphicFrameLocks noChangeAspect="1"/>
          </p:cNvGraphicFramePr>
          <p:nvPr/>
        </p:nvGraphicFramePr>
        <p:xfrm>
          <a:off x="1898650" y="1782763"/>
          <a:ext cx="8318500" cy="3852862"/>
        </p:xfrm>
        <a:graphic>
          <a:graphicData uri="http://schemas.openxmlformats.org/presentationml/2006/ole">
            <mc:AlternateContent xmlns:mc="http://schemas.openxmlformats.org/markup-compatibility/2006">
              <mc:Choice xmlns:v="urn:schemas-microsoft-com:vml" Requires="v">
                <p:oleObj name="CS ChemDraw Drawing" r:id="rId3" imgW="8331200" imgH="3860800" progId="ChemDraw.Document.6.0">
                  <p:embed/>
                </p:oleObj>
              </mc:Choice>
              <mc:Fallback>
                <p:oleObj name="CS ChemDraw Drawing" r:id="rId3" imgW="8331200" imgH="3860800" progId="ChemDraw.Document.6.0">
                  <p:embed/>
                  <p:pic>
                    <p:nvPicPr>
                      <p:cNvPr id="18435" name="Object 2">
                        <a:extLst>
                          <a:ext uri="{FF2B5EF4-FFF2-40B4-BE49-F238E27FC236}">
                            <a16:creationId xmlns:a16="http://schemas.microsoft.com/office/drawing/2014/main" id="{A924FD08-8BC7-D3C2-5D04-C26DCC2528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8650" y="1782763"/>
                        <a:ext cx="8318500" cy="3852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8436" name="Rectangle 2">
            <a:extLst>
              <a:ext uri="{FF2B5EF4-FFF2-40B4-BE49-F238E27FC236}">
                <a16:creationId xmlns:a16="http://schemas.microsoft.com/office/drawing/2014/main" id="{F6E99504-B9BA-11BD-19AF-43D4E09FA312}"/>
              </a:ext>
            </a:extLst>
          </p:cNvPr>
          <p:cNvSpPr>
            <a:spLocks noGrp="1" noChangeArrowheads="1"/>
          </p:cNvSpPr>
          <p:nvPr>
            <p:ph type="title"/>
          </p:nvPr>
        </p:nvSpPr>
        <p:spPr>
          <a:xfrm>
            <a:off x="2209800" y="228600"/>
            <a:ext cx="7772400" cy="1143000"/>
          </a:xfrm>
        </p:spPr>
        <p:txBody>
          <a:bodyPr/>
          <a:lstStyle/>
          <a:p>
            <a:pPr eaLnBrk="1" hangingPunct="1"/>
            <a:r>
              <a:rPr lang="en-US" altLang="en-US" sz="4000" b="1" i="1">
                <a:solidFill>
                  <a:srgbClr val="006699"/>
                </a:solidFill>
                <a:latin typeface="Arial Narrow" panose="020B0604020202020204" pitchFamily="34" charset="0"/>
                <a:ea typeface="ＭＳ Ｐゴシック" panose="020B0600070205080204" pitchFamily="34" charset="-128"/>
              </a:rPr>
              <a:t>Metathesis in Chemistry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Number Placeholder 4">
            <a:extLst>
              <a:ext uri="{FF2B5EF4-FFF2-40B4-BE49-F238E27FC236}">
                <a16:creationId xmlns:a16="http://schemas.microsoft.com/office/drawing/2014/main" id="{CE7B3BFC-AEEA-2E0A-DA24-38F481DEF30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1B272B5C-2812-C44A-84E7-4A46E22CBB1D}" type="slidenum">
              <a:rPr lang="en-US" altLang="en-US" sz="1200">
                <a:solidFill>
                  <a:srgbClr val="898989"/>
                </a:solidFill>
                <a:latin typeface="Calibri" panose="020F0502020204030204" pitchFamily="34" charset="0"/>
              </a:rPr>
              <a:pPr eaLnBrk="1" hangingPunct="1"/>
              <a:t>29</a:t>
            </a:fld>
            <a:endParaRPr lang="en-US" altLang="en-US" sz="1200">
              <a:solidFill>
                <a:srgbClr val="898989"/>
              </a:solidFill>
              <a:latin typeface="Calibri" panose="020F0502020204030204" pitchFamily="34" charset="0"/>
            </a:endParaRPr>
          </a:p>
        </p:txBody>
      </p:sp>
      <p:pic>
        <p:nvPicPr>
          <p:cNvPr id="24578" name="Picture 15">
            <a:extLst>
              <a:ext uri="{FF2B5EF4-FFF2-40B4-BE49-F238E27FC236}">
                <a16:creationId xmlns:a16="http://schemas.microsoft.com/office/drawing/2014/main" id="{7CBCC9AF-2B3A-3558-E205-0A5C266A9E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7201" y="1174751"/>
            <a:ext cx="8253413" cy="564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Rectangle 2">
            <a:extLst>
              <a:ext uri="{FF2B5EF4-FFF2-40B4-BE49-F238E27FC236}">
                <a16:creationId xmlns:a16="http://schemas.microsoft.com/office/drawing/2014/main" id="{F2775715-364B-D835-769B-B37FBE93B2C7}"/>
              </a:ext>
            </a:extLst>
          </p:cNvPr>
          <p:cNvSpPr>
            <a:spLocks noGrp="1" noChangeArrowheads="1"/>
          </p:cNvSpPr>
          <p:nvPr>
            <p:ph type="title"/>
          </p:nvPr>
        </p:nvSpPr>
        <p:spPr>
          <a:xfrm>
            <a:off x="2209800" y="228600"/>
            <a:ext cx="7772400" cy="1143000"/>
          </a:xfrm>
        </p:spPr>
        <p:txBody>
          <a:bodyPr/>
          <a:lstStyle/>
          <a:p>
            <a:pPr eaLnBrk="1" hangingPunct="1"/>
            <a:r>
              <a:rPr lang="en-US" altLang="en-US" sz="4000" b="1" i="1">
                <a:solidFill>
                  <a:srgbClr val="006699"/>
                </a:solidFill>
                <a:latin typeface="Arial Narrow" panose="020B0604020202020204" pitchFamily="34" charset="0"/>
                <a:ea typeface="ＭＳ Ｐゴシック" panose="020B0600070205080204" pitchFamily="34" charset="-128"/>
              </a:rPr>
              <a:t>Metathesis Publications</a:t>
            </a:r>
          </a:p>
        </p:txBody>
      </p:sp>
      <p:sp>
        <p:nvSpPr>
          <p:cNvPr id="24580" name="Text Box 3">
            <a:extLst>
              <a:ext uri="{FF2B5EF4-FFF2-40B4-BE49-F238E27FC236}">
                <a16:creationId xmlns:a16="http://schemas.microsoft.com/office/drawing/2014/main" id="{3B74940F-7A9B-6C6B-0198-77960C7D51B9}"/>
              </a:ext>
            </a:extLst>
          </p:cNvPr>
          <p:cNvSpPr txBox="1">
            <a:spLocks noChangeArrowheads="1"/>
          </p:cNvSpPr>
          <p:nvPr/>
        </p:nvSpPr>
        <p:spPr bwMode="auto">
          <a:xfrm>
            <a:off x="1676401" y="63246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i="1">
              <a:latin typeface="Calibri" panose="020F0502020204030204" pitchFamily="34" charset="0"/>
            </a:endParaRPr>
          </a:p>
        </p:txBody>
      </p:sp>
      <p:sp>
        <p:nvSpPr>
          <p:cNvPr id="351239" name="AutoShape 7">
            <a:extLst>
              <a:ext uri="{FF2B5EF4-FFF2-40B4-BE49-F238E27FC236}">
                <a16:creationId xmlns:a16="http://schemas.microsoft.com/office/drawing/2014/main" id="{96842DE6-C18B-69A5-F5F6-1B7A7723B636}"/>
              </a:ext>
            </a:extLst>
          </p:cNvPr>
          <p:cNvSpPr>
            <a:spLocks noChangeAspect="1" noChangeArrowheads="1"/>
          </p:cNvSpPr>
          <p:nvPr/>
        </p:nvSpPr>
        <p:spPr bwMode="auto">
          <a:xfrm>
            <a:off x="6834189" y="4038601"/>
            <a:ext cx="85725" cy="931863"/>
          </a:xfrm>
          <a:prstGeom prst="downArrow">
            <a:avLst>
              <a:gd name="adj1" fmla="val 50000"/>
              <a:gd name="adj2" fmla="val 271759"/>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351240" name="Text Box 8">
            <a:extLst>
              <a:ext uri="{FF2B5EF4-FFF2-40B4-BE49-F238E27FC236}">
                <a16:creationId xmlns:a16="http://schemas.microsoft.com/office/drawing/2014/main" id="{F143C1F0-E2A0-027A-E34D-78505B3CD9E2}"/>
              </a:ext>
            </a:extLst>
          </p:cNvPr>
          <p:cNvSpPr txBox="1">
            <a:spLocks noChangeArrowheads="1"/>
          </p:cNvSpPr>
          <p:nvPr/>
        </p:nvSpPr>
        <p:spPr bwMode="auto">
          <a:xfrm>
            <a:off x="5835007" y="3263900"/>
            <a:ext cx="21094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400">
                <a:latin typeface="Calibri" panose="020F0502020204030204" pitchFamily="34" charset="0"/>
              </a:rPr>
              <a:t>1</a:t>
            </a:r>
            <a:r>
              <a:rPr lang="en-US" altLang="en-US" sz="1400" baseline="30000">
                <a:latin typeface="Calibri" panose="020F0502020204030204" pitchFamily="34" charset="0"/>
              </a:rPr>
              <a:t>st </a:t>
            </a:r>
            <a:r>
              <a:rPr lang="en-US" altLang="en-US" sz="1400">
                <a:latin typeface="Calibri" panose="020F0502020204030204" pitchFamily="34" charset="0"/>
              </a:rPr>
              <a:t>Commerically available </a:t>
            </a:r>
          </a:p>
          <a:p>
            <a:pPr algn="ctr" eaLnBrk="1" hangingPunct="1"/>
            <a:r>
              <a:rPr lang="en-US" altLang="en-US" sz="1400">
                <a:latin typeface="Calibri" panose="020F0502020204030204" pitchFamily="34" charset="0"/>
              </a:rPr>
              <a:t>Grubbs catalyst</a:t>
            </a:r>
          </a:p>
        </p:txBody>
      </p:sp>
      <p:graphicFrame>
        <p:nvGraphicFramePr>
          <p:cNvPr id="351241" name="Object 2">
            <a:extLst>
              <a:ext uri="{FF2B5EF4-FFF2-40B4-BE49-F238E27FC236}">
                <a16:creationId xmlns:a16="http://schemas.microsoft.com/office/drawing/2014/main" id="{CA694571-5F82-FD01-911C-8B3EB277E0DE}"/>
              </a:ext>
            </a:extLst>
          </p:cNvPr>
          <p:cNvGraphicFramePr>
            <a:graphicFrameLocks noChangeAspect="1"/>
          </p:cNvGraphicFramePr>
          <p:nvPr/>
        </p:nvGraphicFramePr>
        <p:xfrm>
          <a:off x="6375400" y="1930400"/>
          <a:ext cx="1117600" cy="1041400"/>
        </p:xfrm>
        <a:graphic>
          <a:graphicData uri="http://schemas.openxmlformats.org/presentationml/2006/ole">
            <mc:AlternateContent xmlns:mc="http://schemas.openxmlformats.org/markup-compatibility/2006">
              <mc:Choice xmlns:v="urn:schemas-microsoft-com:vml" Requires="v">
                <p:oleObj name="CS ChemDraw Drawing" r:id="rId4" imgW="1130300" imgH="1054100" progId="ChemDraw.Document.6.0">
                  <p:embed/>
                </p:oleObj>
              </mc:Choice>
              <mc:Fallback>
                <p:oleObj name="CS ChemDraw Drawing" r:id="rId4" imgW="1130300" imgH="1054100" progId="ChemDraw.Document.6.0">
                  <p:embed/>
                  <p:pic>
                    <p:nvPicPr>
                      <p:cNvPr id="351241" name="Object 2">
                        <a:extLst>
                          <a:ext uri="{FF2B5EF4-FFF2-40B4-BE49-F238E27FC236}">
                            <a16:creationId xmlns:a16="http://schemas.microsoft.com/office/drawing/2014/main" id="{CA694571-5F82-FD01-911C-8B3EB277E0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75400" y="1930400"/>
                        <a:ext cx="1117600"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351242" name="AutoShape 10">
            <a:extLst>
              <a:ext uri="{FF2B5EF4-FFF2-40B4-BE49-F238E27FC236}">
                <a16:creationId xmlns:a16="http://schemas.microsoft.com/office/drawing/2014/main" id="{7AE6E383-190C-E0D9-8895-3FED6BB8FD9A}"/>
              </a:ext>
            </a:extLst>
          </p:cNvPr>
          <p:cNvSpPr>
            <a:spLocks noChangeAspect="1" noChangeArrowheads="1"/>
          </p:cNvSpPr>
          <p:nvPr/>
        </p:nvSpPr>
        <p:spPr bwMode="auto">
          <a:xfrm>
            <a:off x="5653089" y="4368801"/>
            <a:ext cx="85725" cy="931863"/>
          </a:xfrm>
          <a:prstGeom prst="downArrow">
            <a:avLst>
              <a:gd name="adj1" fmla="val 50000"/>
              <a:gd name="adj2" fmla="val 271759"/>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351243" name="Text Box 11">
            <a:extLst>
              <a:ext uri="{FF2B5EF4-FFF2-40B4-BE49-F238E27FC236}">
                <a16:creationId xmlns:a16="http://schemas.microsoft.com/office/drawing/2014/main" id="{C901A4E6-B584-D920-9652-0310DA80B332}"/>
              </a:ext>
            </a:extLst>
          </p:cNvPr>
          <p:cNvSpPr txBox="1">
            <a:spLocks noChangeArrowheads="1"/>
          </p:cNvSpPr>
          <p:nvPr/>
        </p:nvSpPr>
        <p:spPr bwMode="auto">
          <a:xfrm>
            <a:off x="4704707" y="3771900"/>
            <a:ext cx="21094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400">
                <a:latin typeface="Calibri" panose="020F0502020204030204" pitchFamily="34" charset="0"/>
              </a:rPr>
              <a:t>1</a:t>
            </a:r>
            <a:r>
              <a:rPr lang="en-US" altLang="en-US" sz="1400" baseline="30000">
                <a:latin typeface="Calibri" panose="020F0502020204030204" pitchFamily="34" charset="0"/>
              </a:rPr>
              <a:t>st </a:t>
            </a:r>
            <a:r>
              <a:rPr lang="en-US" altLang="en-US" sz="1400">
                <a:latin typeface="Calibri" panose="020F0502020204030204" pitchFamily="34" charset="0"/>
              </a:rPr>
              <a:t>Commerically available </a:t>
            </a:r>
          </a:p>
          <a:p>
            <a:pPr algn="ctr" eaLnBrk="1" hangingPunct="1"/>
            <a:r>
              <a:rPr lang="en-US" altLang="en-US" sz="1400">
                <a:latin typeface="Calibri" panose="020F0502020204030204" pitchFamily="34" charset="0"/>
              </a:rPr>
              <a:t>Schrock catalyst</a:t>
            </a:r>
          </a:p>
        </p:txBody>
      </p:sp>
      <p:graphicFrame>
        <p:nvGraphicFramePr>
          <p:cNvPr id="351245" name="Object 3">
            <a:extLst>
              <a:ext uri="{FF2B5EF4-FFF2-40B4-BE49-F238E27FC236}">
                <a16:creationId xmlns:a16="http://schemas.microsoft.com/office/drawing/2014/main" id="{282CE172-5786-9203-8B33-53D5D75E2CBC}"/>
              </a:ext>
            </a:extLst>
          </p:cNvPr>
          <p:cNvGraphicFramePr>
            <a:graphicFrameLocks noChangeAspect="1"/>
          </p:cNvGraphicFramePr>
          <p:nvPr/>
        </p:nvGraphicFramePr>
        <p:xfrm>
          <a:off x="3457575" y="1803400"/>
          <a:ext cx="1747838" cy="1828800"/>
        </p:xfrm>
        <a:graphic>
          <a:graphicData uri="http://schemas.openxmlformats.org/presentationml/2006/ole">
            <mc:AlternateContent xmlns:mc="http://schemas.openxmlformats.org/markup-compatibility/2006">
              <mc:Choice xmlns:v="urn:schemas-microsoft-com:vml" Requires="v">
                <p:oleObj name="CS ChemDraw Drawing" r:id="rId6" imgW="1765300" imgH="1841500" progId="ChemDraw.Document.6.0">
                  <p:embed/>
                </p:oleObj>
              </mc:Choice>
              <mc:Fallback>
                <p:oleObj name="CS ChemDraw Drawing" r:id="rId6" imgW="1765300" imgH="1841500" progId="ChemDraw.Document.6.0">
                  <p:embed/>
                  <p:pic>
                    <p:nvPicPr>
                      <p:cNvPr id="351245" name="Object 3">
                        <a:extLst>
                          <a:ext uri="{FF2B5EF4-FFF2-40B4-BE49-F238E27FC236}">
                            <a16:creationId xmlns:a16="http://schemas.microsoft.com/office/drawing/2014/main" id="{282CE172-5786-9203-8B33-53D5D75E2CB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57575" y="1803400"/>
                        <a:ext cx="1747838"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124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124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124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xit" presetSubtype="0" fill="hold" nodeType="clickEffect">
                                  <p:stCondLst>
                                    <p:cond delay="0"/>
                                  </p:stCondLst>
                                  <p:childTnLst>
                                    <p:set>
                                      <p:cBhvr>
                                        <p:cTn id="14" dur="1" fill="hold">
                                          <p:stCondLst>
                                            <p:cond delay="0"/>
                                          </p:stCondLst>
                                        </p:cTn>
                                        <p:tgtEl>
                                          <p:spTgt spid="351242"/>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351243"/>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351245"/>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35123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5124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512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9" grpId="0" animBg="1"/>
      <p:bldP spid="351240" grpId="0"/>
      <p:bldP spid="351242" grpId="0" animBg="1"/>
      <p:bldP spid="351242" grpId="1" animBg="1"/>
      <p:bldP spid="351243" grpId="0"/>
      <p:bldP spid="351243"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Number Placeholder 4">
            <a:extLst>
              <a:ext uri="{FF2B5EF4-FFF2-40B4-BE49-F238E27FC236}">
                <a16:creationId xmlns:a16="http://schemas.microsoft.com/office/drawing/2014/main" id="{47D5FF4E-3157-CE94-11FA-95126D1A918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F9405E74-230E-4343-8BF7-890BF8ADB608}" type="slidenum">
              <a:rPr lang="en-US" altLang="en-US" sz="1200">
                <a:solidFill>
                  <a:srgbClr val="898989"/>
                </a:solidFill>
                <a:latin typeface="Calibri" panose="020F0502020204030204" pitchFamily="34" charset="0"/>
              </a:rPr>
              <a:pPr eaLnBrk="1" hangingPunct="1"/>
              <a:t>30</a:t>
            </a:fld>
            <a:endParaRPr lang="en-US" altLang="en-US" sz="1200">
              <a:solidFill>
                <a:srgbClr val="898989"/>
              </a:solidFill>
              <a:latin typeface="Calibri" panose="020F0502020204030204" pitchFamily="34" charset="0"/>
            </a:endParaRPr>
          </a:p>
        </p:txBody>
      </p:sp>
      <p:sp>
        <p:nvSpPr>
          <p:cNvPr id="22530" name="Rectangle 2">
            <a:extLst>
              <a:ext uri="{FF2B5EF4-FFF2-40B4-BE49-F238E27FC236}">
                <a16:creationId xmlns:a16="http://schemas.microsoft.com/office/drawing/2014/main" id="{F9723469-2637-8B1C-C4F4-D58546761738}"/>
              </a:ext>
            </a:extLst>
          </p:cNvPr>
          <p:cNvSpPr>
            <a:spLocks noGrp="1" noChangeArrowheads="1"/>
          </p:cNvSpPr>
          <p:nvPr>
            <p:ph type="title"/>
          </p:nvPr>
        </p:nvSpPr>
        <p:spPr>
          <a:xfrm>
            <a:off x="2209800" y="228600"/>
            <a:ext cx="7772400" cy="1143000"/>
          </a:xfrm>
        </p:spPr>
        <p:txBody>
          <a:bodyPr/>
          <a:lstStyle/>
          <a:p>
            <a:pPr eaLnBrk="1" hangingPunct="1"/>
            <a:r>
              <a:rPr lang="en-US" altLang="en-US" sz="4000" b="1" i="1">
                <a:solidFill>
                  <a:srgbClr val="006699"/>
                </a:solidFill>
                <a:latin typeface="Arial Narrow" panose="020B0604020202020204" pitchFamily="34" charset="0"/>
                <a:ea typeface="ＭＳ Ｐゴシック" panose="020B0600070205080204" pitchFamily="34" charset="-128"/>
              </a:rPr>
              <a:t>2005 Nobel Prize for Metathesis</a:t>
            </a:r>
          </a:p>
        </p:txBody>
      </p:sp>
      <p:sp>
        <p:nvSpPr>
          <p:cNvPr id="22531" name="Text Box 3">
            <a:extLst>
              <a:ext uri="{FF2B5EF4-FFF2-40B4-BE49-F238E27FC236}">
                <a16:creationId xmlns:a16="http://schemas.microsoft.com/office/drawing/2014/main" id="{3CF5FBEC-D2F0-5878-BDA2-1DF3D6B7C60E}"/>
              </a:ext>
            </a:extLst>
          </p:cNvPr>
          <p:cNvSpPr txBox="1">
            <a:spLocks noChangeArrowheads="1"/>
          </p:cNvSpPr>
          <p:nvPr/>
        </p:nvSpPr>
        <p:spPr bwMode="auto">
          <a:xfrm>
            <a:off x="1676401" y="63246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i="1">
              <a:latin typeface="Calibri" panose="020F0502020204030204" pitchFamily="34" charset="0"/>
            </a:endParaRPr>
          </a:p>
        </p:txBody>
      </p:sp>
      <p:sp>
        <p:nvSpPr>
          <p:cNvPr id="22532" name="Text Box 4">
            <a:extLst>
              <a:ext uri="{FF2B5EF4-FFF2-40B4-BE49-F238E27FC236}">
                <a16:creationId xmlns:a16="http://schemas.microsoft.com/office/drawing/2014/main" id="{341FFD48-5F16-0243-C7C5-79557B732D96}"/>
              </a:ext>
            </a:extLst>
          </p:cNvPr>
          <p:cNvSpPr txBox="1">
            <a:spLocks noChangeArrowheads="1"/>
          </p:cNvSpPr>
          <p:nvPr/>
        </p:nvSpPr>
        <p:spPr bwMode="auto">
          <a:xfrm>
            <a:off x="1703389" y="6321426"/>
            <a:ext cx="587122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400">
                <a:latin typeface="Calibri" panose="020F0502020204030204" pitchFamily="34" charset="0"/>
              </a:rPr>
              <a:t>Chauvin, Y.; Schrock, R. R.; Grubbs, R. H. </a:t>
            </a:r>
            <a:r>
              <a:rPr lang="en-US" altLang="en-US" sz="1400" i="1">
                <a:latin typeface="Calibri" panose="020F0502020204030204" pitchFamily="34" charset="0"/>
              </a:rPr>
              <a:t>Angew. Chem. Int. Ed.</a:t>
            </a:r>
            <a:r>
              <a:rPr lang="en-US" altLang="en-US" sz="1400">
                <a:latin typeface="Calibri" panose="020F0502020204030204" pitchFamily="34" charset="0"/>
              </a:rPr>
              <a:t> 2006, </a:t>
            </a:r>
            <a:r>
              <a:rPr lang="en-US" altLang="en-US" sz="1400" i="1">
                <a:latin typeface="Calibri" panose="020F0502020204030204" pitchFamily="34" charset="0"/>
              </a:rPr>
              <a:t>47</a:t>
            </a:r>
            <a:r>
              <a:rPr lang="en-US" altLang="en-US" sz="1400">
                <a:latin typeface="Calibri" panose="020F0502020204030204" pitchFamily="34" charset="0"/>
              </a:rPr>
              <a:t>, 3740.</a:t>
            </a:r>
          </a:p>
        </p:txBody>
      </p:sp>
      <p:graphicFrame>
        <p:nvGraphicFramePr>
          <p:cNvPr id="373766" name="Object 2">
            <a:extLst>
              <a:ext uri="{FF2B5EF4-FFF2-40B4-BE49-F238E27FC236}">
                <a16:creationId xmlns:a16="http://schemas.microsoft.com/office/drawing/2014/main" id="{F540C936-1F84-AB80-5C1D-4600F3FA2B71}"/>
              </a:ext>
            </a:extLst>
          </p:cNvPr>
          <p:cNvGraphicFramePr>
            <a:graphicFrameLocks noChangeAspect="1"/>
          </p:cNvGraphicFramePr>
          <p:nvPr/>
        </p:nvGraphicFramePr>
        <p:xfrm>
          <a:off x="1624014" y="1789114"/>
          <a:ext cx="2847975" cy="3076575"/>
        </p:xfrm>
        <a:graphic>
          <a:graphicData uri="http://schemas.openxmlformats.org/presentationml/2006/ole">
            <mc:AlternateContent xmlns:mc="http://schemas.openxmlformats.org/markup-compatibility/2006">
              <mc:Choice xmlns:v="urn:schemas-microsoft-com:vml" Requires="v">
                <p:oleObj name="CS ChemDraw Drawing" r:id="rId3" imgW="2857500" imgH="3086100" progId="ChemDraw.Document.6.0">
                  <p:embed/>
                </p:oleObj>
              </mc:Choice>
              <mc:Fallback>
                <p:oleObj name="CS ChemDraw Drawing" r:id="rId3" imgW="2857500" imgH="3086100" progId="ChemDraw.Document.6.0">
                  <p:embed/>
                  <p:pic>
                    <p:nvPicPr>
                      <p:cNvPr id="373766" name="Object 2">
                        <a:extLst>
                          <a:ext uri="{FF2B5EF4-FFF2-40B4-BE49-F238E27FC236}">
                            <a16:creationId xmlns:a16="http://schemas.microsoft.com/office/drawing/2014/main" id="{F540C936-1F84-AB80-5C1D-4600F3FA2B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4014" y="1789114"/>
                        <a:ext cx="2847975" cy="307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73767" name="Object 3">
            <a:extLst>
              <a:ext uri="{FF2B5EF4-FFF2-40B4-BE49-F238E27FC236}">
                <a16:creationId xmlns:a16="http://schemas.microsoft.com/office/drawing/2014/main" id="{A4A62D85-DFEE-70FA-5025-623F1A2E0DA6}"/>
              </a:ext>
            </a:extLst>
          </p:cNvPr>
          <p:cNvGraphicFramePr>
            <a:graphicFrameLocks noChangeAspect="1"/>
          </p:cNvGraphicFramePr>
          <p:nvPr/>
        </p:nvGraphicFramePr>
        <p:xfrm>
          <a:off x="8204200" y="1790700"/>
          <a:ext cx="1930400" cy="3378200"/>
        </p:xfrm>
        <a:graphic>
          <a:graphicData uri="http://schemas.openxmlformats.org/presentationml/2006/ole">
            <mc:AlternateContent xmlns:mc="http://schemas.openxmlformats.org/markup-compatibility/2006">
              <mc:Choice xmlns:v="urn:schemas-microsoft-com:vml" Requires="v">
                <p:oleObj name="CS ChemDraw Drawing" r:id="rId5" imgW="1930400" imgH="3390900" progId="ChemDraw.Document.6.0">
                  <p:embed/>
                </p:oleObj>
              </mc:Choice>
              <mc:Fallback>
                <p:oleObj name="CS ChemDraw Drawing" r:id="rId5" imgW="1930400" imgH="3390900" progId="ChemDraw.Document.6.0">
                  <p:embed/>
                  <p:pic>
                    <p:nvPicPr>
                      <p:cNvPr id="373767" name="Object 3">
                        <a:extLst>
                          <a:ext uri="{FF2B5EF4-FFF2-40B4-BE49-F238E27FC236}">
                            <a16:creationId xmlns:a16="http://schemas.microsoft.com/office/drawing/2014/main" id="{A4A62D85-DFEE-70FA-5025-623F1A2E0D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04200" y="1790700"/>
                        <a:ext cx="1930400" cy="337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73769" name="Object 4">
            <a:extLst>
              <a:ext uri="{FF2B5EF4-FFF2-40B4-BE49-F238E27FC236}">
                <a16:creationId xmlns:a16="http://schemas.microsoft.com/office/drawing/2014/main" id="{D516829C-C12B-D644-EEC8-C73D260145D0}"/>
              </a:ext>
            </a:extLst>
          </p:cNvPr>
          <p:cNvGraphicFramePr>
            <a:graphicFrameLocks noChangeAspect="1"/>
          </p:cNvGraphicFramePr>
          <p:nvPr/>
        </p:nvGraphicFramePr>
        <p:xfrm>
          <a:off x="4556125" y="1789113"/>
          <a:ext cx="3081338" cy="3560762"/>
        </p:xfrm>
        <a:graphic>
          <a:graphicData uri="http://schemas.openxmlformats.org/presentationml/2006/ole">
            <mc:AlternateContent xmlns:mc="http://schemas.openxmlformats.org/markup-compatibility/2006">
              <mc:Choice xmlns:v="urn:schemas-microsoft-com:vml" Requires="v">
                <p:oleObj name="CS ChemDraw Drawing" r:id="rId7" imgW="3086100" imgH="3568700" progId="ChemDraw.Document.6.0">
                  <p:embed/>
                </p:oleObj>
              </mc:Choice>
              <mc:Fallback>
                <p:oleObj name="CS ChemDraw Drawing" r:id="rId7" imgW="3086100" imgH="3568700" progId="ChemDraw.Document.6.0">
                  <p:embed/>
                  <p:pic>
                    <p:nvPicPr>
                      <p:cNvPr id="373769" name="Object 4">
                        <a:extLst>
                          <a:ext uri="{FF2B5EF4-FFF2-40B4-BE49-F238E27FC236}">
                            <a16:creationId xmlns:a16="http://schemas.microsoft.com/office/drawing/2014/main" id="{D516829C-C12B-D644-EEC8-C73D260145D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56125" y="1789113"/>
                        <a:ext cx="3081338" cy="3560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7376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7376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737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Number Placeholder 4">
            <a:extLst>
              <a:ext uri="{FF2B5EF4-FFF2-40B4-BE49-F238E27FC236}">
                <a16:creationId xmlns:a16="http://schemas.microsoft.com/office/drawing/2014/main" id="{B9203EBC-6E43-4550-81A4-BB8F3329732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7B352A22-B836-DF46-BE2B-C6C453E84DE8}" type="slidenum">
              <a:rPr lang="en-US" altLang="en-US" sz="1200">
                <a:solidFill>
                  <a:srgbClr val="898989"/>
                </a:solidFill>
                <a:latin typeface="Calibri" panose="020F0502020204030204" pitchFamily="34" charset="0"/>
              </a:rPr>
              <a:pPr eaLnBrk="1" hangingPunct="1"/>
              <a:t>31</a:t>
            </a:fld>
            <a:endParaRPr lang="en-US" altLang="en-US" sz="1200">
              <a:solidFill>
                <a:srgbClr val="898989"/>
              </a:solidFill>
              <a:latin typeface="Calibri" panose="020F0502020204030204" pitchFamily="34" charset="0"/>
            </a:endParaRPr>
          </a:p>
        </p:txBody>
      </p:sp>
      <p:sp>
        <p:nvSpPr>
          <p:cNvPr id="28674" name="Rectangle 4">
            <a:extLst>
              <a:ext uri="{FF2B5EF4-FFF2-40B4-BE49-F238E27FC236}">
                <a16:creationId xmlns:a16="http://schemas.microsoft.com/office/drawing/2014/main" id="{BDB40D5C-76C2-DD56-BE1A-C7F19C2EFC5B}"/>
              </a:ext>
            </a:extLst>
          </p:cNvPr>
          <p:cNvSpPr>
            <a:spLocks noGrp="1" noChangeArrowheads="1"/>
          </p:cNvSpPr>
          <p:nvPr>
            <p:ph type="title"/>
          </p:nvPr>
        </p:nvSpPr>
        <p:spPr>
          <a:xfrm>
            <a:off x="1752600" y="228600"/>
            <a:ext cx="8674100" cy="1143000"/>
          </a:xfrm>
        </p:spPr>
        <p:txBody>
          <a:bodyPr/>
          <a:lstStyle/>
          <a:p>
            <a:pPr eaLnBrk="1" hangingPunct="1"/>
            <a:r>
              <a:rPr lang="en-US" altLang="en-US" b="1" i="1">
                <a:solidFill>
                  <a:srgbClr val="006699"/>
                </a:solidFill>
                <a:latin typeface="Arial Narrow" panose="020B0604020202020204" pitchFamily="34" charset="0"/>
                <a:ea typeface="ＭＳ Ｐゴシック" panose="020B0600070205080204" pitchFamily="34" charset="-128"/>
              </a:rPr>
              <a:t>The Catalytic Cycle</a:t>
            </a:r>
          </a:p>
        </p:txBody>
      </p:sp>
      <p:sp>
        <p:nvSpPr>
          <p:cNvPr id="28675" name="Text Box 5">
            <a:extLst>
              <a:ext uri="{FF2B5EF4-FFF2-40B4-BE49-F238E27FC236}">
                <a16:creationId xmlns:a16="http://schemas.microsoft.com/office/drawing/2014/main" id="{8CCB9F28-91D4-434F-6BD1-2F0E4B296956}"/>
              </a:ext>
            </a:extLst>
          </p:cNvPr>
          <p:cNvSpPr txBox="1">
            <a:spLocks noChangeArrowheads="1"/>
          </p:cNvSpPr>
          <p:nvPr/>
        </p:nvSpPr>
        <p:spPr bwMode="auto">
          <a:xfrm>
            <a:off x="1676401" y="63246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i="1">
              <a:latin typeface="Calibri" panose="020F0502020204030204" pitchFamily="34" charset="0"/>
            </a:endParaRPr>
          </a:p>
        </p:txBody>
      </p:sp>
      <p:graphicFrame>
        <p:nvGraphicFramePr>
          <p:cNvPr id="28676" name="Object 3">
            <a:extLst>
              <a:ext uri="{FF2B5EF4-FFF2-40B4-BE49-F238E27FC236}">
                <a16:creationId xmlns:a16="http://schemas.microsoft.com/office/drawing/2014/main" id="{C9D143AC-B2AF-1C1F-98E1-A2B68E9D3953}"/>
              </a:ext>
            </a:extLst>
          </p:cNvPr>
          <p:cNvGraphicFramePr>
            <a:graphicFrameLocks noChangeAspect="1"/>
          </p:cNvGraphicFramePr>
          <p:nvPr/>
        </p:nvGraphicFramePr>
        <p:xfrm>
          <a:off x="1804988" y="4992688"/>
          <a:ext cx="2055812" cy="1370012"/>
        </p:xfrm>
        <a:graphic>
          <a:graphicData uri="http://schemas.openxmlformats.org/presentationml/2006/ole">
            <mc:AlternateContent xmlns:mc="http://schemas.openxmlformats.org/markup-compatibility/2006">
              <mc:Choice xmlns:v="urn:schemas-microsoft-com:vml" Requires="v">
                <p:oleObj name="CS ChemDraw Drawing" r:id="rId3" imgW="2070100" imgH="1384300" progId="ChemDraw.Document.6.0">
                  <p:embed/>
                </p:oleObj>
              </mc:Choice>
              <mc:Fallback>
                <p:oleObj name="CS ChemDraw Drawing" r:id="rId3" imgW="2070100" imgH="1384300" progId="ChemDraw.Document.6.0">
                  <p:embed/>
                  <p:pic>
                    <p:nvPicPr>
                      <p:cNvPr id="28676" name="Object 3">
                        <a:extLst>
                          <a:ext uri="{FF2B5EF4-FFF2-40B4-BE49-F238E27FC236}">
                            <a16:creationId xmlns:a16="http://schemas.microsoft.com/office/drawing/2014/main" id="{C9D143AC-B2AF-1C1F-98E1-A2B68E9D39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4988" y="4992688"/>
                        <a:ext cx="2055812" cy="1370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pic>
        <p:nvPicPr>
          <p:cNvPr id="28677" name="Picture 1">
            <a:extLst>
              <a:ext uri="{FF2B5EF4-FFF2-40B4-BE49-F238E27FC236}">
                <a16:creationId xmlns:a16="http://schemas.microsoft.com/office/drawing/2014/main" id="{9E75CFE4-C3DD-D009-ED9C-783FC280942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733800" y="1143000"/>
            <a:ext cx="5791200" cy="517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A038F0BF-8B9C-1678-CF10-34012D55624E}"/>
              </a:ext>
            </a:extLst>
          </p:cNvPr>
          <p:cNvSpPr>
            <a:spLocks noGrp="1"/>
          </p:cNvSpPr>
          <p:nvPr>
            <p:ph type="title"/>
          </p:nvPr>
        </p:nvSpPr>
        <p:spPr/>
        <p:txBody>
          <a:bodyPr/>
          <a:lstStyle/>
          <a:p>
            <a:pPr eaLnBrk="1" hangingPunct="1"/>
            <a:r>
              <a:rPr lang="en-US" altLang="en-US">
                <a:ea typeface="ＭＳ Ｐゴシック" panose="020B0600070205080204" pitchFamily="34" charset="-128"/>
              </a:rPr>
              <a:t>Ring Closing Metathesis</a:t>
            </a:r>
          </a:p>
        </p:txBody>
      </p:sp>
      <p:pic>
        <p:nvPicPr>
          <p:cNvPr id="16386" name="Picture 2">
            <a:extLst>
              <a:ext uri="{FF2B5EF4-FFF2-40B4-BE49-F238E27FC236}">
                <a16:creationId xmlns:a16="http://schemas.microsoft.com/office/drawing/2014/main" id="{89865376-A981-9DBE-A407-E4D988AD34F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1219200"/>
            <a:ext cx="516255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83024960-6C2C-2FDA-BB4E-4172E4D5B1B9}"/>
              </a:ext>
            </a:extLst>
          </p:cNvPr>
          <p:cNvSpPr>
            <a:spLocks noGrp="1"/>
          </p:cNvSpPr>
          <p:nvPr>
            <p:ph type="title"/>
          </p:nvPr>
        </p:nvSpPr>
        <p:spPr/>
        <p:txBody>
          <a:bodyPr/>
          <a:lstStyle/>
          <a:p>
            <a:pPr eaLnBrk="1" hangingPunct="1"/>
            <a:r>
              <a:rPr lang="en-US" altLang="en-US">
                <a:ea typeface="ＭＳ Ｐゴシック" panose="020B0600070205080204" pitchFamily="34" charset="-128"/>
              </a:rPr>
              <a:t>Ring Opening Metathesis</a:t>
            </a:r>
          </a:p>
        </p:txBody>
      </p:sp>
      <p:pic>
        <p:nvPicPr>
          <p:cNvPr id="17410" name="Picture 2">
            <a:extLst>
              <a:ext uri="{FF2B5EF4-FFF2-40B4-BE49-F238E27FC236}">
                <a16:creationId xmlns:a16="http://schemas.microsoft.com/office/drawing/2014/main" id="{3750E25A-A1B5-55A7-8F16-22B2C7C50C7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619500" y="2578100"/>
            <a:ext cx="5608638"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Number Placeholder 4">
            <a:extLst>
              <a:ext uri="{FF2B5EF4-FFF2-40B4-BE49-F238E27FC236}">
                <a16:creationId xmlns:a16="http://schemas.microsoft.com/office/drawing/2014/main" id="{DCC4EA64-8A8F-57B4-394C-DBB310A4516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29884B5E-1522-3F4B-B503-925AAF80FBFB}" type="slidenum">
              <a:rPr lang="en-US" altLang="en-US" sz="1200">
                <a:solidFill>
                  <a:srgbClr val="898989"/>
                </a:solidFill>
                <a:latin typeface="Calibri" panose="020F0502020204030204" pitchFamily="34" charset="0"/>
              </a:rPr>
              <a:pPr eaLnBrk="1" hangingPunct="1"/>
              <a:t>34</a:t>
            </a:fld>
            <a:endParaRPr lang="en-US" altLang="en-US" sz="1200">
              <a:solidFill>
                <a:srgbClr val="898989"/>
              </a:solidFill>
              <a:latin typeface="Calibri" panose="020F0502020204030204" pitchFamily="34" charset="0"/>
            </a:endParaRPr>
          </a:p>
        </p:txBody>
      </p:sp>
      <p:sp>
        <p:nvSpPr>
          <p:cNvPr id="26626" name="Rectangle 2">
            <a:extLst>
              <a:ext uri="{FF2B5EF4-FFF2-40B4-BE49-F238E27FC236}">
                <a16:creationId xmlns:a16="http://schemas.microsoft.com/office/drawing/2014/main" id="{5BB53D89-B05D-27AB-C7BA-E948D0EAE953}"/>
              </a:ext>
            </a:extLst>
          </p:cNvPr>
          <p:cNvSpPr>
            <a:spLocks noGrp="1" noChangeArrowheads="1"/>
          </p:cNvSpPr>
          <p:nvPr>
            <p:ph type="title"/>
          </p:nvPr>
        </p:nvSpPr>
        <p:spPr>
          <a:xfrm>
            <a:off x="2209800" y="228600"/>
            <a:ext cx="7772400" cy="1143000"/>
          </a:xfrm>
        </p:spPr>
        <p:txBody>
          <a:bodyPr/>
          <a:lstStyle/>
          <a:p>
            <a:pPr eaLnBrk="1" hangingPunct="1"/>
            <a:r>
              <a:rPr lang="en-US" altLang="en-US" sz="4000" b="1" i="1">
                <a:solidFill>
                  <a:srgbClr val="006699"/>
                </a:solidFill>
                <a:latin typeface="Arial Narrow" panose="020B0604020202020204" pitchFamily="34" charset="0"/>
                <a:ea typeface="ＭＳ Ｐゴシック" panose="020B0600070205080204" pitchFamily="34" charset="-128"/>
              </a:rPr>
              <a:t>Metathesis in Synthesis</a:t>
            </a:r>
          </a:p>
        </p:txBody>
      </p:sp>
      <p:sp>
        <p:nvSpPr>
          <p:cNvPr id="26627" name="Text Box 3">
            <a:extLst>
              <a:ext uri="{FF2B5EF4-FFF2-40B4-BE49-F238E27FC236}">
                <a16:creationId xmlns:a16="http://schemas.microsoft.com/office/drawing/2014/main" id="{92B408E0-371A-B651-C0C9-47F9BE136DEC}"/>
              </a:ext>
            </a:extLst>
          </p:cNvPr>
          <p:cNvSpPr txBox="1">
            <a:spLocks noChangeArrowheads="1"/>
          </p:cNvSpPr>
          <p:nvPr/>
        </p:nvSpPr>
        <p:spPr bwMode="auto">
          <a:xfrm>
            <a:off x="1676401" y="63246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i="1">
              <a:latin typeface="Calibri" panose="020F0502020204030204" pitchFamily="34" charset="0"/>
            </a:endParaRPr>
          </a:p>
        </p:txBody>
      </p:sp>
      <p:sp>
        <p:nvSpPr>
          <p:cNvPr id="26628" name="Text Box 4">
            <a:extLst>
              <a:ext uri="{FF2B5EF4-FFF2-40B4-BE49-F238E27FC236}">
                <a16:creationId xmlns:a16="http://schemas.microsoft.com/office/drawing/2014/main" id="{48E3501B-5CA0-A455-D2E2-F2498A588CBB}"/>
              </a:ext>
            </a:extLst>
          </p:cNvPr>
          <p:cNvSpPr txBox="1">
            <a:spLocks noChangeArrowheads="1"/>
          </p:cNvSpPr>
          <p:nvPr/>
        </p:nvSpPr>
        <p:spPr bwMode="auto">
          <a:xfrm>
            <a:off x="1703389" y="6042025"/>
            <a:ext cx="788696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400">
                <a:latin typeface="Calibri" panose="020F0502020204030204" pitchFamily="34" charset="0"/>
              </a:rPr>
              <a:t>Hirama, M.; Oishi, T.; Uehara, H.; Inoue, M.; Maruyama, M.; Oguri, H.; Satake, M. </a:t>
            </a:r>
            <a:r>
              <a:rPr lang="en-US" altLang="en-US" sz="1400" i="1">
                <a:latin typeface="Calibri" panose="020F0502020204030204" pitchFamily="34" charset="0"/>
              </a:rPr>
              <a:t>Science</a:t>
            </a:r>
            <a:r>
              <a:rPr lang="en-US" altLang="en-US" sz="1400">
                <a:latin typeface="Calibri" panose="020F0502020204030204" pitchFamily="34" charset="0"/>
              </a:rPr>
              <a:t> 2001, </a:t>
            </a:r>
            <a:r>
              <a:rPr lang="en-US" altLang="en-US" sz="1400" i="1">
                <a:latin typeface="Calibri" panose="020F0502020204030204" pitchFamily="34" charset="0"/>
              </a:rPr>
              <a:t>294</a:t>
            </a:r>
            <a:r>
              <a:rPr lang="en-US" altLang="en-US" sz="1400">
                <a:latin typeface="Calibri" panose="020F0502020204030204" pitchFamily="34" charset="0"/>
              </a:rPr>
              <a:t>, 1904.</a:t>
            </a:r>
          </a:p>
          <a:p>
            <a:pPr eaLnBrk="1" hangingPunct="1"/>
            <a:r>
              <a:rPr lang="en-US" altLang="en-US" sz="1400">
                <a:latin typeface="Calibri" panose="020F0502020204030204" pitchFamily="34" charset="0"/>
              </a:rPr>
              <a:t>Martin, S. F.; Humphrey, J. M.; Ali, A.; Hillier, M. C. </a:t>
            </a:r>
            <a:r>
              <a:rPr lang="en-US" altLang="en-US" sz="1400" i="1">
                <a:latin typeface="Calibri" panose="020F0502020204030204" pitchFamily="34" charset="0"/>
              </a:rPr>
              <a:t>J. Am. Chem. Soc.</a:t>
            </a:r>
            <a:r>
              <a:rPr lang="en-US" altLang="en-US" sz="1400">
                <a:latin typeface="Calibri" panose="020F0502020204030204" pitchFamily="34" charset="0"/>
              </a:rPr>
              <a:t> 1999,</a:t>
            </a:r>
            <a:r>
              <a:rPr lang="en-US" altLang="en-US" sz="1400" i="1">
                <a:latin typeface="Calibri" panose="020F0502020204030204" pitchFamily="34" charset="0"/>
              </a:rPr>
              <a:t>121</a:t>
            </a:r>
            <a:r>
              <a:rPr lang="en-US" altLang="en-US" sz="1400">
                <a:latin typeface="Calibri" panose="020F0502020204030204" pitchFamily="34" charset="0"/>
              </a:rPr>
              <a:t>, 866.</a:t>
            </a:r>
          </a:p>
          <a:p>
            <a:pPr eaLnBrk="1" hangingPunct="1"/>
            <a:r>
              <a:rPr lang="en-US" altLang="en-US" sz="1400">
                <a:latin typeface="Calibri" panose="020F0502020204030204" pitchFamily="34" charset="0"/>
              </a:rPr>
              <a:t>Faucher, A.-M. </a:t>
            </a:r>
            <a:r>
              <a:rPr lang="en-US" altLang="en-US" sz="1400" i="1">
                <a:latin typeface="Calibri" panose="020F0502020204030204" pitchFamily="34" charset="0"/>
              </a:rPr>
              <a:t>Org. Lett. </a:t>
            </a:r>
            <a:r>
              <a:rPr lang="en-US" altLang="en-US" sz="1400">
                <a:latin typeface="Calibri" panose="020F0502020204030204" pitchFamily="34" charset="0"/>
              </a:rPr>
              <a:t>2004, </a:t>
            </a:r>
            <a:r>
              <a:rPr lang="en-US" altLang="en-US" sz="1400" i="1">
                <a:latin typeface="Calibri" panose="020F0502020204030204" pitchFamily="34" charset="0"/>
              </a:rPr>
              <a:t>6</a:t>
            </a:r>
            <a:r>
              <a:rPr lang="en-US" altLang="en-US" sz="1400">
                <a:latin typeface="Calibri" panose="020F0502020204030204" pitchFamily="34" charset="0"/>
              </a:rPr>
              <a:t>, 2901.</a:t>
            </a:r>
          </a:p>
        </p:txBody>
      </p:sp>
      <p:graphicFrame>
        <p:nvGraphicFramePr>
          <p:cNvPr id="26629" name="Object 2">
            <a:extLst>
              <a:ext uri="{FF2B5EF4-FFF2-40B4-BE49-F238E27FC236}">
                <a16:creationId xmlns:a16="http://schemas.microsoft.com/office/drawing/2014/main" id="{13FB35B3-8BEA-6973-9552-CA3AD27573FA}"/>
              </a:ext>
            </a:extLst>
          </p:cNvPr>
          <p:cNvGraphicFramePr>
            <a:graphicFrameLocks noChangeAspect="1"/>
          </p:cNvGraphicFramePr>
          <p:nvPr/>
        </p:nvGraphicFramePr>
        <p:xfrm>
          <a:off x="2530475" y="1247775"/>
          <a:ext cx="2992438" cy="2865438"/>
        </p:xfrm>
        <a:graphic>
          <a:graphicData uri="http://schemas.openxmlformats.org/presentationml/2006/ole">
            <mc:AlternateContent xmlns:mc="http://schemas.openxmlformats.org/markup-compatibility/2006">
              <mc:Choice xmlns:v="urn:schemas-microsoft-com:vml" Requires="v">
                <p:oleObj name="CS ChemDraw Drawing" r:id="rId3" imgW="2997200" imgH="2882900" progId="ChemDraw.Document.6.0">
                  <p:embed/>
                </p:oleObj>
              </mc:Choice>
              <mc:Fallback>
                <p:oleObj name="CS ChemDraw Drawing" r:id="rId3" imgW="2997200" imgH="2882900" progId="ChemDraw.Document.6.0">
                  <p:embed/>
                  <p:pic>
                    <p:nvPicPr>
                      <p:cNvPr id="26629" name="Object 2">
                        <a:extLst>
                          <a:ext uri="{FF2B5EF4-FFF2-40B4-BE49-F238E27FC236}">
                            <a16:creationId xmlns:a16="http://schemas.microsoft.com/office/drawing/2014/main" id="{13FB35B3-8BEA-6973-9552-CA3AD27573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0475" y="1247775"/>
                        <a:ext cx="2992438" cy="2865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6630" name="Object 3">
            <a:extLst>
              <a:ext uri="{FF2B5EF4-FFF2-40B4-BE49-F238E27FC236}">
                <a16:creationId xmlns:a16="http://schemas.microsoft.com/office/drawing/2014/main" id="{46C65CE4-3C79-62DF-D608-E0CAADD614B4}"/>
              </a:ext>
            </a:extLst>
          </p:cNvPr>
          <p:cNvGraphicFramePr>
            <a:graphicFrameLocks noChangeAspect="1"/>
          </p:cNvGraphicFramePr>
          <p:nvPr/>
        </p:nvGraphicFramePr>
        <p:xfrm>
          <a:off x="7383463" y="1276350"/>
          <a:ext cx="1566862" cy="2146300"/>
        </p:xfrm>
        <a:graphic>
          <a:graphicData uri="http://schemas.openxmlformats.org/presentationml/2006/ole">
            <mc:AlternateContent xmlns:mc="http://schemas.openxmlformats.org/markup-compatibility/2006">
              <mc:Choice xmlns:v="urn:schemas-microsoft-com:vml" Requires="v">
                <p:oleObj name="CS ChemDraw Drawing" r:id="rId5" imgW="1587500" imgH="2159000" progId="ChemDraw.Document.6.0">
                  <p:embed/>
                </p:oleObj>
              </mc:Choice>
              <mc:Fallback>
                <p:oleObj name="CS ChemDraw Drawing" r:id="rId5" imgW="1587500" imgH="2159000" progId="ChemDraw.Document.6.0">
                  <p:embed/>
                  <p:pic>
                    <p:nvPicPr>
                      <p:cNvPr id="26630" name="Object 3">
                        <a:extLst>
                          <a:ext uri="{FF2B5EF4-FFF2-40B4-BE49-F238E27FC236}">
                            <a16:creationId xmlns:a16="http://schemas.microsoft.com/office/drawing/2014/main" id="{46C65CE4-3C79-62DF-D608-E0CAADD614B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83463" y="1276350"/>
                        <a:ext cx="1566862" cy="214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6631" name="Rectangle 10">
            <a:extLst>
              <a:ext uri="{FF2B5EF4-FFF2-40B4-BE49-F238E27FC236}">
                <a16:creationId xmlns:a16="http://schemas.microsoft.com/office/drawing/2014/main" id="{45B55236-D395-C2F8-BAE1-ED7A8C9922FF}"/>
              </a:ext>
            </a:extLst>
          </p:cNvPr>
          <p:cNvSpPr>
            <a:spLocks noChangeArrowheads="1"/>
          </p:cNvSpPr>
          <p:nvPr/>
        </p:nvSpPr>
        <p:spPr bwMode="auto">
          <a:xfrm>
            <a:off x="8001001" y="3429000"/>
            <a:ext cx="2111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Alzheimer's diseases</a:t>
            </a:r>
          </a:p>
        </p:txBody>
      </p:sp>
      <p:sp>
        <p:nvSpPr>
          <p:cNvPr id="26632" name="Rectangle 1">
            <a:extLst>
              <a:ext uri="{FF2B5EF4-FFF2-40B4-BE49-F238E27FC236}">
                <a16:creationId xmlns:a16="http://schemas.microsoft.com/office/drawing/2014/main" id="{7929E772-5E1D-995C-BE81-BC0D19122AB8}"/>
              </a:ext>
            </a:extLst>
          </p:cNvPr>
          <p:cNvSpPr>
            <a:spLocks noChangeArrowheads="1"/>
          </p:cNvSpPr>
          <p:nvPr/>
        </p:nvSpPr>
        <p:spPr bwMode="auto">
          <a:xfrm>
            <a:off x="1981201" y="3886201"/>
            <a:ext cx="13128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Ciluprevir</a:t>
            </a:r>
          </a:p>
          <a:p>
            <a:pPr eaLnBrk="1" hangingPunct="1"/>
            <a:r>
              <a:rPr lang="en-US" altLang="en-US" sz="1800"/>
              <a:t>Hepatitis C</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Number Placeholder 4">
            <a:extLst>
              <a:ext uri="{FF2B5EF4-FFF2-40B4-BE49-F238E27FC236}">
                <a16:creationId xmlns:a16="http://schemas.microsoft.com/office/drawing/2014/main" id="{C88680C9-EB0D-0CE9-D0A7-6C114E6E707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86644CC0-A6ED-2544-90CB-2B41B653CC7B}" type="slidenum">
              <a:rPr lang="en-US" altLang="en-US" sz="1200">
                <a:solidFill>
                  <a:srgbClr val="898989"/>
                </a:solidFill>
                <a:latin typeface="Calibri" panose="020F0502020204030204" pitchFamily="34" charset="0"/>
              </a:rPr>
              <a:pPr eaLnBrk="1" hangingPunct="1"/>
              <a:t>35</a:t>
            </a:fld>
            <a:endParaRPr lang="en-US" altLang="en-US" sz="1200">
              <a:solidFill>
                <a:srgbClr val="898989"/>
              </a:solidFill>
              <a:latin typeface="Calibri" panose="020F0502020204030204" pitchFamily="34" charset="0"/>
            </a:endParaRPr>
          </a:p>
        </p:txBody>
      </p:sp>
      <p:sp>
        <p:nvSpPr>
          <p:cNvPr id="30722" name="Rectangle 3">
            <a:extLst>
              <a:ext uri="{FF2B5EF4-FFF2-40B4-BE49-F238E27FC236}">
                <a16:creationId xmlns:a16="http://schemas.microsoft.com/office/drawing/2014/main" id="{263913F0-3EB9-546E-3C23-9497A57B3BB3}"/>
              </a:ext>
            </a:extLst>
          </p:cNvPr>
          <p:cNvSpPr>
            <a:spLocks noGrp="1" noChangeArrowheads="1"/>
          </p:cNvSpPr>
          <p:nvPr>
            <p:ph type="title"/>
          </p:nvPr>
        </p:nvSpPr>
        <p:spPr>
          <a:xfrm>
            <a:off x="2209800" y="228600"/>
            <a:ext cx="7772400" cy="1143000"/>
          </a:xfrm>
        </p:spPr>
        <p:txBody>
          <a:bodyPr/>
          <a:lstStyle/>
          <a:p>
            <a:pPr eaLnBrk="1" hangingPunct="1"/>
            <a:r>
              <a:rPr lang="en-US" altLang="en-US" sz="4000" b="1" i="1">
                <a:solidFill>
                  <a:srgbClr val="006699"/>
                </a:solidFill>
                <a:latin typeface="Arial Narrow" panose="020B0604020202020204" pitchFamily="34" charset="0"/>
                <a:ea typeface="ＭＳ Ｐゴシック" panose="020B0600070205080204" pitchFamily="34" charset="-128"/>
              </a:rPr>
              <a:t>Mechanism of Olefin Coordination</a:t>
            </a:r>
          </a:p>
        </p:txBody>
      </p:sp>
      <p:sp>
        <p:nvSpPr>
          <p:cNvPr id="30723" name="Text Box 4">
            <a:extLst>
              <a:ext uri="{FF2B5EF4-FFF2-40B4-BE49-F238E27FC236}">
                <a16:creationId xmlns:a16="http://schemas.microsoft.com/office/drawing/2014/main" id="{D23C4BB2-7CFC-C4E3-22FB-57856676055F}"/>
              </a:ext>
            </a:extLst>
          </p:cNvPr>
          <p:cNvSpPr txBox="1">
            <a:spLocks noChangeArrowheads="1"/>
          </p:cNvSpPr>
          <p:nvPr/>
        </p:nvSpPr>
        <p:spPr bwMode="auto">
          <a:xfrm>
            <a:off x="1676401" y="63246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i="1">
              <a:latin typeface="Calibri" panose="020F0502020204030204" pitchFamily="34" charset="0"/>
            </a:endParaRPr>
          </a:p>
        </p:txBody>
      </p:sp>
      <p:sp>
        <p:nvSpPr>
          <p:cNvPr id="30724" name="Text Box 5">
            <a:extLst>
              <a:ext uri="{FF2B5EF4-FFF2-40B4-BE49-F238E27FC236}">
                <a16:creationId xmlns:a16="http://schemas.microsoft.com/office/drawing/2014/main" id="{0B2A4B6E-E9F0-9E15-34F8-340ACD127D33}"/>
              </a:ext>
            </a:extLst>
          </p:cNvPr>
          <p:cNvSpPr txBox="1">
            <a:spLocks noChangeArrowheads="1"/>
          </p:cNvSpPr>
          <p:nvPr/>
        </p:nvSpPr>
        <p:spPr bwMode="auto">
          <a:xfrm>
            <a:off x="1703388" y="6308726"/>
            <a:ext cx="54962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400">
                <a:latin typeface="Calibri" panose="020F0502020204030204" pitchFamily="34" charset="0"/>
              </a:rPr>
              <a:t>Dias, E. L.; Nguyen, S. T.; Grubbs, R. H. </a:t>
            </a:r>
            <a:r>
              <a:rPr lang="en-US" altLang="en-US" sz="1400" i="1">
                <a:latin typeface="Calibri" panose="020F0502020204030204" pitchFamily="34" charset="0"/>
              </a:rPr>
              <a:t>J. Am. Chem. Soc.</a:t>
            </a:r>
            <a:r>
              <a:rPr lang="en-US" altLang="en-US" sz="1400">
                <a:latin typeface="Calibri" panose="020F0502020204030204" pitchFamily="34" charset="0"/>
              </a:rPr>
              <a:t> 1997, </a:t>
            </a:r>
            <a:r>
              <a:rPr lang="en-US" altLang="en-US" sz="1400" i="1">
                <a:latin typeface="Calibri" panose="020F0502020204030204" pitchFamily="34" charset="0"/>
              </a:rPr>
              <a:t>119</a:t>
            </a:r>
            <a:r>
              <a:rPr lang="en-US" altLang="en-US" sz="1400">
                <a:latin typeface="Calibri" panose="020F0502020204030204" pitchFamily="34" charset="0"/>
              </a:rPr>
              <a:t>, 3887.</a:t>
            </a:r>
          </a:p>
        </p:txBody>
      </p:sp>
      <p:graphicFrame>
        <p:nvGraphicFramePr>
          <p:cNvPr id="30725" name="Object 2">
            <a:extLst>
              <a:ext uri="{FF2B5EF4-FFF2-40B4-BE49-F238E27FC236}">
                <a16:creationId xmlns:a16="http://schemas.microsoft.com/office/drawing/2014/main" id="{B0647A21-0785-CE9A-16E8-1E0E8641918C}"/>
              </a:ext>
            </a:extLst>
          </p:cNvPr>
          <p:cNvGraphicFramePr>
            <a:graphicFrameLocks noChangeAspect="1"/>
          </p:cNvGraphicFramePr>
          <p:nvPr/>
        </p:nvGraphicFramePr>
        <p:xfrm>
          <a:off x="3595689" y="2995614"/>
          <a:ext cx="4797425" cy="993775"/>
        </p:xfrm>
        <a:graphic>
          <a:graphicData uri="http://schemas.openxmlformats.org/presentationml/2006/ole">
            <mc:AlternateContent xmlns:mc="http://schemas.openxmlformats.org/markup-compatibility/2006">
              <mc:Choice xmlns:v="urn:schemas-microsoft-com:vml" Requires="v">
                <p:oleObj name="CS ChemDraw Drawing" r:id="rId3" imgW="4813300" imgH="1003300" progId="ChemDraw.Document.6.0">
                  <p:embed/>
                </p:oleObj>
              </mc:Choice>
              <mc:Fallback>
                <p:oleObj name="CS ChemDraw Drawing" r:id="rId3" imgW="4813300" imgH="1003300" progId="ChemDraw.Document.6.0">
                  <p:embed/>
                  <p:pic>
                    <p:nvPicPr>
                      <p:cNvPr id="30725" name="Object 2">
                        <a:extLst>
                          <a:ext uri="{FF2B5EF4-FFF2-40B4-BE49-F238E27FC236}">
                            <a16:creationId xmlns:a16="http://schemas.microsoft.com/office/drawing/2014/main" id="{B0647A21-0785-CE9A-16E8-1E0E864191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95689" y="2995614"/>
                        <a:ext cx="4797425" cy="99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Number Placeholder 4">
            <a:extLst>
              <a:ext uri="{FF2B5EF4-FFF2-40B4-BE49-F238E27FC236}">
                <a16:creationId xmlns:a16="http://schemas.microsoft.com/office/drawing/2014/main" id="{2CD6C82E-5F1C-05E3-8F70-6D4456640F2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FB81FF50-11DD-7D4D-A8D0-40BDA929CE1E}" type="slidenum">
              <a:rPr lang="en-US" altLang="en-US" sz="1200">
                <a:solidFill>
                  <a:srgbClr val="898989"/>
                </a:solidFill>
                <a:latin typeface="Calibri" panose="020F0502020204030204" pitchFamily="34" charset="0"/>
              </a:rPr>
              <a:pPr eaLnBrk="1" hangingPunct="1"/>
              <a:t>36</a:t>
            </a:fld>
            <a:endParaRPr lang="en-US" altLang="en-US" sz="1200">
              <a:solidFill>
                <a:srgbClr val="898989"/>
              </a:solidFill>
              <a:latin typeface="Calibri" panose="020F0502020204030204" pitchFamily="34" charset="0"/>
            </a:endParaRPr>
          </a:p>
        </p:txBody>
      </p:sp>
      <p:sp>
        <p:nvSpPr>
          <p:cNvPr id="500751" name="AutoShape 15">
            <a:extLst>
              <a:ext uri="{FF2B5EF4-FFF2-40B4-BE49-F238E27FC236}">
                <a16:creationId xmlns:a16="http://schemas.microsoft.com/office/drawing/2014/main" id="{D33EEEBD-D3A1-5513-5044-3837DD70D430}"/>
              </a:ext>
            </a:extLst>
          </p:cNvPr>
          <p:cNvSpPr>
            <a:spLocks noChangeArrowheads="1"/>
          </p:cNvSpPr>
          <p:nvPr/>
        </p:nvSpPr>
        <p:spPr bwMode="auto">
          <a:xfrm>
            <a:off x="3416300" y="2959100"/>
            <a:ext cx="1282700" cy="977900"/>
          </a:xfrm>
          <a:prstGeom prst="roundRect">
            <a:avLst>
              <a:gd name="adj" fmla="val 16667"/>
            </a:avLst>
          </a:prstGeom>
          <a:solidFill>
            <a:srgbClr val="D7D7D7"/>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500752" name="AutoShape 16">
            <a:extLst>
              <a:ext uri="{FF2B5EF4-FFF2-40B4-BE49-F238E27FC236}">
                <a16:creationId xmlns:a16="http://schemas.microsoft.com/office/drawing/2014/main" id="{23503904-189B-9E58-B92B-860FA15C6A0F}"/>
              </a:ext>
            </a:extLst>
          </p:cNvPr>
          <p:cNvSpPr>
            <a:spLocks noChangeArrowheads="1"/>
          </p:cNvSpPr>
          <p:nvPr/>
        </p:nvSpPr>
        <p:spPr bwMode="auto">
          <a:xfrm>
            <a:off x="3416300" y="4762500"/>
            <a:ext cx="1282700" cy="977900"/>
          </a:xfrm>
          <a:prstGeom prst="roundRect">
            <a:avLst>
              <a:gd name="adj" fmla="val 16667"/>
            </a:avLst>
          </a:prstGeom>
          <a:solidFill>
            <a:srgbClr val="D7D7D7"/>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500753" name="AutoShape 17">
            <a:extLst>
              <a:ext uri="{FF2B5EF4-FFF2-40B4-BE49-F238E27FC236}">
                <a16:creationId xmlns:a16="http://schemas.microsoft.com/office/drawing/2014/main" id="{009698C2-661E-7956-1236-13E0F467E323}"/>
              </a:ext>
            </a:extLst>
          </p:cNvPr>
          <p:cNvSpPr>
            <a:spLocks noChangeArrowheads="1"/>
          </p:cNvSpPr>
          <p:nvPr/>
        </p:nvSpPr>
        <p:spPr bwMode="auto">
          <a:xfrm>
            <a:off x="8458200" y="4762500"/>
            <a:ext cx="1282700" cy="977900"/>
          </a:xfrm>
          <a:prstGeom prst="roundRect">
            <a:avLst>
              <a:gd name="adj" fmla="val 16667"/>
            </a:avLst>
          </a:prstGeom>
          <a:solidFill>
            <a:srgbClr val="D7D7D7"/>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500755" name="AutoShape 19">
            <a:extLst>
              <a:ext uri="{FF2B5EF4-FFF2-40B4-BE49-F238E27FC236}">
                <a16:creationId xmlns:a16="http://schemas.microsoft.com/office/drawing/2014/main" id="{8A23FCF2-69BB-75D4-DEA0-16F1DE20B43E}"/>
              </a:ext>
            </a:extLst>
          </p:cNvPr>
          <p:cNvSpPr>
            <a:spLocks noChangeArrowheads="1"/>
          </p:cNvSpPr>
          <p:nvPr/>
        </p:nvSpPr>
        <p:spPr bwMode="auto">
          <a:xfrm>
            <a:off x="8432800" y="2959100"/>
            <a:ext cx="1282700" cy="977900"/>
          </a:xfrm>
          <a:prstGeom prst="roundRect">
            <a:avLst>
              <a:gd name="adj" fmla="val 16667"/>
            </a:avLst>
          </a:prstGeom>
          <a:solidFill>
            <a:srgbClr val="D7D7D7"/>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graphicFrame>
        <p:nvGraphicFramePr>
          <p:cNvPr id="500750" name="Object 2">
            <a:extLst>
              <a:ext uri="{FF2B5EF4-FFF2-40B4-BE49-F238E27FC236}">
                <a16:creationId xmlns:a16="http://schemas.microsoft.com/office/drawing/2014/main" id="{5AC0A707-C980-8403-607B-469DB7AABDBA}"/>
              </a:ext>
            </a:extLst>
          </p:cNvPr>
          <p:cNvGraphicFramePr>
            <a:graphicFrameLocks noChangeAspect="1"/>
          </p:cNvGraphicFramePr>
          <p:nvPr/>
        </p:nvGraphicFramePr>
        <p:xfrm>
          <a:off x="1863725" y="4816475"/>
          <a:ext cx="7778750" cy="884238"/>
        </p:xfrm>
        <a:graphic>
          <a:graphicData uri="http://schemas.openxmlformats.org/presentationml/2006/ole">
            <mc:AlternateContent xmlns:mc="http://schemas.openxmlformats.org/markup-compatibility/2006">
              <mc:Choice xmlns:v="urn:schemas-microsoft-com:vml" Requires="v">
                <p:oleObj name="CS ChemDraw Drawing" r:id="rId3" imgW="7797800" imgH="901700" progId="ChemDraw.Document.6.0">
                  <p:embed/>
                </p:oleObj>
              </mc:Choice>
              <mc:Fallback>
                <p:oleObj name="CS ChemDraw Drawing" r:id="rId3" imgW="7797800" imgH="901700" progId="ChemDraw.Document.6.0">
                  <p:embed/>
                  <p:pic>
                    <p:nvPicPr>
                      <p:cNvPr id="500750" name="Object 2">
                        <a:extLst>
                          <a:ext uri="{FF2B5EF4-FFF2-40B4-BE49-F238E27FC236}">
                            <a16:creationId xmlns:a16="http://schemas.microsoft.com/office/drawing/2014/main" id="{5AC0A707-C980-8403-607B-469DB7AABD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3725" y="4816475"/>
                        <a:ext cx="7778750" cy="88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00749" name="Object 3">
            <a:extLst>
              <a:ext uri="{FF2B5EF4-FFF2-40B4-BE49-F238E27FC236}">
                <a16:creationId xmlns:a16="http://schemas.microsoft.com/office/drawing/2014/main" id="{FD0BA1BC-A547-C482-18B6-8D8B1C9F8BF9}"/>
              </a:ext>
            </a:extLst>
          </p:cNvPr>
          <p:cNvGraphicFramePr>
            <a:graphicFrameLocks noChangeAspect="1"/>
          </p:cNvGraphicFramePr>
          <p:nvPr/>
        </p:nvGraphicFramePr>
        <p:xfrm>
          <a:off x="1914525" y="3006725"/>
          <a:ext cx="7778750" cy="922338"/>
        </p:xfrm>
        <a:graphic>
          <a:graphicData uri="http://schemas.openxmlformats.org/presentationml/2006/ole">
            <mc:AlternateContent xmlns:mc="http://schemas.openxmlformats.org/markup-compatibility/2006">
              <mc:Choice xmlns:v="urn:schemas-microsoft-com:vml" Requires="v">
                <p:oleObj name="CS ChemDraw Drawing" r:id="rId5" imgW="7912100" imgH="939800" progId="ChemDraw.Document.6.0">
                  <p:embed/>
                </p:oleObj>
              </mc:Choice>
              <mc:Fallback>
                <p:oleObj name="CS ChemDraw Drawing" r:id="rId5" imgW="7912100" imgH="939800" progId="ChemDraw.Document.6.0">
                  <p:embed/>
                  <p:pic>
                    <p:nvPicPr>
                      <p:cNvPr id="500749" name="Object 3">
                        <a:extLst>
                          <a:ext uri="{FF2B5EF4-FFF2-40B4-BE49-F238E27FC236}">
                            <a16:creationId xmlns:a16="http://schemas.microsoft.com/office/drawing/2014/main" id="{FD0BA1BC-A547-C482-18B6-8D8B1C9F8BF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14525" y="3006725"/>
                        <a:ext cx="7778750" cy="922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32776" name="Rectangle 2">
            <a:extLst>
              <a:ext uri="{FF2B5EF4-FFF2-40B4-BE49-F238E27FC236}">
                <a16:creationId xmlns:a16="http://schemas.microsoft.com/office/drawing/2014/main" id="{D72A3B1A-3745-10B4-30AA-B5C901B7CAEC}"/>
              </a:ext>
            </a:extLst>
          </p:cNvPr>
          <p:cNvSpPr>
            <a:spLocks noGrp="1" noChangeArrowheads="1"/>
          </p:cNvSpPr>
          <p:nvPr>
            <p:ph type="title"/>
          </p:nvPr>
        </p:nvSpPr>
        <p:spPr>
          <a:xfrm>
            <a:off x="2209800" y="228600"/>
            <a:ext cx="7772400" cy="1143000"/>
          </a:xfrm>
        </p:spPr>
        <p:txBody>
          <a:bodyPr/>
          <a:lstStyle/>
          <a:p>
            <a:pPr eaLnBrk="1" hangingPunct="1"/>
            <a:r>
              <a:rPr lang="en-US" altLang="en-US" sz="4000" b="1" i="1">
                <a:solidFill>
                  <a:srgbClr val="006699"/>
                </a:solidFill>
                <a:latin typeface="Arial Narrow" panose="020B0604020202020204" pitchFamily="34" charset="0"/>
                <a:ea typeface="ＭＳ Ｐゴシック" panose="020B0600070205080204" pitchFamily="34" charset="-128"/>
              </a:rPr>
              <a:t>Phosphine Dissociation Experiments</a:t>
            </a:r>
          </a:p>
        </p:txBody>
      </p:sp>
      <p:sp>
        <p:nvSpPr>
          <p:cNvPr id="32777" name="Text Box 3">
            <a:extLst>
              <a:ext uri="{FF2B5EF4-FFF2-40B4-BE49-F238E27FC236}">
                <a16:creationId xmlns:a16="http://schemas.microsoft.com/office/drawing/2014/main" id="{1BD44091-F9D5-7CA3-5EC0-D6A21BF341B6}"/>
              </a:ext>
            </a:extLst>
          </p:cNvPr>
          <p:cNvSpPr txBox="1">
            <a:spLocks noChangeArrowheads="1"/>
          </p:cNvSpPr>
          <p:nvPr/>
        </p:nvSpPr>
        <p:spPr bwMode="auto">
          <a:xfrm>
            <a:off x="1676401" y="63246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i="1">
              <a:latin typeface="Calibri" panose="020F0502020204030204" pitchFamily="34" charset="0"/>
            </a:endParaRPr>
          </a:p>
        </p:txBody>
      </p:sp>
      <p:sp>
        <p:nvSpPr>
          <p:cNvPr id="32778" name="Text Box 4">
            <a:extLst>
              <a:ext uri="{FF2B5EF4-FFF2-40B4-BE49-F238E27FC236}">
                <a16:creationId xmlns:a16="http://schemas.microsoft.com/office/drawing/2014/main" id="{14FAF425-757E-3CCE-4276-F02D6F510EAE}"/>
              </a:ext>
            </a:extLst>
          </p:cNvPr>
          <p:cNvSpPr txBox="1">
            <a:spLocks noChangeArrowheads="1"/>
          </p:cNvSpPr>
          <p:nvPr/>
        </p:nvSpPr>
        <p:spPr bwMode="auto">
          <a:xfrm>
            <a:off x="1703389" y="6308726"/>
            <a:ext cx="556831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400">
                <a:latin typeface="Calibri" panose="020F0502020204030204" pitchFamily="34" charset="0"/>
              </a:rPr>
              <a:t>Sanford, M. S.; Ulman, M.; Grubbs, R. H. </a:t>
            </a:r>
            <a:r>
              <a:rPr lang="en-US" altLang="en-US" sz="1400" i="1">
                <a:latin typeface="Calibri" panose="020F0502020204030204" pitchFamily="34" charset="0"/>
              </a:rPr>
              <a:t>J. Am. Chem. Soc.</a:t>
            </a:r>
            <a:r>
              <a:rPr lang="en-US" altLang="en-US" sz="1400">
                <a:latin typeface="Calibri" panose="020F0502020204030204" pitchFamily="34" charset="0"/>
              </a:rPr>
              <a:t> 2001, </a:t>
            </a:r>
            <a:r>
              <a:rPr lang="en-US" altLang="en-US" sz="1400" i="1">
                <a:latin typeface="Calibri" panose="020F0502020204030204" pitchFamily="34" charset="0"/>
              </a:rPr>
              <a:t>123</a:t>
            </a:r>
            <a:r>
              <a:rPr lang="en-US" altLang="en-US" sz="1400">
                <a:latin typeface="Calibri" panose="020F0502020204030204" pitchFamily="34" charset="0"/>
              </a:rPr>
              <a:t>, 749.</a:t>
            </a:r>
          </a:p>
        </p:txBody>
      </p:sp>
      <p:sp>
        <p:nvSpPr>
          <p:cNvPr id="500743" name="Text Box 7">
            <a:extLst>
              <a:ext uri="{FF2B5EF4-FFF2-40B4-BE49-F238E27FC236}">
                <a16:creationId xmlns:a16="http://schemas.microsoft.com/office/drawing/2014/main" id="{0D7E4D3E-1535-191F-E149-2BC8052EE15D}"/>
              </a:ext>
            </a:extLst>
          </p:cNvPr>
          <p:cNvSpPr txBox="1">
            <a:spLocks noChangeArrowheads="1"/>
          </p:cNvSpPr>
          <p:nvPr/>
        </p:nvSpPr>
        <p:spPr bwMode="auto">
          <a:xfrm>
            <a:off x="1950468" y="2270126"/>
            <a:ext cx="829265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Phosphine exchange monitored by </a:t>
            </a:r>
            <a:r>
              <a:rPr lang="en-US" altLang="en-US" sz="1800" baseline="30000">
                <a:latin typeface="Calibri" panose="020F0502020204030204" pitchFamily="34" charset="0"/>
              </a:rPr>
              <a:t>31</a:t>
            </a:r>
            <a:r>
              <a:rPr lang="en-US" altLang="en-US" sz="1800">
                <a:latin typeface="Calibri" panose="020F0502020204030204" pitchFamily="34" charset="0"/>
              </a:rPr>
              <a:t>P NMR experiments over a range of temperatures</a:t>
            </a:r>
          </a:p>
          <a:p>
            <a:pPr algn="ctr" eaLnBrk="1" hangingPunct="1"/>
            <a:r>
              <a:rPr lang="en-US" altLang="en-US" sz="1800">
                <a:latin typeface="Calibri" panose="020F0502020204030204" pitchFamily="34" charset="0"/>
              </a:rPr>
              <a:t>Catalyst will not carry out subsequent metathesis steps</a:t>
            </a:r>
          </a:p>
        </p:txBody>
      </p:sp>
      <p:graphicFrame>
        <p:nvGraphicFramePr>
          <p:cNvPr id="500744" name="Object 4">
            <a:extLst>
              <a:ext uri="{FF2B5EF4-FFF2-40B4-BE49-F238E27FC236}">
                <a16:creationId xmlns:a16="http://schemas.microsoft.com/office/drawing/2014/main" id="{3CC3DE2B-182D-DD70-B460-7ABB84C4A3F1}"/>
              </a:ext>
            </a:extLst>
          </p:cNvPr>
          <p:cNvGraphicFramePr>
            <a:graphicFrameLocks noChangeAspect="1"/>
          </p:cNvGraphicFramePr>
          <p:nvPr/>
        </p:nvGraphicFramePr>
        <p:xfrm>
          <a:off x="3294063" y="1279525"/>
          <a:ext cx="5605462" cy="871538"/>
        </p:xfrm>
        <a:graphic>
          <a:graphicData uri="http://schemas.openxmlformats.org/presentationml/2006/ole">
            <mc:AlternateContent xmlns:mc="http://schemas.openxmlformats.org/markup-compatibility/2006">
              <mc:Choice xmlns:v="urn:schemas-microsoft-com:vml" Requires="v">
                <p:oleObj name="CS ChemDraw Drawing" r:id="rId7" imgW="5613400" imgH="876300" progId="ChemDraw.Document.6.0">
                  <p:embed/>
                </p:oleObj>
              </mc:Choice>
              <mc:Fallback>
                <p:oleObj name="CS ChemDraw Drawing" r:id="rId7" imgW="5613400" imgH="876300" progId="ChemDraw.Document.6.0">
                  <p:embed/>
                  <p:pic>
                    <p:nvPicPr>
                      <p:cNvPr id="500744" name="Object 4">
                        <a:extLst>
                          <a:ext uri="{FF2B5EF4-FFF2-40B4-BE49-F238E27FC236}">
                            <a16:creationId xmlns:a16="http://schemas.microsoft.com/office/drawing/2014/main" id="{3CC3DE2B-182D-DD70-B460-7ABB84C4A3F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94063" y="1279525"/>
                        <a:ext cx="5605462" cy="871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500745" name="Text Box 9">
            <a:extLst>
              <a:ext uri="{FF2B5EF4-FFF2-40B4-BE49-F238E27FC236}">
                <a16:creationId xmlns:a16="http://schemas.microsoft.com/office/drawing/2014/main" id="{6D9ABDC4-ECD4-F346-1008-2342D85D1D3D}"/>
              </a:ext>
            </a:extLst>
          </p:cNvPr>
          <p:cNvSpPr txBox="1">
            <a:spLocks noChangeArrowheads="1"/>
          </p:cNvSpPr>
          <p:nvPr/>
        </p:nvSpPr>
        <p:spPr bwMode="auto">
          <a:xfrm>
            <a:off x="3698371" y="4543425"/>
            <a:ext cx="48317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a:latin typeface="Calibri" panose="020F0502020204030204" pitchFamily="34" charset="0"/>
              </a:rPr>
              <a:t>Key intermediates could not be observed by NMR</a:t>
            </a:r>
          </a:p>
        </p:txBody>
      </p:sp>
      <p:sp>
        <p:nvSpPr>
          <p:cNvPr id="500756" name="Text Box 20">
            <a:extLst>
              <a:ext uri="{FF2B5EF4-FFF2-40B4-BE49-F238E27FC236}">
                <a16:creationId xmlns:a16="http://schemas.microsoft.com/office/drawing/2014/main" id="{77EBE5A2-0757-B9BF-D268-7CE5EED12DC3}"/>
              </a:ext>
            </a:extLst>
          </p:cNvPr>
          <p:cNvSpPr txBox="1">
            <a:spLocks noChangeArrowheads="1"/>
          </p:cNvSpPr>
          <p:nvPr/>
        </p:nvSpPr>
        <p:spPr bwMode="auto">
          <a:xfrm>
            <a:off x="5013326" y="4238625"/>
            <a:ext cx="37371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Intermediates are observable by NMR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500745"/>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500744"/>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500743"/>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50074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0075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0075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0075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0075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0075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007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0751" grpId="0" animBg="1"/>
      <p:bldP spid="500752" grpId="0" animBg="1"/>
      <p:bldP spid="500753" grpId="0" animBg="1"/>
      <p:bldP spid="500755" grpId="0" animBg="1"/>
      <p:bldP spid="500743" grpId="0"/>
      <p:bldP spid="500745" grpId="0"/>
      <p:bldP spid="50075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Number Placeholder 4">
            <a:extLst>
              <a:ext uri="{FF2B5EF4-FFF2-40B4-BE49-F238E27FC236}">
                <a16:creationId xmlns:a16="http://schemas.microsoft.com/office/drawing/2014/main" id="{35972D59-C7BE-010B-760B-764EF148793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BB82448C-F341-BD44-B371-C6CEC834A5E6}" type="slidenum">
              <a:rPr lang="en-US" altLang="en-US" sz="1200">
                <a:solidFill>
                  <a:srgbClr val="898989"/>
                </a:solidFill>
                <a:latin typeface="Calibri" panose="020F0502020204030204" pitchFamily="34" charset="0"/>
              </a:rPr>
              <a:pPr eaLnBrk="1" hangingPunct="1"/>
              <a:t>37</a:t>
            </a:fld>
            <a:endParaRPr lang="en-US" altLang="en-US" sz="1200">
              <a:solidFill>
                <a:srgbClr val="898989"/>
              </a:solidFill>
              <a:latin typeface="Calibri" panose="020F0502020204030204" pitchFamily="34" charset="0"/>
            </a:endParaRPr>
          </a:p>
        </p:txBody>
      </p:sp>
      <p:sp>
        <p:nvSpPr>
          <p:cNvPr id="502803" name="AutoShape 19">
            <a:extLst>
              <a:ext uri="{FF2B5EF4-FFF2-40B4-BE49-F238E27FC236}">
                <a16:creationId xmlns:a16="http://schemas.microsoft.com/office/drawing/2014/main" id="{97481DFB-958A-8FC1-334E-E462803848F0}"/>
              </a:ext>
            </a:extLst>
          </p:cNvPr>
          <p:cNvSpPr>
            <a:spLocks noChangeArrowheads="1"/>
          </p:cNvSpPr>
          <p:nvPr/>
        </p:nvSpPr>
        <p:spPr bwMode="auto">
          <a:xfrm>
            <a:off x="6007100" y="1955800"/>
            <a:ext cx="1346200" cy="1104900"/>
          </a:xfrm>
          <a:prstGeom prst="roundRect">
            <a:avLst>
              <a:gd name="adj" fmla="val 16667"/>
            </a:avLst>
          </a:prstGeom>
          <a:solidFill>
            <a:srgbClr val="D7D7D7"/>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502804" name="AutoShape 20">
            <a:extLst>
              <a:ext uri="{FF2B5EF4-FFF2-40B4-BE49-F238E27FC236}">
                <a16:creationId xmlns:a16="http://schemas.microsoft.com/office/drawing/2014/main" id="{AB51AD9F-1546-E9FA-76BA-C7DF598EDF9D}"/>
              </a:ext>
            </a:extLst>
          </p:cNvPr>
          <p:cNvSpPr>
            <a:spLocks noChangeArrowheads="1"/>
          </p:cNvSpPr>
          <p:nvPr/>
        </p:nvSpPr>
        <p:spPr bwMode="auto">
          <a:xfrm>
            <a:off x="6007100" y="4229100"/>
            <a:ext cx="1346200" cy="1104900"/>
          </a:xfrm>
          <a:prstGeom prst="roundRect">
            <a:avLst>
              <a:gd name="adj" fmla="val 16667"/>
            </a:avLst>
          </a:prstGeom>
          <a:solidFill>
            <a:srgbClr val="D7D7D7"/>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34820" name="Rectangle 6">
            <a:extLst>
              <a:ext uri="{FF2B5EF4-FFF2-40B4-BE49-F238E27FC236}">
                <a16:creationId xmlns:a16="http://schemas.microsoft.com/office/drawing/2014/main" id="{D57BC7FA-5348-3958-1B30-3C6C14837423}"/>
              </a:ext>
            </a:extLst>
          </p:cNvPr>
          <p:cNvSpPr>
            <a:spLocks noGrp="1" noChangeArrowheads="1"/>
          </p:cNvSpPr>
          <p:nvPr>
            <p:ph type="title"/>
          </p:nvPr>
        </p:nvSpPr>
        <p:spPr>
          <a:xfrm>
            <a:off x="2209800" y="228600"/>
            <a:ext cx="7772400" cy="1143000"/>
          </a:xfrm>
        </p:spPr>
        <p:txBody>
          <a:bodyPr/>
          <a:lstStyle/>
          <a:p>
            <a:pPr eaLnBrk="1" hangingPunct="1"/>
            <a:r>
              <a:rPr lang="en-US" altLang="en-US" sz="4000" b="1" i="1">
                <a:solidFill>
                  <a:srgbClr val="006699"/>
                </a:solidFill>
                <a:latin typeface="Arial Narrow" panose="020B0604020202020204" pitchFamily="34" charset="0"/>
                <a:ea typeface="ＭＳ Ｐゴシック" panose="020B0600070205080204" pitchFamily="34" charset="-128"/>
              </a:rPr>
              <a:t>Phosphine Dissociation Experiments</a:t>
            </a:r>
          </a:p>
        </p:txBody>
      </p:sp>
      <p:sp>
        <p:nvSpPr>
          <p:cNvPr id="34821" name="Text Box 7">
            <a:extLst>
              <a:ext uri="{FF2B5EF4-FFF2-40B4-BE49-F238E27FC236}">
                <a16:creationId xmlns:a16="http://schemas.microsoft.com/office/drawing/2014/main" id="{67C63B48-B2C8-FA54-D43A-4B322863FFDB}"/>
              </a:ext>
            </a:extLst>
          </p:cNvPr>
          <p:cNvSpPr txBox="1">
            <a:spLocks noChangeArrowheads="1"/>
          </p:cNvSpPr>
          <p:nvPr/>
        </p:nvSpPr>
        <p:spPr bwMode="auto">
          <a:xfrm>
            <a:off x="1676401" y="63246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i="1">
              <a:latin typeface="Calibri" panose="020F0502020204030204" pitchFamily="34" charset="0"/>
            </a:endParaRPr>
          </a:p>
        </p:txBody>
      </p:sp>
      <p:sp>
        <p:nvSpPr>
          <p:cNvPr id="34822" name="Text Box 8">
            <a:extLst>
              <a:ext uri="{FF2B5EF4-FFF2-40B4-BE49-F238E27FC236}">
                <a16:creationId xmlns:a16="http://schemas.microsoft.com/office/drawing/2014/main" id="{B2004B94-8A1E-1042-F4C4-F3A3120651C1}"/>
              </a:ext>
            </a:extLst>
          </p:cNvPr>
          <p:cNvSpPr txBox="1">
            <a:spLocks noChangeArrowheads="1"/>
          </p:cNvSpPr>
          <p:nvPr/>
        </p:nvSpPr>
        <p:spPr bwMode="auto">
          <a:xfrm>
            <a:off x="1703389" y="6308726"/>
            <a:ext cx="556831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400">
                <a:latin typeface="Calibri" panose="020F0502020204030204" pitchFamily="34" charset="0"/>
              </a:rPr>
              <a:t>Sanford, M. S.; Ulman, M.; Grubbs, R. H. </a:t>
            </a:r>
            <a:r>
              <a:rPr lang="en-US" altLang="en-US" sz="1400" i="1">
                <a:latin typeface="Calibri" panose="020F0502020204030204" pitchFamily="34" charset="0"/>
              </a:rPr>
              <a:t>J. Am. Chem. Soc.</a:t>
            </a:r>
            <a:r>
              <a:rPr lang="en-US" altLang="en-US" sz="1400">
                <a:latin typeface="Calibri" panose="020F0502020204030204" pitchFamily="34" charset="0"/>
              </a:rPr>
              <a:t> 2001, </a:t>
            </a:r>
            <a:r>
              <a:rPr lang="en-US" altLang="en-US" sz="1400" i="1">
                <a:latin typeface="Calibri" panose="020F0502020204030204" pitchFamily="34" charset="0"/>
              </a:rPr>
              <a:t>123</a:t>
            </a:r>
            <a:r>
              <a:rPr lang="en-US" altLang="en-US" sz="1400">
                <a:latin typeface="Calibri" panose="020F0502020204030204" pitchFamily="34" charset="0"/>
              </a:rPr>
              <a:t>, 749.</a:t>
            </a:r>
          </a:p>
        </p:txBody>
      </p:sp>
      <p:graphicFrame>
        <p:nvGraphicFramePr>
          <p:cNvPr id="34823" name="Object 2">
            <a:extLst>
              <a:ext uri="{FF2B5EF4-FFF2-40B4-BE49-F238E27FC236}">
                <a16:creationId xmlns:a16="http://schemas.microsoft.com/office/drawing/2014/main" id="{06FC5B5D-E7A2-15EF-A823-2CD8E206D20A}"/>
              </a:ext>
            </a:extLst>
          </p:cNvPr>
          <p:cNvGraphicFramePr>
            <a:graphicFrameLocks noChangeAspect="1"/>
          </p:cNvGraphicFramePr>
          <p:nvPr/>
        </p:nvGraphicFramePr>
        <p:xfrm>
          <a:off x="2041525" y="2054225"/>
          <a:ext cx="7778750" cy="922338"/>
        </p:xfrm>
        <a:graphic>
          <a:graphicData uri="http://schemas.openxmlformats.org/presentationml/2006/ole">
            <mc:AlternateContent xmlns:mc="http://schemas.openxmlformats.org/markup-compatibility/2006">
              <mc:Choice xmlns:v="urn:schemas-microsoft-com:vml" Requires="v">
                <p:oleObj name="CS ChemDraw Drawing" r:id="rId3" imgW="7912100" imgH="939800" progId="ChemDraw.Document.6.0">
                  <p:embed/>
                </p:oleObj>
              </mc:Choice>
              <mc:Fallback>
                <p:oleObj name="CS ChemDraw Drawing" r:id="rId3" imgW="7912100" imgH="939800" progId="ChemDraw.Document.6.0">
                  <p:embed/>
                  <p:pic>
                    <p:nvPicPr>
                      <p:cNvPr id="34823" name="Object 2">
                        <a:extLst>
                          <a:ext uri="{FF2B5EF4-FFF2-40B4-BE49-F238E27FC236}">
                            <a16:creationId xmlns:a16="http://schemas.microsoft.com/office/drawing/2014/main" id="{06FC5B5D-E7A2-15EF-A823-2CD8E206D2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1525" y="2054225"/>
                        <a:ext cx="7778750" cy="922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4824" name="Object 3">
            <a:extLst>
              <a:ext uri="{FF2B5EF4-FFF2-40B4-BE49-F238E27FC236}">
                <a16:creationId xmlns:a16="http://schemas.microsoft.com/office/drawing/2014/main" id="{8A574747-EF98-7F8F-C9B3-79D4A8D05745}"/>
              </a:ext>
            </a:extLst>
          </p:cNvPr>
          <p:cNvGraphicFramePr>
            <a:graphicFrameLocks noChangeAspect="1"/>
          </p:cNvGraphicFramePr>
          <p:nvPr/>
        </p:nvGraphicFramePr>
        <p:xfrm>
          <a:off x="1990725" y="4371975"/>
          <a:ext cx="7778750" cy="884238"/>
        </p:xfrm>
        <a:graphic>
          <a:graphicData uri="http://schemas.openxmlformats.org/presentationml/2006/ole">
            <mc:AlternateContent xmlns:mc="http://schemas.openxmlformats.org/markup-compatibility/2006">
              <mc:Choice xmlns:v="urn:schemas-microsoft-com:vml" Requires="v">
                <p:oleObj name="CS ChemDraw Drawing" r:id="rId5" imgW="7797800" imgH="901700" progId="ChemDraw.Document.6.0">
                  <p:embed/>
                </p:oleObj>
              </mc:Choice>
              <mc:Fallback>
                <p:oleObj name="CS ChemDraw Drawing" r:id="rId5" imgW="7797800" imgH="901700" progId="ChemDraw.Document.6.0">
                  <p:embed/>
                  <p:pic>
                    <p:nvPicPr>
                      <p:cNvPr id="34824" name="Object 3">
                        <a:extLst>
                          <a:ext uri="{FF2B5EF4-FFF2-40B4-BE49-F238E27FC236}">
                            <a16:creationId xmlns:a16="http://schemas.microsoft.com/office/drawing/2014/main" id="{8A574747-EF98-7F8F-C9B3-79D4A8D0574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0725" y="4371975"/>
                        <a:ext cx="7778750" cy="88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4825" name="Object 4">
            <a:extLst>
              <a:ext uri="{FF2B5EF4-FFF2-40B4-BE49-F238E27FC236}">
                <a16:creationId xmlns:a16="http://schemas.microsoft.com/office/drawing/2014/main" id="{CE9D373D-3D94-35BB-DAC0-7398C3F537C6}"/>
              </a:ext>
            </a:extLst>
          </p:cNvPr>
          <p:cNvGraphicFramePr>
            <a:graphicFrameLocks noChangeAspect="1"/>
          </p:cNvGraphicFramePr>
          <p:nvPr/>
        </p:nvGraphicFramePr>
        <p:xfrm>
          <a:off x="3733800" y="1306514"/>
          <a:ext cx="4725988" cy="257175"/>
        </p:xfrm>
        <a:graphic>
          <a:graphicData uri="http://schemas.openxmlformats.org/presentationml/2006/ole">
            <mc:AlternateContent xmlns:mc="http://schemas.openxmlformats.org/markup-compatibility/2006">
              <mc:Choice xmlns:v="urn:schemas-microsoft-com:vml" Requires="v">
                <p:oleObj name="CS ChemDraw Drawing" r:id="rId7" imgW="4737100" imgH="266700" progId="ChemDraw.Document.6.0">
                  <p:embed/>
                </p:oleObj>
              </mc:Choice>
              <mc:Fallback>
                <p:oleObj name="CS ChemDraw Drawing" r:id="rId7" imgW="4737100" imgH="266700" progId="ChemDraw.Document.6.0">
                  <p:embed/>
                  <p:pic>
                    <p:nvPicPr>
                      <p:cNvPr id="34825" name="Object 4">
                        <a:extLst>
                          <a:ext uri="{FF2B5EF4-FFF2-40B4-BE49-F238E27FC236}">
                            <a16:creationId xmlns:a16="http://schemas.microsoft.com/office/drawing/2014/main" id="{CE9D373D-3D94-35BB-DAC0-7398C3F537C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33800" y="1306514"/>
                        <a:ext cx="4725988"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02809" name="Object 5">
            <a:extLst>
              <a:ext uri="{FF2B5EF4-FFF2-40B4-BE49-F238E27FC236}">
                <a16:creationId xmlns:a16="http://schemas.microsoft.com/office/drawing/2014/main" id="{9FF4F9BD-2114-4F0C-866D-1EA48A85B6DC}"/>
              </a:ext>
            </a:extLst>
          </p:cNvPr>
          <p:cNvGraphicFramePr>
            <a:graphicFrameLocks noChangeAspect="1"/>
          </p:cNvGraphicFramePr>
          <p:nvPr/>
        </p:nvGraphicFramePr>
        <p:xfrm>
          <a:off x="3721100" y="3467100"/>
          <a:ext cx="4749800" cy="279400"/>
        </p:xfrm>
        <a:graphic>
          <a:graphicData uri="http://schemas.openxmlformats.org/presentationml/2006/ole">
            <mc:AlternateContent xmlns:mc="http://schemas.openxmlformats.org/markup-compatibility/2006">
              <mc:Choice xmlns:v="urn:schemas-microsoft-com:vml" Requires="v">
                <p:oleObj name="CS ChemDraw Drawing" r:id="rId9" imgW="4889500" imgH="292100" progId="ChemDraw.Document.6.0">
                  <p:embed/>
                </p:oleObj>
              </mc:Choice>
              <mc:Fallback>
                <p:oleObj name="CS ChemDraw Drawing" r:id="rId9" imgW="4889500" imgH="292100" progId="ChemDraw.Document.6.0">
                  <p:embed/>
                  <p:pic>
                    <p:nvPicPr>
                      <p:cNvPr id="502809" name="Object 5">
                        <a:extLst>
                          <a:ext uri="{FF2B5EF4-FFF2-40B4-BE49-F238E27FC236}">
                            <a16:creationId xmlns:a16="http://schemas.microsoft.com/office/drawing/2014/main" id="{9FF4F9BD-2114-4F0C-866D-1EA48A85B6D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21100" y="3467100"/>
                        <a:ext cx="47498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02810" name="Object 6">
            <a:extLst>
              <a:ext uri="{FF2B5EF4-FFF2-40B4-BE49-F238E27FC236}">
                <a16:creationId xmlns:a16="http://schemas.microsoft.com/office/drawing/2014/main" id="{2174DB3E-1291-1606-9E91-A2DE88E95816}"/>
              </a:ext>
            </a:extLst>
          </p:cNvPr>
          <p:cNvGraphicFramePr>
            <a:graphicFrameLocks noChangeAspect="1"/>
          </p:cNvGraphicFramePr>
          <p:nvPr/>
        </p:nvGraphicFramePr>
        <p:xfrm>
          <a:off x="3695700" y="5765800"/>
          <a:ext cx="4851400" cy="279400"/>
        </p:xfrm>
        <a:graphic>
          <a:graphicData uri="http://schemas.openxmlformats.org/presentationml/2006/ole">
            <mc:AlternateContent xmlns:mc="http://schemas.openxmlformats.org/markup-compatibility/2006">
              <mc:Choice xmlns:v="urn:schemas-microsoft-com:vml" Requires="v">
                <p:oleObj name="CS ChemDraw Drawing" r:id="rId11" imgW="4991100" imgH="292100" progId="ChemDraw.Document.6.0">
                  <p:embed/>
                </p:oleObj>
              </mc:Choice>
              <mc:Fallback>
                <p:oleObj name="CS ChemDraw Drawing" r:id="rId11" imgW="4991100" imgH="292100" progId="ChemDraw.Document.6.0">
                  <p:embed/>
                  <p:pic>
                    <p:nvPicPr>
                      <p:cNvPr id="502810" name="Object 6">
                        <a:extLst>
                          <a:ext uri="{FF2B5EF4-FFF2-40B4-BE49-F238E27FC236}">
                            <a16:creationId xmlns:a16="http://schemas.microsoft.com/office/drawing/2014/main" id="{2174DB3E-1291-1606-9E91-A2DE88E9581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95700" y="5765800"/>
                        <a:ext cx="48514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02811" name="Object 7">
            <a:extLst>
              <a:ext uri="{FF2B5EF4-FFF2-40B4-BE49-F238E27FC236}">
                <a16:creationId xmlns:a16="http://schemas.microsoft.com/office/drawing/2014/main" id="{DDFAA81C-DB2A-25FE-8A6C-38376982DB86}"/>
              </a:ext>
            </a:extLst>
          </p:cNvPr>
          <p:cNvGraphicFramePr>
            <a:graphicFrameLocks noChangeAspect="1"/>
          </p:cNvGraphicFramePr>
          <p:nvPr/>
        </p:nvGraphicFramePr>
        <p:xfrm>
          <a:off x="2755900" y="3132139"/>
          <a:ext cx="6680200" cy="263525"/>
        </p:xfrm>
        <a:graphic>
          <a:graphicData uri="http://schemas.openxmlformats.org/presentationml/2006/ole">
            <mc:AlternateContent xmlns:mc="http://schemas.openxmlformats.org/markup-compatibility/2006">
              <mc:Choice xmlns:v="urn:schemas-microsoft-com:vml" Requires="v">
                <p:oleObj name="CS ChemDraw Drawing" r:id="rId13" imgW="6692900" imgH="279400" progId="ChemDraw.Document.6.0">
                  <p:embed/>
                </p:oleObj>
              </mc:Choice>
              <mc:Fallback>
                <p:oleObj name="CS ChemDraw Drawing" r:id="rId13" imgW="6692900" imgH="279400" progId="ChemDraw.Document.6.0">
                  <p:embed/>
                  <p:pic>
                    <p:nvPicPr>
                      <p:cNvPr id="502811" name="Object 7">
                        <a:extLst>
                          <a:ext uri="{FF2B5EF4-FFF2-40B4-BE49-F238E27FC236}">
                            <a16:creationId xmlns:a16="http://schemas.microsoft.com/office/drawing/2014/main" id="{DDFAA81C-DB2A-25FE-8A6C-38376982DB8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55900" y="3132139"/>
                        <a:ext cx="6680200" cy="26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02812" name="Object 8">
            <a:extLst>
              <a:ext uri="{FF2B5EF4-FFF2-40B4-BE49-F238E27FC236}">
                <a16:creationId xmlns:a16="http://schemas.microsoft.com/office/drawing/2014/main" id="{39E67CF9-3102-9C85-59CD-7C45711E9601}"/>
              </a:ext>
            </a:extLst>
          </p:cNvPr>
          <p:cNvGraphicFramePr>
            <a:graphicFrameLocks noChangeAspect="1"/>
          </p:cNvGraphicFramePr>
          <p:nvPr/>
        </p:nvGraphicFramePr>
        <p:xfrm>
          <a:off x="2846389" y="5432425"/>
          <a:ext cx="6499225" cy="261938"/>
        </p:xfrm>
        <a:graphic>
          <a:graphicData uri="http://schemas.openxmlformats.org/presentationml/2006/ole">
            <mc:AlternateContent xmlns:mc="http://schemas.openxmlformats.org/markup-compatibility/2006">
              <mc:Choice xmlns:v="urn:schemas-microsoft-com:vml" Requires="v">
                <p:oleObj name="CS ChemDraw Drawing" r:id="rId15" imgW="6502400" imgH="266700" progId="ChemDraw.Document.6.0">
                  <p:embed/>
                </p:oleObj>
              </mc:Choice>
              <mc:Fallback>
                <p:oleObj name="CS ChemDraw Drawing" r:id="rId15" imgW="6502400" imgH="266700" progId="ChemDraw.Document.6.0">
                  <p:embed/>
                  <p:pic>
                    <p:nvPicPr>
                      <p:cNvPr id="502812" name="Object 8">
                        <a:extLst>
                          <a:ext uri="{FF2B5EF4-FFF2-40B4-BE49-F238E27FC236}">
                            <a16:creationId xmlns:a16="http://schemas.microsoft.com/office/drawing/2014/main" id="{39E67CF9-3102-9C85-59CD-7C45711E9601}"/>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46389" y="5432425"/>
                        <a:ext cx="6499225" cy="26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280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0281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0280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02804"/>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502803"/>
                                        </p:tgtEl>
                                        <p:attrNameLst>
                                          <p:attrName>style.visibility</p:attrName>
                                        </p:attrNameLst>
                                      </p:cBhvr>
                                      <p:to>
                                        <p:strVal val="hidden"/>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502812"/>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5028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803" grpId="0" animBg="1"/>
      <p:bldP spid="502803" grpId="1" animBg="1"/>
      <p:bldP spid="50280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Number Placeholder 4">
            <a:extLst>
              <a:ext uri="{FF2B5EF4-FFF2-40B4-BE49-F238E27FC236}">
                <a16:creationId xmlns:a16="http://schemas.microsoft.com/office/drawing/2014/main" id="{15ABF2CC-E801-F7EF-DEA7-2E3F1F46124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10815A02-56E4-3440-9EA7-6956EBEF4C83}" type="slidenum">
              <a:rPr lang="en-US" altLang="en-US" sz="1200">
                <a:solidFill>
                  <a:srgbClr val="898989"/>
                </a:solidFill>
                <a:latin typeface="Calibri" panose="020F0502020204030204" pitchFamily="34" charset="0"/>
              </a:rPr>
              <a:pPr eaLnBrk="1" hangingPunct="1"/>
              <a:t>38</a:t>
            </a:fld>
            <a:endParaRPr lang="en-US" altLang="en-US" sz="1200">
              <a:solidFill>
                <a:srgbClr val="898989"/>
              </a:solidFill>
              <a:latin typeface="Calibri" panose="020F0502020204030204" pitchFamily="34" charset="0"/>
            </a:endParaRPr>
          </a:p>
        </p:txBody>
      </p:sp>
      <p:sp>
        <p:nvSpPr>
          <p:cNvPr id="510978" name="Rectangle 2">
            <a:extLst>
              <a:ext uri="{FF2B5EF4-FFF2-40B4-BE49-F238E27FC236}">
                <a16:creationId xmlns:a16="http://schemas.microsoft.com/office/drawing/2014/main" id="{A40E45BB-F514-B966-6C25-D6F3C945C54E}"/>
              </a:ext>
            </a:extLst>
          </p:cNvPr>
          <p:cNvSpPr>
            <a:spLocks noGrp="1" noChangeArrowheads="1"/>
          </p:cNvSpPr>
          <p:nvPr>
            <p:ph type="title"/>
          </p:nvPr>
        </p:nvSpPr>
        <p:spPr>
          <a:xfrm>
            <a:off x="2209800" y="228600"/>
            <a:ext cx="7772400" cy="1143000"/>
          </a:xfrm>
        </p:spPr>
        <p:txBody>
          <a:bodyPr rtlCol="0">
            <a:normAutofit fontScale="90000"/>
          </a:bodyPr>
          <a:lstStyle/>
          <a:p>
            <a:pPr>
              <a:defRPr/>
            </a:pPr>
            <a:r>
              <a:rPr lang="en-US" b="1" i="1">
                <a:solidFill>
                  <a:srgbClr val="006699"/>
                </a:solidFill>
                <a:latin typeface="Arial Narrow" pitchFamily="34" charset="0"/>
                <a:ea typeface="+mj-ea"/>
                <a:cs typeface="+mj-cs"/>
              </a:rPr>
              <a:t>Determining Dependence on Phosphine</a:t>
            </a:r>
          </a:p>
        </p:txBody>
      </p:sp>
      <p:sp>
        <p:nvSpPr>
          <p:cNvPr id="36867" name="Text Box 3">
            <a:extLst>
              <a:ext uri="{FF2B5EF4-FFF2-40B4-BE49-F238E27FC236}">
                <a16:creationId xmlns:a16="http://schemas.microsoft.com/office/drawing/2014/main" id="{92C4877E-6CDF-2EF1-4D14-BCB8C618CC97}"/>
              </a:ext>
            </a:extLst>
          </p:cNvPr>
          <p:cNvSpPr txBox="1">
            <a:spLocks noChangeArrowheads="1"/>
          </p:cNvSpPr>
          <p:nvPr/>
        </p:nvSpPr>
        <p:spPr bwMode="auto">
          <a:xfrm>
            <a:off x="1676401" y="63246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i="1">
              <a:latin typeface="Calibri" panose="020F0502020204030204" pitchFamily="34" charset="0"/>
            </a:endParaRPr>
          </a:p>
        </p:txBody>
      </p:sp>
      <p:sp>
        <p:nvSpPr>
          <p:cNvPr id="36868" name="Text Box 4">
            <a:extLst>
              <a:ext uri="{FF2B5EF4-FFF2-40B4-BE49-F238E27FC236}">
                <a16:creationId xmlns:a16="http://schemas.microsoft.com/office/drawing/2014/main" id="{C661AE55-D5F7-D5C0-7989-EAD452CFF119}"/>
              </a:ext>
            </a:extLst>
          </p:cNvPr>
          <p:cNvSpPr txBox="1">
            <a:spLocks noChangeArrowheads="1"/>
          </p:cNvSpPr>
          <p:nvPr/>
        </p:nvSpPr>
        <p:spPr bwMode="auto">
          <a:xfrm>
            <a:off x="1703389" y="6308726"/>
            <a:ext cx="556831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400">
                <a:latin typeface="Calibri" panose="020F0502020204030204" pitchFamily="34" charset="0"/>
              </a:rPr>
              <a:t>Sanford, M. S.; Ulman, M.; Grubbs, R. H. </a:t>
            </a:r>
            <a:r>
              <a:rPr lang="en-US" altLang="en-US" sz="1400" i="1">
                <a:latin typeface="Calibri" panose="020F0502020204030204" pitchFamily="34" charset="0"/>
              </a:rPr>
              <a:t>J. Am. Chem. Soc.</a:t>
            </a:r>
            <a:r>
              <a:rPr lang="en-US" altLang="en-US" sz="1400">
                <a:latin typeface="Calibri" panose="020F0502020204030204" pitchFamily="34" charset="0"/>
              </a:rPr>
              <a:t> 2001, </a:t>
            </a:r>
            <a:r>
              <a:rPr lang="en-US" altLang="en-US" sz="1400" i="1">
                <a:latin typeface="Calibri" panose="020F0502020204030204" pitchFamily="34" charset="0"/>
              </a:rPr>
              <a:t>123</a:t>
            </a:r>
            <a:r>
              <a:rPr lang="en-US" altLang="en-US" sz="1400">
                <a:latin typeface="Calibri" panose="020F0502020204030204" pitchFamily="34" charset="0"/>
              </a:rPr>
              <a:t>, 749.</a:t>
            </a:r>
          </a:p>
        </p:txBody>
      </p:sp>
      <p:graphicFrame>
        <p:nvGraphicFramePr>
          <p:cNvPr id="36869" name="Object 2">
            <a:extLst>
              <a:ext uri="{FF2B5EF4-FFF2-40B4-BE49-F238E27FC236}">
                <a16:creationId xmlns:a16="http://schemas.microsoft.com/office/drawing/2014/main" id="{1F495FD1-5FCF-5ECE-EE00-C7DC218EDB93}"/>
              </a:ext>
            </a:extLst>
          </p:cNvPr>
          <p:cNvGraphicFramePr>
            <a:graphicFrameLocks noChangeAspect="1"/>
          </p:cNvGraphicFramePr>
          <p:nvPr/>
        </p:nvGraphicFramePr>
        <p:xfrm>
          <a:off x="3294063" y="1470025"/>
          <a:ext cx="5605462" cy="871538"/>
        </p:xfrm>
        <a:graphic>
          <a:graphicData uri="http://schemas.openxmlformats.org/presentationml/2006/ole">
            <mc:AlternateContent xmlns:mc="http://schemas.openxmlformats.org/markup-compatibility/2006">
              <mc:Choice xmlns:v="urn:schemas-microsoft-com:vml" Requires="v">
                <p:oleObj name="CS ChemDraw Drawing" r:id="rId3" imgW="5613400" imgH="876300" progId="ChemDraw.Document.6.0">
                  <p:embed/>
                </p:oleObj>
              </mc:Choice>
              <mc:Fallback>
                <p:oleObj name="CS ChemDraw Drawing" r:id="rId3" imgW="5613400" imgH="876300" progId="ChemDraw.Document.6.0">
                  <p:embed/>
                  <p:pic>
                    <p:nvPicPr>
                      <p:cNvPr id="36869" name="Object 2">
                        <a:extLst>
                          <a:ext uri="{FF2B5EF4-FFF2-40B4-BE49-F238E27FC236}">
                            <a16:creationId xmlns:a16="http://schemas.microsoft.com/office/drawing/2014/main" id="{1F495FD1-5FCF-5ECE-EE00-C7DC218EDB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94063" y="1470025"/>
                        <a:ext cx="5605462" cy="871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510985" name="AutoShape 9">
            <a:extLst>
              <a:ext uri="{FF2B5EF4-FFF2-40B4-BE49-F238E27FC236}">
                <a16:creationId xmlns:a16="http://schemas.microsoft.com/office/drawing/2014/main" id="{CDA42C20-97C6-7B4C-7D36-34C57CED0334}"/>
              </a:ext>
            </a:extLst>
          </p:cNvPr>
          <p:cNvSpPr>
            <a:spLocks noChangeArrowheads="1"/>
          </p:cNvSpPr>
          <p:nvPr/>
        </p:nvSpPr>
        <p:spPr bwMode="auto">
          <a:xfrm>
            <a:off x="3314700" y="2387600"/>
            <a:ext cx="279400" cy="762000"/>
          </a:xfrm>
          <a:prstGeom prst="upArrow">
            <a:avLst>
              <a:gd name="adj1" fmla="val 50000"/>
              <a:gd name="adj2" fmla="val 68182"/>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510986" name="Text Box 10">
            <a:extLst>
              <a:ext uri="{FF2B5EF4-FFF2-40B4-BE49-F238E27FC236}">
                <a16:creationId xmlns:a16="http://schemas.microsoft.com/office/drawing/2014/main" id="{FF86A381-9FF2-7DDC-1ADB-D7503F2DBBE0}"/>
              </a:ext>
            </a:extLst>
          </p:cNvPr>
          <p:cNvSpPr txBox="1">
            <a:spLocks noChangeArrowheads="1"/>
          </p:cNvSpPr>
          <p:nvPr/>
        </p:nvSpPr>
        <p:spPr bwMode="auto">
          <a:xfrm>
            <a:off x="2270126" y="3209925"/>
            <a:ext cx="30176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Vary equivalents of phosphine</a:t>
            </a:r>
          </a:p>
        </p:txBody>
      </p:sp>
      <p:sp>
        <p:nvSpPr>
          <p:cNvPr id="510989" name="Text Box 13">
            <a:extLst>
              <a:ext uri="{FF2B5EF4-FFF2-40B4-BE49-F238E27FC236}">
                <a16:creationId xmlns:a16="http://schemas.microsoft.com/office/drawing/2014/main" id="{6F7919F0-7F74-32E2-1937-4ABB76D0D767}"/>
              </a:ext>
            </a:extLst>
          </p:cNvPr>
          <p:cNvSpPr txBox="1">
            <a:spLocks noChangeArrowheads="1"/>
          </p:cNvSpPr>
          <p:nvPr/>
        </p:nvSpPr>
        <p:spPr bwMode="auto">
          <a:xfrm>
            <a:off x="2320925" y="4097338"/>
            <a:ext cx="7505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k (s</a:t>
            </a:r>
            <a:r>
              <a:rPr lang="en-US" altLang="en-US" sz="1800" baseline="30000">
                <a:latin typeface="Calibri" panose="020F0502020204030204" pitchFamily="34" charset="0"/>
              </a:rPr>
              <a:t>-1</a:t>
            </a:r>
            <a:r>
              <a:rPr lang="en-US" altLang="en-US" sz="1800">
                <a:latin typeface="Calibri" panose="020F0502020204030204" pitchFamily="34" charset="0"/>
              </a:rPr>
              <a:t>) </a:t>
            </a:r>
          </a:p>
        </p:txBody>
      </p:sp>
      <p:sp>
        <p:nvSpPr>
          <p:cNvPr id="510990" name="Text Box 14">
            <a:extLst>
              <a:ext uri="{FF2B5EF4-FFF2-40B4-BE49-F238E27FC236}">
                <a16:creationId xmlns:a16="http://schemas.microsoft.com/office/drawing/2014/main" id="{8F238BBE-D886-30CE-1250-E3CAC5421A3C}"/>
              </a:ext>
            </a:extLst>
          </p:cNvPr>
          <p:cNvSpPr txBox="1">
            <a:spLocks noChangeArrowheads="1"/>
          </p:cNvSpPr>
          <p:nvPr/>
        </p:nvSpPr>
        <p:spPr bwMode="auto">
          <a:xfrm>
            <a:off x="5749926" y="6002338"/>
            <a:ext cx="9909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PR</a:t>
            </a:r>
            <a:r>
              <a:rPr lang="en-US" altLang="en-US" sz="1800" baseline="-25000">
                <a:latin typeface="Calibri" panose="020F0502020204030204" pitchFamily="34" charset="0"/>
              </a:rPr>
              <a:t>3</a:t>
            </a:r>
            <a:r>
              <a:rPr lang="en-US" altLang="en-US" sz="1800">
                <a:latin typeface="Calibri" panose="020F0502020204030204" pitchFamily="34" charset="0"/>
              </a:rPr>
              <a:t> (eq) </a:t>
            </a:r>
          </a:p>
        </p:txBody>
      </p:sp>
      <p:sp>
        <p:nvSpPr>
          <p:cNvPr id="510993" name="AutoShape 17">
            <a:extLst>
              <a:ext uri="{FF2B5EF4-FFF2-40B4-BE49-F238E27FC236}">
                <a16:creationId xmlns:a16="http://schemas.microsoft.com/office/drawing/2014/main" id="{AE4C36FA-9819-96BF-2103-A95E39BEE1DD}"/>
              </a:ext>
            </a:extLst>
          </p:cNvPr>
          <p:cNvSpPr>
            <a:spLocks noChangeArrowheads="1"/>
          </p:cNvSpPr>
          <p:nvPr/>
        </p:nvSpPr>
        <p:spPr bwMode="auto">
          <a:xfrm>
            <a:off x="6261100" y="3606800"/>
            <a:ext cx="304800" cy="546100"/>
          </a:xfrm>
          <a:prstGeom prst="downArrow">
            <a:avLst>
              <a:gd name="adj1" fmla="val 50000"/>
              <a:gd name="adj2" fmla="val 44792"/>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sp>
        <p:nvSpPr>
          <p:cNvPr id="510994" name="Text Box 18">
            <a:extLst>
              <a:ext uri="{FF2B5EF4-FFF2-40B4-BE49-F238E27FC236}">
                <a16:creationId xmlns:a16="http://schemas.microsoft.com/office/drawing/2014/main" id="{15AE3B18-97F7-F31B-0A43-96C3A512486A}"/>
              </a:ext>
            </a:extLst>
          </p:cNvPr>
          <p:cNvSpPr txBox="1">
            <a:spLocks noChangeArrowheads="1"/>
          </p:cNvSpPr>
          <p:nvPr/>
        </p:nvSpPr>
        <p:spPr bwMode="auto">
          <a:xfrm>
            <a:off x="4606926" y="3082925"/>
            <a:ext cx="54625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Rate shows no dependence on phosphine concentration</a:t>
            </a:r>
          </a:p>
        </p:txBody>
      </p:sp>
      <p:pic>
        <p:nvPicPr>
          <p:cNvPr id="510996" name="Picture 20">
            <a:extLst>
              <a:ext uri="{FF2B5EF4-FFF2-40B4-BE49-F238E27FC236}">
                <a16:creationId xmlns:a16="http://schemas.microsoft.com/office/drawing/2014/main" id="{F53C2C70-EF8D-DB7A-641E-2DB9C3CC07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62250" y="2122488"/>
            <a:ext cx="6413500" cy="418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098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0985"/>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xit" presetSubtype="0" fill="hold" nodeType="clickEffect">
                                  <p:stCondLst>
                                    <p:cond delay="0"/>
                                  </p:stCondLst>
                                  <p:childTnLst>
                                    <p:set>
                                      <p:cBhvr>
                                        <p:cTn id="12" dur="1" fill="hold">
                                          <p:stCondLst>
                                            <p:cond delay="0"/>
                                          </p:stCondLst>
                                        </p:cTn>
                                        <p:tgtEl>
                                          <p:spTgt spid="510986"/>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510985"/>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51098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1099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1099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51099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109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0985" grpId="0" animBg="1"/>
      <p:bldP spid="510985" grpId="1" animBg="1"/>
      <p:bldP spid="510986" grpId="0"/>
      <p:bldP spid="510986" grpId="1"/>
      <p:bldP spid="510989" grpId="0"/>
      <p:bldP spid="510990" grpId="0"/>
      <p:bldP spid="510993" grpId="0" animBg="1"/>
      <p:bldP spid="51099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Number Placeholder 4">
            <a:extLst>
              <a:ext uri="{FF2B5EF4-FFF2-40B4-BE49-F238E27FC236}">
                <a16:creationId xmlns:a16="http://schemas.microsoft.com/office/drawing/2014/main" id="{414676B4-5189-5E70-3AEE-DCCC29EBE6D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F30E4FAC-E773-8B49-9B0E-8323BF78F489}" type="slidenum">
              <a:rPr lang="en-US" altLang="en-US" sz="1200">
                <a:solidFill>
                  <a:srgbClr val="898989"/>
                </a:solidFill>
                <a:latin typeface="Calibri" panose="020F0502020204030204" pitchFamily="34" charset="0"/>
              </a:rPr>
              <a:pPr eaLnBrk="1" hangingPunct="1"/>
              <a:t>39</a:t>
            </a:fld>
            <a:endParaRPr lang="en-US" altLang="en-US" sz="1200">
              <a:solidFill>
                <a:srgbClr val="898989"/>
              </a:solidFill>
              <a:latin typeface="Calibri" panose="020F0502020204030204" pitchFamily="34" charset="0"/>
            </a:endParaRPr>
          </a:p>
        </p:txBody>
      </p:sp>
      <p:sp>
        <p:nvSpPr>
          <p:cNvPr id="38914" name="Rectangle 2">
            <a:extLst>
              <a:ext uri="{FF2B5EF4-FFF2-40B4-BE49-F238E27FC236}">
                <a16:creationId xmlns:a16="http://schemas.microsoft.com/office/drawing/2014/main" id="{FD5E8741-C8C7-7638-6E85-2310AFD1C370}"/>
              </a:ext>
            </a:extLst>
          </p:cNvPr>
          <p:cNvSpPr>
            <a:spLocks noGrp="1" noChangeArrowheads="1"/>
          </p:cNvSpPr>
          <p:nvPr>
            <p:ph type="title"/>
          </p:nvPr>
        </p:nvSpPr>
        <p:spPr>
          <a:xfrm>
            <a:off x="2209800" y="228600"/>
            <a:ext cx="7772400" cy="1143000"/>
          </a:xfrm>
        </p:spPr>
        <p:txBody>
          <a:bodyPr/>
          <a:lstStyle/>
          <a:p>
            <a:pPr eaLnBrk="1" hangingPunct="1"/>
            <a:r>
              <a:rPr lang="en-US" altLang="en-US" sz="4000" b="1" i="1">
                <a:solidFill>
                  <a:srgbClr val="006699"/>
                </a:solidFill>
                <a:latin typeface="Arial Narrow" panose="020B0604020202020204" pitchFamily="34" charset="0"/>
                <a:ea typeface="ＭＳ Ｐゴシック" panose="020B0600070205080204" pitchFamily="34" charset="-128"/>
              </a:rPr>
              <a:t>The Grubbs Catalysts</a:t>
            </a:r>
          </a:p>
        </p:txBody>
      </p:sp>
      <p:sp>
        <p:nvSpPr>
          <p:cNvPr id="38915" name="Text Box 3">
            <a:extLst>
              <a:ext uri="{FF2B5EF4-FFF2-40B4-BE49-F238E27FC236}">
                <a16:creationId xmlns:a16="http://schemas.microsoft.com/office/drawing/2014/main" id="{09E6BA21-807B-48AA-B37F-1229E403FD6B}"/>
              </a:ext>
            </a:extLst>
          </p:cNvPr>
          <p:cNvSpPr txBox="1">
            <a:spLocks noChangeArrowheads="1"/>
          </p:cNvSpPr>
          <p:nvPr/>
        </p:nvSpPr>
        <p:spPr bwMode="auto">
          <a:xfrm>
            <a:off x="1676401" y="63246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i="1">
              <a:latin typeface="Calibri" panose="020F0502020204030204" pitchFamily="34" charset="0"/>
            </a:endParaRPr>
          </a:p>
        </p:txBody>
      </p:sp>
      <p:sp>
        <p:nvSpPr>
          <p:cNvPr id="38916" name="Text Box 4">
            <a:extLst>
              <a:ext uri="{FF2B5EF4-FFF2-40B4-BE49-F238E27FC236}">
                <a16:creationId xmlns:a16="http://schemas.microsoft.com/office/drawing/2014/main" id="{90421003-422B-8817-8FD4-58A14D71B6CC}"/>
              </a:ext>
            </a:extLst>
          </p:cNvPr>
          <p:cNvSpPr txBox="1">
            <a:spLocks noChangeArrowheads="1"/>
          </p:cNvSpPr>
          <p:nvPr/>
        </p:nvSpPr>
        <p:spPr bwMode="auto">
          <a:xfrm>
            <a:off x="1703389" y="6308726"/>
            <a:ext cx="500239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400">
                <a:latin typeface="Calibri" panose="020F0502020204030204" pitchFamily="34" charset="0"/>
              </a:rPr>
              <a:t>Sholl, M.; Ding, S.; Lee, C. W.; Grubbs, R. H. </a:t>
            </a:r>
            <a:r>
              <a:rPr lang="en-US" altLang="en-US" sz="1400" i="1">
                <a:latin typeface="Calibri" panose="020F0502020204030204" pitchFamily="34" charset="0"/>
              </a:rPr>
              <a:t>Org. Lett.</a:t>
            </a:r>
            <a:r>
              <a:rPr lang="en-US" altLang="en-US" sz="1400">
                <a:latin typeface="Calibri" panose="020F0502020204030204" pitchFamily="34" charset="0"/>
              </a:rPr>
              <a:t> 1999, </a:t>
            </a:r>
            <a:r>
              <a:rPr lang="en-US" altLang="en-US" sz="1400" i="1">
                <a:latin typeface="Calibri" panose="020F0502020204030204" pitchFamily="34" charset="0"/>
              </a:rPr>
              <a:t>1</a:t>
            </a:r>
            <a:r>
              <a:rPr lang="en-US" altLang="en-US" sz="1400">
                <a:latin typeface="Calibri" panose="020F0502020204030204" pitchFamily="34" charset="0"/>
              </a:rPr>
              <a:t>, 953.</a:t>
            </a:r>
          </a:p>
        </p:txBody>
      </p:sp>
      <p:graphicFrame>
        <p:nvGraphicFramePr>
          <p:cNvPr id="525322" name="Object 2">
            <a:extLst>
              <a:ext uri="{FF2B5EF4-FFF2-40B4-BE49-F238E27FC236}">
                <a16:creationId xmlns:a16="http://schemas.microsoft.com/office/drawing/2014/main" id="{0B8265ED-34E1-464E-51D9-A35F37358967}"/>
              </a:ext>
            </a:extLst>
          </p:cNvPr>
          <p:cNvGraphicFramePr>
            <a:graphicFrameLocks noChangeAspect="1"/>
          </p:cNvGraphicFramePr>
          <p:nvPr/>
        </p:nvGraphicFramePr>
        <p:xfrm>
          <a:off x="3508375" y="1163639"/>
          <a:ext cx="5162550" cy="1273175"/>
        </p:xfrm>
        <a:graphic>
          <a:graphicData uri="http://schemas.openxmlformats.org/presentationml/2006/ole">
            <mc:AlternateContent xmlns:mc="http://schemas.openxmlformats.org/markup-compatibility/2006">
              <mc:Choice xmlns:v="urn:schemas-microsoft-com:vml" Requires="v">
                <p:oleObj name="CS ChemDraw Drawing" r:id="rId3" imgW="5816600" imgH="1447800" progId="ChemDraw.Document.6.0">
                  <p:embed/>
                </p:oleObj>
              </mc:Choice>
              <mc:Fallback>
                <p:oleObj name="CS ChemDraw Drawing" r:id="rId3" imgW="5816600" imgH="1447800" progId="ChemDraw.Document.6.0">
                  <p:embed/>
                  <p:pic>
                    <p:nvPicPr>
                      <p:cNvPr id="525322" name="Object 2">
                        <a:extLst>
                          <a:ext uri="{FF2B5EF4-FFF2-40B4-BE49-F238E27FC236}">
                            <a16:creationId xmlns:a16="http://schemas.microsoft.com/office/drawing/2014/main" id="{0B8265ED-34E1-464E-51D9-A35F373589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8375" y="1163639"/>
                        <a:ext cx="5162550" cy="1273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25323" name="Object 3">
            <a:extLst>
              <a:ext uri="{FF2B5EF4-FFF2-40B4-BE49-F238E27FC236}">
                <a16:creationId xmlns:a16="http://schemas.microsoft.com/office/drawing/2014/main" id="{D59BA898-B786-48CE-19F5-A75F1D741EF2}"/>
              </a:ext>
            </a:extLst>
          </p:cNvPr>
          <p:cNvGraphicFramePr>
            <a:graphicFrameLocks noChangeAspect="1"/>
          </p:cNvGraphicFramePr>
          <p:nvPr/>
        </p:nvGraphicFramePr>
        <p:xfrm>
          <a:off x="4000500" y="2651125"/>
          <a:ext cx="3817938" cy="896938"/>
        </p:xfrm>
        <a:graphic>
          <a:graphicData uri="http://schemas.openxmlformats.org/presentationml/2006/ole">
            <mc:AlternateContent xmlns:mc="http://schemas.openxmlformats.org/markup-compatibility/2006">
              <mc:Choice xmlns:v="urn:schemas-microsoft-com:vml" Requires="v">
                <p:oleObj name="CS ChemDraw Drawing" r:id="rId5" imgW="4368800" imgH="1028700" progId="ChemDraw.Document.6.0">
                  <p:embed/>
                </p:oleObj>
              </mc:Choice>
              <mc:Fallback>
                <p:oleObj name="CS ChemDraw Drawing" r:id="rId5" imgW="4368800" imgH="1028700" progId="ChemDraw.Document.6.0">
                  <p:embed/>
                  <p:pic>
                    <p:nvPicPr>
                      <p:cNvPr id="525323" name="Object 3">
                        <a:extLst>
                          <a:ext uri="{FF2B5EF4-FFF2-40B4-BE49-F238E27FC236}">
                            <a16:creationId xmlns:a16="http://schemas.microsoft.com/office/drawing/2014/main" id="{D59BA898-B786-48CE-19F5-A75F1D741EF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00500" y="2651125"/>
                        <a:ext cx="3817938" cy="896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25324" name="Object 4">
            <a:extLst>
              <a:ext uri="{FF2B5EF4-FFF2-40B4-BE49-F238E27FC236}">
                <a16:creationId xmlns:a16="http://schemas.microsoft.com/office/drawing/2014/main" id="{C6B51775-38E8-D46C-BC2A-4EAD33C2F6B7}"/>
              </a:ext>
            </a:extLst>
          </p:cNvPr>
          <p:cNvGraphicFramePr>
            <a:graphicFrameLocks noChangeAspect="1"/>
          </p:cNvGraphicFramePr>
          <p:nvPr/>
        </p:nvGraphicFramePr>
        <p:xfrm>
          <a:off x="3997326" y="3719513"/>
          <a:ext cx="5572125" cy="1039812"/>
        </p:xfrm>
        <a:graphic>
          <a:graphicData uri="http://schemas.openxmlformats.org/presentationml/2006/ole">
            <mc:AlternateContent xmlns:mc="http://schemas.openxmlformats.org/markup-compatibility/2006">
              <mc:Choice xmlns:v="urn:schemas-microsoft-com:vml" Requires="v">
                <p:oleObj name="CS ChemDraw Drawing" r:id="rId7" imgW="6375400" imgH="1206500" progId="ChemDraw.Document.6.0">
                  <p:embed/>
                </p:oleObj>
              </mc:Choice>
              <mc:Fallback>
                <p:oleObj name="CS ChemDraw Drawing" r:id="rId7" imgW="6375400" imgH="1206500" progId="ChemDraw.Document.6.0">
                  <p:embed/>
                  <p:pic>
                    <p:nvPicPr>
                      <p:cNvPr id="525324" name="Object 4">
                        <a:extLst>
                          <a:ext uri="{FF2B5EF4-FFF2-40B4-BE49-F238E27FC236}">
                            <a16:creationId xmlns:a16="http://schemas.microsoft.com/office/drawing/2014/main" id="{C6B51775-38E8-D46C-BC2A-4EAD33C2F6B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97326" y="3719513"/>
                        <a:ext cx="5572125" cy="103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25325" name="Object 5">
            <a:extLst>
              <a:ext uri="{FF2B5EF4-FFF2-40B4-BE49-F238E27FC236}">
                <a16:creationId xmlns:a16="http://schemas.microsoft.com/office/drawing/2014/main" id="{073DC72E-EFD9-79BC-44F0-F219F9AEB81E}"/>
              </a:ext>
            </a:extLst>
          </p:cNvPr>
          <p:cNvGraphicFramePr>
            <a:graphicFrameLocks noChangeAspect="1"/>
          </p:cNvGraphicFramePr>
          <p:nvPr/>
        </p:nvGraphicFramePr>
        <p:xfrm>
          <a:off x="3890964" y="4905375"/>
          <a:ext cx="5792787" cy="1208088"/>
        </p:xfrm>
        <a:graphic>
          <a:graphicData uri="http://schemas.openxmlformats.org/presentationml/2006/ole">
            <mc:AlternateContent xmlns:mc="http://schemas.openxmlformats.org/markup-compatibility/2006">
              <mc:Choice xmlns:v="urn:schemas-microsoft-com:vml" Requires="v">
                <p:oleObj name="CS ChemDraw Drawing" r:id="rId9" imgW="6629400" imgH="1397000" progId="ChemDraw.Document.6.0">
                  <p:embed/>
                </p:oleObj>
              </mc:Choice>
              <mc:Fallback>
                <p:oleObj name="CS ChemDraw Drawing" r:id="rId9" imgW="6629400" imgH="1397000" progId="ChemDraw.Document.6.0">
                  <p:embed/>
                  <p:pic>
                    <p:nvPicPr>
                      <p:cNvPr id="525325" name="Object 5">
                        <a:extLst>
                          <a:ext uri="{FF2B5EF4-FFF2-40B4-BE49-F238E27FC236}">
                            <a16:creationId xmlns:a16="http://schemas.microsoft.com/office/drawing/2014/main" id="{073DC72E-EFD9-79BC-44F0-F219F9AEB81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90964" y="4905375"/>
                        <a:ext cx="5792787" cy="1208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25327" name="Object 6">
            <a:extLst>
              <a:ext uri="{FF2B5EF4-FFF2-40B4-BE49-F238E27FC236}">
                <a16:creationId xmlns:a16="http://schemas.microsoft.com/office/drawing/2014/main" id="{F5A2FABA-272F-41B8-575A-253FE95891FA}"/>
              </a:ext>
            </a:extLst>
          </p:cNvPr>
          <p:cNvGraphicFramePr>
            <a:graphicFrameLocks noChangeAspect="1"/>
          </p:cNvGraphicFramePr>
          <p:nvPr/>
        </p:nvGraphicFramePr>
        <p:xfrm>
          <a:off x="7496175" y="4017963"/>
          <a:ext cx="2738438" cy="246062"/>
        </p:xfrm>
        <a:graphic>
          <a:graphicData uri="http://schemas.openxmlformats.org/presentationml/2006/ole">
            <mc:AlternateContent xmlns:mc="http://schemas.openxmlformats.org/markup-compatibility/2006">
              <mc:Choice xmlns:v="urn:schemas-microsoft-com:vml" Requires="v">
                <p:oleObj name="CS ChemDraw Drawing" r:id="rId11" imgW="2743200" imgH="254000" progId="ChemDraw.Document.6.0">
                  <p:embed/>
                </p:oleObj>
              </mc:Choice>
              <mc:Fallback>
                <p:oleObj name="CS ChemDraw Drawing" r:id="rId11" imgW="2743200" imgH="254000" progId="ChemDraw.Document.6.0">
                  <p:embed/>
                  <p:pic>
                    <p:nvPicPr>
                      <p:cNvPr id="525327" name="Object 6">
                        <a:extLst>
                          <a:ext uri="{FF2B5EF4-FFF2-40B4-BE49-F238E27FC236}">
                            <a16:creationId xmlns:a16="http://schemas.microsoft.com/office/drawing/2014/main" id="{F5A2FABA-272F-41B8-575A-253FE95891F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96175" y="4017963"/>
                        <a:ext cx="2738438" cy="24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25328" name="Object 7">
            <a:extLst>
              <a:ext uri="{FF2B5EF4-FFF2-40B4-BE49-F238E27FC236}">
                <a16:creationId xmlns:a16="http://schemas.microsoft.com/office/drawing/2014/main" id="{1803F9FD-FF32-6EC7-856F-A0F684EE9526}"/>
              </a:ext>
            </a:extLst>
          </p:cNvPr>
          <p:cNvGraphicFramePr>
            <a:graphicFrameLocks noChangeAspect="1"/>
          </p:cNvGraphicFramePr>
          <p:nvPr/>
        </p:nvGraphicFramePr>
        <p:xfrm>
          <a:off x="8281988" y="5199063"/>
          <a:ext cx="1090612" cy="398462"/>
        </p:xfrm>
        <a:graphic>
          <a:graphicData uri="http://schemas.openxmlformats.org/presentationml/2006/ole">
            <mc:AlternateContent xmlns:mc="http://schemas.openxmlformats.org/markup-compatibility/2006">
              <mc:Choice xmlns:v="urn:schemas-microsoft-com:vml" Requires="v">
                <p:oleObj name="CS ChemDraw Drawing" r:id="rId13" imgW="1092200" imgH="406400" progId="ChemDraw.Document.6.0">
                  <p:embed/>
                </p:oleObj>
              </mc:Choice>
              <mc:Fallback>
                <p:oleObj name="CS ChemDraw Drawing" r:id="rId13" imgW="1092200" imgH="406400" progId="ChemDraw.Document.6.0">
                  <p:embed/>
                  <p:pic>
                    <p:nvPicPr>
                      <p:cNvPr id="525328" name="Object 7">
                        <a:extLst>
                          <a:ext uri="{FF2B5EF4-FFF2-40B4-BE49-F238E27FC236}">
                            <a16:creationId xmlns:a16="http://schemas.microsoft.com/office/drawing/2014/main" id="{1803F9FD-FF32-6EC7-856F-A0F684EE952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281988" y="5199063"/>
                        <a:ext cx="1090612"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532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2532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2532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xit" presetSubtype="0" fill="hold" nodeType="clickEffect">
                                  <p:stCondLst>
                                    <p:cond delay="0"/>
                                  </p:stCondLst>
                                  <p:childTnLst>
                                    <p:set>
                                      <p:cBhvr>
                                        <p:cTn id="18" dur="1" fill="hold">
                                          <p:stCondLst>
                                            <p:cond delay="0"/>
                                          </p:stCondLst>
                                        </p:cTn>
                                        <p:tgtEl>
                                          <p:spTgt spid="525322"/>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525323"/>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525324"/>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525325"/>
                                        </p:tgtEl>
                                        <p:attrNameLst>
                                          <p:attrName>style.visibility</p:attrName>
                                        </p:attrNameLst>
                                      </p:cBhvr>
                                      <p:to>
                                        <p:strVal val="hidden"/>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525327"/>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5253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Number Placeholder 4">
            <a:extLst>
              <a:ext uri="{FF2B5EF4-FFF2-40B4-BE49-F238E27FC236}">
                <a16:creationId xmlns:a16="http://schemas.microsoft.com/office/drawing/2014/main" id="{9D8ADFF4-8ABB-1BDB-9BA3-DCA28F1E2AE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F64F6C48-8160-264B-AD57-D92A005BAD67}" type="slidenum">
              <a:rPr lang="en-US" altLang="en-US" sz="1200">
                <a:solidFill>
                  <a:srgbClr val="898989"/>
                </a:solidFill>
                <a:latin typeface="Calibri" panose="020F0502020204030204" pitchFamily="34" charset="0"/>
              </a:rPr>
              <a:pPr eaLnBrk="1" hangingPunct="1"/>
              <a:t>40</a:t>
            </a:fld>
            <a:endParaRPr lang="en-US" altLang="en-US" sz="1200">
              <a:solidFill>
                <a:srgbClr val="898989"/>
              </a:solidFill>
              <a:latin typeface="Calibri" panose="020F0502020204030204" pitchFamily="34" charset="0"/>
            </a:endParaRPr>
          </a:p>
        </p:txBody>
      </p:sp>
      <p:sp>
        <p:nvSpPr>
          <p:cNvPr id="40962" name="Rectangle 2">
            <a:extLst>
              <a:ext uri="{FF2B5EF4-FFF2-40B4-BE49-F238E27FC236}">
                <a16:creationId xmlns:a16="http://schemas.microsoft.com/office/drawing/2014/main" id="{E7233188-5B6F-85EE-D88F-7ED10A4CDEE5}"/>
              </a:ext>
            </a:extLst>
          </p:cNvPr>
          <p:cNvSpPr>
            <a:spLocks noGrp="1" noChangeArrowheads="1"/>
          </p:cNvSpPr>
          <p:nvPr>
            <p:ph type="title"/>
          </p:nvPr>
        </p:nvSpPr>
        <p:spPr>
          <a:xfrm>
            <a:off x="2209800" y="228600"/>
            <a:ext cx="7772400" cy="1143000"/>
          </a:xfrm>
        </p:spPr>
        <p:txBody>
          <a:bodyPr/>
          <a:lstStyle/>
          <a:p>
            <a:pPr eaLnBrk="1" hangingPunct="1"/>
            <a:r>
              <a:rPr lang="en-US" altLang="en-US" sz="4000" b="1" i="1">
                <a:solidFill>
                  <a:srgbClr val="006699"/>
                </a:solidFill>
                <a:latin typeface="Arial Narrow" panose="020B0604020202020204" pitchFamily="34" charset="0"/>
                <a:ea typeface="ＭＳ Ｐゴシック" panose="020B0600070205080204" pitchFamily="34" charset="-128"/>
              </a:rPr>
              <a:t>N-Heterocyclic Carbene Ligands</a:t>
            </a:r>
          </a:p>
        </p:txBody>
      </p:sp>
      <p:sp>
        <p:nvSpPr>
          <p:cNvPr id="40963" name="Text Box 3">
            <a:extLst>
              <a:ext uri="{FF2B5EF4-FFF2-40B4-BE49-F238E27FC236}">
                <a16:creationId xmlns:a16="http://schemas.microsoft.com/office/drawing/2014/main" id="{A21B8DAE-9B26-52BD-DBA4-80D1CCE180F8}"/>
              </a:ext>
            </a:extLst>
          </p:cNvPr>
          <p:cNvSpPr txBox="1">
            <a:spLocks noChangeArrowheads="1"/>
          </p:cNvSpPr>
          <p:nvPr/>
        </p:nvSpPr>
        <p:spPr bwMode="auto">
          <a:xfrm>
            <a:off x="1676401" y="63246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i="1">
              <a:latin typeface="Calibri" panose="020F0502020204030204" pitchFamily="34" charset="0"/>
            </a:endParaRPr>
          </a:p>
        </p:txBody>
      </p:sp>
      <p:sp>
        <p:nvSpPr>
          <p:cNvPr id="40964" name="Text Box 4">
            <a:extLst>
              <a:ext uri="{FF2B5EF4-FFF2-40B4-BE49-F238E27FC236}">
                <a16:creationId xmlns:a16="http://schemas.microsoft.com/office/drawing/2014/main" id="{87A23823-F150-6ED7-D617-E1613A94CBB6}"/>
              </a:ext>
            </a:extLst>
          </p:cNvPr>
          <p:cNvSpPr txBox="1">
            <a:spLocks noChangeArrowheads="1"/>
          </p:cNvSpPr>
          <p:nvPr/>
        </p:nvSpPr>
        <p:spPr bwMode="auto">
          <a:xfrm>
            <a:off x="1703389" y="6092825"/>
            <a:ext cx="482356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400">
                <a:latin typeface="Calibri" panose="020F0502020204030204" pitchFamily="34" charset="0"/>
              </a:rPr>
              <a:t>Diez-Gonzalez, S.; Nolan, S. P. </a:t>
            </a:r>
            <a:r>
              <a:rPr lang="en-US" altLang="en-US" sz="1400" i="1">
                <a:latin typeface="Calibri" panose="020F0502020204030204" pitchFamily="34" charset="0"/>
              </a:rPr>
              <a:t>Coord. Chem. Rev.</a:t>
            </a:r>
            <a:r>
              <a:rPr lang="en-US" altLang="en-US" sz="1400">
                <a:latin typeface="Calibri" panose="020F0502020204030204" pitchFamily="34" charset="0"/>
              </a:rPr>
              <a:t> 2006, </a:t>
            </a:r>
            <a:r>
              <a:rPr lang="en-US" altLang="en-US" sz="1400" i="1">
                <a:latin typeface="Calibri" panose="020F0502020204030204" pitchFamily="34" charset="0"/>
              </a:rPr>
              <a:t>251</a:t>
            </a:r>
            <a:r>
              <a:rPr lang="en-US" altLang="en-US" sz="1400">
                <a:latin typeface="Calibri" panose="020F0502020204030204" pitchFamily="34" charset="0"/>
              </a:rPr>
              <a:t>, 874.</a:t>
            </a:r>
          </a:p>
          <a:p>
            <a:pPr eaLnBrk="1" hangingPunct="1"/>
            <a:r>
              <a:rPr lang="en-US" altLang="en-US" sz="1400">
                <a:latin typeface="Calibri" panose="020F0502020204030204" pitchFamily="34" charset="0"/>
              </a:rPr>
              <a:t>Straub, B. F. </a:t>
            </a:r>
            <a:r>
              <a:rPr lang="en-US" altLang="en-US" sz="1400" i="1">
                <a:latin typeface="Calibri" panose="020F0502020204030204" pitchFamily="34" charset="0"/>
              </a:rPr>
              <a:t>Adv. Synth. Catal.</a:t>
            </a:r>
            <a:r>
              <a:rPr lang="en-US" altLang="en-US" sz="1400">
                <a:latin typeface="Calibri" panose="020F0502020204030204" pitchFamily="34" charset="0"/>
              </a:rPr>
              <a:t> 2007, </a:t>
            </a:r>
            <a:r>
              <a:rPr lang="en-US" altLang="en-US" sz="1400" i="1">
                <a:latin typeface="Calibri" panose="020F0502020204030204" pitchFamily="34" charset="0"/>
              </a:rPr>
              <a:t>349</a:t>
            </a:r>
            <a:r>
              <a:rPr lang="en-US" altLang="en-US" sz="1400">
                <a:latin typeface="Calibri" panose="020F0502020204030204" pitchFamily="34" charset="0"/>
              </a:rPr>
              <a:t>, 204.</a:t>
            </a:r>
          </a:p>
        </p:txBody>
      </p:sp>
      <p:graphicFrame>
        <p:nvGraphicFramePr>
          <p:cNvPr id="40965" name="Object 2">
            <a:extLst>
              <a:ext uri="{FF2B5EF4-FFF2-40B4-BE49-F238E27FC236}">
                <a16:creationId xmlns:a16="http://schemas.microsoft.com/office/drawing/2014/main" id="{9EF013E6-1469-0AD6-CC58-CB7536670DBC}"/>
              </a:ext>
            </a:extLst>
          </p:cNvPr>
          <p:cNvGraphicFramePr>
            <a:graphicFrameLocks noChangeAspect="1"/>
          </p:cNvGraphicFramePr>
          <p:nvPr/>
        </p:nvGraphicFramePr>
        <p:xfrm>
          <a:off x="2684464" y="1473200"/>
          <a:ext cx="2479675" cy="1677988"/>
        </p:xfrm>
        <a:graphic>
          <a:graphicData uri="http://schemas.openxmlformats.org/presentationml/2006/ole">
            <mc:AlternateContent xmlns:mc="http://schemas.openxmlformats.org/markup-compatibility/2006">
              <mc:Choice xmlns:v="urn:schemas-microsoft-com:vml" Requires="v">
                <p:oleObj name="CS ChemDraw Drawing" r:id="rId3" imgW="2489200" imgH="1689100" progId="ChemDraw.Document.6.0">
                  <p:embed/>
                </p:oleObj>
              </mc:Choice>
              <mc:Fallback>
                <p:oleObj name="CS ChemDraw Drawing" r:id="rId3" imgW="2489200" imgH="1689100" progId="ChemDraw.Document.6.0">
                  <p:embed/>
                  <p:pic>
                    <p:nvPicPr>
                      <p:cNvPr id="40965" name="Object 2">
                        <a:extLst>
                          <a:ext uri="{FF2B5EF4-FFF2-40B4-BE49-F238E27FC236}">
                            <a16:creationId xmlns:a16="http://schemas.microsoft.com/office/drawing/2014/main" id="{9EF013E6-1469-0AD6-CC58-CB7536670D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4464" y="1473200"/>
                        <a:ext cx="2479675" cy="1677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77549" name="Object 3">
            <a:extLst>
              <a:ext uri="{FF2B5EF4-FFF2-40B4-BE49-F238E27FC236}">
                <a16:creationId xmlns:a16="http://schemas.microsoft.com/office/drawing/2014/main" id="{483FAB56-C84C-D418-9AF1-3DAACCFBEA23}"/>
              </a:ext>
            </a:extLst>
          </p:cNvPr>
          <p:cNvGraphicFramePr>
            <a:graphicFrameLocks noChangeAspect="1"/>
          </p:cNvGraphicFramePr>
          <p:nvPr/>
        </p:nvGraphicFramePr>
        <p:xfrm>
          <a:off x="7061200" y="1143000"/>
          <a:ext cx="1752600" cy="2006600"/>
        </p:xfrm>
        <a:graphic>
          <a:graphicData uri="http://schemas.openxmlformats.org/presentationml/2006/ole">
            <mc:AlternateContent xmlns:mc="http://schemas.openxmlformats.org/markup-compatibility/2006">
              <mc:Choice xmlns:v="urn:schemas-microsoft-com:vml" Requires="v">
                <p:oleObj name="CS ChemDraw Drawing" r:id="rId5" imgW="1752600" imgH="2032000" progId="ChemDraw.Document.6.0">
                  <p:embed/>
                </p:oleObj>
              </mc:Choice>
              <mc:Fallback>
                <p:oleObj name="CS ChemDraw Drawing" r:id="rId5" imgW="1752600" imgH="2032000" progId="ChemDraw.Document.6.0">
                  <p:embed/>
                  <p:pic>
                    <p:nvPicPr>
                      <p:cNvPr id="577549" name="Object 3">
                        <a:extLst>
                          <a:ext uri="{FF2B5EF4-FFF2-40B4-BE49-F238E27FC236}">
                            <a16:creationId xmlns:a16="http://schemas.microsoft.com/office/drawing/2014/main" id="{483FAB56-C84C-D418-9AF1-3DAACCFBEA2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61200" y="1143000"/>
                        <a:ext cx="1752600" cy="200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77552" name="Object 4">
            <a:extLst>
              <a:ext uri="{FF2B5EF4-FFF2-40B4-BE49-F238E27FC236}">
                <a16:creationId xmlns:a16="http://schemas.microsoft.com/office/drawing/2014/main" id="{8B2830C4-01D4-8C1D-635E-08968C80F1DF}"/>
              </a:ext>
            </a:extLst>
          </p:cNvPr>
          <p:cNvGraphicFramePr>
            <a:graphicFrameLocks noChangeAspect="1"/>
          </p:cNvGraphicFramePr>
          <p:nvPr/>
        </p:nvGraphicFramePr>
        <p:xfrm>
          <a:off x="3314700" y="5664200"/>
          <a:ext cx="5867400" cy="330200"/>
        </p:xfrm>
        <a:graphic>
          <a:graphicData uri="http://schemas.openxmlformats.org/presentationml/2006/ole">
            <mc:AlternateContent xmlns:mc="http://schemas.openxmlformats.org/markup-compatibility/2006">
              <mc:Choice xmlns:v="urn:schemas-microsoft-com:vml" Requires="v">
                <p:oleObj name="CS ChemDraw Drawing" r:id="rId7" imgW="5969000" imgH="330200" progId="ChemDraw.Document.6.0">
                  <p:embed/>
                </p:oleObj>
              </mc:Choice>
              <mc:Fallback>
                <p:oleObj name="CS ChemDraw Drawing" r:id="rId7" imgW="5969000" imgH="330200" progId="ChemDraw.Document.6.0">
                  <p:embed/>
                  <p:pic>
                    <p:nvPicPr>
                      <p:cNvPr id="577552" name="Object 4">
                        <a:extLst>
                          <a:ext uri="{FF2B5EF4-FFF2-40B4-BE49-F238E27FC236}">
                            <a16:creationId xmlns:a16="http://schemas.microsoft.com/office/drawing/2014/main" id="{8B2830C4-01D4-8C1D-635E-08968C80F1D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14700" y="5664200"/>
                        <a:ext cx="5867400" cy="33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nvGrpSpPr>
          <p:cNvPr id="2" name="Group 25">
            <a:extLst>
              <a:ext uri="{FF2B5EF4-FFF2-40B4-BE49-F238E27FC236}">
                <a16:creationId xmlns:a16="http://schemas.microsoft.com/office/drawing/2014/main" id="{4EA6B589-C433-06C4-214E-1099A8DE8114}"/>
              </a:ext>
            </a:extLst>
          </p:cNvPr>
          <p:cNvGrpSpPr>
            <a:grpSpLocks/>
          </p:cNvGrpSpPr>
          <p:nvPr/>
        </p:nvGrpSpPr>
        <p:grpSpPr bwMode="auto">
          <a:xfrm>
            <a:off x="2667000" y="3619500"/>
            <a:ext cx="2622550" cy="1524000"/>
            <a:chOff x="720" y="2224"/>
            <a:chExt cx="1652" cy="960"/>
          </a:xfrm>
        </p:grpSpPr>
        <p:sp>
          <p:nvSpPr>
            <p:cNvPr id="40973" name="AutoShape 20">
              <a:extLst>
                <a:ext uri="{FF2B5EF4-FFF2-40B4-BE49-F238E27FC236}">
                  <a16:creationId xmlns:a16="http://schemas.microsoft.com/office/drawing/2014/main" id="{9EB3ED4B-2846-6A6B-FCD4-4E91174D5F22}"/>
                </a:ext>
              </a:extLst>
            </p:cNvPr>
            <p:cNvSpPr>
              <a:spLocks noChangeArrowheads="1"/>
            </p:cNvSpPr>
            <p:nvPr/>
          </p:nvSpPr>
          <p:spPr bwMode="auto">
            <a:xfrm>
              <a:off x="720" y="2224"/>
              <a:ext cx="1616" cy="960"/>
            </a:xfrm>
            <a:prstGeom prst="roundRect">
              <a:avLst>
                <a:gd name="adj" fmla="val 16667"/>
              </a:avLst>
            </a:prstGeom>
            <a:solidFill>
              <a:srgbClr val="D7D7D7"/>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graphicFrame>
          <p:nvGraphicFramePr>
            <p:cNvPr id="40974" name="Object 6">
              <a:extLst>
                <a:ext uri="{FF2B5EF4-FFF2-40B4-BE49-F238E27FC236}">
                  <a16:creationId xmlns:a16="http://schemas.microsoft.com/office/drawing/2014/main" id="{3BD6C846-DDE2-3455-C5AC-E3FF98760C0B}"/>
                </a:ext>
              </a:extLst>
            </p:cNvPr>
            <p:cNvGraphicFramePr>
              <a:graphicFrameLocks noChangeAspect="1"/>
            </p:cNvGraphicFramePr>
            <p:nvPr/>
          </p:nvGraphicFramePr>
          <p:xfrm>
            <a:off x="891" y="2226"/>
            <a:ext cx="1210" cy="781"/>
          </p:xfrm>
          <a:graphic>
            <a:graphicData uri="http://schemas.openxmlformats.org/presentationml/2006/ole">
              <mc:AlternateContent xmlns:mc="http://schemas.openxmlformats.org/markup-compatibility/2006">
                <mc:Choice xmlns:v="urn:schemas-microsoft-com:vml" Requires="v">
                  <p:oleObj name="CS ChemDraw Drawing" r:id="rId9" imgW="1930400" imgH="1244600" progId="ChemDraw.Document.6.0">
                    <p:embed/>
                  </p:oleObj>
                </mc:Choice>
                <mc:Fallback>
                  <p:oleObj name="CS ChemDraw Drawing" r:id="rId9" imgW="1930400" imgH="1244600" progId="ChemDraw.Document.6.0">
                    <p:embed/>
                    <p:pic>
                      <p:nvPicPr>
                        <p:cNvPr id="40974" name="Object 6">
                          <a:extLst>
                            <a:ext uri="{FF2B5EF4-FFF2-40B4-BE49-F238E27FC236}">
                              <a16:creationId xmlns:a16="http://schemas.microsoft.com/office/drawing/2014/main" id="{3BD6C846-DDE2-3455-C5AC-E3FF98760C0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91" y="2226"/>
                          <a:ext cx="1210" cy="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0975" name="Text Box 17">
              <a:extLst>
                <a:ext uri="{FF2B5EF4-FFF2-40B4-BE49-F238E27FC236}">
                  <a16:creationId xmlns:a16="http://schemas.microsoft.com/office/drawing/2014/main" id="{42A39641-A891-680D-F76D-21637584D3F6}"/>
                </a:ext>
              </a:extLst>
            </p:cNvPr>
            <p:cNvSpPr txBox="1">
              <a:spLocks noChangeArrowheads="1"/>
            </p:cNvSpPr>
            <p:nvPr/>
          </p:nvSpPr>
          <p:spPr bwMode="auto">
            <a:xfrm>
              <a:off x="950" y="2925"/>
              <a:ext cx="142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Gives electron density</a:t>
              </a:r>
            </a:p>
          </p:txBody>
        </p:sp>
      </p:grpSp>
      <p:grpSp>
        <p:nvGrpSpPr>
          <p:cNvPr id="3" name="Group 26">
            <a:extLst>
              <a:ext uri="{FF2B5EF4-FFF2-40B4-BE49-F238E27FC236}">
                <a16:creationId xmlns:a16="http://schemas.microsoft.com/office/drawing/2014/main" id="{C2993BB9-279D-8B8F-D22C-CBDC0FE4E7CB}"/>
              </a:ext>
            </a:extLst>
          </p:cNvPr>
          <p:cNvGrpSpPr>
            <a:grpSpLocks/>
          </p:cNvGrpSpPr>
          <p:nvPr/>
        </p:nvGrpSpPr>
        <p:grpSpPr bwMode="auto">
          <a:xfrm>
            <a:off x="6629400" y="3416300"/>
            <a:ext cx="2749550" cy="1943100"/>
            <a:chOff x="3216" y="2064"/>
            <a:chExt cx="1732" cy="1224"/>
          </a:xfrm>
        </p:grpSpPr>
        <p:sp>
          <p:nvSpPr>
            <p:cNvPr id="40970" name="AutoShape 23">
              <a:extLst>
                <a:ext uri="{FF2B5EF4-FFF2-40B4-BE49-F238E27FC236}">
                  <a16:creationId xmlns:a16="http://schemas.microsoft.com/office/drawing/2014/main" id="{9FA52558-9D8B-AAD1-6719-D72F36D24291}"/>
                </a:ext>
              </a:extLst>
            </p:cNvPr>
            <p:cNvSpPr>
              <a:spLocks noChangeArrowheads="1"/>
            </p:cNvSpPr>
            <p:nvPr/>
          </p:nvSpPr>
          <p:spPr bwMode="auto">
            <a:xfrm>
              <a:off x="3216" y="2064"/>
              <a:ext cx="1616" cy="1224"/>
            </a:xfrm>
            <a:prstGeom prst="roundRect">
              <a:avLst>
                <a:gd name="adj" fmla="val 16667"/>
              </a:avLst>
            </a:prstGeom>
            <a:solidFill>
              <a:srgbClr val="D7D7D7"/>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latin typeface="Calibri" panose="020F0502020204030204" pitchFamily="34" charset="0"/>
              </a:endParaRPr>
            </a:p>
          </p:txBody>
        </p:sp>
        <p:graphicFrame>
          <p:nvGraphicFramePr>
            <p:cNvPr id="40971" name="Object 5">
              <a:extLst>
                <a:ext uri="{FF2B5EF4-FFF2-40B4-BE49-F238E27FC236}">
                  <a16:creationId xmlns:a16="http://schemas.microsoft.com/office/drawing/2014/main" id="{0C4785EE-CDCD-17A8-2510-70CD387D3311}"/>
                </a:ext>
              </a:extLst>
            </p:cNvPr>
            <p:cNvGraphicFramePr>
              <a:graphicFrameLocks noChangeAspect="1"/>
            </p:cNvGraphicFramePr>
            <p:nvPr/>
          </p:nvGraphicFramePr>
          <p:xfrm>
            <a:off x="3455" y="2070"/>
            <a:ext cx="1091" cy="1076"/>
          </p:xfrm>
          <a:graphic>
            <a:graphicData uri="http://schemas.openxmlformats.org/presentationml/2006/ole">
              <mc:AlternateContent xmlns:mc="http://schemas.openxmlformats.org/markup-compatibility/2006">
                <mc:Choice xmlns:v="urn:schemas-microsoft-com:vml" Requires="v">
                  <p:oleObj name="CS ChemDraw Drawing" r:id="rId11" imgW="1739900" imgH="1714500" progId="ChemDraw.Document.6.0">
                    <p:embed/>
                  </p:oleObj>
                </mc:Choice>
                <mc:Fallback>
                  <p:oleObj name="CS ChemDraw Drawing" r:id="rId11" imgW="1739900" imgH="1714500" progId="ChemDraw.Document.6.0">
                    <p:embed/>
                    <p:pic>
                      <p:nvPicPr>
                        <p:cNvPr id="40971" name="Object 5">
                          <a:extLst>
                            <a:ext uri="{FF2B5EF4-FFF2-40B4-BE49-F238E27FC236}">
                              <a16:creationId xmlns:a16="http://schemas.microsoft.com/office/drawing/2014/main" id="{0C4785EE-CDCD-17A8-2510-70CD387D331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55" y="2070"/>
                          <a:ext cx="1091" cy="10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0972" name="Text Box 18">
              <a:extLst>
                <a:ext uri="{FF2B5EF4-FFF2-40B4-BE49-F238E27FC236}">
                  <a16:creationId xmlns:a16="http://schemas.microsoft.com/office/drawing/2014/main" id="{666125A2-1670-8AA6-2376-42F795F6BB18}"/>
                </a:ext>
              </a:extLst>
            </p:cNvPr>
            <p:cNvSpPr txBox="1">
              <a:spLocks noChangeArrowheads="1"/>
            </p:cNvSpPr>
            <p:nvPr/>
          </p:nvSpPr>
          <p:spPr bwMode="auto">
            <a:xfrm>
              <a:off x="3310" y="3053"/>
              <a:ext cx="163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latin typeface="Calibri" panose="020F0502020204030204" pitchFamily="34" charset="0"/>
                </a:rPr>
                <a:t>Removes electron density</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7754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775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Number Placeholder 4">
            <a:extLst>
              <a:ext uri="{FF2B5EF4-FFF2-40B4-BE49-F238E27FC236}">
                <a16:creationId xmlns:a16="http://schemas.microsoft.com/office/drawing/2014/main" id="{85F25EE7-51CD-CE2D-B545-602AB18303B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52A00479-5EA9-7340-ACE1-464326FF9F4A}" type="slidenum">
              <a:rPr lang="en-US" altLang="en-US" sz="1200">
                <a:solidFill>
                  <a:srgbClr val="898989"/>
                </a:solidFill>
                <a:latin typeface="Calibri" panose="020F0502020204030204" pitchFamily="34" charset="0"/>
              </a:rPr>
              <a:pPr eaLnBrk="1" hangingPunct="1"/>
              <a:t>41</a:t>
            </a:fld>
            <a:endParaRPr lang="en-US" altLang="en-US" sz="1200">
              <a:solidFill>
                <a:srgbClr val="898989"/>
              </a:solidFill>
              <a:latin typeface="Calibri" panose="020F0502020204030204" pitchFamily="34" charset="0"/>
            </a:endParaRPr>
          </a:p>
        </p:txBody>
      </p:sp>
      <p:sp>
        <p:nvSpPr>
          <p:cNvPr id="587778" name="Rectangle 2">
            <a:extLst>
              <a:ext uri="{FF2B5EF4-FFF2-40B4-BE49-F238E27FC236}">
                <a16:creationId xmlns:a16="http://schemas.microsoft.com/office/drawing/2014/main" id="{B784E162-961D-0C9B-0EFB-AE76E0CF52D6}"/>
              </a:ext>
            </a:extLst>
          </p:cNvPr>
          <p:cNvSpPr>
            <a:spLocks noGrp="1" noChangeArrowheads="1"/>
          </p:cNvSpPr>
          <p:nvPr>
            <p:ph type="title"/>
          </p:nvPr>
        </p:nvSpPr>
        <p:spPr>
          <a:xfrm>
            <a:off x="2209800" y="228600"/>
            <a:ext cx="7772400" cy="1143000"/>
          </a:xfrm>
        </p:spPr>
        <p:txBody>
          <a:bodyPr rtlCol="0">
            <a:normAutofit fontScale="90000"/>
          </a:bodyPr>
          <a:lstStyle/>
          <a:p>
            <a:pPr>
              <a:defRPr/>
            </a:pPr>
            <a:r>
              <a:rPr lang="en-US" sz="4000" b="1" i="1">
                <a:solidFill>
                  <a:srgbClr val="006699"/>
                </a:solidFill>
                <a:latin typeface="Arial Narrow" pitchFamily="34" charset="0"/>
              </a:rPr>
              <a:t>The </a:t>
            </a:r>
            <a:r>
              <a:rPr lang="en-US" sz="4000" b="1">
                <a:solidFill>
                  <a:srgbClr val="006699"/>
                </a:solidFill>
                <a:latin typeface="Arial Narrow" pitchFamily="34" charset="0"/>
              </a:rPr>
              <a:t>Trans</a:t>
            </a:r>
            <a:r>
              <a:rPr lang="en-US" sz="4000" b="1" i="1">
                <a:solidFill>
                  <a:srgbClr val="006699"/>
                </a:solidFill>
                <a:latin typeface="Arial Narrow" pitchFamily="34" charset="0"/>
              </a:rPr>
              <a:t> Effect and Ligand Dissociation</a:t>
            </a:r>
          </a:p>
        </p:txBody>
      </p:sp>
      <p:sp>
        <p:nvSpPr>
          <p:cNvPr id="43011" name="Text Box 3">
            <a:extLst>
              <a:ext uri="{FF2B5EF4-FFF2-40B4-BE49-F238E27FC236}">
                <a16:creationId xmlns:a16="http://schemas.microsoft.com/office/drawing/2014/main" id="{B24992D3-D4CA-1104-848D-22805343EB2D}"/>
              </a:ext>
            </a:extLst>
          </p:cNvPr>
          <p:cNvSpPr txBox="1">
            <a:spLocks noChangeArrowheads="1"/>
          </p:cNvSpPr>
          <p:nvPr/>
        </p:nvSpPr>
        <p:spPr bwMode="auto">
          <a:xfrm>
            <a:off x="1676401" y="63246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i="1">
              <a:latin typeface="Calibri" panose="020F0502020204030204" pitchFamily="34" charset="0"/>
            </a:endParaRPr>
          </a:p>
        </p:txBody>
      </p:sp>
      <p:sp>
        <p:nvSpPr>
          <p:cNvPr id="43012" name="Text Box 4">
            <a:extLst>
              <a:ext uri="{FF2B5EF4-FFF2-40B4-BE49-F238E27FC236}">
                <a16:creationId xmlns:a16="http://schemas.microsoft.com/office/drawing/2014/main" id="{760377AD-D389-2689-F6A2-FF694DBF2956}"/>
              </a:ext>
            </a:extLst>
          </p:cNvPr>
          <p:cNvSpPr txBox="1">
            <a:spLocks noChangeArrowheads="1"/>
          </p:cNvSpPr>
          <p:nvPr/>
        </p:nvSpPr>
        <p:spPr bwMode="auto">
          <a:xfrm>
            <a:off x="1703389" y="6308726"/>
            <a:ext cx="704789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400">
                <a:latin typeface="Calibri" panose="020F0502020204030204" pitchFamily="34" charset="0"/>
              </a:rPr>
              <a:t>Atwood, J. D. </a:t>
            </a:r>
            <a:r>
              <a:rPr lang="en-US" altLang="en-US" sz="1400" i="1">
                <a:latin typeface="Calibri" panose="020F0502020204030204" pitchFamily="34" charset="0"/>
              </a:rPr>
              <a:t>Inorganic and Organometallic Reaction Mechanisms</a:t>
            </a:r>
            <a:r>
              <a:rPr lang="en-US" altLang="en-US" sz="1400">
                <a:latin typeface="Calibri" panose="020F0502020204030204" pitchFamily="34" charset="0"/>
              </a:rPr>
              <a:t>; VCH: New York, 1997, p 51.</a:t>
            </a:r>
          </a:p>
        </p:txBody>
      </p:sp>
      <p:graphicFrame>
        <p:nvGraphicFramePr>
          <p:cNvPr id="43013" name="Object 2">
            <a:extLst>
              <a:ext uri="{FF2B5EF4-FFF2-40B4-BE49-F238E27FC236}">
                <a16:creationId xmlns:a16="http://schemas.microsoft.com/office/drawing/2014/main" id="{76C6C1EC-05A8-DE1F-DD41-D2599AEA82D2}"/>
              </a:ext>
            </a:extLst>
          </p:cNvPr>
          <p:cNvGraphicFramePr>
            <a:graphicFrameLocks noChangeAspect="1"/>
          </p:cNvGraphicFramePr>
          <p:nvPr/>
        </p:nvGraphicFramePr>
        <p:xfrm>
          <a:off x="3632200" y="1562100"/>
          <a:ext cx="4940300" cy="1079500"/>
        </p:xfrm>
        <a:graphic>
          <a:graphicData uri="http://schemas.openxmlformats.org/presentationml/2006/ole">
            <mc:AlternateContent xmlns:mc="http://schemas.openxmlformats.org/markup-compatibility/2006">
              <mc:Choice xmlns:v="urn:schemas-microsoft-com:vml" Requires="v">
                <p:oleObj name="CS ChemDraw Drawing" r:id="rId3" imgW="5003800" imgH="1092200" progId="ChemDraw.Document.6.0">
                  <p:embed/>
                </p:oleObj>
              </mc:Choice>
              <mc:Fallback>
                <p:oleObj name="CS ChemDraw Drawing" r:id="rId3" imgW="5003800" imgH="1092200" progId="ChemDraw.Document.6.0">
                  <p:embed/>
                  <p:pic>
                    <p:nvPicPr>
                      <p:cNvPr id="43013" name="Object 2">
                        <a:extLst>
                          <a:ext uri="{FF2B5EF4-FFF2-40B4-BE49-F238E27FC236}">
                            <a16:creationId xmlns:a16="http://schemas.microsoft.com/office/drawing/2014/main" id="{76C6C1EC-05A8-DE1F-DD41-D2599AEA82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2200" y="1562100"/>
                        <a:ext cx="4940300" cy="10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87784" name="Object 3">
            <a:extLst>
              <a:ext uri="{FF2B5EF4-FFF2-40B4-BE49-F238E27FC236}">
                <a16:creationId xmlns:a16="http://schemas.microsoft.com/office/drawing/2014/main" id="{20DDE0D6-7558-6A77-6821-B7E753813F61}"/>
              </a:ext>
            </a:extLst>
          </p:cNvPr>
          <p:cNvGraphicFramePr>
            <a:graphicFrameLocks noChangeAspect="1"/>
          </p:cNvGraphicFramePr>
          <p:nvPr/>
        </p:nvGraphicFramePr>
        <p:xfrm>
          <a:off x="3035300" y="2870200"/>
          <a:ext cx="6146800" cy="558800"/>
        </p:xfrm>
        <a:graphic>
          <a:graphicData uri="http://schemas.openxmlformats.org/presentationml/2006/ole">
            <mc:AlternateContent xmlns:mc="http://schemas.openxmlformats.org/markup-compatibility/2006">
              <mc:Choice xmlns:v="urn:schemas-microsoft-com:vml" Requires="v">
                <p:oleObj name="CS ChemDraw Drawing" r:id="rId5" imgW="6159500" imgH="558800" progId="ChemDraw.Document.6.0">
                  <p:embed/>
                </p:oleObj>
              </mc:Choice>
              <mc:Fallback>
                <p:oleObj name="CS ChemDraw Drawing" r:id="rId5" imgW="6159500" imgH="558800" progId="ChemDraw.Document.6.0">
                  <p:embed/>
                  <p:pic>
                    <p:nvPicPr>
                      <p:cNvPr id="587784" name="Object 3">
                        <a:extLst>
                          <a:ext uri="{FF2B5EF4-FFF2-40B4-BE49-F238E27FC236}">
                            <a16:creationId xmlns:a16="http://schemas.microsoft.com/office/drawing/2014/main" id="{20DDE0D6-7558-6A77-6821-B7E753813F6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35300" y="2870200"/>
                        <a:ext cx="6146800" cy="55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87785" name="Object 4">
            <a:extLst>
              <a:ext uri="{FF2B5EF4-FFF2-40B4-BE49-F238E27FC236}">
                <a16:creationId xmlns:a16="http://schemas.microsoft.com/office/drawing/2014/main" id="{BEF92809-D095-F016-F765-58644D59F726}"/>
              </a:ext>
            </a:extLst>
          </p:cNvPr>
          <p:cNvGraphicFramePr>
            <a:graphicFrameLocks noChangeAspect="1"/>
          </p:cNvGraphicFramePr>
          <p:nvPr/>
        </p:nvGraphicFramePr>
        <p:xfrm>
          <a:off x="3556000" y="3708400"/>
          <a:ext cx="5232400" cy="254000"/>
        </p:xfrm>
        <a:graphic>
          <a:graphicData uri="http://schemas.openxmlformats.org/presentationml/2006/ole">
            <mc:AlternateContent xmlns:mc="http://schemas.openxmlformats.org/markup-compatibility/2006">
              <mc:Choice xmlns:v="urn:schemas-microsoft-com:vml" Requires="v">
                <p:oleObj name="CS ChemDraw Drawing" r:id="rId7" imgW="5397500" imgH="266700" progId="ChemDraw.Document.6.0">
                  <p:embed/>
                </p:oleObj>
              </mc:Choice>
              <mc:Fallback>
                <p:oleObj name="CS ChemDraw Drawing" r:id="rId7" imgW="5397500" imgH="266700" progId="ChemDraw.Document.6.0">
                  <p:embed/>
                  <p:pic>
                    <p:nvPicPr>
                      <p:cNvPr id="587785" name="Object 4">
                        <a:extLst>
                          <a:ext uri="{FF2B5EF4-FFF2-40B4-BE49-F238E27FC236}">
                            <a16:creationId xmlns:a16="http://schemas.microsoft.com/office/drawing/2014/main" id="{BEF92809-D095-F016-F765-58644D59F72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56000" y="3708400"/>
                        <a:ext cx="5232400"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87786" name="Object 5">
            <a:extLst>
              <a:ext uri="{FF2B5EF4-FFF2-40B4-BE49-F238E27FC236}">
                <a16:creationId xmlns:a16="http://schemas.microsoft.com/office/drawing/2014/main" id="{3148EF51-E0A0-4BBB-5455-7AF7E7BFE6A0}"/>
              </a:ext>
            </a:extLst>
          </p:cNvPr>
          <p:cNvGraphicFramePr>
            <a:graphicFrameLocks noChangeAspect="1"/>
          </p:cNvGraphicFramePr>
          <p:nvPr/>
        </p:nvGraphicFramePr>
        <p:xfrm>
          <a:off x="1943100" y="4508500"/>
          <a:ext cx="3073400" cy="736600"/>
        </p:xfrm>
        <a:graphic>
          <a:graphicData uri="http://schemas.openxmlformats.org/presentationml/2006/ole">
            <mc:AlternateContent xmlns:mc="http://schemas.openxmlformats.org/markup-compatibility/2006">
              <mc:Choice xmlns:v="urn:schemas-microsoft-com:vml" Requires="v">
                <p:oleObj name="CS ChemDraw Drawing" r:id="rId9" imgW="3098800" imgH="736600" progId="ChemDraw.Document.6.0">
                  <p:embed/>
                </p:oleObj>
              </mc:Choice>
              <mc:Fallback>
                <p:oleObj name="CS ChemDraw Drawing" r:id="rId9" imgW="3098800" imgH="736600" progId="ChemDraw.Document.6.0">
                  <p:embed/>
                  <p:pic>
                    <p:nvPicPr>
                      <p:cNvPr id="587786" name="Object 5">
                        <a:extLst>
                          <a:ext uri="{FF2B5EF4-FFF2-40B4-BE49-F238E27FC236}">
                            <a16:creationId xmlns:a16="http://schemas.microsoft.com/office/drawing/2014/main" id="{3148EF51-E0A0-4BBB-5455-7AF7E7BFE6A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43100" y="4508500"/>
                        <a:ext cx="3073400" cy="73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87788" name="Object 6">
            <a:extLst>
              <a:ext uri="{FF2B5EF4-FFF2-40B4-BE49-F238E27FC236}">
                <a16:creationId xmlns:a16="http://schemas.microsoft.com/office/drawing/2014/main" id="{1F84CD8F-AC87-5970-B699-519E01AA0569}"/>
              </a:ext>
            </a:extLst>
          </p:cNvPr>
          <p:cNvGraphicFramePr>
            <a:graphicFrameLocks noChangeAspect="1"/>
          </p:cNvGraphicFramePr>
          <p:nvPr/>
        </p:nvGraphicFramePr>
        <p:xfrm>
          <a:off x="5829300" y="4457700"/>
          <a:ext cx="4076700" cy="1435100"/>
        </p:xfrm>
        <a:graphic>
          <a:graphicData uri="http://schemas.openxmlformats.org/presentationml/2006/ole">
            <mc:AlternateContent xmlns:mc="http://schemas.openxmlformats.org/markup-compatibility/2006">
              <mc:Choice xmlns:v="urn:schemas-microsoft-com:vml" Requires="v">
                <p:oleObj name="CS ChemDraw Drawing" r:id="rId11" imgW="4102100" imgH="1447800" progId="ChemDraw.Document.6.0">
                  <p:embed/>
                </p:oleObj>
              </mc:Choice>
              <mc:Fallback>
                <p:oleObj name="CS ChemDraw Drawing" r:id="rId11" imgW="4102100" imgH="1447800" progId="ChemDraw.Document.6.0">
                  <p:embed/>
                  <p:pic>
                    <p:nvPicPr>
                      <p:cNvPr id="587788" name="Object 6">
                        <a:extLst>
                          <a:ext uri="{FF2B5EF4-FFF2-40B4-BE49-F238E27FC236}">
                            <a16:creationId xmlns:a16="http://schemas.microsoft.com/office/drawing/2014/main" id="{1F84CD8F-AC87-5970-B699-519E01AA056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29300" y="4457700"/>
                        <a:ext cx="4076700" cy="143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8778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8778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8778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877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Number Placeholder 4">
            <a:extLst>
              <a:ext uri="{FF2B5EF4-FFF2-40B4-BE49-F238E27FC236}">
                <a16:creationId xmlns:a16="http://schemas.microsoft.com/office/drawing/2014/main" id="{DD296BE7-D65B-56AD-371B-444D499F997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960E2A97-7DF7-AA4A-A5AC-B901C18EFDC7}" type="slidenum">
              <a:rPr lang="en-US" altLang="en-US" sz="1200">
                <a:solidFill>
                  <a:srgbClr val="898989"/>
                </a:solidFill>
                <a:latin typeface="Calibri" panose="020F0502020204030204" pitchFamily="34" charset="0"/>
              </a:rPr>
              <a:pPr eaLnBrk="1" hangingPunct="1"/>
              <a:t>42</a:t>
            </a:fld>
            <a:endParaRPr lang="en-US" altLang="en-US" sz="1200">
              <a:solidFill>
                <a:srgbClr val="898989"/>
              </a:solidFill>
              <a:latin typeface="Calibri" panose="020F0502020204030204" pitchFamily="34" charset="0"/>
            </a:endParaRPr>
          </a:p>
        </p:txBody>
      </p:sp>
      <p:sp>
        <p:nvSpPr>
          <p:cNvPr id="589826" name="Rectangle 2">
            <a:extLst>
              <a:ext uri="{FF2B5EF4-FFF2-40B4-BE49-F238E27FC236}">
                <a16:creationId xmlns:a16="http://schemas.microsoft.com/office/drawing/2014/main" id="{69AF4F33-D0EC-24E2-BF1E-AF71C45485F9}"/>
              </a:ext>
            </a:extLst>
          </p:cNvPr>
          <p:cNvSpPr>
            <a:spLocks noGrp="1" noChangeArrowheads="1"/>
          </p:cNvSpPr>
          <p:nvPr>
            <p:ph type="title"/>
          </p:nvPr>
        </p:nvSpPr>
        <p:spPr>
          <a:xfrm>
            <a:off x="2209800" y="228600"/>
            <a:ext cx="7772400" cy="1143000"/>
          </a:xfrm>
        </p:spPr>
        <p:txBody>
          <a:bodyPr rtlCol="0">
            <a:normAutofit fontScale="90000"/>
          </a:bodyPr>
          <a:lstStyle/>
          <a:p>
            <a:pPr>
              <a:defRPr/>
            </a:pPr>
            <a:r>
              <a:rPr lang="en-US" sz="4000" b="1" i="1">
                <a:solidFill>
                  <a:srgbClr val="006699"/>
                </a:solidFill>
                <a:latin typeface="Arial Narrow" pitchFamily="34" charset="0"/>
              </a:rPr>
              <a:t>The </a:t>
            </a:r>
            <a:r>
              <a:rPr lang="en-US" sz="4000" b="1">
                <a:solidFill>
                  <a:srgbClr val="006699"/>
                </a:solidFill>
                <a:latin typeface="Arial Narrow" pitchFamily="34" charset="0"/>
              </a:rPr>
              <a:t>Trans</a:t>
            </a:r>
            <a:r>
              <a:rPr lang="en-US" sz="4000" b="1" i="1">
                <a:solidFill>
                  <a:srgbClr val="006699"/>
                </a:solidFill>
                <a:latin typeface="Arial Narrow" pitchFamily="34" charset="0"/>
              </a:rPr>
              <a:t> Effect and Ligand Dissociation</a:t>
            </a:r>
          </a:p>
        </p:txBody>
      </p:sp>
      <p:sp>
        <p:nvSpPr>
          <p:cNvPr id="45059" name="Text Box 3">
            <a:extLst>
              <a:ext uri="{FF2B5EF4-FFF2-40B4-BE49-F238E27FC236}">
                <a16:creationId xmlns:a16="http://schemas.microsoft.com/office/drawing/2014/main" id="{2022F9B8-6841-6CE9-30E8-655D73998AFB}"/>
              </a:ext>
            </a:extLst>
          </p:cNvPr>
          <p:cNvSpPr txBox="1">
            <a:spLocks noChangeArrowheads="1"/>
          </p:cNvSpPr>
          <p:nvPr/>
        </p:nvSpPr>
        <p:spPr bwMode="auto">
          <a:xfrm>
            <a:off x="1676401" y="63246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i="1">
              <a:latin typeface="Calibri" panose="020F0502020204030204" pitchFamily="34" charset="0"/>
            </a:endParaRPr>
          </a:p>
        </p:txBody>
      </p:sp>
      <p:sp>
        <p:nvSpPr>
          <p:cNvPr id="45060" name="Text Box 4">
            <a:extLst>
              <a:ext uri="{FF2B5EF4-FFF2-40B4-BE49-F238E27FC236}">
                <a16:creationId xmlns:a16="http://schemas.microsoft.com/office/drawing/2014/main" id="{42CDE2BC-D43F-679C-8873-129901B061CF}"/>
              </a:ext>
            </a:extLst>
          </p:cNvPr>
          <p:cNvSpPr txBox="1">
            <a:spLocks noChangeArrowheads="1"/>
          </p:cNvSpPr>
          <p:nvPr/>
        </p:nvSpPr>
        <p:spPr bwMode="auto">
          <a:xfrm>
            <a:off x="1703389" y="6308726"/>
            <a:ext cx="704789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400">
                <a:latin typeface="Calibri" panose="020F0502020204030204" pitchFamily="34" charset="0"/>
              </a:rPr>
              <a:t>Atwood, J. D. </a:t>
            </a:r>
            <a:r>
              <a:rPr lang="en-US" altLang="en-US" sz="1400" i="1">
                <a:latin typeface="Calibri" panose="020F0502020204030204" pitchFamily="34" charset="0"/>
              </a:rPr>
              <a:t>Inorganic and Organometallic Reaction Mechanisms</a:t>
            </a:r>
            <a:r>
              <a:rPr lang="en-US" altLang="en-US" sz="1400">
                <a:latin typeface="Calibri" panose="020F0502020204030204" pitchFamily="34" charset="0"/>
              </a:rPr>
              <a:t>; VCH: New York, 1997, p 51.</a:t>
            </a:r>
          </a:p>
        </p:txBody>
      </p:sp>
      <p:graphicFrame>
        <p:nvGraphicFramePr>
          <p:cNvPr id="589834" name="Object 2">
            <a:extLst>
              <a:ext uri="{FF2B5EF4-FFF2-40B4-BE49-F238E27FC236}">
                <a16:creationId xmlns:a16="http://schemas.microsoft.com/office/drawing/2014/main" id="{381FFF35-B2F0-1B0D-8F9F-8CF09A90ED81}"/>
              </a:ext>
            </a:extLst>
          </p:cNvPr>
          <p:cNvGraphicFramePr>
            <a:graphicFrameLocks noChangeAspect="1"/>
          </p:cNvGraphicFramePr>
          <p:nvPr/>
        </p:nvGraphicFramePr>
        <p:xfrm>
          <a:off x="3213100" y="3111500"/>
          <a:ext cx="5816600" cy="1447800"/>
        </p:xfrm>
        <a:graphic>
          <a:graphicData uri="http://schemas.openxmlformats.org/presentationml/2006/ole">
            <mc:AlternateContent xmlns:mc="http://schemas.openxmlformats.org/markup-compatibility/2006">
              <mc:Choice xmlns:v="urn:schemas-microsoft-com:vml" Requires="v">
                <p:oleObj name="CS ChemDraw Drawing" r:id="rId3" imgW="5880100" imgH="1460500" progId="ChemDraw.Document.6.0">
                  <p:embed/>
                </p:oleObj>
              </mc:Choice>
              <mc:Fallback>
                <p:oleObj name="CS ChemDraw Drawing" r:id="rId3" imgW="5880100" imgH="1460500" progId="ChemDraw.Document.6.0">
                  <p:embed/>
                  <p:pic>
                    <p:nvPicPr>
                      <p:cNvPr id="589834" name="Object 2">
                        <a:extLst>
                          <a:ext uri="{FF2B5EF4-FFF2-40B4-BE49-F238E27FC236}">
                            <a16:creationId xmlns:a16="http://schemas.microsoft.com/office/drawing/2014/main" id="{381FFF35-B2F0-1B0D-8F9F-8CF09A90ED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3100" y="3111500"/>
                        <a:ext cx="58166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89838" name="Object 3">
            <a:extLst>
              <a:ext uri="{FF2B5EF4-FFF2-40B4-BE49-F238E27FC236}">
                <a16:creationId xmlns:a16="http://schemas.microsoft.com/office/drawing/2014/main" id="{DF8E65A6-3FBB-9509-16AC-34448A354B10}"/>
              </a:ext>
            </a:extLst>
          </p:cNvPr>
          <p:cNvGraphicFramePr>
            <a:graphicFrameLocks noChangeAspect="1"/>
          </p:cNvGraphicFramePr>
          <p:nvPr/>
        </p:nvGraphicFramePr>
        <p:xfrm>
          <a:off x="3724275" y="4938714"/>
          <a:ext cx="4743450" cy="257175"/>
        </p:xfrm>
        <a:graphic>
          <a:graphicData uri="http://schemas.openxmlformats.org/presentationml/2006/ole">
            <mc:AlternateContent xmlns:mc="http://schemas.openxmlformats.org/markup-compatibility/2006">
              <mc:Choice xmlns:v="urn:schemas-microsoft-com:vml" Requires="v">
                <p:oleObj name="CS ChemDraw Drawing" r:id="rId5" imgW="4749800" imgH="266700" progId="ChemDraw.Document.6.0">
                  <p:embed/>
                </p:oleObj>
              </mc:Choice>
              <mc:Fallback>
                <p:oleObj name="CS ChemDraw Drawing" r:id="rId5" imgW="4749800" imgH="266700" progId="ChemDraw.Document.6.0">
                  <p:embed/>
                  <p:pic>
                    <p:nvPicPr>
                      <p:cNvPr id="589838" name="Object 3">
                        <a:extLst>
                          <a:ext uri="{FF2B5EF4-FFF2-40B4-BE49-F238E27FC236}">
                            <a16:creationId xmlns:a16="http://schemas.microsoft.com/office/drawing/2014/main" id="{DF8E65A6-3FBB-9509-16AC-34448A354B1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24275" y="4938714"/>
                        <a:ext cx="4743450"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89840" name="Object 4">
            <a:extLst>
              <a:ext uri="{FF2B5EF4-FFF2-40B4-BE49-F238E27FC236}">
                <a16:creationId xmlns:a16="http://schemas.microsoft.com/office/drawing/2014/main" id="{C4769DB5-BC59-2687-89C7-57E91893428A}"/>
              </a:ext>
            </a:extLst>
          </p:cNvPr>
          <p:cNvGraphicFramePr>
            <a:graphicFrameLocks noChangeAspect="1"/>
          </p:cNvGraphicFramePr>
          <p:nvPr/>
        </p:nvGraphicFramePr>
        <p:xfrm>
          <a:off x="3419475" y="5562600"/>
          <a:ext cx="5353050" cy="254000"/>
        </p:xfrm>
        <a:graphic>
          <a:graphicData uri="http://schemas.openxmlformats.org/presentationml/2006/ole">
            <mc:AlternateContent xmlns:mc="http://schemas.openxmlformats.org/markup-compatibility/2006">
              <mc:Choice xmlns:v="urn:schemas-microsoft-com:vml" Requires="v">
                <p:oleObj name="CS ChemDraw Drawing" r:id="rId7" imgW="5359400" imgH="266700" progId="ChemDraw.Document.6.0">
                  <p:embed/>
                </p:oleObj>
              </mc:Choice>
              <mc:Fallback>
                <p:oleObj name="CS ChemDraw Drawing" r:id="rId7" imgW="5359400" imgH="266700" progId="ChemDraw.Document.6.0">
                  <p:embed/>
                  <p:pic>
                    <p:nvPicPr>
                      <p:cNvPr id="589840" name="Object 4">
                        <a:extLst>
                          <a:ext uri="{FF2B5EF4-FFF2-40B4-BE49-F238E27FC236}">
                            <a16:creationId xmlns:a16="http://schemas.microsoft.com/office/drawing/2014/main" id="{C4769DB5-BC59-2687-89C7-57E91893428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19475" y="5562600"/>
                        <a:ext cx="5353050"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5064" name="Object 5">
            <a:extLst>
              <a:ext uri="{FF2B5EF4-FFF2-40B4-BE49-F238E27FC236}">
                <a16:creationId xmlns:a16="http://schemas.microsoft.com/office/drawing/2014/main" id="{EF9C62F8-5235-ECCD-E919-3C9E81C65F2C}"/>
              </a:ext>
            </a:extLst>
          </p:cNvPr>
          <p:cNvGraphicFramePr>
            <a:graphicFrameLocks noChangeAspect="1"/>
          </p:cNvGraphicFramePr>
          <p:nvPr/>
        </p:nvGraphicFramePr>
        <p:xfrm>
          <a:off x="4127500" y="1511300"/>
          <a:ext cx="4076700" cy="1435100"/>
        </p:xfrm>
        <a:graphic>
          <a:graphicData uri="http://schemas.openxmlformats.org/presentationml/2006/ole">
            <mc:AlternateContent xmlns:mc="http://schemas.openxmlformats.org/markup-compatibility/2006">
              <mc:Choice xmlns:v="urn:schemas-microsoft-com:vml" Requires="v">
                <p:oleObj name="CS ChemDraw Drawing" r:id="rId9" imgW="4102100" imgH="1447800" progId="ChemDraw.Document.6.0">
                  <p:embed/>
                </p:oleObj>
              </mc:Choice>
              <mc:Fallback>
                <p:oleObj name="CS ChemDraw Drawing" r:id="rId9" imgW="4102100" imgH="1447800" progId="ChemDraw.Document.6.0">
                  <p:embed/>
                  <p:pic>
                    <p:nvPicPr>
                      <p:cNvPr id="45064" name="Object 5">
                        <a:extLst>
                          <a:ext uri="{FF2B5EF4-FFF2-40B4-BE49-F238E27FC236}">
                            <a16:creationId xmlns:a16="http://schemas.microsoft.com/office/drawing/2014/main" id="{EF9C62F8-5235-ECCD-E919-3C9E81C65F2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27500" y="1511300"/>
                        <a:ext cx="4076700" cy="143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8983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8983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xit" presetSubtype="0" fill="hold" nodeType="clickEffect">
                                  <p:stCondLst>
                                    <p:cond delay="0"/>
                                  </p:stCondLst>
                                  <p:childTnLst>
                                    <p:set>
                                      <p:cBhvr>
                                        <p:cTn id="14" dur="1" fill="hold">
                                          <p:stCondLst>
                                            <p:cond delay="0"/>
                                          </p:stCondLst>
                                        </p:cTn>
                                        <p:tgtEl>
                                          <p:spTgt spid="589838"/>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5898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Number Placeholder 4">
            <a:extLst>
              <a:ext uri="{FF2B5EF4-FFF2-40B4-BE49-F238E27FC236}">
                <a16:creationId xmlns:a16="http://schemas.microsoft.com/office/drawing/2014/main" id="{BA935CE2-4D28-1E97-AE01-6799DDFC36B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1F87C0F3-F0A5-9A45-BA8C-F9577A97F634}" type="slidenum">
              <a:rPr lang="en-US" altLang="en-US" sz="1200">
                <a:solidFill>
                  <a:srgbClr val="898989"/>
                </a:solidFill>
                <a:latin typeface="Calibri" panose="020F0502020204030204" pitchFamily="34" charset="0"/>
              </a:rPr>
              <a:pPr eaLnBrk="1" hangingPunct="1"/>
              <a:t>43</a:t>
            </a:fld>
            <a:endParaRPr lang="en-US" altLang="en-US" sz="1200">
              <a:solidFill>
                <a:srgbClr val="898989"/>
              </a:solidFill>
              <a:latin typeface="Calibri" panose="020F0502020204030204" pitchFamily="34" charset="0"/>
            </a:endParaRPr>
          </a:p>
        </p:txBody>
      </p:sp>
      <p:sp>
        <p:nvSpPr>
          <p:cNvPr id="47106" name="Rectangle 2">
            <a:extLst>
              <a:ext uri="{FF2B5EF4-FFF2-40B4-BE49-F238E27FC236}">
                <a16:creationId xmlns:a16="http://schemas.microsoft.com/office/drawing/2014/main" id="{A598732A-549A-646B-F823-11B568303822}"/>
              </a:ext>
            </a:extLst>
          </p:cNvPr>
          <p:cNvSpPr>
            <a:spLocks noGrp="1" noChangeArrowheads="1"/>
          </p:cNvSpPr>
          <p:nvPr>
            <p:ph type="title"/>
          </p:nvPr>
        </p:nvSpPr>
        <p:spPr>
          <a:xfrm>
            <a:off x="2209800" y="228600"/>
            <a:ext cx="7772400" cy="1143000"/>
          </a:xfrm>
        </p:spPr>
        <p:txBody>
          <a:bodyPr>
            <a:normAutofit fontScale="90000"/>
          </a:bodyPr>
          <a:lstStyle/>
          <a:p>
            <a:pPr eaLnBrk="1" hangingPunct="1"/>
            <a:r>
              <a:rPr lang="en-US" altLang="en-US" sz="4000" b="1" i="1">
                <a:solidFill>
                  <a:srgbClr val="006699"/>
                </a:solidFill>
                <a:latin typeface="Arial Narrow" panose="020B0604020202020204" pitchFamily="34" charset="0"/>
                <a:ea typeface="ＭＳ Ｐゴシック" panose="020B0600070205080204" pitchFamily="34" charset="-128"/>
              </a:rPr>
              <a:t>The </a:t>
            </a:r>
            <a:r>
              <a:rPr lang="en-US" altLang="en-US" sz="4000" b="1">
                <a:solidFill>
                  <a:srgbClr val="006699"/>
                </a:solidFill>
                <a:latin typeface="Arial Narrow" panose="020B0604020202020204" pitchFamily="34" charset="0"/>
                <a:ea typeface="ＭＳ Ｐゴシック" panose="020B0600070205080204" pitchFamily="34" charset="-128"/>
              </a:rPr>
              <a:t>Trans</a:t>
            </a:r>
            <a:r>
              <a:rPr lang="en-US" altLang="en-US" sz="4000" b="1" i="1">
                <a:solidFill>
                  <a:srgbClr val="006699"/>
                </a:solidFill>
                <a:latin typeface="Arial Narrow" panose="020B0604020202020204" pitchFamily="34" charset="0"/>
                <a:ea typeface="ＭＳ Ｐゴシック" panose="020B0600070205080204" pitchFamily="34" charset="-128"/>
              </a:rPr>
              <a:t> Effect and Ligand Dissociation</a:t>
            </a:r>
          </a:p>
        </p:txBody>
      </p:sp>
      <p:sp>
        <p:nvSpPr>
          <p:cNvPr id="47107" name="Text Box 3">
            <a:extLst>
              <a:ext uri="{FF2B5EF4-FFF2-40B4-BE49-F238E27FC236}">
                <a16:creationId xmlns:a16="http://schemas.microsoft.com/office/drawing/2014/main" id="{006FAEA0-B354-139C-FE3D-AE18BBCDBB3A}"/>
              </a:ext>
            </a:extLst>
          </p:cNvPr>
          <p:cNvSpPr txBox="1">
            <a:spLocks noChangeArrowheads="1"/>
          </p:cNvSpPr>
          <p:nvPr/>
        </p:nvSpPr>
        <p:spPr bwMode="auto">
          <a:xfrm>
            <a:off x="1676401" y="63246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i="1">
              <a:latin typeface="Calibri" panose="020F0502020204030204" pitchFamily="34" charset="0"/>
            </a:endParaRPr>
          </a:p>
        </p:txBody>
      </p:sp>
      <p:sp>
        <p:nvSpPr>
          <p:cNvPr id="47108" name="Text Box 4">
            <a:extLst>
              <a:ext uri="{FF2B5EF4-FFF2-40B4-BE49-F238E27FC236}">
                <a16:creationId xmlns:a16="http://schemas.microsoft.com/office/drawing/2014/main" id="{3A6E4013-39D3-6AED-32EB-B49B51E9BC4A}"/>
              </a:ext>
            </a:extLst>
          </p:cNvPr>
          <p:cNvSpPr txBox="1">
            <a:spLocks noChangeArrowheads="1"/>
          </p:cNvSpPr>
          <p:nvPr/>
        </p:nvSpPr>
        <p:spPr bwMode="auto">
          <a:xfrm>
            <a:off x="1703389" y="6308726"/>
            <a:ext cx="704789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400">
                <a:latin typeface="Calibri" panose="020F0502020204030204" pitchFamily="34" charset="0"/>
              </a:rPr>
              <a:t>Atwood, J. D. </a:t>
            </a:r>
            <a:r>
              <a:rPr lang="en-US" altLang="en-US" sz="1400" i="1">
                <a:latin typeface="Calibri" panose="020F0502020204030204" pitchFamily="34" charset="0"/>
              </a:rPr>
              <a:t>Inorganic and Organometallic Reaction Mechanisms</a:t>
            </a:r>
            <a:r>
              <a:rPr lang="en-US" altLang="en-US" sz="1400">
                <a:latin typeface="Calibri" panose="020F0502020204030204" pitchFamily="34" charset="0"/>
              </a:rPr>
              <a:t>; VCH: New York, 1997, p 51.</a:t>
            </a:r>
          </a:p>
        </p:txBody>
      </p:sp>
      <p:graphicFrame>
        <p:nvGraphicFramePr>
          <p:cNvPr id="589834" name="Object 2">
            <a:extLst>
              <a:ext uri="{FF2B5EF4-FFF2-40B4-BE49-F238E27FC236}">
                <a16:creationId xmlns:a16="http://schemas.microsoft.com/office/drawing/2014/main" id="{0FC072B0-DE19-BDC3-821F-A2D4E12A011D}"/>
              </a:ext>
            </a:extLst>
          </p:cNvPr>
          <p:cNvGraphicFramePr>
            <a:graphicFrameLocks noChangeAspect="1"/>
          </p:cNvGraphicFramePr>
          <p:nvPr/>
        </p:nvGraphicFramePr>
        <p:xfrm>
          <a:off x="3213100" y="3111500"/>
          <a:ext cx="5816600" cy="1447800"/>
        </p:xfrm>
        <a:graphic>
          <a:graphicData uri="http://schemas.openxmlformats.org/presentationml/2006/ole">
            <mc:AlternateContent xmlns:mc="http://schemas.openxmlformats.org/markup-compatibility/2006">
              <mc:Choice xmlns:v="urn:schemas-microsoft-com:vml" Requires="v">
                <p:oleObj name="CS ChemDraw Drawing" r:id="rId3" imgW="5880100" imgH="1460500" progId="ChemDraw.Document.6.0">
                  <p:embed/>
                </p:oleObj>
              </mc:Choice>
              <mc:Fallback>
                <p:oleObj name="CS ChemDraw Drawing" r:id="rId3" imgW="5880100" imgH="1460500" progId="ChemDraw.Document.6.0">
                  <p:embed/>
                  <p:pic>
                    <p:nvPicPr>
                      <p:cNvPr id="589834" name="Object 2">
                        <a:extLst>
                          <a:ext uri="{FF2B5EF4-FFF2-40B4-BE49-F238E27FC236}">
                            <a16:creationId xmlns:a16="http://schemas.microsoft.com/office/drawing/2014/main" id="{0FC072B0-DE19-BDC3-821F-A2D4E12A01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3100" y="3111500"/>
                        <a:ext cx="58166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89838" name="Object 3">
            <a:extLst>
              <a:ext uri="{FF2B5EF4-FFF2-40B4-BE49-F238E27FC236}">
                <a16:creationId xmlns:a16="http://schemas.microsoft.com/office/drawing/2014/main" id="{2C128A1C-994E-B1C3-88AC-62E9470530EC}"/>
              </a:ext>
            </a:extLst>
          </p:cNvPr>
          <p:cNvGraphicFramePr>
            <a:graphicFrameLocks noChangeAspect="1"/>
          </p:cNvGraphicFramePr>
          <p:nvPr/>
        </p:nvGraphicFramePr>
        <p:xfrm>
          <a:off x="3724275" y="4938714"/>
          <a:ext cx="4743450" cy="257175"/>
        </p:xfrm>
        <a:graphic>
          <a:graphicData uri="http://schemas.openxmlformats.org/presentationml/2006/ole">
            <mc:AlternateContent xmlns:mc="http://schemas.openxmlformats.org/markup-compatibility/2006">
              <mc:Choice xmlns:v="urn:schemas-microsoft-com:vml" Requires="v">
                <p:oleObj name="CS ChemDraw Drawing" r:id="rId5" imgW="4749800" imgH="266700" progId="ChemDraw.Document.6.0">
                  <p:embed/>
                </p:oleObj>
              </mc:Choice>
              <mc:Fallback>
                <p:oleObj name="CS ChemDraw Drawing" r:id="rId5" imgW="4749800" imgH="266700" progId="ChemDraw.Document.6.0">
                  <p:embed/>
                  <p:pic>
                    <p:nvPicPr>
                      <p:cNvPr id="589838" name="Object 3">
                        <a:extLst>
                          <a:ext uri="{FF2B5EF4-FFF2-40B4-BE49-F238E27FC236}">
                            <a16:creationId xmlns:a16="http://schemas.microsoft.com/office/drawing/2014/main" id="{2C128A1C-994E-B1C3-88AC-62E9470530E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24275" y="4938714"/>
                        <a:ext cx="4743450"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89840" name="Object 4">
            <a:extLst>
              <a:ext uri="{FF2B5EF4-FFF2-40B4-BE49-F238E27FC236}">
                <a16:creationId xmlns:a16="http://schemas.microsoft.com/office/drawing/2014/main" id="{782A1FEB-3F85-7104-73E7-38C76FD63180}"/>
              </a:ext>
            </a:extLst>
          </p:cNvPr>
          <p:cNvGraphicFramePr>
            <a:graphicFrameLocks noChangeAspect="1"/>
          </p:cNvGraphicFramePr>
          <p:nvPr/>
        </p:nvGraphicFramePr>
        <p:xfrm>
          <a:off x="3419475" y="5562600"/>
          <a:ext cx="5353050" cy="254000"/>
        </p:xfrm>
        <a:graphic>
          <a:graphicData uri="http://schemas.openxmlformats.org/presentationml/2006/ole">
            <mc:AlternateContent xmlns:mc="http://schemas.openxmlformats.org/markup-compatibility/2006">
              <mc:Choice xmlns:v="urn:schemas-microsoft-com:vml" Requires="v">
                <p:oleObj name="CS ChemDraw Drawing" r:id="rId7" imgW="5359400" imgH="266700" progId="ChemDraw.Document.6.0">
                  <p:embed/>
                </p:oleObj>
              </mc:Choice>
              <mc:Fallback>
                <p:oleObj name="CS ChemDraw Drawing" r:id="rId7" imgW="5359400" imgH="266700" progId="ChemDraw.Document.6.0">
                  <p:embed/>
                  <p:pic>
                    <p:nvPicPr>
                      <p:cNvPr id="589840" name="Object 4">
                        <a:extLst>
                          <a:ext uri="{FF2B5EF4-FFF2-40B4-BE49-F238E27FC236}">
                            <a16:creationId xmlns:a16="http://schemas.microsoft.com/office/drawing/2014/main" id="{782A1FEB-3F85-7104-73E7-38C76FD6318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19475" y="5562600"/>
                        <a:ext cx="5353050" cy="25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112" name="Object 5">
            <a:extLst>
              <a:ext uri="{FF2B5EF4-FFF2-40B4-BE49-F238E27FC236}">
                <a16:creationId xmlns:a16="http://schemas.microsoft.com/office/drawing/2014/main" id="{AF45117A-F66B-FB8D-60D4-A797500ACC86}"/>
              </a:ext>
            </a:extLst>
          </p:cNvPr>
          <p:cNvGraphicFramePr>
            <a:graphicFrameLocks noChangeAspect="1"/>
          </p:cNvGraphicFramePr>
          <p:nvPr/>
        </p:nvGraphicFramePr>
        <p:xfrm>
          <a:off x="4127500" y="1511300"/>
          <a:ext cx="4076700" cy="1435100"/>
        </p:xfrm>
        <a:graphic>
          <a:graphicData uri="http://schemas.openxmlformats.org/presentationml/2006/ole">
            <mc:AlternateContent xmlns:mc="http://schemas.openxmlformats.org/markup-compatibility/2006">
              <mc:Choice xmlns:v="urn:schemas-microsoft-com:vml" Requires="v">
                <p:oleObj name="CS ChemDraw Drawing" r:id="rId9" imgW="4102100" imgH="1447800" progId="ChemDraw.Document.6.0">
                  <p:embed/>
                </p:oleObj>
              </mc:Choice>
              <mc:Fallback>
                <p:oleObj name="CS ChemDraw Drawing" r:id="rId9" imgW="4102100" imgH="1447800" progId="ChemDraw.Document.6.0">
                  <p:embed/>
                  <p:pic>
                    <p:nvPicPr>
                      <p:cNvPr id="47112" name="Object 5">
                        <a:extLst>
                          <a:ext uri="{FF2B5EF4-FFF2-40B4-BE49-F238E27FC236}">
                            <a16:creationId xmlns:a16="http://schemas.microsoft.com/office/drawing/2014/main" id="{AF45117A-F66B-FB8D-60D4-A797500ACC8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27500" y="1511300"/>
                        <a:ext cx="4076700" cy="143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8983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8983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xit" presetSubtype="0" fill="hold" nodeType="clickEffect">
                                  <p:stCondLst>
                                    <p:cond delay="0"/>
                                  </p:stCondLst>
                                  <p:childTnLst>
                                    <p:set>
                                      <p:cBhvr>
                                        <p:cTn id="14" dur="1" fill="hold">
                                          <p:stCondLst>
                                            <p:cond delay="0"/>
                                          </p:stCondLst>
                                        </p:cTn>
                                        <p:tgtEl>
                                          <p:spTgt spid="589838"/>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5898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E1BB5-9CC8-51F2-6C8E-D7F0E13E9B65}"/>
              </a:ext>
            </a:extLst>
          </p:cNvPr>
          <p:cNvSpPr>
            <a:spLocks noGrp="1"/>
          </p:cNvSpPr>
          <p:nvPr>
            <p:ph type="title"/>
          </p:nvPr>
        </p:nvSpPr>
        <p:spPr/>
        <p:txBody>
          <a:bodyPr/>
          <a:lstStyle/>
          <a:p>
            <a:r>
              <a:rPr lang="en-US" dirty="0"/>
              <a:t>Alkene Polymerization</a:t>
            </a:r>
          </a:p>
        </p:txBody>
      </p:sp>
      <p:pic>
        <p:nvPicPr>
          <p:cNvPr id="4" name="Content Placeholder 3">
            <a:extLst>
              <a:ext uri="{FF2B5EF4-FFF2-40B4-BE49-F238E27FC236}">
                <a16:creationId xmlns:a16="http://schemas.microsoft.com/office/drawing/2014/main" id="{E37CB3B3-61F7-F745-68F5-BA0DAA1B742D}"/>
              </a:ext>
            </a:extLst>
          </p:cNvPr>
          <p:cNvPicPr>
            <a:picLocks noGrp="1" noChangeAspect="1"/>
          </p:cNvPicPr>
          <p:nvPr>
            <p:ph idx="1"/>
          </p:nvPr>
        </p:nvPicPr>
        <p:blipFill>
          <a:blip r:embed="rId2"/>
          <a:stretch>
            <a:fillRect/>
          </a:stretch>
        </p:blipFill>
        <p:spPr>
          <a:xfrm>
            <a:off x="2308577" y="2008606"/>
            <a:ext cx="7874001" cy="4814846"/>
          </a:xfrm>
          <a:prstGeom prst="rect">
            <a:avLst/>
          </a:prstGeom>
        </p:spPr>
      </p:pic>
    </p:spTree>
    <p:extLst>
      <p:ext uri="{BB962C8B-B14F-4D97-AF65-F5344CB8AC3E}">
        <p14:creationId xmlns:p14="http://schemas.microsoft.com/office/powerpoint/2010/main" val="31369209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1BEAF-99CF-822F-DF1F-BEAD00C2DE2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6B79890-DBFB-DB95-94D3-7C9AE376ED9B}"/>
              </a:ext>
            </a:extLst>
          </p:cNvPr>
          <p:cNvSpPr>
            <a:spLocks noGrp="1"/>
          </p:cNvSpPr>
          <p:nvPr>
            <p:ph idx="1"/>
          </p:nvPr>
        </p:nvSpPr>
        <p:spPr/>
        <p:txBody>
          <a:bodyPr/>
          <a:lstStyle/>
          <a:p>
            <a:endParaRPr lang="en-US" dirty="0"/>
          </a:p>
        </p:txBody>
      </p:sp>
      <p:sp>
        <p:nvSpPr>
          <p:cNvPr id="5" name="TextBox 4">
            <a:extLst>
              <a:ext uri="{FF2B5EF4-FFF2-40B4-BE49-F238E27FC236}">
                <a16:creationId xmlns:a16="http://schemas.microsoft.com/office/drawing/2014/main" id="{7F091E54-344E-E283-3446-7CFD33418C34}"/>
              </a:ext>
            </a:extLst>
          </p:cNvPr>
          <p:cNvSpPr txBox="1"/>
          <p:nvPr/>
        </p:nvSpPr>
        <p:spPr>
          <a:xfrm>
            <a:off x="2832100" y="2524036"/>
            <a:ext cx="7429500" cy="1200329"/>
          </a:xfrm>
          <a:prstGeom prst="rect">
            <a:avLst/>
          </a:prstGeom>
          <a:noFill/>
        </p:spPr>
        <p:txBody>
          <a:bodyPr wrap="square">
            <a:spAutoFit/>
          </a:bodyPr>
          <a:lstStyle/>
          <a:p>
            <a:r>
              <a:rPr lang="en-IN" b="0" i="0" u="none" strike="noStrike" dirty="0">
                <a:solidFill>
                  <a:srgbClr val="202124"/>
                </a:solidFill>
                <a:effectLst/>
                <a:latin typeface="arial" panose="020B0604020202020204" pitchFamily="34" charset="0"/>
              </a:rPr>
              <a:t>Well over </a:t>
            </a:r>
            <a:r>
              <a:rPr lang="en-IN" b="1" i="0" u="none" strike="noStrike" dirty="0">
                <a:solidFill>
                  <a:srgbClr val="202124"/>
                </a:solidFill>
                <a:effectLst/>
                <a:latin typeface="arial" panose="020B0604020202020204" pitchFamily="34" charset="0"/>
              </a:rPr>
              <a:t>80 million tonnes</a:t>
            </a:r>
            <a:r>
              <a:rPr lang="en-IN" b="0" i="0" u="none" strike="noStrike" dirty="0">
                <a:solidFill>
                  <a:srgbClr val="202124"/>
                </a:solidFill>
                <a:effectLst/>
                <a:latin typeface="arial" panose="020B0604020202020204" pitchFamily="34" charset="0"/>
              </a:rPr>
              <a:t> of poly(ethene), often known as polyethylene and polythene, is manufactured each year making it the world's most important plastic. This accounts for over 60% of the ethene manufactured each year.</a:t>
            </a:r>
            <a:endParaRPr lang="en-US" dirty="0"/>
          </a:p>
        </p:txBody>
      </p:sp>
    </p:spTree>
    <p:extLst>
      <p:ext uri="{BB962C8B-B14F-4D97-AF65-F5344CB8AC3E}">
        <p14:creationId xmlns:p14="http://schemas.microsoft.com/office/powerpoint/2010/main" val="30187198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C41BE-5367-1F3D-9F2C-D7DC3C323FA4}"/>
              </a:ext>
            </a:extLst>
          </p:cNvPr>
          <p:cNvSpPr>
            <a:spLocks noGrp="1"/>
          </p:cNvSpPr>
          <p:nvPr>
            <p:ph type="title"/>
          </p:nvPr>
        </p:nvSpPr>
        <p:spPr/>
        <p:txBody>
          <a:bodyPr/>
          <a:lstStyle/>
          <a:p>
            <a:r>
              <a:rPr lang="en-US" dirty="0"/>
              <a:t>Ziegler Natta Polymerization</a:t>
            </a:r>
          </a:p>
        </p:txBody>
      </p:sp>
      <p:sp>
        <p:nvSpPr>
          <p:cNvPr id="3" name="Content Placeholder 2">
            <a:extLst>
              <a:ext uri="{FF2B5EF4-FFF2-40B4-BE49-F238E27FC236}">
                <a16:creationId xmlns:a16="http://schemas.microsoft.com/office/drawing/2014/main" id="{46D8B69F-623A-7426-0D24-ACE94E497816}"/>
              </a:ext>
            </a:extLst>
          </p:cNvPr>
          <p:cNvSpPr>
            <a:spLocks noGrp="1"/>
          </p:cNvSpPr>
          <p:nvPr>
            <p:ph idx="1"/>
          </p:nvPr>
        </p:nvSpPr>
        <p:spPr>
          <a:xfrm>
            <a:off x="578556" y="2220736"/>
            <a:ext cx="10515600" cy="4351338"/>
          </a:xfrm>
        </p:spPr>
        <p:txBody>
          <a:bodyPr/>
          <a:lstStyle/>
          <a:p>
            <a:r>
              <a:rPr lang="en-IN" b="0" i="0" u="none" strike="noStrike" dirty="0">
                <a:solidFill>
                  <a:srgbClr val="000000"/>
                </a:solidFill>
                <a:effectLst/>
                <a:latin typeface="Tahoma" panose="020B0604030504040204" pitchFamily="34" charset="0"/>
              </a:rPr>
              <a:t>In 1953, German chemist Karl Ziegler discovered a catalytic system able to polymerize ethylene into linear, high molecular weight polyethylene which conventional polymerization techniques could not make.</a:t>
            </a:r>
            <a:r>
              <a:rPr lang="en-IN" baseline="30000" dirty="0">
                <a:solidFill>
                  <a:srgbClr val="000000"/>
                </a:solidFill>
                <a:latin typeface="Tahoma" panose="020B0604030504040204" pitchFamily="34" charset="0"/>
              </a:rPr>
              <a:t> </a:t>
            </a:r>
            <a:r>
              <a:rPr lang="en-IN" b="0" i="0" u="none" strike="noStrike" dirty="0">
                <a:solidFill>
                  <a:srgbClr val="000000"/>
                </a:solidFill>
                <a:effectLst/>
                <a:latin typeface="Tahoma" panose="020B0604030504040204" pitchFamily="34" charset="0"/>
              </a:rPr>
              <a:t>The system contained a transition metal halide with a main group element alkyl compound (Figure 2).</a:t>
            </a:r>
          </a:p>
          <a:p>
            <a:endParaRPr lang="en-US" dirty="0"/>
          </a:p>
        </p:txBody>
      </p:sp>
      <p:pic>
        <p:nvPicPr>
          <p:cNvPr id="23554" name="Picture 2">
            <a:extLst>
              <a:ext uri="{FF2B5EF4-FFF2-40B4-BE49-F238E27FC236}">
                <a16:creationId xmlns:a16="http://schemas.microsoft.com/office/drawing/2014/main" id="{E11ABEF4-D8E0-6165-0DCD-F0FF57ABE6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5067" y="4745567"/>
            <a:ext cx="7823200" cy="129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5782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1614F-780F-9AA2-1A16-51867845C79D}"/>
              </a:ext>
            </a:extLst>
          </p:cNvPr>
          <p:cNvSpPr>
            <a:spLocks noGrp="1"/>
          </p:cNvSpPr>
          <p:nvPr>
            <p:ph type="title"/>
          </p:nvPr>
        </p:nvSpPr>
        <p:spPr/>
        <p:txBody>
          <a:bodyPr>
            <a:normAutofit fontScale="90000"/>
          </a:bodyPr>
          <a:lstStyle/>
          <a:p>
            <a:br>
              <a:rPr lang="en-IN" sz="2000" b="0" i="0" u="none" strike="noStrike" dirty="0">
                <a:solidFill>
                  <a:srgbClr val="000000"/>
                </a:solidFill>
                <a:effectLst/>
                <a:latin typeface="Tahoma" panose="020B0604030504040204" pitchFamily="34" charset="0"/>
              </a:rPr>
            </a:br>
            <a:br>
              <a:rPr lang="en-IN" sz="2000" b="0" i="0" u="none" strike="noStrike" dirty="0">
                <a:solidFill>
                  <a:srgbClr val="000000"/>
                </a:solidFill>
                <a:effectLst/>
                <a:latin typeface="Tahoma" panose="020B0604030504040204" pitchFamily="34" charset="0"/>
              </a:rPr>
            </a:br>
            <a:br>
              <a:rPr lang="en-IN" sz="2000" b="0" i="0" u="none" strike="noStrike" dirty="0">
                <a:solidFill>
                  <a:srgbClr val="000000"/>
                </a:solidFill>
                <a:effectLst/>
                <a:latin typeface="Tahoma" panose="020B0604030504040204" pitchFamily="34" charset="0"/>
              </a:rPr>
            </a:br>
            <a:br>
              <a:rPr lang="en-IN" sz="2000" b="0" i="0" u="none" strike="noStrike" dirty="0">
                <a:solidFill>
                  <a:srgbClr val="000000"/>
                </a:solidFill>
                <a:effectLst/>
                <a:latin typeface="Tahoma" panose="020B0604030504040204" pitchFamily="34" charset="0"/>
              </a:rPr>
            </a:br>
            <a:r>
              <a:rPr lang="en-IN" sz="2000" b="0" i="0" u="none" strike="noStrike" dirty="0">
                <a:solidFill>
                  <a:srgbClr val="000000"/>
                </a:solidFill>
                <a:effectLst/>
                <a:latin typeface="Tahoma" panose="020B0604030504040204" pitchFamily="34" charset="0"/>
              </a:rPr>
              <a:t>Following the catalytic design, Italian chemist Giulio Natta found that polymerization of </a:t>
            </a:r>
            <a:r>
              <a:rPr lang="el-GR" sz="2000" b="0" i="0" u="none" strike="noStrike" dirty="0">
                <a:solidFill>
                  <a:srgbClr val="000000"/>
                </a:solidFill>
                <a:effectLst/>
                <a:latin typeface="Tahoma" panose="020B0604030504040204" pitchFamily="34" charset="0"/>
              </a:rPr>
              <a:t>α-</a:t>
            </a:r>
            <a:r>
              <a:rPr lang="en-IN" sz="2000" b="0" i="0" u="none" strike="noStrike" dirty="0">
                <a:solidFill>
                  <a:srgbClr val="000000"/>
                </a:solidFill>
                <a:effectLst/>
                <a:latin typeface="Tahoma" panose="020B0604030504040204" pitchFamily="34" charset="0"/>
              </a:rPr>
              <a:t>olefins resulted in stereoregular structures,</a:t>
            </a:r>
            <a:r>
              <a:rPr lang="en-IN" sz="2000" b="0" i="0" u="none" strike="noStrike" baseline="30000" dirty="0">
                <a:solidFill>
                  <a:srgbClr val="000000"/>
                </a:solidFill>
                <a:effectLst/>
                <a:latin typeface="Tahoma" panose="020B0604030504040204" pitchFamily="34" charset="0"/>
              </a:rPr>
              <a:t>2</a:t>
            </a:r>
            <a:r>
              <a:rPr lang="en-IN" sz="2000" b="0" i="0" u="none" strike="noStrike" dirty="0">
                <a:solidFill>
                  <a:srgbClr val="000000"/>
                </a:solidFill>
                <a:effectLst/>
                <a:latin typeface="Tahoma" panose="020B0604030504040204" pitchFamily="34" charset="0"/>
              </a:rPr>
              <a:t> either syndiotactic or isotactic, depending on the catalyst used (Figure 3). Because of these important discoveries, Karl Ziegler and Giulio Natta shared the Nobel Prize in Chemistry in 1963.</a:t>
            </a:r>
            <a:br>
              <a:rPr lang="en-IN" sz="2000" b="0" i="0" u="none" strike="noStrike" dirty="0">
                <a:solidFill>
                  <a:srgbClr val="000000"/>
                </a:solidFill>
                <a:effectLst/>
                <a:latin typeface="Tahoma" panose="020B0604030504040204" pitchFamily="34" charset="0"/>
              </a:rPr>
            </a:br>
            <a:br>
              <a:rPr lang="en-IN" dirty="0"/>
            </a:br>
            <a:endParaRPr lang="en-US" dirty="0"/>
          </a:p>
        </p:txBody>
      </p:sp>
      <p:pic>
        <p:nvPicPr>
          <p:cNvPr id="24578" name="Picture 2">
            <a:extLst>
              <a:ext uri="{FF2B5EF4-FFF2-40B4-BE49-F238E27FC236}">
                <a16:creationId xmlns:a16="http://schemas.microsoft.com/office/drawing/2014/main" id="{9A9A8F10-C2D5-5979-45D2-ED883DB861F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34354" y="2630399"/>
            <a:ext cx="5977467" cy="2374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05075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66959-5683-AE2C-ECE9-FE8E17431447}"/>
              </a:ext>
            </a:extLst>
          </p:cNvPr>
          <p:cNvSpPr>
            <a:spLocks noGrp="1"/>
          </p:cNvSpPr>
          <p:nvPr>
            <p:ph type="title"/>
          </p:nvPr>
        </p:nvSpPr>
        <p:spPr/>
        <p:txBody>
          <a:bodyPr/>
          <a:lstStyle/>
          <a:p>
            <a:r>
              <a:rPr lang="en-US" dirty="0"/>
              <a:t>Active Catalyst</a:t>
            </a:r>
          </a:p>
        </p:txBody>
      </p:sp>
      <p:pic>
        <p:nvPicPr>
          <p:cNvPr id="25602" name="Picture 2">
            <a:extLst>
              <a:ext uri="{FF2B5EF4-FFF2-40B4-BE49-F238E27FC236}">
                <a16:creationId xmlns:a16="http://schemas.microsoft.com/office/drawing/2014/main" id="{CAEA838A-0738-CBA4-1D0B-DAEE7ED9C3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776185"/>
            <a:ext cx="9563100" cy="2286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84647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5BD14-45C4-6913-53D1-DEF594005386}"/>
              </a:ext>
            </a:extLst>
          </p:cNvPr>
          <p:cNvSpPr>
            <a:spLocks noGrp="1"/>
          </p:cNvSpPr>
          <p:nvPr>
            <p:ph type="title"/>
          </p:nvPr>
        </p:nvSpPr>
        <p:spPr/>
        <p:txBody>
          <a:bodyPr/>
          <a:lstStyle/>
          <a:p>
            <a:r>
              <a:rPr lang="en-US" dirty="0"/>
              <a:t>Initiation</a:t>
            </a:r>
          </a:p>
        </p:txBody>
      </p:sp>
      <p:pic>
        <p:nvPicPr>
          <p:cNvPr id="26626" name="Picture 2">
            <a:extLst>
              <a:ext uri="{FF2B5EF4-FFF2-40B4-BE49-F238E27FC236}">
                <a16:creationId xmlns:a16="http://schemas.microsoft.com/office/drawing/2014/main" id="{D22DE869-16C5-98B4-E537-511704E06F3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724400"/>
            <a:ext cx="10515600" cy="25537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69381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6A034-3FA3-212E-DA89-E30E1992BC9A}"/>
              </a:ext>
            </a:extLst>
          </p:cNvPr>
          <p:cNvSpPr>
            <a:spLocks noGrp="1"/>
          </p:cNvSpPr>
          <p:nvPr>
            <p:ph type="title"/>
          </p:nvPr>
        </p:nvSpPr>
        <p:spPr/>
        <p:txBody>
          <a:bodyPr/>
          <a:lstStyle/>
          <a:p>
            <a:r>
              <a:rPr lang="en-US" dirty="0"/>
              <a:t>Propagation</a:t>
            </a:r>
          </a:p>
        </p:txBody>
      </p:sp>
      <p:pic>
        <p:nvPicPr>
          <p:cNvPr id="27650" name="Picture 2">
            <a:extLst>
              <a:ext uri="{FF2B5EF4-FFF2-40B4-BE49-F238E27FC236}">
                <a16:creationId xmlns:a16="http://schemas.microsoft.com/office/drawing/2014/main" id="{92E4678D-8633-7536-A99D-30CCAA631D7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637691"/>
            <a:ext cx="10515600" cy="27272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36495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5B9CDF2-EF1D-8F27-AFBE-119B2A551DB2}"/>
              </a:ext>
            </a:extLst>
          </p:cNvPr>
          <p:cNvSpPr>
            <a:spLocks noChangeArrowheads="1"/>
          </p:cNvSpPr>
          <p:nvPr/>
        </p:nvSpPr>
        <p:spPr bwMode="auto">
          <a:xfrm>
            <a:off x="571500" y="5831571"/>
            <a:ext cx="11049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Figure 9: Three termination approaches: (a) β-elimination from the polymer chain, forming metal hydride; (b) β-elimination with hydrogen transfer to monomer; (c)hydrogenation.</a:t>
            </a:r>
          </a:p>
        </p:txBody>
      </p:sp>
      <p:pic>
        <p:nvPicPr>
          <p:cNvPr id="29698" name="Picture 2">
            <a:extLst>
              <a:ext uri="{FF2B5EF4-FFF2-40B4-BE49-F238E27FC236}">
                <a16:creationId xmlns:a16="http://schemas.microsoft.com/office/drawing/2014/main" id="{41164D38-F572-68CB-A130-567A96DC2A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7700" y="842963"/>
            <a:ext cx="6070600" cy="4837510"/>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a:extLst>
              <a:ext uri="{FF2B5EF4-FFF2-40B4-BE49-F238E27FC236}">
                <a16:creationId xmlns:a16="http://schemas.microsoft.com/office/drawing/2014/main" id="{4E82B753-1910-0816-18C9-6204383A1BFA}"/>
              </a:ext>
            </a:extLst>
          </p:cNvPr>
          <p:cNvSpPr>
            <a:spLocks noGrp="1"/>
          </p:cNvSpPr>
          <p:nvPr>
            <p:ph type="title"/>
          </p:nvPr>
        </p:nvSpPr>
        <p:spPr>
          <a:xfrm>
            <a:off x="723900" y="0"/>
            <a:ext cx="10515600" cy="1325563"/>
          </a:xfrm>
        </p:spPr>
        <p:txBody>
          <a:bodyPr/>
          <a:lstStyle/>
          <a:p>
            <a:r>
              <a:rPr lang="en-US" dirty="0"/>
              <a:t>Termination</a:t>
            </a:r>
          </a:p>
        </p:txBody>
      </p:sp>
    </p:spTree>
    <p:extLst>
      <p:ext uri="{BB962C8B-B14F-4D97-AF65-F5344CB8AC3E}">
        <p14:creationId xmlns:p14="http://schemas.microsoft.com/office/powerpoint/2010/main" val="31346606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FA01ECC3-967F-7E97-B8DD-766FEF96004E}"/>
              </a:ext>
            </a:extLst>
          </p:cNvPr>
          <p:cNvSpPr/>
          <p:nvPr/>
        </p:nvSpPr>
        <p:spPr>
          <a:xfrm>
            <a:off x="0" y="0"/>
            <a:ext cx="12192000" cy="669851"/>
          </a:xfrm>
          <a:prstGeom prst="rect">
            <a:avLst/>
          </a:prstGeom>
          <a:solidFill>
            <a:srgbClr val="92D050">
              <a:alpha val="4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solidFill>
                <a:schemeClr val="tx1"/>
              </a:solidFill>
              <a:latin typeface="Comic Sans MS" panose="030F0702030302020204" pitchFamily="66" charset="0"/>
            </a:endParaRPr>
          </a:p>
        </p:txBody>
      </p:sp>
      <p:pic>
        <p:nvPicPr>
          <p:cNvPr id="17" name="Picture 16">
            <a:extLst>
              <a:ext uri="{FF2B5EF4-FFF2-40B4-BE49-F238E27FC236}">
                <a16:creationId xmlns:a16="http://schemas.microsoft.com/office/drawing/2014/main" id="{B15B648F-8016-8124-59D6-2D49E959BBE9}"/>
              </a:ext>
            </a:extLst>
          </p:cNvPr>
          <p:cNvPicPr>
            <a:picLocks noChangeAspect="1"/>
          </p:cNvPicPr>
          <p:nvPr/>
        </p:nvPicPr>
        <p:blipFill rotWithShape="1">
          <a:blip r:embed="rId2"/>
          <a:srcRect t="26201" b="8837"/>
          <a:stretch/>
        </p:blipFill>
        <p:spPr>
          <a:xfrm>
            <a:off x="1135072" y="2179674"/>
            <a:ext cx="9900592" cy="4455042"/>
          </a:xfrm>
          <a:prstGeom prst="rect">
            <a:avLst/>
          </a:prstGeom>
        </p:spPr>
      </p:pic>
      <p:sp>
        <p:nvSpPr>
          <p:cNvPr id="5" name="object 3">
            <a:extLst>
              <a:ext uri="{FF2B5EF4-FFF2-40B4-BE49-F238E27FC236}">
                <a16:creationId xmlns:a16="http://schemas.microsoft.com/office/drawing/2014/main" id="{00478768-839C-6146-A442-671090588F1B}"/>
              </a:ext>
            </a:extLst>
          </p:cNvPr>
          <p:cNvSpPr txBox="1"/>
          <p:nvPr/>
        </p:nvSpPr>
        <p:spPr>
          <a:xfrm>
            <a:off x="4028721" y="202483"/>
            <a:ext cx="3867545" cy="381964"/>
          </a:xfrm>
          <a:prstGeom prst="rect">
            <a:avLst/>
          </a:prstGeom>
        </p:spPr>
        <p:txBody>
          <a:bodyPr vert="horz" wrap="square" lIns="0" tIns="0" rIns="0" bIns="0" rtlCol="0">
            <a:spAutoFit/>
          </a:bodyPr>
          <a:lstStyle/>
          <a:p>
            <a:pPr marL="0" marR="0">
              <a:lnSpc>
                <a:spcPts val="2917"/>
              </a:lnSpc>
              <a:spcBef>
                <a:spcPts val="0"/>
              </a:spcBef>
              <a:spcAft>
                <a:spcPts val="0"/>
              </a:spcAft>
            </a:pPr>
            <a:r>
              <a:rPr lang="en-US" sz="3200" b="1" dirty="0">
                <a:latin typeface="Comic Sans MS" panose="030F0702030302020204" pitchFamily="66" charset="0"/>
                <a:cs typeface="Calibri"/>
              </a:rPr>
              <a:t>Waste Recycling</a:t>
            </a:r>
            <a:endParaRPr sz="3200" b="1" dirty="0">
              <a:latin typeface="Comic Sans MS" panose="030F0702030302020204" pitchFamily="66" charset="0"/>
              <a:cs typeface="Calibri"/>
            </a:endParaRPr>
          </a:p>
        </p:txBody>
      </p:sp>
      <p:sp>
        <p:nvSpPr>
          <p:cNvPr id="6" name="object 4">
            <a:extLst>
              <a:ext uri="{FF2B5EF4-FFF2-40B4-BE49-F238E27FC236}">
                <a16:creationId xmlns:a16="http://schemas.microsoft.com/office/drawing/2014/main" id="{85531F55-25F9-9DA1-7509-733F2CEF6C91}"/>
              </a:ext>
            </a:extLst>
          </p:cNvPr>
          <p:cNvSpPr txBox="1"/>
          <p:nvPr/>
        </p:nvSpPr>
        <p:spPr>
          <a:xfrm>
            <a:off x="1880604" y="876792"/>
            <a:ext cx="7597204" cy="1218282"/>
          </a:xfrm>
          <a:prstGeom prst="rect">
            <a:avLst/>
          </a:prstGeom>
        </p:spPr>
        <p:txBody>
          <a:bodyPr vert="horz" wrap="square" lIns="0" tIns="0" rIns="0" bIns="0" rtlCol="0">
            <a:spAutoFit/>
          </a:bodyPr>
          <a:lstStyle/>
          <a:p>
            <a:pPr marL="0" marR="0">
              <a:lnSpc>
                <a:spcPts val="1875"/>
              </a:lnSpc>
              <a:spcBef>
                <a:spcPts val="0"/>
              </a:spcBef>
              <a:spcAft>
                <a:spcPts val="0"/>
              </a:spcAft>
            </a:pPr>
            <a:r>
              <a:rPr sz="1800" dirty="0">
                <a:solidFill>
                  <a:srgbClr val="000000"/>
                </a:solidFill>
                <a:latin typeface="RFNJCR+ArialMT"/>
                <a:cs typeface="RFNJCR+ArialMT"/>
              </a:rPr>
              <a:t>•</a:t>
            </a:r>
            <a:r>
              <a:rPr sz="1800" spc="900" dirty="0">
                <a:solidFill>
                  <a:srgbClr val="000000"/>
                </a:solidFill>
                <a:latin typeface="Times New Roman"/>
                <a:cs typeface="Times New Roman"/>
              </a:rPr>
              <a:t> </a:t>
            </a:r>
            <a:r>
              <a:rPr sz="1800" dirty="0">
                <a:solidFill>
                  <a:srgbClr val="000000"/>
                </a:solidFill>
                <a:latin typeface="Calibri"/>
                <a:cs typeface="Calibri"/>
              </a:rPr>
              <a:t>Plastic is a general term for synthetic polymerization products</a:t>
            </a:r>
            <a:endParaRPr lang="en-US" sz="1800" dirty="0">
              <a:solidFill>
                <a:srgbClr val="000000"/>
              </a:solidFill>
              <a:latin typeface="Calibri"/>
              <a:cs typeface="Calibri"/>
            </a:endParaRPr>
          </a:p>
          <a:p>
            <a:pPr marL="0" marR="0">
              <a:lnSpc>
                <a:spcPts val="1875"/>
              </a:lnSpc>
              <a:spcBef>
                <a:spcPts val="0"/>
              </a:spcBef>
              <a:spcAft>
                <a:spcPts val="0"/>
              </a:spcAft>
            </a:pPr>
            <a:endParaRPr lang="en-IN" dirty="0">
              <a:solidFill>
                <a:srgbClr val="000000"/>
              </a:solidFill>
              <a:latin typeface="Calibri"/>
              <a:cs typeface="Calibri"/>
            </a:endParaRPr>
          </a:p>
          <a:p>
            <a:pPr marL="0" marR="0">
              <a:lnSpc>
                <a:spcPts val="1875"/>
              </a:lnSpc>
              <a:spcBef>
                <a:spcPts val="0"/>
              </a:spcBef>
              <a:spcAft>
                <a:spcPts val="0"/>
              </a:spcAft>
            </a:pPr>
            <a:r>
              <a:rPr lang="en-IN" b="1" i="0" u="none" strike="noStrike" dirty="0">
                <a:solidFill>
                  <a:srgbClr val="FF0000"/>
                </a:solidFill>
                <a:effectLst/>
                <a:latin typeface="Alfred Serif Regular"/>
              </a:rPr>
              <a:t>Karl Ziegler and Giulio Natta awarded Nobel Prize in 1963 </a:t>
            </a:r>
            <a:r>
              <a:rPr lang="en-IN" b="0" i="0" u="none" strike="noStrike" dirty="0">
                <a:solidFill>
                  <a:srgbClr val="2E2A25"/>
                </a:solidFill>
                <a:effectLst/>
                <a:latin typeface="Alfred Serif Regular"/>
              </a:rPr>
              <a:t>for making plastic (olefin polymerization process).</a:t>
            </a:r>
            <a:endParaRPr lang="en-IN" sz="1800" dirty="0">
              <a:solidFill>
                <a:srgbClr val="000000"/>
              </a:solidFill>
              <a:latin typeface="Calibri"/>
              <a:cs typeface="Calibri"/>
            </a:endParaRPr>
          </a:p>
          <a:p>
            <a:pPr marL="0" marR="0">
              <a:lnSpc>
                <a:spcPts val="1875"/>
              </a:lnSpc>
              <a:spcBef>
                <a:spcPts val="0"/>
              </a:spcBef>
              <a:spcAft>
                <a:spcPts val="0"/>
              </a:spcAft>
            </a:pPr>
            <a:r>
              <a:rPr lang="en-US" sz="1800" dirty="0">
                <a:solidFill>
                  <a:srgbClr val="000000"/>
                </a:solidFill>
                <a:latin typeface="Calibri"/>
                <a:cs typeface="Calibri"/>
              </a:rPr>
              <a:t> </a:t>
            </a:r>
            <a:endParaRPr sz="1800" dirty="0">
              <a:solidFill>
                <a:srgbClr val="000000"/>
              </a:solidFill>
              <a:latin typeface="Calibri"/>
              <a:cs typeface="Calibri"/>
            </a:endParaRPr>
          </a:p>
        </p:txBody>
      </p:sp>
      <p:sp>
        <p:nvSpPr>
          <p:cNvPr id="7" name="object 5">
            <a:extLst>
              <a:ext uri="{FF2B5EF4-FFF2-40B4-BE49-F238E27FC236}">
                <a16:creationId xmlns:a16="http://schemas.microsoft.com/office/drawing/2014/main" id="{E44EE262-ED37-78C8-9B42-4FA064B37AD8}"/>
              </a:ext>
            </a:extLst>
          </p:cNvPr>
          <p:cNvSpPr txBox="1"/>
          <p:nvPr/>
        </p:nvSpPr>
        <p:spPr>
          <a:xfrm>
            <a:off x="1880604" y="1937616"/>
            <a:ext cx="9272052" cy="602729"/>
          </a:xfrm>
          <a:prstGeom prst="rect">
            <a:avLst/>
          </a:prstGeom>
        </p:spPr>
        <p:txBody>
          <a:bodyPr vert="horz" wrap="square" lIns="0" tIns="0" rIns="0" bIns="0" rtlCol="0">
            <a:spAutoFit/>
          </a:bodyPr>
          <a:lstStyle/>
          <a:p>
            <a:pPr marL="0" marR="0">
              <a:lnSpc>
                <a:spcPts val="1875"/>
              </a:lnSpc>
              <a:spcBef>
                <a:spcPts val="0"/>
              </a:spcBef>
              <a:spcAft>
                <a:spcPts val="0"/>
              </a:spcAft>
            </a:pPr>
            <a:r>
              <a:rPr sz="1800" dirty="0">
                <a:solidFill>
                  <a:srgbClr val="000000"/>
                </a:solidFill>
                <a:latin typeface="RFNJCR+ArialMT"/>
                <a:cs typeface="RFNJCR+ArialMT"/>
              </a:rPr>
              <a:t>•</a:t>
            </a:r>
            <a:r>
              <a:rPr sz="1800" spc="900" dirty="0">
                <a:solidFill>
                  <a:srgbClr val="000000"/>
                </a:solidFill>
                <a:latin typeface="Times New Roman"/>
                <a:cs typeface="Times New Roman"/>
              </a:rPr>
              <a:t> </a:t>
            </a:r>
            <a:r>
              <a:rPr sz="1800" dirty="0">
                <a:solidFill>
                  <a:srgbClr val="000000"/>
                </a:solidFill>
                <a:latin typeface="Calibri"/>
                <a:cs typeface="Calibri"/>
              </a:rPr>
              <a:t>Almost all plastics are made from petroleum and are not bio-degradable</a:t>
            </a:r>
          </a:p>
          <a:p>
            <a:pPr marL="0" marR="0">
              <a:lnSpc>
                <a:spcPts val="1875"/>
              </a:lnSpc>
              <a:spcBef>
                <a:spcPts val="899"/>
              </a:spcBef>
              <a:spcAft>
                <a:spcPts val="0"/>
              </a:spcAft>
            </a:pPr>
            <a:endParaRPr sz="1800" dirty="0">
              <a:solidFill>
                <a:srgbClr val="000000"/>
              </a:solidFill>
              <a:latin typeface="Calibri"/>
              <a:cs typeface="Calibri"/>
            </a:endParaRPr>
          </a:p>
        </p:txBody>
      </p:sp>
      <p:sp>
        <p:nvSpPr>
          <p:cNvPr id="8" name="object 6">
            <a:extLst>
              <a:ext uri="{FF2B5EF4-FFF2-40B4-BE49-F238E27FC236}">
                <a16:creationId xmlns:a16="http://schemas.microsoft.com/office/drawing/2014/main" id="{E2F26A21-53A0-C013-4A9C-273D08B0140D}"/>
              </a:ext>
            </a:extLst>
          </p:cNvPr>
          <p:cNvSpPr txBox="1"/>
          <p:nvPr/>
        </p:nvSpPr>
        <p:spPr>
          <a:xfrm>
            <a:off x="1427356" y="2800613"/>
            <a:ext cx="10593659" cy="277512"/>
          </a:xfrm>
          <a:prstGeom prst="rect">
            <a:avLst/>
          </a:prstGeom>
        </p:spPr>
        <p:txBody>
          <a:bodyPr vert="horz" wrap="square" lIns="0" tIns="0" rIns="0" bIns="0" rtlCol="0">
            <a:spAutoFit/>
          </a:bodyPr>
          <a:lstStyle/>
          <a:p>
            <a:pPr marL="0" marR="0">
              <a:lnSpc>
                <a:spcPts val="1875"/>
              </a:lnSpc>
              <a:spcBef>
                <a:spcPts val="0"/>
              </a:spcBef>
              <a:spcAft>
                <a:spcPts val="0"/>
              </a:spcAft>
            </a:pPr>
            <a:r>
              <a:rPr sz="2800" dirty="0">
                <a:solidFill>
                  <a:srgbClr val="000000"/>
                </a:solidFill>
                <a:latin typeface="Calibri"/>
                <a:cs typeface="Calibri"/>
              </a:rPr>
              <a:t>Plastic takes centuries to decompose in the natural environment</a:t>
            </a:r>
          </a:p>
        </p:txBody>
      </p:sp>
      <p:sp>
        <p:nvSpPr>
          <p:cNvPr id="9" name="object 7">
            <a:extLst>
              <a:ext uri="{FF2B5EF4-FFF2-40B4-BE49-F238E27FC236}">
                <a16:creationId xmlns:a16="http://schemas.microsoft.com/office/drawing/2014/main" id="{91AF8BB9-5BE3-E90A-D76E-27989123A1B9}"/>
              </a:ext>
            </a:extLst>
          </p:cNvPr>
          <p:cNvSpPr txBox="1"/>
          <p:nvPr/>
        </p:nvSpPr>
        <p:spPr>
          <a:xfrm>
            <a:off x="9702951" y="4234487"/>
            <a:ext cx="1052062" cy="190501"/>
          </a:xfrm>
          <a:prstGeom prst="rect">
            <a:avLst/>
          </a:prstGeom>
        </p:spPr>
        <p:txBody>
          <a:bodyPr vert="horz" wrap="square" lIns="0" tIns="0" rIns="0" bIns="0" rtlCol="0">
            <a:spAutoFit/>
          </a:bodyPr>
          <a:lstStyle/>
          <a:p>
            <a:pPr marL="0" marR="0">
              <a:lnSpc>
                <a:spcPts val="1458"/>
              </a:lnSpc>
              <a:spcBef>
                <a:spcPts val="0"/>
              </a:spcBef>
              <a:spcAft>
                <a:spcPts val="0"/>
              </a:spcAft>
            </a:pPr>
            <a:r>
              <a:rPr sz="1400" dirty="0">
                <a:solidFill>
                  <a:srgbClr val="000000"/>
                </a:solidFill>
                <a:latin typeface="Calibri"/>
                <a:cs typeface="Calibri"/>
              </a:rPr>
              <a:t>1000 years</a:t>
            </a:r>
          </a:p>
        </p:txBody>
      </p:sp>
      <p:sp>
        <p:nvSpPr>
          <p:cNvPr id="10" name="object 8">
            <a:extLst>
              <a:ext uri="{FF2B5EF4-FFF2-40B4-BE49-F238E27FC236}">
                <a16:creationId xmlns:a16="http://schemas.microsoft.com/office/drawing/2014/main" id="{679AFA7A-C52C-5CAF-9E91-C4B6C35F763D}"/>
              </a:ext>
            </a:extLst>
          </p:cNvPr>
          <p:cNvSpPr txBox="1"/>
          <p:nvPr/>
        </p:nvSpPr>
        <p:spPr>
          <a:xfrm>
            <a:off x="7337945" y="4376546"/>
            <a:ext cx="2278932" cy="477394"/>
          </a:xfrm>
          <a:prstGeom prst="rect">
            <a:avLst/>
          </a:prstGeom>
        </p:spPr>
        <p:txBody>
          <a:bodyPr vert="horz" wrap="square" lIns="0" tIns="0" rIns="0" bIns="0" rtlCol="0">
            <a:spAutoFit/>
          </a:bodyPr>
          <a:lstStyle/>
          <a:p>
            <a:pPr marL="1286285" marR="0">
              <a:lnSpc>
                <a:spcPts val="1458"/>
              </a:lnSpc>
              <a:spcBef>
                <a:spcPts val="0"/>
              </a:spcBef>
              <a:spcAft>
                <a:spcPts val="0"/>
              </a:spcAft>
            </a:pPr>
            <a:r>
              <a:rPr sz="1400" dirty="0">
                <a:solidFill>
                  <a:srgbClr val="000000"/>
                </a:solidFill>
                <a:latin typeface="Calibri"/>
                <a:cs typeface="Calibri"/>
              </a:rPr>
              <a:t>450 years</a:t>
            </a:r>
          </a:p>
          <a:p>
            <a:pPr marL="0" marR="0">
              <a:lnSpc>
                <a:spcPts val="1458"/>
              </a:lnSpc>
              <a:spcBef>
                <a:spcPts val="759"/>
              </a:spcBef>
              <a:spcAft>
                <a:spcPts val="0"/>
              </a:spcAft>
            </a:pPr>
            <a:r>
              <a:rPr sz="1400" dirty="0">
                <a:solidFill>
                  <a:srgbClr val="000000"/>
                </a:solidFill>
                <a:latin typeface="Calibri"/>
                <a:cs typeface="Calibri"/>
              </a:rPr>
              <a:t>30 years</a:t>
            </a:r>
          </a:p>
        </p:txBody>
      </p:sp>
      <p:sp>
        <p:nvSpPr>
          <p:cNvPr id="11" name="object 9">
            <a:extLst>
              <a:ext uri="{FF2B5EF4-FFF2-40B4-BE49-F238E27FC236}">
                <a16:creationId xmlns:a16="http://schemas.microsoft.com/office/drawing/2014/main" id="{5EED5B19-973B-7F85-1C6E-BFE471981E82}"/>
              </a:ext>
            </a:extLst>
          </p:cNvPr>
          <p:cNvSpPr txBox="1"/>
          <p:nvPr/>
        </p:nvSpPr>
        <p:spPr>
          <a:xfrm>
            <a:off x="5165206" y="4681012"/>
            <a:ext cx="1861587" cy="317500"/>
          </a:xfrm>
          <a:prstGeom prst="rect">
            <a:avLst/>
          </a:prstGeom>
        </p:spPr>
        <p:txBody>
          <a:bodyPr vert="horz" wrap="square" lIns="0" tIns="0" rIns="0" bIns="0" rtlCol="0">
            <a:spAutoFit/>
          </a:bodyPr>
          <a:lstStyle/>
          <a:p>
            <a:pPr marL="1079424" marR="0">
              <a:lnSpc>
                <a:spcPts val="1458"/>
              </a:lnSpc>
              <a:spcBef>
                <a:spcPts val="0"/>
              </a:spcBef>
              <a:spcAft>
                <a:spcPts val="0"/>
              </a:spcAft>
            </a:pPr>
            <a:r>
              <a:rPr sz="1400" dirty="0">
                <a:solidFill>
                  <a:srgbClr val="000000"/>
                </a:solidFill>
                <a:latin typeface="Calibri"/>
                <a:cs typeface="Calibri"/>
              </a:rPr>
              <a:t>2 years</a:t>
            </a:r>
          </a:p>
          <a:p>
            <a:pPr marL="0" marR="0">
              <a:lnSpc>
                <a:spcPts val="978"/>
              </a:lnSpc>
              <a:spcBef>
                <a:spcPts val="0"/>
              </a:spcBef>
              <a:spcAft>
                <a:spcPts val="0"/>
              </a:spcAft>
            </a:pPr>
            <a:r>
              <a:rPr sz="1400" dirty="0">
                <a:solidFill>
                  <a:srgbClr val="000000"/>
                </a:solidFill>
                <a:latin typeface="Calibri"/>
                <a:cs typeface="Calibri"/>
              </a:rPr>
              <a:t>2</a:t>
            </a:r>
          </a:p>
        </p:txBody>
      </p:sp>
      <p:sp>
        <p:nvSpPr>
          <p:cNvPr id="12" name="object 10">
            <a:extLst>
              <a:ext uri="{FF2B5EF4-FFF2-40B4-BE49-F238E27FC236}">
                <a16:creationId xmlns:a16="http://schemas.microsoft.com/office/drawing/2014/main" id="{CD9A4133-4A97-C43B-B635-14DEC52DD0ED}"/>
              </a:ext>
            </a:extLst>
          </p:cNvPr>
          <p:cNvSpPr txBox="1"/>
          <p:nvPr/>
        </p:nvSpPr>
        <p:spPr>
          <a:xfrm>
            <a:off x="3599018" y="4977811"/>
            <a:ext cx="878579" cy="190500"/>
          </a:xfrm>
          <a:prstGeom prst="rect">
            <a:avLst/>
          </a:prstGeom>
        </p:spPr>
        <p:txBody>
          <a:bodyPr vert="horz" wrap="square" lIns="0" tIns="0" rIns="0" bIns="0" rtlCol="0">
            <a:spAutoFit/>
          </a:bodyPr>
          <a:lstStyle/>
          <a:p>
            <a:pPr marL="0" marR="0">
              <a:lnSpc>
                <a:spcPts val="1458"/>
              </a:lnSpc>
              <a:spcBef>
                <a:spcPts val="0"/>
              </a:spcBef>
              <a:spcAft>
                <a:spcPts val="0"/>
              </a:spcAft>
            </a:pPr>
            <a:r>
              <a:rPr sz="1400" dirty="0">
                <a:solidFill>
                  <a:srgbClr val="000000"/>
                </a:solidFill>
                <a:latin typeface="Calibri"/>
                <a:cs typeface="Calibri"/>
              </a:rPr>
              <a:t>1 month</a:t>
            </a:r>
          </a:p>
        </p:txBody>
      </p:sp>
      <p:sp>
        <p:nvSpPr>
          <p:cNvPr id="13" name="object 11">
            <a:extLst>
              <a:ext uri="{FF2B5EF4-FFF2-40B4-BE49-F238E27FC236}">
                <a16:creationId xmlns:a16="http://schemas.microsoft.com/office/drawing/2014/main" id="{76E19D07-8418-05A5-58A0-F3F83298D7E1}"/>
              </a:ext>
            </a:extLst>
          </p:cNvPr>
          <p:cNvSpPr txBox="1"/>
          <p:nvPr/>
        </p:nvSpPr>
        <p:spPr>
          <a:xfrm>
            <a:off x="2389021" y="4997556"/>
            <a:ext cx="850793" cy="190500"/>
          </a:xfrm>
          <a:prstGeom prst="rect">
            <a:avLst/>
          </a:prstGeom>
        </p:spPr>
        <p:txBody>
          <a:bodyPr vert="horz" wrap="square" lIns="0" tIns="0" rIns="0" bIns="0" rtlCol="0">
            <a:spAutoFit/>
          </a:bodyPr>
          <a:lstStyle/>
          <a:p>
            <a:pPr marL="0" marR="0">
              <a:lnSpc>
                <a:spcPts val="1458"/>
              </a:lnSpc>
              <a:spcBef>
                <a:spcPts val="0"/>
              </a:spcBef>
              <a:spcAft>
                <a:spcPts val="0"/>
              </a:spcAft>
            </a:pPr>
            <a:r>
              <a:rPr sz="1400" dirty="0">
                <a:solidFill>
                  <a:srgbClr val="000000"/>
                </a:solidFill>
                <a:latin typeface="Calibri"/>
                <a:cs typeface="Calibri"/>
              </a:rPr>
              <a:t>2 weeks</a:t>
            </a:r>
          </a:p>
        </p:txBody>
      </p:sp>
      <p:sp>
        <p:nvSpPr>
          <p:cNvPr id="14" name="object 12">
            <a:extLst>
              <a:ext uri="{FF2B5EF4-FFF2-40B4-BE49-F238E27FC236}">
                <a16:creationId xmlns:a16="http://schemas.microsoft.com/office/drawing/2014/main" id="{B699F872-D44F-2610-F8B7-3119769572C2}"/>
              </a:ext>
            </a:extLst>
          </p:cNvPr>
          <p:cNvSpPr txBox="1"/>
          <p:nvPr/>
        </p:nvSpPr>
        <p:spPr>
          <a:xfrm>
            <a:off x="4998098" y="5115352"/>
            <a:ext cx="818418" cy="190501"/>
          </a:xfrm>
          <a:prstGeom prst="rect">
            <a:avLst/>
          </a:prstGeom>
        </p:spPr>
        <p:txBody>
          <a:bodyPr vert="horz" wrap="square" lIns="0" tIns="0" rIns="0" bIns="0" rtlCol="0">
            <a:spAutoFit/>
          </a:bodyPr>
          <a:lstStyle/>
          <a:p>
            <a:pPr marL="0" marR="0">
              <a:lnSpc>
                <a:spcPts val="1458"/>
              </a:lnSpc>
              <a:spcBef>
                <a:spcPts val="0"/>
              </a:spcBef>
              <a:spcAft>
                <a:spcPts val="0"/>
              </a:spcAft>
            </a:pPr>
            <a:r>
              <a:rPr sz="1400" dirty="0">
                <a:solidFill>
                  <a:srgbClr val="000000"/>
                </a:solidFill>
                <a:latin typeface="Calibri"/>
                <a:cs typeface="Calibri"/>
              </a:rPr>
              <a:t>months</a:t>
            </a:r>
          </a:p>
        </p:txBody>
      </p:sp>
      <p:sp>
        <p:nvSpPr>
          <p:cNvPr id="2" name="Slide Number Placeholder 1">
            <a:extLst>
              <a:ext uri="{FF2B5EF4-FFF2-40B4-BE49-F238E27FC236}">
                <a16:creationId xmlns:a16="http://schemas.microsoft.com/office/drawing/2014/main" id="{34E1383B-931D-C6A7-F5AF-AAA244428862}"/>
              </a:ext>
            </a:extLst>
          </p:cNvPr>
          <p:cNvSpPr>
            <a:spLocks noGrp="1"/>
          </p:cNvSpPr>
          <p:nvPr>
            <p:ph type="sldNum" sz="quarter" idx="12"/>
          </p:nvPr>
        </p:nvSpPr>
        <p:spPr/>
        <p:txBody>
          <a:bodyPr/>
          <a:lstStyle/>
          <a:p>
            <a:fld id="{80F073CC-40D5-4B23-8DF0-9BD0A0C12F2C}" type="slidenum">
              <a:rPr lang="en-US" smtClean="0"/>
              <a:t>52</a:t>
            </a:fld>
            <a:endParaRPr lang="en-US"/>
          </a:p>
        </p:txBody>
      </p:sp>
    </p:spTree>
    <p:extLst>
      <p:ext uri="{BB962C8B-B14F-4D97-AF65-F5344CB8AC3E}">
        <p14:creationId xmlns:p14="http://schemas.microsoft.com/office/powerpoint/2010/main" val="33342578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7E0B41FD-A6D0-BE28-2AC6-53510C0EBAE8}"/>
              </a:ext>
            </a:extLst>
          </p:cNvPr>
          <p:cNvGraphicFramePr>
            <a:graphicFrameLocks noChangeAspect="1"/>
          </p:cNvGraphicFramePr>
          <p:nvPr/>
        </p:nvGraphicFramePr>
        <p:xfrm>
          <a:off x="2679538" y="3311000"/>
          <a:ext cx="6564150" cy="1051122"/>
        </p:xfrm>
        <a:graphic>
          <a:graphicData uri="http://schemas.openxmlformats.org/presentationml/2006/ole">
            <mc:AlternateContent xmlns:mc="http://schemas.openxmlformats.org/markup-compatibility/2006">
              <mc:Choice xmlns:v="urn:schemas-microsoft-com:vml" Requires="v">
                <p:oleObj name="CS ChemDraw Drawing" r:id="rId2" imgW="4858256" imgH="778422" progId="ChemDraw.Document.6.0">
                  <p:embed/>
                </p:oleObj>
              </mc:Choice>
              <mc:Fallback>
                <p:oleObj name="CS ChemDraw Drawing" r:id="rId2" imgW="4858256" imgH="778422" progId="ChemDraw.Document.6.0">
                  <p:embed/>
                  <p:pic>
                    <p:nvPicPr>
                      <p:cNvPr id="2" name="Object 1">
                        <a:extLst>
                          <a:ext uri="{FF2B5EF4-FFF2-40B4-BE49-F238E27FC236}">
                            <a16:creationId xmlns:a16="http://schemas.microsoft.com/office/drawing/2014/main" id="{7E0B41FD-A6D0-BE28-2AC6-53510C0EBAE8}"/>
                          </a:ext>
                        </a:extLst>
                      </p:cNvPr>
                      <p:cNvPicPr/>
                      <p:nvPr/>
                    </p:nvPicPr>
                    <p:blipFill>
                      <a:blip r:embed="rId3"/>
                      <a:stretch>
                        <a:fillRect/>
                      </a:stretch>
                    </p:blipFill>
                    <p:spPr>
                      <a:xfrm>
                        <a:off x="2679538" y="3311000"/>
                        <a:ext cx="6564150" cy="1051122"/>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D974A2F7-88AC-F6CA-09B8-A4B46E746138}"/>
              </a:ext>
            </a:extLst>
          </p:cNvPr>
          <p:cNvPicPr>
            <a:picLocks noChangeAspect="1"/>
          </p:cNvPicPr>
          <p:nvPr/>
        </p:nvPicPr>
        <p:blipFill rotWithShape="1">
          <a:blip r:embed="rId4">
            <a:extLst>
              <a:ext uri="{28A0092B-C50C-407E-A947-70E740481C1C}">
                <a14:useLocalDpi xmlns:a14="http://schemas.microsoft.com/office/drawing/2010/main" val="0"/>
              </a:ext>
            </a:extLst>
          </a:blip>
          <a:srcRect l="10051" r="9228"/>
          <a:stretch/>
        </p:blipFill>
        <p:spPr>
          <a:xfrm>
            <a:off x="4845136" y="4710948"/>
            <a:ext cx="1991361" cy="1847850"/>
          </a:xfrm>
          <a:prstGeom prst="rect">
            <a:avLst/>
          </a:prstGeom>
          <a:ln>
            <a:solidFill>
              <a:schemeClr val="tx1"/>
            </a:solidFill>
          </a:ln>
        </p:spPr>
      </p:pic>
      <p:pic>
        <p:nvPicPr>
          <p:cNvPr id="4" name="Picture 3">
            <a:extLst>
              <a:ext uri="{FF2B5EF4-FFF2-40B4-BE49-F238E27FC236}">
                <a16:creationId xmlns:a16="http://schemas.microsoft.com/office/drawing/2014/main" id="{8FE716AE-58D6-4A98-D1EF-A1CD24D64EB5}"/>
              </a:ext>
            </a:extLst>
          </p:cNvPr>
          <p:cNvPicPr>
            <a:picLocks noChangeAspect="1"/>
          </p:cNvPicPr>
          <p:nvPr/>
        </p:nvPicPr>
        <p:blipFill rotWithShape="1">
          <a:blip r:embed="rId5"/>
          <a:srcRect t="5763"/>
          <a:stretch/>
        </p:blipFill>
        <p:spPr>
          <a:xfrm>
            <a:off x="1596560" y="242804"/>
            <a:ext cx="8913813" cy="2951192"/>
          </a:xfrm>
          <a:prstGeom prst="rect">
            <a:avLst/>
          </a:prstGeom>
        </p:spPr>
      </p:pic>
      <p:sp>
        <p:nvSpPr>
          <p:cNvPr id="5" name="TextBox 4">
            <a:extLst>
              <a:ext uri="{FF2B5EF4-FFF2-40B4-BE49-F238E27FC236}">
                <a16:creationId xmlns:a16="http://schemas.microsoft.com/office/drawing/2014/main" id="{41E30E74-A2BC-07DA-2BB5-73637F67AC48}"/>
              </a:ext>
            </a:extLst>
          </p:cNvPr>
          <p:cNvSpPr txBox="1"/>
          <p:nvPr/>
        </p:nvSpPr>
        <p:spPr>
          <a:xfrm>
            <a:off x="8382645" y="6093366"/>
            <a:ext cx="2997200" cy="338554"/>
          </a:xfrm>
          <a:prstGeom prst="rect">
            <a:avLst/>
          </a:prstGeom>
          <a:noFill/>
        </p:spPr>
        <p:txBody>
          <a:bodyPr wrap="square" rtlCol="0">
            <a:spAutoFit/>
          </a:bodyPr>
          <a:lstStyle/>
          <a:p>
            <a:r>
              <a:rPr lang="en-US" sz="1600" i="1" dirty="0">
                <a:solidFill>
                  <a:srgbClr val="FF0000"/>
                </a:solidFill>
                <a:latin typeface="Times New Roman" panose="02020603050405020304" pitchFamily="18" charset="0"/>
                <a:cs typeface="Times New Roman" panose="02020603050405020304" pitchFamily="18" charset="0"/>
              </a:rPr>
              <a:t>Science</a:t>
            </a: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2022</a:t>
            </a:r>
            <a:r>
              <a:rPr lang="en-US" sz="1600" dirty="0">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rPr>
              <a:t>377</a:t>
            </a:r>
            <a:r>
              <a:rPr lang="en-US" sz="1600" dirty="0">
                <a:latin typeface="Times New Roman" panose="02020603050405020304" pitchFamily="18" charset="0"/>
                <a:cs typeface="Times New Roman" panose="02020603050405020304" pitchFamily="18" charset="0"/>
              </a:rPr>
              <a:t>, 1561-1566</a:t>
            </a:r>
            <a:endParaRPr lang="en-IN" sz="160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B69D13F0-5313-AF79-C5DB-B7C64ADFCE05}"/>
              </a:ext>
            </a:extLst>
          </p:cNvPr>
          <p:cNvSpPr>
            <a:spLocks noGrp="1"/>
          </p:cNvSpPr>
          <p:nvPr>
            <p:ph type="sldNum" sz="quarter" idx="12"/>
          </p:nvPr>
        </p:nvSpPr>
        <p:spPr/>
        <p:txBody>
          <a:bodyPr/>
          <a:lstStyle/>
          <a:p>
            <a:fld id="{992D38AA-5AF8-4775-A306-88EF4EC5986E}" type="slidenum">
              <a:rPr lang="en-IN" smtClean="0"/>
              <a:t>53</a:t>
            </a:fld>
            <a:endParaRPr lang="en-IN"/>
          </a:p>
        </p:txBody>
      </p:sp>
      <p:graphicFrame>
        <p:nvGraphicFramePr>
          <p:cNvPr id="21" name="Object 20">
            <a:extLst>
              <a:ext uri="{FF2B5EF4-FFF2-40B4-BE49-F238E27FC236}">
                <a16:creationId xmlns:a16="http://schemas.microsoft.com/office/drawing/2014/main" id="{00C5C87E-D0C5-9457-8F50-3F4557C6DA5F}"/>
              </a:ext>
            </a:extLst>
          </p:cNvPr>
          <p:cNvGraphicFramePr>
            <a:graphicFrameLocks noChangeAspect="1"/>
          </p:cNvGraphicFramePr>
          <p:nvPr/>
        </p:nvGraphicFramePr>
        <p:xfrm>
          <a:off x="202198" y="3026727"/>
          <a:ext cx="2477340" cy="4106227"/>
        </p:xfrm>
        <a:graphic>
          <a:graphicData uri="http://schemas.openxmlformats.org/presentationml/2006/ole">
            <mc:AlternateContent xmlns:mc="http://schemas.openxmlformats.org/markup-compatibility/2006">
              <mc:Choice xmlns:v="urn:schemas-microsoft-com:vml" Requires="v">
                <p:oleObj name="CS ChemDraw Drawing" r:id="rId6" imgW="2197322" imgH="3641834" progId="ChemDraw.Document.6.0">
                  <p:embed/>
                </p:oleObj>
              </mc:Choice>
              <mc:Fallback>
                <p:oleObj name="CS ChemDraw Drawing" r:id="rId6" imgW="2197322" imgH="3641834" progId="ChemDraw.Document.6.0">
                  <p:embed/>
                  <p:pic>
                    <p:nvPicPr>
                      <p:cNvPr id="21" name="Object 20">
                        <a:extLst>
                          <a:ext uri="{FF2B5EF4-FFF2-40B4-BE49-F238E27FC236}">
                            <a16:creationId xmlns:a16="http://schemas.microsoft.com/office/drawing/2014/main" id="{00C5C87E-D0C5-9457-8F50-3F4557C6DA5F}"/>
                          </a:ext>
                        </a:extLst>
                      </p:cNvPr>
                      <p:cNvPicPr/>
                      <p:nvPr/>
                    </p:nvPicPr>
                    <p:blipFill>
                      <a:blip r:embed="rId7"/>
                      <a:stretch>
                        <a:fillRect/>
                      </a:stretch>
                    </p:blipFill>
                    <p:spPr>
                      <a:xfrm>
                        <a:off x="202198" y="3026727"/>
                        <a:ext cx="2477340" cy="4106227"/>
                      </a:xfrm>
                      <a:prstGeom prst="rect">
                        <a:avLst/>
                      </a:prstGeom>
                    </p:spPr>
                  </p:pic>
                </p:oleObj>
              </mc:Fallback>
            </mc:AlternateContent>
          </a:graphicData>
        </a:graphic>
      </p:graphicFrame>
    </p:spTree>
    <p:extLst>
      <p:ext uri="{BB962C8B-B14F-4D97-AF65-F5344CB8AC3E}">
        <p14:creationId xmlns:p14="http://schemas.microsoft.com/office/powerpoint/2010/main" val="11751847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8461</TotalTime>
  <Words>1604</Words>
  <Application>Microsoft Macintosh PowerPoint</Application>
  <PresentationFormat>Widescreen</PresentationFormat>
  <Paragraphs>192</Paragraphs>
  <Slides>53</Slides>
  <Notes>15</Notes>
  <HiddenSlides>0</HiddenSlides>
  <MMClips>0</MMClips>
  <ScaleCrop>false</ScaleCrop>
  <HeadingPairs>
    <vt:vector size="8" baseType="variant">
      <vt:variant>
        <vt:lpstr>Fonts Used</vt:lpstr>
      </vt:variant>
      <vt:variant>
        <vt:i4>20</vt:i4>
      </vt:variant>
      <vt:variant>
        <vt:lpstr>Theme</vt:lpstr>
      </vt:variant>
      <vt:variant>
        <vt:i4>1</vt:i4>
      </vt:variant>
      <vt:variant>
        <vt:lpstr>Embedded OLE Servers</vt:lpstr>
      </vt:variant>
      <vt:variant>
        <vt:i4>1</vt:i4>
      </vt:variant>
      <vt:variant>
        <vt:lpstr>Slide Titles</vt:lpstr>
      </vt:variant>
      <vt:variant>
        <vt:i4>53</vt:i4>
      </vt:variant>
    </vt:vector>
  </HeadingPairs>
  <TitlesOfParts>
    <vt:vector size="75" baseType="lpstr">
      <vt:lpstr>ＭＳ Ｐゴシック</vt:lpstr>
      <vt:lpstr>Alfred Serif Regular</vt:lpstr>
      <vt:lpstr>Arial</vt:lpstr>
      <vt:lpstr>Arial</vt:lpstr>
      <vt:lpstr>Arial Narrow</vt:lpstr>
      <vt:lpstr>Calibri</vt:lpstr>
      <vt:lpstr>Calibri Light</vt:lpstr>
      <vt:lpstr>Comic Sans MS</vt:lpstr>
      <vt:lpstr>Constantia</vt:lpstr>
      <vt:lpstr>Google Sans</vt:lpstr>
      <vt:lpstr>MTMI</vt:lpstr>
      <vt:lpstr>MTSYN</vt:lpstr>
      <vt:lpstr>RFNJCR+ArialMT</vt:lpstr>
      <vt:lpstr>Tahoma</vt:lpstr>
      <vt:lpstr>Times</vt:lpstr>
      <vt:lpstr>Times New Roman</vt:lpstr>
      <vt:lpstr>Univers 55</vt:lpstr>
      <vt:lpstr>Wingdings</vt:lpstr>
      <vt:lpstr>Wingdings 2</vt:lpstr>
      <vt:lpstr>Zapf Dingbats</vt:lpstr>
      <vt:lpstr>Office Theme</vt:lpstr>
      <vt:lpstr>CS ChemDraw Drawing</vt:lpstr>
      <vt:lpstr>Catalysis with Alkene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unsaturated vinylsilane, RCH=CHSiR′3, is also a product. Although minor in most cases, con­ditions can be found in which it predominates. The Chalk–Harrod mechanism (in left) cannot explain the formation of this dehydrogenative silation product, but the alternate mechanism of Fig. 9.7b, in which the alkene inserts into the M−Si bond first, does explain it because β elimination of the intermediate alkyl leads directly to the vinylsilane.  </vt:lpstr>
      <vt:lpstr>Types of  Hydroamination</vt:lpstr>
      <vt:lpstr>   Advantages</vt:lpstr>
      <vt:lpstr>Application</vt:lpstr>
      <vt:lpstr>Application</vt:lpstr>
      <vt:lpstr>PowerPoint Presentation</vt:lpstr>
      <vt:lpstr>PowerPoint Presentation</vt:lpstr>
      <vt:lpstr>PowerPoint Presentation</vt:lpstr>
      <vt:lpstr>PowerPoint Presentation</vt:lpstr>
      <vt:lpstr>PowerPoint Presentation</vt:lpstr>
      <vt:lpstr>.</vt:lpstr>
      <vt:lpstr>PowerPoint Presentation</vt:lpstr>
      <vt:lpstr>Metathesis in Chemistry</vt:lpstr>
      <vt:lpstr>Metathesis Publications</vt:lpstr>
      <vt:lpstr>2005 Nobel Prize for Metathesis</vt:lpstr>
      <vt:lpstr>The Catalytic Cycle</vt:lpstr>
      <vt:lpstr>Ring Closing Metathesis</vt:lpstr>
      <vt:lpstr>Ring Opening Metathesis</vt:lpstr>
      <vt:lpstr>Metathesis in Synthesis</vt:lpstr>
      <vt:lpstr>Mechanism of Olefin Coordination</vt:lpstr>
      <vt:lpstr>Phosphine Dissociation Experiments</vt:lpstr>
      <vt:lpstr>Phosphine Dissociation Experiments</vt:lpstr>
      <vt:lpstr>Determining Dependence on Phosphine</vt:lpstr>
      <vt:lpstr>The Grubbs Catalysts</vt:lpstr>
      <vt:lpstr>N-Heterocyclic Carbene Ligands</vt:lpstr>
      <vt:lpstr>The Trans Effect and Ligand Dissociation</vt:lpstr>
      <vt:lpstr>The Trans Effect and Ligand Dissociation</vt:lpstr>
      <vt:lpstr>The Trans Effect and Ligand Dissociation</vt:lpstr>
      <vt:lpstr>Alkene Polymerization</vt:lpstr>
      <vt:lpstr>PowerPoint Presentation</vt:lpstr>
      <vt:lpstr>Ziegler Natta Polymerization</vt:lpstr>
      <vt:lpstr>    Following the catalytic design, Italian chemist Giulio Natta found that polymerization of α-olefins resulted in stereoregular structures,2 either syndiotactic or isotactic, depending on the catalyst used (Figure 3). Because of these important discoveries, Karl Ziegler and Giulio Natta shared the Nobel Prize in Chemistry in 1963.  </vt:lpstr>
      <vt:lpstr>Active Catalyst</vt:lpstr>
      <vt:lpstr>Initiation</vt:lpstr>
      <vt:lpstr>Propagation</vt:lpstr>
      <vt:lpstr>Termination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Catalysis with Alkene</dc:title>
  <dc:creator>swadhin.mandal@iiserkol.ac.in</dc:creator>
  <cp:lastModifiedBy>Swadhin Mandal</cp:lastModifiedBy>
  <cp:revision>13</cp:revision>
  <dcterms:created xsi:type="dcterms:W3CDTF">2020-09-28T02:55:07Z</dcterms:created>
  <dcterms:modified xsi:type="dcterms:W3CDTF">2024-09-04T10:02:30Z</dcterms:modified>
</cp:coreProperties>
</file>