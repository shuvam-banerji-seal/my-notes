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CBAEA-7567-45C7-9559-C919A0480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92B4CE-FFC3-57AC-E132-8D088B947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9817704-93DB-F9B7-69AD-1FBAFB383D1D}"/>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23162A80-9933-7042-2DE7-E109CCD31C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0AA9D7-F594-53F9-23C1-5DD91EE28509}"/>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604182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8C751-094A-FFA3-7BA0-770ED297A72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A13964-E062-8CFE-C879-FD731BA103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7D324F-5AE6-8AED-9997-85DE401126B5}"/>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24713F1B-9796-ECB6-5B18-659560070B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4604B4-6967-530A-1824-E92F8986ABF3}"/>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1443728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E6466-818C-CD0B-BD63-B8F51B030B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6E1F0E-B0A7-E577-9172-A99F1BFFDE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590A10-C3C9-3ED9-573A-E3CE399898C7}"/>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85DACCCF-2932-8BB3-9384-C3A3209DDE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C53820-631C-FDD9-7B83-8F5EDDB38ED2}"/>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1316354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595A-19E1-85CF-8EE9-6CAA5C308D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37AFC1-53F3-F9BF-5EDC-2AD158CC7C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3D7192-210F-C628-BACC-87CD37F603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397F0F-27C0-99C1-4960-1DD72E6A17F5}"/>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6" name="Footer Placeholder 5">
            <a:extLst>
              <a:ext uri="{FF2B5EF4-FFF2-40B4-BE49-F238E27FC236}">
                <a16:creationId xmlns:a16="http://schemas.microsoft.com/office/drawing/2014/main" id="{68FBDC6B-2799-766C-2BCC-D1457E0B0F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A52E16-9E8B-01CA-610B-7F7DAEB9E16B}"/>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3777634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FEB5A-3650-7759-285A-914EF2C135B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025AA0-EC70-0035-8CF3-8D1F835F36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9B487-2542-03FB-AD8E-4F3CFA9D4A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9F5C19-2CD8-1D6D-E56B-17F8F2C747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971444-AF1F-4FE4-20FC-EDC5E02C52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BE138B-E07B-4B9A-E163-6E20814B04DF}"/>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8" name="Footer Placeholder 7">
            <a:extLst>
              <a:ext uri="{FF2B5EF4-FFF2-40B4-BE49-F238E27FC236}">
                <a16:creationId xmlns:a16="http://schemas.microsoft.com/office/drawing/2014/main" id="{80020A36-1770-DED8-E839-6F78A84D0C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A9D840-D78F-2E93-1AE5-02CDE631AEED}"/>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610324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4E06C-5F52-4D06-70DC-B6C62E2382D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D9AB9C8-7C2D-5F74-ED08-0C8DDF0DDB1F}"/>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4" name="Footer Placeholder 3">
            <a:extLst>
              <a:ext uri="{FF2B5EF4-FFF2-40B4-BE49-F238E27FC236}">
                <a16:creationId xmlns:a16="http://schemas.microsoft.com/office/drawing/2014/main" id="{5B8D2529-1343-2697-F9A7-5F721614BF2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FFBEF3-E0E0-5D14-AF3F-26E98BFF1F26}"/>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79402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C641D8-8738-D962-E12D-CD06270DC0E4}"/>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3" name="Footer Placeholder 2">
            <a:extLst>
              <a:ext uri="{FF2B5EF4-FFF2-40B4-BE49-F238E27FC236}">
                <a16:creationId xmlns:a16="http://schemas.microsoft.com/office/drawing/2014/main" id="{5FCDA067-8BE1-6583-53BC-CED76CBB66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4DB51B-7690-44AD-24D5-3A0D3721CC24}"/>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4138960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F4D0-1E6A-8951-C71E-2D25F0CE0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1DD1A4-4719-09A0-63C7-2177284146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DC854A-E013-FBFA-F5E3-C0B13131BA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3E90D-8144-351F-5298-68675BC25D28}"/>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6" name="Footer Placeholder 5">
            <a:extLst>
              <a:ext uri="{FF2B5EF4-FFF2-40B4-BE49-F238E27FC236}">
                <a16:creationId xmlns:a16="http://schemas.microsoft.com/office/drawing/2014/main" id="{FF771BAB-3B20-6467-AA72-DC0C06ADE5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C25BC6-C8A0-896D-08E9-5D4496364B58}"/>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3074232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E039-B379-67BB-E2F1-1A9EAAD73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E69E96-9C32-ED5C-8149-466D65AE7A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8982CD-8941-DFD5-B126-B836B73C00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D1993-B803-0D04-FF82-B47CDFEF3515}"/>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6" name="Footer Placeholder 5">
            <a:extLst>
              <a:ext uri="{FF2B5EF4-FFF2-40B4-BE49-F238E27FC236}">
                <a16:creationId xmlns:a16="http://schemas.microsoft.com/office/drawing/2014/main" id="{422E58C8-2922-18CA-3020-8652E466EF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02564-1331-898B-7B37-D3500CE2B9FF}"/>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3092669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F070-FED4-84E8-52AC-0EB6AA15D3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55D4B9-4D2E-3216-7745-257A9D369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EC2BFA-D27D-CE2F-8379-0A3E274F9BDF}"/>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FD3EA4B4-4D94-0517-B695-E7E56B8115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AA017-A954-02BE-4C47-75507F636BA6}"/>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621025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7A057B-6CDC-0B29-FF43-FC41EC09F2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45DE59-7160-512B-2FCF-C626403C7F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B58F69-2FE9-9CDB-AE4A-FFE0546DABDE}"/>
              </a:ext>
            </a:extLst>
          </p:cNvPr>
          <p:cNvSpPr>
            <a:spLocks noGrp="1"/>
          </p:cNvSpPr>
          <p:nvPr>
            <p:ph type="dt" sz="half" idx="10"/>
          </p:nvPr>
        </p:nvSpPr>
        <p:spPr/>
        <p:txBody>
          <a:body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4E1A9CE9-3AF0-744C-8F49-EABE7200B4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56571F-3A69-0253-4C42-EC08EA3A15D8}"/>
              </a:ext>
            </a:extLst>
          </p:cNvPr>
          <p:cNvSpPr>
            <a:spLocks noGrp="1"/>
          </p:cNvSpPr>
          <p:nvPr>
            <p:ph type="sldNum" sz="quarter" idx="12"/>
          </p:nvPr>
        </p:nvSpPr>
        <p:spPr/>
        <p:txBody>
          <a:bodyPr/>
          <a:lstStyle/>
          <a:p>
            <a:fld id="{FF5DDF1A-2224-4F1D-9885-97337CC14807}" type="slidenum">
              <a:rPr lang="en-IN" smtClean="0"/>
              <a:t>‹#›</a:t>
            </a:fld>
            <a:endParaRPr lang="en-IN"/>
          </a:p>
        </p:txBody>
      </p:sp>
    </p:spTree>
    <p:extLst>
      <p:ext uri="{BB962C8B-B14F-4D97-AF65-F5344CB8AC3E}">
        <p14:creationId xmlns:p14="http://schemas.microsoft.com/office/powerpoint/2010/main" val="4187890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6D84F-5319-FD40-7C4E-83B3FE49B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0411F4-F948-E32E-E86A-F51C2A02F5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279C85-8324-A7B9-1371-2DD573689E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0C2C0F-A0CD-4AA1-A081-0F843F1556AF}" type="datetimeFigureOut">
              <a:rPr lang="en-IN" smtClean="0"/>
              <a:t>24-11-2025</a:t>
            </a:fld>
            <a:endParaRPr lang="en-IN"/>
          </a:p>
        </p:txBody>
      </p:sp>
      <p:sp>
        <p:nvSpPr>
          <p:cNvPr id="5" name="Footer Placeholder 4">
            <a:extLst>
              <a:ext uri="{FF2B5EF4-FFF2-40B4-BE49-F238E27FC236}">
                <a16:creationId xmlns:a16="http://schemas.microsoft.com/office/drawing/2014/main" id="{B0B9D50F-35C9-CF80-292B-0717A0535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4C865E-6FCB-6F10-F3EB-D30BE0ABB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5DDF1A-2224-4F1D-9885-97337CC14807}" type="slidenum">
              <a:rPr lang="en-IN" smtClean="0"/>
              <a:t>‹#›</a:t>
            </a:fld>
            <a:endParaRPr lang="en-IN"/>
          </a:p>
        </p:txBody>
      </p:sp>
    </p:spTree>
    <p:extLst>
      <p:ext uri="{BB962C8B-B14F-4D97-AF65-F5344CB8AC3E}">
        <p14:creationId xmlns:p14="http://schemas.microsoft.com/office/powerpoint/2010/main" val="39335792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em.libretexts.org/Courses/Saint_Marys_College_Notre_Dame_IN/CHEM_342%3A_Bio-inorganic_Chemistry/Readings/Metals_in_Biological_Systems_(Saint_Mary's_College)/Oxygen_transport_and_Storage/Blue_blood_(Invertebrates_molluscs_and_arthropods)/Haemocyanin"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D311DD-9EDE-B096-5857-4BF1BFB40E58}"/>
              </a:ext>
            </a:extLst>
          </p:cNvPr>
          <p:cNvSpPr txBox="1"/>
          <p:nvPr/>
        </p:nvSpPr>
        <p:spPr>
          <a:xfrm>
            <a:off x="117987" y="127819"/>
            <a:ext cx="11950083" cy="1200329"/>
          </a:xfrm>
          <a:prstGeom prst="rect">
            <a:avLst/>
          </a:prstGeom>
          <a:noFill/>
        </p:spPr>
        <p:txBody>
          <a:bodyPr wrap="square" rtlCol="0">
            <a:spAutoFit/>
          </a:bodyPr>
          <a:lstStyle/>
          <a:p>
            <a:r>
              <a:rPr lang="en-IN" sz="2400" dirty="0">
                <a:solidFill>
                  <a:srgbClr val="C00000"/>
                </a:solidFill>
                <a:latin typeface="Bookman Old Style" panose="02050604050505020204" pitchFamily="18" charset="0"/>
              </a:rPr>
              <a:t>Q1. When oxygen binds with deoxy-Hemocyanin to form oxy-Hemocyanin, what type of colour changes can be seen and why??</a:t>
            </a:r>
          </a:p>
          <a:p>
            <a:endParaRPr lang="en-IN" sz="2400" dirty="0">
              <a:solidFill>
                <a:srgbClr val="C00000"/>
              </a:solidFill>
              <a:latin typeface="Bookman Old Style" panose="02050604050505020204" pitchFamily="18" charset="0"/>
            </a:endParaRPr>
          </a:p>
        </p:txBody>
      </p:sp>
      <p:pic>
        <p:nvPicPr>
          <p:cNvPr id="6" name="Picture 5">
            <a:extLst>
              <a:ext uri="{FF2B5EF4-FFF2-40B4-BE49-F238E27FC236}">
                <a16:creationId xmlns:a16="http://schemas.microsoft.com/office/drawing/2014/main" id="{64286A2B-4892-A935-2765-E7D0BDE2C244}"/>
              </a:ext>
            </a:extLst>
          </p:cNvPr>
          <p:cNvPicPr>
            <a:picLocks noChangeAspect="1"/>
          </p:cNvPicPr>
          <p:nvPr/>
        </p:nvPicPr>
        <p:blipFill>
          <a:blip r:embed="rId2"/>
          <a:stretch>
            <a:fillRect/>
          </a:stretch>
        </p:blipFill>
        <p:spPr>
          <a:xfrm>
            <a:off x="6632414" y="955601"/>
            <a:ext cx="5239481" cy="1800476"/>
          </a:xfrm>
          <a:prstGeom prst="rect">
            <a:avLst/>
          </a:prstGeom>
        </p:spPr>
      </p:pic>
      <p:sp>
        <p:nvSpPr>
          <p:cNvPr id="7" name="TextBox 6">
            <a:extLst>
              <a:ext uri="{FF2B5EF4-FFF2-40B4-BE49-F238E27FC236}">
                <a16:creationId xmlns:a16="http://schemas.microsoft.com/office/drawing/2014/main" id="{BC120561-BAC8-EBBA-C527-E2243AD8ED0F}"/>
              </a:ext>
            </a:extLst>
          </p:cNvPr>
          <p:cNvSpPr txBox="1"/>
          <p:nvPr/>
        </p:nvSpPr>
        <p:spPr>
          <a:xfrm>
            <a:off x="117987" y="1143482"/>
            <a:ext cx="6514427" cy="5355312"/>
          </a:xfrm>
          <a:prstGeom prst="rect">
            <a:avLst/>
          </a:prstGeom>
          <a:noFill/>
        </p:spPr>
        <p:txBody>
          <a:bodyPr wrap="square" rtlCol="0">
            <a:spAutoFit/>
          </a:bodyPr>
          <a:lstStyle/>
          <a:p>
            <a:r>
              <a:rPr lang="en-IN" dirty="0">
                <a:solidFill>
                  <a:srgbClr val="002060"/>
                </a:solidFill>
                <a:latin typeface="Bookman Old Style" panose="02050604050505020204" pitchFamily="18" charset="0"/>
              </a:rPr>
              <a:t>Answer-</a:t>
            </a:r>
            <a:r>
              <a:rPr lang="en-IN" dirty="0">
                <a:solidFill>
                  <a:srgbClr val="002060"/>
                </a:solidFill>
              </a:rPr>
              <a:t> </a:t>
            </a:r>
            <a:r>
              <a:rPr lang="en-US" dirty="0" err="1">
                <a:latin typeface="Bookman Old Style" panose="02050604050505020204" pitchFamily="18" charset="0"/>
              </a:rPr>
              <a:t>Deoxyhemocyanin</a:t>
            </a:r>
            <a:r>
              <a:rPr lang="en-US" dirty="0">
                <a:latin typeface="Bookman Old Style" panose="02050604050505020204" pitchFamily="18" charset="0"/>
              </a:rPr>
              <a:t> with Cu(I) at the </a:t>
            </a:r>
            <a:r>
              <a:rPr lang="en-US" dirty="0" err="1">
                <a:latin typeface="Bookman Old Style" panose="02050604050505020204" pitchFamily="18" charset="0"/>
              </a:rPr>
              <a:t>centre</a:t>
            </a:r>
            <a:r>
              <a:rPr lang="en-US" dirty="0">
                <a:latin typeface="Bookman Old Style" panose="02050604050505020204" pitchFamily="18" charset="0"/>
              </a:rPr>
              <a:t> is </a:t>
            </a:r>
            <a:r>
              <a:rPr lang="en-US" dirty="0" err="1">
                <a:latin typeface="Bookman Old Style" panose="02050604050505020204" pitchFamily="18" charset="0"/>
              </a:rPr>
              <a:t>colourless</a:t>
            </a:r>
            <a:r>
              <a:rPr lang="en-US" dirty="0">
                <a:latin typeface="Bookman Old Style" panose="02050604050505020204" pitchFamily="18" charset="0"/>
              </a:rPr>
              <a:t>, whereas </a:t>
            </a:r>
            <a:r>
              <a:rPr lang="en-US" dirty="0" err="1">
                <a:latin typeface="Bookman Old Style" panose="02050604050505020204" pitchFamily="18" charset="0"/>
              </a:rPr>
              <a:t>oxyhemocyanin</a:t>
            </a:r>
            <a:r>
              <a:rPr lang="en-US" dirty="0">
                <a:latin typeface="Bookman Old Style" panose="02050604050505020204" pitchFamily="18" charset="0"/>
              </a:rPr>
              <a:t> with Cu(II) at the </a:t>
            </a:r>
            <a:r>
              <a:rPr lang="en-US" dirty="0" err="1">
                <a:latin typeface="Bookman Old Style" panose="02050604050505020204" pitchFamily="18" charset="0"/>
              </a:rPr>
              <a:t>centre</a:t>
            </a:r>
            <a:r>
              <a:rPr lang="en-US" dirty="0">
                <a:latin typeface="Bookman Old Style" panose="02050604050505020204" pitchFamily="18" charset="0"/>
              </a:rPr>
              <a:t> is blue. </a:t>
            </a:r>
          </a:p>
          <a:p>
            <a:endParaRPr lang="en-US" dirty="0">
              <a:latin typeface="Bookman Old Style" panose="02050604050505020204" pitchFamily="18" charset="0"/>
            </a:endParaRPr>
          </a:p>
          <a:p>
            <a:endParaRPr lang="en-US" dirty="0">
              <a:latin typeface="Bookman Old Style" panose="02050604050505020204" pitchFamily="18" charset="0"/>
            </a:endParaRPr>
          </a:p>
          <a:p>
            <a:r>
              <a:rPr lang="en-US" dirty="0">
                <a:latin typeface="Bookman Old Style" panose="02050604050505020204" pitchFamily="18" charset="0"/>
              </a:rPr>
              <a:t>                     Cu(I) is a d10 metal, so its valence d-orbital is full; therefore, electrons in the lower energy d-orbitals cannot be excited to the higher energy d-orbitals. the d-d transition for </a:t>
            </a:r>
            <a:r>
              <a:rPr lang="en-US" dirty="0" err="1">
                <a:latin typeface="Bookman Old Style" panose="02050604050505020204" pitchFamily="18" charset="0"/>
              </a:rPr>
              <a:t>oxyhemocyanin</a:t>
            </a:r>
            <a:r>
              <a:rPr lang="en-US" dirty="0">
                <a:latin typeface="Bookman Old Style" panose="02050604050505020204" pitchFamily="18" charset="0"/>
              </a:rPr>
              <a:t> occurs at 585 nm, whereas the MLCT transitions occur at 347 nm and 625 nm. The absorbance at 347 nm does not contribute to the </a:t>
            </a:r>
            <a:r>
              <a:rPr lang="en-US" dirty="0" err="1">
                <a:latin typeface="Bookman Old Style" panose="02050604050505020204" pitchFamily="18" charset="0"/>
              </a:rPr>
              <a:t>colour</a:t>
            </a:r>
            <a:r>
              <a:rPr lang="en-US" dirty="0">
                <a:latin typeface="Bookman Old Style" panose="02050604050505020204" pitchFamily="18" charset="0"/>
              </a:rPr>
              <a:t> of the complex because 347 nm is outside of the visible region of light (~400-800 nm). A combination of the 585 nm and 625 nm absorbances explains the blue </a:t>
            </a:r>
            <a:r>
              <a:rPr lang="en-US" dirty="0" err="1">
                <a:latin typeface="Bookman Old Style" panose="02050604050505020204" pitchFamily="18" charset="0"/>
              </a:rPr>
              <a:t>colour</a:t>
            </a:r>
            <a:r>
              <a:rPr lang="en-US" dirty="0">
                <a:latin typeface="Bookman Old Style" panose="02050604050505020204" pitchFamily="18" charset="0"/>
              </a:rPr>
              <a:t> of the </a:t>
            </a:r>
            <a:r>
              <a:rPr lang="en-US" dirty="0" err="1">
                <a:latin typeface="Bookman Old Style" panose="02050604050505020204" pitchFamily="18" charset="0"/>
              </a:rPr>
              <a:t>oxyhemocyanin</a:t>
            </a:r>
            <a:r>
              <a:rPr lang="en-US" dirty="0">
                <a:latin typeface="Bookman Old Style" panose="02050604050505020204" pitchFamily="18" charset="0"/>
              </a:rPr>
              <a:t> complex. The extinction coefficient at 625 nm is about 4.7x greater than the extinction coefficient at 585 nm, indicating that the absorbance at 625 nm is stronger than that at 585 nm. </a:t>
            </a:r>
            <a:r>
              <a:rPr lang="en-IN" dirty="0" err="1">
                <a:hlinkClick r:id="rId3"/>
              </a:rPr>
              <a:t>Haemocyanin</a:t>
            </a:r>
            <a:r>
              <a:rPr lang="en-IN" dirty="0">
                <a:hlinkClick r:id="rId3"/>
              </a:rPr>
              <a:t> - Chemistry </a:t>
            </a:r>
            <a:r>
              <a:rPr lang="en-IN" dirty="0" err="1">
                <a:hlinkClick r:id="rId3"/>
              </a:rPr>
              <a:t>LibreTexts</a:t>
            </a:r>
            <a:endParaRPr lang="en-IN" dirty="0">
              <a:solidFill>
                <a:srgbClr val="002060"/>
              </a:solidFill>
            </a:endParaRPr>
          </a:p>
        </p:txBody>
      </p:sp>
    </p:spTree>
    <p:extLst>
      <p:ext uri="{BB962C8B-B14F-4D97-AF65-F5344CB8AC3E}">
        <p14:creationId xmlns:p14="http://schemas.microsoft.com/office/powerpoint/2010/main" val="119728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83BFA05-B0F1-390F-197D-1DF58E6B0BC0}"/>
              </a:ext>
            </a:extLst>
          </p:cNvPr>
          <p:cNvSpPr/>
          <p:nvPr/>
        </p:nvSpPr>
        <p:spPr>
          <a:xfrm>
            <a:off x="196646" y="4296697"/>
            <a:ext cx="6095999" cy="32446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3AFAF717-C684-84A7-F5A3-8403D4D5BC13}"/>
              </a:ext>
            </a:extLst>
          </p:cNvPr>
          <p:cNvSpPr txBox="1"/>
          <p:nvPr/>
        </p:nvSpPr>
        <p:spPr>
          <a:xfrm>
            <a:off x="117988" y="292821"/>
            <a:ext cx="2789546" cy="461665"/>
          </a:xfrm>
          <a:prstGeom prst="rect">
            <a:avLst/>
          </a:prstGeom>
          <a:noFill/>
        </p:spPr>
        <p:txBody>
          <a:bodyPr wrap="none" rtlCol="0">
            <a:spAutoFit/>
          </a:bodyPr>
          <a:lstStyle/>
          <a:p>
            <a:r>
              <a:rPr lang="en-IN" sz="2400" dirty="0">
                <a:solidFill>
                  <a:srgbClr val="C00000"/>
                </a:solidFill>
                <a:latin typeface="Bookman Old Style" panose="02050604050505020204" pitchFamily="18" charset="0"/>
              </a:rPr>
              <a:t>Q2. Fill the gaps-</a:t>
            </a:r>
          </a:p>
        </p:txBody>
      </p:sp>
      <p:pic>
        <p:nvPicPr>
          <p:cNvPr id="4" name="Picture 3">
            <a:extLst>
              <a:ext uri="{FF2B5EF4-FFF2-40B4-BE49-F238E27FC236}">
                <a16:creationId xmlns:a16="http://schemas.microsoft.com/office/drawing/2014/main" id="{BCE7A788-128E-9AD8-9917-097113F7110A}"/>
              </a:ext>
            </a:extLst>
          </p:cNvPr>
          <p:cNvPicPr>
            <a:picLocks noChangeAspect="1"/>
          </p:cNvPicPr>
          <p:nvPr/>
        </p:nvPicPr>
        <p:blipFill>
          <a:blip r:embed="rId2"/>
          <a:stretch>
            <a:fillRect/>
          </a:stretch>
        </p:blipFill>
        <p:spPr>
          <a:xfrm>
            <a:off x="639098" y="793192"/>
            <a:ext cx="9595447" cy="867385"/>
          </a:xfrm>
          <a:prstGeom prst="rect">
            <a:avLst/>
          </a:prstGeom>
        </p:spPr>
      </p:pic>
      <p:sp>
        <p:nvSpPr>
          <p:cNvPr id="9" name="Rectangle 8">
            <a:extLst>
              <a:ext uri="{FF2B5EF4-FFF2-40B4-BE49-F238E27FC236}">
                <a16:creationId xmlns:a16="http://schemas.microsoft.com/office/drawing/2014/main" id="{4B6618C8-E7DA-47E5-6C85-B0899E6AE919}"/>
              </a:ext>
            </a:extLst>
          </p:cNvPr>
          <p:cNvSpPr/>
          <p:nvPr/>
        </p:nvSpPr>
        <p:spPr>
          <a:xfrm>
            <a:off x="3499866" y="793192"/>
            <a:ext cx="1936955" cy="730808"/>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0C61B8E-C358-955C-35F6-E07882A9D3ED}"/>
              </a:ext>
            </a:extLst>
          </p:cNvPr>
          <p:cNvSpPr txBox="1"/>
          <p:nvPr/>
        </p:nvSpPr>
        <p:spPr>
          <a:xfrm>
            <a:off x="285137" y="2025445"/>
            <a:ext cx="11997195" cy="707886"/>
          </a:xfrm>
          <a:prstGeom prst="rect">
            <a:avLst/>
          </a:prstGeom>
          <a:noFill/>
        </p:spPr>
        <p:txBody>
          <a:bodyPr wrap="none" rtlCol="0">
            <a:spAutoFit/>
          </a:bodyPr>
          <a:lstStyle/>
          <a:p>
            <a:r>
              <a:rPr lang="en-IN" sz="2000" dirty="0">
                <a:solidFill>
                  <a:srgbClr val="002060"/>
                </a:solidFill>
                <a:latin typeface="Bookman Old Style" panose="02050604050505020204" pitchFamily="18" charset="0"/>
              </a:rPr>
              <a:t>Tyrosinase catalyses the conversion of the amino acid tyrosine into………………………………….</a:t>
            </a:r>
          </a:p>
          <a:p>
            <a:r>
              <a:rPr lang="en-IN" sz="2000" dirty="0">
                <a:solidFill>
                  <a:srgbClr val="002060"/>
                </a:solidFill>
                <a:latin typeface="Bookman Old Style" panose="02050604050505020204" pitchFamily="18" charset="0"/>
              </a:rPr>
              <a:t>              </a:t>
            </a:r>
            <a:r>
              <a:rPr lang="en-IN" sz="2000" dirty="0">
                <a:solidFill>
                  <a:srgbClr val="FF0000"/>
                </a:solidFill>
                <a:latin typeface="Bookman Old Style" panose="02050604050505020204" pitchFamily="18" charset="0"/>
              </a:rPr>
              <a:t>Ans-</a:t>
            </a:r>
            <a:r>
              <a:rPr lang="en-IN" sz="2000" dirty="0">
                <a:solidFill>
                  <a:srgbClr val="002060"/>
                </a:solidFill>
                <a:latin typeface="Bookman Old Style" panose="02050604050505020204" pitchFamily="18" charset="0"/>
              </a:rPr>
              <a:t> </a:t>
            </a:r>
            <a:r>
              <a:rPr lang="en-IN" sz="2000" dirty="0">
                <a:solidFill>
                  <a:schemeClr val="accent6">
                    <a:lumMod val="50000"/>
                  </a:schemeClr>
                </a:solidFill>
                <a:latin typeface="Bookman Old Style" panose="02050604050505020204" pitchFamily="18" charset="0"/>
              </a:rPr>
              <a:t>Melanin pigment( tyrosine-DOPA-quinone-melanin)</a:t>
            </a:r>
          </a:p>
        </p:txBody>
      </p:sp>
      <p:sp>
        <p:nvSpPr>
          <p:cNvPr id="11" name="TextBox 10">
            <a:extLst>
              <a:ext uri="{FF2B5EF4-FFF2-40B4-BE49-F238E27FC236}">
                <a16:creationId xmlns:a16="http://schemas.microsoft.com/office/drawing/2014/main" id="{212AC586-35C5-FB73-5600-6319445AE9DD}"/>
              </a:ext>
            </a:extLst>
          </p:cNvPr>
          <p:cNvSpPr txBox="1"/>
          <p:nvPr/>
        </p:nvSpPr>
        <p:spPr>
          <a:xfrm>
            <a:off x="196646" y="3109007"/>
            <a:ext cx="7629831" cy="2862322"/>
          </a:xfrm>
          <a:prstGeom prst="rect">
            <a:avLst/>
          </a:prstGeom>
          <a:noFill/>
        </p:spPr>
        <p:txBody>
          <a:bodyPr wrap="square" rtlCol="0">
            <a:spAutoFit/>
          </a:bodyPr>
          <a:lstStyle/>
          <a:p>
            <a:r>
              <a:rPr lang="en-IN" sz="2400" dirty="0">
                <a:solidFill>
                  <a:srgbClr val="C00000"/>
                </a:solidFill>
                <a:latin typeface="Bookman Old Style" panose="02050604050505020204" pitchFamily="18" charset="0"/>
              </a:rPr>
              <a:t>Q3.</a:t>
            </a:r>
            <a:r>
              <a:rPr lang="en-IN" sz="2400" b="1" dirty="0">
                <a:solidFill>
                  <a:srgbClr val="C00000"/>
                </a:solidFill>
                <a:latin typeface="Bookman Old Style" panose="02050604050505020204" pitchFamily="18" charset="0"/>
              </a:rPr>
              <a:t> Carboxypeptidase contains:                </a:t>
            </a:r>
            <a:r>
              <a:rPr lang="en-IN" b="1" dirty="0">
                <a:latin typeface="Bookman Old Style" panose="02050604050505020204" pitchFamily="18" charset="0"/>
              </a:rPr>
              <a:t>[NET]</a:t>
            </a:r>
            <a:endParaRPr lang="en-IN" dirty="0">
              <a:latin typeface="Bookman Old Style" panose="02050604050505020204" pitchFamily="18" charset="0"/>
            </a:endParaRPr>
          </a:p>
          <a:p>
            <a:endParaRPr lang="en-IN" sz="2400" dirty="0">
              <a:solidFill>
                <a:srgbClr val="C00000"/>
              </a:solidFill>
              <a:latin typeface="Bookman Old Style" panose="02050604050505020204" pitchFamily="18" charset="0"/>
            </a:endParaRPr>
          </a:p>
          <a:p>
            <a:r>
              <a:rPr lang="en-IN" sz="2400" dirty="0">
                <a:latin typeface="Bookman Old Style" panose="02050604050505020204" pitchFamily="18" charset="0"/>
              </a:rPr>
              <a:t>(a) Zn(II) and hydrolyses CO₂.</a:t>
            </a:r>
            <a:br>
              <a:rPr lang="en-IN" sz="2400" dirty="0">
                <a:latin typeface="Bookman Old Style" panose="02050604050505020204" pitchFamily="18" charset="0"/>
              </a:rPr>
            </a:br>
            <a:r>
              <a:rPr lang="en-IN" sz="2400" dirty="0">
                <a:latin typeface="Bookman Old Style" panose="02050604050505020204" pitchFamily="18" charset="0"/>
              </a:rPr>
              <a:t>(b) Zn(II) and hydrolyses peptide bonds.</a:t>
            </a:r>
            <a:br>
              <a:rPr lang="en-IN" sz="2400" dirty="0">
                <a:latin typeface="Bookman Old Style" panose="02050604050505020204" pitchFamily="18" charset="0"/>
              </a:rPr>
            </a:br>
            <a:r>
              <a:rPr lang="en-IN" sz="2400" dirty="0">
                <a:latin typeface="Bookman Old Style" panose="02050604050505020204" pitchFamily="18" charset="0"/>
              </a:rPr>
              <a:t>(c) Mg(II) and hydrolyses CO₂.</a:t>
            </a:r>
            <a:br>
              <a:rPr lang="en-IN" sz="2400" dirty="0">
                <a:latin typeface="Bookman Old Style" panose="02050604050505020204" pitchFamily="18" charset="0"/>
              </a:rPr>
            </a:br>
            <a:r>
              <a:rPr lang="en-IN" sz="2400" dirty="0">
                <a:latin typeface="Bookman Old Style" panose="02050604050505020204" pitchFamily="18" charset="0"/>
              </a:rPr>
              <a:t>(d) Mg(II) and hydrolyses peptide bonds.</a:t>
            </a:r>
          </a:p>
          <a:p>
            <a:endParaRPr lang="en-IN" dirty="0"/>
          </a:p>
          <a:p>
            <a:endParaRPr lang="en-IN" dirty="0"/>
          </a:p>
        </p:txBody>
      </p:sp>
    </p:spTree>
    <p:extLst>
      <p:ext uri="{BB962C8B-B14F-4D97-AF65-F5344CB8AC3E}">
        <p14:creationId xmlns:p14="http://schemas.microsoft.com/office/powerpoint/2010/main" val="3692863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164701-723E-4F62-566D-B396A24901C0}"/>
              </a:ext>
            </a:extLst>
          </p:cNvPr>
          <p:cNvSpPr/>
          <p:nvPr/>
        </p:nvSpPr>
        <p:spPr>
          <a:xfrm>
            <a:off x="88490" y="3972232"/>
            <a:ext cx="3736920" cy="4031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237DD992-B237-8795-4477-8EE49D48D991}"/>
              </a:ext>
            </a:extLst>
          </p:cNvPr>
          <p:cNvSpPr txBox="1"/>
          <p:nvPr/>
        </p:nvSpPr>
        <p:spPr>
          <a:xfrm>
            <a:off x="88490" y="167148"/>
            <a:ext cx="11695830" cy="3046988"/>
          </a:xfrm>
          <a:prstGeom prst="rect">
            <a:avLst/>
          </a:prstGeom>
          <a:noFill/>
        </p:spPr>
        <p:txBody>
          <a:bodyPr wrap="none" rtlCol="0">
            <a:spAutoFit/>
          </a:bodyPr>
          <a:lstStyle/>
          <a:p>
            <a:r>
              <a:rPr lang="en-IN" sz="2400" dirty="0">
                <a:solidFill>
                  <a:srgbClr val="C00000"/>
                </a:solidFill>
                <a:latin typeface="Bookman Old Style" panose="02050604050505020204" pitchFamily="18" charset="0"/>
              </a:rPr>
              <a:t>Q4. </a:t>
            </a:r>
            <a:r>
              <a:rPr lang="en-US" sz="2400" dirty="0">
                <a:solidFill>
                  <a:srgbClr val="C00000"/>
                </a:solidFill>
                <a:latin typeface="Bookman Old Style" panose="02050604050505020204" pitchFamily="18" charset="0"/>
              </a:rPr>
              <a:t>Match the metalloproteins in Column A with their function in Column B</a:t>
            </a:r>
          </a:p>
          <a:p>
            <a:pPr algn="just"/>
            <a:endParaRPr lang="en-US" sz="2400" dirty="0">
              <a:solidFill>
                <a:srgbClr val="C00000"/>
              </a:solidFill>
              <a:latin typeface="Bookman Old Style" panose="02050604050505020204" pitchFamily="18" charset="0"/>
            </a:endParaRPr>
          </a:p>
          <a:p>
            <a:pPr algn="just"/>
            <a:r>
              <a:rPr lang="en-IN" sz="2400" b="1" dirty="0">
                <a:latin typeface="Bookman Old Style" panose="02050604050505020204" pitchFamily="18" charset="0"/>
              </a:rPr>
              <a:t> Column–A                                                                      </a:t>
            </a:r>
            <a:br>
              <a:rPr lang="en-IN" sz="2400" dirty="0">
                <a:latin typeface="Bookman Old Style" panose="02050604050505020204" pitchFamily="18" charset="0"/>
              </a:rPr>
            </a:br>
            <a:r>
              <a:rPr lang="en-IN" sz="2400" dirty="0">
                <a:latin typeface="Bookman Old Style" panose="02050604050505020204" pitchFamily="18" charset="0"/>
              </a:rPr>
              <a:t>I. </a:t>
            </a:r>
            <a:r>
              <a:rPr lang="en-IN" sz="2400" dirty="0" err="1">
                <a:latin typeface="Bookman Old Style" panose="02050604050505020204" pitchFamily="18" charset="0"/>
              </a:rPr>
              <a:t>Oxygenocyanin</a:t>
            </a:r>
            <a:br>
              <a:rPr lang="en-IN" sz="2400" dirty="0">
                <a:latin typeface="Bookman Old Style" panose="02050604050505020204" pitchFamily="18" charset="0"/>
              </a:rPr>
            </a:br>
            <a:r>
              <a:rPr lang="en-IN" sz="2400" dirty="0">
                <a:latin typeface="Bookman Old Style" panose="02050604050505020204" pitchFamily="18" charset="0"/>
              </a:rPr>
              <a:t>II. Carbonic anhydrase</a:t>
            </a:r>
            <a:br>
              <a:rPr lang="en-IN" sz="2400" dirty="0">
                <a:latin typeface="Bookman Old Style" panose="02050604050505020204" pitchFamily="18" charset="0"/>
              </a:rPr>
            </a:br>
            <a:r>
              <a:rPr lang="en-IN" sz="2400" dirty="0">
                <a:latin typeface="Bookman Old Style" panose="02050604050505020204" pitchFamily="18" charset="0"/>
              </a:rPr>
              <a:t>III. Cytochrome P450</a:t>
            </a:r>
            <a:br>
              <a:rPr lang="en-IN" sz="2400" dirty="0">
                <a:latin typeface="Bookman Old Style" panose="02050604050505020204" pitchFamily="18" charset="0"/>
              </a:rPr>
            </a:br>
            <a:r>
              <a:rPr lang="en-IN" sz="2400" dirty="0">
                <a:latin typeface="Bookman Old Style" panose="02050604050505020204" pitchFamily="18" charset="0"/>
              </a:rPr>
              <a:t>IV. Carboxy-peptidase A</a:t>
            </a:r>
          </a:p>
          <a:p>
            <a:pPr algn="just"/>
            <a:endParaRPr lang="en-IN" sz="2400" dirty="0">
              <a:solidFill>
                <a:srgbClr val="C00000"/>
              </a:solidFill>
              <a:latin typeface="Bookman Old Style" panose="02050604050505020204" pitchFamily="18" charset="0"/>
            </a:endParaRPr>
          </a:p>
        </p:txBody>
      </p:sp>
      <p:sp>
        <p:nvSpPr>
          <p:cNvPr id="3" name="TextBox 2">
            <a:extLst>
              <a:ext uri="{FF2B5EF4-FFF2-40B4-BE49-F238E27FC236}">
                <a16:creationId xmlns:a16="http://schemas.microsoft.com/office/drawing/2014/main" id="{00DEAC8C-3782-1F01-C37E-561915A602DA}"/>
              </a:ext>
            </a:extLst>
          </p:cNvPr>
          <p:cNvSpPr txBox="1"/>
          <p:nvPr/>
        </p:nvSpPr>
        <p:spPr>
          <a:xfrm>
            <a:off x="5073717" y="915644"/>
            <a:ext cx="6896440" cy="2954655"/>
          </a:xfrm>
          <a:prstGeom prst="rect">
            <a:avLst/>
          </a:prstGeom>
          <a:noFill/>
        </p:spPr>
        <p:txBody>
          <a:bodyPr wrap="none" rtlCol="0">
            <a:spAutoFit/>
          </a:bodyPr>
          <a:lstStyle/>
          <a:p>
            <a:r>
              <a:rPr lang="en-IN" sz="2400" b="1" dirty="0">
                <a:latin typeface="Bookman Old Style" panose="02050604050505020204" pitchFamily="18" charset="0"/>
              </a:rPr>
              <a:t>Column–B</a:t>
            </a:r>
            <a:br>
              <a:rPr lang="en-IN" sz="2400" dirty="0">
                <a:latin typeface="Bookman Old Style" panose="02050604050505020204" pitchFamily="18" charset="0"/>
              </a:rPr>
            </a:br>
            <a:r>
              <a:rPr lang="en-IN" sz="2400" dirty="0">
                <a:latin typeface="Bookman Old Style" panose="02050604050505020204" pitchFamily="18" charset="0"/>
              </a:rPr>
              <a:t>A. Hydrolysis of the C-terminal peptide bond</a:t>
            </a:r>
            <a:br>
              <a:rPr lang="en-IN" sz="2400" dirty="0">
                <a:latin typeface="Bookman Old Style" panose="02050604050505020204" pitchFamily="18" charset="0"/>
              </a:rPr>
            </a:br>
            <a:r>
              <a:rPr lang="en-IN" sz="2400" dirty="0">
                <a:latin typeface="Bookman Old Style" panose="02050604050505020204" pitchFamily="18" charset="0"/>
              </a:rPr>
              <a:t>B. Methylation</a:t>
            </a:r>
            <a:br>
              <a:rPr lang="en-IN" sz="2400" dirty="0">
                <a:latin typeface="Bookman Old Style" panose="02050604050505020204" pitchFamily="18" charset="0"/>
              </a:rPr>
            </a:br>
            <a:r>
              <a:rPr lang="en-IN" sz="2400" dirty="0">
                <a:latin typeface="Bookman Old Style" panose="02050604050505020204" pitchFamily="18" charset="0"/>
              </a:rPr>
              <a:t>C. Conversion of CO₂ to H₂CO₃</a:t>
            </a:r>
            <a:br>
              <a:rPr lang="en-IN" sz="2400" dirty="0">
                <a:latin typeface="Bookman Old Style" panose="02050604050505020204" pitchFamily="18" charset="0"/>
              </a:rPr>
            </a:br>
            <a:r>
              <a:rPr lang="en-IN" sz="2400" dirty="0">
                <a:latin typeface="Bookman Old Style" panose="02050604050505020204" pitchFamily="18" charset="0"/>
              </a:rPr>
              <a:t>D. Oxidation of alkene</a:t>
            </a:r>
            <a:br>
              <a:rPr lang="en-IN" sz="2400" dirty="0">
                <a:latin typeface="Bookman Old Style" panose="02050604050505020204" pitchFamily="18" charset="0"/>
              </a:rPr>
            </a:br>
            <a:r>
              <a:rPr lang="en-IN" sz="2400" dirty="0">
                <a:latin typeface="Bookman Old Style" panose="02050604050505020204" pitchFamily="18" charset="0"/>
              </a:rPr>
              <a:t>E. Oxygen storage</a:t>
            </a:r>
            <a:br>
              <a:rPr lang="en-IN" sz="2400" dirty="0">
                <a:latin typeface="Bookman Old Style" panose="02050604050505020204" pitchFamily="18" charset="0"/>
              </a:rPr>
            </a:br>
            <a:r>
              <a:rPr lang="en-IN" sz="2400" dirty="0">
                <a:latin typeface="Bookman Old Style" panose="02050604050505020204" pitchFamily="18" charset="0"/>
              </a:rPr>
              <a:t>F. Oxygen transport</a:t>
            </a:r>
            <a:endParaRPr lang="en-IN" sz="2400" dirty="0">
              <a:solidFill>
                <a:srgbClr val="C00000"/>
              </a:solidFill>
              <a:latin typeface="Bookman Old Style" panose="02050604050505020204" pitchFamily="18" charset="0"/>
            </a:endParaRPr>
          </a:p>
          <a:p>
            <a:endParaRPr lang="en-IN" dirty="0"/>
          </a:p>
        </p:txBody>
      </p:sp>
      <p:sp>
        <p:nvSpPr>
          <p:cNvPr id="4" name="TextBox 3">
            <a:extLst>
              <a:ext uri="{FF2B5EF4-FFF2-40B4-BE49-F238E27FC236}">
                <a16:creationId xmlns:a16="http://schemas.microsoft.com/office/drawing/2014/main" id="{89EBF86A-44C6-BE47-2960-1AC51E088ACF}"/>
              </a:ext>
            </a:extLst>
          </p:cNvPr>
          <p:cNvSpPr txBox="1"/>
          <p:nvPr/>
        </p:nvSpPr>
        <p:spPr>
          <a:xfrm>
            <a:off x="88490" y="3559278"/>
            <a:ext cx="3736920" cy="1938992"/>
          </a:xfrm>
          <a:prstGeom prst="rect">
            <a:avLst/>
          </a:prstGeom>
          <a:noFill/>
        </p:spPr>
        <p:txBody>
          <a:bodyPr wrap="none" rtlCol="0">
            <a:spAutoFit/>
          </a:bodyPr>
          <a:lstStyle/>
          <a:p>
            <a:r>
              <a:rPr lang="en-IN" sz="2400" b="1" dirty="0">
                <a:solidFill>
                  <a:srgbClr val="002060"/>
                </a:solidFill>
                <a:latin typeface="Bookman Old Style" panose="02050604050505020204" pitchFamily="18" charset="0"/>
              </a:rPr>
              <a:t>The correct answer is:</a:t>
            </a:r>
            <a:br>
              <a:rPr lang="en-IN" sz="2400" dirty="0">
                <a:solidFill>
                  <a:srgbClr val="002060"/>
                </a:solidFill>
                <a:latin typeface="Bookman Old Style" panose="02050604050505020204" pitchFamily="18" charset="0"/>
              </a:rPr>
            </a:br>
            <a:r>
              <a:rPr lang="en-IN" sz="2400" dirty="0">
                <a:solidFill>
                  <a:srgbClr val="002060"/>
                </a:solidFill>
                <a:latin typeface="Bookman Old Style" panose="02050604050505020204" pitchFamily="18" charset="0"/>
              </a:rPr>
              <a:t>(a) I–F; II–C; III–D; IV–A</a:t>
            </a:r>
            <a:br>
              <a:rPr lang="en-IN" sz="2400" dirty="0">
                <a:solidFill>
                  <a:srgbClr val="002060"/>
                </a:solidFill>
                <a:latin typeface="Bookman Old Style" panose="02050604050505020204" pitchFamily="18" charset="0"/>
              </a:rPr>
            </a:br>
            <a:r>
              <a:rPr lang="en-IN" sz="2400" dirty="0">
                <a:solidFill>
                  <a:srgbClr val="002060"/>
                </a:solidFill>
                <a:latin typeface="Bookman Old Style" panose="02050604050505020204" pitchFamily="18" charset="0"/>
              </a:rPr>
              <a:t>(b) I–E; II–C; III–A; IV–F</a:t>
            </a:r>
            <a:br>
              <a:rPr lang="en-IN" sz="2400" dirty="0">
                <a:solidFill>
                  <a:srgbClr val="002060"/>
                </a:solidFill>
                <a:latin typeface="Bookman Old Style" panose="02050604050505020204" pitchFamily="18" charset="0"/>
              </a:rPr>
            </a:br>
            <a:r>
              <a:rPr lang="en-IN" sz="2400" dirty="0">
                <a:solidFill>
                  <a:srgbClr val="002060"/>
                </a:solidFill>
                <a:latin typeface="Bookman Old Style" panose="02050604050505020204" pitchFamily="18" charset="0"/>
              </a:rPr>
              <a:t>(c) I–F; II–B; III–C; IV–A</a:t>
            </a:r>
            <a:br>
              <a:rPr lang="en-IN" sz="2400" dirty="0">
                <a:solidFill>
                  <a:srgbClr val="002060"/>
                </a:solidFill>
                <a:latin typeface="Bookman Old Style" panose="02050604050505020204" pitchFamily="18" charset="0"/>
              </a:rPr>
            </a:br>
            <a:r>
              <a:rPr lang="en-IN" sz="2400" dirty="0">
                <a:solidFill>
                  <a:srgbClr val="002060"/>
                </a:solidFill>
                <a:latin typeface="Bookman Old Style" panose="02050604050505020204" pitchFamily="18" charset="0"/>
              </a:rPr>
              <a:t>(d) I–E; II–D; III–C; IV–A</a:t>
            </a:r>
          </a:p>
        </p:txBody>
      </p:sp>
    </p:spTree>
    <p:extLst>
      <p:ext uri="{BB962C8B-B14F-4D97-AF65-F5344CB8AC3E}">
        <p14:creationId xmlns:p14="http://schemas.microsoft.com/office/powerpoint/2010/main" val="294390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60F5AD9-4C1C-D016-4800-28B004758056}"/>
              </a:ext>
            </a:extLst>
          </p:cNvPr>
          <p:cNvSpPr/>
          <p:nvPr/>
        </p:nvSpPr>
        <p:spPr>
          <a:xfrm>
            <a:off x="127819" y="4188542"/>
            <a:ext cx="4817807" cy="4031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C49337EF-0D15-63CE-E960-584171A93BFB}"/>
              </a:ext>
            </a:extLst>
          </p:cNvPr>
          <p:cNvSpPr/>
          <p:nvPr/>
        </p:nvSpPr>
        <p:spPr>
          <a:xfrm>
            <a:off x="226142" y="1720645"/>
            <a:ext cx="2566219" cy="4031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ECA51DE8-AD8C-0F62-6BA0-81458FFDB909}"/>
              </a:ext>
            </a:extLst>
          </p:cNvPr>
          <p:cNvSpPr txBox="1"/>
          <p:nvPr/>
        </p:nvSpPr>
        <p:spPr>
          <a:xfrm>
            <a:off x="127819" y="226141"/>
            <a:ext cx="12064181" cy="3323987"/>
          </a:xfrm>
          <a:prstGeom prst="rect">
            <a:avLst/>
          </a:prstGeom>
          <a:noFill/>
        </p:spPr>
        <p:txBody>
          <a:bodyPr wrap="square" rtlCol="0">
            <a:spAutoFit/>
          </a:bodyPr>
          <a:lstStyle/>
          <a:p>
            <a:r>
              <a:rPr lang="en-IN" sz="2400" dirty="0">
                <a:solidFill>
                  <a:srgbClr val="C00000"/>
                </a:solidFill>
                <a:latin typeface="Bookman Old Style" panose="02050604050505020204" pitchFamily="18" charset="0"/>
              </a:rPr>
              <a:t>Q5.</a:t>
            </a:r>
            <a:r>
              <a:rPr lang="en-US" sz="2400" b="1" dirty="0">
                <a:solidFill>
                  <a:srgbClr val="C00000"/>
                </a:solidFill>
                <a:latin typeface="Bookman Old Style" panose="02050604050505020204" pitchFamily="18" charset="0"/>
              </a:rPr>
              <a:t> </a:t>
            </a:r>
            <a:r>
              <a:rPr lang="en-US" sz="2400" dirty="0">
                <a:solidFill>
                  <a:srgbClr val="C00000"/>
                </a:solidFill>
                <a:latin typeface="Bookman Old Style" panose="02050604050505020204" pitchFamily="18" charset="0"/>
              </a:rPr>
              <a:t>The total number of metal ions and the number of coordinated imidazole units of histidine in the active site of oxy-hemocyanin, respectively, are:</a:t>
            </a:r>
            <a:br>
              <a:rPr lang="en-US" sz="2400" dirty="0">
                <a:solidFill>
                  <a:srgbClr val="C00000"/>
                </a:solidFill>
                <a:latin typeface="Bookman Old Style" panose="02050604050505020204" pitchFamily="18" charset="0"/>
              </a:rPr>
            </a:br>
            <a:r>
              <a:rPr lang="en-US" sz="2400" dirty="0">
                <a:solidFill>
                  <a:srgbClr val="C00000"/>
                </a:solidFill>
                <a:latin typeface="Bookman Old Style" panose="02050604050505020204" pitchFamily="18" charset="0"/>
              </a:rPr>
              <a:t>                                                                                                    </a:t>
            </a:r>
            <a:r>
              <a:rPr lang="en-US" sz="1600" dirty="0">
                <a:solidFill>
                  <a:srgbClr val="002060"/>
                </a:solidFill>
                <a:latin typeface="Bookman Old Style" panose="02050604050505020204" pitchFamily="18" charset="0"/>
              </a:rPr>
              <a:t>[NET JUNE 2015]</a:t>
            </a:r>
          </a:p>
          <a:p>
            <a:endParaRPr lang="en-US" sz="2400" dirty="0">
              <a:solidFill>
                <a:srgbClr val="002060"/>
              </a:solidFill>
              <a:latin typeface="Bookman Old Style" panose="02050604050505020204" pitchFamily="18" charset="0"/>
            </a:endParaRPr>
          </a:p>
          <a:p>
            <a:r>
              <a:rPr lang="en-US" sz="2400" dirty="0">
                <a:latin typeface="Bookman Old Style" panose="02050604050505020204" pitchFamily="18" charset="0"/>
              </a:rPr>
              <a:t>(a) 2Cu²⁺ and 6</a:t>
            </a:r>
            <a:br>
              <a:rPr lang="en-US" sz="2400" dirty="0">
                <a:latin typeface="Bookman Old Style" panose="02050604050505020204" pitchFamily="18" charset="0"/>
              </a:rPr>
            </a:br>
            <a:r>
              <a:rPr lang="en-US" sz="2400" dirty="0">
                <a:latin typeface="Bookman Old Style" panose="02050604050505020204" pitchFamily="18" charset="0"/>
              </a:rPr>
              <a:t>(b) 2Fe²⁺ and 5</a:t>
            </a:r>
            <a:br>
              <a:rPr lang="en-US" sz="2400" dirty="0">
                <a:latin typeface="Bookman Old Style" panose="02050604050505020204" pitchFamily="18" charset="0"/>
              </a:rPr>
            </a:br>
            <a:r>
              <a:rPr lang="en-US" sz="2400" dirty="0">
                <a:latin typeface="Bookman Old Style" panose="02050604050505020204" pitchFamily="18" charset="0"/>
              </a:rPr>
              <a:t>(c) 2Cu⁺ and 6</a:t>
            </a:r>
            <a:br>
              <a:rPr lang="en-US" sz="2400" dirty="0">
                <a:latin typeface="Bookman Old Style" panose="02050604050505020204" pitchFamily="18" charset="0"/>
              </a:rPr>
            </a:br>
            <a:r>
              <a:rPr lang="en-US" sz="2400" dirty="0">
                <a:latin typeface="Bookman Old Style" panose="02050604050505020204" pitchFamily="18" charset="0"/>
              </a:rPr>
              <a:t>(d) Fe²⁺ and 3</a:t>
            </a:r>
          </a:p>
          <a:p>
            <a:endParaRPr lang="en-IN" dirty="0"/>
          </a:p>
        </p:txBody>
      </p:sp>
      <p:sp>
        <p:nvSpPr>
          <p:cNvPr id="4" name="TextBox 3">
            <a:extLst>
              <a:ext uri="{FF2B5EF4-FFF2-40B4-BE49-F238E27FC236}">
                <a16:creationId xmlns:a16="http://schemas.microsoft.com/office/drawing/2014/main" id="{931D0B65-1819-294E-399A-8C5F3D0FCD55}"/>
              </a:ext>
            </a:extLst>
          </p:cNvPr>
          <p:cNvSpPr txBox="1"/>
          <p:nvPr/>
        </p:nvSpPr>
        <p:spPr>
          <a:xfrm>
            <a:off x="127819" y="3429000"/>
            <a:ext cx="6853084" cy="2215991"/>
          </a:xfrm>
          <a:prstGeom prst="rect">
            <a:avLst/>
          </a:prstGeom>
          <a:noFill/>
        </p:spPr>
        <p:txBody>
          <a:bodyPr wrap="square" rtlCol="0">
            <a:spAutoFit/>
          </a:bodyPr>
          <a:lstStyle/>
          <a:p>
            <a:r>
              <a:rPr lang="en-IN" sz="2400" dirty="0">
                <a:solidFill>
                  <a:srgbClr val="C00000"/>
                </a:solidFill>
                <a:latin typeface="Bookman Old Style" panose="02050604050505020204" pitchFamily="18" charset="0"/>
              </a:rPr>
              <a:t>Q6.</a:t>
            </a:r>
            <a:r>
              <a:rPr lang="en-US" sz="2400" dirty="0">
                <a:solidFill>
                  <a:srgbClr val="C00000"/>
                </a:solidFill>
                <a:latin typeface="Bookman Old Style" panose="02050604050505020204" pitchFamily="18" charset="0"/>
              </a:rPr>
              <a:t> Deoxy-hemocyanin is-</a:t>
            </a:r>
          </a:p>
          <a:p>
            <a:r>
              <a:rPr lang="en-US" sz="2400" dirty="0">
                <a:latin typeface="Bookman Old Style" panose="02050604050505020204" pitchFamily="18" charset="0"/>
              </a:rPr>
              <a:t>(a) heme protein and paramagnetic</a:t>
            </a:r>
            <a:br>
              <a:rPr lang="en-US" sz="2400" dirty="0">
                <a:latin typeface="Bookman Old Style" panose="02050604050505020204" pitchFamily="18" charset="0"/>
              </a:rPr>
            </a:br>
            <a:r>
              <a:rPr lang="en-US" sz="2400" dirty="0">
                <a:latin typeface="Bookman Old Style" panose="02050604050505020204" pitchFamily="18" charset="0"/>
              </a:rPr>
              <a:t>(b) </a:t>
            </a:r>
            <a:r>
              <a:rPr lang="en-US" sz="2400" dirty="0" err="1">
                <a:latin typeface="Bookman Old Style" panose="02050604050505020204" pitchFamily="18" charset="0"/>
              </a:rPr>
              <a:t>colourless</a:t>
            </a:r>
            <a:r>
              <a:rPr lang="en-US" sz="2400" dirty="0">
                <a:latin typeface="Bookman Old Style" panose="02050604050505020204" pitchFamily="18" charset="0"/>
              </a:rPr>
              <a:t> and diamagnetic</a:t>
            </a:r>
            <a:br>
              <a:rPr lang="en-US" sz="2400" dirty="0">
                <a:latin typeface="Bookman Old Style" panose="02050604050505020204" pitchFamily="18" charset="0"/>
              </a:rPr>
            </a:br>
            <a:r>
              <a:rPr lang="en-US" sz="2400" dirty="0">
                <a:latin typeface="Bookman Old Style" panose="02050604050505020204" pitchFamily="18" charset="0"/>
              </a:rPr>
              <a:t>(c) O₂ transporter and paramagnetic</a:t>
            </a:r>
            <a:br>
              <a:rPr lang="en-US" sz="2400" dirty="0">
                <a:latin typeface="Bookman Old Style" panose="02050604050505020204" pitchFamily="18" charset="0"/>
              </a:rPr>
            </a:br>
            <a:r>
              <a:rPr lang="en-US" sz="2400" dirty="0">
                <a:latin typeface="Bookman Old Style" panose="02050604050505020204" pitchFamily="18" charset="0"/>
              </a:rPr>
              <a:t>(d) blue colored and diamagnetic</a:t>
            </a:r>
          </a:p>
          <a:p>
            <a:endParaRPr lang="en-IN" dirty="0"/>
          </a:p>
        </p:txBody>
      </p:sp>
      <p:pic>
        <p:nvPicPr>
          <p:cNvPr id="7" name="Picture 6">
            <a:extLst>
              <a:ext uri="{FF2B5EF4-FFF2-40B4-BE49-F238E27FC236}">
                <a16:creationId xmlns:a16="http://schemas.microsoft.com/office/drawing/2014/main" id="{B8A526C1-D59D-1397-502F-7307AD588B01}"/>
              </a:ext>
            </a:extLst>
          </p:cNvPr>
          <p:cNvPicPr>
            <a:picLocks noChangeAspect="1"/>
          </p:cNvPicPr>
          <p:nvPr/>
        </p:nvPicPr>
        <p:blipFill>
          <a:blip r:embed="rId2"/>
          <a:stretch>
            <a:fillRect/>
          </a:stretch>
        </p:blipFill>
        <p:spPr>
          <a:xfrm>
            <a:off x="7179872" y="3135695"/>
            <a:ext cx="4124901" cy="3496163"/>
          </a:xfrm>
          <a:prstGeom prst="rect">
            <a:avLst/>
          </a:prstGeom>
        </p:spPr>
      </p:pic>
    </p:spTree>
    <p:extLst>
      <p:ext uri="{BB962C8B-B14F-4D97-AF65-F5344CB8AC3E}">
        <p14:creationId xmlns:p14="http://schemas.microsoft.com/office/powerpoint/2010/main" val="360165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5888D5-815D-8A3E-1F03-22D817D45141}"/>
              </a:ext>
            </a:extLst>
          </p:cNvPr>
          <p:cNvSpPr/>
          <p:nvPr/>
        </p:nvSpPr>
        <p:spPr>
          <a:xfrm>
            <a:off x="58994" y="5447071"/>
            <a:ext cx="2172929" cy="27530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FF25819-A128-2167-41FB-EAB7DE1270BE}"/>
              </a:ext>
            </a:extLst>
          </p:cNvPr>
          <p:cNvSpPr/>
          <p:nvPr/>
        </p:nvSpPr>
        <p:spPr>
          <a:xfrm>
            <a:off x="58994" y="1327355"/>
            <a:ext cx="9783096" cy="39329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2">
            <a:extLst>
              <a:ext uri="{FF2B5EF4-FFF2-40B4-BE49-F238E27FC236}">
                <a16:creationId xmlns:a16="http://schemas.microsoft.com/office/drawing/2014/main" id="{5E50DD60-AA32-A8D4-C692-463ABEA491D0}"/>
              </a:ext>
            </a:extLst>
          </p:cNvPr>
          <p:cNvSpPr>
            <a:spLocks noChangeArrowheads="1"/>
          </p:cNvSpPr>
          <p:nvPr/>
        </p:nvSpPr>
        <p:spPr bwMode="auto">
          <a:xfrm>
            <a:off x="58994" y="240211"/>
            <a:ext cx="1213300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i="0" u="none" strike="noStrike" cap="none" normalizeH="0" baseline="0" dirty="0">
                <a:ln>
                  <a:noFill/>
                </a:ln>
                <a:solidFill>
                  <a:srgbClr val="C00000"/>
                </a:solidFill>
                <a:effectLst/>
                <a:latin typeface="Bookman Old Style" panose="02050604050505020204" pitchFamily="18" charset="0"/>
              </a:rPr>
              <a:t>Q7. In the catalytic hydration of </a:t>
            </a:r>
            <a:r>
              <a:rPr lang="en-US" sz="2400" dirty="0">
                <a:solidFill>
                  <a:srgbClr val="C00000"/>
                </a:solidFill>
                <a:latin typeface="Bookman Old Style" panose="02050604050505020204" pitchFamily="18" charset="0"/>
              </a:rPr>
              <a:t>CO</a:t>
            </a:r>
            <a:r>
              <a:rPr lang="en-US" sz="2400" baseline="-25000" dirty="0">
                <a:solidFill>
                  <a:srgbClr val="C00000"/>
                </a:solidFill>
                <a:latin typeface="Bookman Old Style" panose="02050604050505020204" pitchFamily="18" charset="0"/>
              </a:rPr>
              <a:t>2</a:t>
            </a:r>
            <a:r>
              <a:rPr lang="en-IN" sz="2400" dirty="0">
                <a:solidFill>
                  <a:srgbClr val="C00000"/>
                </a:solidFill>
                <a:latin typeface="Bookman Old Style" panose="02050604050505020204" pitchFamily="18" charset="0"/>
              </a:rPr>
              <a:t> </a:t>
            </a:r>
            <a:r>
              <a:rPr kumimoji="0" lang="en-US" altLang="en-US" sz="2400" i="0" u="none" strike="noStrike" cap="none" normalizeH="0" baseline="0" dirty="0">
                <a:ln>
                  <a:noFill/>
                </a:ln>
                <a:solidFill>
                  <a:srgbClr val="C00000"/>
                </a:solidFill>
                <a:effectLst/>
                <a:latin typeface="Bookman Old Style" panose="02050604050505020204" pitchFamily="18" charset="0"/>
              </a:rPr>
              <a:t> by carbonic anhydrase, </a:t>
            </a:r>
            <a:r>
              <a:rPr lang="en-US" sz="2400" dirty="0">
                <a:solidFill>
                  <a:srgbClr val="C00000"/>
                </a:solidFill>
                <a:latin typeface="Bookman Old Style" panose="02050604050505020204" pitchFamily="18" charset="0"/>
              </a:rPr>
              <a:t>CO</a:t>
            </a:r>
            <a:r>
              <a:rPr lang="en-US" sz="2400" baseline="-25000" dirty="0">
                <a:solidFill>
                  <a:srgbClr val="C00000"/>
                </a:solidFill>
                <a:latin typeface="Bookman Old Style" panose="02050604050505020204" pitchFamily="18" charset="0"/>
              </a:rPr>
              <a:t>2</a:t>
            </a:r>
            <a:r>
              <a:rPr lang="en-IN" sz="2400" dirty="0">
                <a:solidFill>
                  <a:srgbClr val="C00000"/>
                </a:solidFill>
                <a:latin typeface="Bookman Old Style" panose="02050604050505020204" pitchFamily="18" charset="0"/>
              </a:rPr>
              <a:t> </a:t>
            </a:r>
            <a:r>
              <a:rPr lang="en-US" sz="2400" dirty="0">
                <a:solidFill>
                  <a:srgbClr val="C00000"/>
                </a:solidFill>
                <a:latin typeface="Bookman Old Style" panose="02050604050505020204" pitchFamily="18" charset="0"/>
              </a:rPr>
              <a:t>f</a:t>
            </a:r>
            <a:r>
              <a:rPr kumimoji="0" lang="en-US" altLang="en-US" sz="2400" i="0" u="none" strike="noStrike" cap="none" normalizeH="0" baseline="0" dirty="0">
                <a:ln>
                  <a:noFill/>
                </a:ln>
                <a:solidFill>
                  <a:srgbClr val="C00000"/>
                </a:solidFill>
                <a:effectLst/>
                <a:latin typeface="Bookman Old Style" panose="02050604050505020204" pitchFamily="18" charset="0"/>
              </a:rPr>
              <a:t>irst interacts with which of the following?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Bookman Old Style" panose="02050604050505020204" pitchFamily="18" charset="0"/>
              </a:rPr>
              <a:t>(a) OH group of the active site of the enzyme, and then with zinc</a:t>
            </a:r>
          </a:p>
          <a:p>
            <a:pPr lvl="0"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Bookman Old Style" panose="02050604050505020204" pitchFamily="18" charset="0"/>
              </a:rPr>
              <a:t>(b) </a:t>
            </a:r>
            <a:r>
              <a:rPr lang="en-US" sz="2400" dirty="0">
                <a:latin typeface="Bookman Old Style" panose="02050604050505020204" pitchFamily="18" charset="0"/>
              </a:rPr>
              <a:t>H</a:t>
            </a:r>
            <a:r>
              <a:rPr lang="en-US" sz="2400" baseline="-25000" dirty="0">
                <a:latin typeface="Bookman Old Style" panose="02050604050505020204" pitchFamily="18" charset="0"/>
              </a:rPr>
              <a:t>2</a:t>
            </a:r>
            <a:r>
              <a:rPr lang="en-US" sz="2400" dirty="0">
                <a:latin typeface="Bookman Old Style" panose="02050604050505020204" pitchFamily="18" charset="0"/>
              </a:rPr>
              <a:t>O</a:t>
            </a:r>
            <a:r>
              <a:rPr kumimoji="0" lang="en-US" altLang="en-US" sz="2400" b="0" i="0" u="none" strike="noStrike" cap="none" normalizeH="0" baseline="0" dirty="0">
                <a:ln>
                  <a:noFill/>
                </a:ln>
                <a:solidFill>
                  <a:schemeClr val="tx1"/>
                </a:solidFill>
                <a:effectLst/>
                <a:latin typeface="Bookman Old Style" panose="02050604050505020204" pitchFamily="18" charset="0"/>
              </a:rPr>
              <a:t> of the active site of the enzyme, and then with zinc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latin typeface="Bookman Old Style" panose="02050604050505020204" pitchFamily="18" charset="0"/>
              </a:rPr>
              <a:t>(c)</a:t>
            </a:r>
            <a:r>
              <a:rPr kumimoji="0" lang="en-US" altLang="en-US" sz="2400" b="0" i="0" u="none" strike="noStrike" cap="none" normalizeH="0" baseline="0" dirty="0">
                <a:ln>
                  <a:noFill/>
                </a:ln>
                <a:solidFill>
                  <a:schemeClr val="tx1"/>
                </a:solidFill>
                <a:effectLst/>
                <a:latin typeface="Bookman Old Style" panose="02050604050505020204" pitchFamily="18" charset="0"/>
              </a:rPr>
              <a:t> zinc of the active site of the enzyme, and then with the OH group</a:t>
            </a:r>
          </a:p>
          <a:p>
            <a:pPr lvl="0"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Bookman Old Style" panose="02050604050505020204" pitchFamily="18" charset="0"/>
              </a:rPr>
              <a:t>(d) Zinc of the active site of the enzyme, and then with </a:t>
            </a:r>
            <a:r>
              <a:rPr lang="en-US" sz="2400" dirty="0">
                <a:latin typeface="Bookman Old Style" panose="02050604050505020204" pitchFamily="18" charset="0"/>
              </a:rPr>
              <a:t>H</a:t>
            </a:r>
            <a:r>
              <a:rPr lang="en-US" sz="2400" baseline="-25000" dirty="0">
                <a:latin typeface="Bookman Old Style" panose="02050604050505020204" pitchFamily="18" charset="0"/>
              </a:rPr>
              <a:t>2</a:t>
            </a:r>
            <a:r>
              <a:rPr lang="en-US" sz="2400" dirty="0">
                <a:latin typeface="Bookman Old Style" panose="02050604050505020204" pitchFamily="18" charset="0"/>
              </a:rPr>
              <a:t>O.</a:t>
            </a:r>
            <a:endParaRPr kumimoji="0" lang="en-US" altLang="en-US" sz="2400" b="0" i="0" u="none" strike="noStrike" cap="none" normalizeH="0" baseline="0" dirty="0">
              <a:ln>
                <a:noFill/>
              </a:ln>
              <a:solidFill>
                <a:schemeClr val="tx1"/>
              </a:solidFill>
              <a:effectLst/>
              <a:latin typeface="Bookman Old Style" panose="02050604050505020204" pitchFamily="18" charset="0"/>
            </a:endParaRPr>
          </a:p>
        </p:txBody>
      </p:sp>
      <p:pic>
        <p:nvPicPr>
          <p:cNvPr id="7" name="Picture 6">
            <a:extLst>
              <a:ext uri="{FF2B5EF4-FFF2-40B4-BE49-F238E27FC236}">
                <a16:creationId xmlns:a16="http://schemas.microsoft.com/office/drawing/2014/main" id="{7F89C3C9-F3C6-1DDE-7CF1-4A5611B4BCB2}"/>
              </a:ext>
            </a:extLst>
          </p:cNvPr>
          <p:cNvPicPr>
            <a:picLocks noChangeAspect="1"/>
          </p:cNvPicPr>
          <p:nvPr/>
        </p:nvPicPr>
        <p:blipFill>
          <a:blip r:embed="rId2"/>
          <a:stretch>
            <a:fillRect/>
          </a:stretch>
        </p:blipFill>
        <p:spPr>
          <a:xfrm>
            <a:off x="7800118" y="3105309"/>
            <a:ext cx="4549198" cy="3746088"/>
          </a:xfrm>
          <a:prstGeom prst="rect">
            <a:avLst/>
          </a:prstGeom>
        </p:spPr>
      </p:pic>
      <p:sp>
        <p:nvSpPr>
          <p:cNvPr id="8" name="Rectangle 3">
            <a:extLst>
              <a:ext uri="{FF2B5EF4-FFF2-40B4-BE49-F238E27FC236}">
                <a16:creationId xmlns:a16="http://schemas.microsoft.com/office/drawing/2014/main" id="{D9D0B59B-38B7-E6A2-0B27-66951AEB03EF}"/>
              </a:ext>
            </a:extLst>
          </p:cNvPr>
          <p:cNvSpPr>
            <a:spLocks noChangeArrowheads="1"/>
          </p:cNvSpPr>
          <p:nvPr/>
        </p:nvSpPr>
        <p:spPr bwMode="auto">
          <a:xfrm>
            <a:off x="58994" y="3265800"/>
            <a:ext cx="8470132"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C00000"/>
                </a:solidFill>
                <a:effectLst/>
                <a:latin typeface="Bookman Old Style" panose="02050604050505020204" pitchFamily="18" charset="0"/>
              </a:rPr>
              <a:t>Q8.</a:t>
            </a:r>
            <a:r>
              <a:rPr kumimoji="0" lang="en-US" altLang="en-US" sz="2000" i="0" u="none" strike="noStrike" cap="none" normalizeH="0" baseline="0" dirty="0">
                <a:ln>
                  <a:noFill/>
                </a:ln>
                <a:solidFill>
                  <a:srgbClr val="C00000"/>
                </a:solidFill>
                <a:effectLst/>
                <a:latin typeface="Bookman Old Style" panose="02050604050505020204" pitchFamily="18" charset="0"/>
              </a:rPr>
              <a:t>Consider the following statements for deoxy-hemerythrin and deoxy-hemocyanin: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A. They are involved in </a:t>
            </a:r>
            <a:r>
              <a:rPr lang="en-IN" sz="2000" dirty="0">
                <a:effectLst/>
                <a:latin typeface="Calibri" panose="020F0502020204030204" pitchFamily="34" charset="0"/>
                <a:ea typeface="Calibri" panose="020F0502020204030204" pitchFamily="34" charset="0"/>
                <a:cs typeface="Times New Roman" panose="02020603050405020304" pitchFamily="18" charset="0"/>
              </a:rPr>
              <a:t>O</a:t>
            </a:r>
            <a:r>
              <a:rPr lang="en-IN" sz="2000" baseline="-25000" dirty="0">
                <a:effectLst/>
                <a:latin typeface="Calibri" panose="020F0502020204030204" pitchFamily="34" charset="0"/>
                <a:ea typeface="Calibri" panose="020F0502020204030204" pitchFamily="34" charset="0"/>
                <a:cs typeface="Times New Roman" panose="02020603050405020304" pitchFamily="18" charset="0"/>
              </a:rPr>
              <a:t>2</a:t>
            </a:r>
            <a:r>
              <a:rPr kumimoji="0" lang="en-US" altLang="en-US" sz="2000" b="0" i="0" u="none" strike="noStrike" cap="none" normalizeH="0" baseline="0" dirty="0">
                <a:ln>
                  <a:noFill/>
                </a:ln>
                <a:solidFill>
                  <a:schemeClr val="tx1"/>
                </a:solidFill>
                <a:effectLst/>
                <a:latin typeface="Bookman Old Style" panose="02050604050505020204" pitchFamily="18" charset="0"/>
              </a:rPr>
              <a:t> transport in biological systems.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B. They contain two metal ions in their active site.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C. Active site metal </a:t>
            </a:r>
            <a:r>
              <a:rPr kumimoji="0" lang="en-US" altLang="en-US" sz="2000" b="0" i="0" u="none" strike="noStrike" cap="none" normalizeH="0" baseline="0" dirty="0" err="1">
                <a:ln>
                  <a:noFill/>
                </a:ln>
                <a:solidFill>
                  <a:schemeClr val="tx1"/>
                </a:solidFill>
                <a:effectLst/>
                <a:latin typeface="Bookman Old Style" panose="02050604050505020204" pitchFamily="18" charset="0"/>
              </a:rPr>
              <a:t>centres</a:t>
            </a:r>
            <a:r>
              <a:rPr kumimoji="0" lang="en-US" altLang="en-US" sz="2000" b="0" i="0" u="none" strike="noStrike" cap="none" normalizeH="0" baseline="0" dirty="0">
                <a:ln>
                  <a:noFill/>
                </a:ln>
                <a:solidFill>
                  <a:schemeClr val="tx1"/>
                </a:solidFill>
                <a:effectLst/>
                <a:latin typeface="Bookman Old Style" panose="02050604050505020204" pitchFamily="18" charset="0"/>
              </a:rPr>
              <a:t> are bridged by amino acid residues.</a:t>
            </a:r>
          </a:p>
          <a:p>
            <a:pPr lvl="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Bookman Old Style" panose="02050604050505020204" pitchFamily="18" charset="0"/>
              </a:rPr>
              <a:t>D. They prefer to bind only one </a:t>
            </a:r>
            <a:r>
              <a:rPr lang="en-IN" dirty="0"/>
              <a:t>O</a:t>
            </a:r>
            <a:r>
              <a:rPr lang="en-IN" baseline="-25000" dirty="0"/>
              <a:t>2  </a:t>
            </a:r>
            <a:r>
              <a:rPr kumimoji="0" lang="en-US" altLang="en-US" sz="2000" b="0" i="0" u="none" strike="noStrike" cap="none" normalizeH="0" baseline="0" dirty="0">
                <a:ln>
                  <a:noFill/>
                </a:ln>
                <a:solidFill>
                  <a:schemeClr val="tx1"/>
                </a:solidFill>
                <a:effectLst/>
                <a:latin typeface="Bookman Old Style" panose="02050604050505020204" pitchFamily="18" charset="0"/>
              </a:rPr>
              <a:t>per active site.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2060"/>
                </a:solidFill>
                <a:effectLst/>
                <a:latin typeface="Bookman Old Style" panose="02050604050505020204" pitchFamily="18" charset="0"/>
              </a:rPr>
              <a:t>The correct statements 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(a) A, B and 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(b) A, C and 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(c) B, C and 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(d) A and C</a:t>
            </a:r>
          </a:p>
        </p:txBody>
      </p:sp>
    </p:spTree>
    <p:extLst>
      <p:ext uri="{BB962C8B-B14F-4D97-AF65-F5344CB8AC3E}">
        <p14:creationId xmlns:p14="http://schemas.microsoft.com/office/powerpoint/2010/main" val="142787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480C22-2157-80BD-8674-E3241993F280}"/>
              </a:ext>
            </a:extLst>
          </p:cNvPr>
          <p:cNvSpPr/>
          <p:nvPr/>
        </p:nvSpPr>
        <p:spPr>
          <a:xfrm>
            <a:off x="235974" y="5151120"/>
            <a:ext cx="10117066" cy="56896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D5C4E8D7-5439-D299-FB4B-19659374FF29}"/>
              </a:ext>
            </a:extLst>
          </p:cNvPr>
          <p:cNvSpPr/>
          <p:nvPr/>
        </p:nvSpPr>
        <p:spPr>
          <a:xfrm>
            <a:off x="157316" y="3136490"/>
            <a:ext cx="2408903" cy="36379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6483EF4B-5DB0-7F75-19D6-6C8EEC869978}"/>
              </a:ext>
            </a:extLst>
          </p:cNvPr>
          <p:cNvSpPr>
            <a:spLocks noChangeArrowheads="1"/>
          </p:cNvSpPr>
          <p:nvPr/>
        </p:nvSpPr>
        <p:spPr bwMode="auto">
          <a:xfrm>
            <a:off x="157316" y="68575"/>
            <a:ext cx="9568645"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C00000"/>
                </a:solidFill>
                <a:effectLst/>
                <a:latin typeface="Bookman Old Style" panose="02050604050505020204" pitchFamily="18" charset="0"/>
              </a:rPr>
              <a:t>Q9. Consider the following statements for the oxygenation of </a:t>
            </a:r>
            <a:r>
              <a:rPr kumimoji="0" lang="en-US" altLang="en-US" sz="2000" b="1" i="0" u="none" strike="noStrike" cap="none" normalizeH="0" baseline="0" dirty="0">
                <a:ln>
                  <a:noFill/>
                </a:ln>
                <a:solidFill>
                  <a:srgbClr val="C00000"/>
                </a:solidFill>
                <a:effectLst/>
                <a:latin typeface="Bookman Old Style" panose="02050604050505020204" pitchFamily="18" charset="0"/>
              </a:rPr>
              <a:t>hemocyanin</a:t>
            </a:r>
            <a:r>
              <a:rPr kumimoji="0" lang="en-US" altLang="en-US" sz="2000" b="0" i="0" u="none" strike="noStrike" cap="none" normalizeH="0" baseline="0" dirty="0">
                <a:ln>
                  <a:noFill/>
                </a:ln>
                <a:solidFill>
                  <a:srgbClr val="C00000"/>
                </a:solidFill>
                <a:effectLst/>
                <a:latin typeface="Bookman Old Style" panose="020506040505050202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A. The oxidation state of both copper atoms changes by two.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B. It becomes intensely blue from </a:t>
            </a:r>
            <a:r>
              <a:rPr kumimoji="0" lang="en-US" altLang="en-US" sz="2000" b="0" i="0" u="none" strike="noStrike" cap="none" normalizeH="0" baseline="0" dirty="0" err="1">
                <a:ln>
                  <a:noFill/>
                </a:ln>
                <a:solidFill>
                  <a:schemeClr val="tx1"/>
                </a:solidFill>
                <a:effectLst/>
                <a:latin typeface="Bookman Old Style" panose="02050604050505020204" pitchFamily="18" charset="0"/>
              </a:rPr>
              <a:t>colourless</a:t>
            </a:r>
            <a:r>
              <a:rPr kumimoji="0" lang="en-US" altLang="en-US" sz="2000" b="0" i="0" u="none" strike="noStrike" cap="none" normalizeH="0" baseline="0" dirty="0">
                <a:ln>
                  <a:noFill/>
                </a:ln>
                <a:solidFill>
                  <a:schemeClr val="tx1"/>
                </a:solidFill>
                <a:effectLst/>
                <a:latin typeface="Bookman Old Style" panose="02050604050505020204" pitchFamily="18" charset="0"/>
              </a:rPr>
              <a:t>.</a:t>
            </a:r>
          </a:p>
          <a:p>
            <a:pPr lvl="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Bookman Old Style" panose="02050604050505020204" pitchFamily="18" charset="0"/>
              </a:rPr>
              <a:t>C. Dioxygen is reduced to </a:t>
            </a:r>
            <a:r>
              <a:rPr lang="en-US" sz="2000" dirty="0">
                <a:latin typeface="Bookman Old Style" panose="02050604050505020204" pitchFamily="18" charset="0"/>
              </a:rPr>
              <a:t>O</a:t>
            </a:r>
            <a:r>
              <a:rPr lang="en-US" sz="2000" baseline="-25000" dirty="0">
                <a:latin typeface="Bookman Old Style" panose="02050604050505020204" pitchFamily="18" charset="0"/>
              </a:rPr>
              <a:t>2</a:t>
            </a:r>
            <a:r>
              <a:rPr lang="en-US" sz="2000" baseline="30000" dirty="0">
                <a:latin typeface="Bookman Old Style" panose="02050604050505020204" pitchFamily="18" charset="0"/>
              </a:rPr>
              <a:t>2-</a:t>
            </a:r>
            <a:endParaRPr kumimoji="0" lang="en-US" altLang="en-US" sz="2000" b="0" i="0" u="none" strike="noStrike" cap="none" normalizeH="0" baseline="0" dirty="0">
              <a:ln>
                <a:noFill/>
              </a:ln>
              <a:solidFill>
                <a:schemeClr val="tx1"/>
              </a:solidFill>
              <a:effectLst/>
              <a:latin typeface="Bookman Old Style" panose="02050604050505020204" pitchFamily="18" charset="0"/>
            </a:endParaRPr>
          </a:p>
          <a:p>
            <a:pPr lvl="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Bookman Old Style" panose="02050604050505020204" pitchFamily="18" charset="0"/>
              </a:rPr>
              <a:t>D. The </a:t>
            </a:r>
            <a:r>
              <a:rPr lang="en-US" sz="2000" dirty="0">
                <a:latin typeface="Bookman Old Style" panose="02050604050505020204" pitchFamily="18" charset="0"/>
              </a:rPr>
              <a:t>µ-η</a:t>
            </a:r>
            <a:r>
              <a:rPr lang="en-US" sz="2000" baseline="30000" dirty="0">
                <a:latin typeface="Bookman Old Style" panose="02050604050505020204" pitchFamily="18" charset="0"/>
              </a:rPr>
              <a:t>2</a:t>
            </a:r>
            <a:r>
              <a:rPr lang="en-US" sz="2000" dirty="0">
                <a:latin typeface="Bookman Old Style" panose="02050604050505020204" pitchFamily="18" charset="0"/>
              </a:rPr>
              <a:t>: η</a:t>
            </a:r>
            <a:r>
              <a:rPr lang="en-US" sz="2000" baseline="30000" dirty="0">
                <a:latin typeface="Bookman Old Style" panose="02050604050505020204" pitchFamily="18" charset="0"/>
              </a:rPr>
              <a:t>2 </a:t>
            </a:r>
            <a:r>
              <a:rPr kumimoji="0" lang="en-US" altLang="en-US" sz="2000" b="0" i="0" u="none" strike="noStrike" cap="none" normalizeH="0" baseline="0" dirty="0">
                <a:ln>
                  <a:noFill/>
                </a:ln>
                <a:solidFill>
                  <a:schemeClr val="tx1"/>
                </a:solidFill>
                <a:effectLst/>
                <a:latin typeface="Bookman Old Style" panose="02050604050505020204" pitchFamily="18" charset="0"/>
              </a:rPr>
              <a:t>bond forms between each oxygen and copper atom.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Bookman Old Style" panose="02050604050505020204" pitchFamily="18" charset="0"/>
              </a:rPr>
              <a:t>The correct statements are:-</a:t>
            </a:r>
            <a:endParaRPr kumimoji="0" lang="en-US" altLang="en-US" sz="2000" b="0" i="0" u="none" strike="noStrike" cap="none" normalizeH="0" baseline="0" dirty="0">
              <a:ln>
                <a:noFill/>
              </a:ln>
              <a:solidFill>
                <a:schemeClr val="tx1"/>
              </a:solidFill>
              <a:effectLst/>
              <a:latin typeface="Bookman Old Style" panose="0205060405050502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(a) (A) and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(b) (B) and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(c) (A), (B) and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(d) (B), (C) and (D)</a:t>
            </a:r>
          </a:p>
        </p:txBody>
      </p:sp>
      <p:sp>
        <p:nvSpPr>
          <p:cNvPr id="4" name="TextBox 3">
            <a:extLst>
              <a:ext uri="{FF2B5EF4-FFF2-40B4-BE49-F238E27FC236}">
                <a16:creationId xmlns:a16="http://schemas.microsoft.com/office/drawing/2014/main" id="{5DE0F865-9312-5BC3-5A6B-11F8549DC884}"/>
              </a:ext>
            </a:extLst>
          </p:cNvPr>
          <p:cNvSpPr txBox="1"/>
          <p:nvPr/>
        </p:nvSpPr>
        <p:spPr>
          <a:xfrm>
            <a:off x="157316" y="3647767"/>
            <a:ext cx="11798710" cy="1015663"/>
          </a:xfrm>
          <a:prstGeom prst="rect">
            <a:avLst/>
          </a:prstGeom>
          <a:noFill/>
        </p:spPr>
        <p:txBody>
          <a:bodyPr wrap="square" rtlCol="0">
            <a:spAutoFit/>
          </a:bodyPr>
          <a:lstStyle/>
          <a:p>
            <a:r>
              <a:rPr lang="en-IN" sz="2000" dirty="0">
                <a:solidFill>
                  <a:srgbClr val="C00000"/>
                </a:solidFill>
                <a:latin typeface="Bookman Old Style" panose="02050604050505020204" pitchFamily="18" charset="0"/>
              </a:rPr>
              <a:t>Q10. </a:t>
            </a:r>
            <a:r>
              <a:rPr lang="en-US" sz="2000" dirty="0">
                <a:solidFill>
                  <a:srgbClr val="C00000"/>
                </a:solidFill>
                <a:latin typeface="Bookman Old Style" panose="02050604050505020204" pitchFamily="18" charset="0"/>
              </a:rPr>
              <a:t>What is the primary function of the </a:t>
            </a:r>
            <a:r>
              <a:rPr lang="en-US" sz="2000" b="1" dirty="0">
                <a:solidFill>
                  <a:srgbClr val="C00000"/>
                </a:solidFill>
                <a:latin typeface="Bookman Old Style" panose="02050604050505020204" pitchFamily="18" charset="0"/>
              </a:rPr>
              <a:t>His-64</a:t>
            </a:r>
            <a:r>
              <a:rPr lang="en-US" sz="2000" dirty="0">
                <a:solidFill>
                  <a:srgbClr val="C00000"/>
                </a:solidFill>
                <a:latin typeface="Bookman Old Style" panose="02050604050505020204" pitchFamily="18" charset="0"/>
              </a:rPr>
              <a:t> residue in the mechanism shown for </a:t>
            </a:r>
            <a:r>
              <a:rPr lang="en-US" sz="2000" b="1" dirty="0">
                <a:solidFill>
                  <a:srgbClr val="C00000"/>
                </a:solidFill>
                <a:latin typeface="Bookman Old Style" panose="02050604050505020204" pitchFamily="18" charset="0"/>
              </a:rPr>
              <a:t>carbonic anhydrase?</a:t>
            </a:r>
          </a:p>
          <a:p>
            <a:endParaRPr lang="en-IN" sz="2000" b="1" dirty="0">
              <a:solidFill>
                <a:srgbClr val="C00000"/>
              </a:solidFill>
              <a:latin typeface="Bookman Old Style" panose="02050604050505020204" pitchFamily="18" charset="0"/>
            </a:endParaRPr>
          </a:p>
        </p:txBody>
      </p:sp>
      <p:sp>
        <p:nvSpPr>
          <p:cNvPr id="5" name="Rectangle 2">
            <a:extLst>
              <a:ext uri="{FF2B5EF4-FFF2-40B4-BE49-F238E27FC236}">
                <a16:creationId xmlns:a16="http://schemas.microsoft.com/office/drawing/2014/main" id="{6EE83115-2559-11D8-76D2-9F439BE58ABF}"/>
              </a:ext>
            </a:extLst>
          </p:cNvPr>
          <p:cNvSpPr>
            <a:spLocks noChangeArrowheads="1"/>
          </p:cNvSpPr>
          <p:nvPr/>
        </p:nvSpPr>
        <p:spPr bwMode="auto">
          <a:xfrm rot="10800000" flipV="1">
            <a:off x="235974" y="4474040"/>
            <a:ext cx="10364317"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lvl="0" indent="-342900" eaLnBrk="0" fontAlgn="base" hangingPunct="0">
              <a:spcBef>
                <a:spcPct val="0"/>
              </a:spcBef>
              <a:spcAft>
                <a:spcPct val="0"/>
              </a:spcAft>
              <a:buFont typeface="+mj-lt"/>
              <a:buAutoNum type="alphaLcParenR"/>
            </a:pPr>
            <a:r>
              <a:rPr kumimoji="0" lang="en-US" altLang="en-US" sz="2000" b="0" i="0" u="none" strike="noStrike" cap="none" normalizeH="0" baseline="0" dirty="0">
                <a:ln>
                  <a:noFill/>
                </a:ln>
                <a:solidFill>
                  <a:schemeClr val="tx1"/>
                </a:solidFill>
                <a:effectLst/>
                <a:latin typeface="Bookman Old Style" panose="02050604050505020204" pitchFamily="18" charset="0"/>
              </a:rPr>
              <a:t>It serves as the nucleophile to attack </a:t>
            </a:r>
            <a:r>
              <a:rPr lang="en-US" sz="2000" dirty="0">
                <a:latin typeface="Bookman Old Style" panose="02050604050505020204" pitchFamily="18" charset="0"/>
              </a:rPr>
              <a:t>CO</a:t>
            </a:r>
            <a:r>
              <a:rPr lang="en-US" sz="2000" baseline="-25000" dirty="0">
                <a:latin typeface="Bookman Old Style" panose="02050604050505020204" pitchFamily="18" charset="0"/>
              </a:rPr>
              <a:t>2 </a:t>
            </a:r>
            <a:endParaRPr kumimoji="0" lang="en-US" altLang="en-US" sz="2000" b="0" i="0" u="none" strike="noStrike" cap="none" normalizeH="0" baseline="0" dirty="0">
              <a:ln>
                <a:noFill/>
              </a:ln>
              <a:solidFill>
                <a:schemeClr val="tx1"/>
              </a:solidFill>
              <a:effectLst/>
              <a:latin typeface="Bookman Old Style" panose="02050604050505020204" pitchFamily="18" charset="0"/>
            </a:endParaRPr>
          </a:p>
          <a:p>
            <a:pPr marL="342900" indent="-342900" eaLnBrk="0" fontAlgn="base" hangingPunct="0">
              <a:spcBef>
                <a:spcPct val="0"/>
              </a:spcBef>
              <a:spcAft>
                <a:spcPct val="0"/>
              </a:spcAft>
              <a:buFont typeface="+mj-lt"/>
              <a:buAutoNum type="alphaLcParenR"/>
            </a:pPr>
            <a:r>
              <a:rPr kumimoji="0" lang="en-US" altLang="en-US" sz="2000" b="0" i="0" u="none" strike="noStrike" cap="none" normalizeH="0" baseline="0" dirty="0">
                <a:ln>
                  <a:noFill/>
                </a:ln>
                <a:solidFill>
                  <a:schemeClr val="tx1"/>
                </a:solidFill>
                <a:effectLst/>
                <a:latin typeface="Bookman Old Style" panose="02050604050505020204" pitchFamily="18" charset="0"/>
              </a:rPr>
              <a:t>It directly coordinates the </a:t>
            </a:r>
            <a:r>
              <a:rPr lang="en-US" sz="2000" dirty="0">
                <a:latin typeface="Bookman Old Style" panose="02050604050505020204" pitchFamily="18" charset="0"/>
              </a:rPr>
              <a:t>Zn</a:t>
            </a:r>
            <a:r>
              <a:rPr lang="en-US" sz="2000" baseline="30000" dirty="0">
                <a:latin typeface="Bookman Old Style" panose="02050604050505020204" pitchFamily="18" charset="0"/>
              </a:rPr>
              <a:t>2+ </a:t>
            </a:r>
            <a:r>
              <a:rPr lang="en-US" altLang="en-US" sz="2000" dirty="0">
                <a:latin typeface="Bookman Old Style" panose="02050604050505020204" pitchFamily="18" charset="0"/>
              </a:rPr>
              <a:t>ion to </a:t>
            </a:r>
            <a:r>
              <a:rPr lang="en-US" altLang="en-US" sz="2000" dirty="0" err="1">
                <a:latin typeface="Bookman Old Style" panose="02050604050505020204" pitchFamily="18" charset="0"/>
              </a:rPr>
              <a:t>stabilise</a:t>
            </a:r>
            <a:r>
              <a:rPr lang="en-US" altLang="en-US" sz="2000" dirty="0">
                <a:latin typeface="Bookman Old Style" panose="02050604050505020204" pitchFamily="18" charset="0"/>
              </a:rPr>
              <a:t> the active site.</a:t>
            </a:r>
          </a:p>
          <a:p>
            <a:pPr marL="342900" marR="0" lvl="0" indent="-342900" algn="l" defTabSz="914400" rtl="0" eaLnBrk="0" fontAlgn="base" latinLnBrk="0" hangingPunct="0">
              <a:lnSpc>
                <a:spcPct val="100000"/>
              </a:lnSpc>
              <a:spcBef>
                <a:spcPct val="0"/>
              </a:spcBef>
              <a:spcAft>
                <a:spcPct val="0"/>
              </a:spcAft>
              <a:buClrTx/>
              <a:buSzTx/>
              <a:buFont typeface="+mj-lt"/>
              <a:buAutoNum type="alphaLcParenR"/>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It acts as a </a:t>
            </a:r>
            <a:r>
              <a:rPr kumimoji="0" lang="en-US" altLang="en-US" sz="2000" i="0" u="none" strike="noStrike" cap="none" normalizeH="0" baseline="0" dirty="0">
                <a:ln>
                  <a:noFill/>
                </a:ln>
                <a:solidFill>
                  <a:schemeClr val="tx1"/>
                </a:solidFill>
                <a:effectLst/>
                <a:latin typeface="Bookman Old Style" panose="02050604050505020204" pitchFamily="18" charset="0"/>
              </a:rPr>
              <a:t>proton shuttle</a:t>
            </a:r>
            <a:r>
              <a:rPr kumimoji="0" lang="en-US" altLang="en-US" sz="2000" b="0" i="0" u="none" strike="noStrike" cap="none" normalizeH="0" baseline="0" dirty="0">
                <a:ln>
                  <a:noFill/>
                </a:ln>
                <a:solidFill>
                  <a:schemeClr val="tx1"/>
                </a:solidFill>
                <a:effectLst/>
                <a:latin typeface="Bookman Old Style" panose="02050604050505020204" pitchFamily="18" charset="0"/>
              </a:rPr>
              <a:t>, facilitating the removal of the hydrogen ion from the active site. </a:t>
            </a:r>
          </a:p>
          <a:p>
            <a:pPr marL="342900" marR="0" lvl="0" indent="-342900" algn="l" defTabSz="914400" rtl="0" eaLnBrk="0" fontAlgn="base" latinLnBrk="0" hangingPunct="0">
              <a:lnSpc>
                <a:spcPct val="100000"/>
              </a:lnSpc>
              <a:spcBef>
                <a:spcPct val="0"/>
              </a:spcBef>
              <a:spcAft>
                <a:spcPct val="0"/>
              </a:spcAft>
              <a:buClrTx/>
              <a:buSzTx/>
              <a:buFont typeface="+mj-lt"/>
              <a:buAutoNum type="alphaLcParenR"/>
              <a:tabLst/>
            </a:pPr>
            <a:r>
              <a:rPr kumimoji="0" lang="en-US" altLang="en-US" sz="2000" b="0" i="0" u="none" strike="noStrike" cap="none" normalizeH="0" baseline="0" dirty="0">
                <a:ln>
                  <a:noFill/>
                </a:ln>
                <a:solidFill>
                  <a:schemeClr val="tx1"/>
                </a:solidFill>
                <a:effectLst/>
                <a:latin typeface="Bookman Old Style" panose="02050604050505020204" pitchFamily="18" charset="0"/>
              </a:rPr>
              <a:t>acts as a general acid to donate a proton to the bound water molecule.</a:t>
            </a:r>
          </a:p>
        </p:txBody>
      </p:sp>
      <p:pic>
        <p:nvPicPr>
          <p:cNvPr id="8" name="Picture 7">
            <a:extLst>
              <a:ext uri="{FF2B5EF4-FFF2-40B4-BE49-F238E27FC236}">
                <a16:creationId xmlns:a16="http://schemas.microsoft.com/office/drawing/2014/main" id="{04575DFD-0A68-C78D-BF44-033F6E9520A2}"/>
              </a:ext>
            </a:extLst>
          </p:cNvPr>
          <p:cNvPicPr>
            <a:picLocks noChangeAspect="1"/>
          </p:cNvPicPr>
          <p:nvPr/>
        </p:nvPicPr>
        <p:blipFill>
          <a:blip r:embed="rId2"/>
          <a:stretch>
            <a:fillRect/>
          </a:stretch>
        </p:blipFill>
        <p:spPr>
          <a:xfrm>
            <a:off x="5531692" y="1811875"/>
            <a:ext cx="6660308" cy="1835892"/>
          </a:xfrm>
          <a:prstGeom prst="rect">
            <a:avLst/>
          </a:prstGeom>
        </p:spPr>
      </p:pic>
    </p:spTree>
    <p:extLst>
      <p:ext uri="{BB962C8B-B14F-4D97-AF65-F5344CB8AC3E}">
        <p14:creationId xmlns:p14="http://schemas.microsoft.com/office/powerpoint/2010/main" val="291158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900</Words>
  <Application>Microsoft Office PowerPoint</Application>
  <PresentationFormat>Widescreen</PresentationFormat>
  <Paragraphs>53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Bookman Old Style</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Goutam Sahoo</dc:creator>
  <cp:lastModifiedBy>Arindam Mukherjee</cp:lastModifiedBy>
  <cp:revision>2</cp:revision>
  <dcterms:created xsi:type="dcterms:W3CDTF">2025-11-17T09:59:40Z</dcterms:created>
  <dcterms:modified xsi:type="dcterms:W3CDTF">2025-11-24T13:57:38Z</dcterms:modified>
</cp:coreProperties>
</file>