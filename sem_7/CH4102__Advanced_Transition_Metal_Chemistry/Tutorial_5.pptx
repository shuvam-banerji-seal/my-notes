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ED7B5-A4A6-50B1-E2E0-E1A14CD9A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F8D93-C5BB-583F-E2A4-1B1B8EFA4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F17CF-D1EE-FBF4-A068-88D1CB78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CD1AC-DBFA-EA38-B100-B81C1E9E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960F0-8D6D-2CFF-362C-2084CA08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63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6773-FA6E-80E6-7B14-A95E6552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ED111-3FEE-6ED5-9422-4BFA12138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6BCEE-13FA-3E74-9716-68B02F70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4F937-E776-300C-D97A-B64814D0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F16C5-9AA3-9A03-B943-17542BD4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D720-0ED5-A152-2B89-9546E6449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081E1-A204-DA11-7511-DFA82DD72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E5C27-EA69-2BD9-7F56-A4B748616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46905-D654-37C4-E850-BD2BEE5F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66D0A-86A8-6609-30F1-F7B2403D6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59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3FE0-3117-393A-B9FF-31F39B67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C1D6C-4DBB-586B-C51D-825BBDEF3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9B83F-0CED-B6D2-2030-4C62E9A6A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81D40-28F8-ED59-6110-2CC6BABB8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6D6E4-3C3F-9C6B-BC9E-FEEF9597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E9B21-F04B-9FFA-306F-C7722EB7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04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71B6-2C78-9043-6FB3-765A017B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6F8D3-104D-A406-3716-58B75DDB8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0E3C3-C0C1-4EAB-45D4-25DA9873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56792-538B-85FF-E8E9-F143BF6CA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FFE43-B928-A186-6289-C259BB132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A47A3F-7843-2098-D96F-05380F48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E06C3-44B7-207F-49D7-8F63BD63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DB0AA-9A12-4F45-F0C3-6713AF7E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1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36DF4-0EBD-EFFA-91F9-B26A4A34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F0C38-C13E-EF24-17DD-77880CE67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A3725-81D5-69F1-3ED5-BF50581E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05FFA-1EDB-EBB4-8148-0B7CD346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8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DFC565-6888-A98E-A606-995EB640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2075F-6E5D-B98E-004C-3784E14F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F0417-C300-C186-FB57-3F8B861D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987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B7CD-8A36-80C0-4362-18767E7D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F0FBE-C14C-3365-D1F0-0BADF83F6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873CF-4122-E132-7AE5-C93BD71C4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59089-BF11-702B-10D2-25882A5B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1EE50-4708-456B-8256-2ACC671F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6D79A-4712-8773-22DC-19FF9CC5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72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D716-6D65-5FC9-D580-0A10B582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4DADA-27E3-6586-B810-463D18591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2338E-864F-E3A7-CDFF-B472CC7AA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51ACA-D753-C069-AFE0-32EBD57D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38AC4-8D92-4195-4733-6AF54D10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28B22-5B33-8F13-F905-692D0C79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08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4E5A-A71F-1E54-E2E6-51C81FB3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BEEA6-FD26-2067-4941-30790F3B9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ED77C-8255-C6A7-1D39-4C89C9A6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C277-32EB-3E9F-4ED0-D45CE142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F4AF8-1CE6-BABA-9157-5C68D186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55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B8E73E-78FC-D80A-CBBE-F74503543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9FECF-B010-2F61-6762-B95989D9C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72D29-5BA3-90FC-1FC2-20CF6D8D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B293A-D5E5-1A2E-102D-4FA81CF5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105B2-3913-D6B2-A0A4-92BC04E7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31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37D10-8F5F-5EBC-067D-9EBA4418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F1A1C-2E97-9FFF-C611-FEEDD5708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23B76-68E8-32D8-5D20-F903EE403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22894-1737-4348-BD99-8E7837B3F953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FE738-34DE-AD38-9EE0-6FEA330E4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FA3BE-A09D-BC98-B482-22CC8B446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A6F75-01DE-4052-8667-19D55A8BE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3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D2DA3-8D91-4670-C144-DC1834B501FF}"/>
              </a:ext>
            </a:extLst>
          </p:cNvPr>
          <p:cNvSpPr/>
          <p:nvPr/>
        </p:nvSpPr>
        <p:spPr>
          <a:xfrm>
            <a:off x="182880" y="4551680"/>
            <a:ext cx="7366000" cy="3759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F7A26-0D18-5A28-514D-86173B994C00}"/>
              </a:ext>
            </a:extLst>
          </p:cNvPr>
          <p:cNvSpPr/>
          <p:nvPr/>
        </p:nvSpPr>
        <p:spPr>
          <a:xfrm>
            <a:off x="182880" y="1605280"/>
            <a:ext cx="2357120" cy="4876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32F17-EF07-1942-9B2E-5B930D5AB411}"/>
              </a:ext>
            </a:extLst>
          </p:cNvPr>
          <p:cNvSpPr txBox="1"/>
          <p:nvPr/>
        </p:nvSpPr>
        <p:spPr>
          <a:xfrm>
            <a:off x="182880" y="152400"/>
            <a:ext cx="1040464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Q1.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classic synthesis of cisplatin relies primarily on which chemical principle?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Trans-cyclization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Chelate effect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Trans effect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Oxidative addition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3EBD0-F3FB-3397-027A-F5AC44EA2707}"/>
              </a:ext>
            </a:extLst>
          </p:cNvPr>
          <p:cNvSpPr txBox="1"/>
          <p:nvPr/>
        </p:nvSpPr>
        <p:spPr>
          <a:xfrm>
            <a:off x="182880" y="3012282"/>
            <a:ext cx="975299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Q2. Cisplatin resistance often arises because cellular thiols (e.g., glutathione):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Oxidize Pt(II) to Pt(IV)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Reduce Pt(II) to Pt(0)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Bind to Pt(II) and sequester it, preventing DNA binding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Block transport through cell membranes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41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691690-A5AA-3C2B-598F-EA821EA7D9CB}"/>
              </a:ext>
            </a:extLst>
          </p:cNvPr>
          <p:cNvSpPr/>
          <p:nvPr/>
        </p:nvSpPr>
        <p:spPr>
          <a:xfrm>
            <a:off x="71121" y="4084320"/>
            <a:ext cx="4135119" cy="3704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871451-EDD6-5BB4-154E-0F98B3B07352}"/>
              </a:ext>
            </a:extLst>
          </p:cNvPr>
          <p:cNvSpPr/>
          <p:nvPr/>
        </p:nvSpPr>
        <p:spPr>
          <a:xfrm>
            <a:off x="294640" y="1554480"/>
            <a:ext cx="4917440" cy="3149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18867-1D33-3B33-4D9F-1ADBC93D68DE}"/>
              </a:ext>
            </a:extLst>
          </p:cNvPr>
          <p:cNvSpPr txBox="1"/>
          <p:nvPr/>
        </p:nvSpPr>
        <p:spPr>
          <a:xfrm>
            <a:off x="172720" y="0"/>
            <a:ext cx="852271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Q3. The correct general bond strength order for Pt(II) complexes is:</a:t>
            </a:r>
          </a:p>
          <a:p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Pt–N &gt; Pt–C(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 Pt–O &gt; Pt–C(sp³)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Pt–O &gt; Pt–C(sp³) &gt; Pt–N &gt; Pt–C(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Pt–C(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 Pt–O &gt; Pt–N &gt; Pt–C(sp³)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Pt–C(sp³) &gt; Pt–C(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 Pt–N &gt; Pt–O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7C07B-5B87-6B12-2EAF-DFCA6BFE64C8}"/>
              </a:ext>
            </a:extLst>
          </p:cNvPr>
          <p:cNvSpPr txBox="1"/>
          <p:nvPr/>
        </p:nvSpPr>
        <p:spPr>
          <a:xfrm>
            <a:off x="71121" y="2585323"/>
            <a:ext cx="1194816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Q4. Which of the following is the primary cytotoxic mechanism of platinum-based chemotherapeutic drugs?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Inhibition of topoisomerase II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Formation of DNA crosslinks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Inhibition of ribosomal protein synthesis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Inhibition of folate metabolism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10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49CB30-B40E-2813-864A-816EA7B9B463}"/>
              </a:ext>
            </a:extLst>
          </p:cNvPr>
          <p:cNvSpPr/>
          <p:nvPr/>
        </p:nvSpPr>
        <p:spPr>
          <a:xfrm>
            <a:off x="274320" y="3901440"/>
            <a:ext cx="2987040" cy="3962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CE587-8314-270A-0ECA-BCA4E7AF081F}"/>
              </a:ext>
            </a:extLst>
          </p:cNvPr>
          <p:cNvSpPr/>
          <p:nvPr/>
        </p:nvSpPr>
        <p:spPr>
          <a:xfrm>
            <a:off x="1473200" y="1564640"/>
            <a:ext cx="3413760" cy="4470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F315D-4E7E-69C3-97A5-250C817CBEDD}"/>
              </a:ext>
            </a:extLst>
          </p:cNvPr>
          <p:cNvSpPr txBox="1"/>
          <p:nvPr/>
        </p:nvSpPr>
        <p:spPr>
          <a:xfrm>
            <a:off x="91440" y="139209"/>
            <a:ext cx="922528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Q5. Cisplatin primarily forms which type of DNA adduct?</a:t>
            </a:r>
          </a:p>
          <a:p>
            <a:pPr marL="457200" indent="-228600"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A. Intercalating adduct</a:t>
            </a:r>
          </a:p>
          <a:p>
            <a:pPr marL="457200" indent="-228600"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B. DNA–protein crosslink</a:t>
            </a:r>
          </a:p>
          <a:p>
            <a:pPr marL="457200" indent="-228600"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C. Intra</a:t>
            </a:r>
            <a:r>
              <a:rPr 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strand crosslink</a:t>
            </a:r>
          </a:p>
          <a:p>
            <a:pPr marL="457200" indent="-228600"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D. Double-strand break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0F480-FE74-006D-7E8F-A43457B70840}"/>
              </a:ext>
            </a:extLst>
          </p:cNvPr>
          <p:cNvSpPr txBox="1"/>
          <p:nvPr/>
        </p:nvSpPr>
        <p:spPr>
          <a:xfrm>
            <a:off x="0" y="2841407"/>
            <a:ext cx="86360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Q6. Which DNA bases are most commonly targeted by cisplatin?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A. Adenine-Adenine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Guanine-Guanine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Cytosine-Cytosine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Thymine-Thymine</a:t>
            </a:r>
          </a:p>
        </p:txBody>
      </p:sp>
    </p:spTree>
    <p:extLst>
      <p:ext uri="{BB962C8B-B14F-4D97-AF65-F5344CB8AC3E}">
        <p14:creationId xmlns:p14="http://schemas.microsoft.com/office/powerpoint/2010/main" val="160290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B041D3-30B8-D0C5-586B-44FCCB06434A}"/>
              </a:ext>
            </a:extLst>
          </p:cNvPr>
          <p:cNvSpPr/>
          <p:nvPr/>
        </p:nvSpPr>
        <p:spPr>
          <a:xfrm>
            <a:off x="182880" y="3586480"/>
            <a:ext cx="2214880" cy="3962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DCD361-FDBF-A3AC-002B-09F3C13AB0D0}"/>
              </a:ext>
            </a:extLst>
          </p:cNvPr>
          <p:cNvSpPr/>
          <p:nvPr/>
        </p:nvSpPr>
        <p:spPr>
          <a:xfrm>
            <a:off x="182880" y="1016000"/>
            <a:ext cx="4775200" cy="4368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70595-EBA3-079C-26AC-40F425603ED5}"/>
              </a:ext>
            </a:extLst>
          </p:cNvPr>
          <p:cNvSpPr txBox="1"/>
          <p:nvPr/>
        </p:nvSpPr>
        <p:spPr>
          <a:xfrm>
            <a:off x="0" y="0"/>
            <a:ext cx="114808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Q7. What cellular process is most disrupted by cisplatin-induced DNA damage?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A. RNA splicing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DNA replication and transcription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Glycolysis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Mitochondrial ATP production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F5FAF1-169C-1264-0C9C-F0A2C1F50816}"/>
              </a:ext>
            </a:extLst>
          </p:cNvPr>
          <p:cNvSpPr txBox="1"/>
          <p:nvPr/>
        </p:nvSpPr>
        <p:spPr>
          <a:xfrm>
            <a:off x="-30480" y="2563195"/>
            <a:ext cx="1131316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Q8. Which platinum drug is less nephrotoxic due to differences in its leaving group?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A. Cisplatin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Carboplatin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Oxaliplatin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Nedaplatin</a:t>
            </a:r>
          </a:p>
        </p:txBody>
      </p:sp>
    </p:spTree>
    <p:extLst>
      <p:ext uri="{BB962C8B-B14F-4D97-AF65-F5344CB8AC3E}">
        <p14:creationId xmlns:p14="http://schemas.microsoft.com/office/powerpoint/2010/main" val="321610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D762EC-3930-D536-73B8-A8D1B0EBD483}"/>
              </a:ext>
            </a:extLst>
          </p:cNvPr>
          <p:cNvSpPr/>
          <p:nvPr/>
        </p:nvSpPr>
        <p:spPr>
          <a:xfrm>
            <a:off x="254000" y="5344160"/>
            <a:ext cx="3860800" cy="4267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6B1FA0-05F9-1CD6-F7D7-EB44710C46ED}"/>
              </a:ext>
            </a:extLst>
          </p:cNvPr>
          <p:cNvSpPr/>
          <p:nvPr/>
        </p:nvSpPr>
        <p:spPr>
          <a:xfrm>
            <a:off x="254000" y="2235200"/>
            <a:ext cx="6004560" cy="3759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AF9A9C-67F4-DCF5-DB00-89F1695918F1}"/>
              </a:ext>
            </a:extLst>
          </p:cNvPr>
          <p:cNvSpPr txBox="1"/>
          <p:nvPr/>
        </p:nvSpPr>
        <p:spPr>
          <a:xfrm>
            <a:off x="0" y="214548"/>
            <a:ext cx="11074400" cy="294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Q9. The antitumor activity of oxaliplatin is partly attributed to which unique feature?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Chloride leaving groups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IN" sz="24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Diammine</a:t>
            </a: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ligand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DACH (</a:t>
            </a:r>
            <a:r>
              <a:rPr lang="en-IN" sz="24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diaminocyclohexane</a:t>
            </a: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carrier ligand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Cyclophosphamide co-administration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75CAB-BB7F-91AC-448B-99D71E2DC1BC}"/>
              </a:ext>
            </a:extLst>
          </p:cNvPr>
          <p:cNvSpPr txBox="1"/>
          <p:nvPr/>
        </p:nvSpPr>
        <p:spPr>
          <a:xfrm>
            <a:off x="-60960" y="3429000"/>
            <a:ext cx="11938000" cy="2847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Q10. Which cellular repair pathway is primarily responsible for removing platinum-DNA adducts?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Homologous recombination repair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Base excision repair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Nucleotide excision repair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Mismatch repair</a:t>
            </a:r>
          </a:p>
        </p:txBody>
      </p:sp>
    </p:spTree>
    <p:extLst>
      <p:ext uri="{BB962C8B-B14F-4D97-AF65-F5344CB8AC3E}">
        <p14:creationId xmlns:p14="http://schemas.microsoft.com/office/powerpoint/2010/main" val="49133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8A29B-14AE-3730-4BB9-C60C665B6A54}"/>
              </a:ext>
            </a:extLst>
          </p:cNvPr>
          <p:cNvSpPr/>
          <p:nvPr/>
        </p:nvSpPr>
        <p:spPr>
          <a:xfrm>
            <a:off x="213360" y="3759200"/>
            <a:ext cx="2651760" cy="4673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4D6139-071E-5F5E-F400-5D3DA90340C7}"/>
              </a:ext>
            </a:extLst>
          </p:cNvPr>
          <p:cNvSpPr/>
          <p:nvPr/>
        </p:nvSpPr>
        <p:spPr>
          <a:xfrm>
            <a:off x="213360" y="1493520"/>
            <a:ext cx="1798320" cy="4775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97F00-5436-8A55-5299-AE0C61B42187}"/>
              </a:ext>
            </a:extLst>
          </p:cNvPr>
          <p:cNvSpPr txBox="1"/>
          <p:nvPr/>
        </p:nvSpPr>
        <p:spPr>
          <a:xfrm>
            <a:off x="0" y="0"/>
            <a:ext cx="89916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Q11. Cisplatin activation inside cells requires which process?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Oxidation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Reduction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Aquation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Methylation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FAD3B-9D8C-8836-ACFD-4F80CE4730E9}"/>
              </a:ext>
            </a:extLst>
          </p:cNvPr>
          <p:cNvSpPr txBox="1"/>
          <p:nvPr/>
        </p:nvSpPr>
        <p:spPr>
          <a:xfrm>
            <a:off x="0" y="2719496"/>
            <a:ext cx="1042416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Q12. Which protein is known to bind platinum drugs and contribute to resistance?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Tubulin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Metallothionein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Albumin</a:t>
            </a:r>
          </a:p>
          <a:p>
            <a:pPr marL="457200" indent="-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GTPase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20D9D-D375-C838-5668-DA4603879474}"/>
              </a:ext>
            </a:extLst>
          </p:cNvPr>
          <p:cNvSpPr txBox="1"/>
          <p:nvPr/>
        </p:nvSpPr>
        <p:spPr>
          <a:xfrm>
            <a:off x="162560" y="5438992"/>
            <a:ext cx="1125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Q13. </a:t>
            </a:r>
            <a:r>
              <a:rPr lang="en-US" sz="2400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ntimony is thought to be converted </a:t>
            </a:r>
            <a:r>
              <a:rPr lang="en-US" sz="2400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one form to another oxidation state inside the parasite to exert its toxic effects. Mention the oxidation changes.</a:t>
            </a:r>
            <a:endParaRPr lang="en-US" sz="24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640593-D291-0F07-0AAD-9A90D0FF3FA3}"/>
              </a:ext>
            </a:extLst>
          </p:cNvPr>
          <p:cNvSpPr txBox="1"/>
          <p:nvPr/>
        </p:nvSpPr>
        <p:spPr>
          <a:xfrm>
            <a:off x="2275840" y="6211153"/>
            <a:ext cx="6278880" cy="46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Ans:- Sb(V) to Sb(III)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05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38D9DD-6B36-E9F6-B16F-606B01DFA6F5}"/>
              </a:ext>
            </a:extLst>
          </p:cNvPr>
          <p:cNvSpPr/>
          <p:nvPr/>
        </p:nvSpPr>
        <p:spPr>
          <a:xfrm>
            <a:off x="0" y="5181600"/>
            <a:ext cx="5455920" cy="3945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A8553-F1E2-1475-0B6E-4C886165BD54}"/>
              </a:ext>
            </a:extLst>
          </p:cNvPr>
          <p:cNvSpPr/>
          <p:nvPr/>
        </p:nvSpPr>
        <p:spPr>
          <a:xfrm>
            <a:off x="124460" y="2560871"/>
            <a:ext cx="5232400" cy="5029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DACEB-616D-6249-37B3-74339E9EBC6D}"/>
              </a:ext>
            </a:extLst>
          </p:cNvPr>
          <p:cNvSpPr txBox="1"/>
          <p:nvPr/>
        </p:nvSpPr>
        <p:spPr>
          <a:xfrm>
            <a:off x="0" y="48466"/>
            <a:ext cx="10434320" cy="1851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Q14. Antimony compounds are believed to induce cell death in Leishmania by causing</a:t>
            </a:r>
            <a:r>
              <a:rPr lang="en-US" sz="2400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</a:t>
            </a: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Answer:- </a:t>
            </a: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Apoptosis-like processes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n-US" sz="24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76B8B-A5F5-C14C-145B-453EC38AC3CE}"/>
              </a:ext>
            </a:extLst>
          </p:cNvPr>
          <p:cNvSpPr txBox="1"/>
          <p:nvPr/>
        </p:nvSpPr>
        <p:spPr>
          <a:xfrm>
            <a:off x="-440688" y="1586355"/>
            <a:ext cx="121589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Q15. What is the </a:t>
            </a:r>
            <a:r>
              <a:rPr lang="en-US" sz="2400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effect of antimony drugs on the redox status of parasites</a:t>
            </a:r>
            <a:r>
              <a:rPr lang="en-IN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Increased antioxidant capacity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Oxidative stress due to thiol depletion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Increased glutathione synthesis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D. Enhanced mitochondrial respiration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686AD-03F1-E110-7EFE-A6E99E464F7B}"/>
              </a:ext>
            </a:extLst>
          </p:cNvPr>
          <p:cNvSpPr txBox="1"/>
          <p:nvPr/>
        </p:nvSpPr>
        <p:spPr>
          <a:xfrm>
            <a:off x="0" y="4184526"/>
            <a:ext cx="1206754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Q16. Gallium mimics ferric iron (Fe³</a:t>
            </a: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⁺</a:t>
            </a: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in biological systems because: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It binds to </a:t>
            </a:r>
            <a:r>
              <a:rPr lang="en-US" sz="24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haemoglobin</a:t>
            </a:r>
            <a:endParaRPr lang="en-US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It has a similar ionic radius and charge</a:t>
            </a:r>
            <a:endParaRPr lang="en-US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It activates heme synthesis</a:t>
            </a:r>
            <a:endParaRPr lang="en-US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It is reduced to Ga²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⁺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easily</a:t>
            </a:r>
            <a:endParaRPr lang="en-US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72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98BE52-2CB8-6D84-5AAA-1F91303D9EF7}"/>
              </a:ext>
            </a:extLst>
          </p:cNvPr>
          <p:cNvSpPr/>
          <p:nvPr/>
        </p:nvSpPr>
        <p:spPr>
          <a:xfrm>
            <a:off x="81280" y="3566160"/>
            <a:ext cx="6319520" cy="54864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9DEC3D-FC71-EA92-27BE-5EDCF23616F6}"/>
              </a:ext>
            </a:extLst>
          </p:cNvPr>
          <p:cNvSpPr/>
          <p:nvPr/>
        </p:nvSpPr>
        <p:spPr>
          <a:xfrm>
            <a:off x="81280" y="1036320"/>
            <a:ext cx="5303520" cy="3860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E80FC-3901-9980-CC0A-44B1E9347E08}"/>
              </a:ext>
            </a:extLst>
          </p:cNvPr>
          <p:cNvSpPr txBox="1"/>
          <p:nvPr/>
        </p:nvSpPr>
        <p:spPr>
          <a:xfrm>
            <a:off x="0" y="0"/>
            <a:ext cx="92252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Q17. The antimicrobial action of gallium compounds is mainly due to: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Inhibition of bacterial folate synthesis</a:t>
            </a:r>
            <a:endParaRPr lang="en-US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Substitution of iron in critical enzymes</a:t>
            </a:r>
            <a:endParaRPr lang="en-US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Breakdown of bacterial membranes</a:t>
            </a:r>
            <a:endParaRPr lang="en-US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Activation of macrophages</a:t>
            </a:r>
            <a:endParaRPr lang="en-US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B7E44-08EB-55AF-7380-3603EC0A7862}"/>
              </a:ext>
            </a:extLst>
          </p:cNvPr>
          <p:cNvSpPr txBox="1"/>
          <p:nvPr/>
        </p:nvSpPr>
        <p:spPr>
          <a:xfrm>
            <a:off x="0" y="2599287"/>
            <a:ext cx="91440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Q18. Bacteria fail to use gallium for metabolic processes because: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Gallium cannot bind proteins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Gallium cannot undergo redox cycling like iron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 Gallium is too large to enter cells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Gallium blocks ATP synthase directly</a:t>
            </a:r>
            <a:endParaRPr lang="en-I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58CE5-0E97-2788-DFF1-DA99C1CD1015}"/>
              </a:ext>
            </a:extLst>
          </p:cNvPr>
          <p:cNvSpPr txBox="1"/>
          <p:nvPr/>
        </p:nvSpPr>
        <p:spPr>
          <a:xfrm>
            <a:off x="304800" y="5432919"/>
            <a:ext cx="9448800" cy="1871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Q19. Gold drugs are primarily used in the treatment of: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Rheumatoid arthritis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US" sz="24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US" sz="1800" kern="100" dirty="0">
              <a:solidFill>
                <a:srgbClr val="C00000"/>
              </a:solidFill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09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731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Goutam Sahoo</dc:creator>
  <cp:lastModifiedBy>Goutam Sahoo</cp:lastModifiedBy>
  <cp:revision>2</cp:revision>
  <dcterms:created xsi:type="dcterms:W3CDTF">2025-11-24T07:39:35Z</dcterms:created>
  <dcterms:modified xsi:type="dcterms:W3CDTF">2025-11-25T09:36:13Z</dcterms:modified>
</cp:coreProperties>
</file>