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99C63-DDCE-29B5-6F99-949F12C383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D772D-2345-17AA-4374-AB3E32D36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8F11F-E5BD-1840-1FC2-2C70B2FD1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FAE8-7BAA-4131-8F0D-FBB6800331F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22711-81B7-238C-F457-99FAA5D26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C7593-E0BF-F603-897C-B06470BFD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CA9AD-A8AE-49E1-AA4D-776BFCCA3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11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BFB73-D927-A5B8-2049-80A0F6D03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EDCD8-2460-BDA6-B8F4-30E8C6CDB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AD06D-682B-4885-8FD2-6567C0C2E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FAE8-7BAA-4131-8F0D-FBB6800331F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07E62-C80F-C0F0-CD36-319180155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2BB0E-AD62-B3C1-8007-27DE7AC9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CA9AD-A8AE-49E1-AA4D-776BFCCA3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457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3C505-C27A-289E-CD0E-FD1A17302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128EF-8671-C433-C5B5-7373601CA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7B6FE-E8F6-5E34-E704-95A2187BB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FAE8-7BAA-4131-8F0D-FBB6800331F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93D3A-1E62-A5C6-7341-804308BA9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BDC09-7A51-844C-F17F-FB52488D0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CA9AD-A8AE-49E1-AA4D-776BFCCA3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334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764F5-A60A-FF59-58A1-19C823CD9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4B777-41AC-39AF-1D76-72DB3CB06C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8BF136-6431-DC30-4C83-F723EBF0E9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A05E4E-B2A9-8710-4C57-36A3B6A75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FAE8-7BAA-4131-8F0D-FBB6800331F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51F5C-94C5-DE53-587F-23837680F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81FDE-392F-D91A-65C3-399AAE553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CA9AD-A8AE-49E1-AA4D-776BFCCA3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719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B20B9-5901-D84A-2EB3-CD2072B09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07548-EDAC-10AD-02D2-6003360E3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0E2AF8-88CF-BB79-E5DB-C77A02B20C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BC57B0-0EBB-6269-4CE8-F0A9A21A6A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4D6BBF-1034-2189-84C7-9863E2034A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4649EF-508F-8489-3E6D-83C2A223B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FAE8-7BAA-4131-8F0D-FBB6800331F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6DA84E-560D-F6B6-31F5-7D9521969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31FF2C-D155-26F4-C730-13B7DF541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CA9AD-A8AE-49E1-AA4D-776BFCCA3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685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D6B20-101C-15D8-5457-63AA953A9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E3AFAF-F030-5715-7513-51C7D0E5E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FAE8-7BAA-4131-8F0D-FBB6800331F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B58256-1259-F3AC-A3EB-306A465A1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E6E4F6-31C3-F3AA-ED21-9B00AB691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CA9AD-A8AE-49E1-AA4D-776BFCCA3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735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B9C5BC-E0E2-D6FA-498F-AC7939C1A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FAE8-7BAA-4131-8F0D-FBB6800331F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E23D26-4782-19B9-9AE6-C6CDF1DCB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55999-6106-04AC-312B-AF0052A6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CA9AD-A8AE-49E1-AA4D-776BFCCA3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889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0EEFF-485B-FCFD-2912-C3A942E6C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05F95-C537-0D26-98C6-CF01FEC69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3D092E-B962-D560-C3C1-6F33BFD75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9CB72D-791D-A5AF-77E3-5B8F86CB9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FAE8-7BAA-4131-8F0D-FBB6800331F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590817-0DEA-2879-C8CC-B9921FF51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64B4F-EC9C-24E4-29F8-4E21B2C35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CA9AD-A8AE-49E1-AA4D-776BFCCA3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211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83808-D0A7-79A1-CBFA-99EB2496A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29C21C-1261-1419-1290-1F93E74B34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9AC3A-8F2F-95E6-E432-41B878B12B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7C327-0736-B34B-21A1-A31234B61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FAE8-7BAA-4131-8F0D-FBB6800331F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9E74A0-721D-E98F-950E-55358B3F6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6AE703-E598-2DDB-6739-21F6AF473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CA9AD-A8AE-49E1-AA4D-776BFCCA3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805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FC8D5-3EC0-FAD8-5AD2-756044911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87376D-8CF3-4470-1209-6BA1A131F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5028F-E9BB-59D1-1DC4-9E806F8BA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FAE8-7BAA-4131-8F0D-FBB6800331F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296BA-A090-88FC-E183-50D507F75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D314B-E617-CF62-F863-24F05BE52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CA9AD-A8AE-49E1-AA4D-776BFCCA3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838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FFDA03-AC55-287C-A99A-0A8631F2AD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87D71F-FF1E-7DB2-ED30-EB00FF7C58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182AF-78B2-6411-057E-86904F1A3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FAE8-7BAA-4131-8F0D-FBB6800331F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4A48D-25E1-21AF-B2D3-6B4AB6BE9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BFF68-2985-CDEA-C8EF-BE87E38F7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CA9AD-A8AE-49E1-AA4D-776BFCCA3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190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6AEA0F-05B0-DD9E-D5E6-E12119E90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4AE05-E46F-DD6A-8A7C-924957799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D724C-F4C2-3136-59CA-A63530040E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7FAE8-7BAA-4131-8F0D-FBB6800331F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198AA-B3D2-2914-0936-FE9FCEC28C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249E8-6AA4-FC14-32CB-4A4173461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CA9AD-A8AE-49E1-AA4D-776BFCCA3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252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.emf"/><Relationship Id="rId7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emf"/><Relationship Id="rId5" Type="http://schemas.openxmlformats.org/officeDocument/2006/relationships/image" Target="../media/image2.e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546964-71FC-BB71-F118-95A8C649B6F2}"/>
              </a:ext>
            </a:extLst>
          </p:cNvPr>
          <p:cNvSpPr txBox="1"/>
          <p:nvPr/>
        </p:nvSpPr>
        <p:spPr>
          <a:xfrm>
            <a:off x="94270" y="1207685"/>
            <a:ext cx="10235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2. Write down the no. of different types of proton present in each molecule and then show their splitting. 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C8D4FDD-42AF-4B6B-A5DA-A649891703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3128793"/>
              </p:ext>
            </p:extLst>
          </p:nvPr>
        </p:nvGraphicFramePr>
        <p:xfrm>
          <a:off x="4528440" y="1731485"/>
          <a:ext cx="1367089" cy="1168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711531" imgH="608312" progId="ChemDraw.Document.6.0">
                  <p:embed/>
                </p:oleObj>
              </mc:Choice>
              <mc:Fallback>
                <p:oleObj name="CS ChemDraw Drawing" r:id="rId2" imgW="711531" imgH="608312" progId="ChemDraw.Document.6.0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844C2865-EB12-EFEA-A856-5839B4A038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28440" y="1731485"/>
                        <a:ext cx="1367089" cy="11687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6FBDBE2-BA66-A52A-F8F8-73DD9969BB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9007428"/>
              </p:ext>
            </p:extLst>
          </p:nvPr>
        </p:nvGraphicFramePr>
        <p:xfrm>
          <a:off x="2264244" y="1835596"/>
          <a:ext cx="1367089" cy="1168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711531" imgH="608312" progId="ChemDraw.Document.6.0">
                  <p:embed/>
                </p:oleObj>
              </mc:Choice>
              <mc:Fallback>
                <p:oleObj name="CS ChemDraw Drawing" r:id="rId4" imgW="711531" imgH="608312" progId="ChemDraw.Document.6.0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C840193C-0F9C-A438-76E4-EAFA232D10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64244" y="1835596"/>
                        <a:ext cx="1367089" cy="11687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0B70989C-2F56-106B-8845-8A86F62FE7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7912467"/>
              </p:ext>
            </p:extLst>
          </p:nvPr>
        </p:nvGraphicFramePr>
        <p:xfrm>
          <a:off x="6792636" y="1585481"/>
          <a:ext cx="1367090" cy="11717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711531" imgH="609584" progId="ChemDraw.Document.6.0">
                  <p:embed/>
                </p:oleObj>
              </mc:Choice>
              <mc:Fallback>
                <p:oleObj name="CS ChemDraw Drawing" r:id="rId6" imgW="711531" imgH="609584" progId="ChemDraw.Document.6.0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22A79DB0-CDAA-0F31-5087-D9A1CAABD9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792636" y="1585481"/>
                        <a:ext cx="1367090" cy="11717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BFC09F0-AF87-B027-2D90-BBE4AB345014}"/>
              </a:ext>
            </a:extLst>
          </p:cNvPr>
          <p:cNvSpPr txBox="1"/>
          <p:nvPr/>
        </p:nvSpPr>
        <p:spPr>
          <a:xfrm>
            <a:off x="121552" y="3403995"/>
            <a:ext cx="110670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B2B2B"/>
                </a:solidFill>
              </a:rPr>
              <a:t>3</a:t>
            </a:r>
            <a:r>
              <a:rPr lang="en-US" b="0" i="0" dirty="0">
                <a:solidFill>
                  <a:srgbClr val="2B2B2B"/>
                </a:solidFill>
                <a:effectLst/>
              </a:rPr>
              <a:t>. </a:t>
            </a:r>
            <a:r>
              <a:rPr lang="en-US" b="0" i="0" u="none" strike="noStrike" baseline="30000" dirty="0">
                <a:solidFill>
                  <a:srgbClr val="2B2B2B"/>
                </a:solidFill>
                <a:effectLst/>
              </a:rPr>
              <a:t>1</a:t>
            </a:r>
            <a:r>
              <a:rPr lang="en-US" b="0" i="0" dirty="0">
                <a:solidFill>
                  <a:srgbClr val="2B2B2B"/>
                </a:solidFill>
                <a:effectLst/>
              </a:rPr>
              <a:t>H NMR spectrum of an organic compound recorded on a 500 MHz spectrometer showed a quartet with line positions at 1759, 1753, 1747, 1741 Hz. Find the chemical shift (δ) and coupling constant (Hz) of the quartet. </a:t>
            </a:r>
          </a:p>
          <a:p>
            <a:r>
              <a:rPr lang="en-US" dirty="0">
                <a:solidFill>
                  <a:srgbClr val="2B2B2B"/>
                </a:solidFill>
              </a:rPr>
              <a:t>                                                                                                                                                                                            </a:t>
            </a:r>
            <a:r>
              <a:rPr lang="en-US" dirty="0"/>
              <a:t>(CSIR NET)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E0D5E0-C65D-E802-790B-40A9E2B39B28}"/>
              </a:ext>
            </a:extLst>
          </p:cNvPr>
          <p:cNvSpPr txBox="1"/>
          <p:nvPr/>
        </p:nvSpPr>
        <p:spPr>
          <a:xfrm>
            <a:off x="121552" y="113122"/>
            <a:ext cx="118023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 </a:t>
            </a:r>
            <a:r>
              <a:rPr lang="en-US" dirty="0"/>
              <a:t>In the 400 MHz ¹H NMR spectrum of an organic compound, a doublet is observed. The two lines of the doublet appear at δ 2.35 and 2.38 ppm. Calculate the coupling constant (J) value.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40ADE0-A0E6-0334-5B88-9B22D45A1D26}"/>
              </a:ext>
            </a:extLst>
          </p:cNvPr>
          <p:cNvSpPr txBox="1"/>
          <p:nvPr/>
        </p:nvSpPr>
        <p:spPr>
          <a:xfrm>
            <a:off x="94270" y="4697049"/>
            <a:ext cx="10835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4. Draw the NMR of the compounds with approximate δ value in correct order with labelling and proper splitting. </a:t>
            </a: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36237FC3-9A1B-2186-8C87-58A01A2DBB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9924293"/>
              </p:ext>
            </p:extLst>
          </p:nvPr>
        </p:nvGraphicFramePr>
        <p:xfrm>
          <a:off x="2808288" y="5461000"/>
          <a:ext cx="1849437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1223595" imgH="550195" progId="ChemDraw.Document.6.0">
                  <p:embed/>
                </p:oleObj>
              </mc:Choice>
              <mc:Fallback>
                <p:oleObj name="CS ChemDraw Drawing" r:id="rId8" imgW="1223595" imgH="550195" progId="ChemDraw.Document.6.0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477A75FB-460D-688A-01B9-01AC6098BF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808288" y="5461000"/>
                        <a:ext cx="1849437" cy="831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EEE9CAC7-B0CB-00DB-C9FC-2F50AB6199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6512566"/>
              </p:ext>
            </p:extLst>
          </p:nvPr>
        </p:nvGraphicFramePr>
        <p:xfrm>
          <a:off x="5510213" y="5073650"/>
          <a:ext cx="1511300" cy="138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1001162" imgH="919255" progId="ChemDraw.Document.6.0">
                  <p:embed/>
                </p:oleObj>
              </mc:Choice>
              <mc:Fallback>
                <p:oleObj name="CS ChemDraw Drawing" r:id="rId10" imgW="1001162" imgH="919255" progId="ChemDraw.Document.6.0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2CF96605-2DE2-DBC2-AC2F-FA880CE947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510213" y="5073650"/>
                        <a:ext cx="1511300" cy="1385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0929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A46B41-A9B0-8EC3-6AE7-8118CB0C8126}"/>
              </a:ext>
            </a:extLst>
          </p:cNvPr>
          <p:cNvSpPr txBox="1"/>
          <p:nvPr/>
        </p:nvSpPr>
        <p:spPr>
          <a:xfrm>
            <a:off x="131974" y="254051"/>
            <a:ext cx="112273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IN" b="0" i="0" u="none" strike="noStrike" dirty="0">
                <a:solidFill>
                  <a:srgbClr val="2B2B2B"/>
                </a:solidFill>
                <a:effectLst/>
              </a:rPr>
              <a:t>5. An organic compound (C</a:t>
            </a:r>
            <a:r>
              <a:rPr lang="en-IN" b="0" i="0" u="none" strike="noStrike" baseline="-25000" dirty="0">
                <a:solidFill>
                  <a:srgbClr val="2B2B2B"/>
                </a:solidFill>
                <a:effectLst/>
              </a:rPr>
              <a:t>10</a:t>
            </a:r>
            <a:r>
              <a:rPr lang="en-IN" b="0" i="0" u="none" strike="noStrike" dirty="0">
                <a:solidFill>
                  <a:srgbClr val="2B2B2B"/>
                </a:solidFill>
                <a:effectLst/>
              </a:rPr>
              <a:t>H</a:t>
            </a:r>
            <a:r>
              <a:rPr lang="en-IN" b="0" i="0" u="none" strike="noStrike" baseline="-25000" dirty="0">
                <a:solidFill>
                  <a:srgbClr val="2B2B2B"/>
                </a:solidFill>
                <a:effectLst/>
              </a:rPr>
              <a:t>12</a:t>
            </a:r>
            <a:r>
              <a:rPr lang="en-IN" b="0" i="0" u="none" strike="noStrike" dirty="0">
                <a:solidFill>
                  <a:srgbClr val="2B2B2B"/>
                </a:solidFill>
                <a:effectLst/>
              </a:rPr>
              <a:t>O</a:t>
            </a:r>
            <a:r>
              <a:rPr lang="en-IN" b="0" i="0" u="none" strike="noStrike" baseline="-25000" dirty="0">
                <a:solidFill>
                  <a:srgbClr val="2B2B2B"/>
                </a:solidFill>
                <a:effectLst/>
              </a:rPr>
              <a:t>2</a:t>
            </a:r>
            <a:r>
              <a:rPr lang="en-IN" b="0" i="0" u="none" strike="noStrike" dirty="0">
                <a:solidFill>
                  <a:srgbClr val="2B2B2B"/>
                </a:solidFill>
                <a:effectLst/>
              </a:rPr>
              <a:t>) exhibits  the following </a:t>
            </a:r>
            <a:r>
              <a:rPr lang="en-IN" b="0" i="0" u="none" strike="noStrike" baseline="30000" dirty="0">
                <a:solidFill>
                  <a:srgbClr val="2B2B2B"/>
                </a:solidFill>
                <a:effectLst/>
              </a:rPr>
              <a:t>1</a:t>
            </a:r>
            <a:r>
              <a:rPr lang="en-IN" b="0" i="0" u="none" strike="noStrike" dirty="0">
                <a:solidFill>
                  <a:srgbClr val="2B2B2B"/>
                </a:solidFill>
                <a:effectLst/>
              </a:rPr>
              <a:t>H NMR spectra data. Predict the structure</a:t>
            </a:r>
          </a:p>
          <a:p>
            <a:pPr algn="l" fontAlgn="base">
              <a:buNone/>
            </a:pPr>
            <a:br>
              <a:rPr lang="en-IN" b="0" i="0" u="none" strike="noStrike" dirty="0">
                <a:solidFill>
                  <a:srgbClr val="2B2B2B"/>
                </a:solidFill>
                <a:effectLst/>
              </a:rPr>
            </a:br>
            <a:r>
              <a:rPr lang="el-GR" b="0" i="0" dirty="0">
                <a:solidFill>
                  <a:srgbClr val="2B2B2B"/>
                </a:solidFill>
                <a:effectLst/>
              </a:rPr>
              <a:t>δ 7.80 (2</a:t>
            </a:r>
            <a:r>
              <a:rPr lang="en-IN" b="0" i="0" dirty="0">
                <a:solidFill>
                  <a:srgbClr val="2B2B2B"/>
                </a:solidFill>
                <a:effectLst/>
              </a:rPr>
              <a:t>H, d, J= 8 Hz), 6.80 (2H, d, J= 8 Hz), 4.10 (2H, q, J= 7.2 Hz), 2.4 (3H, s), 1.25 (3H, t, J= 7.2 Hz)</a:t>
            </a:r>
          </a:p>
          <a:p>
            <a:pPr fontAlgn="base"/>
            <a:r>
              <a:rPr lang="en-IN" dirty="0">
                <a:solidFill>
                  <a:srgbClr val="2B2B2B"/>
                </a:solidFill>
              </a:rPr>
              <a:t>                                                                                                                                                                                           </a:t>
            </a:r>
            <a:r>
              <a:rPr lang="en-US" dirty="0"/>
              <a:t>(GATE)</a:t>
            </a:r>
            <a:endParaRPr lang="en-IN" dirty="0"/>
          </a:p>
        </p:txBody>
      </p:sp>
      <p:pic>
        <p:nvPicPr>
          <p:cNvPr id="3" name="Picture 2" descr="Analyzing Coupling Constants">
            <a:extLst>
              <a:ext uri="{FF2B5EF4-FFF2-40B4-BE49-F238E27FC236}">
                <a16:creationId xmlns:a16="http://schemas.microsoft.com/office/drawing/2014/main" id="{B6566BDD-046B-6D86-1942-82E328B0A6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3" b="19171"/>
          <a:stretch>
            <a:fillRect/>
          </a:stretch>
        </p:blipFill>
        <p:spPr bwMode="auto">
          <a:xfrm>
            <a:off x="8547074" y="3629318"/>
            <a:ext cx="2571750" cy="1055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2D44AAD-D0D4-42D6-5AD6-1BE477CA5E68}"/>
              </a:ext>
            </a:extLst>
          </p:cNvPr>
          <p:cNvCxnSpPr/>
          <p:nvPr/>
        </p:nvCxnSpPr>
        <p:spPr>
          <a:xfrm>
            <a:off x="8574686" y="3124982"/>
            <a:ext cx="622169" cy="593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015C11D-C90B-F3F9-A227-73718A00A431}"/>
              </a:ext>
            </a:extLst>
          </p:cNvPr>
          <p:cNvCxnSpPr>
            <a:cxnSpLocks/>
          </p:cNvCxnSpPr>
          <p:nvPr/>
        </p:nvCxnSpPr>
        <p:spPr>
          <a:xfrm>
            <a:off x="9383604" y="2760812"/>
            <a:ext cx="84841" cy="868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94C0118-8BDC-D19F-B9C6-8EAD612CF933}"/>
              </a:ext>
            </a:extLst>
          </p:cNvPr>
          <p:cNvCxnSpPr>
            <a:cxnSpLocks/>
          </p:cNvCxnSpPr>
          <p:nvPr/>
        </p:nvCxnSpPr>
        <p:spPr>
          <a:xfrm flipH="1">
            <a:off x="10175456" y="2760812"/>
            <a:ext cx="350599" cy="868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34B9E62-5504-3F2B-E01A-C5C4A981F914}"/>
              </a:ext>
            </a:extLst>
          </p:cNvPr>
          <p:cNvCxnSpPr>
            <a:cxnSpLocks/>
          </p:cNvCxnSpPr>
          <p:nvPr/>
        </p:nvCxnSpPr>
        <p:spPr>
          <a:xfrm flipH="1">
            <a:off x="10397921" y="3132393"/>
            <a:ext cx="919986" cy="533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5F80328-14EA-F08A-6B9C-6C6E8B07F95A}"/>
              </a:ext>
            </a:extLst>
          </p:cNvPr>
          <p:cNvSpPr txBox="1"/>
          <p:nvPr/>
        </p:nvSpPr>
        <p:spPr>
          <a:xfrm>
            <a:off x="131974" y="2392126"/>
            <a:ext cx="75207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6. One proton peak split in doublet of doublet (as shown) due to presence of</a:t>
            </a:r>
          </a:p>
          <a:p>
            <a:r>
              <a:rPr lang="en-IN" dirty="0"/>
              <a:t> two types of neighbouring proton. Calculate the coupling constants.</a:t>
            </a:r>
          </a:p>
          <a:p>
            <a:r>
              <a:rPr lang="en-IN" dirty="0"/>
              <a:t>Given that the instrument frequency is 400 MHZ. The delta value of each peak</a:t>
            </a:r>
          </a:p>
          <a:p>
            <a:r>
              <a:rPr lang="en-IN" dirty="0"/>
              <a:t>Shown by arrow.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91F98E-5657-34BF-A6FE-F15ACB0FF79E}"/>
              </a:ext>
            </a:extLst>
          </p:cNvPr>
          <p:cNvSpPr txBox="1"/>
          <p:nvPr/>
        </p:nvSpPr>
        <p:spPr>
          <a:xfrm>
            <a:off x="7885972" y="2640900"/>
            <a:ext cx="107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2.82 ppm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82D0AC-B9F0-56B2-CA6A-F04B2D24551B}"/>
              </a:ext>
            </a:extLst>
          </p:cNvPr>
          <p:cNvSpPr txBox="1"/>
          <p:nvPr/>
        </p:nvSpPr>
        <p:spPr>
          <a:xfrm>
            <a:off x="8887828" y="2327684"/>
            <a:ext cx="107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2.80 ppm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C63599-1F8A-4AF8-AF08-0541F880652D}"/>
              </a:ext>
            </a:extLst>
          </p:cNvPr>
          <p:cNvSpPr txBox="1"/>
          <p:nvPr/>
        </p:nvSpPr>
        <p:spPr>
          <a:xfrm>
            <a:off x="10212565" y="2327684"/>
            <a:ext cx="107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2.77 ppm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449D92-1472-6401-185A-B279795ED764}"/>
              </a:ext>
            </a:extLst>
          </p:cNvPr>
          <p:cNvSpPr txBox="1"/>
          <p:nvPr/>
        </p:nvSpPr>
        <p:spPr>
          <a:xfrm>
            <a:off x="10822131" y="2699265"/>
            <a:ext cx="107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2.75 ppm</a:t>
            </a:r>
          </a:p>
        </p:txBody>
      </p:sp>
    </p:spTree>
    <p:extLst>
      <p:ext uri="{BB962C8B-B14F-4D97-AF65-F5344CB8AC3E}">
        <p14:creationId xmlns:p14="http://schemas.microsoft.com/office/powerpoint/2010/main" val="2104498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271</Words>
  <Application>Microsoft Office PowerPoint</Application>
  <PresentationFormat>Widescreen</PresentationFormat>
  <Paragraphs>16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CS ChemDraw Drawing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PRATIP BHATTACHARYYA</dc:creator>
  <cp:lastModifiedBy>PRATIP BHATTACHARYYA</cp:lastModifiedBy>
  <cp:revision>5</cp:revision>
  <dcterms:created xsi:type="dcterms:W3CDTF">2026-02-23T11:05:56Z</dcterms:created>
  <dcterms:modified xsi:type="dcterms:W3CDTF">2026-02-26T04:37:36Z</dcterms:modified>
</cp:coreProperties>
</file>