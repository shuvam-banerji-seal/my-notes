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gif" ContentType="image/gif"/>
  <Default Extension="vml" ContentType="application/vnd.openxmlformats-officedocument.vmlDrawing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90" r:id="rId2"/>
  </p:sldMasterIdLst>
  <p:notesMasterIdLst>
    <p:notesMasterId r:id="rId47"/>
  </p:notesMasterIdLst>
  <p:sldIdLst>
    <p:sldId id="275" r:id="rId3"/>
    <p:sldId id="257" r:id="rId4"/>
    <p:sldId id="258" r:id="rId5"/>
    <p:sldId id="397" r:id="rId6"/>
    <p:sldId id="476" r:id="rId7"/>
    <p:sldId id="477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2" r:id="rId22"/>
    <p:sldId id="302" r:id="rId23"/>
    <p:sldId id="293" r:id="rId24"/>
    <p:sldId id="294" r:id="rId25"/>
    <p:sldId id="478" r:id="rId26"/>
    <p:sldId id="306" r:id="rId27"/>
    <p:sldId id="311" r:id="rId28"/>
    <p:sldId id="308" r:id="rId29"/>
    <p:sldId id="312" r:id="rId30"/>
    <p:sldId id="309" r:id="rId31"/>
    <p:sldId id="314" r:id="rId32"/>
    <p:sldId id="310" r:id="rId33"/>
    <p:sldId id="315" r:id="rId34"/>
    <p:sldId id="316" r:id="rId35"/>
    <p:sldId id="313" r:id="rId36"/>
    <p:sldId id="317" r:id="rId37"/>
    <p:sldId id="318" r:id="rId38"/>
    <p:sldId id="319" r:id="rId39"/>
    <p:sldId id="320" r:id="rId40"/>
    <p:sldId id="497" r:id="rId41"/>
    <p:sldId id="479" r:id="rId42"/>
    <p:sldId id="295" r:id="rId43"/>
    <p:sldId id="323" r:id="rId44"/>
    <p:sldId id="324" r:id="rId45"/>
    <p:sldId id="325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CCFF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375" autoAdjust="0"/>
    <p:restoredTop sz="93782" autoAdjust="0"/>
  </p:normalViewPr>
  <p:slideViewPr>
    <p:cSldViewPr>
      <p:cViewPr>
        <p:scale>
          <a:sx n="100" d="100"/>
          <a:sy n="100" d="100"/>
        </p:scale>
        <p:origin x="-1068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2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FBA025A-17DA-4423-97D3-88B4A0DF4C22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8979CC79-412E-4FE5-AE09-5CDFF0D284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59166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79CC79-412E-4FE5-AE09-5CDFF0D2848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EB5E553-5BE3-4396-8F37-76EED6EE1DF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52C12AF-B225-4E76-A8A8-3AEEE24B6D0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7B3D27B-7904-45C5-A811-799F3949BADE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43C2EB1-7D66-486A-A135-3BD6F78F2A3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22339DD-37D5-4659-A656-DE22546F049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8997C69-78DB-44BA-93A4-47FFD59FC3D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5DA85D0-8765-4C12-ADC3-CDC5C3D4144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A0C7F11-34DE-4B11-9A8A-EF54DCD8197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B7FDC55-288C-4A5A-B079-B0800B02AA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573A1FA-8800-4CCA-8846-CC929975730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4318FF1-D004-4DBE-A31F-3EBB5A07E67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46568E7-FF39-46C5-B88E-438148A7EC9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CEC5AEB-DED1-4123-BAE9-931E24DE2B5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EAB205E-629F-4C06-B34D-079E282F25D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F0FCE32-43F9-4361-9E9E-D486E6C7D41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53B78D3-1E1F-49EA-9D98-55325CD4E34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8F03F8C-B134-4FD1-994B-D95E2885258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79CC79-412E-4FE5-AE09-5CDFF0D2848F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79CC79-412E-4FE5-AE09-5CDFF0D2848F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8931DA1-D48C-4E8A-848C-6ED671DDCE4E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1F0B056-7D77-4DCE-BA3C-2329C44FBE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DB7B4-B001-441D-B4CE-638E4E21B983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5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64278-8F87-4F5D-ABD7-D85FBE8A0F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4A46866-3A9A-40ED-974F-A3365842D617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CCEA2B7-D9A4-446E-99FA-CC40BEB766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33331-204D-4168-84CA-E058667B4752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6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7F186A-A300-48F4-835B-F89CA572A5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D429F-4717-40A8-A87C-76A6D1D72B54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35DEB-FF52-45EA-ACA4-A9670492D6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DA566E-D138-4711-B0E3-E79F724018B8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4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1F15B4-17EC-4EC1-B2D6-CD6719041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65954C8-5D46-4F45-AE4D-3A67CF5E2611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EE3E190-80BC-4525-ABD5-026B83CF4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4F87C-AF28-4526-80B1-0067D972869F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6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B9430-1AF4-4B93-95B3-F8D26EF602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ound Single Corner Rectangle 5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784EDF3-4830-4E52-A44B-7C9CA85C2DF4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1291B89-9F95-4170-8378-E9AF969591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D5710-4359-487D-AABB-104821492CD1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5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B386D-1C2D-4F98-9F41-8F0569727D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0D4D5-B9FE-4E45-9557-3D795EC4C50B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5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DE679-DBC7-4C70-9278-66CD68884D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/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76DE9-8D17-4734-9C1B-4DCC0BD631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lvl="0"/>
            <a:endParaRPr lang="en-IN" noProof="0" smtClean="0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E9CAC-CB65-4E04-AF55-B3E15EE0FE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/>
          <a:lstStyle>
            <a:lvl1pPr marL="0" algn="r">
              <a:defRPr sz="480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8750"/>
            <a:ext cx="3001963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D0106422-1E8B-4D87-A8DF-419C28132B9C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9175" y="6508750"/>
            <a:ext cx="463550" cy="274638"/>
          </a:xfrm>
        </p:spPr>
        <p:txBody>
          <a:bodyPr vert="horz" rtlCol="0"/>
          <a:lstStyle>
            <a:lvl1pPr>
              <a:defRPr smtClean="0"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92CF20F7-3FF4-4B75-BB94-01626DDD3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8750"/>
            <a:ext cx="3906838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3F2AD4F-F9DE-4837-99ED-BFB5A38E7876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BBE8182-F6CA-4F86-AB83-8BE4B23E9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00125" y="3267075"/>
            <a:ext cx="7407275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513"/>
            <a:ext cx="3001963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6FCC85DD-3684-4864-A9FC-D6CFE4D2ED6E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9175" y="6513513"/>
            <a:ext cx="463550" cy="274637"/>
          </a:xfrm>
        </p:spPr>
        <p:txBody>
          <a:bodyPr vert="horz" rtlCol="0"/>
          <a:lstStyle>
            <a:lvl1pPr>
              <a:defRPr smtClean="0"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98288AD3-131B-4C94-8747-F4C458C9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513"/>
            <a:ext cx="3906838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EB1BF50-CBE8-45B7-8184-D76A8D08A14F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0763" y="6515100"/>
            <a:ext cx="465137" cy="27305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E0ED9B-DBF8-40D0-8ABD-0A9126E525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17538" y="2165350"/>
            <a:ext cx="3748087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800600" y="2165350"/>
            <a:ext cx="3749675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F927BB4-81D9-4BA8-8CDD-2978C7D7FC02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0763" y="6515100"/>
            <a:ext cx="465137" cy="27305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BE1E1F8-E020-4DF4-B1A8-ED844879E5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EFBC31A-5E1B-41EB-9CC7-6F709D5D3FE6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905DBEF-FD96-4348-82EC-98AD05D391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9501B-5474-4759-BE4C-DB53BD6A6775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4A51B-7D62-4796-8306-E63C56085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057775" y="1057275"/>
            <a:ext cx="3748088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513"/>
            <a:ext cx="3001963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B379687C-04CA-4273-9C21-DF64B5F1B801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9175" y="6513513"/>
            <a:ext cx="463550" cy="274637"/>
          </a:xfrm>
        </p:spPr>
        <p:txBody>
          <a:bodyPr vert="horz" rtlCol="0"/>
          <a:lstStyle>
            <a:lvl1pPr>
              <a:defRPr smtClean="0"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4FAD6A3C-B71F-4C07-9E35-5D32331635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513"/>
            <a:ext cx="3906838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8750"/>
            <a:ext cx="3001963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D2866935-600A-472B-8F0C-9E98E84AE963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9175" y="6508750"/>
            <a:ext cx="463550" cy="274638"/>
          </a:xfrm>
        </p:spPr>
        <p:txBody>
          <a:bodyPr vert="horz" rtlCol="0"/>
          <a:lstStyle>
            <a:lvl1pPr>
              <a:defRPr smtClean="0"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4931CD3E-1603-4746-B4F5-24A31412D1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8750"/>
            <a:ext cx="3906838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46DB7-B485-438E-8532-799FFD559068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18FAC-C0CD-4580-A963-191E48CC37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81683-FC3B-45DF-A34B-863B4E067570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DD8C3-178F-4402-9701-A89FAD11F4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1" name="Text Placeholder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bg2">
                    <a:shade val="5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4BB21B39-8AFE-4974-BC5F-F9809330D458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bg2">
                    <a:shade val="5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bg2">
                    <a:shade val="5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DE5DA58F-C645-4E46-81AE-A1DED4FD1D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6" r:id="rId2"/>
    <p:sldLayoutId id="2147483727" r:id="rId3"/>
    <p:sldLayoutId id="2147483717" r:id="rId4"/>
    <p:sldLayoutId id="2147483718" r:id="rId5"/>
    <p:sldLayoutId id="2147483719" r:id="rId6"/>
    <p:sldLayoutId id="2147483728" r:id="rId7"/>
    <p:sldLayoutId id="2147483720" r:id="rId8"/>
    <p:sldLayoutId id="2147483729" r:id="rId9"/>
    <p:sldLayoutId id="2147483721" r:id="rId10"/>
    <p:sldLayoutId id="2147483722" r:id="rId11"/>
    <p:sldLayoutId id="2147483730" r:id="rId12"/>
    <p:sldLayoutId id="2147483731" r:id="rId13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fontAlgn="base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fontAlgn="base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fontAlgn="base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fontAlgn="base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fontAlgn="base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1638" cy="274638"/>
          </a:xfrm>
          <a:prstGeom prst="rect">
            <a:avLst/>
          </a:prstGeom>
        </p:spPr>
        <p:txBody>
          <a:bodyPr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1963" cy="274638"/>
          </a:xfrm>
          <a:prstGeom prst="rect">
            <a:avLst/>
          </a:prstGeom>
        </p:spPr>
        <p:txBody>
          <a:bodyPr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300" smtClean="0">
                <a:solidFill>
                  <a:schemeClr val="bg2">
                    <a:tint val="60000"/>
                    <a:satMod val="155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334C7DAF-0C05-4FC7-92A1-6C16A58B9CEB}" type="datetimeFigureOut">
              <a:rPr lang="en-US"/>
              <a:pPr>
                <a:defRPr/>
              </a:pPr>
              <a:t>2/16/2018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9175" y="6515100"/>
            <a:ext cx="463550" cy="273050"/>
          </a:xfrm>
          <a:prstGeom prst="rect">
            <a:avLst/>
          </a:prstGeom>
        </p:spPr>
        <p:txBody>
          <a:bodyPr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 smtClean="0">
                <a:solidFill>
                  <a:schemeClr val="tx2">
                    <a:shade val="9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fld id="{3141E009-F8D5-4A9B-A684-07B528C146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4000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5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462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23" r:id="rId7"/>
    <p:sldLayoutId id="2147483738" r:id="rId8"/>
    <p:sldLayoutId id="2147483739" r:id="rId9"/>
    <p:sldLayoutId id="2147483724" r:id="rId10"/>
    <p:sldLayoutId id="2147483725" r:id="rId11"/>
  </p:sldLayoutIdLst>
  <p:txStyles>
    <p:titleStyle>
      <a:lvl1pPr marL="53975" algn="r" rtl="0" fontAlgn="base">
        <a:spcBef>
          <a:spcPct val="0"/>
        </a:spcBef>
        <a:spcAft>
          <a:spcPct val="0"/>
        </a:spcAft>
        <a:defRPr sz="4600" kern="1200">
          <a:solidFill>
            <a:srgbClr val="E7EACB"/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lvl2pPr marL="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2pPr>
      <a:lvl3pPr marL="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3pPr>
      <a:lvl4pPr marL="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4pPr>
      <a:lvl5pPr marL="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5pPr>
      <a:lvl6pPr marL="5111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6pPr>
      <a:lvl7pPr marL="9683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7pPr>
      <a:lvl8pPr marL="14255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8pPr>
      <a:lvl9pPr marL="18827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9pPr>
      <a:extLst/>
    </p:titleStyle>
    <p:bodyStyle>
      <a:lvl1pPr marL="292100" indent="-292100" algn="l" rtl="0" fontAlgn="base">
        <a:spcBef>
          <a:spcPct val="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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l" rtl="0" fontAlgn="base">
        <a:spcBef>
          <a:spcPts val="400"/>
        </a:spcBef>
        <a:spcAft>
          <a:spcPct val="0"/>
        </a:spcAft>
        <a:buClr>
          <a:schemeClr val="accent2"/>
        </a:buClr>
        <a:buSzPct val="9000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190500" algn="l" rtl="0" fontAlgn="base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fontAlgn="base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82563" algn="l" rtl="0" fontAlgn="base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ys.ncl.ac.uk/staff/njpg/symmetry/Stereographs.html" TargetMode="External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hyperlink" Target="http://www.phys.ncl.ac.uk/staff/njpg/symmetry/Solids.html" TargetMode="External"/><Relationship Id="rId4" Type="http://schemas.openxmlformats.org/officeDocument/2006/relationships/image" Target="../media/image11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gif"/><Relationship Id="rId3" Type="http://schemas.openxmlformats.org/officeDocument/2006/relationships/hyperlink" Target="http://www.phys.ncl.ac.uk/staff/njpg/symmetry/Stereographs.html" TargetMode="External"/><Relationship Id="rId7" Type="http://schemas.openxmlformats.org/officeDocument/2006/relationships/hyperlink" Target="http://www.phys.ncl.ac.uk/staff/njpg/symmetry/Molecules_pov.html" TargetMode="Externa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hyperlink" Target="http://www.phys.ncl.ac.uk/staff/njpg/symmetry/Solids.html" TargetMode="External"/><Relationship Id="rId4" Type="http://schemas.openxmlformats.org/officeDocument/2006/relationships/image" Target="../media/image15.gi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hyperlink" Target="http://www.phys.ncl.ac.uk/staff/njpg/symmetry/Solids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gif"/><Relationship Id="rId5" Type="http://schemas.openxmlformats.org/officeDocument/2006/relationships/hyperlink" Target="http://www.phys.ncl.ac.uk/staff/njpg/symmetry/Stereographs.html" TargetMode="External"/><Relationship Id="rId4" Type="http://schemas.openxmlformats.org/officeDocument/2006/relationships/image" Target="../media/image18.gi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hyperlink" Target="http://www.phys.ncl.ac.uk/staff/njpg/symmetry/Solids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gif"/><Relationship Id="rId5" Type="http://schemas.openxmlformats.org/officeDocument/2006/relationships/hyperlink" Target="http://www.phys.ncl.ac.uk/staff/njpg/symmetry/Stereographs.html" TargetMode="External"/><Relationship Id="rId4" Type="http://schemas.openxmlformats.org/officeDocument/2006/relationships/image" Target="../media/image21.gi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hyperlink" Target="http://www.phys.ncl.ac.uk/staff/njpg/symmetry/Solids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hyperlink" Target="http://www.phys.ncl.ac.uk/staff/njpg/symmetry/Stereographs.html" TargetMode="External"/><Relationship Id="rId4" Type="http://schemas.openxmlformats.org/officeDocument/2006/relationships/image" Target="../media/image24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ys.ncl.ac.uk/staff/njpg/symmetry/Stereographs.html" TargetMode="External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hyperlink" Target="http://www.phys.ncl.ac.uk/staff/njpg/symmetry/Solids.html" TargetMode="External"/><Relationship Id="rId4" Type="http://schemas.openxmlformats.org/officeDocument/2006/relationships/image" Target="../media/image28.gi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7" Type="http://schemas.openxmlformats.org/officeDocument/2006/relationships/image" Target="../media/image32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phys.ncl.ac.uk/staff/njpg/symmetry/Molecules_pov.html" TargetMode="External"/><Relationship Id="rId5" Type="http://schemas.openxmlformats.org/officeDocument/2006/relationships/image" Target="../media/image31.png"/><Relationship Id="rId4" Type="http://schemas.openxmlformats.org/officeDocument/2006/relationships/hyperlink" Target="http://www.phys.ncl.ac.uk/staff/njpg/symmetry/Solids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7" Type="http://schemas.openxmlformats.org/officeDocument/2006/relationships/image" Target="../media/image3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phys.ncl.ac.uk/staff/njpg/symmetry/Solids.html" TargetMode="External"/><Relationship Id="rId5" Type="http://schemas.openxmlformats.org/officeDocument/2006/relationships/image" Target="../media/image34.gif"/><Relationship Id="rId4" Type="http://schemas.openxmlformats.org/officeDocument/2006/relationships/hyperlink" Target="http://www.phys.ncl.ac.uk/staff/njpg/symmetry/Stereographs.html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gif"/><Relationship Id="rId3" Type="http://schemas.openxmlformats.org/officeDocument/2006/relationships/image" Target="../media/image38.gif"/><Relationship Id="rId7" Type="http://schemas.openxmlformats.org/officeDocument/2006/relationships/image" Target="../media/image42.gif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gif"/><Relationship Id="rId11" Type="http://schemas.openxmlformats.org/officeDocument/2006/relationships/image" Target="../media/image46.gif"/><Relationship Id="rId5" Type="http://schemas.openxmlformats.org/officeDocument/2006/relationships/image" Target="../media/image40.gif"/><Relationship Id="rId10" Type="http://schemas.openxmlformats.org/officeDocument/2006/relationships/image" Target="../media/image45.gif"/><Relationship Id="rId4" Type="http://schemas.openxmlformats.org/officeDocument/2006/relationships/image" Target="../media/image39.gif"/><Relationship Id="rId9" Type="http://schemas.openxmlformats.org/officeDocument/2006/relationships/image" Target="../media/image44.gi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87"/>
          <p:cNvGrpSpPr>
            <a:grpSpLocks/>
          </p:cNvGrpSpPr>
          <p:nvPr/>
        </p:nvGrpSpPr>
        <p:grpSpPr bwMode="auto">
          <a:xfrm>
            <a:off x="838200" y="1219200"/>
            <a:ext cx="1981200" cy="914400"/>
            <a:chOff x="1066800" y="3429000"/>
            <a:chExt cx="2590800" cy="1600200"/>
          </a:xfrm>
        </p:grpSpPr>
        <p:sp>
          <p:nvSpPr>
            <p:cNvPr id="76" name="Parallelogram 75"/>
            <p:cNvSpPr/>
            <p:nvPr/>
          </p:nvSpPr>
          <p:spPr>
            <a:xfrm>
              <a:off x="1370860" y="3429000"/>
              <a:ext cx="687282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7" name="Parallelogram 76"/>
            <p:cNvSpPr/>
            <p:nvPr/>
          </p:nvSpPr>
          <p:spPr>
            <a:xfrm>
              <a:off x="1905212" y="3429000"/>
              <a:ext cx="685483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8" name="Parallelogram 77"/>
            <p:cNvSpPr/>
            <p:nvPr/>
          </p:nvSpPr>
          <p:spPr>
            <a:xfrm>
              <a:off x="2437765" y="3429000"/>
              <a:ext cx="687282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9" name="Parallelogram 78"/>
            <p:cNvSpPr/>
            <p:nvPr/>
          </p:nvSpPr>
          <p:spPr>
            <a:xfrm>
              <a:off x="2972118" y="3429000"/>
              <a:ext cx="685482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0" name="Parallelogram 79"/>
            <p:cNvSpPr/>
            <p:nvPr/>
          </p:nvSpPr>
          <p:spPr>
            <a:xfrm>
              <a:off x="1219730" y="3962400"/>
              <a:ext cx="685482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1" name="Parallelogram 80"/>
            <p:cNvSpPr/>
            <p:nvPr/>
          </p:nvSpPr>
          <p:spPr>
            <a:xfrm>
              <a:off x="1752283" y="3962400"/>
              <a:ext cx="685482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2" name="Parallelogram 81"/>
            <p:cNvSpPr/>
            <p:nvPr/>
          </p:nvSpPr>
          <p:spPr>
            <a:xfrm>
              <a:off x="2286635" y="3962400"/>
              <a:ext cx="685483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3" name="Parallelogram 82"/>
            <p:cNvSpPr/>
            <p:nvPr/>
          </p:nvSpPr>
          <p:spPr>
            <a:xfrm>
              <a:off x="2819188" y="3962400"/>
              <a:ext cx="685483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4" name="Parallelogram 83"/>
            <p:cNvSpPr/>
            <p:nvPr/>
          </p:nvSpPr>
          <p:spPr>
            <a:xfrm>
              <a:off x="1066800" y="4495800"/>
              <a:ext cx="685483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5" name="Parallelogram 84"/>
            <p:cNvSpPr/>
            <p:nvPr/>
          </p:nvSpPr>
          <p:spPr>
            <a:xfrm>
              <a:off x="1599353" y="4495800"/>
              <a:ext cx="687282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6" name="Parallelogram 85"/>
            <p:cNvSpPr/>
            <p:nvPr/>
          </p:nvSpPr>
          <p:spPr>
            <a:xfrm>
              <a:off x="2133706" y="4495800"/>
              <a:ext cx="685482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7" name="Parallelogram 86"/>
            <p:cNvSpPr/>
            <p:nvPr/>
          </p:nvSpPr>
          <p:spPr>
            <a:xfrm>
              <a:off x="2666260" y="4495800"/>
              <a:ext cx="687282" cy="5334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3" name="Group 98"/>
          <p:cNvGrpSpPr/>
          <p:nvPr/>
        </p:nvGrpSpPr>
        <p:grpSpPr>
          <a:xfrm>
            <a:off x="3276600" y="1143000"/>
            <a:ext cx="2514600" cy="1143000"/>
            <a:chOff x="3886200" y="3124200"/>
            <a:chExt cx="2971800" cy="1600200"/>
          </a:xfrm>
          <a:solidFill>
            <a:srgbClr val="CCFF99"/>
          </a:solidFill>
        </p:grpSpPr>
        <p:sp>
          <p:nvSpPr>
            <p:cNvPr id="89" name="Rectangle 88"/>
            <p:cNvSpPr/>
            <p:nvPr/>
          </p:nvSpPr>
          <p:spPr>
            <a:xfrm>
              <a:off x="3886200" y="3124200"/>
              <a:ext cx="990600" cy="533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4876800" y="3124200"/>
              <a:ext cx="990600" cy="533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5867400" y="3124200"/>
              <a:ext cx="990600" cy="533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86200" y="3657600"/>
              <a:ext cx="990600" cy="533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876800" y="3657600"/>
              <a:ext cx="990600" cy="533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5867400" y="3657600"/>
              <a:ext cx="990600" cy="533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886200" y="4191000"/>
              <a:ext cx="990600" cy="533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876800" y="4191000"/>
              <a:ext cx="990600" cy="533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5867400" y="4191000"/>
              <a:ext cx="990600" cy="533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" name="Group 112"/>
          <p:cNvGrpSpPr/>
          <p:nvPr/>
        </p:nvGrpSpPr>
        <p:grpSpPr>
          <a:xfrm>
            <a:off x="6172200" y="990600"/>
            <a:ext cx="1676400" cy="1447800"/>
            <a:chOff x="6629400" y="3048000"/>
            <a:chExt cx="3048000" cy="27432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0" name="Rectangle 99"/>
            <p:cNvSpPr/>
            <p:nvPr/>
          </p:nvSpPr>
          <p:spPr>
            <a:xfrm>
              <a:off x="6629400" y="30480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7391400" y="30480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8153400" y="30480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8915400" y="30480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629400" y="37338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7391400" y="37338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8153400" y="37338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8915400" y="37338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629400" y="44196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7391400" y="44196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8153400" y="44196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8915400" y="44196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6629400" y="51054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7391400" y="51054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8153400" y="51054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8915400" y="5105400"/>
              <a:ext cx="762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" name="Group 155"/>
          <p:cNvGrpSpPr/>
          <p:nvPr/>
        </p:nvGrpSpPr>
        <p:grpSpPr>
          <a:xfrm>
            <a:off x="2133600" y="2514600"/>
            <a:ext cx="1981200" cy="1371600"/>
            <a:chOff x="192024" y="2971800"/>
            <a:chExt cx="2743200" cy="2133600"/>
          </a:xfrm>
          <a:solidFill>
            <a:srgbClr val="FFC000"/>
          </a:solidFill>
        </p:grpSpPr>
        <p:sp>
          <p:nvSpPr>
            <p:cNvPr id="114" name="Isosceles Triangle 113"/>
            <p:cNvSpPr/>
            <p:nvPr/>
          </p:nvSpPr>
          <p:spPr>
            <a:xfrm>
              <a:off x="1219200" y="2971800"/>
              <a:ext cx="685800" cy="533400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6" name="Isosceles Triangle 115"/>
            <p:cNvSpPr/>
            <p:nvPr/>
          </p:nvSpPr>
          <p:spPr>
            <a:xfrm rot="10800000">
              <a:off x="1219200" y="3505200"/>
              <a:ext cx="685800" cy="533400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6" name="Group 119"/>
            <p:cNvGrpSpPr/>
            <p:nvPr/>
          </p:nvGrpSpPr>
          <p:grpSpPr>
            <a:xfrm>
              <a:off x="877824" y="3505200"/>
              <a:ext cx="685800" cy="1066800"/>
              <a:chOff x="914400" y="3505200"/>
              <a:chExt cx="685800" cy="1066800"/>
            </a:xfrm>
            <a:grpFill/>
          </p:grpSpPr>
          <p:sp>
            <p:nvSpPr>
              <p:cNvPr id="115" name="Isosceles Triangle 114"/>
              <p:cNvSpPr/>
              <p:nvPr/>
            </p:nvSpPr>
            <p:spPr>
              <a:xfrm>
                <a:off x="914400" y="3505200"/>
                <a:ext cx="685800" cy="53340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17" name="Isosceles Triangle 116"/>
              <p:cNvSpPr/>
              <p:nvPr/>
            </p:nvSpPr>
            <p:spPr>
              <a:xfrm rot="10800000">
                <a:off x="914400" y="4038600"/>
                <a:ext cx="685800" cy="53340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7" name="Group 120"/>
            <p:cNvGrpSpPr/>
            <p:nvPr/>
          </p:nvGrpSpPr>
          <p:grpSpPr>
            <a:xfrm>
              <a:off x="533400" y="4038600"/>
              <a:ext cx="685800" cy="1066800"/>
              <a:chOff x="3657600" y="2895600"/>
              <a:chExt cx="685800" cy="1066800"/>
            </a:xfrm>
            <a:grpFill/>
          </p:grpSpPr>
          <p:sp>
            <p:nvSpPr>
              <p:cNvPr id="118" name="Isosceles Triangle 117"/>
              <p:cNvSpPr/>
              <p:nvPr/>
            </p:nvSpPr>
            <p:spPr>
              <a:xfrm>
                <a:off x="3657600" y="2895600"/>
                <a:ext cx="685800" cy="53340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19" name="Isosceles Triangle 118"/>
              <p:cNvSpPr/>
              <p:nvPr/>
            </p:nvSpPr>
            <p:spPr>
              <a:xfrm rot="10800000">
                <a:off x="3657600" y="3429000"/>
                <a:ext cx="685800" cy="53340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22" name="Isosceles Triangle 121"/>
            <p:cNvSpPr/>
            <p:nvPr/>
          </p:nvSpPr>
          <p:spPr>
            <a:xfrm>
              <a:off x="192024" y="4572000"/>
              <a:ext cx="685800" cy="533400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8" name="Group 122"/>
            <p:cNvGrpSpPr/>
            <p:nvPr/>
          </p:nvGrpSpPr>
          <p:grpSpPr>
            <a:xfrm>
              <a:off x="1572768" y="3505200"/>
              <a:ext cx="685800" cy="1066800"/>
              <a:chOff x="914400" y="3505200"/>
              <a:chExt cx="685800" cy="1066800"/>
            </a:xfrm>
            <a:grpFill/>
          </p:grpSpPr>
          <p:sp>
            <p:nvSpPr>
              <p:cNvPr id="124" name="Isosceles Triangle 123"/>
              <p:cNvSpPr/>
              <p:nvPr/>
            </p:nvSpPr>
            <p:spPr>
              <a:xfrm>
                <a:off x="914400" y="3505200"/>
                <a:ext cx="685800" cy="53340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25" name="Isosceles Triangle 124"/>
              <p:cNvSpPr/>
              <p:nvPr/>
            </p:nvSpPr>
            <p:spPr>
              <a:xfrm rot="10800000">
                <a:off x="914400" y="4038600"/>
                <a:ext cx="685800" cy="53340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9" name="Group 125"/>
            <p:cNvGrpSpPr/>
            <p:nvPr/>
          </p:nvGrpSpPr>
          <p:grpSpPr>
            <a:xfrm>
              <a:off x="1219200" y="4038600"/>
              <a:ext cx="685800" cy="1066800"/>
              <a:chOff x="914400" y="3505200"/>
              <a:chExt cx="685800" cy="1066800"/>
            </a:xfrm>
            <a:grpFill/>
          </p:grpSpPr>
          <p:sp>
            <p:nvSpPr>
              <p:cNvPr id="127" name="Isosceles Triangle 126"/>
              <p:cNvSpPr/>
              <p:nvPr/>
            </p:nvSpPr>
            <p:spPr>
              <a:xfrm>
                <a:off x="914400" y="3505200"/>
                <a:ext cx="685800" cy="53340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28" name="Isosceles Triangle 127"/>
              <p:cNvSpPr/>
              <p:nvPr/>
            </p:nvSpPr>
            <p:spPr>
              <a:xfrm rot="10800000">
                <a:off x="914400" y="4038600"/>
                <a:ext cx="685800" cy="53340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10" name="Group 128"/>
            <p:cNvGrpSpPr/>
            <p:nvPr/>
          </p:nvGrpSpPr>
          <p:grpSpPr>
            <a:xfrm>
              <a:off x="1905000" y="4038600"/>
              <a:ext cx="685800" cy="1066800"/>
              <a:chOff x="914400" y="3505200"/>
              <a:chExt cx="685800" cy="1066800"/>
            </a:xfrm>
            <a:grpFill/>
          </p:grpSpPr>
          <p:sp>
            <p:nvSpPr>
              <p:cNvPr id="130" name="Isosceles Triangle 129"/>
              <p:cNvSpPr/>
              <p:nvPr/>
            </p:nvSpPr>
            <p:spPr>
              <a:xfrm>
                <a:off x="914400" y="3505200"/>
                <a:ext cx="685800" cy="53340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31" name="Isosceles Triangle 130"/>
              <p:cNvSpPr/>
              <p:nvPr/>
            </p:nvSpPr>
            <p:spPr>
              <a:xfrm rot="10800000">
                <a:off x="914400" y="4038600"/>
                <a:ext cx="685800" cy="53340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32" name="Isosceles Triangle 131"/>
            <p:cNvSpPr/>
            <p:nvPr/>
          </p:nvSpPr>
          <p:spPr>
            <a:xfrm>
              <a:off x="859536" y="4572000"/>
              <a:ext cx="685800" cy="533400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563624" y="4572000"/>
              <a:ext cx="685800" cy="533400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2249424" y="4572000"/>
              <a:ext cx="685800" cy="533400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179"/>
          <p:cNvGrpSpPr/>
          <p:nvPr/>
        </p:nvGrpSpPr>
        <p:grpSpPr bwMode="auto">
          <a:xfrm>
            <a:off x="5181600" y="2590800"/>
            <a:ext cx="1600200" cy="1447800"/>
            <a:chOff x="5410200" y="2438400"/>
            <a:chExt cx="2737104" cy="2743200"/>
          </a:xfrm>
          <a:solidFill>
            <a:srgbClr val="FFFF00"/>
          </a:solidFill>
        </p:grpSpPr>
        <p:sp>
          <p:nvSpPr>
            <p:cNvPr id="173" name="Hexagon 172"/>
            <p:cNvSpPr/>
            <p:nvPr/>
          </p:nvSpPr>
          <p:spPr>
            <a:xfrm>
              <a:off x="6248400" y="2438400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4" name="Hexagon 173"/>
            <p:cNvSpPr/>
            <p:nvPr/>
          </p:nvSpPr>
          <p:spPr>
            <a:xfrm>
              <a:off x="6248400" y="3352800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5" name="Hexagon 174"/>
            <p:cNvSpPr/>
            <p:nvPr/>
          </p:nvSpPr>
          <p:spPr>
            <a:xfrm>
              <a:off x="7086600" y="2895600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6" name="Hexagon 175"/>
            <p:cNvSpPr/>
            <p:nvPr/>
          </p:nvSpPr>
          <p:spPr>
            <a:xfrm>
              <a:off x="5410200" y="2895600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7" name="Hexagon 176"/>
            <p:cNvSpPr/>
            <p:nvPr/>
          </p:nvSpPr>
          <p:spPr>
            <a:xfrm>
              <a:off x="5410200" y="3810000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8" name="Hexagon 177"/>
            <p:cNvSpPr/>
            <p:nvPr/>
          </p:nvSpPr>
          <p:spPr>
            <a:xfrm>
              <a:off x="6248400" y="4267200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9" name="Hexagon 178"/>
            <p:cNvSpPr/>
            <p:nvPr/>
          </p:nvSpPr>
          <p:spPr>
            <a:xfrm>
              <a:off x="7086600" y="3810000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1143000" y="4191000"/>
            <a:ext cx="6477000" cy="1143000"/>
            <a:chOff x="1143000" y="4114800"/>
            <a:chExt cx="6477000" cy="1143000"/>
          </a:xfrm>
        </p:grpSpPr>
        <p:grpSp>
          <p:nvGrpSpPr>
            <p:cNvPr id="12" name="Group 166"/>
            <p:cNvGrpSpPr/>
            <p:nvPr/>
          </p:nvGrpSpPr>
          <p:grpSpPr bwMode="auto">
            <a:xfrm>
              <a:off x="1143000" y="4191000"/>
              <a:ext cx="1752600" cy="1066800"/>
              <a:chOff x="3345442" y="2491648"/>
              <a:chExt cx="2018948" cy="1345056"/>
            </a:xfrm>
            <a:solidFill>
              <a:srgbClr val="00B050"/>
            </a:solidFill>
          </p:grpSpPr>
          <p:sp>
            <p:nvSpPr>
              <p:cNvPr id="157" name="Regular Pentagon 156"/>
              <p:cNvSpPr/>
              <p:nvPr/>
            </p:nvSpPr>
            <p:spPr>
              <a:xfrm rot="20436906">
                <a:off x="3763644" y="2492167"/>
                <a:ext cx="685800" cy="609600"/>
              </a:xfrm>
              <a:prstGeom prst="pen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58" name="Regular Pentagon 157"/>
              <p:cNvSpPr/>
              <p:nvPr/>
            </p:nvSpPr>
            <p:spPr>
              <a:xfrm rot="16518203">
                <a:off x="4716690" y="2884205"/>
                <a:ext cx="685800" cy="609600"/>
              </a:xfrm>
              <a:prstGeom prst="pen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59" name="Regular Pentagon 158"/>
              <p:cNvSpPr/>
              <p:nvPr/>
            </p:nvSpPr>
            <p:spPr>
              <a:xfrm rot="13977915">
                <a:off x="3307342" y="2895707"/>
                <a:ext cx="685800" cy="609600"/>
              </a:xfrm>
              <a:prstGeom prst="pen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60" name="Regular Pentagon 159"/>
              <p:cNvSpPr/>
              <p:nvPr/>
            </p:nvSpPr>
            <p:spPr>
              <a:xfrm rot="1204016">
                <a:off x="4350966" y="2491648"/>
                <a:ext cx="685800" cy="609600"/>
              </a:xfrm>
              <a:prstGeom prst="pen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65" name="Regular Pentagon 164"/>
              <p:cNvSpPr/>
              <p:nvPr/>
            </p:nvSpPr>
            <p:spPr>
              <a:xfrm rot="16200000">
                <a:off x="3726090" y="3189004"/>
                <a:ext cx="685800" cy="609600"/>
              </a:xfrm>
              <a:prstGeom prst="pen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66" name="Regular Pentagon 165"/>
              <p:cNvSpPr/>
              <p:nvPr/>
            </p:nvSpPr>
            <p:spPr>
              <a:xfrm rot="9654682">
                <a:off x="4348025" y="3212988"/>
                <a:ext cx="685800" cy="609600"/>
              </a:xfrm>
              <a:prstGeom prst="pen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18442" name="Group 242"/>
            <p:cNvGrpSpPr>
              <a:grpSpLocks/>
            </p:cNvGrpSpPr>
            <p:nvPr/>
          </p:nvGrpSpPr>
          <p:grpSpPr bwMode="auto">
            <a:xfrm>
              <a:off x="3505200" y="4114800"/>
              <a:ext cx="1600200" cy="1143000"/>
              <a:chOff x="2608555" y="4121567"/>
              <a:chExt cx="3198812" cy="2584033"/>
            </a:xfrm>
          </p:grpSpPr>
          <p:sp>
            <p:nvSpPr>
              <p:cNvPr id="18444" name="Freeform 25"/>
              <p:cNvSpPr>
                <a:spLocks/>
              </p:cNvSpPr>
              <p:nvPr/>
            </p:nvSpPr>
            <p:spPr bwMode="auto">
              <a:xfrm>
                <a:off x="2608555" y="4350167"/>
                <a:ext cx="1123950" cy="1095375"/>
              </a:xfrm>
              <a:custGeom>
                <a:avLst/>
                <a:gdLst>
                  <a:gd name="T0" fmla="*/ 2147483647 w 1656"/>
                  <a:gd name="T1" fmla="*/ 2147483647 h 1614"/>
                  <a:gd name="T2" fmla="*/ 0 w 1656"/>
                  <a:gd name="T3" fmla="*/ 2147483647 h 1614"/>
                  <a:gd name="T4" fmla="*/ 2147483647 w 1656"/>
                  <a:gd name="T5" fmla="*/ 2147483647 h 1614"/>
                  <a:gd name="T6" fmla="*/ 2147483647 w 1656"/>
                  <a:gd name="T7" fmla="*/ 0 h 1614"/>
                  <a:gd name="T8" fmla="*/ 2147483647 w 1656"/>
                  <a:gd name="T9" fmla="*/ 2147483647 h 1614"/>
                  <a:gd name="T10" fmla="*/ 2147483647 w 1656"/>
                  <a:gd name="T11" fmla="*/ 2147483647 h 1614"/>
                  <a:gd name="T12" fmla="*/ 2147483647 w 1656"/>
                  <a:gd name="T13" fmla="*/ 2147483647 h 1614"/>
                  <a:gd name="T14" fmla="*/ 2147483647 w 1656"/>
                  <a:gd name="T15" fmla="*/ 2147483647 h 161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56"/>
                  <a:gd name="T25" fmla="*/ 0 h 1614"/>
                  <a:gd name="T26" fmla="*/ 1656 w 1656"/>
                  <a:gd name="T27" fmla="*/ 1614 h 161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56" h="1614">
                    <a:moveTo>
                      <a:pt x="462" y="1614"/>
                    </a:moveTo>
                    <a:lnTo>
                      <a:pt x="0" y="1044"/>
                    </a:lnTo>
                    <a:lnTo>
                      <a:pt x="156" y="324"/>
                    </a:lnTo>
                    <a:lnTo>
                      <a:pt x="840" y="0"/>
                    </a:lnTo>
                    <a:lnTo>
                      <a:pt x="1494" y="324"/>
                    </a:lnTo>
                    <a:lnTo>
                      <a:pt x="1656" y="1044"/>
                    </a:lnTo>
                    <a:lnTo>
                      <a:pt x="1194" y="1602"/>
                    </a:lnTo>
                    <a:lnTo>
                      <a:pt x="462" y="1614"/>
                    </a:lnTo>
                    <a:close/>
                  </a:path>
                </a:pathLst>
              </a:custGeom>
              <a:solidFill>
                <a:srgbClr val="CC00FF"/>
              </a:solidFill>
              <a:ln w="38100" cap="flat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5" name="Freeform 26"/>
              <p:cNvSpPr>
                <a:spLocks/>
              </p:cNvSpPr>
              <p:nvPr/>
            </p:nvSpPr>
            <p:spPr bwMode="auto">
              <a:xfrm flipV="1">
                <a:off x="2614905" y="5457825"/>
                <a:ext cx="1123950" cy="1095375"/>
              </a:xfrm>
              <a:custGeom>
                <a:avLst/>
                <a:gdLst>
                  <a:gd name="T0" fmla="*/ 2147483647 w 1656"/>
                  <a:gd name="T1" fmla="*/ 2147483647 h 1614"/>
                  <a:gd name="T2" fmla="*/ 0 w 1656"/>
                  <a:gd name="T3" fmla="*/ 2147483647 h 1614"/>
                  <a:gd name="T4" fmla="*/ 2147483647 w 1656"/>
                  <a:gd name="T5" fmla="*/ 2147483647 h 1614"/>
                  <a:gd name="T6" fmla="*/ 2147483647 w 1656"/>
                  <a:gd name="T7" fmla="*/ 0 h 1614"/>
                  <a:gd name="T8" fmla="*/ 2147483647 w 1656"/>
                  <a:gd name="T9" fmla="*/ 2147483647 h 1614"/>
                  <a:gd name="T10" fmla="*/ 2147483647 w 1656"/>
                  <a:gd name="T11" fmla="*/ 2147483647 h 1614"/>
                  <a:gd name="T12" fmla="*/ 2147483647 w 1656"/>
                  <a:gd name="T13" fmla="*/ 2147483647 h 1614"/>
                  <a:gd name="T14" fmla="*/ 2147483647 w 1656"/>
                  <a:gd name="T15" fmla="*/ 2147483647 h 161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56"/>
                  <a:gd name="T25" fmla="*/ 0 h 1614"/>
                  <a:gd name="T26" fmla="*/ 1656 w 1656"/>
                  <a:gd name="T27" fmla="*/ 1614 h 161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56" h="1614">
                    <a:moveTo>
                      <a:pt x="462" y="1614"/>
                    </a:moveTo>
                    <a:lnTo>
                      <a:pt x="0" y="1044"/>
                    </a:lnTo>
                    <a:lnTo>
                      <a:pt x="156" y="324"/>
                    </a:lnTo>
                    <a:lnTo>
                      <a:pt x="840" y="0"/>
                    </a:lnTo>
                    <a:lnTo>
                      <a:pt x="1494" y="324"/>
                    </a:lnTo>
                    <a:lnTo>
                      <a:pt x="1656" y="1044"/>
                    </a:lnTo>
                    <a:lnTo>
                      <a:pt x="1194" y="1602"/>
                    </a:lnTo>
                    <a:lnTo>
                      <a:pt x="462" y="1614"/>
                    </a:lnTo>
                    <a:close/>
                  </a:path>
                </a:pathLst>
              </a:custGeom>
              <a:solidFill>
                <a:srgbClr val="CC00FF"/>
              </a:solidFill>
              <a:ln w="38100" cap="flat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6" name="Freeform 27"/>
              <p:cNvSpPr>
                <a:spLocks/>
              </p:cNvSpPr>
              <p:nvPr/>
            </p:nvSpPr>
            <p:spPr bwMode="auto">
              <a:xfrm rot="1623305">
                <a:off x="3645192" y="4121567"/>
                <a:ext cx="1123950" cy="1095375"/>
              </a:xfrm>
              <a:custGeom>
                <a:avLst/>
                <a:gdLst>
                  <a:gd name="T0" fmla="*/ 2147483647 w 1656"/>
                  <a:gd name="T1" fmla="*/ 2147483647 h 1614"/>
                  <a:gd name="T2" fmla="*/ 0 w 1656"/>
                  <a:gd name="T3" fmla="*/ 2147483647 h 1614"/>
                  <a:gd name="T4" fmla="*/ 2147483647 w 1656"/>
                  <a:gd name="T5" fmla="*/ 2147483647 h 1614"/>
                  <a:gd name="T6" fmla="*/ 2147483647 w 1656"/>
                  <a:gd name="T7" fmla="*/ 0 h 1614"/>
                  <a:gd name="T8" fmla="*/ 2147483647 w 1656"/>
                  <a:gd name="T9" fmla="*/ 2147483647 h 1614"/>
                  <a:gd name="T10" fmla="*/ 2147483647 w 1656"/>
                  <a:gd name="T11" fmla="*/ 2147483647 h 1614"/>
                  <a:gd name="T12" fmla="*/ 2147483647 w 1656"/>
                  <a:gd name="T13" fmla="*/ 2147483647 h 1614"/>
                  <a:gd name="T14" fmla="*/ 2147483647 w 1656"/>
                  <a:gd name="T15" fmla="*/ 2147483647 h 161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56"/>
                  <a:gd name="T25" fmla="*/ 0 h 1614"/>
                  <a:gd name="T26" fmla="*/ 1656 w 1656"/>
                  <a:gd name="T27" fmla="*/ 1614 h 161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56" h="1614">
                    <a:moveTo>
                      <a:pt x="462" y="1614"/>
                    </a:moveTo>
                    <a:lnTo>
                      <a:pt x="0" y="1044"/>
                    </a:lnTo>
                    <a:lnTo>
                      <a:pt x="156" y="324"/>
                    </a:lnTo>
                    <a:lnTo>
                      <a:pt x="840" y="0"/>
                    </a:lnTo>
                    <a:lnTo>
                      <a:pt x="1494" y="324"/>
                    </a:lnTo>
                    <a:lnTo>
                      <a:pt x="1656" y="1044"/>
                    </a:lnTo>
                    <a:lnTo>
                      <a:pt x="1194" y="1602"/>
                    </a:lnTo>
                    <a:lnTo>
                      <a:pt x="462" y="1614"/>
                    </a:lnTo>
                    <a:close/>
                  </a:path>
                </a:pathLst>
              </a:custGeom>
              <a:solidFill>
                <a:srgbClr val="CC00FF"/>
              </a:solidFill>
              <a:ln w="38100" cap="flat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7" name="Freeform 28"/>
              <p:cNvSpPr>
                <a:spLocks/>
              </p:cNvSpPr>
              <p:nvPr/>
            </p:nvSpPr>
            <p:spPr bwMode="auto">
              <a:xfrm>
                <a:off x="3676650" y="5610225"/>
                <a:ext cx="1123950" cy="1095375"/>
              </a:xfrm>
              <a:custGeom>
                <a:avLst/>
                <a:gdLst>
                  <a:gd name="T0" fmla="*/ 2147483647 w 1656"/>
                  <a:gd name="T1" fmla="*/ 2147483647 h 1614"/>
                  <a:gd name="T2" fmla="*/ 0 w 1656"/>
                  <a:gd name="T3" fmla="*/ 2147483647 h 1614"/>
                  <a:gd name="T4" fmla="*/ 2147483647 w 1656"/>
                  <a:gd name="T5" fmla="*/ 2147483647 h 1614"/>
                  <a:gd name="T6" fmla="*/ 2147483647 w 1656"/>
                  <a:gd name="T7" fmla="*/ 0 h 1614"/>
                  <a:gd name="T8" fmla="*/ 2147483647 w 1656"/>
                  <a:gd name="T9" fmla="*/ 2147483647 h 1614"/>
                  <a:gd name="T10" fmla="*/ 2147483647 w 1656"/>
                  <a:gd name="T11" fmla="*/ 2147483647 h 1614"/>
                  <a:gd name="T12" fmla="*/ 2147483647 w 1656"/>
                  <a:gd name="T13" fmla="*/ 2147483647 h 1614"/>
                  <a:gd name="T14" fmla="*/ 2147483647 w 1656"/>
                  <a:gd name="T15" fmla="*/ 2147483647 h 161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56"/>
                  <a:gd name="T25" fmla="*/ 0 h 1614"/>
                  <a:gd name="T26" fmla="*/ 1656 w 1656"/>
                  <a:gd name="T27" fmla="*/ 1614 h 161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56" h="1614">
                    <a:moveTo>
                      <a:pt x="462" y="1614"/>
                    </a:moveTo>
                    <a:lnTo>
                      <a:pt x="0" y="1044"/>
                    </a:lnTo>
                    <a:lnTo>
                      <a:pt x="156" y="324"/>
                    </a:lnTo>
                    <a:lnTo>
                      <a:pt x="840" y="0"/>
                    </a:lnTo>
                    <a:lnTo>
                      <a:pt x="1494" y="324"/>
                    </a:lnTo>
                    <a:lnTo>
                      <a:pt x="1656" y="1044"/>
                    </a:lnTo>
                    <a:lnTo>
                      <a:pt x="1194" y="1602"/>
                    </a:lnTo>
                    <a:lnTo>
                      <a:pt x="462" y="1614"/>
                    </a:lnTo>
                    <a:close/>
                  </a:path>
                </a:pathLst>
              </a:custGeom>
              <a:solidFill>
                <a:srgbClr val="CC00FF"/>
              </a:solidFill>
              <a:ln w="38100" cap="flat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8" name="Freeform 29"/>
              <p:cNvSpPr>
                <a:spLocks/>
              </p:cNvSpPr>
              <p:nvPr/>
            </p:nvSpPr>
            <p:spPr bwMode="auto">
              <a:xfrm rot="1623305">
                <a:off x="4683417" y="5377280"/>
                <a:ext cx="1123950" cy="1095375"/>
              </a:xfrm>
              <a:custGeom>
                <a:avLst/>
                <a:gdLst>
                  <a:gd name="T0" fmla="*/ 2147483647 w 1656"/>
                  <a:gd name="T1" fmla="*/ 2147483647 h 1614"/>
                  <a:gd name="T2" fmla="*/ 0 w 1656"/>
                  <a:gd name="T3" fmla="*/ 2147483647 h 1614"/>
                  <a:gd name="T4" fmla="*/ 2147483647 w 1656"/>
                  <a:gd name="T5" fmla="*/ 2147483647 h 1614"/>
                  <a:gd name="T6" fmla="*/ 2147483647 w 1656"/>
                  <a:gd name="T7" fmla="*/ 0 h 1614"/>
                  <a:gd name="T8" fmla="*/ 2147483647 w 1656"/>
                  <a:gd name="T9" fmla="*/ 2147483647 h 1614"/>
                  <a:gd name="T10" fmla="*/ 2147483647 w 1656"/>
                  <a:gd name="T11" fmla="*/ 2147483647 h 1614"/>
                  <a:gd name="T12" fmla="*/ 2147483647 w 1656"/>
                  <a:gd name="T13" fmla="*/ 2147483647 h 1614"/>
                  <a:gd name="T14" fmla="*/ 2147483647 w 1656"/>
                  <a:gd name="T15" fmla="*/ 2147483647 h 161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56"/>
                  <a:gd name="T25" fmla="*/ 0 h 1614"/>
                  <a:gd name="T26" fmla="*/ 1656 w 1656"/>
                  <a:gd name="T27" fmla="*/ 1614 h 161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56" h="1614">
                    <a:moveTo>
                      <a:pt x="462" y="1614"/>
                    </a:moveTo>
                    <a:lnTo>
                      <a:pt x="0" y="1044"/>
                    </a:lnTo>
                    <a:lnTo>
                      <a:pt x="156" y="324"/>
                    </a:lnTo>
                    <a:lnTo>
                      <a:pt x="840" y="0"/>
                    </a:lnTo>
                    <a:lnTo>
                      <a:pt x="1494" y="324"/>
                    </a:lnTo>
                    <a:lnTo>
                      <a:pt x="1656" y="1044"/>
                    </a:lnTo>
                    <a:lnTo>
                      <a:pt x="1194" y="1602"/>
                    </a:lnTo>
                    <a:lnTo>
                      <a:pt x="462" y="1614"/>
                    </a:lnTo>
                    <a:close/>
                  </a:path>
                </a:pathLst>
              </a:custGeom>
              <a:solidFill>
                <a:srgbClr val="CC00FF"/>
              </a:solidFill>
              <a:ln w="38100" cap="flat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9" name="Freeform 30"/>
              <p:cNvSpPr>
                <a:spLocks/>
              </p:cNvSpPr>
              <p:nvPr/>
            </p:nvSpPr>
            <p:spPr bwMode="auto">
              <a:xfrm>
                <a:off x="4648492" y="4356517"/>
                <a:ext cx="1123950" cy="1095375"/>
              </a:xfrm>
              <a:custGeom>
                <a:avLst/>
                <a:gdLst>
                  <a:gd name="T0" fmla="*/ 2147483647 w 1656"/>
                  <a:gd name="T1" fmla="*/ 2147483647 h 1614"/>
                  <a:gd name="T2" fmla="*/ 0 w 1656"/>
                  <a:gd name="T3" fmla="*/ 2147483647 h 1614"/>
                  <a:gd name="T4" fmla="*/ 2147483647 w 1656"/>
                  <a:gd name="T5" fmla="*/ 2147483647 h 1614"/>
                  <a:gd name="T6" fmla="*/ 2147483647 w 1656"/>
                  <a:gd name="T7" fmla="*/ 0 h 1614"/>
                  <a:gd name="T8" fmla="*/ 2147483647 w 1656"/>
                  <a:gd name="T9" fmla="*/ 2147483647 h 1614"/>
                  <a:gd name="T10" fmla="*/ 2147483647 w 1656"/>
                  <a:gd name="T11" fmla="*/ 2147483647 h 1614"/>
                  <a:gd name="T12" fmla="*/ 2147483647 w 1656"/>
                  <a:gd name="T13" fmla="*/ 2147483647 h 1614"/>
                  <a:gd name="T14" fmla="*/ 2147483647 w 1656"/>
                  <a:gd name="T15" fmla="*/ 2147483647 h 161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56"/>
                  <a:gd name="T25" fmla="*/ 0 h 1614"/>
                  <a:gd name="T26" fmla="*/ 1656 w 1656"/>
                  <a:gd name="T27" fmla="*/ 1614 h 161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56" h="1614">
                    <a:moveTo>
                      <a:pt x="462" y="1614"/>
                    </a:moveTo>
                    <a:lnTo>
                      <a:pt x="0" y="1044"/>
                    </a:lnTo>
                    <a:lnTo>
                      <a:pt x="156" y="324"/>
                    </a:lnTo>
                    <a:lnTo>
                      <a:pt x="840" y="0"/>
                    </a:lnTo>
                    <a:lnTo>
                      <a:pt x="1494" y="324"/>
                    </a:lnTo>
                    <a:lnTo>
                      <a:pt x="1656" y="1044"/>
                    </a:lnTo>
                    <a:lnTo>
                      <a:pt x="1194" y="1602"/>
                    </a:lnTo>
                    <a:lnTo>
                      <a:pt x="462" y="1614"/>
                    </a:lnTo>
                    <a:close/>
                  </a:path>
                </a:pathLst>
              </a:custGeom>
              <a:solidFill>
                <a:srgbClr val="CC00FF"/>
              </a:solidFill>
              <a:ln w="38100" cap="flat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251"/>
            <p:cNvGrpSpPr/>
            <p:nvPr/>
          </p:nvGrpSpPr>
          <p:grpSpPr bwMode="auto">
            <a:xfrm>
              <a:off x="5867400" y="4267200"/>
              <a:ext cx="1752600" cy="914400"/>
              <a:chOff x="3657600" y="4495800"/>
              <a:chExt cx="2743200" cy="182880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245" name="Octagon 244"/>
              <p:cNvSpPr/>
              <p:nvPr/>
            </p:nvSpPr>
            <p:spPr>
              <a:xfrm>
                <a:off x="3657600" y="4495800"/>
                <a:ext cx="914400" cy="914400"/>
              </a:xfrm>
              <a:prstGeom prst="oc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46" name="Octagon 245"/>
              <p:cNvSpPr/>
              <p:nvPr/>
            </p:nvSpPr>
            <p:spPr>
              <a:xfrm>
                <a:off x="4572000" y="4495800"/>
                <a:ext cx="914400" cy="914400"/>
              </a:xfrm>
              <a:prstGeom prst="oc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47" name="Octagon 246"/>
              <p:cNvSpPr/>
              <p:nvPr/>
            </p:nvSpPr>
            <p:spPr>
              <a:xfrm>
                <a:off x="5486400" y="4495800"/>
                <a:ext cx="914400" cy="914400"/>
              </a:xfrm>
              <a:prstGeom prst="oc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49" name="Octagon 248"/>
              <p:cNvSpPr/>
              <p:nvPr/>
            </p:nvSpPr>
            <p:spPr>
              <a:xfrm>
                <a:off x="3657600" y="5410200"/>
                <a:ext cx="914400" cy="914400"/>
              </a:xfrm>
              <a:prstGeom prst="oc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50" name="Octagon 249"/>
              <p:cNvSpPr/>
              <p:nvPr/>
            </p:nvSpPr>
            <p:spPr>
              <a:xfrm>
                <a:off x="4572000" y="5410200"/>
                <a:ext cx="914400" cy="914400"/>
              </a:xfrm>
              <a:prstGeom prst="oc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51" name="Octagon 250"/>
              <p:cNvSpPr/>
              <p:nvPr/>
            </p:nvSpPr>
            <p:spPr>
              <a:xfrm>
                <a:off x="5486400" y="5410200"/>
                <a:ext cx="914400" cy="914400"/>
              </a:xfrm>
              <a:prstGeom prst="oct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113" name="Rectangle 2"/>
          <p:cNvSpPr txBox="1">
            <a:spLocks noChangeArrowheads="1"/>
          </p:cNvSpPr>
          <p:nvPr/>
        </p:nvSpPr>
        <p:spPr>
          <a:xfrm>
            <a:off x="533400" y="-76200"/>
            <a:ext cx="8229600" cy="97313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 smtClean="0"/>
              <a:t>Space filling repeat patterns</a:t>
            </a:r>
            <a:endParaRPr lang="en-US" sz="3600" b="1" dirty="0">
              <a:solidFill>
                <a:schemeClr val="tx2">
                  <a:satMod val="130000"/>
                </a:schemeClr>
              </a:solidFill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914400" y="5791200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Only </a:t>
            </a:r>
            <a:r>
              <a:rPr lang="en-US" b="1" dirty="0" smtClean="0">
                <a:solidFill>
                  <a:srgbClr val="FF0000"/>
                </a:solidFill>
              </a:rPr>
              <a:t>2, 3, 4 </a:t>
            </a:r>
            <a:r>
              <a:rPr lang="en-US" b="1" dirty="0" smtClean="0"/>
              <a:t>and </a:t>
            </a:r>
            <a:r>
              <a:rPr lang="en-US" b="1" dirty="0" smtClean="0">
                <a:solidFill>
                  <a:srgbClr val="FF0000"/>
                </a:solidFill>
              </a:rPr>
              <a:t>6</a:t>
            </a:r>
            <a:r>
              <a:rPr lang="en-US" b="1" dirty="0" smtClean="0"/>
              <a:t>-fold rotations can produce space filling patterns</a:t>
            </a:r>
            <a:endParaRPr lang="en-US" b="1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/>
          <p:cNvSpPr txBox="1">
            <a:spLocks noChangeArrowheads="1"/>
          </p:cNvSpPr>
          <p:nvPr/>
        </p:nvSpPr>
        <p:spPr bwMode="auto">
          <a:xfrm>
            <a:off x="1041400" y="1143000"/>
            <a:ext cx="7596188" cy="82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 b="1" dirty="0">
                <a:solidFill>
                  <a:srgbClr val="333333"/>
                </a:solidFill>
                <a:latin typeface="Times New Roman" pitchFamily="18" charset="0"/>
                <a:ea typeface="PMingLiU" pitchFamily="18" charset="-120"/>
              </a:rPr>
              <a:t>The </a:t>
            </a:r>
            <a:r>
              <a:rPr kumimoji="1" lang="en-US" altLang="zh-TW" sz="2400" b="1" dirty="0">
                <a:solidFill>
                  <a:srgbClr val="990099"/>
                </a:solidFill>
                <a:latin typeface="Times New Roman" pitchFamily="18" charset="0"/>
                <a:ea typeface="PMingLiU" pitchFamily="18" charset="-120"/>
              </a:rPr>
              <a:t>periodicity</a:t>
            </a:r>
            <a:r>
              <a:rPr kumimoji="1" lang="en-US" altLang="zh-TW" sz="2400" b="1" dirty="0">
                <a:solidFill>
                  <a:srgbClr val="333333"/>
                </a:solidFill>
                <a:latin typeface="Times New Roman" pitchFamily="18" charset="0"/>
                <a:ea typeface="PMingLiU" pitchFamily="18" charset="-120"/>
              </a:rPr>
              <a:t> (i.e. operation of translation) will impose </a:t>
            </a:r>
          </a:p>
          <a:p>
            <a:r>
              <a:rPr kumimoji="1" lang="en-US" altLang="zh-TW" sz="2400" b="1" dirty="0">
                <a:solidFill>
                  <a:srgbClr val="333333"/>
                </a:solidFill>
                <a:latin typeface="Times New Roman" pitchFamily="18" charset="0"/>
                <a:ea typeface="PMingLiU" pitchFamily="18" charset="-120"/>
              </a:rPr>
              <a:t>rotational symmetry to a lattice.</a:t>
            </a:r>
            <a:r>
              <a:rPr kumimoji="1" lang="en-US" altLang="zh-TW" sz="2400" dirty="0">
                <a:solidFill>
                  <a:srgbClr val="333333"/>
                </a:solidFill>
                <a:latin typeface="Times New Roman" pitchFamily="18" charset="0"/>
                <a:ea typeface="PMingLiU" pitchFamily="18" charset="-120"/>
              </a:rPr>
              <a:t> </a:t>
            </a:r>
          </a:p>
        </p:txBody>
      </p:sp>
      <p:sp>
        <p:nvSpPr>
          <p:cNvPr id="26627" name="Text Box 20"/>
          <p:cNvSpPr txBox="1">
            <a:spLocks noChangeArrowheads="1"/>
          </p:cNvSpPr>
          <p:nvPr/>
        </p:nvSpPr>
        <p:spPr bwMode="auto">
          <a:xfrm>
            <a:off x="1219200" y="4851400"/>
            <a:ext cx="68595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000" b="1" dirty="0">
                <a:solidFill>
                  <a:srgbClr val="006600"/>
                </a:solidFill>
                <a:latin typeface="Times New Roman" pitchFamily="18" charset="0"/>
                <a:ea typeface="PMingLiU" pitchFamily="18" charset="-120"/>
              </a:rPr>
              <a:t>If </a:t>
            </a:r>
            <a:r>
              <a:rPr kumimoji="1" lang="en-US" altLang="zh-TW" sz="2000" b="1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</a:rPr>
              <a:t>P</a:t>
            </a:r>
            <a:r>
              <a:rPr kumimoji="1" lang="en-US" altLang="zh-TW" sz="2000" b="1" dirty="0">
                <a:solidFill>
                  <a:srgbClr val="006600"/>
                </a:solidFill>
                <a:latin typeface="Times New Roman" pitchFamily="18" charset="0"/>
                <a:ea typeface="PMingLiU" pitchFamily="18" charset="-120"/>
              </a:rPr>
              <a:t> and </a:t>
            </a:r>
            <a:r>
              <a:rPr kumimoji="1" lang="en-US" altLang="zh-TW" sz="2000" b="1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</a:rPr>
              <a:t>Q</a:t>
            </a:r>
            <a:r>
              <a:rPr kumimoji="1" lang="en-US" altLang="zh-TW" sz="2000" b="1" dirty="0">
                <a:solidFill>
                  <a:srgbClr val="006600"/>
                </a:solidFill>
                <a:latin typeface="Times New Roman" pitchFamily="18" charset="0"/>
                <a:ea typeface="PMingLiU" pitchFamily="18" charset="-120"/>
              </a:rPr>
              <a:t> are lattice points.  If the lattice possesses a rotation</a:t>
            </a:r>
          </a:p>
          <a:p>
            <a:r>
              <a:rPr kumimoji="1" lang="en-US" altLang="zh-TW" sz="2000" b="1" dirty="0">
                <a:solidFill>
                  <a:srgbClr val="006600"/>
                </a:solidFill>
                <a:latin typeface="Times New Roman" pitchFamily="18" charset="0"/>
                <a:ea typeface="PMingLiU" pitchFamily="18" charset="-120"/>
              </a:rPr>
              <a:t> of  </a:t>
            </a:r>
            <a:r>
              <a:rPr kumimoji="1" lang="en-US" altLang="zh-TW" sz="2000" b="1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</a:t>
            </a:r>
            <a:r>
              <a:rPr kumimoji="1" lang="en-US" altLang="zh-TW" sz="2000" b="1" dirty="0">
                <a:solidFill>
                  <a:srgbClr val="006600"/>
                </a:solidFill>
                <a:latin typeface="Times New Roman" pitchFamily="18" charset="0"/>
                <a:ea typeface="PMingLiU" pitchFamily="18" charset="-120"/>
              </a:rPr>
              <a:t> angle, the resulting </a:t>
            </a:r>
            <a:r>
              <a:rPr kumimoji="1" lang="en-US" altLang="zh-TW" sz="2000" b="1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</a:rPr>
              <a:t>P’</a:t>
            </a:r>
            <a:r>
              <a:rPr kumimoji="1" lang="en-US" altLang="zh-TW" sz="2000" b="1" dirty="0">
                <a:solidFill>
                  <a:srgbClr val="006600"/>
                </a:solidFill>
                <a:latin typeface="Times New Roman" pitchFamily="18" charset="0"/>
                <a:ea typeface="PMingLiU" pitchFamily="18" charset="-120"/>
              </a:rPr>
              <a:t> and </a:t>
            </a:r>
            <a:r>
              <a:rPr kumimoji="1" lang="en-US" altLang="zh-TW" sz="2000" b="1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</a:rPr>
              <a:t>Q’</a:t>
            </a:r>
            <a:r>
              <a:rPr kumimoji="1" lang="en-US" altLang="zh-TW" sz="2000" b="1" dirty="0">
                <a:solidFill>
                  <a:srgbClr val="006600"/>
                </a:solidFill>
                <a:latin typeface="Times New Roman" pitchFamily="18" charset="0"/>
                <a:ea typeface="PMingLiU" pitchFamily="18" charset="-120"/>
              </a:rPr>
              <a:t> are also lattice points.  </a:t>
            </a:r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2667000" y="5629275"/>
            <a:ext cx="43116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 b="1">
                <a:solidFill>
                  <a:srgbClr val="990099"/>
                </a:solidFill>
                <a:latin typeface="Times New Roman" pitchFamily="18" charset="0"/>
                <a:ea typeface="華康中楷體" pitchFamily="49" charset="-120"/>
              </a:rPr>
              <a:t>D</a:t>
            </a:r>
            <a:r>
              <a:rPr kumimoji="1" lang="en-US" altLang="zh-TW" sz="2400" b="1" baseline="-30000">
                <a:solidFill>
                  <a:srgbClr val="990099"/>
                </a:solidFill>
                <a:latin typeface="Times New Roman" pitchFamily="18" charset="0"/>
                <a:ea typeface="華康中楷體" pitchFamily="49" charset="-120"/>
              </a:rPr>
              <a:t>P’Q’</a:t>
            </a:r>
            <a:r>
              <a:rPr kumimoji="1" lang="en-US" altLang="zh-TW" sz="2400" b="1">
                <a:solidFill>
                  <a:srgbClr val="990099"/>
                </a:solidFill>
                <a:latin typeface="Times New Roman" pitchFamily="18" charset="0"/>
                <a:ea typeface="華康中楷體" pitchFamily="49" charset="-120"/>
              </a:rPr>
              <a:t> = mt = t + 2s = t + 2tcos </a:t>
            </a:r>
            <a:r>
              <a:rPr kumimoji="1" lang="en-US" altLang="zh-TW" sz="2400" b="1">
                <a:solidFill>
                  <a:srgbClr val="990099"/>
                </a:solidFill>
                <a:latin typeface="Times New Roman" pitchFamily="18" charset="0"/>
                <a:ea typeface="華康中楷體" pitchFamily="49" charset="-120"/>
                <a:sym typeface="Symbol" pitchFamily="18" charset="2"/>
              </a:rPr>
              <a:t></a:t>
            </a:r>
            <a:r>
              <a:rPr kumimoji="1" lang="en-US" altLang="zh-TW" sz="2400">
                <a:latin typeface="Times New Roman" pitchFamily="18" charset="0"/>
                <a:ea typeface="華康中楷體" pitchFamily="49" charset="-120"/>
              </a:rPr>
              <a:t> </a:t>
            </a:r>
          </a:p>
          <a:p>
            <a:r>
              <a:rPr kumimoji="1" lang="en-US" altLang="zh-TW" sz="2400">
                <a:latin typeface="Times New Roman" pitchFamily="18" charset="0"/>
                <a:ea typeface="華康中楷體" pitchFamily="49" charset="-120"/>
              </a:rPr>
              <a:t>           </a:t>
            </a:r>
            <a:r>
              <a:rPr kumimoji="1" lang="en-US" altLang="zh-TW" sz="2400" b="1">
                <a:solidFill>
                  <a:schemeClr val="accent2"/>
                </a:solidFill>
                <a:latin typeface="Times New Roman" pitchFamily="18" charset="0"/>
                <a:ea typeface="華康中楷體" pitchFamily="49" charset="-120"/>
              </a:rPr>
              <a:t>(m must be an integer).</a:t>
            </a:r>
            <a:endParaRPr kumimoji="1" lang="en-US" altLang="zh-TW" sz="240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26629" name="Line 31"/>
          <p:cNvSpPr>
            <a:spLocks noChangeShapeType="1"/>
          </p:cNvSpPr>
          <p:nvPr/>
        </p:nvSpPr>
        <p:spPr bwMode="auto">
          <a:xfrm>
            <a:off x="2886075" y="2605088"/>
            <a:ext cx="3505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0" name="Line 24"/>
          <p:cNvSpPr>
            <a:spLocks noChangeShapeType="1"/>
          </p:cNvSpPr>
          <p:nvPr/>
        </p:nvSpPr>
        <p:spPr bwMode="auto">
          <a:xfrm>
            <a:off x="5513388" y="4227513"/>
            <a:ext cx="1887537" cy="3175"/>
          </a:xfrm>
          <a:prstGeom prst="line">
            <a:avLst/>
          </a:prstGeom>
          <a:noFill/>
          <a:ln w="254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1" name="Line 6"/>
          <p:cNvSpPr>
            <a:spLocks noChangeShapeType="1"/>
          </p:cNvSpPr>
          <p:nvPr/>
        </p:nvSpPr>
        <p:spPr bwMode="auto">
          <a:xfrm>
            <a:off x="3605213" y="4235450"/>
            <a:ext cx="1887537" cy="3175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2" name="Line 7"/>
          <p:cNvSpPr>
            <a:spLocks noChangeShapeType="1"/>
          </p:cNvSpPr>
          <p:nvPr/>
        </p:nvSpPr>
        <p:spPr bwMode="auto">
          <a:xfrm rot="21421434" flipV="1">
            <a:off x="5491163" y="2693988"/>
            <a:ext cx="852487" cy="15414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33" name="Line 8"/>
          <p:cNvSpPr>
            <a:spLocks noChangeShapeType="1"/>
          </p:cNvSpPr>
          <p:nvPr/>
        </p:nvSpPr>
        <p:spPr bwMode="auto">
          <a:xfrm flipH="1" flipV="1">
            <a:off x="2849563" y="2692400"/>
            <a:ext cx="755650" cy="154305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34" name="Oval 9"/>
          <p:cNvSpPr>
            <a:spLocks noChangeArrowheads="1"/>
          </p:cNvSpPr>
          <p:nvPr/>
        </p:nvSpPr>
        <p:spPr bwMode="auto">
          <a:xfrm>
            <a:off x="3511550" y="4132263"/>
            <a:ext cx="187325" cy="20637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>
              <a:latin typeface="Verdana" pitchFamily="34" charset="0"/>
            </a:endParaRPr>
          </a:p>
        </p:txBody>
      </p:sp>
      <p:sp>
        <p:nvSpPr>
          <p:cNvPr id="26635" name="Oval 10"/>
          <p:cNvSpPr>
            <a:spLocks noChangeArrowheads="1"/>
          </p:cNvSpPr>
          <p:nvPr/>
        </p:nvSpPr>
        <p:spPr bwMode="auto">
          <a:xfrm>
            <a:off x="2755900" y="2517775"/>
            <a:ext cx="188913" cy="20637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>
              <a:latin typeface="Verdana" pitchFamily="34" charset="0"/>
            </a:endParaRPr>
          </a:p>
        </p:txBody>
      </p:sp>
      <p:sp>
        <p:nvSpPr>
          <p:cNvPr id="26636" name="Oval 11"/>
          <p:cNvSpPr>
            <a:spLocks noChangeArrowheads="1"/>
          </p:cNvSpPr>
          <p:nvPr/>
        </p:nvSpPr>
        <p:spPr bwMode="auto">
          <a:xfrm>
            <a:off x="6211888" y="2517775"/>
            <a:ext cx="188912" cy="20637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>
              <a:latin typeface="Verdana" pitchFamily="34" charset="0"/>
            </a:endParaRPr>
          </a:p>
        </p:txBody>
      </p:sp>
      <p:sp>
        <p:nvSpPr>
          <p:cNvPr id="26637" name="Oval 12"/>
          <p:cNvSpPr>
            <a:spLocks noChangeArrowheads="1"/>
          </p:cNvSpPr>
          <p:nvPr/>
        </p:nvSpPr>
        <p:spPr bwMode="auto">
          <a:xfrm>
            <a:off x="5397500" y="4132263"/>
            <a:ext cx="188913" cy="20637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>
              <a:latin typeface="Verdana" pitchFamily="34" charset="0"/>
            </a:endParaRPr>
          </a:p>
        </p:txBody>
      </p:sp>
      <p:sp>
        <p:nvSpPr>
          <p:cNvPr id="26638" name="Text Box 13"/>
          <p:cNvSpPr txBox="1">
            <a:spLocks noChangeArrowheads="1"/>
          </p:cNvSpPr>
          <p:nvPr/>
        </p:nvSpPr>
        <p:spPr bwMode="auto">
          <a:xfrm>
            <a:off x="6400800" y="2362200"/>
            <a:ext cx="509588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>
                <a:solidFill>
                  <a:srgbClr val="990033"/>
                </a:solidFill>
                <a:latin typeface="Times New Roman" pitchFamily="18" charset="0"/>
                <a:ea typeface="PMingLiU" pitchFamily="18" charset="-120"/>
              </a:rPr>
              <a:t>Q’</a:t>
            </a:r>
          </a:p>
        </p:txBody>
      </p:sp>
      <p:sp>
        <p:nvSpPr>
          <p:cNvPr id="26639" name="Text Box 14"/>
          <p:cNvSpPr txBox="1">
            <a:spLocks noChangeArrowheads="1"/>
          </p:cNvSpPr>
          <p:nvPr/>
        </p:nvSpPr>
        <p:spPr bwMode="auto">
          <a:xfrm>
            <a:off x="5207000" y="4338638"/>
            <a:ext cx="40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>
                <a:solidFill>
                  <a:srgbClr val="990033"/>
                </a:solidFill>
                <a:latin typeface="Times New Roman" pitchFamily="18" charset="0"/>
                <a:ea typeface="PMingLiU" pitchFamily="18" charset="-120"/>
              </a:rPr>
              <a:t>Q</a:t>
            </a:r>
          </a:p>
        </p:txBody>
      </p:sp>
      <p:sp>
        <p:nvSpPr>
          <p:cNvPr id="26640" name="Text Box 15"/>
          <p:cNvSpPr txBox="1">
            <a:spLocks noChangeArrowheads="1"/>
          </p:cNvSpPr>
          <p:nvPr/>
        </p:nvSpPr>
        <p:spPr bwMode="auto">
          <a:xfrm>
            <a:off x="3416300" y="4338638"/>
            <a:ext cx="355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 dirty="0">
                <a:solidFill>
                  <a:srgbClr val="CC0066"/>
                </a:solidFill>
                <a:latin typeface="Times New Roman" pitchFamily="18" charset="0"/>
                <a:ea typeface="PMingLiU" pitchFamily="18" charset="-120"/>
              </a:rPr>
              <a:t>P</a:t>
            </a:r>
          </a:p>
        </p:txBody>
      </p:sp>
      <p:sp>
        <p:nvSpPr>
          <p:cNvPr id="26641" name="Text Box 16"/>
          <p:cNvSpPr txBox="1">
            <a:spLocks noChangeArrowheads="1"/>
          </p:cNvSpPr>
          <p:nvPr/>
        </p:nvSpPr>
        <p:spPr bwMode="auto">
          <a:xfrm>
            <a:off x="2284413" y="2438400"/>
            <a:ext cx="458787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>
                <a:solidFill>
                  <a:srgbClr val="CC0066"/>
                </a:solidFill>
                <a:latin typeface="Times New Roman" pitchFamily="18" charset="0"/>
                <a:ea typeface="PMingLiU" pitchFamily="18" charset="-120"/>
              </a:rPr>
              <a:t>P’</a:t>
            </a:r>
          </a:p>
        </p:txBody>
      </p:sp>
      <p:sp>
        <p:nvSpPr>
          <p:cNvPr id="26642" name="Text Box 19"/>
          <p:cNvSpPr txBox="1">
            <a:spLocks noChangeArrowheads="1"/>
          </p:cNvSpPr>
          <p:nvPr/>
        </p:nvSpPr>
        <p:spPr bwMode="auto">
          <a:xfrm>
            <a:off x="5902325" y="3200400"/>
            <a:ext cx="269875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>
                <a:solidFill>
                  <a:srgbClr val="990033"/>
                </a:solidFill>
                <a:latin typeface="Times New Roman" pitchFamily="18" charset="0"/>
                <a:ea typeface="PMingLiU" pitchFamily="18" charset="-120"/>
              </a:rPr>
              <a:t>t</a:t>
            </a:r>
          </a:p>
        </p:txBody>
      </p:sp>
      <p:sp>
        <p:nvSpPr>
          <p:cNvPr id="26643" name="Line 22"/>
          <p:cNvSpPr>
            <a:spLocks noChangeShapeType="1"/>
          </p:cNvSpPr>
          <p:nvPr/>
        </p:nvSpPr>
        <p:spPr bwMode="auto">
          <a:xfrm>
            <a:off x="1743075" y="4227513"/>
            <a:ext cx="1887538" cy="3175"/>
          </a:xfrm>
          <a:prstGeom prst="line">
            <a:avLst/>
          </a:prstGeom>
          <a:noFill/>
          <a:ln w="254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4" name="Oval 23"/>
          <p:cNvSpPr>
            <a:spLocks noChangeArrowheads="1"/>
          </p:cNvSpPr>
          <p:nvPr/>
        </p:nvSpPr>
        <p:spPr bwMode="auto">
          <a:xfrm>
            <a:off x="1649413" y="4124325"/>
            <a:ext cx="187325" cy="20637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>
              <a:latin typeface="Verdana" pitchFamily="34" charset="0"/>
            </a:endParaRPr>
          </a:p>
        </p:txBody>
      </p:sp>
      <p:sp>
        <p:nvSpPr>
          <p:cNvPr id="26645" name="Oval 25"/>
          <p:cNvSpPr>
            <a:spLocks noChangeArrowheads="1"/>
          </p:cNvSpPr>
          <p:nvPr/>
        </p:nvSpPr>
        <p:spPr bwMode="auto">
          <a:xfrm>
            <a:off x="7305675" y="4113213"/>
            <a:ext cx="188913" cy="20637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>
              <a:latin typeface="Verdana" pitchFamily="34" charset="0"/>
            </a:endParaRPr>
          </a:p>
        </p:txBody>
      </p:sp>
      <p:sp>
        <p:nvSpPr>
          <p:cNvPr id="26646" name="Text Box 26"/>
          <p:cNvSpPr txBox="1">
            <a:spLocks noChangeArrowheads="1"/>
          </p:cNvSpPr>
          <p:nvPr/>
        </p:nvSpPr>
        <p:spPr bwMode="auto">
          <a:xfrm>
            <a:off x="3038475" y="3768725"/>
            <a:ext cx="3746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 b="1">
                <a:solidFill>
                  <a:srgbClr val="990099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</a:t>
            </a:r>
            <a:endParaRPr kumimoji="1" lang="en-US" altLang="zh-TW" sz="2400" b="1">
              <a:solidFill>
                <a:srgbClr val="990099"/>
              </a:solidFill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26647" name="Text Box 27"/>
          <p:cNvSpPr txBox="1">
            <a:spLocks noChangeArrowheads="1"/>
          </p:cNvSpPr>
          <p:nvPr/>
        </p:nvSpPr>
        <p:spPr bwMode="auto">
          <a:xfrm>
            <a:off x="5781675" y="3768725"/>
            <a:ext cx="376238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 b="1">
                <a:solidFill>
                  <a:srgbClr val="990099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</a:t>
            </a:r>
            <a:endParaRPr kumimoji="1" lang="en-US" altLang="zh-TW" sz="2400" b="1">
              <a:solidFill>
                <a:srgbClr val="990099"/>
              </a:solidFill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26648" name="Line 28"/>
          <p:cNvSpPr>
            <a:spLocks noChangeShapeType="1"/>
          </p:cNvSpPr>
          <p:nvPr/>
        </p:nvSpPr>
        <p:spPr bwMode="auto">
          <a:xfrm flipV="1">
            <a:off x="3571875" y="2590800"/>
            <a:ext cx="9525" cy="1636713"/>
          </a:xfrm>
          <a:prstGeom prst="line">
            <a:avLst/>
          </a:prstGeom>
          <a:noFill/>
          <a:ln w="254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9" name="Line 32"/>
          <p:cNvSpPr>
            <a:spLocks noChangeShapeType="1"/>
          </p:cNvSpPr>
          <p:nvPr/>
        </p:nvSpPr>
        <p:spPr bwMode="auto">
          <a:xfrm flipV="1">
            <a:off x="5553075" y="2590800"/>
            <a:ext cx="9525" cy="1636713"/>
          </a:xfrm>
          <a:prstGeom prst="line">
            <a:avLst/>
          </a:prstGeom>
          <a:noFill/>
          <a:ln w="254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0" name="Text Box 33"/>
          <p:cNvSpPr txBox="1">
            <a:spLocks noChangeArrowheads="1"/>
          </p:cNvSpPr>
          <p:nvPr/>
        </p:nvSpPr>
        <p:spPr bwMode="auto">
          <a:xfrm>
            <a:off x="4478338" y="4227513"/>
            <a:ext cx="2698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>
                <a:solidFill>
                  <a:srgbClr val="990033"/>
                </a:solidFill>
                <a:latin typeface="Times New Roman" pitchFamily="18" charset="0"/>
                <a:ea typeface="PMingLiU" pitchFamily="18" charset="-120"/>
              </a:rPr>
              <a:t>t</a:t>
            </a:r>
          </a:p>
        </p:txBody>
      </p:sp>
      <p:sp>
        <p:nvSpPr>
          <p:cNvPr id="26651" name="Text Box 34"/>
          <p:cNvSpPr txBox="1">
            <a:spLocks noChangeArrowheads="1"/>
          </p:cNvSpPr>
          <p:nvPr/>
        </p:nvSpPr>
        <p:spPr bwMode="auto">
          <a:xfrm>
            <a:off x="2505075" y="4227513"/>
            <a:ext cx="2698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>
                <a:solidFill>
                  <a:srgbClr val="990033"/>
                </a:solidFill>
                <a:latin typeface="Times New Roman" pitchFamily="18" charset="0"/>
                <a:ea typeface="PMingLiU" pitchFamily="18" charset="-120"/>
              </a:rPr>
              <a:t>t</a:t>
            </a:r>
          </a:p>
        </p:txBody>
      </p:sp>
      <p:sp>
        <p:nvSpPr>
          <p:cNvPr id="26652" name="Text Box 35"/>
          <p:cNvSpPr txBox="1">
            <a:spLocks noChangeArrowheads="1"/>
          </p:cNvSpPr>
          <p:nvPr/>
        </p:nvSpPr>
        <p:spPr bwMode="auto">
          <a:xfrm>
            <a:off x="6467475" y="4227513"/>
            <a:ext cx="2698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>
                <a:solidFill>
                  <a:srgbClr val="990033"/>
                </a:solidFill>
                <a:latin typeface="Times New Roman" pitchFamily="18" charset="0"/>
                <a:ea typeface="PMingLiU" pitchFamily="18" charset="-120"/>
              </a:rPr>
              <a:t>t</a:t>
            </a:r>
          </a:p>
        </p:txBody>
      </p:sp>
      <p:sp>
        <p:nvSpPr>
          <p:cNvPr id="26653" name="Text Box 36"/>
          <p:cNvSpPr txBox="1">
            <a:spLocks noChangeArrowheads="1"/>
          </p:cNvSpPr>
          <p:nvPr/>
        </p:nvSpPr>
        <p:spPr bwMode="auto">
          <a:xfrm>
            <a:off x="4319588" y="1905000"/>
            <a:ext cx="508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 dirty="0" err="1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</a:rPr>
              <a:t>mt</a:t>
            </a:r>
            <a:endParaRPr kumimoji="1" lang="en-US" altLang="zh-TW" sz="2400" dirty="0">
              <a:solidFill>
                <a:srgbClr val="0070C0"/>
              </a:solidFill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26654" name="Text Box 19"/>
          <p:cNvSpPr txBox="1">
            <a:spLocks noChangeArrowheads="1"/>
          </p:cNvSpPr>
          <p:nvPr/>
        </p:nvSpPr>
        <p:spPr bwMode="auto">
          <a:xfrm>
            <a:off x="2819400" y="3124200"/>
            <a:ext cx="269875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>
                <a:solidFill>
                  <a:srgbClr val="990033"/>
                </a:solidFill>
                <a:latin typeface="Times New Roman" pitchFamily="18" charset="0"/>
                <a:ea typeface="PMingLiU" pitchFamily="18" charset="-120"/>
              </a:rPr>
              <a:t>t</a:t>
            </a: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BFCEA5-3078-45F7-89F4-1F42AA1A0168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33" name="Freeform 32"/>
          <p:cNvSpPr/>
          <p:nvPr/>
        </p:nvSpPr>
        <p:spPr>
          <a:xfrm>
            <a:off x="2690813" y="3490913"/>
            <a:ext cx="484187" cy="731837"/>
          </a:xfrm>
          <a:custGeom>
            <a:avLst/>
            <a:gdLst>
              <a:gd name="connsiteX0" fmla="*/ 69273 w 484910"/>
              <a:gd name="connsiteY0" fmla="*/ 731520 h 731520"/>
              <a:gd name="connsiteX1" fmla="*/ 69273 w 484910"/>
              <a:gd name="connsiteY1" fmla="*/ 349135 h 731520"/>
              <a:gd name="connsiteX2" fmla="*/ 484910 w 484910"/>
              <a:gd name="connsiteY2" fmla="*/ 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4910" h="731520">
                <a:moveTo>
                  <a:pt x="69273" y="731520"/>
                </a:moveTo>
                <a:cubicBezTo>
                  <a:pt x="34636" y="601287"/>
                  <a:pt x="0" y="471055"/>
                  <a:pt x="69273" y="349135"/>
                </a:cubicBezTo>
                <a:cubicBezTo>
                  <a:pt x="138546" y="227215"/>
                  <a:pt x="311728" y="113607"/>
                  <a:pt x="484910" y="0"/>
                </a:cubicBezTo>
              </a:path>
            </a:pathLst>
          </a:cu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5835650" y="3608388"/>
            <a:ext cx="669925" cy="598487"/>
          </a:xfrm>
          <a:custGeom>
            <a:avLst/>
            <a:gdLst>
              <a:gd name="connsiteX0" fmla="*/ 648392 w 670560"/>
              <a:gd name="connsiteY0" fmla="*/ 598516 h 598516"/>
              <a:gd name="connsiteX1" fmla="*/ 631767 w 670560"/>
              <a:gd name="connsiteY1" fmla="*/ 182880 h 598516"/>
              <a:gd name="connsiteX2" fmla="*/ 415636 w 670560"/>
              <a:gd name="connsiteY2" fmla="*/ 66501 h 598516"/>
              <a:gd name="connsiteX3" fmla="*/ 0 w 670560"/>
              <a:gd name="connsiteY3" fmla="*/ 0 h 59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560" h="598516">
                <a:moveTo>
                  <a:pt x="648392" y="598516"/>
                </a:moveTo>
                <a:cubicBezTo>
                  <a:pt x="659476" y="435032"/>
                  <a:pt x="670560" y="271549"/>
                  <a:pt x="631767" y="182880"/>
                </a:cubicBezTo>
                <a:cubicBezTo>
                  <a:pt x="592974" y="94211"/>
                  <a:pt x="520930" y="96981"/>
                  <a:pt x="415636" y="66501"/>
                </a:cubicBezTo>
                <a:cubicBezTo>
                  <a:pt x="310342" y="36021"/>
                  <a:pt x="155171" y="18010"/>
                  <a:pt x="0" y="0"/>
                </a:cubicBezTo>
              </a:path>
            </a:pathLst>
          </a:cu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658" name="Text Box 34"/>
          <p:cNvSpPr txBox="1">
            <a:spLocks noChangeArrowheads="1"/>
          </p:cNvSpPr>
          <p:nvPr/>
        </p:nvSpPr>
        <p:spPr bwMode="auto">
          <a:xfrm>
            <a:off x="3124200" y="2133600"/>
            <a:ext cx="30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>
                <a:solidFill>
                  <a:srgbClr val="990033"/>
                </a:solidFill>
                <a:latin typeface="Times New Roman" pitchFamily="18" charset="0"/>
                <a:ea typeface="PMingLiU" pitchFamily="18" charset="-120"/>
              </a:rPr>
              <a:t>s</a:t>
            </a:r>
          </a:p>
        </p:txBody>
      </p:sp>
      <p:sp>
        <p:nvSpPr>
          <p:cNvPr id="26659" name="Text Box 34"/>
          <p:cNvSpPr txBox="1">
            <a:spLocks noChangeArrowheads="1"/>
          </p:cNvSpPr>
          <p:nvPr/>
        </p:nvSpPr>
        <p:spPr bwMode="auto">
          <a:xfrm>
            <a:off x="5791200" y="2133600"/>
            <a:ext cx="30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>
                <a:solidFill>
                  <a:srgbClr val="990033"/>
                </a:solidFill>
                <a:latin typeface="Times New Roman" pitchFamily="18" charset="0"/>
                <a:ea typeface="PMingLiU" pitchFamily="18" charset="-120"/>
              </a:rPr>
              <a:t>s</a:t>
            </a:r>
          </a:p>
        </p:txBody>
      </p:sp>
      <p:sp>
        <p:nvSpPr>
          <p:cNvPr id="26660" name="Text Box 26"/>
          <p:cNvSpPr txBox="1">
            <a:spLocks noChangeArrowheads="1"/>
          </p:cNvSpPr>
          <p:nvPr/>
        </p:nvSpPr>
        <p:spPr bwMode="auto">
          <a:xfrm>
            <a:off x="2971800" y="2590800"/>
            <a:ext cx="3746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 b="1">
                <a:solidFill>
                  <a:srgbClr val="990099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</a:t>
            </a:r>
            <a:endParaRPr kumimoji="1" lang="en-US" altLang="zh-TW" sz="2400" b="1">
              <a:solidFill>
                <a:srgbClr val="990099"/>
              </a:solidFill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26661" name="Text Box 26"/>
          <p:cNvSpPr txBox="1">
            <a:spLocks noChangeArrowheads="1"/>
          </p:cNvSpPr>
          <p:nvPr/>
        </p:nvSpPr>
        <p:spPr bwMode="auto">
          <a:xfrm>
            <a:off x="5791200" y="2514600"/>
            <a:ext cx="3746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400" b="1">
                <a:solidFill>
                  <a:srgbClr val="990099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</a:t>
            </a:r>
            <a:endParaRPr kumimoji="1" lang="en-US" altLang="zh-TW" sz="2400" b="1">
              <a:solidFill>
                <a:srgbClr val="990099"/>
              </a:solidFill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33400" y="381000"/>
            <a:ext cx="8077200" cy="72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defRPr/>
            </a:pPr>
            <a:r>
              <a:rPr lang="en-US" b="1" dirty="0" smtClean="0">
                <a:solidFill>
                  <a:srgbClr val="C00000"/>
                </a:solidFill>
                <a:cs typeface="Arial" pitchFamily="34" charset="0"/>
              </a:rPr>
              <a:t>The four </a:t>
            </a:r>
            <a:r>
              <a:rPr lang="en-US" b="1" dirty="0" smtClean="0">
                <a:solidFill>
                  <a:srgbClr val="FF0000"/>
                </a:solidFill>
                <a:cs typeface="Arial" pitchFamily="34" charset="0"/>
              </a:rPr>
              <a:t>types of rotation axes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</a:rPr>
              <a:t>shown along with the </a:t>
            </a:r>
            <a:r>
              <a:rPr lang="en-US" b="1" dirty="0" smtClean="0">
                <a:solidFill>
                  <a:srgbClr val="0070C0"/>
                </a:solidFill>
                <a:cs typeface="Arial" pitchFamily="34" charset="0"/>
              </a:rPr>
              <a:t>1 fold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</a:rPr>
              <a:t>axis, are the only rotation axes possible for a</a:t>
            </a:r>
            <a:r>
              <a:rPr lang="en-US" b="1" dirty="0" smtClean="0">
                <a:solidFill>
                  <a:srgbClr val="0070C0"/>
                </a:solidFill>
                <a:cs typeface="Arial" pitchFamily="34" charset="0"/>
              </a:rPr>
              <a:t> 2D </a:t>
            </a:r>
            <a:r>
              <a:rPr lang="en-US" b="1" dirty="0" smtClean="0">
                <a:solidFill>
                  <a:srgbClr val="A50021"/>
                </a:solidFill>
                <a:cs typeface="Arial" pitchFamily="34" charset="0"/>
              </a:rPr>
              <a:t>and </a:t>
            </a:r>
            <a:r>
              <a:rPr lang="en-US" b="1" dirty="0" smtClean="0">
                <a:solidFill>
                  <a:srgbClr val="0070C0"/>
                </a:solidFill>
                <a:cs typeface="Arial" pitchFamily="34" charset="0"/>
              </a:rPr>
              <a:t>3D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</a:rPr>
              <a:t>lattice.</a:t>
            </a:r>
            <a:endParaRPr lang="en-US" b="1" dirty="0">
              <a:solidFill>
                <a:srgbClr val="C00000"/>
              </a:solidFill>
              <a:cs typeface="Arial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4827588" y="2207417"/>
            <a:ext cx="1497012" cy="2382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10800000">
            <a:off x="2819400" y="2207417"/>
            <a:ext cx="1500188" cy="2382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7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381000" y="5126703"/>
            <a:ext cx="8382000" cy="2340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65138" indent="-4651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v"/>
            </a:pP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In all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2D</a:t>
            </a: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and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3D</a:t>
            </a: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lattices, only </a:t>
            </a:r>
            <a:r>
              <a:rPr kumimoji="1" lang="en-US" altLang="zh-TW" b="1" dirty="0">
                <a:solidFill>
                  <a:srgbClr val="FF33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five</a:t>
            </a: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kinds of rotation angles are allowed.</a:t>
            </a:r>
          </a:p>
          <a:p>
            <a:pPr marL="465138" indent="-4651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v"/>
            </a:pPr>
            <a:r>
              <a:rPr kumimoji="1" lang="en-US" altLang="zh-TW" b="1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No five-fold </a:t>
            </a: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and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higher than 6-fold rotation axes </a:t>
            </a: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allowed in </a:t>
            </a:r>
            <a:r>
              <a:rPr kumimoji="1" lang="en-US" altLang="zh-TW" b="1" dirty="0" smtClean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2D</a:t>
            </a:r>
            <a:r>
              <a:rPr kumimoji="1"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and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3D </a:t>
            </a: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lattice.</a:t>
            </a:r>
          </a:p>
          <a:p>
            <a:pPr marL="465138" indent="-4651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v"/>
            </a:pP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All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2D</a:t>
            </a: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lattice contain at least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2-fold</a:t>
            </a: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axis (</a:t>
            </a:r>
            <a:r>
              <a:rPr kumimoji="1" lang="en-US" altLang="zh-TW" b="1" dirty="0">
                <a:solidFill>
                  <a:srgbClr val="0070C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not true for 3D lattice</a:t>
            </a:r>
            <a:r>
              <a:rPr kumimoji="1"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)</a:t>
            </a:r>
          </a:p>
          <a:p>
            <a:pPr marL="465138" indent="-4651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v"/>
            </a:pPr>
            <a:endParaRPr kumimoji="1" lang="en-US" altLang="zh-TW" b="1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465138" indent="-4651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v"/>
            </a:pPr>
            <a:endParaRPr kumimoji="1" lang="en-US" altLang="zh-TW" b="1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371600" y="2503488"/>
            <a:ext cx="5334000" cy="2678112"/>
            <a:chOff x="1143000" y="1752600"/>
            <a:chExt cx="5334000" cy="2677656"/>
          </a:xfrm>
        </p:grpSpPr>
        <p:sp>
          <p:nvSpPr>
            <p:cNvPr id="27654" name="Text Box 2"/>
            <p:cNvSpPr txBox="1">
              <a:spLocks noChangeArrowheads="1"/>
            </p:cNvSpPr>
            <p:nvPr/>
          </p:nvSpPr>
          <p:spPr bwMode="auto">
            <a:xfrm>
              <a:off x="1143000" y="1752600"/>
              <a:ext cx="5092291" cy="26776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TW" sz="2400" b="1" dirty="0">
                  <a:solidFill>
                    <a:srgbClr val="990099"/>
                  </a:solidFill>
                  <a:latin typeface="Times New Roman" pitchFamily="18" charset="0"/>
                  <a:ea typeface="華康中楷體" pitchFamily="49" charset="-120"/>
                </a:rPr>
                <a:t>  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m             </a:t>
              </a:r>
              <a:r>
                <a:rPr kumimoji="1" lang="en-US" altLang="zh-TW" sz="2400" b="1" i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  <a:sym typeface="Symbol" pitchFamily="18" charset="2"/>
                </a:rPr>
                <a:t>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     n-fold rotation</a:t>
              </a:r>
            </a:p>
            <a:p>
              <a:endParaRPr kumimoji="1" lang="en-US" altLang="zh-TW" sz="2400" b="1" dirty="0">
                <a:solidFill>
                  <a:schemeClr val="accent2"/>
                </a:solidFill>
                <a:latin typeface="Times New Roman" pitchFamily="18" charset="0"/>
                <a:ea typeface="華康中楷體" pitchFamily="49" charset="-120"/>
              </a:endParaRPr>
            </a:p>
            <a:p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 3            360</a:t>
              </a:r>
              <a:r>
                <a:rPr kumimoji="1" lang="en-US" altLang="zh-TW" sz="2400" b="1" baseline="30000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o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  </a:t>
              </a:r>
              <a:r>
                <a:rPr kumimoji="1" lang="en-US" altLang="zh-TW" sz="2400" b="1" dirty="0">
                  <a:solidFill>
                    <a:srgbClr val="FF3300"/>
                  </a:solidFill>
                  <a:latin typeface="Times New Roman" pitchFamily="18" charset="0"/>
                  <a:ea typeface="華康中楷體" pitchFamily="49" charset="-120"/>
                </a:rPr>
                <a:t>1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(one-fold)</a:t>
              </a:r>
            </a:p>
            <a:p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 2             60</a:t>
              </a:r>
              <a:r>
                <a:rPr kumimoji="1" lang="en-US" altLang="zh-TW" sz="2400" b="1" baseline="30000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o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   </a:t>
              </a:r>
              <a:r>
                <a:rPr kumimoji="1" lang="en-US" altLang="zh-TW" sz="2400" b="1" dirty="0">
                  <a:solidFill>
                    <a:srgbClr val="FF3300"/>
                  </a:solidFill>
                  <a:latin typeface="Times New Roman" pitchFamily="18" charset="0"/>
                  <a:ea typeface="華康中楷體" pitchFamily="49" charset="-120"/>
                </a:rPr>
                <a:t>6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(six-fold)</a:t>
              </a:r>
            </a:p>
            <a:p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 1             90</a:t>
              </a:r>
              <a:r>
                <a:rPr kumimoji="1" lang="en-US" altLang="zh-TW" sz="2400" b="1" baseline="30000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o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   </a:t>
              </a:r>
              <a:r>
                <a:rPr kumimoji="1" lang="en-US" altLang="zh-TW" sz="2400" b="1" dirty="0">
                  <a:solidFill>
                    <a:srgbClr val="FF3300"/>
                  </a:solidFill>
                  <a:latin typeface="Times New Roman" pitchFamily="18" charset="0"/>
                  <a:ea typeface="華康中楷體" pitchFamily="49" charset="-120"/>
                </a:rPr>
                <a:t>4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(four-fold)</a:t>
              </a:r>
            </a:p>
            <a:p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 0            120</a:t>
              </a:r>
              <a:r>
                <a:rPr kumimoji="1" lang="en-US" altLang="zh-TW" sz="2400" b="1" baseline="30000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o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  </a:t>
              </a:r>
              <a:r>
                <a:rPr kumimoji="1" lang="en-US" altLang="zh-TW" sz="2400" b="1" dirty="0">
                  <a:solidFill>
                    <a:srgbClr val="FF3300"/>
                  </a:solidFill>
                  <a:latin typeface="Times New Roman" pitchFamily="18" charset="0"/>
                  <a:ea typeface="華康中楷體" pitchFamily="49" charset="-120"/>
                </a:rPr>
                <a:t>3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(three-fold)</a:t>
              </a:r>
            </a:p>
            <a:p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-1           180</a:t>
              </a:r>
              <a:r>
                <a:rPr kumimoji="1" lang="en-US" altLang="zh-TW" sz="2400" b="1" baseline="30000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o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      </a:t>
              </a:r>
              <a:r>
                <a:rPr kumimoji="1" lang="en-US" altLang="zh-TW" sz="2400" b="1" dirty="0">
                  <a:solidFill>
                    <a:srgbClr val="FF3300"/>
                  </a:solidFill>
                  <a:latin typeface="Times New Roman" pitchFamily="18" charset="0"/>
                  <a:ea typeface="華康中楷體" pitchFamily="49" charset="-120"/>
                </a:rPr>
                <a:t> 2</a:t>
              </a:r>
              <a:r>
                <a:rPr kumimoji="1" lang="en-US" altLang="zh-TW" sz="2400" b="1" dirty="0">
                  <a:solidFill>
                    <a:srgbClr val="CC0066"/>
                  </a:solidFill>
                  <a:latin typeface="Times New Roman" pitchFamily="18" charset="0"/>
                  <a:ea typeface="華康中楷體" pitchFamily="49" charset="-120"/>
                </a:rPr>
                <a:t> </a:t>
              </a:r>
              <a:r>
                <a:rPr kumimoji="1" lang="en-US" altLang="zh-TW" sz="2400" b="1" dirty="0">
                  <a:solidFill>
                    <a:schemeClr val="accent2"/>
                  </a:solidFill>
                  <a:latin typeface="Times New Roman" pitchFamily="18" charset="0"/>
                  <a:ea typeface="華康中楷體" pitchFamily="49" charset="-120"/>
                </a:rPr>
                <a:t>  (two-fold)</a:t>
              </a:r>
            </a:p>
          </p:txBody>
        </p:sp>
        <p:sp>
          <p:nvSpPr>
            <p:cNvPr id="27655" name="Line 3"/>
            <p:cNvSpPr>
              <a:spLocks noChangeShapeType="1"/>
            </p:cNvSpPr>
            <p:nvPr/>
          </p:nvSpPr>
          <p:spPr bwMode="auto">
            <a:xfrm>
              <a:off x="1676400" y="2286000"/>
              <a:ext cx="434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AutoShape 5"/>
            <p:cNvSpPr>
              <a:spLocks noChangeArrowheads="1"/>
            </p:cNvSpPr>
            <p:nvPr/>
          </p:nvSpPr>
          <p:spPr bwMode="auto">
            <a:xfrm>
              <a:off x="6096000" y="2895600"/>
              <a:ext cx="381000" cy="228600"/>
            </a:xfrm>
            <a:prstGeom prst="hexagon">
              <a:avLst>
                <a:gd name="adj" fmla="val 41667"/>
                <a:gd name="vf" fmla="val 115470"/>
              </a:avLst>
            </a:prstGeom>
            <a:solidFill>
              <a:schemeClr val="tx1"/>
            </a:solidFill>
            <a:ln w="9525">
              <a:solidFill>
                <a:srgbClr val="0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>
                <a:latin typeface="Verdana" pitchFamily="34" charset="0"/>
              </a:endParaRPr>
            </a:p>
          </p:txBody>
        </p:sp>
        <p:sp>
          <p:nvSpPr>
            <p:cNvPr id="27657" name="Rectangle 6"/>
            <p:cNvSpPr>
              <a:spLocks noChangeArrowheads="1"/>
            </p:cNvSpPr>
            <p:nvPr/>
          </p:nvSpPr>
          <p:spPr bwMode="auto">
            <a:xfrm>
              <a:off x="6172200" y="3276600"/>
              <a:ext cx="228600" cy="228600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>
                <a:latin typeface="Verdana" pitchFamily="34" charset="0"/>
              </a:endParaRPr>
            </a:p>
          </p:txBody>
        </p:sp>
        <p:sp>
          <p:nvSpPr>
            <p:cNvPr id="27658" name="AutoShape 7"/>
            <p:cNvSpPr>
              <a:spLocks noChangeArrowheads="1"/>
            </p:cNvSpPr>
            <p:nvPr/>
          </p:nvSpPr>
          <p:spPr bwMode="auto">
            <a:xfrm>
              <a:off x="6096000" y="3581400"/>
              <a:ext cx="304800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>
                <a:latin typeface="Verdana" pitchFamily="34" charset="0"/>
              </a:endParaRPr>
            </a:p>
          </p:txBody>
        </p:sp>
        <p:sp>
          <p:nvSpPr>
            <p:cNvPr id="27659" name="Oval 8"/>
            <p:cNvSpPr>
              <a:spLocks noChangeArrowheads="1"/>
            </p:cNvSpPr>
            <p:nvPr/>
          </p:nvSpPr>
          <p:spPr bwMode="auto">
            <a:xfrm>
              <a:off x="6172200" y="4038600"/>
              <a:ext cx="152400" cy="381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>
                <a:latin typeface="Verdana" pitchFamily="34" charset="0"/>
              </a:endParaRPr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9D63F8-583A-4ECB-8B13-E112A41910E6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66800" y="609600"/>
            <a:ext cx="7315200" cy="186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TW" sz="2400" b="1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D</a:t>
            </a:r>
            <a:r>
              <a:rPr kumimoji="1" lang="en-US" altLang="zh-TW" sz="2400" b="1" baseline="-30000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P’Q’</a:t>
            </a:r>
            <a:r>
              <a:rPr kumimoji="1" lang="en-US" altLang="zh-TW" sz="2400" b="1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 = </a:t>
            </a:r>
            <a:r>
              <a:rPr kumimoji="1" lang="en-US" altLang="zh-TW" sz="2400" b="1" dirty="0" err="1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mt</a:t>
            </a:r>
            <a:r>
              <a:rPr kumimoji="1" lang="en-US" altLang="zh-TW" sz="2400" b="1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 = t + 2t </a:t>
            </a:r>
            <a:r>
              <a:rPr kumimoji="1" lang="en-US" altLang="zh-TW" sz="2400" b="1" dirty="0" err="1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cos</a:t>
            </a:r>
            <a:r>
              <a:rPr kumimoji="1" lang="en-US" altLang="zh-TW" sz="2400" b="1" i="1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  <a:sym typeface="Symbol" pitchFamily="18" charset="2"/>
              </a:rPr>
              <a:t></a:t>
            </a:r>
            <a:r>
              <a:rPr kumimoji="1" lang="en-US" altLang="zh-TW" sz="2400" dirty="0">
                <a:latin typeface="Times New Roman" pitchFamily="18" charset="0"/>
                <a:ea typeface="華康中楷體" pitchFamily="49" charset="-120"/>
              </a:rPr>
              <a:t> </a:t>
            </a:r>
            <a:r>
              <a:rPr kumimoji="1" lang="en-US" altLang="zh-TW" sz="2400" b="1" dirty="0">
                <a:solidFill>
                  <a:schemeClr val="accent2"/>
                </a:solidFill>
                <a:latin typeface="Times New Roman" pitchFamily="18" charset="0"/>
                <a:ea typeface="華康中楷體" pitchFamily="49" charset="-120"/>
              </a:rPr>
              <a:t>(</a:t>
            </a:r>
            <a:r>
              <a:rPr kumimoji="1" lang="en-US" altLang="zh-TW" sz="2400" b="1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m</a:t>
            </a:r>
            <a:r>
              <a:rPr kumimoji="1" lang="en-US" altLang="zh-TW" sz="2400" b="1" dirty="0">
                <a:solidFill>
                  <a:schemeClr val="accent2"/>
                </a:solidFill>
                <a:latin typeface="Times New Roman" pitchFamily="18" charset="0"/>
                <a:ea typeface="華康中楷體" pitchFamily="49" charset="-120"/>
              </a:rPr>
              <a:t> </a:t>
            </a:r>
            <a:r>
              <a:rPr kumimoji="1" lang="en-US" altLang="zh-TW" sz="2400" b="1" dirty="0">
                <a:solidFill>
                  <a:srgbClr val="0070C0"/>
                </a:solidFill>
                <a:latin typeface="Times New Roman" pitchFamily="18" charset="0"/>
                <a:ea typeface="華康中楷體" pitchFamily="49" charset="-120"/>
              </a:rPr>
              <a:t>must be an integer</a:t>
            </a:r>
            <a:r>
              <a:rPr kumimoji="1" lang="en-US" altLang="zh-TW" sz="2400" b="1" dirty="0" smtClean="0">
                <a:solidFill>
                  <a:schemeClr val="accent2"/>
                </a:solidFill>
                <a:latin typeface="Times New Roman" pitchFamily="18" charset="0"/>
                <a:ea typeface="華康中楷體" pitchFamily="49" charset="-120"/>
              </a:rPr>
              <a:t>).</a:t>
            </a:r>
          </a:p>
          <a:p>
            <a:pPr>
              <a:lnSpc>
                <a:spcPct val="120000"/>
              </a:lnSpc>
            </a:pPr>
            <a:r>
              <a:rPr kumimoji="1" lang="en-US" altLang="zh-TW" sz="2400" b="1" dirty="0" smtClean="0">
                <a:solidFill>
                  <a:schemeClr val="accent2"/>
                </a:solidFill>
                <a:latin typeface="Times New Roman" pitchFamily="18" charset="0"/>
                <a:ea typeface="華康中楷體" pitchFamily="49" charset="-120"/>
              </a:rPr>
              <a:t>(m-1)t = 2t </a:t>
            </a:r>
            <a:r>
              <a:rPr kumimoji="1" lang="en-US" altLang="zh-TW" sz="2400" b="1" dirty="0" err="1" smtClean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cos</a:t>
            </a:r>
            <a:r>
              <a:rPr kumimoji="1" lang="en-US" altLang="zh-TW" sz="2400" b="1" i="1" dirty="0" smtClean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  <a:sym typeface="Symbol" pitchFamily="18" charset="2"/>
              </a:rPr>
              <a:t> </a:t>
            </a:r>
            <a:r>
              <a:rPr kumimoji="1" lang="en-US" altLang="zh-TW" sz="2400" b="1" i="1" dirty="0" smtClean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  <a:sym typeface="Wingdings" pitchFamily="2" charset="2"/>
              </a:rPr>
              <a:t> </a:t>
            </a:r>
            <a:endParaRPr kumimoji="1" lang="en-US" altLang="zh-TW" sz="2400" b="1" dirty="0">
              <a:solidFill>
                <a:schemeClr val="accent2"/>
              </a:solidFill>
              <a:latin typeface="Times New Roman" pitchFamily="18" charset="0"/>
              <a:ea typeface="華康中楷體" pitchFamily="49" charset="-120"/>
            </a:endParaRPr>
          </a:p>
          <a:p>
            <a:pPr>
              <a:lnSpc>
                <a:spcPct val="120000"/>
              </a:lnSpc>
            </a:pPr>
            <a:r>
              <a:rPr kumimoji="1" lang="en-US" altLang="zh-TW" sz="2400" b="1" dirty="0" err="1" smtClean="0">
                <a:solidFill>
                  <a:srgbClr val="0070C0"/>
                </a:solidFill>
                <a:latin typeface="Times New Roman" pitchFamily="18" charset="0"/>
                <a:ea typeface="華康中楷體" pitchFamily="49" charset="-120"/>
              </a:rPr>
              <a:t>cos</a:t>
            </a:r>
            <a:r>
              <a:rPr kumimoji="1" lang="en-US" altLang="zh-TW" sz="2400" b="1" dirty="0" smtClean="0">
                <a:solidFill>
                  <a:srgbClr val="0070C0"/>
                </a:solidFill>
                <a:latin typeface="Times New Roman" pitchFamily="18" charset="0"/>
                <a:ea typeface="華康中楷體" pitchFamily="49" charset="-120"/>
              </a:rPr>
              <a:t> </a:t>
            </a:r>
            <a:r>
              <a:rPr kumimoji="1" lang="en-US" altLang="zh-TW" sz="2400" b="1" dirty="0">
                <a:solidFill>
                  <a:srgbClr val="0070C0"/>
                </a:solidFill>
                <a:latin typeface="Times New Roman" pitchFamily="18" charset="0"/>
                <a:ea typeface="華康中楷體" pitchFamily="49" charset="-120"/>
                <a:sym typeface="Symbol" pitchFamily="18" charset="2"/>
              </a:rPr>
              <a:t></a:t>
            </a:r>
            <a:r>
              <a:rPr kumimoji="1" lang="en-US" altLang="zh-TW" sz="2400" b="1" dirty="0">
                <a:solidFill>
                  <a:srgbClr val="0070C0"/>
                </a:solidFill>
                <a:latin typeface="Times New Roman" pitchFamily="18" charset="0"/>
                <a:ea typeface="華康中楷體" pitchFamily="49" charset="-120"/>
              </a:rPr>
              <a:t> </a:t>
            </a:r>
            <a:r>
              <a:rPr kumimoji="1" lang="en-US" altLang="zh-TW" sz="2400" b="1" dirty="0">
                <a:latin typeface="Times New Roman" pitchFamily="18" charset="0"/>
                <a:ea typeface="華康中楷體" pitchFamily="49" charset="-120"/>
              </a:rPr>
              <a:t>= (</a:t>
            </a:r>
            <a:r>
              <a:rPr kumimoji="1" lang="en-US" altLang="zh-TW" sz="2400" b="1" dirty="0">
                <a:solidFill>
                  <a:srgbClr val="00B050"/>
                </a:solidFill>
                <a:latin typeface="Times New Roman" pitchFamily="18" charset="0"/>
                <a:ea typeface="華康中楷體" pitchFamily="49" charset="-120"/>
              </a:rPr>
              <a:t>m-1)/2 </a:t>
            </a:r>
          </a:p>
          <a:p>
            <a:pPr>
              <a:lnSpc>
                <a:spcPct val="120000"/>
              </a:lnSpc>
            </a:pPr>
            <a:r>
              <a:rPr kumimoji="1" lang="en-US" altLang="zh-TW" sz="2400" b="1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m</a:t>
            </a:r>
            <a:r>
              <a:rPr kumimoji="1" lang="en-US" altLang="zh-TW" sz="2400" b="1" dirty="0">
                <a:latin typeface="Times New Roman" pitchFamily="18" charset="0"/>
                <a:ea typeface="華康中楷體" pitchFamily="49" charset="-120"/>
              </a:rPr>
              <a:t> must fall in the range of </a:t>
            </a:r>
            <a:r>
              <a:rPr kumimoji="1" lang="en-US" altLang="zh-TW" sz="2400" b="1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3</a:t>
            </a:r>
            <a:r>
              <a:rPr kumimoji="1" lang="en-US" altLang="zh-TW" sz="2400" b="1" dirty="0">
                <a:latin typeface="Times New Roman" pitchFamily="18" charset="0"/>
                <a:ea typeface="華康中楷體" pitchFamily="49" charset="-120"/>
              </a:rPr>
              <a:t> to </a:t>
            </a:r>
            <a:r>
              <a:rPr kumimoji="1" lang="en-US" altLang="zh-TW" sz="2400" b="1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-1</a:t>
            </a:r>
            <a:r>
              <a:rPr kumimoji="1" lang="en-US" altLang="zh-TW" sz="2400" b="1" dirty="0">
                <a:latin typeface="Times New Roman" pitchFamily="18" charset="0"/>
                <a:ea typeface="華康中楷體" pitchFamily="49" charset="-120"/>
              </a:rPr>
              <a:t>, since </a:t>
            </a:r>
            <a:r>
              <a:rPr kumimoji="1" lang="en-US" altLang="zh-TW" sz="2400" b="1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</a:rPr>
              <a:t>-1</a:t>
            </a:r>
            <a:r>
              <a:rPr kumimoji="1" lang="en-US" altLang="zh-TW" sz="2400" b="1" dirty="0">
                <a:latin typeface="Times New Roman" pitchFamily="18" charset="0"/>
                <a:ea typeface="華康中楷體" pitchFamily="49" charset="-120"/>
              </a:rPr>
              <a:t> </a:t>
            </a:r>
            <a:r>
              <a:rPr kumimoji="1" lang="en-US" altLang="zh-TW" sz="2400" b="1" dirty="0">
                <a:latin typeface="Times New Roman" pitchFamily="18" charset="0"/>
                <a:ea typeface="華康中楷體" pitchFamily="49" charset="-120"/>
                <a:sym typeface="Symbol" pitchFamily="18" charset="2"/>
              </a:rPr>
              <a:t></a:t>
            </a:r>
            <a:r>
              <a:rPr kumimoji="1" lang="en-US" altLang="zh-TW" sz="2400" b="1" dirty="0">
                <a:latin typeface="Times New Roman" pitchFamily="18" charset="0"/>
                <a:ea typeface="華康中楷體" pitchFamily="49" charset="-120"/>
              </a:rPr>
              <a:t> </a:t>
            </a:r>
            <a:r>
              <a:rPr kumimoji="1" lang="en-US" altLang="zh-TW" sz="2400" b="1" dirty="0" err="1">
                <a:solidFill>
                  <a:srgbClr val="00B050"/>
                </a:solidFill>
                <a:latin typeface="Times New Roman" pitchFamily="18" charset="0"/>
                <a:ea typeface="華康中楷體" pitchFamily="49" charset="-120"/>
              </a:rPr>
              <a:t>cos</a:t>
            </a:r>
            <a:r>
              <a:rPr kumimoji="1" lang="en-US" altLang="zh-TW" sz="2400" b="1" i="1" dirty="0">
                <a:solidFill>
                  <a:srgbClr val="00B050"/>
                </a:solidFill>
                <a:latin typeface="Times New Roman" pitchFamily="18" charset="0"/>
                <a:ea typeface="華康中楷體" pitchFamily="49" charset="-120"/>
                <a:sym typeface="Symbol" pitchFamily="18" charset="2"/>
              </a:rPr>
              <a:t></a:t>
            </a:r>
            <a:r>
              <a:rPr kumimoji="1" lang="en-US" altLang="zh-TW" sz="2400" b="1" dirty="0">
                <a:latin typeface="Times New Roman" pitchFamily="18" charset="0"/>
                <a:ea typeface="華康中楷體" pitchFamily="49" charset="-120"/>
                <a:sym typeface="Symbol" pitchFamily="18" charset="2"/>
              </a:rPr>
              <a:t>  </a:t>
            </a:r>
            <a:r>
              <a:rPr kumimoji="1" lang="en-US" altLang="zh-TW" sz="2400" b="1" dirty="0">
                <a:solidFill>
                  <a:srgbClr val="FF0000"/>
                </a:solidFill>
                <a:latin typeface="Times New Roman" pitchFamily="18" charset="0"/>
                <a:ea typeface="華康中楷體" pitchFamily="49" charset="-120"/>
                <a:sym typeface="Symbol" pitchFamily="18" charset="2"/>
              </a:rPr>
              <a:t>1</a:t>
            </a:r>
            <a:r>
              <a:rPr kumimoji="1" lang="en-US" altLang="zh-TW" sz="2400" b="1" dirty="0">
                <a:latin typeface="Times New Roman" pitchFamily="18" charset="0"/>
                <a:ea typeface="華康中楷體" pitchFamily="49" charset="-120"/>
              </a:rPr>
              <a:t> :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2600" y="457200"/>
            <a:ext cx="5816016" cy="46166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+mn-lt"/>
              </a:rPr>
              <a:t>Combining symmetry operations</a:t>
            </a:r>
            <a:endParaRPr lang="en-US" sz="2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219200"/>
            <a:ext cx="7772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 smtClean="0">
                <a:solidFill>
                  <a:srgbClr val="7030A0"/>
                </a:solidFill>
              </a:rPr>
              <a:t>An object can possess several symmetry elements.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 smtClean="0">
                <a:solidFill>
                  <a:srgbClr val="7030A0"/>
                </a:solidFill>
              </a:rPr>
              <a:t>Not all symmetry elements can be combined arbitrarily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00B050"/>
                </a:solidFill>
              </a:rPr>
              <a:t>- for example, two perpendicular two-fold axes imply the 	existence of a third perpendicular two-fold.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 smtClean="0">
                <a:solidFill>
                  <a:srgbClr val="7030A0"/>
                </a:solidFill>
              </a:rPr>
              <a:t>Translational symmetry in 3D imposes </a:t>
            </a:r>
            <a:r>
              <a:rPr lang="en-US" b="1" dirty="0" smtClean="0">
                <a:solidFill>
                  <a:srgbClr val="FF0000"/>
                </a:solidFill>
              </a:rPr>
              <a:t>limitations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00B050"/>
                </a:solidFill>
              </a:rPr>
              <a:t>- only 2, 3, 4 and 6-fold rotation axes allow for space filling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B050"/>
                </a:solidFill>
              </a:rPr>
              <a:t>	translational symmetry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 smtClean="0">
                <a:solidFill>
                  <a:srgbClr val="7030A0"/>
                </a:solidFill>
              </a:rPr>
              <a:t>The allowed combinations of symmetry elements are called </a:t>
            </a:r>
            <a:r>
              <a:rPr lang="en-US" b="1" dirty="0" smtClean="0">
                <a:solidFill>
                  <a:srgbClr val="FF0000"/>
                </a:solidFill>
              </a:rPr>
              <a:t>point groups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00B050"/>
                </a:solidFill>
              </a:rPr>
              <a:t>- there are 32 point groups that give rise to periodicity in 3D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09800" y="5410200"/>
            <a:ext cx="3657600" cy="1059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</a:rPr>
              <a:t>Show 3D repeat pattern</a:t>
            </a:r>
          </a:p>
          <a:p>
            <a:pPr marL="457200" indent="-457200">
              <a:lnSpc>
                <a:spcPct val="12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</a:rPr>
              <a:t>Contain symmetry elements</a:t>
            </a:r>
          </a:p>
          <a:p>
            <a:pPr marL="457200" indent="-457200">
              <a:lnSpc>
                <a:spcPct val="12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</a:rPr>
              <a:t>32 point groups exist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00400" y="381000"/>
            <a:ext cx="257474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/>
                <a:solidFill>
                  <a:srgbClr val="FF0000"/>
                </a:solidFill>
                <a:effectLst/>
              </a:rPr>
              <a:t>32 point groups </a:t>
            </a:r>
            <a:endParaRPr lang="en-US" sz="2400" b="1" cap="none" spc="0" dirty="0">
              <a:ln/>
              <a:solidFill>
                <a:srgbClr val="FF0000"/>
              </a:solidFill>
              <a:effectLst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78840"/>
          <a:ext cx="8153400" cy="5567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05000"/>
                <a:gridCol w="1371600"/>
                <a:gridCol w="762000"/>
                <a:gridCol w="4114800"/>
              </a:tblGrid>
              <a:tr h="4470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System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Symmetry Clements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H-B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Schon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-flies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Triclinic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1(bar)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r>
                        <a:rPr lang="en-US" i="1" dirty="0" err="1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i="1" baseline="-25000" dirty="0" err="1" smtClean="0">
                          <a:solidFill>
                            <a:srgbClr val="FF0000"/>
                          </a:solidFill>
                        </a:rPr>
                        <a:t>i</a:t>
                      </a:r>
                      <a:endParaRPr lang="en-US" i="1" baseline="-25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  <a:p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 </a:t>
                      </a:r>
                      <a:r>
                        <a:rPr lang="en-US" i="1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Monoclinic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solidFill>
                            <a:srgbClr val="002060"/>
                          </a:solidFill>
                        </a:rPr>
                        <a:t>m</a:t>
                      </a:r>
                    </a:p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2/</a:t>
                      </a:r>
                      <a:r>
                        <a:rPr lang="en-US" i="1" dirty="0" smtClean="0">
                          <a:solidFill>
                            <a:srgbClr val="002060"/>
                          </a:solidFill>
                        </a:rPr>
                        <a:t>m</a:t>
                      </a:r>
                      <a:endParaRPr lang="en-US" i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i="0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i="0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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i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 C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 C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Orthorhombic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rgbClr val="002060"/>
                          </a:solidFill>
                        </a:rPr>
                        <a:t>mm</a:t>
                      </a:r>
                    </a:p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222</a:t>
                      </a:r>
                    </a:p>
                    <a:p>
                      <a:r>
                        <a:rPr lang="en-US" i="1" dirty="0" err="1" smtClean="0">
                          <a:solidFill>
                            <a:srgbClr val="002060"/>
                          </a:solidFill>
                        </a:rPr>
                        <a:t>mmm</a:t>
                      </a:r>
                      <a:endParaRPr lang="en-US" i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  <a:p>
                      <a:r>
                        <a:rPr lang="en-US" i="1" baseline="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2h</a:t>
                      </a:r>
                      <a:endParaRPr lang="en-US" i="1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 C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’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V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”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 C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C’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C”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 C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C’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C”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baseline="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h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’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V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”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en-US" i="1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Tetragonal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4(bar)</a:t>
                      </a:r>
                    </a:p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4/</a:t>
                      </a:r>
                      <a:r>
                        <a:rPr lang="en-US" i="1" dirty="0" smtClean="0">
                          <a:solidFill>
                            <a:srgbClr val="002060"/>
                          </a:solidFill>
                        </a:rPr>
                        <a:t>m</a:t>
                      </a:r>
                    </a:p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4</a:t>
                      </a:r>
                      <a:r>
                        <a:rPr lang="en-US" i="1" dirty="0" smtClean="0">
                          <a:solidFill>
                            <a:srgbClr val="002060"/>
                          </a:solidFill>
                        </a:rPr>
                        <a:t>mm</a:t>
                      </a:r>
                    </a:p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4(bar)2</a:t>
                      </a:r>
                      <a:r>
                        <a:rPr lang="en-US" i="1" dirty="0" smtClean="0">
                          <a:solidFill>
                            <a:srgbClr val="002060"/>
                          </a:solidFill>
                        </a:rPr>
                        <a:t>m</a:t>
                      </a:r>
                    </a:p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422</a:t>
                      </a:r>
                    </a:p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4/</a:t>
                      </a:r>
                      <a:r>
                        <a:rPr lang="en-US" i="1" dirty="0" err="1" smtClean="0">
                          <a:solidFill>
                            <a:srgbClr val="002060"/>
                          </a:solidFill>
                        </a:rPr>
                        <a:t>mmm</a:t>
                      </a:r>
                      <a:endParaRPr lang="en-US" i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i="0" baseline="-25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  <a:p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baseline="-25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i="0" baseline="-25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i="0" baseline="-25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i="0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i="0" baseline="-25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i="1" baseline="-25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i="0" baseline="-25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n-US" baseline="-25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en-US" i="1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en-US" i="1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en-US" i="1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baseline="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baseline="-250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en-US" i="1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’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V  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  <a:sym typeface="Symbol"/>
                        </a:rPr>
                        <a:t>d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baseline="-250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 C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C’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C”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  <a:sym typeface="Symbol"/>
                        </a:rPr>
                        <a:t>d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en-US" i="1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C’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C”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aseline="-250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en-US" i="1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C’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C”</a:t>
                      </a:r>
                      <a:r>
                        <a:rPr lang="en-US" i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i="1" baseline="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baseline="-25000" dirty="0" smtClean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h 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’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V  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i="1" baseline="-2500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680720"/>
          <a:ext cx="9220200" cy="6024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33600"/>
                <a:gridCol w="1295400"/>
                <a:gridCol w="762000"/>
                <a:gridCol w="5029200"/>
              </a:tblGrid>
              <a:tr h="4470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System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Symmetry Clements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H-B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Schon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-flies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rgbClr val="00B050"/>
                          </a:solidFill>
                        </a:rPr>
                        <a:t>Trigonal</a:t>
                      </a:r>
                      <a:endParaRPr lang="en-US" dirty="0" smtClean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rgbClr val="00B050"/>
                          </a:solidFill>
                        </a:rPr>
                        <a:t>rhombohedral</a:t>
                      </a:r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3</a:t>
                      </a:r>
                    </a:p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3(bar)</a:t>
                      </a:r>
                    </a:p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3</a:t>
                      </a:r>
                      <a:r>
                        <a:rPr lang="en-US" i="1" dirty="0" smtClean="0">
                          <a:solidFill>
                            <a:srgbClr val="00B0F0"/>
                          </a:solidFill>
                        </a:rPr>
                        <a:t>m</a:t>
                      </a:r>
                    </a:p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32</a:t>
                      </a:r>
                      <a:endParaRPr lang="en-US" i="1" dirty="0" smtClean="0">
                        <a:solidFill>
                          <a:srgbClr val="00B0F0"/>
                        </a:solidFill>
                      </a:endParaRPr>
                    </a:p>
                    <a:p>
                      <a:r>
                        <a:rPr lang="en-US" smtClean="0">
                          <a:solidFill>
                            <a:srgbClr val="00B0F0"/>
                          </a:solidFill>
                        </a:rPr>
                        <a:t>3(bar)m</a:t>
                      </a:r>
                      <a:endParaRPr lang="en-US" i="1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  <a:p>
                      <a:r>
                        <a:rPr lang="en-US" i="1" baseline="0" dirty="0" smtClean="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  <a:p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  <a:p>
                      <a:r>
                        <a:rPr lang="en-US" i="1" baseline="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3d</a:t>
                      </a:r>
                      <a:endParaRPr lang="en-US" i="1" baseline="-25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E</a:t>
                      </a:r>
                      <a:r>
                        <a:rPr lang="en-US" dirty="0" smtClean="0"/>
                        <a:t> 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3</a:t>
                      </a:r>
                    </a:p>
                    <a:p>
                      <a:r>
                        <a:rPr lang="en-US" i="1" dirty="0" smtClean="0"/>
                        <a:t>E</a:t>
                      </a:r>
                      <a:r>
                        <a:rPr lang="en-US" dirty="0" smtClean="0"/>
                        <a:t> 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3 </a:t>
                      </a:r>
                      <a:r>
                        <a:rPr lang="en-US" i="1" baseline="0" dirty="0" err="1" smtClean="0"/>
                        <a:t>i</a:t>
                      </a:r>
                      <a:r>
                        <a:rPr lang="en-US" i="1" baseline="0" dirty="0" smtClean="0"/>
                        <a:t> </a:t>
                      </a:r>
                      <a:r>
                        <a:rPr lang="en-US" dirty="0" smtClean="0"/>
                        <a:t>2</a:t>
                      </a:r>
                      <a:r>
                        <a:rPr lang="en-US" i="1" dirty="0" smtClean="0"/>
                        <a:t>S</a:t>
                      </a:r>
                      <a:r>
                        <a:rPr lang="en-US" baseline="-25000" dirty="0" smtClean="0"/>
                        <a:t>4 </a:t>
                      </a:r>
                    </a:p>
                    <a:p>
                      <a:r>
                        <a:rPr lang="en-US" i="1" dirty="0" smtClean="0"/>
                        <a:t>E</a:t>
                      </a:r>
                      <a:r>
                        <a:rPr lang="en-US" dirty="0" smtClean="0"/>
                        <a:t> 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3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V </a:t>
                      </a:r>
                    </a:p>
                    <a:p>
                      <a:r>
                        <a:rPr lang="en-US" i="1" dirty="0" smtClean="0"/>
                        <a:t>E</a:t>
                      </a:r>
                      <a:r>
                        <a:rPr lang="en-US" dirty="0" smtClean="0"/>
                        <a:t> 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3 </a:t>
                      </a:r>
                      <a:r>
                        <a:rPr lang="en-US" dirty="0" smtClean="0"/>
                        <a:t>3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E</a:t>
                      </a:r>
                      <a:r>
                        <a:rPr lang="en-US" dirty="0" smtClean="0"/>
                        <a:t> 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3 </a:t>
                      </a:r>
                      <a:r>
                        <a:rPr lang="en-US" dirty="0" smtClean="0"/>
                        <a:t>3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2 </a:t>
                      </a:r>
                      <a:r>
                        <a:rPr lang="en-US" i="1" dirty="0" err="1" smtClean="0"/>
                        <a:t>i</a:t>
                      </a:r>
                      <a:r>
                        <a:rPr lang="en-US" i="1" dirty="0" smtClean="0"/>
                        <a:t> </a:t>
                      </a:r>
                      <a:r>
                        <a:rPr lang="en-US" dirty="0" smtClean="0"/>
                        <a:t>2</a:t>
                      </a:r>
                      <a:r>
                        <a:rPr lang="en-US" i="1" dirty="0" smtClean="0"/>
                        <a:t>S</a:t>
                      </a:r>
                      <a:r>
                        <a:rPr lang="en-US" baseline="-25000" dirty="0" smtClean="0"/>
                        <a:t>6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>
                          <a:sym typeface="Symbol"/>
                        </a:rPr>
                        <a:t>d</a:t>
                      </a:r>
                      <a:endParaRPr lang="en-US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Hexagonal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6</a:t>
                      </a:r>
                    </a:p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6(bar)</a:t>
                      </a:r>
                    </a:p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6/</a:t>
                      </a:r>
                      <a:r>
                        <a:rPr lang="en-US" i="1" dirty="0" smtClean="0">
                          <a:solidFill>
                            <a:srgbClr val="00B0F0"/>
                          </a:solidFill>
                        </a:rPr>
                        <a:t>m</a:t>
                      </a:r>
                    </a:p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6(bar)</a:t>
                      </a:r>
                      <a:r>
                        <a:rPr lang="en-US" i="1" dirty="0" smtClean="0">
                          <a:solidFill>
                            <a:srgbClr val="00B0F0"/>
                          </a:solidFill>
                        </a:rPr>
                        <a:t>m</a:t>
                      </a:r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2</a:t>
                      </a:r>
                      <a:endParaRPr lang="en-US" i="1" dirty="0" smtClean="0">
                        <a:solidFill>
                          <a:srgbClr val="00B0F0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6</a:t>
                      </a:r>
                      <a:r>
                        <a:rPr lang="en-US" i="1" dirty="0" smtClean="0">
                          <a:solidFill>
                            <a:srgbClr val="00B0F0"/>
                          </a:solidFill>
                        </a:rPr>
                        <a:t>mm</a:t>
                      </a:r>
                    </a:p>
                    <a:p>
                      <a:r>
                        <a:rPr lang="en-US" i="0" dirty="0" smtClean="0">
                          <a:solidFill>
                            <a:srgbClr val="00B0F0"/>
                          </a:solidFill>
                        </a:rPr>
                        <a:t>622</a:t>
                      </a:r>
                    </a:p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6/</a:t>
                      </a:r>
                      <a:r>
                        <a:rPr lang="en-US" i="1" dirty="0" err="1" smtClean="0">
                          <a:solidFill>
                            <a:srgbClr val="00B0F0"/>
                          </a:solidFill>
                        </a:rPr>
                        <a:t>mmm</a:t>
                      </a:r>
                      <a:endParaRPr lang="en-US" i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i="0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i="0" baseline="-25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3h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baseline="-25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6h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E C</a:t>
                      </a:r>
                      <a:r>
                        <a:rPr lang="en-US" baseline="-25000" dirty="0" smtClean="0"/>
                        <a:t>6 </a:t>
                      </a:r>
                      <a:r>
                        <a:rPr lang="en-US" dirty="0" smtClean="0"/>
                        <a:t>2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3 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2</a:t>
                      </a:r>
                      <a:endParaRPr lang="en-US" i="1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E 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h </a:t>
                      </a:r>
                      <a:r>
                        <a:rPr lang="en-US" dirty="0" smtClean="0"/>
                        <a:t>2</a:t>
                      </a:r>
                      <a:r>
                        <a:rPr lang="en-US" i="1" dirty="0" smtClean="0"/>
                        <a:t>S</a:t>
                      </a:r>
                      <a:r>
                        <a:rPr lang="en-US" i="1" baseline="-25000" dirty="0" smtClean="0"/>
                        <a:t>3</a:t>
                      </a:r>
                      <a:endParaRPr lang="en-US" i="0" baseline="-250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E C</a:t>
                      </a:r>
                      <a:r>
                        <a:rPr lang="en-US" baseline="-25000" dirty="0" smtClean="0"/>
                        <a:t>6 </a:t>
                      </a:r>
                      <a:r>
                        <a:rPr lang="en-US" i="0" dirty="0" smtClean="0"/>
                        <a:t>2</a:t>
                      </a:r>
                      <a:r>
                        <a:rPr lang="en-US" i="1" dirty="0" smtClean="0"/>
                        <a:t>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2 </a:t>
                      </a:r>
                      <a:r>
                        <a:rPr lang="en-US" i="1" dirty="0" err="1" smtClean="0"/>
                        <a:t>i</a:t>
                      </a:r>
                      <a:r>
                        <a:rPr lang="en-US" i="1" dirty="0" smtClean="0"/>
                        <a:t> </a:t>
                      </a:r>
                      <a:r>
                        <a:rPr lang="en-US" dirty="0" smtClean="0"/>
                        <a:t>2</a:t>
                      </a:r>
                      <a:r>
                        <a:rPr lang="en-US" i="1" dirty="0" smtClean="0"/>
                        <a:t>S</a:t>
                      </a:r>
                      <a:r>
                        <a:rPr lang="en-US" baseline="-25000" dirty="0" smtClean="0"/>
                        <a:t>3 </a:t>
                      </a:r>
                      <a:r>
                        <a:rPr lang="en-US" dirty="0" smtClean="0"/>
                        <a:t>2</a:t>
                      </a:r>
                      <a:r>
                        <a:rPr lang="en-US" i="1" dirty="0" smtClean="0"/>
                        <a:t>S</a:t>
                      </a:r>
                      <a:r>
                        <a:rPr lang="en-US" baseline="-25000" dirty="0" smtClean="0"/>
                        <a:t>6 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h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E 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0" dirty="0" smtClean="0"/>
                        <a:t>3</a:t>
                      </a:r>
                      <a:r>
                        <a:rPr lang="en-US" i="1" dirty="0" smtClean="0"/>
                        <a:t>C</a:t>
                      </a:r>
                      <a:r>
                        <a:rPr lang="en-US" i="0" baseline="-25000" dirty="0" smtClean="0"/>
                        <a:t>2 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h </a:t>
                      </a:r>
                      <a:r>
                        <a:rPr lang="en-US" dirty="0" smtClean="0"/>
                        <a:t>2</a:t>
                      </a:r>
                      <a:r>
                        <a:rPr lang="en-US" i="1" dirty="0" smtClean="0"/>
                        <a:t>S</a:t>
                      </a:r>
                      <a:r>
                        <a:rPr lang="en-US" i="1" baseline="-25000" dirty="0" smtClean="0"/>
                        <a:t>3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V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E C</a:t>
                      </a:r>
                      <a:r>
                        <a:rPr lang="en-US" baseline="-25000" dirty="0" smtClean="0"/>
                        <a:t>6 </a:t>
                      </a:r>
                      <a:r>
                        <a:rPr lang="en-US" i="0" dirty="0" smtClean="0"/>
                        <a:t>2</a:t>
                      </a:r>
                      <a:r>
                        <a:rPr lang="en-US" i="1" dirty="0" smtClean="0"/>
                        <a:t>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2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V 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d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E C</a:t>
                      </a:r>
                      <a:r>
                        <a:rPr lang="en-US" baseline="-25000" dirty="0" smtClean="0"/>
                        <a:t>6 </a:t>
                      </a:r>
                      <a:r>
                        <a:rPr lang="en-US" i="0" dirty="0" smtClean="0"/>
                        <a:t>2</a:t>
                      </a:r>
                      <a:r>
                        <a:rPr lang="en-US" i="1" dirty="0" smtClean="0"/>
                        <a:t>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2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/>
                        <a:t>C’</a:t>
                      </a:r>
                      <a:r>
                        <a:rPr lang="en-US" baseline="-25000" dirty="0" smtClean="0"/>
                        <a:t>2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/>
                        <a:t>C”</a:t>
                      </a:r>
                      <a:r>
                        <a:rPr lang="en-US" baseline="-25000" dirty="0" smtClean="0"/>
                        <a:t>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E C</a:t>
                      </a:r>
                      <a:r>
                        <a:rPr lang="en-US" baseline="-25000" dirty="0" smtClean="0"/>
                        <a:t>6 </a:t>
                      </a:r>
                      <a:r>
                        <a:rPr lang="en-US" i="0" dirty="0" smtClean="0"/>
                        <a:t>2</a:t>
                      </a:r>
                      <a:r>
                        <a:rPr lang="en-US" i="1" dirty="0" smtClean="0"/>
                        <a:t>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C</a:t>
                      </a:r>
                      <a:r>
                        <a:rPr lang="en-US" baseline="-25000" dirty="0" smtClean="0"/>
                        <a:t>2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/>
                        <a:t>C’</a:t>
                      </a:r>
                      <a:r>
                        <a:rPr lang="en-US" baseline="-25000" dirty="0" smtClean="0"/>
                        <a:t>2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/>
                        <a:t>C”</a:t>
                      </a:r>
                      <a:r>
                        <a:rPr lang="en-US" baseline="-25000" dirty="0" smtClean="0"/>
                        <a:t>2 </a:t>
                      </a:r>
                      <a:r>
                        <a:rPr lang="en-US" i="1" dirty="0" err="1" smtClean="0"/>
                        <a:t>i</a:t>
                      </a:r>
                      <a:r>
                        <a:rPr lang="en-US" i="1" dirty="0" smtClean="0"/>
                        <a:t> </a:t>
                      </a:r>
                      <a:r>
                        <a:rPr lang="en-US" dirty="0" smtClean="0"/>
                        <a:t>2</a:t>
                      </a:r>
                      <a:r>
                        <a:rPr lang="en-US" i="1" dirty="0" smtClean="0"/>
                        <a:t>S</a:t>
                      </a:r>
                      <a:r>
                        <a:rPr lang="en-US" baseline="-25000" dirty="0" smtClean="0"/>
                        <a:t>3 </a:t>
                      </a:r>
                      <a:r>
                        <a:rPr lang="en-US" dirty="0" smtClean="0"/>
                        <a:t>2</a:t>
                      </a:r>
                      <a:r>
                        <a:rPr lang="en-US" i="1" dirty="0" smtClean="0"/>
                        <a:t>S</a:t>
                      </a:r>
                      <a:r>
                        <a:rPr lang="en-US" baseline="-25000" dirty="0" smtClean="0"/>
                        <a:t>6 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h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d 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v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Cubic 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23</a:t>
                      </a:r>
                      <a:endParaRPr lang="en-US" i="1" dirty="0" smtClean="0">
                        <a:solidFill>
                          <a:srgbClr val="00B0F0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m3</a:t>
                      </a:r>
                    </a:p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4(bar)3</a:t>
                      </a:r>
                      <a:r>
                        <a:rPr lang="en-US" i="1" dirty="0" smtClean="0">
                          <a:solidFill>
                            <a:srgbClr val="00B0F0"/>
                          </a:solidFill>
                        </a:rPr>
                        <a:t>m</a:t>
                      </a:r>
                    </a:p>
                    <a:p>
                      <a:r>
                        <a:rPr lang="en-US" i="0" dirty="0" smtClean="0">
                          <a:solidFill>
                            <a:srgbClr val="00B0F0"/>
                          </a:solidFill>
                        </a:rPr>
                        <a:t>432</a:t>
                      </a:r>
                    </a:p>
                    <a:p>
                      <a:r>
                        <a:rPr lang="en-US" i="1" dirty="0" smtClean="0">
                          <a:solidFill>
                            <a:srgbClr val="00B0F0"/>
                          </a:solidFill>
                        </a:rPr>
                        <a:t>m</a:t>
                      </a:r>
                      <a:r>
                        <a:rPr lang="en-US" i="0" dirty="0" smtClean="0">
                          <a:solidFill>
                            <a:srgbClr val="00B0F0"/>
                          </a:solidFill>
                        </a:rPr>
                        <a:t>3</a:t>
                      </a:r>
                      <a:r>
                        <a:rPr lang="en-US" i="1" dirty="0" smtClean="0">
                          <a:solidFill>
                            <a:srgbClr val="00B0F0"/>
                          </a:solidFill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en-US" i="0" baseline="-25000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i="1" dirty="0" err="1" smtClean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i="1" baseline="-25000" dirty="0" err="1" smtClean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n-US" baseline="-25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r>
                        <a:rPr lang="en-US" i="1" baseline="-25000" dirty="0" smtClean="0">
                          <a:solidFill>
                            <a:srgbClr val="FF0000"/>
                          </a:solidFill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E 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4C</a:t>
                      </a:r>
                      <a:r>
                        <a:rPr lang="en-US" i="1" baseline="30000" dirty="0" smtClean="0"/>
                        <a:t>2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3C</a:t>
                      </a:r>
                      <a:r>
                        <a:rPr lang="en-US" i="0" baseline="-25000" dirty="0" smtClean="0"/>
                        <a:t>2</a:t>
                      </a:r>
                      <a:endParaRPr lang="en-US" i="1" baseline="-25000" dirty="0" smtClean="0"/>
                    </a:p>
                    <a:p>
                      <a:r>
                        <a:rPr lang="en-US" i="1" dirty="0" smtClean="0"/>
                        <a:t>E 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4C</a:t>
                      </a:r>
                      <a:r>
                        <a:rPr lang="en-US" i="1" baseline="30000" dirty="0" smtClean="0"/>
                        <a:t>2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3C</a:t>
                      </a:r>
                      <a:r>
                        <a:rPr lang="en-US" i="0" baseline="-25000" dirty="0" smtClean="0"/>
                        <a:t>2 </a:t>
                      </a:r>
                      <a:r>
                        <a:rPr lang="en-US" i="1" baseline="0" dirty="0" err="1" smtClean="0"/>
                        <a:t>i</a:t>
                      </a:r>
                      <a:r>
                        <a:rPr lang="en-US" i="1" baseline="0" dirty="0" smtClean="0"/>
                        <a:t> </a:t>
                      </a:r>
                      <a:r>
                        <a:rPr lang="en-US" dirty="0" smtClean="0"/>
                        <a:t>8</a:t>
                      </a:r>
                      <a:r>
                        <a:rPr lang="en-US" i="1" dirty="0" smtClean="0"/>
                        <a:t>S</a:t>
                      </a:r>
                      <a:r>
                        <a:rPr lang="en-US" baseline="-25000" dirty="0" smtClean="0"/>
                        <a:t>6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smtClean="0"/>
                        <a:t>E </a:t>
                      </a:r>
                      <a:r>
                        <a:rPr lang="en-US" i="1" dirty="0" smtClean="0"/>
                        <a:t>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3C</a:t>
                      </a:r>
                      <a:r>
                        <a:rPr lang="en-US" i="0" baseline="-25000" dirty="0" smtClean="0"/>
                        <a:t>2 </a:t>
                      </a:r>
                      <a:r>
                        <a:rPr lang="en-US" baseline="0" dirty="0" smtClean="0"/>
                        <a:t>6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d </a:t>
                      </a:r>
                      <a:r>
                        <a:rPr lang="en-US" dirty="0" smtClean="0"/>
                        <a:t>6</a:t>
                      </a:r>
                      <a:r>
                        <a:rPr lang="en-US" i="1" dirty="0" smtClean="0"/>
                        <a:t>S</a:t>
                      </a:r>
                      <a:r>
                        <a:rPr lang="en-US" baseline="-25000" dirty="0" smtClean="0"/>
                        <a:t>4</a:t>
                      </a:r>
                      <a:endParaRPr lang="en-US" i="1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smtClean="0"/>
                        <a:t>E </a:t>
                      </a:r>
                      <a:r>
                        <a:rPr lang="en-US" i="1" dirty="0" smtClean="0"/>
                        <a:t>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3C</a:t>
                      </a:r>
                      <a:r>
                        <a:rPr lang="en-US" i="0" baseline="-25000" dirty="0" smtClean="0"/>
                        <a:t>2 </a:t>
                      </a:r>
                      <a:r>
                        <a:rPr lang="en-US" dirty="0" smtClean="0"/>
                        <a:t>6</a:t>
                      </a:r>
                      <a:r>
                        <a:rPr lang="en-US" i="1" dirty="0" smtClean="0"/>
                        <a:t>C’</a:t>
                      </a:r>
                      <a:r>
                        <a:rPr lang="en-US" i="0" baseline="-25000" dirty="0" smtClean="0"/>
                        <a:t>2 </a:t>
                      </a:r>
                      <a:r>
                        <a:rPr lang="en-US" dirty="0" smtClean="0"/>
                        <a:t>6</a:t>
                      </a:r>
                      <a:r>
                        <a:rPr lang="en-US" i="1" dirty="0" smtClean="0"/>
                        <a:t>C</a:t>
                      </a:r>
                      <a:r>
                        <a:rPr lang="en-US" i="0" baseline="-25000" dirty="0" smtClean="0"/>
                        <a:t>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smtClean="0"/>
                        <a:t>E </a:t>
                      </a:r>
                      <a:r>
                        <a:rPr lang="en-US" i="1" dirty="0" smtClean="0"/>
                        <a:t>C</a:t>
                      </a:r>
                      <a:r>
                        <a:rPr lang="en-US" i="0" baseline="-25000" dirty="0" smtClean="0"/>
                        <a:t>3 </a:t>
                      </a:r>
                      <a:r>
                        <a:rPr lang="en-US" i="1" dirty="0" smtClean="0"/>
                        <a:t>3C</a:t>
                      </a:r>
                      <a:r>
                        <a:rPr lang="en-US" i="0" baseline="-25000" dirty="0" smtClean="0"/>
                        <a:t>2 </a:t>
                      </a:r>
                      <a:r>
                        <a:rPr lang="en-US" i="1" dirty="0" smtClean="0"/>
                        <a:t>6C</a:t>
                      </a:r>
                      <a:r>
                        <a:rPr lang="en-US" i="0" baseline="-25000" dirty="0" smtClean="0"/>
                        <a:t>2 </a:t>
                      </a:r>
                      <a:r>
                        <a:rPr lang="en-US" dirty="0" smtClean="0"/>
                        <a:t>6</a:t>
                      </a:r>
                      <a:r>
                        <a:rPr lang="en-US" i="1" dirty="0" smtClean="0"/>
                        <a:t>C</a:t>
                      </a:r>
                      <a:r>
                        <a:rPr lang="en-US" i="0" baseline="-25000" dirty="0" smtClean="0"/>
                        <a:t>4 </a:t>
                      </a:r>
                      <a:r>
                        <a:rPr lang="en-US" i="1" baseline="0" dirty="0" err="1" smtClean="0"/>
                        <a:t>i</a:t>
                      </a:r>
                      <a:r>
                        <a:rPr lang="en-US" i="1" baseline="0" dirty="0" smtClean="0"/>
                        <a:t> </a:t>
                      </a:r>
                      <a:r>
                        <a:rPr lang="en-US" dirty="0" smtClean="0"/>
                        <a:t>8</a:t>
                      </a:r>
                      <a:r>
                        <a:rPr lang="en-US" i="1" dirty="0" smtClean="0"/>
                        <a:t>S</a:t>
                      </a:r>
                      <a:r>
                        <a:rPr lang="en-US" baseline="-25000" dirty="0" smtClean="0"/>
                        <a:t>6 </a:t>
                      </a:r>
                      <a:r>
                        <a:rPr lang="en-US" baseline="0" dirty="0" smtClean="0"/>
                        <a:t>3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/>
                        <a:t>h </a:t>
                      </a:r>
                      <a:r>
                        <a:rPr lang="en-US" baseline="0" dirty="0" smtClean="0"/>
                        <a:t>6</a:t>
                      </a:r>
                      <a:r>
                        <a:rPr lang="en-US" i="1" dirty="0" smtClean="0">
                          <a:sym typeface="Symbol"/>
                        </a:rPr>
                        <a:t></a:t>
                      </a:r>
                      <a:r>
                        <a:rPr lang="en-US" i="1" baseline="-25000" dirty="0" smtClean="0">
                          <a:sym typeface="Symbol"/>
                        </a:rPr>
                        <a:t>d </a:t>
                      </a:r>
                      <a:r>
                        <a:rPr lang="en-US" dirty="0" smtClean="0"/>
                        <a:t>6</a:t>
                      </a:r>
                      <a:r>
                        <a:rPr lang="en-US" i="1" dirty="0" smtClean="0"/>
                        <a:t>S</a:t>
                      </a:r>
                      <a:r>
                        <a:rPr lang="en-US" baseline="-25000" dirty="0" smtClean="0"/>
                        <a:t>4</a:t>
                      </a:r>
                      <a:endParaRPr lang="en-US" i="1" baseline="0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200400" y="152400"/>
            <a:ext cx="257474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/>
                <a:solidFill>
                  <a:srgbClr val="FF0000"/>
                </a:solidFill>
                <a:effectLst/>
              </a:rPr>
              <a:t>32 point groups </a:t>
            </a:r>
            <a:endParaRPr lang="en-US" sz="2400" b="1" cap="none" spc="0" dirty="0">
              <a:ln/>
              <a:solidFill>
                <a:srgbClr val="FF0000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04800" y="762000"/>
            <a:ext cx="8458200" cy="3429000"/>
          </a:xfrm>
          <a:prstGeom prst="rect">
            <a:avLst/>
          </a:prstGeom>
        </p:spPr>
        <p:txBody>
          <a:bodyPr/>
          <a:lstStyle/>
          <a:p>
            <a:pPr marL="274320" indent="-274320" algn="just" fontAlgn="auto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addition of translation components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into the 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point groups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symmetry created 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space groups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74320" indent="-274320" algn="just" fontAlgn="auto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Schonflies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notation for the space group symmetry are complex.</a:t>
            </a:r>
          </a:p>
          <a:p>
            <a:pPr marL="274320" indent="-274320" algn="just" fontAlgn="auto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 added superscripts to the point group to denote space groups.</a:t>
            </a:r>
          </a:p>
          <a:p>
            <a:pPr marL="274320" indent="-274320" algn="just" fontAlgn="auto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Because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of this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Hermann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Mauguin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developed an alternating system to symbolize space group symmetry.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0" y="179596"/>
            <a:ext cx="6003567" cy="5824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</a:rPr>
              <a:t>The Hermann-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</a:rPr>
              <a:t>Mauguin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</a:rPr>
              <a:t>(</a:t>
            </a:r>
            <a:r>
              <a:rPr lang="en-US" sz="2400" b="1" dirty="0" smtClean="0">
                <a:solidFill>
                  <a:srgbClr val="00B05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</a:rPr>
              <a:t>H-M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</a:rPr>
              <a:t>) Notation</a:t>
            </a:r>
            <a:endParaRPr lang="en-US" sz="2400" b="1" dirty="0">
              <a:solidFill>
                <a:srgbClr val="FF0000"/>
              </a:solidFill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57224" y="3217564"/>
          <a:ext cx="769620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316"/>
                <a:gridCol w="2231898"/>
                <a:gridCol w="1231393"/>
                <a:gridCol w="2847594"/>
              </a:tblGrid>
              <a:tr h="500063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Schonflies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Notations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Hermann-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Mauguin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Notations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Schonflies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Notations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Hermann-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Mauguin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Notations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sz="2400" b="1" baseline="-25000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sz="2400" b="1" baseline="-25000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002060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sz="2400" b="1" dirty="0">
                        <a:solidFill>
                          <a:srgbClr val="00206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  <a:sym typeface="Symbol"/>
                        </a:rPr>
                        <a:t></a:t>
                      </a:r>
                      <a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  <a:sym typeface="Symbol"/>
                        </a:rPr>
                        <a:t>h</a:t>
                      </a:r>
                      <a:endParaRPr lang="en-US" sz="2400" b="1" i="1" baseline="-25000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002060"/>
                          </a:solidFill>
                          <a:latin typeface="Arial" pitchFamily="34" charset="0"/>
                          <a:cs typeface="Arial" pitchFamily="34" charset="0"/>
                        </a:rPr>
                        <a:t>n/m</a:t>
                      </a:r>
                      <a:endParaRPr lang="en-US" sz="2400" b="1" i="1" dirty="0">
                        <a:solidFill>
                          <a:srgbClr val="00206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sz="2400" b="1" baseline="-25000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US" sz="2400" b="1" baseline="-25000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002060"/>
                          </a:solidFill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US" sz="2400" b="1" dirty="0">
                        <a:solidFill>
                          <a:srgbClr val="00206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  <a:sym typeface="Symbol"/>
                        </a:rPr>
                        <a:t></a:t>
                      </a:r>
                      <a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  <a:sym typeface="Symbol"/>
                        </a:rPr>
                        <a:t>v</a:t>
                      </a:r>
                      <a:endParaRPr lang="en-US" sz="2400" b="1" i="1" baseline="-25000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002060"/>
                          </a:solidFill>
                          <a:latin typeface="Arial" pitchFamily="34" charset="0"/>
                          <a:cs typeface="Arial" pitchFamily="34" charset="0"/>
                        </a:rPr>
                        <a:t>nm</a:t>
                      </a:r>
                      <a:endParaRPr lang="en-US" sz="2400" b="1" i="1" dirty="0">
                        <a:solidFill>
                          <a:srgbClr val="00206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sz="2400" b="1" baseline="-25000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US" sz="2400" b="1" baseline="-25000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002060"/>
                          </a:solidFill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US" sz="2400" b="1" dirty="0">
                        <a:solidFill>
                          <a:srgbClr val="00206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i</a:t>
                      </a:r>
                      <a:endParaRPr lang="en-US" sz="2400" b="1" i="1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002060"/>
                          </a:solidFill>
                          <a:latin typeface="Arial" pitchFamily="34" charset="0"/>
                          <a:cs typeface="Arial" pitchFamily="34" charset="0"/>
                        </a:rPr>
                        <a:t>1 (</a:t>
                      </a:r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Arial" pitchFamily="34" charset="0"/>
                          <a:cs typeface="Arial" pitchFamily="34" charset="0"/>
                        </a:rPr>
                        <a:t>bar</a:t>
                      </a:r>
                      <a:r>
                        <a:rPr lang="en-US" sz="2400" b="1" dirty="0" smtClean="0">
                          <a:solidFill>
                            <a:srgbClr val="002060"/>
                          </a:solidFill>
                          <a:latin typeface="Arial" pitchFamily="34" charset="0"/>
                          <a:cs typeface="Arial" pitchFamily="34" charset="0"/>
                        </a:rPr>
                        <a:t>) or (</a:t>
                      </a:r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Arial" pitchFamily="34" charset="0"/>
                          <a:cs typeface="Arial" pitchFamily="34" charset="0"/>
                        </a:rPr>
                        <a:t>bar</a:t>
                      </a:r>
                      <a:r>
                        <a:rPr lang="en-US" sz="2400" b="1" dirty="0" smtClean="0">
                          <a:solidFill>
                            <a:srgbClr val="002060"/>
                          </a:solidFill>
                          <a:latin typeface="Arial" pitchFamily="34" charset="0"/>
                          <a:cs typeface="Arial" pitchFamily="34" charset="0"/>
                        </a:rPr>
                        <a:t>) 1</a:t>
                      </a:r>
                      <a:endParaRPr lang="en-US" sz="2400" b="1" dirty="0">
                        <a:solidFill>
                          <a:srgbClr val="00206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sz="2400" b="1" baseline="-25000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US" sz="2400" b="1" baseline="-25000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002060"/>
                          </a:solidFill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US" sz="2400" b="1" dirty="0">
                        <a:solidFill>
                          <a:srgbClr val="00206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sz="2400" b="1" baseline="-25000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US" sz="2400" b="1" baseline="-25000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002060"/>
                          </a:solidFill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US" sz="2400" b="1" dirty="0">
                        <a:solidFill>
                          <a:srgbClr val="00206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81000" y="1295400"/>
            <a:ext cx="8305800" cy="3429000"/>
          </a:xfrm>
          <a:prstGeom prst="rect">
            <a:avLst/>
          </a:prstGeom>
        </p:spPr>
        <p:txBody>
          <a:bodyPr/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most significant difference between the two scheme is the lack of </a:t>
            </a:r>
            <a:r>
              <a:rPr lang="en-US" sz="2100" b="1" dirty="0" err="1">
                <a:solidFill>
                  <a:srgbClr val="FF0000"/>
                </a:solidFill>
                <a:cs typeface="Arial" pitchFamily="34" charset="0"/>
              </a:rPr>
              <a:t>roto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-reflection axes </a:t>
            </a:r>
            <a:r>
              <a:rPr lang="en-US" sz="2100" b="1" dirty="0">
                <a:cs typeface="Arial" pitchFamily="34" charset="0"/>
              </a:rPr>
              <a:t>in </a:t>
            </a:r>
            <a:r>
              <a:rPr lang="en-US" sz="2100" b="1" dirty="0">
                <a:solidFill>
                  <a:srgbClr val="00B0F0"/>
                </a:solidFill>
                <a:cs typeface="Arial" pitchFamily="34" charset="0"/>
              </a:rPr>
              <a:t>H-M</a:t>
            </a:r>
            <a:r>
              <a:rPr lang="en-US" sz="2100" b="1" dirty="0">
                <a:cs typeface="Arial" pitchFamily="34" charset="0"/>
              </a:rPr>
              <a:t> system.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Instead, </a:t>
            </a:r>
            <a:r>
              <a:rPr lang="en-US" sz="2100" b="1" dirty="0" err="1" smtClean="0">
                <a:solidFill>
                  <a:srgbClr val="00B050"/>
                </a:solidFill>
                <a:cs typeface="Arial" pitchFamily="34" charset="0"/>
              </a:rPr>
              <a:t>roto</a:t>
            </a:r>
            <a:r>
              <a:rPr lang="en-US" sz="2100" b="1" dirty="0" smtClean="0">
                <a:solidFill>
                  <a:srgbClr val="00B050"/>
                </a:solidFill>
                <a:cs typeface="Arial" pitchFamily="34" charset="0"/>
              </a:rPr>
              <a:t>-inversion</a:t>
            </a:r>
            <a:r>
              <a:rPr lang="en-US" sz="2100" b="1" dirty="0" smtClean="0">
                <a:cs typeface="Arial" pitchFamily="34" charset="0"/>
              </a:rPr>
              <a:t> </a:t>
            </a:r>
            <a:r>
              <a:rPr lang="en-US" sz="2100" b="1" dirty="0">
                <a:cs typeface="Arial" pitchFamily="34" charset="0"/>
              </a:rPr>
              <a:t>axis are used.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A </a:t>
            </a:r>
            <a:r>
              <a:rPr lang="en-US" sz="2100" b="1" dirty="0" err="1" smtClean="0">
                <a:solidFill>
                  <a:srgbClr val="00B050"/>
                </a:solidFill>
                <a:cs typeface="Arial" pitchFamily="34" charset="0"/>
              </a:rPr>
              <a:t>roto</a:t>
            </a:r>
            <a:r>
              <a:rPr lang="en-US" sz="2100" b="1" dirty="0" smtClean="0">
                <a:solidFill>
                  <a:srgbClr val="00B050"/>
                </a:solidFill>
                <a:cs typeface="Arial" pitchFamily="34" charset="0"/>
              </a:rPr>
              <a:t>-inversion</a:t>
            </a:r>
            <a:r>
              <a:rPr lang="en-US" sz="2100" b="1" dirty="0" smtClean="0">
                <a:cs typeface="Arial" pitchFamily="34" charset="0"/>
              </a:rPr>
              <a:t> </a:t>
            </a:r>
            <a:r>
              <a:rPr lang="en-US" sz="2100" b="1" dirty="0">
                <a:cs typeface="Arial" pitchFamily="34" charset="0"/>
              </a:rPr>
              <a:t>axis consists of a rotation axis containing a center of inversion. 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A </a:t>
            </a:r>
            <a:r>
              <a:rPr lang="en-US" sz="2100" b="1" dirty="0" err="1" smtClean="0">
                <a:cs typeface="Arial" pitchFamily="34" charset="0"/>
              </a:rPr>
              <a:t>roto</a:t>
            </a:r>
            <a:r>
              <a:rPr lang="en-US" sz="2100" b="1" dirty="0" smtClean="0">
                <a:cs typeface="Arial" pitchFamily="34" charset="0"/>
              </a:rPr>
              <a:t>-inversion </a:t>
            </a:r>
            <a:r>
              <a:rPr lang="en-US" sz="2100" b="1" dirty="0">
                <a:cs typeface="Arial" pitchFamily="34" charset="0"/>
              </a:rPr>
              <a:t>operation about an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n-fold</a:t>
            </a:r>
            <a:r>
              <a:rPr lang="en-US" sz="2100" b="1" dirty="0">
                <a:cs typeface="Arial" pitchFamily="34" charset="0"/>
              </a:rPr>
              <a:t> </a:t>
            </a:r>
            <a:r>
              <a:rPr lang="en-US" sz="2100" b="1" dirty="0" err="1" smtClean="0">
                <a:cs typeface="Arial" pitchFamily="34" charset="0"/>
              </a:rPr>
              <a:t>roto</a:t>
            </a:r>
            <a:r>
              <a:rPr lang="en-US" sz="2100" b="1" dirty="0" smtClean="0">
                <a:cs typeface="Arial" pitchFamily="34" charset="0"/>
              </a:rPr>
              <a:t>-inversion </a:t>
            </a:r>
            <a:r>
              <a:rPr lang="en-US" sz="2100" b="1" dirty="0">
                <a:cs typeface="Arial" pitchFamily="34" charset="0"/>
              </a:rPr>
              <a:t>axis involve a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k. 2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  <a:sym typeface="Symbol"/>
              </a:rPr>
              <a:t>/n rotation </a:t>
            </a:r>
            <a:r>
              <a:rPr lang="en-US" sz="2100" b="1" dirty="0">
                <a:cs typeface="Arial" pitchFamily="34" charset="0"/>
                <a:sym typeface="Symbol"/>
              </a:rPr>
              <a:t>(</a:t>
            </a:r>
            <a:r>
              <a:rPr lang="en-US" sz="2100" b="1" dirty="0" smtClean="0">
                <a:cs typeface="Arial" pitchFamily="34" charset="0"/>
                <a:sym typeface="Symbol"/>
              </a:rPr>
              <a:t>k = </a:t>
            </a:r>
            <a:r>
              <a:rPr lang="en-US" sz="2100" b="1" dirty="0">
                <a:cs typeface="Arial" pitchFamily="34" charset="0"/>
                <a:sym typeface="Symbol"/>
              </a:rPr>
              <a:t>1, 2, 3</a:t>
            </a:r>
            <a:r>
              <a:rPr lang="en-US" sz="2100" b="1" dirty="0" smtClean="0">
                <a:cs typeface="Arial" pitchFamily="34" charset="0"/>
                <a:sym typeface="Symbol"/>
              </a:rPr>
              <a:t>…..n</a:t>
            </a:r>
            <a:r>
              <a:rPr lang="en-US" sz="2100" b="1" dirty="0">
                <a:cs typeface="Arial" pitchFamily="34" charset="0"/>
                <a:sym typeface="Symbol"/>
              </a:rPr>
              <a:t>) followed by an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  <a:sym typeface="Symbol"/>
              </a:rPr>
              <a:t>inversion</a:t>
            </a:r>
            <a:r>
              <a:rPr lang="en-US" sz="2100" b="1" dirty="0">
                <a:cs typeface="Arial" pitchFamily="34" charset="0"/>
                <a:sym typeface="Symbol"/>
              </a:rPr>
              <a:t>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  <a:sym typeface="Symbol"/>
              </a:rPr>
              <a:t>The symbol for </a:t>
            </a:r>
            <a:r>
              <a:rPr lang="en-US" sz="2100" b="1" dirty="0" err="1" smtClean="0">
                <a:solidFill>
                  <a:srgbClr val="0070C0"/>
                </a:solidFill>
                <a:cs typeface="Arial" pitchFamily="34" charset="0"/>
                <a:sym typeface="Symbol"/>
              </a:rPr>
              <a:t>roto</a:t>
            </a:r>
            <a:r>
              <a:rPr lang="en-US" sz="2100" b="1" dirty="0" smtClean="0">
                <a:solidFill>
                  <a:srgbClr val="0070C0"/>
                </a:solidFill>
                <a:cs typeface="Arial" pitchFamily="34" charset="0"/>
                <a:sym typeface="Symbol"/>
              </a:rPr>
              <a:t>-inversion </a:t>
            </a:r>
            <a:r>
              <a:rPr lang="en-US" sz="2100" b="1" dirty="0">
                <a:solidFill>
                  <a:srgbClr val="0070C0"/>
                </a:solidFill>
                <a:cs typeface="Arial" pitchFamily="34" charset="0"/>
                <a:sym typeface="Symbol"/>
              </a:rPr>
              <a:t>axis </a:t>
            </a:r>
            <a:r>
              <a:rPr lang="en-US" sz="2100" b="1" dirty="0">
                <a:cs typeface="Arial" pitchFamily="34" charset="0"/>
                <a:sym typeface="Symbol"/>
              </a:rPr>
              <a:t>is the i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  <a:sym typeface="Symbol"/>
              </a:rPr>
              <a:t>nteger </a:t>
            </a:r>
            <a:r>
              <a:rPr lang="en-US" sz="2100" b="1" dirty="0">
                <a:cs typeface="Arial" pitchFamily="34" charset="0"/>
                <a:sym typeface="Symbol"/>
              </a:rPr>
              <a:t>corresponding to the </a:t>
            </a:r>
            <a:r>
              <a:rPr lang="en-US" sz="2100" b="1" dirty="0">
                <a:solidFill>
                  <a:srgbClr val="0070C0"/>
                </a:solidFill>
                <a:cs typeface="Arial" pitchFamily="34" charset="0"/>
                <a:sym typeface="Symbol"/>
              </a:rPr>
              <a:t>rotation axis </a:t>
            </a:r>
            <a:r>
              <a:rPr lang="en-US" sz="2100" b="1" dirty="0">
                <a:cs typeface="Arial" pitchFamily="34" charset="0"/>
                <a:sym typeface="Symbol"/>
              </a:rPr>
              <a:t>with a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  <a:sym typeface="Symbol"/>
              </a:rPr>
              <a:t>bar</a:t>
            </a:r>
            <a:r>
              <a:rPr lang="en-US" sz="2100" b="1" dirty="0">
                <a:cs typeface="Arial" pitchFamily="34" charset="0"/>
                <a:sym typeface="Symbol"/>
              </a:rPr>
              <a:t> over the number</a:t>
            </a:r>
            <a:endParaRPr lang="en-US" sz="2100" b="1" dirty="0">
              <a:cs typeface="Arial" pitchFamily="34" charset="0"/>
            </a:endParaRP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5867400"/>
            <a:ext cx="325276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096804" y="331996"/>
            <a:ext cx="4950394" cy="5824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</a:rPr>
              <a:t>The Hermann-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</a:rPr>
              <a:t>Mauguin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</a:rPr>
              <a:t> Notation</a:t>
            </a:r>
            <a:endParaRPr lang="en-US" sz="2400" b="1" dirty="0">
              <a:solidFill>
                <a:srgbClr val="FF0000"/>
              </a:solidFill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latin typeface="+mn-lt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152400"/>
            <a:ext cx="5334000" cy="10525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Rotoinversion</a:t>
            </a:r>
            <a:r>
              <a:rPr lang="en-US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-axis</a:t>
            </a:r>
            <a:endParaRPr lang="en-US" dirty="0">
              <a:solidFill>
                <a:schemeClr val="accent1">
                  <a:tint val="88000"/>
                  <a:satMod val="150000"/>
                </a:schemeClr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295400"/>
            <a:ext cx="8183563" cy="4187825"/>
          </a:xfrm>
        </p:spPr>
        <p:txBody>
          <a:bodyPr/>
          <a:lstStyle/>
          <a:p>
            <a:pPr marL="365760" indent="-36576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Wingdings" pitchFamily="2" charset="2"/>
              <a:buChar char="v"/>
            </a:pPr>
            <a:r>
              <a:rPr lang="en-US" sz="2400" b="1" dirty="0" err="1" smtClean="0"/>
              <a:t>Rotoinversion</a:t>
            </a:r>
            <a:r>
              <a:rPr lang="en-US" sz="2400" b="1" dirty="0" smtClean="0"/>
              <a:t> (</a:t>
            </a:r>
            <a:r>
              <a:rPr lang="en-US" sz="2400" b="1" dirty="0" smtClean="0">
                <a:solidFill>
                  <a:srgbClr val="00B050"/>
                </a:solidFill>
              </a:rPr>
              <a:t>1, 2, 3, 4, 6</a:t>
            </a:r>
            <a:r>
              <a:rPr lang="en-US" sz="2400" b="1" dirty="0" smtClean="0"/>
              <a:t>) – combination of rotation and inversion.  Called bar-1, bar-2, etc.</a:t>
            </a:r>
          </a:p>
          <a:p>
            <a:pPr marL="365760" indent="-36576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Wingdings" pitchFamily="2" charset="2"/>
              <a:buChar char="v"/>
            </a:pPr>
            <a:r>
              <a:rPr lang="en-US" dirty="0" smtClean="0">
                <a:solidFill>
                  <a:srgbClr val="00B050"/>
                </a:solidFill>
              </a:rPr>
              <a:t>1,2,6 </a:t>
            </a:r>
            <a:r>
              <a:rPr lang="en-US" dirty="0" smtClean="0"/>
              <a:t>equivalent to other functions</a:t>
            </a:r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3581400" y="1371600"/>
            <a:ext cx="15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sz="2400" b="1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3962400" y="1371600"/>
            <a:ext cx="15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sz="2400" b="1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>
            <a:off x="4419600" y="1371600"/>
            <a:ext cx="15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sz="2400" b="1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>
            <a:off x="4876800" y="1371600"/>
            <a:ext cx="15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sz="2400" b="1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5334000" y="1371600"/>
            <a:ext cx="15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sz="2400" b="1"/>
          </a:p>
        </p:txBody>
      </p:sp>
      <p:sp>
        <p:nvSpPr>
          <p:cNvPr id="31756" name="Line 23"/>
          <p:cNvSpPr>
            <a:spLocks noChangeShapeType="1"/>
          </p:cNvSpPr>
          <p:nvPr/>
        </p:nvSpPr>
        <p:spPr bwMode="auto">
          <a:xfrm>
            <a:off x="1600200" y="2895600"/>
            <a:ext cx="15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sz="2400" b="1"/>
          </a:p>
        </p:txBody>
      </p:sp>
      <p:sp>
        <p:nvSpPr>
          <p:cNvPr id="31757" name="Line 24"/>
          <p:cNvSpPr>
            <a:spLocks noChangeShapeType="1"/>
          </p:cNvSpPr>
          <p:nvPr/>
        </p:nvSpPr>
        <p:spPr bwMode="auto">
          <a:xfrm>
            <a:off x="1295400" y="2895600"/>
            <a:ext cx="15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sz="2400" b="1"/>
          </a:p>
        </p:txBody>
      </p:sp>
      <p:sp>
        <p:nvSpPr>
          <p:cNvPr id="31758" name="Line 25"/>
          <p:cNvSpPr>
            <a:spLocks noChangeShapeType="1"/>
          </p:cNvSpPr>
          <p:nvPr/>
        </p:nvSpPr>
        <p:spPr bwMode="auto">
          <a:xfrm>
            <a:off x="914400" y="2895600"/>
            <a:ext cx="15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sz="2400" b="1"/>
          </a:p>
        </p:txBody>
      </p:sp>
      <p:grpSp>
        <p:nvGrpSpPr>
          <p:cNvPr id="31759" name="Group 27"/>
          <p:cNvGrpSpPr>
            <a:grpSpLocks/>
          </p:cNvGrpSpPr>
          <p:nvPr/>
        </p:nvGrpSpPr>
        <p:grpSpPr bwMode="auto">
          <a:xfrm>
            <a:off x="2819400" y="3733800"/>
            <a:ext cx="2578100" cy="2857500"/>
            <a:chOff x="2651" y="1294"/>
            <a:chExt cx="2861" cy="2858"/>
          </a:xfrm>
        </p:grpSpPr>
        <p:sp>
          <p:nvSpPr>
            <p:cNvPr id="13340" name="Rectangle 28"/>
            <p:cNvSpPr>
              <a:spLocks noChangeArrowheads="1"/>
            </p:cNvSpPr>
            <p:nvPr/>
          </p:nvSpPr>
          <p:spPr bwMode="auto">
            <a:xfrm>
              <a:off x="2651" y="1294"/>
              <a:ext cx="2861" cy="285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31761" name="Freeform 29"/>
            <p:cNvSpPr>
              <a:spLocks/>
            </p:cNvSpPr>
            <p:nvPr/>
          </p:nvSpPr>
          <p:spPr bwMode="auto">
            <a:xfrm>
              <a:off x="4031" y="2523"/>
              <a:ext cx="630" cy="892"/>
            </a:xfrm>
            <a:custGeom>
              <a:avLst/>
              <a:gdLst>
                <a:gd name="T0" fmla="*/ 0 w 630"/>
                <a:gd name="T1" fmla="*/ 0 h 892"/>
                <a:gd name="T2" fmla="*/ 630 w 630"/>
                <a:gd name="T3" fmla="*/ 46 h 892"/>
                <a:gd name="T4" fmla="*/ 146 w 630"/>
                <a:gd name="T5" fmla="*/ 892 h 892"/>
                <a:gd name="T6" fmla="*/ 0 w 630"/>
                <a:gd name="T7" fmla="*/ 0 h 8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0"/>
                <a:gd name="T13" fmla="*/ 0 h 892"/>
                <a:gd name="T14" fmla="*/ 630 w 630"/>
                <a:gd name="T15" fmla="*/ 892 h 8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0" h="892">
                  <a:moveTo>
                    <a:pt x="0" y="0"/>
                  </a:moveTo>
                  <a:lnTo>
                    <a:pt x="630" y="46"/>
                  </a:lnTo>
                  <a:lnTo>
                    <a:pt x="146" y="8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2" name="Line 30"/>
            <p:cNvSpPr>
              <a:spLocks noChangeShapeType="1"/>
            </p:cNvSpPr>
            <p:nvPr/>
          </p:nvSpPr>
          <p:spPr bwMode="auto">
            <a:xfrm>
              <a:off x="4072" y="1448"/>
              <a:ext cx="69" cy="1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763" name="Group 31"/>
            <p:cNvGrpSpPr>
              <a:grpSpLocks/>
            </p:cNvGrpSpPr>
            <p:nvPr/>
          </p:nvGrpSpPr>
          <p:grpSpPr bwMode="auto">
            <a:xfrm>
              <a:off x="3962" y="1423"/>
              <a:ext cx="238" cy="77"/>
              <a:chOff x="3962" y="1423"/>
              <a:chExt cx="238" cy="77"/>
            </a:xfrm>
          </p:grpSpPr>
          <p:sp>
            <p:nvSpPr>
              <p:cNvPr id="31783" name="AutoShape 32"/>
              <p:cNvSpPr>
                <a:spLocks noChangeArrowheads="1"/>
              </p:cNvSpPr>
              <p:nvPr/>
            </p:nvSpPr>
            <p:spPr bwMode="auto">
              <a:xfrm>
                <a:off x="3962" y="1423"/>
                <a:ext cx="238" cy="77"/>
              </a:xfrm>
              <a:prstGeom prst="parallelogram">
                <a:avLst>
                  <a:gd name="adj" fmla="val 77273"/>
                </a:avLst>
              </a:prstGeom>
              <a:solidFill>
                <a:schemeClr val="accent1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Verdana" pitchFamily="34" charset="0"/>
                </a:endParaRPr>
              </a:p>
            </p:txBody>
          </p:sp>
          <p:sp>
            <p:nvSpPr>
              <p:cNvPr id="31784" name="Oval 33"/>
              <p:cNvSpPr>
                <a:spLocks noChangeArrowheads="1"/>
              </p:cNvSpPr>
              <p:nvPr/>
            </p:nvSpPr>
            <p:spPr bwMode="auto">
              <a:xfrm>
                <a:off x="4048" y="1440"/>
                <a:ext cx="56" cy="4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Verdana" pitchFamily="34" charset="0"/>
                </a:endParaRPr>
              </a:p>
            </p:txBody>
          </p:sp>
        </p:grpSp>
        <p:sp>
          <p:nvSpPr>
            <p:cNvPr id="31764" name="Freeform 34"/>
            <p:cNvSpPr>
              <a:spLocks/>
            </p:cNvSpPr>
            <p:nvPr/>
          </p:nvSpPr>
          <p:spPr bwMode="auto">
            <a:xfrm>
              <a:off x="3580" y="1807"/>
              <a:ext cx="497" cy="874"/>
            </a:xfrm>
            <a:custGeom>
              <a:avLst/>
              <a:gdLst>
                <a:gd name="T0" fmla="*/ 469 w 469"/>
                <a:gd name="T1" fmla="*/ 0 h 830"/>
                <a:gd name="T2" fmla="*/ 0 w 469"/>
                <a:gd name="T3" fmla="*/ 830 h 830"/>
                <a:gd name="T4" fmla="*/ 423 w 469"/>
                <a:gd name="T5" fmla="*/ 676 h 830"/>
                <a:gd name="T6" fmla="*/ 469 w 469"/>
                <a:gd name="T7" fmla="*/ 0 h 8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9"/>
                <a:gd name="T13" fmla="*/ 0 h 830"/>
                <a:gd name="T14" fmla="*/ 469 w 469"/>
                <a:gd name="T15" fmla="*/ 830 h 8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9" h="830">
                  <a:moveTo>
                    <a:pt x="469" y="0"/>
                  </a:moveTo>
                  <a:lnTo>
                    <a:pt x="0" y="830"/>
                  </a:lnTo>
                  <a:lnTo>
                    <a:pt x="423" y="676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5" name="Freeform 35"/>
            <p:cNvSpPr>
              <a:spLocks/>
            </p:cNvSpPr>
            <p:nvPr/>
          </p:nvSpPr>
          <p:spPr bwMode="auto">
            <a:xfrm>
              <a:off x="3592" y="2661"/>
              <a:ext cx="635" cy="774"/>
            </a:xfrm>
            <a:custGeom>
              <a:avLst/>
              <a:gdLst>
                <a:gd name="T0" fmla="*/ 0 w 623"/>
                <a:gd name="T1" fmla="*/ 0 h 762"/>
                <a:gd name="T2" fmla="*/ 623 w 623"/>
                <a:gd name="T3" fmla="*/ 39 h 762"/>
                <a:gd name="T4" fmla="*/ 577 w 623"/>
                <a:gd name="T5" fmla="*/ 762 h 762"/>
                <a:gd name="T6" fmla="*/ 0 w 623"/>
                <a:gd name="T7" fmla="*/ 0 h 7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3"/>
                <a:gd name="T13" fmla="*/ 0 h 762"/>
                <a:gd name="T14" fmla="*/ 623 w 623"/>
                <a:gd name="T15" fmla="*/ 762 h 7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3" h="762">
                  <a:moveTo>
                    <a:pt x="0" y="0"/>
                  </a:moveTo>
                  <a:lnTo>
                    <a:pt x="623" y="39"/>
                  </a:lnTo>
                  <a:lnTo>
                    <a:pt x="577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6" name="Freeform 36"/>
            <p:cNvSpPr>
              <a:spLocks/>
            </p:cNvSpPr>
            <p:nvPr/>
          </p:nvSpPr>
          <p:spPr bwMode="auto">
            <a:xfrm>
              <a:off x="4085" y="1807"/>
              <a:ext cx="593" cy="885"/>
            </a:xfrm>
            <a:custGeom>
              <a:avLst/>
              <a:gdLst>
                <a:gd name="T0" fmla="*/ 0 w 577"/>
                <a:gd name="T1" fmla="*/ 0 h 877"/>
                <a:gd name="T2" fmla="*/ 138 w 577"/>
                <a:gd name="T3" fmla="*/ 877 h 877"/>
                <a:gd name="T4" fmla="*/ 577 w 577"/>
                <a:gd name="T5" fmla="*/ 746 h 877"/>
                <a:gd name="T6" fmla="*/ 0 w 577"/>
                <a:gd name="T7" fmla="*/ 0 h 87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7"/>
                <a:gd name="T13" fmla="*/ 0 h 877"/>
                <a:gd name="T14" fmla="*/ 577 w 577"/>
                <a:gd name="T15" fmla="*/ 877 h 87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7" h="877">
                  <a:moveTo>
                    <a:pt x="0" y="0"/>
                  </a:moveTo>
                  <a:lnTo>
                    <a:pt x="138" y="877"/>
                  </a:lnTo>
                  <a:lnTo>
                    <a:pt x="577" y="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767" name="Group 37"/>
            <p:cNvGrpSpPr>
              <a:grpSpLocks/>
            </p:cNvGrpSpPr>
            <p:nvPr/>
          </p:nvGrpSpPr>
          <p:grpSpPr bwMode="auto">
            <a:xfrm>
              <a:off x="3584" y="1793"/>
              <a:ext cx="1084" cy="1630"/>
              <a:chOff x="3738" y="1939"/>
              <a:chExt cx="1084" cy="1630"/>
            </a:xfrm>
          </p:grpSpPr>
          <p:sp>
            <p:nvSpPr>
              <p:cNvPr id="31769" name="Line 38"/>
              <p:cNvSpPr>
                <a:spLocks noChangeShapeType="1"/>
              </p:cNvSpPr>
              <p:nvPr/>
            </p:nvSpPr>
            <p:spPr bwMode="auto">
              <a:xfrm flipH="1">
                <a:off x="4225" y="1939"/>
                <a:ext cx="6" cy="8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0" name="Line 39"/>
              <p:cNvSpPr>
                <a:spLocks noChangeShapeType="1"/>
              </p:cNvSpPr>
              <p:nvPr/>
            </p:nvSpPr>
            <p:spPr bwMode="auto">
              <a:xfrm>
                <a:off x="4231" y="1939"/>
                <a:ext cx="147" cy="8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1" name="Line 40"/>
              <p:cNvSpPr>
                <a:spLocks noChangeShapeType="1"/>
              </p:cNvSpPr>
              <p:nvPr/>
            </p:nvSpPr>
            <p:spPr bwMode="auto">
              <a:xfrm>
                <a:off x="4231" y="1939"/>
                <a:ext cx="591" cy="76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2" name="Line 41"/>
              <p:cNvSpPr>
                <a:spLocks noChangeShapeType="1"/>
              </p:cNvSpPr>
              <p:nvPr/>
            </p:nvSpPr>
            <p:spPr bwMode="auto">
              <a:xfrm flipH="1">
                <a:off x="3738" y="1939"/>
                <a:ext cx="493" cy="86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3" name="Line 42"/>
              <p:cNvSpPr>
                <a:spLocks noChangeShapeType="1"/>
              </p:cNvSpPr>
              <p:nvPr/>
            </p:nvSpPr>
            <p:spPr bwMode="auto">
              <a:xfrm flipV="1">
                <a:off x="4378" y="2706"/>
                <a:ext cx="444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4" name="Line 43"/>
              <p:cNvSpPr>
                <a:spLocks noChangeShapeType="1"/>
              </p:cNvSpPr>
              <p:nvPr/>
            </p:nvSpPr>
            <p:spPr bwMode="auto">
              <a:xfrm flipH="1" flipV="1">
                <a:off x="3738" y="2802"/>
                <a:ext cx="640" cy="3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5" name="Line 44"/>
              <p:cNvSpPr>
                <a:spLocks noChangeShapeType="1"/>
              </p:cNvSpPr>
              <p:nvPr/>
            </p:nvSpPr>
            <p:spPr bwMode="auto">
              <a:xfrm flipH="1">
                <a:off x="4329" y="2837"/>
                <a:ext cx="49" cy="73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6" name="Line 45"/>
              <p:cNvSpPr>
                <a:spLocks noChangeShapeType="1"/>
              </p:cNvSpPr>
              <p:nvPr/>
            </p:nvSpPr>
            <p:spPr bwMode="auto">
              <a:xfrm flipH="1">
                <a:off x="4329" y="2706"/>
                <a:ext cx="493" cy="86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7" name="Line 46"/>
              <p:cNvSpPr>
                <a:spLocks noChangeShapeType="1"/>
              </p:cNvSpPr>
              <p:nvPr/>
            </p:nvSpPr>
            <p:spPr bwMode="auto">
              <a:xfrm>
                <a:off x="3738" y="2802"/>
                <a:ext cx="591" cy="76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778" name="Group 47"/>
              <p:cNvGrpSpPr>
                <a:grpSpLocks/>
              </p:cNvGrpSpPr>
              <p:nvPr/>
            </p:nvGrpSpPr>
            <p:grpSpPr bwMode="auto">
              <a:xfrm>
                <a:off x="3746" y="1961"/>
                <a:ext cx="1054" cy="1600"/>
                <a:chOff x="3746" y="1961"/>
                <a:chExt cx="1054" cy="1600"/>
              </a:xfrm>
            </p:grpSpPr>
            <p:sp>
              <p:nvSpPr>
                <p:cNvPr id="31779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3746" y="2669"/>
                  <a:ext cx="431" cy="138"/>
                </a:xfrm>
                <a:prstGeom prst="line">
                  <a:avLst/>
                </a:prstGeom>
                <a:noFill/>
                <a:ln w="28575">
                  <a:solidFill>
                    <a:schemeClr val="bg2"/>
                  </a:solidFill>
                  <a:prstDash val="sys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780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4184" y="1961"/>
                  <a:ext cx="47" cy="708"/>
                </a:xfrm>
                <a:prstGeom prst="line">
                  <a:avLst/>
                </a:prstGeom>
                <a:noFill/>
                <a:ln w="28575">
                  <a:solidFill>
                    <a:schemeClr val="bg2"/>
                  </a:solidFill>
                  <a:prstDash val="sys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781" name="Line 50"/>
                <p:cNvSpPr>
                  <a:spLocks noChangeShapeType="1"/>
                </p:cNvSpPr>
                <p:nvPr/>
              </p:nvSpPr>
              <p:spPr bwMode="auto">
                <a:xfrm flipH="1" flipV="1">
                  <a:off x="4184" y="2669"/>
                  <a:ext cx="616" cy="46"/>
                </a:xfrm>
                <a:prstGeom prst="line">
                  <a:avLst/>
                </a:prstGeom>
                <a:noFill/>
                <a:ln w="28575">
                  <a:solidFill>
                    <a:schemeClr val="bg2"/>
                  </a:solidFill>
                  <a:prstDash val="sys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782" name="Line 51"/>
                <p:cNvSpPr>
                  <a:spLocks noChangeShapeType="1"/>
                </p:cNvSpPr>
                <p:nvPr/>
              </p:nvSpPr>
              <p:spPr bwMode="auto">
                <a:xfrm flipH="1" flipV="1">
                  <a:off x="4192" y="2661"/>
                  <a:ext cx="131" cy="900"/>
                </a:xfrm>
                <a:prstGeom prst="line">
                  <a:avLst/>
                </a:prstGeom>
                <a:noFill/>
                <a:ln w="28575">
                  <a:solidFill>
                    <a:schemeClr val="bg2"/>
                  </a:solidFill>
                  <a:prstDash val="sys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1768" name="Line 52"/>
            <p:cNvSpPr>
              <a:spLocks noChangeShapeType="1"/>
            </p:cNvSpPr>
            <p:nvPr/>
          </p:nvSpPr>
          <p:spPr bwMode="auto">
            <a:xfrm>
              <a:off x="4177" y="3438"/>
              <a:ext cx="23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2286000" y="1447800"/>
            <a:ext cx="4541838" cy="4537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0"/>
            <a:ext cx="7772400" cy="125253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4-fold </a:t>
            </a:r>
            <a:r>
              <a:rPr lang="en-US" dirty="0" err="1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rotoinversion</a:t>
            </a:r>
            <a:r>
              <a:rPr lang="en-US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 axis (4)</a:t>
            </a:r>
            <a:endParaRPr lang="en-US" dirty="0">
              <a:solidFill>
                <a:schemeClr val="accent1">
                  <a:tint val="88000"/>
                  <a:satMod val="150000"/>
                </a:schemeClr>
              </a:solidFill>
            </a:endParaRPr>
          </a:p>
        </p:txBody>
      </p:sp>
      <p:sp>
        <p:nvSpPr>
          <p:cNvPr id="32772" name="Freeform 4"/>
          <p:cNvSpPr>
            <a:spLocks/>
          </p:cNvSpPr>
          <p:nvPr/>
        </p:nvSpPr>
        <p:spPr bwMode="auto">
          <a:xfrm>
            <a:off x="4562475" y="2262188"/>
            <a:ext cx="952500" cy="1404937"/>
          </a:xfrm>
          <a:custGeom>
            <a:avLst/>
            <a:gdLst>
              <a:gd name="T0" fmla="*/ 0 w 577"/>
              <a:gd name="T1" fmla="*/ 0 h 877"/>
              <a:gd name="T2" fmla="*/ 138 w 577"/>
              <a:gd name="T3" fmla="*/ 877 h 877"/>
              <a:gd name="T4" fmla="*/ 577 w 577"/>
              <a:gd name="T5" fmla="*/ 746 h 877"/>
              <a:gd name="T6" fmla="*/ 0 w 577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877"/>
              <a:gd name="T14" fmla="*/ 577 w 577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877">
                <a:moveTo>
                  <a:pt x="0" y="0"/>
                </a:moveTo>
                <a:lnTo>
                  <a:pt x="138" y="877"/>
                </a:lnTo>
                <a:lnTo>
                  <a:pt x="577" y="74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>
            <a:off x="4541838" y="1692275"/>
            <a:ext cx="206375" cy="3800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774" name="Group 7"/>
          <p:cNvGrpSpPr>
            <a:grpSpLocks/>
          </p:cNvGrpSpPr>
          <p:nvPr/>
        </p:nvGrpSpPr>
        <p:grpSpPr bwMode="auto">
          <a:xfrm>
            <a:off x="4367213" y="1652588"/>
            <a:ext cx="377825" cy="122237"/>
            <a:chOff x="3962" y="1423"/>
            <a:chExt cx="238" cy="77"/>
          </a:xfrm>
        </p:grpSpPr>
        <p:sp>
          <p:nvSpPr>
            <p:cNvPr id="32791" name="AutoShape 8"/>
            <p:cNvSpPr>
              <a:spLocks noChangeArrowheads="1"/>
            </p:cNvSpPr>
            <p:nvPr/>
          </p:nvSpPr>
          <p:spPr bwMode="auto">
            <a:xfrm>
              <a:off x="3962" y="1423"/>
              <a:ext cx="238" cy="77"/>
            </a:xfrm>
            <a:prstGeom prst="parallelogram">
              <a:avLst>
                <a:gd name="adj" fmla="val 77273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  <p:sp>
          <p:nvSpPr>
            <p:cNvPr id="32792" name="Oval 9"/>
            <p:cNvSpPr>
              <a:spLocks noChangeArrowheads="1"/>
            </p:cNvSpPr>
            <p:nvPr/>
          </p:nvSpPr>
          <p:spPr bwMode="auto">
            <a:xfrm>
              <a:off x="4048" y="1440"/>
              <a:ext cx="56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</p:grpSp>
      <p:grpSp>
        <p:nvGrpSpPr>
          <p:cNvPr id="32775" name="Group 10"/>
          <p:cNvGrpSpPr>
            <a:grpSpLocks/>
          </p:cNvGrpSpPr>
          <p:nvPr/>
        </p:nvGrpSpPr>
        <p:grpSpPr bwMode="auto">
          <a:xfrm>
            <a:off x="3767138" y="2239963"/>
            <a:ext cx="1720850" cy="2587625"/>
            <a:chOff x="3738" y="1939"/>
            <a:chExt cx="1084" cy="1630"/>
          </a:xfrm>
        </p:grpSpPr>
        <p:sp>
          <p:nvSpPr>
            <p:cNvPr id="32777" name="Line 11"/>
            <p:cNvSpPr>
              <a:spLocks noChangeShapeType="1"/>
            </p:cNvSpPr>
            <p:nvPr/>
          </p:nvSpPr>
          <p:spPr bwMode="auto">
            <a:xfrm flipH="1">
              <a:off x="4225" y="1939"/>
              <a:ext cx="6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78" name="Line 12"/>
            <p:cNvSpPr>
              <a:spLocks noChangeShapeType="1"/>
            </p:cNvSpPr>
            <p:nvPr/>
          </p:nvSpPr>
          <p:spPr bwMode="auto">
            <a:xfrm>
              <a:off x="4231" y="1939"/>
              <a:ext cx="147" cy="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79" name="Line 13"/>
            <p:cNvSpPr>
              <a:spLocks noChangeShapeType="1"/>
            </p:cNvSpPr>
            <p:nvPr/>
          </p:nvSpPr>
          <p:spPr bwMode="auto">
            <a:xfrm>
              <a:off x="4231" y="1939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0" name="Line 14"/>
            <p:cNvSpPr>
              <a:spLocks noChangeShapeType="1"/>
            </p:cNvSpPr>
            <p:nvPr/>
          </p:nvSpPr>
          <p:spPr bwMode="auto">
            <a:xfrm flipH="1">
              <a:off x="3738" y="1939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1" name="Line 15"/>
            <p:cNvSpPr>
              <a:spLocks noChangeShapeType="1"/>
            </p:cNvSpPr>
            <p:nvPr/>
          </p:nvSpPr>
          <p:spPr bwMode="auto">
            <a:xfrm flipV="1">
              <a:off x="4378" y="2706"/>
              <a:ext cx="444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2" name="Line 16"/>
            <p:cNvSpPr>
              <a:spLocks noChangeShapeType="1"/>
            </p:cNvSpPr>
            <p:nvPr/>
          </p:nvSpPr>
          <p:spPr bwMode="auto">
            <a:xfrm flipH="1" flipV="1">
              <a:off x="3738" y="2802"/>
              <a:ext cx="640" cy="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3" name="Line 17"/>
            <p:cNvSpPr>
              <a:spLocks noChangeShapeType="1"/>
            </p:cNvSpPr>
            <p:nvPr/>
          </p:nvSpPr>
          <p:spPr bwMode="auto">
            <a:xfrm flipH="1">
              <a:off x="4329" y="2837"/>
              <a:ext cx="49" cy="7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4" name="Line 18"/>
            <p:cNvSpPr>
              <a:spLocks noChangeShapeType="1"/>
            </p:cNvSpPr>
            <p:nvPr/>
          </p:nvSpPr>
          <p:spPr bwMode="auto">
            <a:xfrm flipH="1">
              <a:off x="4329" y="2706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Line 19"/>
            <p:cNvSpPr>
              <a:spLocks noChangeShapeType="1"/>
            </p:cNvSpPr>
            <p:nvPr/>
          </p:nvSpPr>
          <p:spPr bwMode="auto">
            <a:xfrm>
              <a:off x="3738" y="2802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786" name="Group 20"/>
            <p:cNvGrpSpPr>
              <a:grpSpLocks/>
            </p:cNvGrpSpPr>
            <p:nvPr/>
          </p:nvGrpSpPr>
          <p:grpSpPr bwMode="auto">
            <a:xfrm>
              <a:off x="3746" y="1961"/>
              <a:ext cx="1054" cy="1600"/>
              <a:chOff x="3746" y="1961"/>
              <a:chExt cx="1054" cy="1600"/>
            </a:xfrm>
          </p:grpSpPr>
          <p:sp>
            <p:nvSpPr>
              <p:cNvPr id="32787" name="Line 21"/>
              <p:cNvSpPr>
                <a:spLocks noChangeShapeType="1"/>
              </p:cNvSpPr>
              <p:nvPr/>
            </p:nvSpPr>
            <p:spPr bwMode="auto">
              <a:xfrm flipV="1">
                <a:off x="3746" y="2669"/>
                <a:ext cx="431" cy="13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88" name="Line 22"/>
              <p:cNvSpPr>
                <a:spLocks noChangeShapeType="1"/>
              </p:cNvSpPr>
              <p:nvPr/>
            </p:nvSpPr>
            <p:spPr bwMode="auto">
              <a:xfrm flipV="1">
                <a:off x="4184" y="1961"/>
                <a:ext cx="47" cy="70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89" name="Line 23"/>
              <p:cNvSpPr>
                <a:spLocks noChangeShapeType="1"/>
              </p:cNvSpPr>
              <p:nvPr/>
            </p:nvSpPr>
            <p:spPr bwMode="auto">
              <a:xfrm flipH="1" flipV="1">
                <a:off x="4184" y="2669"/>
                <a:ext cx="616" cy="4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0" name="Line 24"/>
              <p:cNvSpPr>
                <a:spLocks noChangeShapeType="1"/>
              </p:cNvSpPr>
              <p:nvPr/>
            </p:nvSpPr>
            <p:spPr bwMode="auto">
              <a:xfrm flipH="1" flipV="1">
                <a:off x="4192" y="2661"/>
                <a:ext cx="131" cy="9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2776" name="Line 25"/>
          <p:cNvSpPr>
            <a:spLocks noChangeShapeType="1"/>
          </p:cNvSpPr>
          <p:nvPr/>
        </p:nvSpPr>
        <p:spPr bwMode="auto">
          <a:xfrm>
            <a:off x="7467600" y="685800"/>
            <a:ext cx="2413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1981200" y="2054225"/>
            <a:ext cx="4541838" cy="4537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3795" name="Freeform 3"/>
          <p:cNvSpPr>
            <a:spLocks/>
          </p:cNvSpPr>
          <p:nvPr/>
        </p:nvSpPr>
        <p:spPr bwMode="auto">
          <a:xfrm>
            <a:off x="3468688" y="2843213"/>
            <a:ext cx="1003300" cy="1430337"/>
          </a:xfrm>
          <a:custGeom>
            <a:avLst/>
            <a:gdLst>
              <a:gd name="T0" fmla="*/ 485 w 616"/>
              <a:gd name="T1" fmla="*/ 0 h 877"/>
              <a:gd name="T2" fmla="*/ 0 w 616"/>
              <a:gd name="T3" fmla="*/ 839 h 877"/>
              <a:gd name="T4" fmla="*/ 616 w 616"/>
              <a:gd name="T5" fmla="*/ 877 h 877"/>
              <a:gd name="T6" fmla="*/ 485 w 616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616"/>
              <a:gd name="T13" fmla="*/ 0 h 877"/>
              <a:gd name="T14" fmla="*/ 616 w 616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6" h="877">
                <a:moveTo>
                  <a:pt x="485" y="0"/>
                </a:moveTo>
                <a:lnTo>
                  <a:pt x="0" y="839"/>
                </a:lnTo>
                <a:lnTo>
                  <a:pt x="616" y="877"/>
                </a:lnTo>
                <a:lnTo>
                  <a:pt x="485" y="0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6" name="Rectangle 6"/>
          <p:cNvSpPr>
            <a:spLocks noGrp="1" noChangeArrowheads="1"/>
          </p:cNvSpPr>
          <p:nvPr>
            <p:ph type="subTitle" idx="4294967295"/>
          </p:nvPr>
        </p:nvSpPr>
        <p:spPr>
          <a:xfrm>
            <a:off x="2743200" y="1447800"/>
            <a:ext cx="4102100" cy="533400"/>
          </a:xfrm>
          <a:noFill/>
        </p:spPr>
        <p:txBody>
          <a:bodyPr/>
          <a:lstStyle/>
          <a:p>
            <a:r>
              <a:rPr lang="en-US" sz="2400" smtClean="0"/>
              <a:t>1. Rotate by 360/4</a:t>
            </a:r>
          </a:p>
        </p:txBody>
      </p:sp>
      <p:sp>
        <p:nvSpPr>
          <p:cNvPr id="33797" name="Freeform 5"/>
          <p:cNvSpPr>
            <a:spLocks/>
          </p:cNvSpPr>
          <p:nvPr/>
        </p:nvSpPr>
        <p:spPr bwMode="auto">
          <a:xfrm>
            <a:off x="4257675" y="2868613"/>
            <a:ext cx="939800" cy="1404937"/>
          </a:xfrm>
          <a:custGeom>
            <a:avLst/>
            <a:gdLst>
              <a:gd name="T0" fmla="*/ 0 w 577"/>
              <a:gd name="T1" fmla="*/ 0 h 877"/>
              <a:gd name="T2" fmla="*/ 138 w 577"/>
              <a:gd name="T3" fmla="*/ 877 h 877"/>
              <a:gd name="T4" fmla="*/ 577 w 577"/>
              <a:gd name="T5" fmla="*/ 746 h 877"/>
              <a:gd name="T6" fmla="*/ 0 w 577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877"/>
              <a:gd name="T14" fmla="*/ 577 w 577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877">
                <a:moveTo>
                  <a:pt x="0" y="0"/>
                </a:moveTo>
                <a:lnTo>
                  <a:pt x="138" y="877"/>
                </a:lnTo>
                <a:lnTo>
                  <a:pt x="577" y="74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798" name="Group 7"/>
          <p:cNvGrpSpPr>
            <a:grpSpLocks/>
          </p:cNvGrpSpPr>
          <p:nvPr/>
        </p:nvGrpSpPr>
        <p:grpSpPr bwMode="auto">
          <a:xfrm>
            <a:off x="4062413" y="2259013"/>
            <a:ext cx="377825" cy="122237"/>
            <a:chOff x="3962" y="1423"/>
            <a:chExt cx="238" cy="77"/>
          </a:xfrm>
        </p:grpSpPr>
        <p:sp>
          <p:nvSpPr>
            <p:cNvPr id="33819" name="AutoShape 8"/>
            <p:cNvSpPr>
              <a:spLocks noChangeArrowheads="1"/>
            </p:cNvSpPr>
            <p:nvPr/>
          </p:nvSpPr>
          <p:spPr bwMode="auto">
            <a:xfrm>
              <a:off x="3962" y="1423"/>
              <a:ext cx="238" cy="77"/>
            </a:xfrm>
            <a:prstGeom prst="parallelogram">
              <a:avLst>
                <a:gd name="adj" fmla="val 77273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  <p:sp>
          <p:nvSpPr>
            <p:cNvPr id="33820" name="Oval 9"/>
            <p:cNvSpPr>
              <a:spLocks noChangeArrowheads="1"/>
            </p:cNvSpPr>
            <p:nvPr/>
          </p:nvSpPr>
          <p:spPr bwMode="auto">
            <a:xfrm>
              <a:off x="4048" y="1440"/>
              <a:ext cx="56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</p:grpSp>
      <p:grpSp>
        <p:nvGrpSpPr>
          <p:cNvPr id="33799" name="Group 10"/>
          <p:cNvGrpSpPr>
            <a:grpSpLocks/>
          </p:cNvGrpSpPr>
          <p:nvPr/>
        </p:nvGrpSpPr>
        <p:grpSpPr bwMode="auto">
          <a:xfrm>
            <a:off x="3462338" y="2846388"/>
            <a:ext cx="1720850" cy="2587625"/>
            <a:chOff x="3738" y="1939"/>
            <a:chExt cx="1084" cy="1630"/>
          </a:xfrm>
        </p:grpSpPr>
        <p:sp>
          <p:nvSpPr>
            <p:cNvPr id="33805" name="Line 11"/>
            <p:cNvSpPr>
              <a:spLocks noChangeShapeType="1"/>
            </p:cNvSpPr>
            <p:nvPr/>
          </p:nvSpPr>
          <p:spPr bwMode="auto">
            <a:xfrm flipH="1">
              <a:off x="4225" y="1939"/>
              <a:ext cx="6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6" name="Line 12"/>
            <p:cNvSpPr>
              <a:spLocks noChangeShapeType="1"/>
            </p:cNvSpPr>
            <p:nvPr/>
          </p:nvSpPr>
          <p:spPr bwMode="auto">
            <a:xfrm>
              <a:off x="4231" y="1939"/>
              <a:ext cx="147" cy="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7" name="Line 13"/>
            <p:cNvSpPr>
              <a:spLocks noChangeShapeType="1"/>
            </p:cNvSpPr>
            <p:nvPr/>
          </p:nvSpPr>
          <p:spPr bwMode="auto">
            <a:xfrm>
              <a:off x="4231" y="1939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8" name="Line 14"/>
            <p:cNvSpPr>
              <a:spLocks noChangeShapeType="1"/>
            </p:cNvSpPr>
            <p:nvPr/>
          </p:nvSpPr>
          <p:spPr bwMode="auto">
            <a:xfrm flipH="1">
              <a:off x="3738" y="1939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9" name="Line 15"/>
            <p:cNvSpPr>
              <a:spLocks noChangeShapeType="1"/>
            </p:cNvSpPr>
            <p:nvPr/>
          </p:nvSpPr>
          <p:spPr bwMode="auto">
            <a:xfrm flipV="1">
              <a:off x="4378" y="2706"/>
              <a:ext cx="444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0" name="Line 16"/>
            <p:cNvSpPr>
              <a:spLocks noChangeShapeType="1"/>
            </p:cNvSpPr>
            <p:nvPr/>
          </p:nvSpPr>
          <p:spPr bwMode="auto">
            <a:xfrm flipH="1" flipV="1">
              <a:off x="3738" y="2802"/>
              <a:ext cx="640" cy="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1" name="Line 17"/>
            <p:cNvSpPr>
              <a:spLocks noChangeShapeType="1"/>
            </p:cNvSpPr>
            <p:nvPr/>
          </p:nvSpPr>
          <p:spPr bwMode="auto">
            <a:xfrm flipH="1">
              <a:off x="4329" y="2837"/>
              <a:ext cx="49" cy="7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2" name="Line 18"/>
            <p:cNvSpPr>
              <a:spLocks noChangeShapeType="1"/>
            </p:cNvSpPr>
            <p:nvPr/>
          </p:nvSpPr>
          <p:spPr bwMode="auto">
            <a:xfrm flipH="1">
              <a:off x="4329" y="2706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3" name="Line 19"/>
            <p:cNvSpPr>
              <a:spLocks noChangeShapeType="1"/>
            </p:cNvSpPr>
            <p:nvPr/>
          </p:nvSpPr>
          <p:spPr bwMode="auto">
            <a:xfrm>
              <a:off x="3738" y="2802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14" name="Group 20"/>
            <p:cNvGrpSpPr>
              <a:grpSpLocks/>
            </p:cNvGrpSpPr>
            <p:nvPr/>
          </p:nvGrpSpPr>
          <p:grpSpPr bwMode="auto">
            <a:xfrm>
              <a:off x="3746" y="1961"/>
              <a:ext cx="1054" cy="1600"/>
              <a:chOff x="3746" y="1961"/>
              <a:chExt cx="1054" cy="1600"/>
            </a:xfrm>
          </p:grpSpPr>
          <p:sp>
            <p:nvSpPr>
              <p:cNvPr id="33815" name="Line 21"/>
              <p:cNvSpPr>
                <a:spLocks noChangeShapeType="1"/>
              </p:cNvSpPr>
              <p:nvPr/>
            </p:nvSpPr>
            <p:spPr bwMode="auto">
              <a:xfrm flipV="1">
                <a:off x="3746" y="2669"/>
                <a:ext cx="431" cy="13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6" name="Line 22"/>
              <p:cNvSpPr>
                <a:spLocks noChangeShapeType="1"/>
              </p:cNvSpPr>
              <p:nvPr/>
            </p:nvSpPr>
            <p:spPr bwMode="auto">
              <a:xfrm flipV="1">
                <a:off x="4184" y="1961"/>
                <a:ext cx="47" cy="70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7" name="Line 23"/>
              <p:cNvSpPr>
                <a:spLocks noChangeShapeType="1"/>
              </p:cNvSpPr>
              <p:nvPr/>
            </p:nvSpPr>
            <p:spPr bwMode="auto">
              <a:xfrm flipH="1" flipV="1">
                <a:off x="4184" y="2669"/>
                <a:ext cx="616" cy="4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8" name="Line 24"/>
              <p:cNvSpPr>
                <a:spLocks noChangeShapeType="1"/>
              </p:cNvSpPr>
              <p:nvPr/>
            </p:nvSpPr>
            <p:spPr bwMode="auto">
              <a:xfrm flipH="1" flipV="1">
                <a:off x="4192" y="2661"/>
                <a:ext cx="131" cy="9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pic>
        <p:nvPicPr>
          <p:cNvPr id="33800" name="Picture 2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44738" y="3430588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801" name="Line 26"/>
          <p:cNvSpPr>
            <a:spLocks noChangeShapeType="1"/>
          </p:cNvSpPr>
          <p:nvPr/>
        </p:nvSpPr>
        <p:spPr bwMode="auto">
          <a:xfrm>
            <a:off x="4237038" y="2298700"/>
            <a:ext cx="47625" cy="588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Line 27"/>
          <p:cNvSpPr>
            <a:spLocks noChangeShapeType="1"/>
          </p:cNvSpPr>
          <p:nvPr/>
        </p:nvSpPr>
        <p:spPr bwMode="auto">
          <a:xfrm>
            <a:off x="4354513" y="4273550"/>
            <a:ext cx="85725" cy="181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609600" y="0"/>
            <a:ext cx="7772400" cy="125253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4-fold </a:t>
            </a:r>
            <a:r>
              <a:rPr lang="en-US" sz="3600" b="1" dirty="0" err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rotoinversion</a:t>
            </a: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 axis (4)</a:t>
            </a:r>
          </a:p>
        </p:txBody>
      </p:sp>
      <p:sp>
        <p:nvSpPr>
          <p:cNvPr id="33804" name="Line 25"/>
          <p:cNvSpPr>
            <a:spLocks noChangeShapeType="1"/>
          </p:cNvSpPr>
          <p:nvPr/>
        </p:nvSpPr>
        <p:spPr bwMode="auto">
          <a:xfrm>
            <a:off x="7467600" y="685800"/>
            <a:ext cx="2413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2133600" y="2054225"/>
            <a:ext cx="4541838" cy="43465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4819" name="Freeform 3"/>
          <p:cNvSpPr>
            <a:spLocks/>
          </p:cNvSpPr>
          <p:nvPr/>
        </p:nvSpPr>
        <p:spPr bwMode="auto">
          <a:xfrm>
            <a:off x="4311650" y="4005263"/>
            <a:ext cx="1025525" cy="1427162"/>
          </a:xfrm>
          <a:custGeom>
            <a:avLst/>
            <a:gdLst>
              <a:gd name="T0" fmla="*/ 0 w 630"/>
              <a:gd name="T1" fmla="*/ 0 h 892"/>
              <a:gd name="T2" fmla="*/ 630 w 630"/>
              <a:gd name="T3" fmla="*/ 46 h 892"/>
              <a:gd name="T4" fmla="*/ 146 w 630"/>
              <a:gd name="T5" fmla="*/ 892 h 892"/>
              <a:gd name="T6" fmla="*/ 0 w 630"/>
              <a:gd name="T7" fmla="*/ 0 h 892"/>
              <a:gd name="T8" fmla="*/ 0 60000 65536"/>
              <a:gd name="T9" fmla="*/ 0 60000 65536"/>
              <a:gd name="T10" fmla="*/ 0 60000 65536"/>
              <a:gd name="T11" fmla="*/ 0 60000 65536"/>
              <a:gd name="T12" fmla="*/ 0 w 630"/>
              <a:gd name="T13" fmla="*/ 0 h 892"/>
              <a:gd name="T14" fmla="*/ 630 w 630"/>
              <a:gd name="T15" fmla="*/ 892 h 8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0" h="892">
                <a:moveTo>
                  <a:pt x="0" y="0"/>
                </a:moveTo>
                <a:lnTo>
                  <a:pt x="630" y="46"/>
                </a:lnTo>
                <a:lnTo>
                  <a:pt x="146" y="892"/>
                </a:lnTo>
                <a:lnTo>
                  <a:pt x="0" y="0"/>
                </a:lnTo>
                <a:close/>
              </a:path>
            </a:pathLst>
          </a:custGeom>
          <a:solidFill>
            <a:srgbClr val="FF00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0" name="Freeform 5"/>
          <p:cNvSpPr>
            <a:spLocks/>
          </p:cNvSpPr>
          <p:nvPr/>
        </p:nvSpPr>
        <p:spPr bwMode="auto">
          <a:xfrm>
            <a:off x="4410075" y="2868613"/>
            <a:ext cx="941388" cy="1404937"/>
          </a:xfrm>
          <a:custGeom>
            <a:avLst/>
            <a:gdLst>
              <a:gd name="T0" fmla="*/ 0 w 577"/>
              <a:gd name="T1" fmla="*/ 0 h 877"/>
              <a:gd name="T2" fmla="*/ 138 w 577"/>
              <a:gd name="T3" fmla="*/ 877 h 877"/>
              <a:gd name="T4" fmla="*/ 577 w 577"/>
              <a:gd name="T5" fmla="*/ 746 h 877"/>
              <a:gd name="T6" fmla="*/ 0 w 577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877"/>
              <a:gd name="T14" fmla="*/ 577 w 577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877">
                <a:moveTo>
                  <a:pt x="0" y="0"/>
                </a:moveTo>
                <a:lnTo>
                  <a:pt x="138" y="877"/>
                </a:lnTo>
                <a:lnTo>
                  <a:pt x="577" y="74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4821" name="Group 6"/>
          <p:cNvGrpSpPr>
            <a:grpSpLocks/>
          </p:cNvGrpSpPr>
          <p:nvPr/>
        </p:nvGrpSpPr>
        <p:grpSpPr bwMode="auto">
          <a:xfrm>
            <a:off x="4214813" y="2259013"/>
            <a:ext cx="377825" cy="122237"/>
            <a:chOff x="3962" y="1423"/>
            <a:chExt cx="238" cy="77"/>
          </a:xfrm>
        </p:grpSpPr>
        <p:sp>
          <p:nvSpPr>
            <p:cNvPr id="34844" name="AutoShape 7"/>
            <p:cNvSpPr>
              <a:spLocks noChangeArrowheads="1"/>
            </p:cNvSpPr>
            <p:nvPr/>
          </p:nvSpPr>
          <p:spPr bwMode="auto">
            <a:xfrm>
              <a:off x="3962" y="1423"/>
              <a:ext cx="238" cy="77"/>
            </a:xfrm>
            <a:prstGeom prst="parallelogram">
              <a:avLst>
                <a:gd name="adj" fmla="val 77273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  <p:sp>
          <p:nvSpPr>
            <p:cNvPr id="34845" name="Oval 8"/>
            <p:cNvSpPr>
              <a:spLocks noChangeArrowheads="1"/>
            </p:cNvSpPr>
            <p:nvPr/>
          </p:nvSpPr>
          <p:spPr bwMode="auto">
            <a:xfrm>
              <a:off x="4048" y="1440"/>
              <a:ext cx="56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</p:grpSp>
      <p:sp>
        <p:nvSpPr>
          <p:cNvPr id="34822" name="Freeform 9"/>
          <p:cNvSpPr>
            <a:spLocks/>
          </p:cNvSpPr>
          <p:nvPr/>
        </p:nvSpPr>
        <p:spPr bwMode="auto">
          <a:xfrm>
            <a:off x="3621088" y="2843213"/>
            <a:ext cx="1003300" cy="1430337"/>
          </a:xfrm>
          <a:custGeom>
            <a:avLst/>
            <a:gdLst>
              <a:gd name="T0" fmla="*/ 485 w 616"/>
              <a:gd name="T1" fmla="*/ 0 h 877"/>
              <a:gd name="T2" fmla="*/ 0 w 616"/>
              <a:gd name="T3" fmla="*/ 839 h 877"/>
              <a:gd name="T4" fmla="*/ 616 w 616"/>
              <a:gd name="T5" fmla="*/ 877 h 877"/>
              <a:gd name="T6" fmla="*/ 485 w 616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616"/>
              <a:gd name="T13" fmla="*/ 0 h 877"/>
              <a:gd name="T14" fmla="*/ 616 w 616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6" h="877">
                <a:moveTo>
                  <a:pt x="485" y="0"/>
                </a:moveTo>
                <a:lnTo>
                  <a:pt x="0" y="839"/>
                </a:lnTo>
                <a:lnTo>
                  <a:pt x="616" y="877"/>
                </a:lnTo>
                <a:lnTo>
                  <a:pt x="485" y="0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4823" name="Group 10"/>
          <p:cNvGrpSpPr>
            <a:grpSpLocks/>
          </p:cNvGrpSpPr>
          <p:nvPr/>
        </p:nvGrpSpPr>
        <p:grpSpPr bwMode="auto">
          <a:xfrm>
            <a:off x="3614738" y="2846388"/>
            <a:ext cx="1720850" cy="2587625"/>
            <a:chOff x="3738" y="1939"/>
            <a:chExt cx="1084" cy="1630"/>
          </a:xfrm>
        </p:grpSpPr>
        <p:sp>
          <p:nvSpPr>
            <p:cNvPr id="34830" name="Line 11"/>
            <p:cNvSpPr>
              <a:spLocks noChangeShapeType="1"/>
            </p:cNvSpPr>
            <p:nvPr/>
          </p:nvSpPr>
          <p:spPr bwMode="auto">
            <a:xfrm flipH="1">
              <a:off x="4225" y="1939"/>
              <a:ext cx="6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Line 12"/>
            <p:cNvSpPr>
              <a:spLocks noChangeShapeType="1"/>
            </p:cNvSpPr>
            <p:nvPr/>
          </p:nvSpPr>
          <p:spPr bwMode="auto">
            <a:xfrm>
              <a:off x="4231" y="1939"/>
              <a:ext cx="147" cy="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2" name="Line 13"/>
            <p:cNvSpPr>
              <a:spLocks noChangeShapeType="1"/>
            </p:cNvSpPr>
            <p:nvPr/>
          </p:nvSpPr>
          <p:spPr bwMode="auto">
            <a:xfrm>
              <a:off x="4231" y="1939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3" name="Line 14"/>
            <p:cNvSpPr>
              <a:spLocks noChangeShapeType="1"/>
            </p:cNvSpPr>
            <p:nvPr/>
          </p:nvSpPr>
          <p:spPr bwMode="auto">
            <a:xfrm flipH="1">
              <a:off x="3738" y="1939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4" name="Line 15"/>
            <p:cNvSpPr>
              <a:spLocks noChangeShapeType="1"/>
            </p:cNvSpPr>
            <p:nvPr/>
          </p:nvSpPr>
          <p:spPr bwMode="auto">
            <a:xfrm flipV="1">
              <a:off x="4378" y="2706"/>
              <a:ext cx="444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5" name="Line 16"/>
            <p:cNvSpPr>
              <a:spLocks noChangeShapeType="1"/>
            </p:cNvSpPr>
            <p:nvPr/>
          </p:nvSpPr>
          <p:spPr bwMode="auto">
            <a:xfrm flipH="1" flipV="1">
              <a:off x="3738" y="2802"/>
              <a:ext cx="640" cy="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6" name="Line 17"/>
            <p:cNvSpPr>
              <a:spLocks noChangeShapeType="1"/>
            </p:cNvSpPr>
            <p:nvPr/>
          </p:nvSpPr>
          <p:spPr bwMode="auto">
            <a:xfrm flipH="1">
              <a:off x="4329" y="2837"/>
              <a:ext cx="49" cy="7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7" name="Line 18"/>
            <p:cNvSpPr>
              <a:spLocks noChangeShapeType="1"/>
            </p:cNvSpPr>
            <p:nvPr/>
          </p:nvSpPr>
          <p:spPr bwMode="auto">
            <a:xfrm flipH="1">
              <a:off x="4329" y="2706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8" name="Line 19"/>
            <p:cNvSpPr>
              <a:spLocks noChangeShapeType="1"/>
            </p:cNvSpPr>
            <p:nvPr/>
          </p:nvSpPr>
          <p:spPr bwMode="auto">
            <a:xfrm>
              <a:off x="3738" y="2802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4839" name="Group 20"/>
            <p:cNvGrpSpPr>
              <a:grpSpLocks/>
            </p:cNvGrpSpPr>
            <p:nvPr/>
          </p:nvGrpSpPr>
          <p:grpSpPr bwMode="auto">
            <a:xfrm>
              <a:off x="3746" y="1961"/>
              <a:ext cx="1054" cy="1600"/>
              <a:chOff x="3746" y="1961"/>
              <a:chExt cx="1054" cy="1600"/>
            </a:xfrm>
          </p:grpSpPr>
          <p:sp>
            <p:nvSpPr>
              <p:cNvPr id="34840" name="Line 21"/>
              <p:cNvSpPr>
                <a:spLocks noChangeShapeType="1"/>
              </p:cNvSpPr>
              <p:nvPr/>
            </p:nvSpPr>
            <p:spPr bwMode="auto">
              <a:xfrm flipV="1">
                <a:off x="3746" y="2669"/>
                <a:ext cx="431" cy="13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1" name="Line 22"/>
              <p:cNvSpPr>
                <a:spLocks noChangeShapeType="1"/>
              </p:cNvSpPr>
              <p:nvPr/>
            </p:nvSpPr>
            <p:spPr bwMode="auto">
              <a:xfrm flipV="1">
                <a:off x="4184" y="1961"/>
                <a:ext cx="47" cy="70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2" name="Line 23"/>
              <p:cNvSpPr>
                <a:spLocks noChangeShapeType="1"/>
              </p:cNvSpPr>
              <p:nvPr/>
            </p:nvSpPr>
            <p:spPr bwMode="auto">
              <a:xfrm flipH="1" flipV="1">
                <a:off x="4184" y="2669"/>
                <a:ext cx="616" cy="4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3" name="Line 24"/>
              <p:cNvSpPr>
                <a:spLocks noChangeShapeType="1"/>
              </p:cNvSpPr>
              <p:nvPr/>
            </p:nvSpPr>
            <p:spPr bwMode="auto">
              <a:xfrm flipH="1" flipV="1">
                <a:off x="4192" y="2661"/>
                <a:ext cx="131" cy="9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pic>
        <p:nvPicPr>
          <p:cNvPr id="34824" name="Picture 2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97138" y="3430588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5" name="Line 27"/>
          <p:cNvSpPr>
            <a:spLocks noChangeShapeType="1"/>
          </p:cNvSpPr>
          <p:nvPr/>
        </p:nvSpPr>
        <p:spPr bwMode="auto">
          <a:xfrm>
            <a:off x="4389438" y="2298700"/>
            <a:ext cx="23812" cy="600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Line 28"/>
          <p:cNvSpPr>
            <a:spLocks noChangeShapeType="1"/>
          </p:cNvSpPr>
          <p:nvPr/>
        </p:nvSpPr>
        <p:spPr bwMode="auto">
          <a:xfrm>
            <a:off x="4494213" y="4237038"/>
            <a:ext cx="98425" cy="1855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609600" y="0"/>
            <a:ext cx="7772400" cy="125253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4-fold </a:t>
            </a:r>
            <a:r>
              <a:rPr lang="en-US" sz="3600" b="1" dirty="0" err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rotoinversion</a:t>
            </a: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 axis (4)</a:t>
            </a:r>
          </a:p>
        </p:txBody>
      </p:sp>
      <p:sp>
        <p:nvSpPr>
          <p:cNvPr id="34828" name="Line 25"/>
          <p:cNvSpPr>
            <a:spLocks noChangeShapeType="1"/>
          </p:cNvSpPr>
          <p:nvPr/>
        </p:nvSpPr>
        <p:spPr bwMode="auto">
          <a:xfrm>
            <a:off x="7467600" y="685800"/>
            <a:ext cx="2413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9" name="Rectangle 6"/>
          <p:cNvSpPr txBox="1">
            <a:spLocks noChangeArrowheads="1"/>
          </p:cNvSpPr>
          <p:nvPr/>
        </p:nvSpPr>
        <p:spPr bwMode="auto">
          <a:xfrm>
            <a:off x="2743200" y="1447800"/>
            <a:ext cx="41021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880" tIns="91440"/>
          <a:lstStyle/>
          <a:p>
            <a:pPr marL="265113" indent="-265113">
              <a:spcBef>
                <a:spcPts val="25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r>
              <a:rPr lang="en-US" sz="2400">
                <a:latin typeface="Verdana" pitchFamily="34" charset="0"/>
              </a:rPr>
              <a:t>2. Invert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2209800" y="1905000"/>
            <a:ext cx="4541838" cy="4537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5843" name="Freeform 3"/>
          <p:cNvSpPr>
            <a:spLocks/>
          </p:cNvSpPr>
          <p:nvPr/>
        </p:nvSpPr>
        <p:spPr bwMode="auto">
          <a:xfrm>
            <a:off x="4394200" y="3856038"/>
            <a:ext cx="1019175" cy="1439862"/>
          </a:xfrm>
          <a:custGeom>
            <a:avLst/>
            <a:gdLst>
              <a:gd name="T0" fmla="*/ 0 w 630"/>
              <a:gd name="T1" fmla="*/ 0 h 892"/>
              <a:gd name="T2" fmla="*/ 630 w 630"/>
              <a:gd name="T3" fmla="*/ 46 h 892"/>
              <a:gd name="T4" fmla="*/ 146 w 630"/>
              <a:gd name="T5" fmla="*/ 892 h 892"/>
              <a:gd name="T6" fmla="*/ 0 w 630"/>
              <a:gd name="T7" fmla="*/ 0 h 892"/>
              <a:gd name="T8" fmla="*/ 0 60000 65536"/>
              <a:gd name="T9" fmla="*/ 0 60000 65536"/>
              <a:gd name="T10" fmla="*/ 0 60000 65536"/>
              <a:gd name="T11" fmla="*/ 0 60000 65536"/>
              <a:gd name="T12" fmla="*/ 0 w 630"/>
              <a:gd name="T13" fmla="*/ 0 h 892"/>
              <a:gd name="T14" fmla="*/ 630 w 630"/>
              <a:gd name="T15" fmla="*/ 892 h 8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0" h="892">
                <a:moveTo>
                  <a:pt x="0" y="0"/>
                </a:moveTo>
                <a:lnTo>
                  <a:pt x="630" y="46"/>
                </a:lnTo>
                <a:lnTo>
                  <a:pt x="146" y="892"/>
                </a:lnTo>
                <a:lnTo>
                  <a:pt x="0" y="0"/>
                </a:lnTo>
                <a:close/>
              </a:path>
            </a:pathLst>
          </a:custGeom>
          <a:solidFill>
            <a:srgbClr val="FF00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44" name="Freeform 5"/>
          <p:cNvSpPr>
            <a:spLocks/>
          </p:cNvSpPr>
          <p:nvPr/>
        </p:nvSpPr>
        <p:spPr bwMode="auto">
          <a:xfrm>
            <a:off x="4486275" y="2720975"/>
            <a:ext cx="941388" cy="1403350"/>
          </a:xfrm>
          <a:custGeom>
            <a:avLst/>
            <a:gdLst>
              <a:gd name="T0" fmla="*/ 0 w 577"/>
              <a:gd name="T1" fmla="*/ 0 h 877"/>
              <a:gd name="T2" fmla="*/ 138 w 577"/>
              <a:gd name="T3" fmla="*/ 877 h 877"/>
              <a:gd name="T4" fmla="*/ 577 w 577"/>
              <a:gd name="T5" fmla="*/ 746 h 877"/>
              <a:gd name="T6" fmla="*/ 0 w 577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877"/>
              <a:gd name="T14" fmla="*/ 577 w 577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877">
                <a:moveTo>
                  <a:pt x="0" y="0"/>
                </a:moveTo>
                <a:lnTo>
                  <a:pt x="138" y="877"/>
                </a:lnTo>
                <a:lnTo>
                  <a:pt x="577" y="74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45" name="Line 6"/>
          <p:cNvSpPr>
            <a:spLocks noChangeShapeType="1"/>
          </p:cNvSpPr>
          <p:nvPr/>
        </p:nvSpPr>
        <p:spPr bwMode="auto">
          <a:xfrm>
            <a:off x="4465638" y="2149475"/>
            <a:ext cx="206375" cy="3800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5846" name="Group 7"/>
          <p:cNvGrpSpPr>
            <a:grpSpLocks/>
          </p:cNvGrpSpPr>
          <p:nvPr/>
        </p:nvGrpSpPr>
        <p:grpSpPr bwMode="auto">
          <a:xfrm>
            <a:off x="4291013" y="2109788"/>
            <a:ext cx="377825" cy="122237"/>
            <a:chOff x="3962" y="1423"/>
            <a:chExt cx="238" cy="77"/>
          </a:xfrm>
        </p:grpSpPr>
        <p:sp>
          <p:nvSpPr>
            <p:cNvPr id="35865" name="AutoShape 8"/>
            <p:cNvSpPr>
              <a:spLocks noChangeArrowheads="1"/>
            </p:cNvSpPr>
            <p:nvPr/>
          </p:nvSpPr>
          <p:spPr bwMode="auto">
            <a:xfrm>
              <a:off x="3962" y="1423"/>
              <a:ext cx="238" cy="77"/>
            </a:xfrm>
            <a:prstGeom prst="parallelogram">
              <a:avLst>
                <a:gd name="adj" fmla="val 77273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  <p:sp>
          <p:nvSpPr>
            <p:cNvPr id="35866" name="Oval 9"/>
            <p:cNvSpPr>
              <a:spLocks noChangeArrowheads="1"/>
            </p:cNvSpPr>
            <p:nvPr/>
          </p:nvSpPr>
          <p:spPr bwMode="auto">
            <a:xfrm>
              <a:off x="4048" y="1440"/>
              <a:ext cx="56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</p:grpSp>
      <p:grpSp>
        <p:nvGrpSpPr>
          <p:cNvPr id="35847" name="Group 10"/>
          <p:cNvGrpSpPr>
            <a:grpSpLocks/>
          </p:cNvGrpSpPr>
          <p:nvPr/>
        </p:nvGrpSpPr>
        <p:grpSpPr bwMode="auto">
          <a:xfrm>
            <a:off x="3690938" y="2697163"/>
            <a:ext cx="1720850" cy="2587625"/>
            <a:chOff x="3738" y="1939"/>
            <a:chExt cx="1084" cy="1630"/>
          </a:xfrm>
        </p:grpSpPr>
        <p:sp>
          <p:nvSpPr>
            <p:cNvPr id="35851" name="Line 11"/>
            <p:cNvSpPr>
              <a:spLocks noChangeShapeType="1"/>
            </p:cNvSpPr>
            <p:nvPr/>
          </p:nvSpPr>
          <p:spPr bwMode="auto">
            <a:xfrm flipH="1">
              <a:off x="4225" y="1939"/>
              <a:ext cx="6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52" name="Line 12"/>
            <p:cNvSpPr>
              <a:spLocks noChangeShapeType="1"/>
            </p:cNvSpPr>
            <p:nvPr/>
          </p:nvSpPr>
          <p:spPr bwMode="auto">
            <a:xfrm>
              <a:off x="4231" y="1939"/>
              <a:ext cx="147" cy="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53" name="Line 13"/>
            <p:cNvSpPr>
              <a:spLocks noChangeShapeType="1"/>
            </p:cNvSpPr>
            <p:nvPr/>
          </p:nvSpPr>
          <p:spPr bwMode="auto">
            <a:xfrm>
              <a:off x="4231" y="1939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54" name="Line 14"/>
            <p:cNvSpPr>
              <a:spLocks noChangeShapeType="1"/>
            </p:cNvSpPr>
            <p:nvPr/>
          </p:nvSpPr>
          <p:spPr bwMode="auto">
            <a:xfrm flipH="1">
              <a:off x="3738" y="1939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55" name="Line 15"/>
            <p:cNvSpPr>
              <a:spLocks noChangeShapeType="1"/>
            </p:cNvSpPr>
            <p:nvPr/>
          </p:nvSpPr>
          <p:spPr bwMode="auto">
            <a:xfrm flipV="1">
              <a:off x="4378" y="2706"/>
              <a:ext cx="444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56" name="Line 16"/>
            <p:cNvSpPr>
              <a:spLocks noChangeShapeType="1"/>
            </p:cNvSpPr>
            <p:nvPr/>
          </p:nvSpPr>
          <p:spPr bwMode="auto">
            <a:xfrm flipH="1" flipV="1">
              <a:off x="3738" y="2802"/>
              <a:ext cx="640" cy="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57" name="Line 17"/>
            <p:cNvSpPr>
              <a:spLocks noChangeShapeType="1"/>
            </p:cNvSpPr>
            <p:nvPr/>
          </p:nvSpPr>
          <p:spPr bwMode="auto">
            <a:xfrm flipH="1">
              <a:off x="4329" y="2837"/>
              <a:ext cx="49" cy="7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58" name="Line 18"/>
            <p:cNvSpPr>
              <a:spLocks noChangeShapeType="1"/>
            </p:cNvSpPr>
            <p:nvPr/>
          </p:nvSpPr>
          <p:spPr bwMode="auto">
            <a:xfrm flipH="1">
              <a:off x="4329" y="2706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59" name="Line 19"/>
            <p:cNvSpPr>
              <a:spLocks noChangeShapeType="1"/>
            </p:cNvSpPr>
            <p:nvPr/>
          </p:nvSpPr>
          <p:spPr bwMode="auto">
            <a:xfrm>
              <a:off x="3738" y="2802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860" name="Group 20"/>
            <p:cNvGrpSpPr>
              <a:grpSpLocks/>
            </p:cNvGrpSpPr>
            <p:nvPr/>
          </p:nvGrpSpPr>
          <p:grpSpPr bwMode="auto">
            <a:xfrm>
              <a:off x="3746" y="1961"/>
              <a:ext cx="1054" cy="1600"/>
              <a:chOff x="3746" y="1961"/>
              <a:chExt cx="1054" cy="1600"/>
            </a:xfrm>
          </p:grpSpPr>
          <p:sp>
            <p:nvSpPr>
              <p:cNvPr id="35861" name="Line 21"/>
              <p:cNvSpPr>
                <a:spLocks noChangeShapeType="1"/>
              </p:cNvSpPr>
              <p:nvPr/>
            </p:nvSpPr>
            <p:spPr bwMode="auto">
              <a:xfrm flipV="1">
                <a:off x="3746" y="2669"/>
                <a:ext cx="431" cy="13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62" name="Line 22"/>
              <p:cNvSpPr>
                <a:spLocks noChangeShapeType="1"/>
              </p:cNvSpPr>
              <p:nvPr/>
            </p:nvSpPr>
            <p:spPr bwMode="auto">
              <a:xfrm flipV="1">
                <a:off x="4184" y="1961"/>
                <a:ext cx="47" cy="70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63" name="Line 23"/>
              <p:cNvSpPr>
                <a:spLocks noChangeShapeType="1"/>
              </p:cNvSpPr>
              <p:nvPr/>
            </p:nvSpPr>
            <p:spPr bwMode="auto">
              <a:xfrm flipH="1" flipV="1">
                <a:off x="4184" y="2669"/>
                <a:ext cx="616" cy="4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64" name="Line 24"/>
              <p:cNvSpPr>
                <a:spLocks noChangeShapeType="1"/>
              </p:cNvSpPr>
              <p:nvPr/>
            </p:nvSpPr>
            <p:spPr bwMode="auto">
              <a:xfrm flipH="1" flipV="1">
                <a:off x="4192" y="2661"/>
                <a:ext cx="131" cy="9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5848" name="Rectangle 6"/>
          <p:cNvSpPr txBox="1">
            <a:spLocks noChangeArrowheads="1"/>
          </p:cNvSpPr>
          <p:nvPr/>
        </p:nvSpPr>
        <p:spPr bwMode="auto">
          <a:xfrm>
            <a:off x="2743200" y="1447800"/>
            <a:ext cx="41021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880" tIns="91440"/>
          <a:lstStyle/>
          <a:p>
            <a:pPr marL="265113" indent="-265113">
              <a:spcBef>
                <a:spcPts val="25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r>
              <a:rPr lang="en-US" sz="2400">
                <a:latin typeface="Verdana" pitchFamily="34" charset="0"/>
              </a:rPr>
              <a:t>2. Invert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609600" y="0"/>
            <a:ext cx="7772400" cy="125253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4-fold </a:t>
            </a:r>
            <a:r>
              <a:rPr lang="en-US" sz="3600" b="1" dirty="0" err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rotoinversion</a:t>
            </a: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 axis (4)</a:t>
            </a:r>
          </a:p>
        </p:txBody>
      </p:sp>
      <p:sp>
        <p:nvSpPr>
          <p:cNvPr id="35850" name="Line 25"/>
          <p:cNvSpPr>
            <a:spLocks noChangeShapeType="1"/>
          </p:cNvSpPr>
          <p:nvPr/>
        </p:nvSpPr>
        <p:spPr bwMode="auto">
          <a:xfrm>
            <a:off x="7467600" y="685800"/>
            <a:ext cx="2413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2438400" y="2054225"/>
            <a:ext cx="4541838" cy="4537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6867" name="Freeform 3"/>
          <p:cNvSpPr>
            <a:spLocks/>
          </p:cNvSpPr>
          <p:nvPr/>
        </p:nvSpPr>
        <p:spPr bwMode="auto">
          <a:xfrm>
            <a:off x="4629150" y="4005263"/>
            <a:ext cx="1000125" cy="1416050"/>
          </a:xfrm>
          <a:custGeom>
            <a:avLst/>
            <a:gdLst>
              <a:gd name="T0" fmla="*/ 0 w 630"/>
              <a:gd name="T1" fmla="*/ 0 h 892"/>
              <a:gd name="T2" fmla="*/ 630 w 630"/>
              <a:gd name="T3" fmla="*/ 46 h 892"/>
              <a:gd name="T4" fmla="*/ 146 w 630"/>
              <a:gd name="T5" fmla="*/ 892 h 892"/>
              <a:gd name="T6" fmla="*/ 0 w 630"/>
              <a:gd name="T7" fmla="*/ 0 h 892"/>
              <a:gd name="T8" fmla="*/ 0 60000 65536"/>
              <a:gd name="T9" fmla="*/ 0 60000 65536"/>
              <a:gd name="T10" fmla="*/ 0 60000 65536"/>
              <a:gd name="T11" fmla="*/ 0 60000 65536"/>
              <a:gd name="T12" fmla="*/ 0 w 630"/>
              <a:gd name="T13" fmla="*/ 0 h 892"/>
              <a:gd name="T14" fmla="*/ 630 w 630"/>
              <a:gd name="T15" fmla="*/ 892 h 8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0" h="892">
                <a:moveTo>
                  <a:pt x="0" y="0"/>
                </a:moveTo>
                <a:lnTo>
                  <a:pt x="630" y="46"/>
                </a:lnTo>
                <a:lnTo>
                  <a:pt x="146" y="892"/>
                </a:lnTo>
                <a:lnTo>
                  <a:pt x="0" y="0"/>
                </a:lnTo>
                <a:close/>
              </a:path>
            </a:pathLst>
          </a:custGeom>
          <a:solidFill>
            <a:srgbClr val="FF00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Freeform 5"/>
          <p:cNvSpPr>
            <a:spLocks/>
          </p:cNvSpPr>
          <p:nvPr/>
        </p:nvSpPr>
        <p:spPr bwMode="auto">
          <a:xfrm>
            <a:off x="4714875" y="2870200"/>
            <a:ext cx="927100" cy="1403350"/>
          </a:xfrm>
          <a:custGeom>
            <a:avLst/>
            <a:gdLst>
              <a:gd name="T0" fmla="*/ 0 w 577"/>
              <a:gd name="T1" fmla="*/ 0 h 877"/>
              <a:gd name="T2" fmla="*/ 138 w 577"/>
              <a:gd name="T3" fmla="*/ 877 h 877"/>
              <a:gd name="T4" fmla="*/ 577 w 577"/>
              <a:gd name="T5" fmla="*/ 746 h 877"/>
              <a:gd name="T6" fmla="*/ 0 w 577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877"/>
              <a:gd name="T14" fmla="*/ 577 w 577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877">
                <a:moveTo>
                  <a:pt x="0" y="0"/>
                </a:moveTo>
                <a:lnTo>
                  <a:pt x="138" y="877"/>
                </a:lnTo>
                <a:lnTo>
                  <a:pt x="577" y="74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69" name="Line 6"/>
          <p:cNvSpPr>
            <a:spLocks noChangeShapeType="1"/>
          </p:cNvSpPr>
          <p:nvPr/>
        </p:nvSpPr>
        <p:spPr bwMode="auto">
          <a:xfrm>
            <a:off x="4694238" y="2298700"/>
            <a:ext cx="206375" cy="3800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6870" name="Group 7"/>
          <p:cNvGrpSpPr>
            <a:grpSpLocks/>
          </p:cNvGrpSpPr>
          <p:nvPr/>
        </p:nvGrpSpPr>
        <p:grpSpPr bwMode="auto">
          <a:xfrm>
            <a:off x="4519613" y="2259013"/>
            <a:ext cx="377825" cy="122237"/>
            <a:chOff x="3962" y="1423"/>
            <a:chExt cx="238" cy="77"/>
          </a:xfrm>
        </p:grpSpPr>
        <p:sp>
          <p:nvSpPr>
            <p:cNvPr id="36890" name="AutoShape 8"/>
            <p:cNvSpPr>
              <a:spLocks noChangeArrowheads="1"/>
            </p:cNvSpPr>
            <p:nvPr/>
          </p:nvSpPr>
          <p:spPr bwMode="auto">
            <a:xfrm>
              <a:off x="3962" y="1423"/>
              <a:ext cx="238" cy="77"/>
            </a:xfrm>
            <a:prstGeom prst="parallelogram">
              <a:avLst>
                <a:gd name="adj" fmla="val 77273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  <p:sp>
          <p:nvSpPr>
            <p:cNvPr id="36891" name="Oval 9"/>
            <p:cNvSpPr>
              <a:spLocks noChangeArrowheads="1"/>
            </p:cNvSpPr>
            <p:nvPr/>
          </p:nvSpPr>
          <p:spPr bwMode="auto">
            <a:xfrm>
              <a:off x="4048" y="1440"/>
              <a:ext cx="56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</p:grpSp>
      <p:sp>
        <p:nvSpPr>
          <p:cNvPr id="36871" name="Freeform 11"/>
          <p:cNvSpPr>
            <a:spLocks/>
          </p:cNvSpPr>
          <p:nvPr/>
        </p:nvSpPr>
        <p:spPr bwMode="auto">
          <a:xfrm>
            <a:off x="4873625" y="4078288"/>
            <a:ext cx="757238" cy="1366837"/>
          </a:xfrm>
          <a:custGeom>
            <a:avLst/>
            <a:gdLst>
              <a:gd name="T0" fmla="*/ 46 w 477"/>
              <a:gd name="T1" fmla="*/ 131 h 861"/>
              <a:gd name="T2" fmla="*/ 477 w 477"/>
              <a:gd name="T3" fmla="*/ 0 h 861"/>
              <a:gd name="T4" fmla="*/ 0 w 477"/>
              <a:gd name="T5" fmla="*/ 861 h 861"/>
              <a:gd name="T6" fmla="*/ 46 w 477"/>
              <a:gd name="T7" fmla="*/ 131 h 861"/>
              <a:gd name="T8" fmla="*/ 0 60000 65536"/>
              <a:gd name="T9" fmla="*/ 0 60000 65536"/>
              <a:gd name="T10" fmla="*/ 0 60000 65536"/>
              <a:gd name="T11" fmla="*/ 0 60000 65536"/>
              <a:gd name="T12" fmla="*/ 0 w 477"/>
              <a:gd name="T13" fmla="*/ 0 h 861"/>
              <a:gd name="T14" fmla="*/ 477 w 477"/>
              <a:gd name="T15" fmla="*/ 861 h 86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7" h="861">
                <a:moveTo>
                  <a:pt x="46" y="131"/>
                </a:moveTo>
                <a:lnTo>
                  <a:pt x="477" y="0"/>
                </a:lnTo>
                <a:lnTo>
                  <a:pt x="0" y="861"/>
                </a:lnTo>
                <a:lnTo>
                  <a:pt x="46" y="131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6872" name="Group 12"/>
          <p:cNvGrpSpPr>
            <a:grpSpLocks/>
          </p:cNvGrpSpPr>
          <p:nvPr/>
        </p:nvGrpSpPr>
        <p:grpSpPr bwMode="auto">
          <a:xfrm>
            <a:off x="3919538" y="2846388"/>
            <a:ext cx="1720850" cy="2587625"/>
            <a:chOff x="3738" y="1939"/>
            <a:chExt cx="1084" cy="1630"/>
          </a:xfrm>
        </p:grpSpPr>
        <p:sp>
          <p:nvSpPr>
            <p:cNvPr id="36876" name="Line 13"/>
            <p:cNvSpPr>
              <a:spLocks noChangeShapeType="1"/>
            </p:cNvSpPr>
            <p:nvPr/>
          </p:nvSpPr>
          <p:spPr bwMode="auto">
            <a:xfrm flipH="1">
              <a:off x="4225" y="1939"/>
              <a:ext cx="6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77" name="Line 14"/>
            <p:cNvSpPr>
              <a:spLocks noChangeShapeType="1"/>
            </p:cNvSpPr>
            <p:nvPr/>
          </p:nvSpPr>
          <p:spPr bwMode="auto">
            <a:xfrm>
              <a:off x="4231" y="1939"/>
              <a:ext cx="147" cy="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78" name="Line 15"/>
            <p:cNvSpPr>
              <a:spLocks noChangeShapeType="1"/>
            </p:cNvSpPr>
            <p:nvPr/>
          </p:nvSpPr>
          <p:spPr bwMode="auto">
            <a:xfrm>
              <a:off x="4231" y="1939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79" name="Line 16"/>
            <p:cNvSpPr>
              <a:spLocks noChangeShapeType="1"/>
            </p:cNvSpPr>
            <p:nvPr/>
          </p:nvSpPr>
          <p:spPr bwMode="auto">
            <a:xfrm flipH="1">
              <a:off x="3738" y="1939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0" name="Line 17"/>
            <p:cNvSpPr>
              <a:spLocks noChangeShapeType="1"/>
            </p:cNvSpPr>
            <p:nvPr/>
          </p:nvSpPr>
          <p:spPr bwMode="auto">
            <a:xfrm flipV="1">
              <a:off x="4378" y="2706"/>
              <a:ext cx="444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Line 18"/>
            <p:cNvSpPr>
              <a:spLocks noChangeShapeType="1"/>
            </p:cNvSpPr>
            <p:nvPr/>
          </p:nvSpPr>
          <p:spPr bwMode="auto">
            <a:xfrm flipH="1" flipV="1">
              <a:off x="3738" y="2802"/>
              <a:ext cx="640" cy="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2" name="Line 19"/>
            <p:cNvSpPr>
              <a:spLocks noChangeShapeType="1"/>
            </p:cNvSpPr>
            <p:nvPr/>
          </p:nvSpPr>
          <p:spPr bwMode="auto">
            <a:xfrm flipH="1">
              <a:off x="4329" y="2837"/>
              <a:ext cx="49" cy="7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3" name="Line 20"/>
            <p:cNvSpPr>
              <a:spLocks noChangeShapeType="1"/>
            </p:cNvSpPr>
            <p:nvPr/>
          </p:nvSpPr>
          <p:spPr bwMode="auto">
            <a:xfrm flipH="1">
              <a:off x="4329" y="2706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4" name="Line 21"/>
            <p:cNvSpPr>
              <a:spLocks noChangeShapeType="1"/>
            </p:cNvSpPr>
            <p:nvPr/>
          </p:nvSpPr>
          <p:spPr bwMode="auto">
            <a:xfrm>
              <a:off x="3738" y="2802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885" name="Group 22"/>
            <p:cNvGrpSpPr>
              <a:grpSpLocks/>
            </p:cNvGrpSpPr>
            <p:nvPr/>
          </p:nvGrpSpPr>
          <p:grpSpPr bwMode="auto">
            <a:xfrm>
              <a:off x="3746" y="1961"/>
              <a:ext cx="1054" cy="1600"/>
              <a:chOff x="3746" y="1961"/>
              <a:chExt cx="1054" cy="1600"/>
            </a:xfrm>
          </p:grpSpPr>
          <p:sp>
            <p:nvSpPr>
              <p:cNvPr id="36886" name="Line 23"/>
              <p:cNvSpPr>
                <a:spLocks noChangeShapeType="1"/>
              </p:cNvSpPr>
              <p:nvPr/>
            </p:nvSpPr>
            <p:spPr bwMode="auto">
              <a:xfrm flipV="1">
                <a:off x="3746" y="2669"/>
                <a:ext cx="431" cy="13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7" name="Line 24"/>
              <p:cNvSpPr>
                <a:spLocks noChangeShapeType="1"/>
              </p:cNvSpPr>
              <p:nvPr/>
            </p:nvSpPr>
            <p:spPr bwMode="auto">
              <a:xfrm flipV="1">
                <a:off x="4184" y="1961"/>
                <a:ext cx="47" cy="70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8" name="Line 25"/>
              <p:cNvSpPr>
                <a:spLocks noChangeShapeType="1"/>
              </p:cNvSpPr>
              <p:nvPr/>
            </p:nvSpPr>
            <p:spPr bwMode="auto">
              <a:xfrm flipH="1" flipV="1">
                <a:off x="4184" y="2669"/>
                <a:ext cx="616" cy="4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9" name="Line 26"/>
              <p:cNvSpPr>
                <a:spLocks noChangeShapeType="1"/>
              </p:cNvSpPr>
              <p:nvPr/>
            </p:nvSpPr>
            <p:spPr bwMode="auto">
              <a:xfrm flipH="1" flipV="1">
                <a:off x="4192" y="2661"/>
                <a:ext cx="131" cy="9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6873" name="Rectangle 6"/>
          <p:cNvSpPr txBox="1">
            <a:spLocks noChangeArrowheads="1"/>
          </p:cNvSpPr>
          <p:nvPr/>
        </p:nvSpPr>
        <p:spPr bwMode="auto">
          <a:xfrm>
            <a:off x="2743200" y="1447800"/>
            <a:ext cx="41021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880" tIns="91440"/>
          <a:lstStyle/>
          <a:p>
            <a:pPr marL="265113" indent="-265113">
              <a:spcBef>
                <a:spcPts val="25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r>
              <a:rPr lang="en-US" sz="2400">
                <a:latin typeface="Verdana" pitchFamily="34" charset="0"/>
              </a:rPr>
              <a:t>3. Rotate by 360/4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609600" y="0"/>
            <a:ext cx="7772400" cy="125253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4-fold </a:t>
            </a:r>
            <a:r>
              <a:rPr lang="en-US" sz="3600" b="1" dirty="0" err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rotoinversion</a:t>
            </a: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 axis (4)</a:t>
            </a:r>
          </a:p>
        </p:txBody>
      </p:sp>
      <p:sp>
        <p:nvSpPr>
          <p:cNvPr id="36875" name="Line 25"/>
          <p:cNvSpPr>
            <a:spLocks noChangeShapeType="1"/>
          </p:cNvSpPr>
          <p:nvPr/>
        </p:nvSpPr>
        <p:spPr bwMode="auto">
          <a:xfrm>
            <a:off x="7467600" y="685800"/>
            <a:ext cx="2413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2374900" y="2054225"/>
            <a:ext cx="4541838" cy="4537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7891" name="Freeform 3"/>
          <p:cNvSpPr>
            <a:spLocks/>
          </p:cNvSpPr>
          <p:nvPr/>
        </p:nvSpPr>
        <p:spPr bwMode="auto">
          <a:xfrm>
            <a:off x="3849688" y="2862263"/>
            <a:ext cx="782637" cy="1387475"/>
          </a:xfrm>
          <a:custGeom>
            <a:avLst/>
            <a:gdLst>
              <a:gd name="T0" fmla="*/ 469 w 469"/>
              <a:gd name="T1" fmla="*/ 0 h 830"/>
              <a:gd name="T2" fmla="*/ 0 w 469"/>
              <a:gd name="T3" fmla="*/ 830 h 830"/>
              <a:gd name="T4" fmla="*/ 423 w 469"/>
              <a:gd name="T5" fmla="*/ 676 h 830"/>
              <a:gd name="T6" fmla="*/ 469 w 469"/>
              <a:gd name="T7" fmla="*/ 0 h 830"/>
              <a:gd name="T8" fmla="*/ 0 60000 65536"/>
              <a:gd name="T9" fmla="*/ 0 60000 65536"/>
              <a:gd name="T10" fmla="*/ 0 60000 65536"/>
              <a:gd name="T11" fmla="*/ 0 60000 65536"/>
              <a:gd name="T12" fmla="*/ 0 w 469"/>
              <a:gd name="T13" fmla="*/ 0 h 830"/>
              <a:gd name="T14" fmla="*/ 469 w 469"/>
              <a:gd name="T15" fmla="*/ 830 h 8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9" h="830">
                <a:moveTo>
                  <a:pt x="469" y="0"/>
                </a:moveTo>
                <a:lnTo>
                  <a:pt x="0" y="830"/>
                </a:lnTo>
                <a:lnTo>
                  <a:pt x="423" y="676"/>
                </a:lnTo>
                <a:lnTo>
                  <a:pt x="46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2" name="Freeform 4"/>
          <p:cNvSpPr>
            <a:spLocks/>
          </p:cNvSpPr>
          <p:nvPr/>
        </p:nvSpPr>
        <p:spPr bwMode="auto">
          <a:xfrm>
            <a:off x="4552950" y="4005263"/>
            <a:ext cx="1012825" cy="1441450"/>
          </a:xfrm>
          <a:custGeom>
            <a:avLst/>
            <a:gdLst>
              <a:gd name="T0" fmla="*/ 0 w 630"/>
              <a:gd name="T1" fmla="*/ 0 h 892"/>
              <a:gd name="T2" fmla="*/ 630 w 630"/>
              <a:gd name="T3" fmla="*/ 46 h 892"/>
              <a:gd name="T4" fmla="*/ 146 w 630"/>
              <a:gd name="T5" fmla="*/ 892 h 892"/>
              <a:gd name="T6" fmla="*/ 0 w 630"/>
              <a:gd name="T7" fmla="*/ 0 h 892"/>
              <a:gd name="T8" fmla="*/ 0 60000 65536"/>
              <a:gd name="T9" fmla="*/ 0 60000 65536"/>
              <a:gd name="T10" fmla="*/ 0 60000 65536"/>
              <a:gd name="T11" fmla="*/ 0 60000 65536"/>
              <a:gd name="T12" fmla="*/ 0 w 630"/>
              <a:gd name="T13" fmla="*/ 0 h 892"/>
              <a:gd name="T14" fmla="*/ 630 w 630"/>
              <a:gd name="T15" fmla="*/ 892 h 8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0" h="892">
                <a:moveTo>
                  <a:pt x="0" y="0"/>
                </a:moveTo>
                <a:lnTo>
                  <a:pt x="630" y="46"/>
                </a:lnTo>
                <a:lnTo>
                  <a:pt x="146" y="892"/>
                </a:lnTo>
                <a:lnTo>
                  <a:pt x="0" y="0"/>
                </a:lnTo>
                <a:close/>
              </a:path>
            </a:pathLst>
          </a:custGeom>
          <a:solidFill>
            <a:srgbClr val="FF00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3" name="Freeform 5"/>
          <p:cNvSpPr>
            <a:spLocks/>
          </p:cNvSpPr>
          <p:nvPr/>
        </p:nvSpPr>
        <p:spPr bwMode="auto">
          <a:xfrm>
            <a:off x="4810125" y="4078288"/>
            <a:ext cx="757238" cy="1366837"/>
          </a:xfrm>
          <a:custGeom>
            <a:avLst/>
            <a:gdLst>
              <a:gd name="T0" fmla="*/ 46 w 477"/>
              <a:gd name="T1" fmla="*/ 131 h 861"/>
              <a:gd name="T2" fmla="*/ 477 w 477"/>
              <a:gd name="T3" fmla="*/ 0 h 861"/>
              <a:gd name="T4" fmla="*/ 0 w 477"/>
              <a:gd name="T5" fmla="*/ 861 h 861"/>
              <a:gd name="T6" fmla="*/ 46 w 477"/>
              <a:gd name="T7" fmla="*/ 131 h 861"/>
              <a:gd name="T8" fmla="*/ 0 60000 65536"/>
              <a:gd name="T9" fmla="*/ 0 60000 65536"/>
              <a:gd name="T10" fmla="*/ 0 60000 65536"/>
              <a:gd name="T11" fmla="*/ 0 60000 65536"/>
              <a:gd name="T12" fmla="*/ 0 w 477"/>
              <a:gd name="T13" fmla="*/ 0 h 861"/>
              <a:gd name="T14" fmla="*/ 477 w 477"/>
              <a:gd name="T15" fmla="*/ 861 h 86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7" h="861">
                <a:moveTo>
                  <a:pt x="46" y="131"/>
                </a:moveTo>
                <a:lnTo>
                  <a:pt x="477" y="0"/>
                </a:lnTo>
                <a:lnTo>
                  <a:pt x="0" y="861"/>
                </a:lnTo>
                <a:lnTo>
                  <a:pt x="46" y="131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4" name="Freeform 7"/>
          <p:cNvSpPr>
            <a:spLocks/>
          </p:cNvSpPr>
          <p:nvPr/>
        </p:nvSpPr>
        <p:spPr bwMode="auto">
          <a:xfrm>
            <a:off x="4651375" y="2844800"/>
            <a:ext cx="915988" cy="1428750"/>
          </a:xfrm>
          <a:custGeom>
            <a:avLst/>
            <a:gdLst>
              <a:gd name="T0" fmla="*/ 0 w 577"/>
              <a:gd name="T1" fmla="*/ 0 h 877"/>
              <a:gd name="T2" fmla="*/ 138 w 577"/>
              <a:gd name="T3" fmla="*/ 877 h 877"/>
              <a:gd name="T4" fmla="*/ 577 w 577"/>
              <a:gd name="T5" fmla="*/ 746 h 877"/>
              <a:gd name="T6" fmla="*/ 0 w 577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877"/>
              <a:gd name="T14" fmla="*/ 577 w 577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877">
                <a:moveTo>
                  <a:pt x="0" y="0"/>
                </a:moveTo>
                <a:lnTo>
                  <a:pt x="138" y="877"/>
                </a:lnTo>
                <a:lnTo>
                  <a:pt x="577" y="74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Line 8"/>
          <p:cNvSpPr>
            <a:spLocks noChangeShapeType="1"/>
          </p:cNvSpPr>
          <p:nvPr/>
        </p:nvSpPr>
        <p:spPr bwMode="auto">
          <a:xfrm>
            <a:off x="4630738" y="2298700"/>
            <a:ext cx="206375" cy="3800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896" name="Group 9"/>
          <p:cNvGrpSpPr>
            <a:grpSpLocks/>
          </p:cNvGrpSpPr>
          <p:nvPr/>
        </p:nvGrpSpPr>
        <p:grpSpPr bwMode="auto">
          <a:xfrm>
            <a:off x="4456113" y="2259013"/>
            <a:ext cx="377825" cy="122237"/>
            <a:chOff x="3962" y="1423"/>
            <a:chExt cx="238" cy="77"/>
          </a:xfrm>
        </p:grpSpPr>
        <p:sp>
          <p:nvSpPr>
            <p:cNvPr id="37915" name="AutoShape 10"/>
            <p:cNvSpPr>
              <a:spLocks noChangeArrowheads="1"/>
            </p:cNvSpPr>
            <p:nvPr/>
          </p:nvSpPr>
          <p:spPr bwMode="auto">
            <a:xfrm>
              <a:off x="3962" y="1423"/>
              <a:ext cx="238" cy="77"/>
            </a:xfrm>
            <a:prstGeom prst="parallelogram">
              <a:avLst>
                <a:gd name="adj" fmla="val 77273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  <p:sp>
          <p:nvSpPr>
            <p:cNvPr id="37916" name="Oval 11"/>
            <p:cNvSpPr>
              <a:spLocks noChangeArrowheads="1"/>
            </p:cNvSpPr>
            <p:nvPr/>
          </p:nvSpPr>
          <p:spPr bwMode="auto">
            <a:xfrm>
              <a:off x="4048" y="1440"/>
              <a:ext cx="56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</p:grpSp>
      <p:grpSp>
        <p:nvGrpSpPr>
          <p:cNvPr id="37897" name="Group 12"/>
          <p:cNvGrpSpPr>
            <a:grpSpLocks/>
          </p:cNvGrpSpPr>
          <p:nvPr/>
        </p:nvGrpSpPr>
        <p:grpSpPr bwMode="auto">
          <a:xfrm>
            <a:off x="3856038" y="2846388"/>
            <a:ext cx="1720850" cy="2587625"/>
            <a:chOff x="3738" y="1939"/>
            <a:chExt cx="1084" cy="1630"/>
          </a:xfrm>
        </p:grpSpPr>
        <p:sp>
          <p:nvSpPr>
            <p:cNvPr id="37901" name="Line 13"/>
            <p:cNvSpPr>
              <a:spLocks noChangeShapeType="1"/>
            </p:cNvSpPr>
            <p:nvPr/>
          </p:nvSpPr>
          <p:spPr bwMode="auto">
            <a:xfrm flipH="1">
              <a:off x="4225" y="1939"/>
              <a:ext cx="6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2" name="Line 14"/>
            <p:cNvSpPr>
              <a:spLocks noChangeShapeType="1"/>
            </p:cNvSpPr>
            <p:nvPr/>
          </p:nvSpPr>
          <p:spPr bwMode="auto">
            <a:xfrm>
              <a:off x="4231" y="1939"/>
              <a:ext cx="147" cy="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3" name="Line 15"/>
            <p:cNvSpPr>
              <a:spLocks noChangeShapeType="1"/>
            </p:cNvSpPr>
            <p:nvPr/>
          </p:nvSpPr>
          <p:spPr bwMode="auto">
            <a:xfrm>
              <a:off x="4231" y="1939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4" name="Line 16"/>
            <p:cNvSpPr>
              <a:spLocks noChangeShapeType="1"/>
            </p:cNvSpPr>
            <p:nvPr/>
          </p:nvSpPr>
          <p:spPr bwMode="auto">
            <a:xfrm flipH="1">
              <a:off x="3738" y="1939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5" name="Line 17"/>
            <p:cNvSpPr>
              <a:spLocks noChangeShapeType="1"/>
            </p:cNvSpPr>
            <p:nvPr/>
          </p:nvSpPr>
          <p:spPr bwMode="auto">
            <a:xfrm flipV="1">
              <a:off x="4378" y="2706"/>
              <a:ext cx="444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6" name="Line 18"/>
            <p:cNvSpPr>
              <a:spLocks noChangeShapeType="1"/>
            </p:cNvSpPr>
            <p:nvPr/>
          </p:nvSpPr>
          <p:spPr bwMode="auto">
            <a:xfrm flipH="1" flipV="1">
              <a:off x="3738" y="2802"/>
              <a:ext cx="640" cy="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7" name="Line 19"/>
            <p:cNvSpPr>
              <a:spLocks noChangeShapeType="1"/>
            </p:cNvSpPr>
            <p:nvPr/>
          </p:nvSpPr>
          <p:spPr bwMode="auto">
            <a:xfrm flipH="1">
              <a:off x="4329" y="2837"/>
              <a:ext cx="49" cy="7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8" name="Line 20"/>
            <p:cNvSpPr>
              <a:spLocks noChangeShapeType="1"/>
            </p:cNvSpPr>
            <p:nvPr/>
          </p:nvSpPr>
          <p:spPr bwMode="auto">
            <a:xfrm flipH="1">
              <a:off x="4329" y="2706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9" name="Line 21"/>
            <p:cNvSpPr>
              <a:spLocks noChangeShapeType="1"/>
            </p:cNvSpPr>
            <p:nvPr/>
          </p:nvSpPr>
          <p:spPr bwMode="auto">
            <a:xfrm>
              <a:off x="3738" y="2802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7910" name="Group 22"/>
            <p:cNvGrpSpPr>
              <a:grpSpLocks/>
            </p:cNvGrpSpPr>
            <p:nvPr/>
          </p:nvGrpSpPr>
          <p:grpSpPr bwMode="auto">
            <a:xfrm>
              <a:off x="3746" y="1961"/>
              <a:ext cx="1054" cy="1600"/>
              <a:chOff x="3746" y="1961"/>
              <a:chExt cx="1054" cy="1600"/>
            </a:xfrm>
          </p:grpSpPr>
          <p:sp>
            <p:nvSpPr>
              <p:cNvPr id="37911" name="Line 23"/>
              <p:cNvSpPr>
                <a:spLocks noChangeShapeType="1"/>
              </p:cNvSpPr>
              <p:nvPr/>
            </p:nvSpPr>
            <p:spPr bwMode="auto">
              <a:xfrm flipV="1">
                <a:off x="3746" y="2669"/>
                <a:ext cx="431" cy="13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2" name="Line 24"/>
              <p:cNvSpPr>
                <a:spLocks noChangeShapeType="1"/>
              </p:cNvSpPr>
              <p:nvPr/>
            </p:nvSpPr>
            <p:spPr bwMode="auto">
              <a:xfrm flipV="1">
                <a:off x="4184" y="1961"/>
                <a:ext cx="47" cy="70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3" name="Line 25"/>
              <p:cNvSpPr>
                <a:spLocks noChangeShapeType="1"/>
              </p:cNvSpPr>
              <p:nvPr/>
            </p:nvSpPr>
            <p:spPr bwMode="auto">
              <a:xfrm flipH="1" flipV="1">
                <a:off x="4184" y="2669"/>
                <a:ext cx="616" cy="4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4" name="Line 26"/>
              <p:cNvSpPr>
                <a:spLocks noChangeShapeType="1"/>
              </p:cNvSpPr>
              <p:nvPr/>
            </p:nvSpPr>
            <p:spPr bwMode="auto">
              <a:xfrm flipH="1" flipV="1">
                <a:off x="4192" y="2661"/>
                <a:ext cx="131" cy="9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7898" name="Rectangle 6"/>
          <p:cNvSpPr txBox="1">
            <a:spLocks noChangeArrowheads="1"/>
          </p:cNvSpPr>
          <p:nvPr/>
        </p:nvSpPr>
        <p:spPr bwMode="auto">
          <a:xfrm>
            <a:off x="3441700" y="1447800"/>
            <a:ext cx="41021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880" tIns="91440"/>
          <a:lstStyle/>
          <a:p>
            <a:pPr marL="265113" indent="-265113">
              <a:spcBef>
                <a:spcPts val="25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r>
              <a:rPr lang="en-US" sz="2400">
                <a:latin typeface="Verdana" pitchFamily="34" charset="0"/>
              </a:rPr>
              <a:t>4. Invert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609600" y="0"/>
            <a:ext cx="7772400" cy="125253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4-fold </a:t>
            </a:r>
            <a:r>
              <a:rPr lang="en-US" sz="3600" b="1" dirty="0" err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rotoinversion</a:t>
            </a: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 axis (4)</a:t>
            </a:r>
          </a:p>
        </p:txBody>
      </p:sp>
      <p:sp>
        <p:nvSpPr>
          <p:cNvPr id="37900" name="Line 25"/>
          <p:cNvSpPr>
            <a:spLocks noChangeShapeType="1"/>
          </p:cNvSpPr>
          <p:nvPr/>
        </p:nvSpPr>
        <p:spPr bwMode="auto">
          <a:xfrm>
            <a:off x="7454900" y="685800"/>
            <a:ext cx="2413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2438400" y="2054225"/>
            <a:ext cx="4541838" cy="4537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8915" name="Freeform 3"/>
          <p:cNvSpPr>
            <a:spLocks/>
          </p:cNvSpPr>
          <p:nvPr/>
        </p:nvSpPr>
        <p:spPr bwMode="auto">
          <a:xfrm>
            <a:off x="4610100" y="3992563"/>
            <a:ext cx="1050925" cy="1465262"/>
          </a:xfrm>
          <a:custGeom>
            <a:avLst/>
            <a:gdLst>
              <a:gd name="T0" fmla="*/ 0 w 630"/>
              <a:gd name="T1" fmla="*/ 0 h 892"/>
              <a:gd name="T2" fmla="*/ 630 w 630"/>
              <a:gd name="T3" fmla="*/ 46 h 892"/>
              <a:gd name="T4" fmla="*/ 146 w 630"/>
              <a:gd name="T5" fmla="*/ 892 h 892"/>
              <a:gd name="T6" fmla="*/ 0 w 630"/>
              <a:gd name="T7" fmla="*/ 0 h 892"/>
              <a:gd name="T8" fmla="*/ 0 60000 65536"/>
              <a:gd name="T9" fmla="*/ 0 60000 65536"/>
              <a:gd name="T10" fmla="*/ 0 60000 65536"/>
              <a:gd name="T11" fmla="*/ 0 60000 65536"/>
              <a:gd name="T12" fmla="*/ 0 w 630"/>
              <a:gd name="T13" fmla="*/ 0 h 892"/>
              <a:gd name="T14" fmla="*/ 630 w 630"/>
              <a:gd name="T15" fmla="*/ 892 h 8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0" h="892">
                <a:moveTo>
                  <a:pt x="0" y="0"/>
                </a:moveTo>
                <a:lnTo>
                  <a:pt x="630" y="46"/>
                </a:lnTo>
                <a:lnTo>
                  <a:pt x="146" y="892"/>
                </a:lnTo>
                <a:lnTo>
                  <a:pt x="0" y="0"/>
                </a:lnTo>
                <a:close/>
              </a:path>
            </a:pathLst>
          </a:custGeom>
          <a:solidFill>
            <a:srgbClr val="FF00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16" name="Freeform 5"/>
          <p:cNvSpPr>
            <a:spLocks/>
          </p:cNvSpPr>
          <p:nvPr/>
        </p:nvSpPr>
        <p:spPr bwMode="auto">
          <a:xfrm>
            <a:off x="4714875" y="2870200"/>
            <a:ext cx="928688" cy="1403350"/>
          </a:xfrm>
          <a:custGeom>
            <a:avLst/>
            <a:gdLst>
              <a:gd name="T0" fmla="*/ 0 w 577"/>
              <a:gd name="T1" fmla="*/ 0 h 877"/>
              <a:gd name="T2" fmla="*/ 138 w 577"/>
              <a:gd name="T3" fmla="*/ 877 h 877"/>
              <a:gd name="T4" fmla="*/ 577 w 577"/>
              <a:gd name="T5" fmla="*/ 746 h 877"/>
              <a:gd name="T6" fmla="*/ 0 w 577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877"/>
              <a:gd name="T14" fmla="*/ 577 w 577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877">
                <a:moveTo>
                  <a:pt x="0" y="0"/>
                </a:moveTo>
                <a:lnTo>
                  <a:pt x="138" y="877"/>
                </a:lnTo>
                <a:lnTo>
                  <a:pt x="577" y="74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17" name="Line 6"/>
          <p:cNvSpPr>
            <a:spLocks noChangeShapeType="1"/>
          </p:cNvSpPr>
          <p:nvPr/>
        </p:nvSpPr>
        <p:spPr bwMode="auto">
          <a:xfrm>
            <a:off x="4694238" y="2298700"/>
            <a:ext cx="206375" cy="3800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18" name="Freeform 7"/>
          <p:cNvSpPr>
            <a:spLocks/>
          </p:cNvSpPr>
          <p:nvPr/>
        </p:nvSpPr>
        <p:spPr bwMode="auto">
          <a:xfrm>
            <a:off x="3913188" y="2862263"/>
            <a:ext cx="782637" cy="1387475"/>
          </a:xfrm>
          <a:custGeom>
            <a:avLst/>
            <a:gdLst>
              <a:gd name="T0" fmla="*/ 469 w 469"/>
              <a:gd name="T1" fmla="*/ 0 h 830"/>
              <a:gd name="T2" fmla="*/ 0 w 469"/>
              <a:gd name="T3" fmla="*/ 830 h 830"/>
              <a:gd name="T4" fmla="*/ 423 w 469"/>
              <a:gd name="T5" fmla="*/ 676 h 830"/>
              <a:gd name="T6" fmla="*/ 469 w 469"/>
              <a:gd name="T7" fmla="*/ 0 h 830"/>
              <a:gd name="T8" fmla="*/ 0 60000 65536"/>
              <a:gd name="T9" fmla="*/ 0 60000 65536"/>
              <a:gd name="T10" fmla="*/ 0 60000 65536"/>
              <a:gd name="T11" fmla="*/ 0 60000 65536"/>
              <a:gd name="T12" fmla="*/ 0 w 469"/>
              <a:gd name="T13" fmla="*/ 0 h 830"/>
              <a:gd name="T14" fmla="*/ 469 w 469"/>
              <a:gd name="T15" fmla="*/ 830 h 8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9" h="830">
                <a:moveTo>
                  <a:pt x="469" y="0"/>
                </a:moveTo>
                <a:lnTo>
                  <a:pt x="0" y="830"/>
                </a:lnTo>
                <a:lnTo>
                  <a:pt x="423" y="676"/>
                </a:lnTo>
                <a:lnTo>
                  <a:pt x="46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919" name="Group 8"/>
          <p:cNvGrpSpPr>
            <a:grpSpLocks/>
          </p:cNvGrpSpPr>
          <p:nvPr/>
        </p:nvGrpSpPr>
        <p:grpSpPr bwMode="auto">
          <a:xfrm>
            <a:off x="4519613" y="2259013"/>
            <a:ext cx="377825" cy="122237"/>
            <a:chOff x="3962" y="1423"/>
            <a:chExt cx="238" cy="77"/>
          </a:xfrm>
        </p:grpSpPr>
        <p:sp>
          <p:nvSpPr>
            <p:cNvPr id="38938" name="AutoShape 9"/>
            <p:cNvSpPr>
              <a:spLocks noChangeArrowheads="1"/>
            </p:cNvSpPr>
            <p:nvPr/>
          </p:nvSpPr>
          <p:spPr bwMode="auto">
            <a:xfrm>
              <a:off x="3962" y="1423"/>
              <a:ext cx="238" cy="77"/>
            </a:xfrm>
            <a:prstGeom prst="parallelogram">
              <a:avLst>
                <a:gd name="adj" fmla="val 77273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  <p:sp>
          <p:nvSpPr>
            <p:cNvPr id="38939" name="Oval 10"/>
            <p:cNvSpPr>
              <a:spLocks noChangeArrowheads="1"/>
            </p:cNvSpPr>
            <p:nvPr/>
          </p:nvSpPr>
          <p:spPr bwMode="auto">
            <a:xfrm>
              <a:off x="4048" y="1440"/>
              <a:ext cx="56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</p:grpSp>
      <p:grpSp>
        <p:nvGrpSpPr>
          <p:cNvPr id="38920" name="Group 11"/>
          <p:cNvGrpSpPr>
            <a:grpSpLocks/>
          </p:cNvGrpSpPr>
          <p:nvPr/>
        </p:nvGrpSpPr>
        <p:grpSpPr bwMode="auto">
          <a:xfrm>
            <a:off x="3919538" y="2846388"/>
            <a:ext cx="1720850" cy="2587625"/>
            <a:chOff x="3738" y="1939"/>
            <a:chExt cx="1084" cy="1630"/>
          </a:xfrm>
        </p:grpSpPr>
        <p:sp>
          <p:nvSpPr>
            <p:cNvPr id="38924" name="Line 12"/>
            <p:cNvSpPr>
              <a:spLocks noChangeShapeType="1"/>
            </p:cNvSpPr>
            <p:nvPr/>
          </p:nvSpPr>
          <p:spPr bwMode="auto">
            <a:xfrm flipH="1">
              <a:off x="4225" y="1939"/>
              <a:ext cx="6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5" name="Line 13"/>
            <p:cNvSpPr>
              <a:spLocks noChangeShapeType="1"/>
            </p:cNvSpPr>
            <p:nvPr/>
          </p:nvSpPr>
          <p:spPr bwMode="auto">
            <a:xfrm>
              <a:off x="4231" y="1939"/>
              <a:ext cx="147" cy="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6" name="Line 14"/>
            <p:cNvSpPr>
              <a:spLocks noChangeShapeType="1"/>
            </p:cNvSpPr>
            <p:nvPr/>
          </p:nvSpPr>
          <p:spPr bwMode="auto">
            <a:xfrm>
              <a:off x="4231" y="1939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7" name="Line 15"/>
            <p:cNvSpPr>
              <a:spLocks noChangeShapeType="1"/>
            </p:cNvSpPr>
            <p:nvPr/>
          </p:nvSpPr>
          <p:spPr bwMode="auto">
            <a:xfrm flipH="1">
              <a:off x="3738" y="1939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8" name="Line 16"/>
            <p:cNvSpPr>
              <a:spLocks noChangeShapeType="1"/>
            </p:cNvSpPr>
            <p:nvPr/>
          </p:nvSpPr>
          <p:spPr bwMode="auto">
            <a:xfrm flipV="1">
              <a:off x="4378" y="2706"/>
              <a:ext cx="444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9" name="Line 17"/>
            <p:cNvSpPr>
              <a:spLocks noChangeShapeType="1"/>
            </p:cNvSpPr>
            <p:nvPr/>
          </p:nvSpPr>
          <p:spPr bwMode="auto">
            <a:xfrm flipH="1" flipV="1">
              <a:off x="3738" y="2802"/>
              <a:ext cx="640" cy="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0" name="Line 18"/>
            <p:cNvSpPr>
              <a:spLocks noChangeShapeType="1"/>
            </p:cNvSpPr>
            <p:nvPr/>
          </p:nvSpPr>
          <p:spPr bwMode="auto">
            <a:xfrm flipH="1">
              <a:off x="4329" y="2837"/>
              <a:ext cx="49" cy="7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1" name="Line 19"/>
            <p:cNvSpPr>
              <a:spLocks noChangeShapeType="1"/>
            </p:cNvSpPr>
            <p:nvPr/>
          </p:nvSpPr>
          <p:spPr bwMode="auto">
            <a:xfrm flipH="1">
              <a:off x="4329" y="2706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2" name="Line 20"/>
            <p:cNvSpPr>
              <a:spLocks noChangeShapeType="1"/>
            </p:cNvSpPr>
            <p:nvPr/>
          </p:nvSpPr>
          <p:spPr bwMode="auto">
            <a:xfrm>
              <a:off x="3738" y="2802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933" name="Group 21"/>
            <p:cNvGrpSpPr>
              <a:grpSpLocks/>
            </p:cNvGrpSpPr>
            <p:nvPr/>
          </p:nvGrpSpPr>
          <p:grpSpPr bwMode="auto">
            <a:xfrm>
              <a:off x="3746" y="1961"/>
              <a:ext cx="1054" cy="1600"/>
              <a:chOff x="3746" y="1961"/>
              <a:chExt cx="1054" cy="1600"/>
            </a:xfrm>
          </p:grpSpPr>
          <p:sp>
            <p:nvSpPr>
              <p:cNvPr id="38934" name="Line 22"/>
              <p:cNvSpPr>
                <a:spLocks noChangeShapeType="1"/>
              </p:cNvSpPr>
              <p:nvPr/>
            </p:nvSpPr>
            <p:spPr bwMode="auto">
              <a:xfrm flipV="1">
                <a:off x="3746" y="2669"/>
                <a:ext cx="431" cy="13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5" name="Line 23"/>
              <p:cNvSpPr>
                <a:spLocks noChangeShapeType="1"/>
              </p:cNvSpPr>
              <p:nvPr/>
            </p:nvSpPr>
            <p:spPr bwMode="auto">
              <a:xfrm flipV="1">
                <a:off x="4184" y="1961"/>
                <a:ext cx="47" cy="70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6" name="Line 24"/>
              <p:cNvSpPr>
                <a:spLocks noChangeShapeType="1"/>
              </p:cNvSpPr>
              <p:nvPr/>
            </p:nvSpPr>
            <p:spPr bwMode="auto">
              <a:xfrm flipH="1" flipV="1">
                <a:off x="4184" y="2669"/>
                <a:ext cx="616" cy="4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7" name="Line 25"/>
              <p:cNvSpPr>
                <a:spLocks noChangeShapeType="1"/>
              </p:cNvSpPr>
              <p:nvPr/>
            </p:nvSpPr>
            <p:spPr bwMode="auto">
              <a:xfrm flipH="1" flipV="1">
                <a:off x="4192" y="2661"/>
                <a:ext cx="131" cy="9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8921" name="Rectangle 6"/>
          <p:cNvSpPr txBox="1">
            <a:spLocks noChangeArrowheads="1"/>
          </p:cNvSpPr>
          <p:nvPr/>
        </p:nvSpPr>
        <p:spPr bwMode="auto">
          <a:xfrm>
            <a:off x="1828800" y="1447800"/>
            <a:ext cx="6248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880" tIns="91440"/>
          <a:lstStyle/>
          <a:p>
            <a:pPr marL="265113" indent="-265113">
              <a:spcBef>
                <a:spcPts val="25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r>
              <a:rPr lang="en-US" sz="2400">
                <a:latin typeface="Verdana" pitchFamily="34" charset="0"/>
              </a:rPr>
              <a:t>3. rotation by360/4   4. Invert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609600" y="0"/>
            <a:ext cx="7772400" cy="125253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4-fold </a:t>
            </a:r>
            <a:r>
              <a:rPr lang="en-US" sz="3600" b="1" dirty="0" err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rotoinversion</a:t>
            </a: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 axis (4)</a:t>
            </a:r>
          </a:p>
        </p:txBody>
      </p:sp>
      <p:sp>
        <p:nvSpPr>
          <p:cNvPr id="38923" name="Line 25"/>
          <p:cNvSpPr>
            <a:spLocks noChangeShapeType="1"/>
          </p:cNvSpPr>
          <p:nvPr/>
        </p:nvSpPr>
        <p:spPr bwMode="auto">
          <a:xfrm>
            <a:off x="7454900" y="685800"/>
            <a:ext cx="2413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2362200" y="2054225"/>
            <a:ext cx="4541838" cy="4537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9939" name="Freeform 3"/>
          <p:cNvSpPr>
            <a:spLocks/>
          </p:cNvSpPr>
          <p:nvPr/>
        </p:nvSpPr>
        <p:spPr bwMode="auto">
          <a:xfrm>
            <a:off x="4540250" y="2917825"/>
            <a:ext cx="1001713" cy="1179513"/>
          </a:xfrm>
          <a:custGeom>
            <a:avLst/>
            <a:gdLst>
              <a:gd name="T0" fmla="*/ 46 w 631"/>
              <a:gd name="T1" fmla="*/ 0 h 731"/>
              <a:gd name="T2" fmla="*/ 0 w 631"/>
              <a:gd name="T3" fmla="*/ 677 h 731"/>
              <a:gd name="T4" fmla="*/ 631 w 631"/>
              <a:gd name="T5" fmla="*/ 731 h 731"/>
              <a:gd name="T6" fmla="*/ 46 w 631"/>
              <a:gd name="T7" fmla="*/ 0 h 731"/>
              <a:gd name="T8" fmla="*/ 0 60000 65536"/>
              <a:gd name="T9" fmla="*/ 0 60000 65536"/>
              <a:gd name="T10" fmla="*/ 0 60000 65536"/>
              <a:gd name="T11" fmla="*/ 0 60000 65536"/>
              <a:gd name="T12" fmla="*/ 0 w 631"/>
              <a:gd name="T13" fmla="*/ 0 h 731"/>
              <a:gd name="T14" fmla="*/ 631 w 631"/>
              <a:gd name="T15" fmla="*/ 731 h 7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1" h="731">
                <a:moveTo>
                  <a:pt x="46" y="0"/>
                </a:moveTo>
                <a:lnTo>
                  <a:pt x="0" y="677"/>
                </a:lnTo>
                <a:lnTo>
                  <a:pt x="631" y="731"/>
                </a:lnTo>
                <a:lnTo>
                  <a:pt x="46" y="0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0" name="Freeform 4"/>
          <p:cNvSpPr>
            <a:spLocks/>
          </p:cNvSpPr>
          <p:nvPr/>
        </p:nvSpPr>
        <p:spPr bwMode="auto">
          <a:xfrm>
            <a:off x="4540250" y="4005263"/>
            <a:ext cx="1030288" cy="1435100"/>
          </a:xfrm>
          <a:custGeom>
            <a:avLst/>
            <a:gdLst>
              <a:gd name="T0" fmla="*/ 0 w 630"/>
              <a:gd name="T1" fmla="*/ 0 h 892"/>
              <a:gd name="T2" fmla="*/ 630 w 630"/>
              <a:gd name="T3" fmla="*/ 46 h 892"/>
              <a:gd name="T4" fmla="*/ 146 w 630"/>
              <a:gd name="T5" fmla="*/ 892 h 892"/>
              <a:gd name="T6" fmla="*/ 0 w 630"/>
              <a:gd name="T7" fmla="*/ 0 h 892"/>
              <a:gd name="T8" fmla="*/ 0 60000 65536"/>
              <a:gd name="T9" fmla="*/ 0 60000 65536"/>
              <a:gd name="T10" fmla="*/ 0 60000 65536"/>
              <a:gd name="T11" fmla="*/ 0 60000 65536"/>
              <a:gd name="T12" fmla="*/ 0 w 630"/>
              <a:gd name="T13" fmla="*/ 0 h 892"/>
              <a:gd name="T14" fmla="*/ 630 w 630"/>
              <a:gd name="T15" fmla="*/ 892 h 8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0" h="892">
                <a:moveTo>
                  <a:pt x="0" y="0"/>
                </a:moveTo>
                <a:lnTo>
                  <a:pt x="630" y="46"/>
                </a:lnTo>
                <a:lnTo>
                  <a:pt x="146" y="892"/>
                </a:lnTo>
                <a:lnTo>
                  <a:pt x="0" y="0"/>
                </a:lnTo>
                <a:close/>
              </a:path>
            </a:pathLst>
          </a:custGeom>
          <a:solidFill>
            <a:srgbClr val="FF00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1" name="Freeform 6"/>
          <p:cNvSpPr>
            <a:spLocks/>
          </p:cNvSpPr>
          <p:nvPr/>
        </p:nvSpPr>
        <p:spPr bwMode="auto">
          <a:xfrm>
            <a:off x="4638675" y="2857500"/>
            <a:ext cx="922338" cy="1416050"/>
          </a:xfrm>
          <a:custGeom>
            <a:avLst/>
            <a:gdLst>
              <a:gd name="T0" fmla="*/ 0 w 577"/>
              <a:gd name="T1" fmla="*/ 0 h 877"/>
              <a:gd name="T2" fmla="*/ 138 w 577"/>
              <a:gd name="T3" fmla="*/ 877 h 877"/>
              <a:gd name="T4" fmla="*/ 577 w 577"/>
              <a:gd name="T5" fmla="*/ 746 h 877"/>
              <a:gd name="T6" fmla="*/ 0 w 577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877"/>
              <a:gd name="T14" fmla="*/ 577 w 577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877">
                <a:moveTo>
                  <a:pt x="0" y="0"/>
                </a:moveTo>
                <a:lnTo>
                  <a:pt x="138" y="877"/>
                </a:lnTo>
                <a:lnTo>
                  <a:pt x="577" y="74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2" name="Line 7"/>
          <p:cNvSpPr>
            <a:spLocks noChangeShapeType="1"/>
          </p:cNvSpPr>
          <p:nvPr/>
        </p:nvSpPr>
        <p:spPr bwMode="auto">
          <a:xfrm>
            <a:off x="4618038" y="2298700"/>
            <a:ext cx="206375" cy="3800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9943" name="Group 8"/>
          <p:cNvGrpSpPr>
            <a:grpSpLocks/>
          </p:cNvGrpSpPr>
          <p:nvPr/>
        </p:nvGrpSpPr>
        <p:grpSpPr bwMode="auto">
          <a:xfrm>
            <a:off x="4443413" y="2259013"/>
            <a:ext cx="377825" cy="122237"/>
            <a:chOff x="3962" y="1423"/>
            <a:chExt cx="238" cy="77"/>
          </a:xfrm>
        </p:grpSpPr>
        <p:sp>
          <p:nvSpPr>
            <p:cNvPr id="39963" name="AutoShape 9"/>
            <p:cNvSpPr>
              <a:spLocks noChangeArrowheads="1"/>
            </p:cNvSpPr>
            <p:nvPr/>
          </p:nvSpPr>
          <p:spPr bwMode="auto">
            <a:xfrm>
              <a:off x="3962" y="1423"/>
              <a:ext cx="238" cy="77"/>
            </a:xfrm>
            <a:prstGeom prst="parallelogram">
              <a:avLst>
                <a:gd name="adj" fmla="val 77273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  <p:sp>
          <p:nvSpPr>
            <p:cNvPr id="39964" name="Oval 10"/>
            <p:cNvSpPr>
              <a:spLocks noChangeArrowheads="1"/>
            </p:cNvSpPr>
            <p:nvPr/>
          </p:nvSpPr>
          <p:spPr bwMode="auto">
            <a:xfrm>
              <a:off x="4048" y="1440"/>
              <a:ext cx="56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</p:grpSp>
      <p:sp>
        <p:nvSpPr>
          <p:cNvPr id="39944" name="Freeform 11"/>
          <p:cNvSpPr>
            <a:spLocks/>
          </p:cNvSpPr>
          <p:nvPr/>
        </p:nvSpPr>
        <p:spPr bwMode="auto">
          <a:xfrm>
            <a:off x="3836988" y="2862263"/>
            <a:ext cx="782637" cy="1387475"/>
          </a:xfrm>
          <a:custGeom>
            <a:avLst/>
            <a:gdLst>
              <a:gd name="T0" fmla="*/ 469 w 469"/>
              <a:gd name="T1" fmla="*/ 0 h 830"/>
              <a:gd name="T2" fmla="*/ 0 w 469"/>
              <a:gd name="T3" fmla="*/ 830 h 830"/>
              <a:gd name="T4" fmla="*/ 423 w 469"/>
              <a:gd name="T5" fmla="*/ 676 h 830"/>
              <a:gd name="T6" fmla="*/ 469 w 469"/>
              <a:gd name="T7" fmla="*/ 0 h 830"/>
              <a:gd name="T8" fmla="*/ 0 60000 65536"/>
              <a:gd name="T9" fmla="*/ 0 60000 65536"/>
              <a:gd name="T10" fmla="*/ 0 60000 65536"/>
              <a:gd name="T11" fmla="*/ 0 60000 65536"/>
              <a:gd name="T12" fmla="*/ 0 w 469"/>
              <a:gd name="T13" fmla="*/ 0 h 830"/>
              <a:gd name="T14" fmla="*/ 469 w 469"/>
              <a:gd name="T15" fmla="*/ 830 h 8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9" h="830">
                <a:moveTo>
                  <a:pt x="469" y="0"/>
                </a:moveTo>
                <a:lnTo>
                  <a:pt x="0" y="830"/>
                </a:lnTo>
                <a:lnTo>
                  <a:pt x="423" y="676"/>
                </a:lnTo>
                <a:lnTo>
                  <a:pt x="46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9945" name="Group 12"/>
          <p:cNvGrpSpPr>
            <a:grpSpLocks/>
          </p:cNvGrpSpPr>
          <p:nvPr/>
        </p:nvGrpSpPr>
        <p:grpSpPr bwMode="auto">
          <a:xfrm>
            <a:off x="3843338" y="2846388"/>
            <a:ext cx="1720850" cy="2587625"/>
            <a:chOff x="3738" y="1939"/>
            <a:chExt cx="1084" cy="1630"/>
          </a:xfrm>
        </p:grpSpPr>
        <p:sp>
          <p:nvSpPr>
            <p:cNvPr id="39949" name="Line 13"/>
            <p:cNvSpPr>
              <a:spLocks noChangeShapeType="1"/>
            </p:cNvSpPr>
            <p:nvPr/>
          </p:nvSpPr>
          <p:spPr bwMode="auto">
            <a:xfrm flipH="1">
              <a:off x="4225" y="1939"/>
              <a:ext cx="6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0" name="Line 14"/>
            <p:cNvSpPr>
              <a:spLocks noChangeShapeType="1"/>
            </p:cNvSpPr>
            <p:nvPr/>
          </p:nvSpPr>
          <p:spPr bwMode="auto">
            <a:xfrm>
              <a:off x="4231" y="1939"/>
              <a:ext cx="147" cy="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1" name="Line 15"/>
            <p:cNvSpPr>
              <a:spLocks noChangeShapeType="1"/>
            </p:cNvSpPr>
            <p:nvPr/>
          </p:nvSpPr>
          <p:spPr bwMode="auto">
            <a:xfrm>
              <a:off x="4231" y="1939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2" name="Line 16"/>
            <p:cNvSpPr>
              <a:spLocks noChangeShapeType="1"/>
            </p:cNvSpPr>
            <p:nvPr/>
          </p:nvSpPr>
          <p:spPr bwMode="auto">
            <a:xfrm flipH="1">
              <a:off x="3738" y="1939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3" name="Line 17"/>
            <p:cNvSpPr>
              <a:spLocks noChangeShapeType="1"/>
            </p:cNvSpPr>
            <p:nvPr/>
          </p:nvSpPr>
          <p:spPr bwMode="auto">
            <a:xfrm flipV="1">
              <a:off x="4378" y="2706"/>
              <a:ext cx="444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4" name="Line 18"/>
            <p:cNvSpPr>
              <a:spLocks noChangeShapeType="1"/>
            </p:cNvSpPr>
            <p:nvPr/>
          </p:nvSpPr>
          <p:spPr bwMode="auto">
            <a:xfrm flipH="1" flipV="1">
              <a:off x="3738" y="2802"/>
              <a:ext cx="640" cy="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5" name="Line 19"/>
            <p:cNvSpPr>
              <a:spLocks noChangeShapeType="1"/>
            </p:cNvSpPr>
            <p:nvPr/>
          </p:nvSpPr>
          <p:spPr bwMode="auto">
            <a:xfrm flipH="1">
              <a:off x="4329" y="2837"/>
              <a:ext cx="49" cy="7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6" name="Line 20"/>
            <p:cNvSpPr>
              <a:spLocks noChangeShapeType="1"/>
            </p:cNvSpPr>
            <p:nvPr/>
          </p:nvSpPr>
          <p:spPr bwMode="auto">
            <a:xfrm flipH="1">
              <a:off x="4329" y="2706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7" name="Line 21"/>
            <p:cNvSpPr>
              <a:spLocks noChangeShapeType="1"/>
            </p:cNvSpPr>
            <p:nvPr/>
          </p:nvSpPr>
          <p:spPr bwMode="auto">
            <a:xfrm>
              <a:off x="3738" y="2802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958" name="Group 22"/>
            <p:cNvGrpSpPr>
              <a:grpSpLocks/>
            </p:cNvGrpSpPr>
            <p:nvPr/>
          </p:nvGrpSpPr>
          <p:grpSpPr bwMode="auto">
            <a:xfrm>
              <a:off x="3746" y="1961"/>
              <a:ext cx="1054" cy="1600"/>
              <a:chOff x="3746" y="1961"/>
              <a:chExt cx="1054" cy="1600"/>
            </a:xfrm>
          </p:grpSpPr>
          <p:sp>
            <p:nvSpPr>
              <p:cNvPr id="39959" name="Line 23"/>
              <p:cNvSpPr>
                <a:spLocks noChangeShapeType="1"/>
              </p:cNvSpPr>
              <p:nvPr/>
            </p:nvSpPr>
            <p:spPr bwMode="auto">
              <a:xfrm flipV="1">
                <a:off x="3746" y="2669"/>
                <a:ext cx="431" cy="13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60" name="Line 24"/>
              <p:cNvSpPr>
                <a:spLocks noChangeShapeType="1"/>
              </p:cNvSpPr>
              <p:nvPr/>
            </p:nvSpPr>
            <p:spPr bwMode="auto">
              <a:xfrm flipV="1">
                <a:off x="4184" y="1961"/>
                <a:ext cx="47" cy="70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61" name="Line 25"/>
              <p:cNvSpPr>
                <a:spLocks noChangeShapeType="1"/>
              </p:cNvSpPr>
              <p:nvPr/>
            </p:nvSpPr>
            <p:spPr bwMode="auto">
              <a:xfrm flipH="1" flipV="1">
                <a:off x="4184" y="2669"/>
                <a:ext cx="616" cy="4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62" name="Line 26"/>
              <p:cNvSpPr>
                <a:spLocks noChangeShapeType="1"/>
              </p:cNvSpPr>
              <p:nvPr/>
            </p:nvSpPr>
            <p:spPr bwMode="auto">
              <a:xfrm flipH="1" flipV="1">
                <a:off x="4192" y="2661"/>
                <a:ext cx="131" cy="9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9946" name="Rectangle 6"/>
          <p:cNvSpPr txBox="1">
            <a:spLocks noChangeArrowheads="1"/>
          </p:cNvSpPr>
          <p:nvPr/>
        </p:nvSpPr>
        <p:spPr bwMode="auto">
          <a:xfrm>
            <a:off x="2743200" y="1447800"/>
            <a:ext cx="41021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880" tIns="91440"/>
          <a:lstStyle/>
          <a:p>
            <a:pPr marL="265113" indent="-265113">
              <a:spcBef>
                <a:spcPts val="25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r>
              <a:rPr lang="en-US" sz="2400">
                <a:latin typeface="Verdana" pitchFamily="34" charset="0"/>
              </a:rPr>
              <a:t>5. Rotate by 360/4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609600" y="0"/>
            <a:ext cx="7772400" cy="125253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4-fold </a:t>
            </a:r>
            <a:r>
              <a:rPr lang="en-US" sz="3600" b="1" dirty="0" err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rotoinversion</a:t>
            </a: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 axis (4)</a:t>
            </a:r>
          </a:p>
        </p:txBody>
      </p:sp>
      <p:sp>
        <p:nvSpPr>
          <p:cNvPr id="39948" name="Line 25"/>
          <p:cNvSpPr>
            <a:spLocks noChangeShapeType="1"/>
          </p:cNvSpPr>
          <p:nvPr/>
        </p:nvSpPr>
        <p:spPr bwMode="auto">
          <a:xfrm>
            <a:off x="7467600" y="685800"/>
            <a:ext cx="2413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2286000" y="2054225"/>
            <a:ext cx="4541838" cy="4537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0963" name="Freeform 3"/>
          <p:cNvSpPr>
            <a:spLocks/>
          </p:cNvSpPr>
          <p:nvPr/>
        </p:nvSpPr>
        <p:spPr bwMode="auto">
          <a:xfrm>
            <a:off x="4464050" y="2917825"/>
            <a:ext cx="1001713" cy="1179513"/>
          </a:xfrm>
          <a:custGeom>
            <a:avLst/>
            <a:gdLst>
              <a:gd name="T0" fmla="*/ 46 w 631"/>
              <a:gd name="T1" fmla="*/ 0 h 731"/>
              <a:gd name="T2" fmla="*/ 0 w 631"/>
              <a:gd name="T3" fmla="*/ 677 h 731"/>
              <a:gd name="T4" fmla="*/ 631 w 631"/>
              <a:gd name="T5" fmla="*/ 731 h 731"/>
              <a:gd name="T6" fmla="*/ 46 w 631"/>
              <a:gd name="T7" fmla="*/ 0 h 731"/>
              <a:gd name="T8" fmla="*/ 0 60000 65536"/>
              <a:gd name="T9" fmla="*/ 0 60000 65536"/>
              <a:gd name="T10" fmla="*/ 0 60000 65536"/>
              <a:gd name="T11" fmla="*/ 0 60000 65536"/>
              <a:gd name="T12" fmla="*/ 0 w 631"/>
              <a:gd name="T13" fmla="*/ 0 h 731"/>
              <a:gd name="T14" fmla="*/ 631 w 631"/>
              <a:gd name="T15" fmla="*/ 731 h 7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1" h="731">
                <a:moveTo>
                  <a:pt x="46" y="0"/>
                </a:moveTo>
                <a:lnTo>
                  <a:pt x="0" y="677"/>
                </a:lnTo>
                <a:lnTo>
                  <a:pt x="631" y="731"/>
                </a:lnTo>
                <a:lnTo>
                  <a:pt x="46" y="0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4" name="Freeform 4"/>
          <p:cNvSpPr>
            <a:spLocks/>
          </p:cNvSpPr>
          <p:nvPr/>
        </p:nvSpPr>
        <p:spPr bwMode="auto">
          <a:xfrm>
            <a:off x="4476750" y="4005263"/>
            <a:ext cx="1023938" cy="1428750"/>
          </a:xfrm>
          <a:custGeom>
            <a:avLst/>
            <a:gdLst>
              <a:gd name="T0" fmla="*/ 0 w 630"/>
              <a:gd name="T1" fmla="*/ 0 h 892"/>
              <a:gd name="T2" fmla="*/ 630 w 630"/>
              <a:gd name="T3" fmla="*/ 46 h 892"/>
              <a:gd name="T4" fmla="*/ 146 w 630"/>
              <a:gd name="T5" fmla="*/ 892 h 892"/>
              <a:gd name="T6" fmla="*/ 0 w 630"/>
              <a:gd name="T7" fmla="*/ 0 h 892"/>
              <a:gd name="T8" fmla="*/ 0 60000 65536"/>
              <a:gd name="T9" fmla="*/ 0 60000 65536"/>
              <a:gd name="T10" fmla="*/ 0 60000 65536"/>
              <a:gd name="T11" fmla="*/ 0 60000 65536"/>
              <a:gd name="T12" fmla="*/ 0 w 630"/>
              <a:gd name="T13" fmla="*/ 0 h 892"/>
              <a:gd name="T14" fmla="*/ 630 w 630"/>
              <a:gd name="T15" fmla="*/ 892 h 8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0" h="892">
                <a:moveTo>
                  <a:pt x="0" y="0"/>
                </a:moveTo>
                <a:lnTo>
                  <a:pt x="630" y="46"/>
                </a:lnTo>
                <a:lnTo>
                  <a:pt x="146" y="892"/>
                </a:lnTo>
                <a:lnTo>
                  <a:pt x="0" y="0"/>
                </a:lnTo>
                <a:close/>
              </a:path>
            </a:pathLst>
          </a:custGeom>
          <a:solidFill>
            <a:srgbClr val="FF00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5" name="Freeform 5"/>
          <p:cNvSpPr>
            <a:spLocks/>
          </p:cNvSpPr>
          <p:nvPr/>
        </p:nvSpPr>
        <p:spPr bwMode="auto">
          <a:xfrm>
            <a:off x="3779838" y="4224338"/>
            <a:ext cx="995362" cy="1216025"/>
          </a:xfrm>
          <a:custGeom>
            <a:avLst/>
            <a:gdLst>
              <a:gd name="T0" fmla="*/ 0 w 623"/>
              <a:gd name="T1" fmla="*/ 0 h 762"/>
              <a:gd name="T2" fmla="*/ 623 w 623"/>
              <a:gd name="T3" fmla="*/ 39 h 762"/>
              <a:gd name="T4" fmla="*/ 577 w 623"/>
              <a:gd name="T5" fmla="*/ 762 h 762"/>
              <a:gd name="T6" fmla="*/ 0 w 623"/>
              <a:gd name="T7" fmla="*/ 0 h 762"/>
              <a:gd name="T8" fmla="*/ 0 60000 65536"/>
              <a:gd name="T9" fmla="*/ 0 60000 65536"/>
              <a:gd name="T10" fmla="*/ 0 60000 65536"/>
              <a:gd name="T11" fmla="*/ 0 60000 65536"/>
              <a:gd name="T12" fmla="*/ 0 w 623"/>
              <a:gd name="T13" fmla="*/ 0 h 762"/>
              <a:gd name="T14" fmla="*/ 623 w 623"/>
              <a:gd name="T15" fmla="*/ 762 h 7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3" h="762">
                <a:moveTo>
                  <a:pt x="0" y="0"/>
                </a:moveTo>
                <a:lnTo>
                  <a:pt x="623" y="39"/>
                </a:lnTo>
                <a:lnTo>
                  <a:pt x="577" y="762"/>
                </a:lnTo>
                <a:lnTo>
                  <a:pt x="0" y="0"/>
                </a:lnTo>
                <a:close/>
              </a:path>
            </a:pathLst>
          </a:custGeom>
          <a:solidFill>
            <a:srgbClr val="9900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6" name="Freeform 7"/>
          <p:cNvSpPr>
            <a:spLocks/>
          </p:cNvSpPr>
          <p:nvPr/>
        </p:nvSpPr>
        <p:spPr bwMode="auto">
          <a:xfrm>
            <a:off x="4562475" y="2868613"/>
            <a:ext cx="939800" cy="1404937"/>
          </a:xfrm>
          <a:custGeom>
            <a:avLst/>
            <a:gdLst>
              <a:gd name="T0" fmla="*/ 0 w 577"/>
              <a:gd name="T1" fmla="*/ 0 h 877"/>
              <a:gd name="T2" fmla="*/ 138 w 577"/>
              <a:gd name="T3" fmla="*/ 877 h 877"/>
              <a:gd name="T4" fmla="*/ 577 w 577"/>
              <a:gd name="T5" fmla="*/ 746 h 877"/>
              <a:gd name="T6" fmla="*/ 0 w 577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877"/>
              <a:gd name="T14" fmla="*/ 577 w 577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877">
                <a:moveTo>
                  <a:pt x="0" y="0"/>
                </a:moveTo>
                <a:lnTo>
                  <a:pt x="138" y="877"/>
                </a:lnTo>
                <a:lnTo>
                  <a:pt x="577" y="74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967" name="Group 8"/>
          <p:cNvGrpSpPr>
            <a:grpSpLocks/>
          </p:cNvGrpSpPr>
          <p:nvPr/>
        </p:nvGrpSpPr>
        <p:grpSpPr bwMode="auto">
          <a:xfrm>
            <a:off x="4367213" y="2259013"/>
            <a:ext cx="377825" cy="122237"/>
            <a:chOff x="3962" y="1423"/>
            <a:chExt cx="238" cy="77"/>
          </a:xfrm>
        </p:grpSpPr>
        <p:sp>
          <p:nvSpPr>
            <p:cNvPr id="40989" name="AutoShape 9"/>
            <p:cNvSpPr>
              <a:spLocks noChangeArrowheads="1"/>
            </p:cNvSpPr>
            <p:nvPr/>
          </p:nvSpPr>
          <p:spPr bwMode="auto">
            <a:xfrm>
              <a:off x="3962" y="1423"/>
              <a:ext cx="238" cy="77"/>
            </a:xfrm>
            <a:prstGeom prst="parallelogram">
              <a:avLst>
                <a:gd name="adj" fmla="val 77273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  <p:sp>
          <p:nvSpPr>
            <p:cNvPr id="40990" name="Oval 10"/>
            <p:cNvSpPr>
              <a:spLocks noChangeArrowheads="1"/>
            </p:cNvSpPr>
            <p:nvPr/>
          </p:nvSpPr>
          <p:spPr bwMode="auto">
            <a:xfrm>
              <a:off x="4048" y="1440"/>
              <a:ext cx="56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</p:grpSp>
      <p:sp>
        <p:nvSpPr>
          <p:cNvPr id="40968" name="Freeform 11"/>
          <p:cNvSpPr>
            <a:spLocks/>
          </p:cNvSpPr>
          <p:nvPr/>
        </p:nvSpPr>
        <p:spPr bwMode="auto">
          <a:xfrm>
            <a:off x="3760788" y="2862263"/>
            <a:ext cx="782637" cy="1387475"/>
          </a:xfrm>
          <a:custGeom>
            <a:avLst/>
            <a:gdLst>
              <a:gd name="T0" fmla="*/ 469 w 469"/>
              <a:gd name="T1" fmla="*/ 0 h 830"/>
              <a:gd name="T2" fmla="*/ 0 w 469"/>
              <a:gd name="T3" fmla="*/ 830 h 830"/>
              <a:gd name="T4" fmla="*/ 423 w 469"/>
              <a:gd name="T5" fmla="*/ 676 h 830"/>
              <a:gd name="T6" fmla="*/ 469 w 469"/>
              <a:gd name="T7" fmla="*/ 0 h 830"/>
              <a:gd name="T8" fmla="*/ 0 60000 65536"/>
              <a:gd name="T9" fmla="*/ 0 60000 65536"/>
              <a:gd name="T10" fmla="*/ 0 60000 65536"/>
              <a:gd name="T11" fmla="*/ 0 60000 65536"/>
              <a:gd name="T12" fmla="*/ 0 w 469"/>
              <a:gd name="T13" fmla="*/ 0 h 830"/>
              <a:gd name="T14" fmla="*/ 469 w 469"/>
              <a:gd name="T15" fmla="*/ 830 h 8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9" h="830">
                <a:moveTo>
                  <a:pt x="469" y="0"/>
                </a:moveTo>
                <a:lnTo>
                  <a:pt x="0" y="830"/>
                </a:lnTo>
                <a:lnTo>
                  <a:pt x="423" y="676"/>
                </a:lnTo>
                <a:lnTo>
                  <a:pt x="46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969" name="Group 12"/>
          <p:cNvGrpSpPr>
            <a:grpSpLocks/>
          </p:cNvGrpSpPr>
          <p:nvPr/>
        </p:nvGrpSpPr>
        <p:grpSpPr bwMode="auto">
          <a:xfrm>
            <a:off x="3767138" y="2846388"/>
            <a:ext cx="1720850" cy="2587625"/>
            <a:chOff x="3738" y="1939"/>
            <a:chExt cx="1084" cy="1630"/>
          </a:xfrm>
        </p:grpSpPr>
        <p:sp>
          <p:nvSpPr>
            <p:cNvPr id="40975" name="Line 13"/>
            <p:cNvSpPr>
              <a:spLocks noChangeShapeType="1"/>
            </p:cNvSpPr>
            <p:nvPr/>
          </p:nvSpPr>
          <p:spPr bwMode="auto">
            <a:xfrm flipH="1">
              <a:off x="4225" y="1939"/>
              <a:ext cx="6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Line 14"/>
            <p:cNvSpPr>
              <a:spLocks noChangeShapeType="1"/>
            </p:cNvSpPr>
            <p:nvPr/>
          </p:nvSpPr>
          <p:spPr bwMode="auto">
            <a:xfrm>
              <a:off x="4231" y="1939"/>
              <a:ext cx="147" cy="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7" name="Line 15"/>
            <p:cNvSpPr>
              <a:spLocks noChangeShapeType="1"/>
            </p:cNvSpPr>
            <p:nvPr/>
          </p:nvSpPr>
          <p:spPr bwMode="auto">
            <a:xfrm>
              <a:off x="4231" y="1939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Line 16"/>
            <p:cNvSpPr>
              <a:spLocks noChangeShapeType="1"/>
            </p:cNvSpPr>
            <p:nvPr/>
          </p:nvSpPr>
          <p:spPr bwMode="auto">
            <a:xfrm flipH="1">
              <a:off x="3738" y="1939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Line 17"/>
            <p:cNvSpPr>
              <a:spLocks noChangeShapeType="1"/>
            </p:cNvSpPr>
            <p:nvPr/>
          </p:nvSpPr>
          <p:spPr bwMode="auto">
            <a:xfrm flipV="1">
              <a:off x="4378" y="2706"/>
              <a:ext cx="444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0" name="Line 18"/>
            <p:cNvSpPr>
              <a:spLocks noChangeShapeType="1"/>
            </p:cNvSpPr>
            <p:nvPr/>
          </p:nvSpPr>
          <p:spPr bwMode="auto">
            <a:xfrm flipH="1" flipV="1">
              <a:off x="3738" y="2802"/>
              <a:ext cx="640" cy="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Line 19"/>
            <p:cNvSpPr>
              <a:spLocks noChangeShapeType="1"/>
            </p:cNvSpPr>
            <p:nvPr/>
          </p:nvSpPr>
          <p:spPr bwMode="auto">
            <a:xfrm flipH="1">
              <a:off x="4329" y="2837"/>
              <a:ext cx="49" cy="7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Line 20"/>
            <p:cNvSpPr>
              <a:spLocks noChangeShapeType="1"/>
            </p:cNvSpPr>
            <p:nvPr/>
          </p:nvSpPr>
          <p:spPr bwMode="auto">
            <a:xfrm flipH="1">
              <a:off x="4329" y="2706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Line 21"/>
            <p:cNvSpPr>
              <a:spLocks noChangeShapeType="1"/>
            </p:cNvSpPr>
            <p:nvPr/>
          </p:nvSpPr>
          <p:spPr bwMode="auto">
            <a:xfrm>
              <a:off x="3738" y="2802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984" name="Group 22"/>
            <p:cNvGrpSpPr>
              <a:grpSpLocks/>
            </p:cNvGrpSpPr>
            <p:nvPr/>
          </p:nvGrpSpPr>
          <p:grpSpPr bwMode="auto">
            <a:xfrm>
              <a:off x="3746" y="1961"/>
              <a:ext cx="1054" cy="1600"/>
              <a:chOff x="3746" y="1961"/>
              <a:chExt cx="1054" cy="1600"/>
            </a:xfrm>
          </p:grpSpPr>
          <p:sp>
            <p:nvSpPr>
              <p:cNvPr id="40985" name="Line 23"/>
              <p:cNvSpPr>
                <a:spLocks noChangeShapeType="1"/>
              </p:cNvSpPr>
              <p:nvPr/>
            </p:nvSpPr>
            <p:spPr bwMode="auto">
              <a:xfrm flipV="1">
                <a:off x="3746" y="2669"/>
                <a:ext cx="431" cy="13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86" name="Line 24"/>
              <p:cNvSpPr>
                <a:spLocks noChangeShapeType="1"/>
              </p:cNvSpPr>
              <p:nvPr/>
            </p:nvSpPr>
            <p:spPr bwMode="auto">
              <a:xfrm flipV="1">
                <a:off x="4184" y="1961"/>
                <a:ext cx="47" cy="70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87" name="Line 25"/>
              <p:cNvSpPr>
                <a:spLocks noChangeShapeType="1"/>
              </p:cNvSpPr>
              <p:nvPr/>
            </p:nvSpPr>
            <p:spPr bwMode="auto">
              <a:xfrm flipH="1" flipV="1">
                <a:off x="4184" y="2669"/>
                <a:ext cx="616" cy="4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88" name="Line 26"/>
              <p:cNvSpPr>
                <a:spLocks noChangeShapeType="1"/>
              </p:cNvSpPr>
              <p:nvPr/>
            </p:nvSpPr>
            <p:spPr bwMode="auto">
              <a:xfrm flipH="1" flipV="1">
                <a:off x="4192" y="2661"/>
                <a:ext cx="131" cy="9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0970" name="Line 28"/>
          <p:cNvSpPr>
            <a:spLocks noChangeShapeType="1"/>
          </p:cNvSpPr>
          <p:nvPr/>
        </p:nvSpPr>
        <p:spPr bwMode="auto">
          <a:xfrm>
            <a:off x="4541838" y="2298700"/>
            <a:ext cx="109537" cy="196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1" name="Line 29"/>
          <p:cNvSpPr>
            <a:spLocks noChangeShapeType="1"/>
          </p:cNvSpPr>
          <p:nvPr/>
        </p:nvSpPr>
        <p:spPr bwMode="auto">
          <a:xfrm>
            <a:off x="4708525" y="5457825"/>
            <a:ext cx="36513" cy="63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2" name="Rectangle 6"/>
          <p:cNvSpPr txBox="1">
            <a:spLocks noChangeArrowheads="1"/>
          </p:cNvSpPr>
          <p:nvPr/>
        </p:nvSpPr>
        <p:spPr bwMode="auto">
          <a:xfrm>
            <a:off x="1828800" y="1447800"/>
            <a:ext cx="6248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880" tIns="91440"/>
          <a:lstStyle/>
          <a:p>
            <a:pPr marL="265113" indent="-265113">
              <a:spcBef>
                <a:spcPts val="25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r>
              <a:rPr lang="en-US" sz="2400">
                <a:latin typeface="Verdana" pitchFamily="34" charset="0"/>
              </a:rPr>
              <a:t>5. rotation by360/4   6. Invert</a:t>
            </a: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609600" y="0"/>
            <a:ext cx="7772400" cy="125253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4-fold </a:t>
            </a:r>
            <a:r>
              <a:rPr lang="en-US" sz="3600" b="1" dirty="0" err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rotoinversion</a:t>
            </a: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 axis (4)</a:t>
            </a:r>
          </a:p>
        </p:txBody>
      </p:sp>
      <p:sp>
        <p:nvSpPr>
          <p:cNvPr id="40974" name="Line 25"/>
          <p:cNvSpPr>
            <a:spLocks noChangeShapeType="1"/>
          </p:cNvSpPr>
          <p:nvPr/>
        </p:nvSpPr>
        <p:spPr bwMode="auto">
          <a:xfrm>
            <a:off x="7454900" y="685800"/>
            <a:ext cx="2413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2286000" y="2054225"/>
            <a:ext cx="4541838" cy="4537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1987" name="Freeform 3"/>
          <p:cNvSpPr>
            <a:spLocks/>
          </p:cNvSpPr>
          <p:nvPr/>
        </p:nvSpPr>
        <p:spPr bwMode="auto">
          <a:xfrm>
            <a:off x="3748088" y="2868613"/>
            <a:ext cx="806450" cy="1381125"/>
          </a:xfrm>
          <a:custGeom>
            <a:avLst/>
            <a:gdLst>
              <a:gd name="T0" fmla="*/ 469 w 469"/>
              <a:gd name="T1" fmla="*/ 0 h 830"/>
              <a:gd name="T2" fmla="*/ 0 w 469"/>
              <a:gd name="T3" fmla="*/ 830 h 830"/>
              <a:gd name="T4" fmla="*/ 423 w 469"/>
              <a:gd name="T5" fmla="*/ 676 h 830"/>
              <a:gd name="T6" fmla="*/ 469 w 469"/>
              <a:gd name="T7" fmla="*/ 0 h 830"/>
              <a:gd name="T8" fmla="*/ 0 60000 65536"/>
              <a:gd name="T9" fmla="*/ 0 60000 65536"/>
              <a:gd name="T10" fmla="*/ 0 60000 65536"/>
              <a:gd name="T11" fmla="*/ 0 60000 65536"/>
              <a:gd name="T12" fmla="*/ 0 w 469"/>
              <a:gd name="T13" fmla="*/ 0 h 830"/>
              <a:gd name="T14" fmla="*/ 469 w 469"/>
              <a:gd name="T15" fmla="*/ 830 h 8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9" h="830">
                <a:moveTo>
                  <a:pt x="469" y="0"/>
                </a:moveTo>
                <a:lnTo>
                  <a:pt x="0" y="830"/>
                </a:lnTo>
                <a:lnTo>
                  <a:pt x="423" y="676"/>
                </a:lnTo>
                <a:lnTo>
                  <a:pt x="469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8" name="Freeform 4"/>
          <p:cNvSpPr>
            <a:spLocks/>
          </p:cNvSpPr>
          <p:nvPr/>
        </p:nvSpPr>
        <p:spPr bwMode="auto">
          <a:xfrm>
            <a:off x="4476750" y="4005263"/>
            <a:ext cx="1000125" cy="1416050"/>
          </a:xfrm>
          <a:custGeom>
            <a:avLst/>
            <a:gdLst>
              <a:gd name="T0" fmla="*/ 0 w 630"/>
              <a:gd name="T1" fmla="*/ 0 h 892"/>
              <a:gd name="T2" fmla="*/ 630 w 630"/>
              <a:gd name="T3" fmla="*/ 46 h 892"/>
              <a:gd name="T4" fmla="*/ 146 w 630"/>
              <a:gd name="T5" fmla="*/ 892 h 892"/>
              <a:gd name="T6" fmla="*/ 0 w 630"/>
              <a:gd name="T7" fmla="*/ 0 h 892"/>
              <a:gd name="T8" fmla="*/ 0 60000 65536"/>
              <a:gd name="T9" fmla="*/ 0 60000 65536"/>
              <a:gd name="T10" fmla="*/ 0 60000 65536"/>
              <a:gd name="T11" fmla="*/ 0 60000 65536"/>
              <a:gd name="T12" fmla="*/ 0 w 630"/>
              <a:gd name="T13" fmla="*/ 0 h 892"/>
              <a:gd name="T14" fmla="*/ 630 w 630"/>
              <a:gd name="T15" fmla="*/ 892 h 8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0" h="892">
                <a:moveTo>
                  <a:pt x="0" y="0"/>
                </a:moveTo>
                <a:lnTo>
                  <a:pt x="630" y="46"/>
                </a:lnTo>
                <a:lnTo>
                  <a:pt x="146" y="8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9" name="Freeform 5"/>
          <p:cNvSpPr>
            <a:spLocks/>
          </p:cNvSpPr>
          <p:nvPr/>
        </p:nvSpPr>
        <p:spPr bwMode="auto">
          <a:xfrm>
            <a:off x="3779838" y="4224338"/>
            <a:ext cx="1008062" cy="1209675"/>
          </a:xfrm>
          <a:custGeom>
            <a:avLst/>
            <a:gdLst>
              <a:gd name="T0" fmla="*/ 0 w 623"/>
              <a:gd name="T1" fmla="*/ 0 h 762"/>
              <a:gd name="T2" fmla="*/ 623 w 623"/>
              <a:gd name="T3" fmla="*/ 39 h 762"/>
              <a:gd name="T4" fmla="*/ 577 w 623"/>
              <a:gd name="T5" fmla="*/ 762 h 762"/>
              <a:gd name="T6" fmla="*/ 0 w 623"/>
              <a:gd name="T7" fmla="*/ 0 h 762"/>
              <a:gd name="T8" fmla="*/ 0 60000 65536"/>
              <a:gd name="T9" fmla="*/ 0 60000 65536"/>
              <a:gd name="T10" fmla="*/ 0 60000 65536"/>
              <a:gd name="T11" fmla="*/ 0 60000 65536"/>
              <a:gd name="T12" fmla="*/ 0 w 623"/>
              <a:gd name="T13" fmla="*/ 0 h 762"/>
              <a:gd name="T14" fmla="*/ 623 w 623"/>
              <a:gd name="T15" fmla="*/ 762 h 7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3" h="762">
                <a:moveTo>
                  <a:pt x="0" y="0"/>
                </a:moveTo>
                <a:lnTo>
                  <a:pt x="623" y="39"/>
                </a:lnTo>
                <a:lnTo>
                  <a:pt x="577" y="762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90" name="Freeform 7"/>
          <p:cNvSpPr>
            <a:spLocks/>
          </p:cNvSpPr>
          <p:nvPr/>
        </p:nvSpPr>
        <p:spPr bwMode="auto">
          <a:xfrm>
            <a:off x="4562475" y="2870200"/>
            <a:ext cx="928688" cy="1403350"/>
          </a:xfrm>
          <a:custGeom>
            <a:avLst/>
            <a:gdLst>
              <a:gd name="T0" fmla="*/ 0 w 577"/>
              <a:gd name="T1" fmla="*/ 0 h 877"/>
              <a:gd name="T2" fmla="*/ 138 w 577"/>
              <a:gd name="T3" fmla="*/ 877 h 877"/>
              <a:gd name="T4" fmla="*/ 577 w 577"/>
              <a:gd name="T5" fmla="*/ 746 h 877"/>
              <a:gd name="T6" fmla="*/ 0 w 577"/>
              <a:gd name="T7" fmla="*/ 0 h 87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877"/>
              <a:gd name="T14" fmla="*/ 577 w 577"/>
              <a:gd name="T15" fmla="*/ 877 h 8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877">
                <a:moveTo>
                  <a:pt x="0" y="0"/>
                </a:moveTo>
                <a:lnTo>
                  <a:pt x="138" y="877"/>
                </a:lnTo>
                <a:lnTo>
                  <a:pt x="577" y="74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991" name="Group 8"/>
          <p:cNvGrpSpPr>
            <a:grpSpLocks/>
          </p:cNvGrpSpPr>
          <p:nvPr/>
        </p:nvGrpSpPr>
        <p:grpSpPr bwMode="auto">
          <a:xfrm>
            <a:off x="4367213" y="2259013"/>
            <a:ext cx="377825" cy="122237"/>
            <a:chOff x="3962" y="1423"/>
            <a:chExt cx="238" cy="77"/>
          </a:xfrm>
        </p:grpSpPr>
        <p:sp>
          <p:nvSpPr>
            <p:cNvPr id="42012" name="AutoShape 9"/>
            <p:cNvSpPr>
              <a:spLocks noChangeArrowheads="1"/>
            </p:cNvSpPr>
            <p:nvPr/>
          </p:nvSpPr>
          <p:spPr bwMode="auto">
            <a:xfrm>
              <a:off x="3962" y="1423"/>
              <a:ext cx="238" cy="77"/>
            </a:xfrm>
            <a:prstGeom prst="parallelogram">
              <a:avLst>
                <a:gd name="adj" fmla="val 77273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  <p:sp>
          <p:nvSpPr>
            <p:cNvPr id="42013" name="Oval 10"/>
            <p:cNvSpPr>
              <a:spLocks noChangeArrowheads="1"/>
            </p:cNvSpPr>
            <p:nvPr/>
          </p:nvSpPr>
          <p:spPr bwMode="auto">
            <a:xfrm>
              <a:off x="4048" y="1440"/>
              <a:ext cx="56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Verdana" pitchFamily="34" charset="0"/>
              </a:endParaRPr>
            </a:p>
          </p:txBody>
        </p:sp>
      </p:grpSp>
      <p:grpSp>
        <p:nvGrpSpPr>
          <p:cNvPr id="41992" name="Group 11"/>
          <p:cNvGrpSpPr>
            <a:grpSpLocks/>
          </p:cNvGrpSpPr>
          <p:nvPr/>
        </p:nvGrpSpPr>
        <p:grpSpPr bwMode="auto">
          <a:xfrm>
            <a:off x="3767138" y="2846388"/>
            <a:ext cx="1720850" cy="2587625"/>
            <a:chOff x="3738" y="1939"/>
            <a:chExt cx="1084" cy="1630"/>
          </a:xfrm>
        </p:grpSpPr>
        <p:sp>
          <p:nvSpPr>
            <p:cNvPr id="41998" name="Line 12"/>
            <p:cNvSpPr>
              <a:spLocks noChangeShapeType="1"/>
            </p:cNvSpPr>
            <p:nvPr/>
          </p:nvSpPr>
          <p:spPr bwMode="auto">
            <a:xfrm flipH="1">
              <a:off x="4225" y="1939"/>
              <a:ext cx="6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9" name="Line 13"/>
            <p:cNvSpPr>
              <a:spLocks noChangeShapeType="1"/>
            </p:cNvSpPr>
            <p:nvPr/>
          </p:nvSpPr>
          <p:spPr bwMode="auto">
            <a:xfrm>
              <a:off x="4231" y="1939"/>
              <a:ext cx="147" cy="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0" name="Line 14"/>
            <p:cNvSpPr>
              <a:spLocks noChangeShapeType="1"/>
            </p:cNvSpPr>
            <p:nvPr/>
          </p:nvSpPr>
          <p:spPr bwMode="auto">
            <a:xfrm>
              <a:off x="4231" y="1939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1" name="Line 15"/>
            <p:cNvSpPr>
              <a:spLocks noChangeShapeType="1"/>
            </p:cNvSpPr>
            <p:nvPr/>
          </p:nvSpPr>
          <p:spPr bwMode="auto">
            <a:xfrm flipH="1">
              <a:off x="3738" y="1939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2" name="Line 16"/>
            <p:cNvSpPr>
              <a:spLocks noChangeShapeType="1"/>
            </p:cNvSpPr>
            <p:nvPr/>
          </p:nvSpPr>
          <p:spPr bwMode="auto">
            <a:xfrm flipV="1">
              <a:off x="4378" y="2706"/>
              <a:ext cx="444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3" name="Line 17"/>
            <p:cNvSpPr>
              <a:spLocks noChangeShapeType="1"/>
            </p:cNvSpPr>
            <p:nvPr/>
          </p:nvSpPr>
          <p:spPr bwMode="auto">
            <a:xfrm flipH="1" flipV="1">
              <a:off x="3738" y="2802"/>
              <a:ext cx="640" cy="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4" name="Line 18"/>
            <p:cNvSpPr>
              <a:spLocks noChangeShapeType="1"/>
            </p:cNvSpPr>
            <p:nvPr/>
          </p:nvSpPr>
          <p:spPr bwMode="auto">
            <a:xfrm flipH="1">
              <a:off x="4329" y="2837"/>
              <a:ext cx="49" cy="7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5" name="Line 19"/>
            <p:cNvSpPr>
              <a:spLocks noChangeShapeType="1"/>
            </p:cNvSpPr>
            <p:nvPr/>
          </p:nvSpPr>
          <p:spPr bwMode="auto">
            <a:xfrm flipH="1">
              <a:off x="4329" y="2706"/>
              <a:ext cx="493" cy="8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6" name="Line 20"/>
            <p:cNvSpPr>
              <a:spLocks noChangeShapeType="1"/>
            </p:cNvSpPr>
            <p:nvPr/>
          </p:nvSpPr>
          <p:spPr bwMode="auto">
            <a:xfrm>
              <a:off x="3738" y="2802"/>
              <a:ext cx="591" cy="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007" name="Group 21"/>
            <p:cNvGrpSpPr>
              <a:grpSpLocks/>
            </p:cNvGrpSpPr>
            <p:nvPr/>
          </p:nvGrpSpPr>
          <p:grpSpPr bwMode="auto">
            <a:xfrm>
              <a:off x="3746" y="1961"/>
              <a:ext cx="1054" cy="1600"/>
              <a:chOff x="3746" y="1961"/>
              <a:chExt cx="1054" cy="1600"/>
            </a:xfrm>
          </p:grpSpPr>
          <p:sp>
            <p:nvSpPr>
              <p:cNvPr id="42008" name="Line 22"/>
              <p:cNvSpPr>
                <a:spLocks noChangeShapeType="1"/>
              </p:cNvSpPr>
              <p:nvPr/>
            </p:nvSpPr>
            <p:spPr bwMode="auto">
              <a:xfrm flipV="1">
                <a:off x="3746" y="2669"/>
                <a:ext cx="431" cy="13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09" name="Line 23"/>
              <p:cNvSpPr>
                <a:spLocks noChangeShapeType="1"/>
              </p:cNvSpPr>
              <p:nvPr/>
            </p:nvSpPr>
            <p:spPr bwMode="auto">
              <a:xfrm flipV="1">
                <a:off x="4184" y="1961"/>
                <a:ext cx="47" cy="70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0" name="Line 24"/>
              <p:cNvSpPr>
                <a:spLocks noChangeShapeType="1"/>
              </p:cNvSpPr>
              <p:nvPr/>
            </p:nvSpPr>
            <p:spPr bwMode="auto">
              <a:xfrm flipH="1" flipV="1">
                <a:off x="4184" y="2669"/>
                <a:ext cx="616" cy="4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1" name="Line 25"/>
              <p:cNvSpPr>
                <a:spLocks noChangeShapeType="1"/>
              </p:cNvSpPr>
              <p:nvPr/>
            </p:nvSpPr>
            <p:spPr bwMode="auto">
              <a:xfrm flipH="1" flipV="1">
                <a:off x="4192" y="2661"/>
                <a:ext cx="131" cy="90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1993" name="Line 27"/>
          <p:cNvSpPr>
            <a:spLocks noChangeShapeType="1"/>
          </p:cNvSpPr>
          <p:nvPr/>
        </p:nvSpPr>
        <p:spPr bwMode="auto">
          <a:xfrm>
            <a:off x="4541838" y="2298700"/>
            <a:ext cx="109537" cy="196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94" name="Line 28"/>
          <p:cNvSpPr>
            <a:spLocks noChangeShapeType="1"/>
          </p:cNvSpPr>
          <p:nvPr/>
        </p:nvSpPr>
        <p:spPr bwMode="auto">
          <a:xfrm>
            <a:off x="4708525" y="5457825"/>
            <a:ext cx="36513" cy="63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95" name="Rectangle 6"/>
          <p:cNvSpPr txBox="1">
            <a:spLocks noChangeArrowheads="1"/>
          </p:cNvSpPr>
          <p:nvPr/>
        </p:nvSpPr>
        <p:spPr bwMode="auto">
          <a:xfrm>
            <a:off x="1828800" y="1447800"/>
            <a:ext cx="6248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880" tIns="91440"/>
          <a:lstStyle/>
          <a:p>
            <a:pPr marL="265113" indent="-265113">
              <a:spcBef>
                <a:spcPts val="25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r>
              <a:rPr lang="en-US" sz="2400">
                <a:latin typeface="Verdana" pitchFamily="34" charset="0"/>
              </a:rPr>
              <a:t>This is also a unique operation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609600" y="0"/>
            <a:ext cx="7772400" cy="125253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4-fold </a:t>
            </a:r>
            <a:r>
              <a:rPr lang="en-US" sz="3600" b="1" dirty="0" err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rotoinversion</a:t>
            </a:r>
            <a:r>
              <a:rPr lang="en-US" sz="3600" b="1" dirty="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rPr>
              <a:t> axis (4)</a:t>
            </a:r>
          </a:p>
        </p:txBody>
      </p:sp>
      <p:sp>
        <p:nvSpPr>
          <p:cNvPr id="41997" name="Line 25"/>
          <p:cNvSpPr>
            <a:spLocks noChangeShapeType="1"/>
          </p:cNvSpPr>
          <p:nvPr/>
        </p:nvSpPr>
        <p:spPr bwMode="auto">
          <a:xfrm>
            <a:off x="7454900" y="685800"/>
            <a:ext cx="2413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44525" y="984251"/>
            <a:ext cx="8196273" cy="3041654"/>
            <a:chOff x="406" y="620"/>
            <a:chExt cx="5163" cy="1916"/>
          </a:xfrm>
        </p:grpSpPr>
        <p:grpSp>
          <p:nvGrpSpPr>
            <p:cNvPr id="46096" name="Group 13"/>
            <p:cNvGrpSpPr>
              <a:grpSpLocks/>
            </p:cNvGrpSpPr>
            <p:nvPr/>
          </p:nvGrpSpPr>
          <p:grpSpPr bwMode="auto">
            <a:xfrm>
              <a:off x="406" y="620"/>
              <a:ext cx="5163" cy="1916"/>
              <a:chOff x="406" y="620"/>
              <a:chExt cx="5163" cy="1916"/>
            </a:xfrm>
          </p:grpSpPr>
          <p:pic>
            <p:nvPicPr>
              <p:cNvPr id="46121" name="Picture 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984" y="620"/>
                <a:ext cx="1585" cy="18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6122" name="Text Box 6"/>
              <p:cNvSpPr txBox="1">
                <a:spLocks noChangeArrowheads="1"/>
              </p:cNvSpPr>
              <p:nvPr/>
            </p:nvSpPr>
            <p:spPr bwMode="auto">
              <a:xfrm>
                <a:off x="406" y="1181"/>
                <a:ext cx="3002" cy="13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457200" indent="-457200"/>
                <a:r>
                  <a:rPr lang="en-US" dirty="0">
                    <a:solidFill>
                      <a:srgbClr val="FF0000"/>
                    </a:solidFill>
                    <a:latin typeface="Comic Sans MS" pitchFamily="66" charset="0"/>
                  </a:rPr>
                  <a:t>Procedure:</a:t>
                </a:r>
              </a:p>
              <a:p>
                <a:pPr marL="457200" indent="-457200"/>
                <a:endParaRPr lang="en-US" dirty="0">
                  <a:solidFill>
                    <a:srgbClr val="C00000"/>
                  </a:solidFill>
                  <a:latin typeface="Comic Sans MS" pitchFamily="66" charset="0"/>
                </a:endParaRPr>
              </a:p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Arial" pitchFamily="34" charset="0"/>
                  <a:buAutoNum type="arabicPeriod"/>
                </a:pPr>
                <a:r>
                  <a:rPr lang="en-US" dirty="0">
                    <a:solidFill>
                      <a:srgbClr val="C00000"/>
                    </a:solidFill>
                    <a:latin typeface="Comic Sans MS" pitchFamily="66" charset="0"/>
                  </a:rPr>
                  <a:t>Place object at center of sphere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itchFamily="34" charset="0"/>
                  <a:buAutoNum type="arabicPeriod"/>
                </a:pPr>
                <a:r>
                  <a:rPr lang="en-US" dirty="0">
                    <a:solidFill>
                      <a:srgbClr val="00B050"/>
                    </a:solidFill>
                    <a:latin typeface="Comic Sans MS" pitchFamily="66" charset="0"/>
                  </a:rPr>
                  <a:t>From sphere center, draw </a:t>
                </a:r>
                <a:r>
                  <a:rPr lang="en-US" dirty="0" smtClean="0">
                    <a:solidFill>
                      <a:srgbClr val="00B050"/>
                    </a:solidFill>
                    <a:latin typeface="Comic Sans MS" pitchFamily="66" charset="0"/>
                  </a:rPr>
                  <a:t>line      </a:t>
                </a:r>
                <a:r>
                  <a:rPr lang="en-US" dirty="0">
                    <a:solidFill>
                      <a:srgbClr val="00B050"/>
                    </a:solidFill>
                    <a:latin typeface="Comic Sans MS" pitchFamily="66" charset="0"/>
                  </a:rPr>
                  <a:t>representing some feature </a:t>
                </a:r>
                <a:r>
                  <a:rPr lang="en-US" dirty="0" smtClean="0">
                    <a:solidFill>
                      <a:srgbClr val="00B050"/>
                    </a:solidFill>
                    <a:latin typeface="Comic Sans MS" pitchFamily="66" charset="0"/>
                  </a:rPr>
                  <a:t>of     </a:t>
                </a:r>
                <a:r>
                  <a:rPr lang="en-US" dirty="0">
                    <a:solidFill>
                      <a:srgbClr val="00B050"/>
                    </a:solidFill>
                    <a:latin typeface="Comic Sans MS" pitchFamily="66" charset="0"/>
                  </a:rPr>
                  <a:t>object out to intersect sphere</a:t>
                </a:r>
              </a:p>
            </p:txBody>
          </p:sp>
        </p:grpSp>
        <p:grpSp>
          <p:nvGrpSpPr>
            <p:cNvPr id="46097" name="Group 14"/>
            <p:cNvGrpSpPr>
              <a:grpSpLocks/>
            </p:cNvGrpSpPr>
            <p:nvPr/>
          </p:nvGrpSpPr>
          <p:grpSpPr bwMode="auto">
            <a:xfrm>
              <a:off x="4653" y="1299"/>
              <a:ext cx="235" cy="253"/>
              <a:chOff x="1765" y="1115"/>
              <a:chExt cx="2227" cy="2101"/>
            </a:xfrm>
          </p:grpSpPr>
          <p:sp>
            <p:nvSpPr>
              <p:cNvPr id="46098" name="Line 15"/>
              <p:cNvSpPr>
                <a:spLocks noChangeShapeType="1"/>
              </p:cNvSpPr>
              <p:nvPr/>
            </p:nvSpPr>
            <p:spPr bwMode="auto">
              <a:xfrm flipV="1">
                <a:off x="2483" y="1283"/>
                <a:ext cx="728" cy="1496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9" name="Line 16"/>
              <p:cNvSpPr>
                <a:spLocks noChangeShapeType="1"/>
              </p:cNvSpPr>
              <p:nvPr/>
            </p:nvSpPr>
            <p:spPr bwMode="auto">
              <a:xfrm flipH="1" flipV="1">
                <a:off x="3216" y="1272"/>
                <a:ext cx="301" cy="1525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0" name="Line 17"/>
              <p:cNvSpPr>
                <a:spLocks noChangeShapeType="1"/>
              </p:cNvSpPr>
              <p:nvPr/>
            </p:nvSpPr>
            <p:spPr bwMode="auto">
              <a:xfrm flipV="1">
                <a:off x="2184" y="1272"/>
                <a:ext cx="1029" cy="1059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1" name="Line 18"/>
              <p:cNvSpPr>
                <a:spLocks noChangeShapeType="1"/>
              </p:cNvSpPr>
              <p:nvPr/>
            </p:nvSpPr>
            <p:spPr bwMode="auto">
              <a:xfrm flipV="1">
                <a:off x="1920" y="1269"/>
                <a:ext cx="1293" cy="664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2" name="Line 19"/>
              <p:cNvSpPr>
                <a:spLocks noChangeShapeType="1"/>
              </p:cNvSpPr>
              <p:nvPr/>
            </p:nvSpPr>
            <p:spPr bwMode="auto">
              <a:xfrm>
                <a:off x="1920" y="1939"/>
                <a:ext cx="261" cy="397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3" name="Line 20"/>
              <p:cNvSpPr>
                <a:spLocks noChangeShapeType="1"/>
              </p:cNvSpPr>
              <p:nvPr/>
            </p:nvSpPr>
            <p:spPr bwMode="auto">
              <a:xfrm>
                <a:off x="2184" y="2333"/>
                <a:ext cx="301" cy="451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4" name="Line 21"/>
              <p:cNvSpPr>
                <a:spLocks noChangeShapeType="1"/>
              </p:cNvSpPr>
              <p:nvPr/>
            </p:nvSpPr>
            <p:spPr bwMode="auto">
              <a:xfrm>
                <a:off x="2483" y="2779"/>
                <a:ext cx="1037" cy="18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5" name="Line 22"/>
              <p:cNvSpPr>
                <a:spLocks noChangeShapeType="1"/>
              </p:cNvSpPr>
              <p:nvPr/>
            </p:nvSpPr>
            <p:spPr bwMode="auto">
              <a:xfrm flipV="1">
                <a:off x="3520" y="1973"/>
                <a:ext cx="467" cy="824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6" name="Line 23"/>
              <p:cNvSpPr>
                <a:spLocks noChangeShapeType="1"/>
              </p:cNvSpPr>
              <p:nvPr/>
            </p:nvSpPr>
            <p:spPr bwMode="auto">
              <a:xfrm flipH="1">
                <a:off x="3835" y="1971"/>
                <a:ext cx="152" cy="408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7" name="Line 24"/>
              <p:cNvSpPr>
                <a:spLocks noChangeShapeType="1"/>
              </p:cNvSpPr>
              <p:nvPr/>
            </p:nvSpPr>
            <p:spPr bwMode="auto">
              <a:xfrm>
                <a:off x="3213" y="1269"/>
                <a:ext cx="779" cy="702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8" name="Line 25"/>
              <p:cNvSpPr>
                <a:spLocks noChangeShapeType="1"/>
              </p:cNvSpPr>
              <p:nvPr/>
            </p:nvSpPr>
            <p:spPr bwMode="auto">
              <a:xfrm>
                <a:off x="3221" y="1275"/>
                <a:ext cx="504" cy="298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9" name="Line 26"/>
              <p:cNvSpPr>
                <a:spLocks noChangeShapeType="1"/>
              </p:cNvSpPr>
              <p:nvPr/>
            </p:nvSpPr>
            <p:spPr bwMode="auto">
              <a:xfrm flipV="1">
                <a:off x="3221" y="1131"/>
                <a:ext cx="198" cy="138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0" name="Line 27"/>
              <p:cNvSpPr>
                <a:spLocks noChangeShapeType="1"/>
              </p:cNvSpPr>
              <p:nvPr/>
            </p:nvSpPr>
            <p:spPr bwMode="auto">
              <a:xfrm>
                <a:off x="3419" y="1131"/>
                <a:ext cx="562" cy="834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1" name="Line 28"/>
              <p:cNvSpPr>
                <a:spLocks noChangeShapeType="1"/>
              </p:cNvSpPr>
              <p:nvPr/>
            </p:nvSpPr>
            <p:spPr bwMode="auto">
              <a:xfrm>
                <a:off x="2389" y="1115"/>
                <a:ext cx="824" cy="154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2" name="Line 29"/>
              <p:cNvSpPr>
                <a:spLocks noChangeShapeType="1"/>
              </p:cNvSpPr>
              <p:nvPr/>
            </p:nvSpPr>
            <p:spPr bwMode="auto">
              <a:xfrm>
                <a:off x="2389" y="1115"/>
                <a:ext cx="1024" cy="18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3" name="Line 30"/>
              <p:cNvSpPr>
                <a:spLocks noChangeShapeType="1"/>
              </p:cNvSpPr>
              <p:nvPr/>
            </p:nvSpPr>
            <p:spPr bwMode="auto">
              <a:xfrm flipH="1">
                <a:off x="1920" y="1117"/>
                <a:ext cx="467" cy="822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4" name="Line 31"/>
              <p:cNvSpPr>
                <a:spLocks noChangeShapeType="1"/>
              </p:cNvSpPr>
              <p:nvPr/>
            </p:nvSpPr>
            <p:spPr bwMode="auto">
              <a:xfrm flipH="1">
                <a:off x="1768" y="1936"/>
                <a:ext cx="149" cy="413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5" name="Line 32"/>
              <p:cNvSpPr>
                <a:spLocks noChangeShapeType="1"/>
              </p:cNvSpPr>
              <p:nvPr/>
            </p:nvSpPr>
            <p:spPr bwMode="auto">
              <a:xfrm>
                <a:off x="1765" y="2347"/>
                <a:ext cx="574" cy="848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6" name="Line 33"/>
              <p:cNvSpPr>
                <a:spLocks noChangeShapeType="1"/>
              </p:cNvSpPr>
              <p:nvPr/>
            </p:nvSpPr>
            <p:spPr bwMode="auto">
              <a:xfrm>
                <a:off x="2336" y="3192"/>
                <a:ext cx="1029" cy="13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7" name="Line 34"/>
              <p:cNvSpPr>
                <a:spLocks noChangeShapeType="1"/>
              </p:cNvSpPr>
              <p:nvPr/>
            </p:nvSpPr>
            <p:spPr bwMode="auto">
              <a:xfrm flipH="1">
                <a:off x="3365" y="2381"/>
                <a:ext cx="470" cy="824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8" name="Line 35"/>
              <p:cNvSpPr>
                <a:spLocks noChangeShapeType="1"/>
              </p:cNvSpPr>
              <p:nvPr/>
            </p:nvSpPr>
            <p:spPr bwMode="auto">
              <a:xfrm flipH="1">
                <a:off x="3363" y="2797"/>
                <a:ext cx="152" cy="419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9" name="Line 36"/>
              <p:cNvSpPr>
                <a:spLocks noChangeShapeType="1"/>
              </p:cNvSpPr>
              <p:nvPr/>
            </p:nvSpPr>
            <p:spPr bwMode="auto">
              <a:xfrm flipH="1">
                <a:off x="2333" y="2781"/>
                <a:ext cx="147" cy="403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0" name="Line 37"/>
              <p:cNvSpPr>
                <a:spLocks noChangeShapeType="1"/>
              </p:cNvSpPr>
              <p:nvPr/>
            </p:nvSpPr>
            <p:spPr bwMode="auto">
              <a:xfrm flipH="1">
                <a:off x="2032" y="2331"/>
                <a:ext cx="149" cy="405"/>
              </a:xfrm>
              <a:prstGeom prst="line">
                <a:avLst/>
              </a:prstGeom>
              <a:noFill/>
              <a:ln w="12700">
                <a:solidFill>
                  <a:srgbClr val="3653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67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4738" y="457200"/>
            <a:ext cx="8069262" cy="1143000"/>
          </a:xfrm>
          <a:effectLst>
            <a:outerShdw dist="35921" dir="2700000" algn="ctr" rotWithShape="0">
              <a:schemeClr val="bg2"/>
            </a:outerShdw>
          </a:effectLst>
        </p:spPr>
        <p:txBody>
          <a:bodyPr anchor="t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Stereographic projections</a:t>
            </a:r>
            <a:r>
              <a:rPr lang="en-US" sz="2400" dirty="0" smtClean="0">
                <a:solidFill>
                  <a:srgbClr val="FFFF66"/>
                </a:solidFill>
                <a:latin typeface="Comic Sans MS" pitchFamily="66" charset="0"/>
              </a:rPr>
              <a:t/>
            </a:r>
            <a:br>
              <a:rPr lang="en-US" sz="2400" dirty="0" smtClean="0">
                <a:solidFill>
                  <a:srgbClr val="FFFF66"/>
                </a:solidFill>
                <a:latin typeface="Comic Sans MS" pitchFamily="66" charset="0"/>
              </a:rPr>
            </a:br>
            <a:r>
              <a:rPr lang="en-US" sz="2400" dirty="0" smtClean="0">
                <a:solidFill>
                  <a:srgbClr val="FFFF66"/>
                </a:solidFill>
                <a:latin typeface="Comic Sans MS" pitchFamily="66" charset="0"/>
              </a:rPr>
              <a:t/>
            </a:r>
            <a:br>
              <a:rPr lang="en-US" sz="2400" dirty="0" smtClean="0">
                <a:solidFill>
                  <a:srgbClr val="FFFF66"/>
                </a:solidFill>
                <a:latin typeface="Comic Sans MS" pitchFamily="66" charset="0"/>
              </a:rPr>
            </a:br>
            <a:r>
              <a:rPr lang="en-US" sz="2400" dirty="0" smtClean="0">
                <a:solidFill>
                  <a:srgbClr val="00B050"/>
                </a:solidFill>
                <a:latin typeface="Comic Sans MS" pitchFamily="66" charset="0"/>
              </a:rPr>
              <a:t>Show or represent 3-D object in 2-D</a:t>
            </a:r>
            <a:r>
              <a:rPr lang="en-US" sz="2400" dirty="0" smtClean="0">
                <a:solidFill>
                  <a:srgbClr val="FFFF66"/>
                </a:solidFill>
                <a:latin typeface="Comic Sans MS" pitchFamily="66" charset="0"/>
              </a:rPr>
              <a:t/>
            </a:r>
            <a:br>
              <a:rPr lang="en-US" sz="2400" dirty="0" smtClean="0">
                <a:solidFill>
                  <a:srgbClr val="FFFF66"/>
                </a:solidFill>
                <a:latin typeface="Comic Sans MS" pitchFamily="66" charset="0"/>
              </a:rPr>
            </a:br>
            <a:r>
              <a:rPr lang="en-US" sz="2400" dirty="0" smtClean="0">
                <a:solidFill>
                  <a:srgbClr val="FFFF66"/>
                </a:solidFill>
                <a:latin typeface="Comic Sans MS" pitchFamily="66" charset="0"/>
              </a:rPr>
              <a:t/>
            </a:r>
            <a:br>
              <a:rPr lang="en-US" sz="2400" dirty="0" smtClean="0">
                <a:solidFill>
                  <a:srgbClr val="FFFF66"/>
                </a:solidFill>
                <a:latin typeface="Comic Sans MS" pitchFamily="66" charset="0"/>
              </a:rPr>
            </a:br>
            <a:endParaRPr lang="en-US" sz="2800" dirty="0" smtClean="0">
              <a:solidFill>
                <a:srgbClr val="FFFF66"/>
              </a:solidFill>
              <a:latin typeface="Comic Sans MS" pitchFamily="66" charset="0"/>
            </a:endParaRPr>
          </a:p>
        </p:txBody>
      </p:sp>
      <p:sp>
        <p:nvSpPr>
          <p:cNvPr id="167945" name="Line 9"/>
          <p:cNvSpPr>
            <a:spLocks noChangeShapeType="1"/>
          </p:cNvSpPr>
          <p:nvPr/>
        </p:nvSpPr>
        <p:spPr bwMode="auto">
          <a:xfrm flipV="1">
            <a:off x="7581900" y="1752600"/>
            <a:ext cx="660400" cy="520700"/>
          </a:xfrm>
          <a:prstGeom prst="line">
            <a:avLst/>
          </a:prstGeom>
          <a:noFill/>
          <a:ln w="38100">
            <a:solidFill>
              <a:srgbClr val="E16BA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619125" y="3873500"/>
            <a:ext cx="8218488" cy="2782888"/>
            <a:chOff x="390" y="2440"/>
            <a:chExt cx="5177" cy="1753"/>
          </a:xfrm>
        </p:grpSpPr>
        <p:pic>
          <p:nvPicPr>
            <p:cNvPr id="46093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980" y="2440"/>
              <a:ext cx="1587" cy="17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094" name="Text Box 8"/>
            <p:cNvSpPr txBox="1">
              <a:spLocks noChangeArrowheads="1"/>
            </p:cNvSpPr>
            <p:nvPr/>
          </p:nvSpPr>
          <p:spPr bwMode="auto">
            <a:xfrm>
              <a:off x="390" y="3433"/>
              <a:ext cx="2480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457200" indent="-457200">
                <a:lnSpc>
                  <a:spcPct val="120000"/>
                </a:lnSpc>
                <a:buFont typeface="Arial" pitchFamily="34" charset="0"/>
                <a:buAutoNum type="arabicPeriod" startAt="4"/>
              </a:pPr>
              <a:r>
                <a:rPr lang="en-US" dirty="0">
                  <a:solidFill>
                    <a:srgbClr val="7030A0"/>
                  </a:solidFill>
                  <a:latin typeface="Comic Sans MS" pitchFamily="66" charset="0"/>
                </a:rPr>
                <a:t>Show equatorial circle in 2-D –</a:t>
              </a:r>
            </a:p>
            <a:p>
              <a:pPr marL="457200" indent="-457200">
                <a:lnSpc>
                  <a:spcPct val="120000"/>
                </a:lnSpc>
                <a:buFont typeface="Arial" pitchFamily="34" charset="0"/>
                <a:buNone/>
              </a:pPr>
              <a:r>
                <a:rPr lang="en-US" dirty="0">
                  <a:solidFill>
                    <a:srgbClr val="7030A0"/>
                  </a:solidFill>
                  <a:latin typeface="Comic Sans MS" pitchFamily="66" charset="0"/>
                </a:rPr>
                <a:t>     this is stereographic projection</a:t>
              </a:r>
            </a:p>
          </p:txBody>
        </p:sp>
        <p:sp>
          <p:nvSpPr>
            <p:cNvPr id="167975" name="Line 39"/>
            <p:cNvSpPr>
              <a:spLocks noChangeShapeType="1"/>
            </p:cNvSpPr>
            <p:nvPr/>
          </p:nvSpPr>
          <p:spPr bwMode="auto">
            <a:xfrm flipV="1">
              <a:off x="3624" y="3440"/>
              <a:ext cx="728" cy="448"/>
            </a:xfrm>
            <a:prstGeom prst="line">
              <a:avLst/>
            </a:prstGeom>
            <a:noFill/>
            <a:ln w="31750">
              <a:solidFill>
                <a:srgbClr val="E16BA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644525" y="1765300"/>
            <a:ext cx="7597775" cy="3644900"/>
            <a:chOff x="406" y="1112"/>
            <a:chExt cx="4786" cy="2296"/>
          </a:xfrm>
        </p:grpSpPr>
        <p:grpSp>
          <p:nvGrpSpPr>
            <p:cNvPr id="46087" name="Group 41"/>
            <p:cNvGrpSpPr>
              <a:grpSpLocks/>
            </p:cNvGrpSpPr>
            <p:nvPr/>
          </p:nvGrpSpPr>
          <p:grpSpPr bwMode="auto">
            <a:xfrm>
              <a:off x="406" y="1112"/>
              <a:ext cx="4786" cy="2296"/>
              <a:chOff x="406" y="1112"/>
              <a:chExt cx="4786" cy="2296"/>
            </a:xfrm>
          </p:grpSpPr>
          <p:sp>
            <p:nvSpPr>
              <p:cNvPr id="46089" name="Text Box 7"/>
              <p:cNvSpPr txBox="1">
                <a:spLocks noChangeArrowheads="1"/>
              </p:cNvSpPr>
              <p:nvPr/>
            </p:nvSpPr>
            <p:spPr bwMode="auto">
              <a:xfrm>
                <a:off x="406" y="2528"/>
                <a:ext cx="2523" cy="8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itchFamily="34" charset="0"/>
                  <a:buAutoNum type="arabicPeriod" startAt="3"/>
                </a:pPr>
                <a:r>
                  <a:rPr lang="en-US" dirty="0">
                    <a:solidFill>
                      <a:srgbClr val="002060"/>
                    </a:solidFill>
                    <a:latin typeface="Comic Sans MS" pitchFamily="66" charset="0"/>
                  </a:rPr>
                  <a:t>Connect point to </a:t>
                </a:r>
                <a:r>
                  <a:rPr lang="en-US" dirty="0">
                    <a:solidFill>
                      <a:srgbClr val="FF0000"/>
                    </a:solidFill>
                    <a:latin typeface="Comic Sans MS" pitchFamily="66" charset="0"/>
                  </a:rPr>
                  <a:t>N</a:t>
                </a:r>
                <a:r>
                  <a:rPr lang="en-US" dirty="0">
                    <a:solidFill>
                      <a:srgbClr val="002060"/>
                    </a:solidFill>
                    <a:latin typeface="Comic Sans MS" pitchFamily="66" charset="0"/>
                  </a:rPr>
                  <a:t> or </a:t>
                </a:r>
                <a:r>
                  <a:rPr lang="en-US" dirty="0">
                    <a:solidFill>
                      <a:srgbClr val="FF0000"/>
                    </a:solidFill>
                    <a:latin typeface="Comic Sans MS" pitchFamily="66" charset="0"/>
                  </a:rPr>
                  <a:t>S</a:t>
                </a:r>
                <a:r>
                  <a:rPr lang="en-US" dirty="0">
                    <a:solidFill>
                      <a:srgbClr val="002060"/>
                    </a:solidFill>
                    <a:latin typeface="Comic Sans MS" pitchFamily="66" charset="0"/>
                  </a:rPr>
                  <a:t> pole of</a:t>
                </a:r>
              </a:p>
              <a:p>
                <a:pPr marL="457200" indent="-457200">
                  <a:lnSpc>
                    <a:spcPct val="120000"/>
                  </a:lnSpc>
                  <a:buFont typeface="Arial" pitchFamily="34" charset="0"/>
                  <a:buNone/>
                </a:pPr>
                <a:r>
                  <a:rPr lang="en-US" dirty="0">
                    <a:solidFill>
                      <a:srgbClr val="002060"/>
                    </a:solidFill>
                    <a:latin typeface="Comic Sans MS" pitchFamily="66" charset="0"/>
                  </a:rPr>
                  <a:t>     sphere.  Where sphere passes</a:t>
                </a:r>
              </a:p>
              <a:p>
                <a:pPr marL="457200" indent="-457200">
                  <a:lnSpc>
                    <a:spcPct val="120000"/>
                  </a:lnSpc>
                  <a:buFont typeface="Arial" pitchFamily="34" charset="0"/>
                  <a:buNone/>
                </a:pPr>
                <a:r>
                  <a:rPr lang="en-US" dirty="0">
                    <a:solidFill>
                      <a:srgbClr val="002060"/>
                    </a:solidFill>
                    <a:latin typeface="Comic Sans MS" pitchFamily="66" charset="0"/>
                  </a:rPr>
                  <a:t>     through equatorial circle, mark</a:t>
                </a:r>
              </a:p>
              <a:p>
                <a:pPr marL="457200" indent="-457200">
                  <a:lnSpc>
                    <a:spcPct val="120000"/>
                  </a:lnSpc>
                  <a:buFont typeface="Arial" pitchFamily="34" charset="0"/>
                  <a:buNone/>
                </a:pPr>
                <a:r>
                  <a:rPr lang="en-US" dirty="0">
                    <a:solidFill>
                      <a:srgbClr val="002060"/>
                    </a:solidFill>
                    <a:latin typeface="Comic Sans MS" pitchFamily="66" charset="0"/>
                  </a:rPr>
                  <a:t>     projected point</a:t>
                </a:r>
              </a:p>
            </p:txBody>
          </p:sp>
          <p:grpSp>
            <p:nvGrpSpPr>
              <p:cNvPr id="46090" name="Group 12"/>
              <p:cNvGrpSpPr>
                <a:grpSpLocks/>
              </p:cNvGrpSpPr>
              <p:nvPr/>
            </p:nvGrpSpPr>
            <p:grpSpPr bwMode="auto">
              <a:xfrm>
                <a:off x="4784" y="1112"/>
                <a:ext cx="408" cy="1064"/>
                <a:chOff x="4784" y="1112"/>
                <a:chExt cx="408" cy="1064"/>
              </a:xfrm>
            </p:grpSpPr>
            <p:sp>
              <p:nvSpPr>
                <p:cNvPr id="46091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4784" y="1112"/>
                  <a:ext cx="408" cy="1064"/>
                </a:xfrm>
                <a:prstGeom prst="line">
                  <a:avLst/>
                </a:prstGeom>
                <a:noFill/>
                <a:ln w="38100">
                  <a:solidFill>
                    <a:srgbClr val="E16BA9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092" name="Oval 11"/>
                <p:cNvSpPr>
                  <a:spLocks noChangeArrowheads="1"/>
                </p:cNvSpPr>
                <p:nvPr/>
              </p:nvSpPr>
              <p:spPr bwMode="auto">
                <a:xfrm>
                  <a:off x="4992" y="1456"/>
                  <a:ext cx="104" cy="64"/>
                </a:xfrm>
                <a:prstGeom prst="ellipse">
                  <a:avLst/>
                </a:prstGeom>
                <a:solidFill>
                  <a:srgbClr val="E16BA9"/>
                </a:solidFill>
                <a:ln w="9525">
                  <a:solidFill>
                    <a:srgbClr val="E16BA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Verdana" pitchFamily="34" charset="0"/>
                  </a:endParaRPr>
                </a:p>
              </p:txBody>
            </p:sp>
          </p:grpSp>
        </p:grpSp>
        <p:sp>
          <p:nvSpPr>
            <p:cNvPr id="46088" name="Text Box 42"/>
            <p:cNvSpPr txBox="1">
              <a:spLocks noChangeArrowheads="1"/>
            </p:cNvSpPr>
            <p:nvPr/>
          </p:nvSpPr>
          <p:spPr bwMode="auto">
            <a:xfrm>
              <a:off x="4678" y="2137"/>
              <a:ext cx="19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latin typeface="Comic Sans MS" pitchFamily="66" charset="0"/>
                </a:rPr>
                <a:t>S</a:t>
              </a:r>
              <a:endParaRPr lang="en-US">
                <a:latin typeface="Verdana" pitchFamily="34" charset="0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Text Box 6"/>
          <p:cNvSpPr txBox="1">
            <a:spLocks noChangeArrowheads="1"/>
          </p:cNvSpPr>
          <p:nvPr/>
        </p:nvSpPr>
        <p:spPr bwMode="auto">
          <a:xfrm>
            <a:off x="1447800" y="533400"/>
            <a:ext cx="6248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Stereographic Projection &amp; Point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D2CF74-AC22-4000-A0F9-6F3FB2049946}" type="slidenum">
              <a:rPr lang="en-US"/>
              <a:pPr>
                <a:defRPr/>
              </a:pPr>
              <a:t>21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219200" y="1676400"/>
            <a:ext cx="6410325" cy="3654425"/>
            <a:chOff x="1219200" y="1676400"/>
            <a:chExt cx="6410325" cy="3654425"/>
          </a:xfrm>
        </p:grpSpPr>
        <p:pic>
          <p:nvPicPr>
            <p:cNvPr id="48130" name="Picture 5" descr="stere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19200" y="1676400"/>
              <a:ext cx="6410325" cy="365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Oval 4"/>
            <p:cNvSpPr/>
            <p:nvPr/>
          </p:nvSpPr>
          <p:spPr bwMode="auto">
            <a:xfrm>
              <a:off x="2724912" y="1853184"/>
              <a:ext cx="3294888" cy="332841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04800" y="990600"/>
            <a:ext cx="6400800" cy="5410200"/>
          </a:xfrm>
          <a:prstGeom prst="rect">
            <a:avLst/>
          </a:prstGeom>
        </p:spPr>
        <p:txBody>
          <a:bodyPr/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stereographic projection is plotted on the equatorial great circle in the </a:t>
            </a:r>
            <a:r>
              <a:rPr lang="en-US" sz="2100" b="1" i="1" dirty="0" err="1">
                <a:solidFill>
                  <a:srgbClr val="FF0000"/>
                </a:solidFill>
                <a:cs typeface="Arial" pitchFamily="34" charset="0"/>
              </a:rPr>
              <a:t>xy</a:t>
            </a:r>
            <a:r>
              <a:rPr lang="en-US" sz="2100" b="1" dirty="0">
                <a:cs typeface="Arial" pitchFamily="34" charset="0"/>
              </a:rPr>
              <a:t> plane.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plot is referred to as 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</a:rPr>
              <a:t>stereogram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point of intersection of </a:t>
            </a:r>
            <a:r>
              <a:rPr lang="en-US" sz="2100" b="1" dirty="0">
                <a:solidFill>
                  <a:srgbClr val="0070C0"/>
                </a:solidFill>
                <a:cs typeface="Arial" pitchFamily="34" charset="0"/>
              </a:rPr>
              <a:t>above the plane </a:t>
            </a:r>
            <a:r>
              <a:rPr lang="en-US" sz="2100" b="1" dirty="0">
                <a:cs typeface="Arial" pitchFamily="34" charset="0"/>
              </a:rPr>
              <a:t>are drawn with a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filled </a:t>
            </a:r>
            <a:r>
              <a:rPr lang="en-US" sz="2100" b="1" dirty="0" smtClean="0">
                <a:solidFill>
                  <a:srgbClr val="FF0000"/>
                </a:solidFill>
                <a:cs typeface="Arial" pitchFamily="34" charset="0"/>
              </a:rPr>
              <a:t>circle </a:t>
            </a:r>
            <a:r>
              <a:rPr lang="en-US" sz="2100" b="1" dirty="0">
                <a:cs typeface="Arial" pitchFamily="34" charset="0"/>
              </a:rPr>
              <a:t>and those </a:t>
            </a:r>
            <a:r>
              <a:rPr lang="en-US" sz="2100" b="1" dirty="0">
                <a:solidFill>
                  <a:srgbClr val="0070C0"/>
                </a:solidFill>
                <a:cs typeface="Arial" pitchFamily="34" charset="0"/>
              </a:rPr>
              <a:t>below the plane</a:t>
            </a:r>
            <a:r>
              <a:rPr lang="en-US" sz="2100" b="1" dirty="0">
                <a:cs typeface="Arial" pitchFamily="34" charset="0"/>
              </a:rPr>
              <a:t> are drawn with </a:t>
            </a:r>
            <a:r>
              <a:rPr lang="en-US" sz="2100" b="1" dirty="0" smtClean="0">
                <a:solidFill>
                  <a:srgbClr val="FF0000"/>
                </a:solidFill>
                <a:cs typeface="Arial" pitchFamily="34" charset="0"/>
              </a:rPr>
              <a:t>open circle</a:t>
            </a:r>
            <a:r>
              <a:rPr lang="en-US" sz="2100" b="1" dirty="0" smtClean="0">
                <a:cs typeface="Arial" pitchFamily="34" charset="0"/>
              </a:rPr>
              <a:t>.</a:t>
            </a:r>
            <a:endParaRPr lang="en-US" sz="2100" b="1" dirty="0">
              <a:cs typeface="Arial" pitchFamily="34" charset="0"/>
            </a:endParaRP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</a:t>
            </a:r>
            <a:r>
              <a:rPr lang="en-US" sz="2100" b="1" dirty="0">
                <a:solidFill>
                  <a:srgbClr val="0070C0"/>
                </a:solidFill>
                <a:cs typeface="Arial" pitchFamily="34" charset="0"/>
              </a:rPr>
              <a:t>equatorial circle </a:t>
            </a:r>
            <a:r>
              <a:rPr lang="en-US" sz="2100" b="1" dirty="0">
                <a:cs typeface="Arial" pitchFamily="34" charset="0"/>
              </a:rPr>
              <a:t>is drawn with </a:t>
            </a:r>
            <a:r>
              <a:rPr lang="en-US" sz="2100" b="1" dirty="0">
                <a:solidFill>
                  <a:srgbClr val="0070C0"/>
                </a:solidFill>
                <a:cs typeface="Arial" pitchFamily="34" charset="0"/>
              </a:rPr>
              <a:t>dash line </a:t>
            </a:r>
            <a:r>
              <a:rPr lang="en-US" sz="2100" b="1" dirty="0">
                <a:cs typeface="Arial" pitchFamily="34" charset="0"/>
              </a:rPr>
              <a:t>unless it is </a:t>
            </a:r>
            <a:r>
              <a:rPr lang="en-US" sz="2100" b="1" dirty="0">
                <a:solidFill>
                  <a:srgbClr val="7030A0"/>
                </a:solidFill>
                <a:cs typeface="Arial" pitchFamily="34" charset="0"/>
              </a:rPr>
              <a:t>coplanar with the mirror plane</a:t>
            </a:r>
            <a:r>
              <a:rPr lang="en-US" sz="2100" b="1" dirty="0">
                <a:cs typeface="Arial" pitchFamily="34" charset="0"/>
              </a:rPr>
              <a:t>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In that case circle is drawn with a </a:t>
            </a:r>
            <a:r>
              <a:rPr lang="en-US" sz="2100" b="1" dirty="0">
                <a:solidFill>
                  <a:srgbClr val="0070C0"/>
                </a:solidFill>
                <a:cs typeface="Arial" pitchFamily="34" charset="0"/>
              </a:rPr>
              <a:t>solid line </a:t>
            </a:r>
            <a:r>
              <a:rPr lang="en-US" sz="2100" b="1" dirty="0">
                <a:cs typeface="Arial" pitchFamily="34" charset="0"/>
              </a:rPr>
              <a:t>to indicate the </a:t>
            </a:r>
            <a:r>
              <a:rPr lang="en-US" sz="2100" b="1" dirty="0">
                <a:solidFill>
                  <a:srgbClr val="00B050"/>
                </a:solidFill>
                <a:cs typeface="Arial" pitchFamily="34" charset="0"/>
              </a:rPr>
              <a:t>presence of the mirror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axis of highest symmetry is selected as 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</a:rPr>
              <a:t>z</a:t>
            </a:r>
            <a:r>
              <a:rPr lang="en-US" sz="2100" b="1" dirty="0">
                <a:cs typeface="Arial" pitchFamily="34" charset="0"/>
              </a:rPr>
              <a:t>-axis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4025" y="381000"/>
            <a:ext cx="84613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Representation of crystallographic point groups</a:t>
            </a:r>
          </a:p>
        </p:txBody>
      </p:sp>
      <p:grpSp>
        <p:nvGrpSpPr>
          <p:cNvPr id="47108" name="Group 8"/>
          <p:cNvGrpSpPr>
            <a:grpSpLocks/>
          </p:cNvGrpSpPr>
          <p:nvPr/>
        </p:nvGrpSpPr>
        <p:grpSpPr bwMode="auto">
          <a:xfrm>
            <a:off x="6858000" y="1676400"/>
            <a:ext cx="1600200" cy="1524000"/>
            <a:chOff x="6858000" y="1676400"/>
            <a:chExt cx="1600200" cy="1524000"/>
          </a:xfrm>
        </p:grpSpPr>
        <p:sp>
          <p:nvSpPr>
            <p:cNvPr id="4" name="Oval 3"/>
            <p:cNvSpPr/>
            <p:nvPr/>
          </p:nvSpPr>
          <p:spPr>
            <a:xfrm>
              <a:off x="6858000" y="1676400"/>
              <a:ext cx="1600200" cy="1524000"/>
            </a:xfrm>
            <a:prstGeom prst="ellipse">
              <a:avLst/>
            </a:prstGeom>
            <a:noFill/>
            <a:ln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6" name="Straight Connector 5"/>
            <p:cNvCxnSpPr>
              <a:stCxn id="4" idx="2"/>
              <a:endCxn id="4" idx="6"/>
            </p:cNvCxnSpPr>
            <p:nvPr/>
          </p:nvCxnSpPr>
          <p:spPr>
            <a:xfrm>
              <a:off x="6858000" y="2438400"/>
              <a:ext cx="1600200" cy="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4" idx="0"/>
              <a:endCxn id="4" idx="4"/>
            </p:cNvCxnSpPr>
            <p:nvPr/>
          </p:nvCxnSpPr>
          <p:spPr>
            <a:xfrm>
              <a:off x="7658100" y="1676400"/>
              <a:ext cx="0" cy="15240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Oval 9"/>
          <p:cNvSpPr/>
          <p:nvPr/>
        </p:nvSpPr>
        <p:spPr>
          <a:xfrm>
            <a:off x="82296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Oval 10"/>
          <p:cNvSpPr>
            <a:spLocks noChangeAspect="1"/>
          </p:cNvSpPr>
          <p:nvPr/>
        </p:nvSpPr>
        <p:spPr>
          <a:xfrm>
            <a:off x="6934200" y="2514600"/>
            <a:ext cx="119063" cy="119063"/>
          </a:xfrm>
          <a:prstGeom prst="ellips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47111" name="Group 11"/>
          <p:cNvGrpSpPr>
            <a:grpSpLocks/>
          </p:cNvGrpSpPr>
          <p:nvPr/>
        </p:nvGrpSpPr>
        <p:grpSpPr bwMode="auto">
          <a:xfrm>
            <a:off x="6934200" y="3505200"/>
            <a:ext cx="1600200" cy="1524000"/>
            <a:chOff x="6858000" y="1676400"/>
            <a:chExt cx="1600200" cy="1524000"/>
          </a:xfrm>
        </p:grpSpPr>
        <p:sp>
          <p:nvSpPr>
            <p:cNvPr id="13" name="Oval 12"/>
            <p:cNvSpPr/>
            <p:nvPr/>
          </p:nvSpPr>
          <p:spPr>
            <a:xfrm>
              <a:off x="6858000" y="1676400"/>
              <a:ext cx="1600200" cy="1524000"/>
            </a:xfrm>
            <a:prstGeom prst="ellipse">
              <a:avLst/>
            </a:prstGeom>
            <a:noFill/>
            <a:ln>
              <a:solidFill>
                <a:srgbClr val="0020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4" name="Straight Connector 13"/>
            <p:cNvCxnSpPr>
              <a:stCxn id="13" idx="2"/>
              <a:endCxn id="13" idx="6"/>
            </p:cNvCxnSpPr>
            <p:nvPr/>
          </p:nvCxnSpPr>
          <p:spPr>
            <a:xfrm>
              <a:off x="6858000" y="2438400"/>
              <a:ext cx="1600200" cy="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3" idx="0"/>
              <a:endCxn id="13" idx="4"/>
            </p:cNvCxnSpPr>
            <p:nvPr/>
          </p:nvCxnSpPr>
          <p:spPr>
            <a:xfrm>
              <a:off x="7658100" y="1676400"/>
              <a:ext cx="0" cy="15240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15"/>
          <p:cNvSpPr/>
          <p:nvPr/>
        </p:nvSpPr>
        <p:spPr>
          <a:xfrm>
            <a:off x="8305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Oval 16"/>
          <p:cNvSpPr>
            <a:spLocks noChangeAspect="1"/>
          </p:cNvSpPr>
          <p:nvPr/>
        </p:nvSpPr>
        <p:spPr>
          <a:xfrm>
            <a:off x="7010400" y="4343400"/>
            <a:ext cx="119063" cy="119063"/>
          </a:xfrm>
          <a:prstGeom prst="ellips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04800" y="914400"/>
            <a:ext cx="6248400" cy="5410200"/>
          </a:xfrm>
          <a:prstGeom prst="rect">
            <a:avLst/>
          </a:prstGeom>
        </p:spPr>
        <p:txBody>
          <a:bodyPr/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order of the axis is indicated by a  symbol (e.g. a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3-fold</a:t>
            </a:r>
            <a:r>
              <a:rPr lang="en-US" sz="2100" b="1" dirty="0">
                <a:cs typeface="Arial" pitchFamily="34" charset="0"/>
              </a:rPr>
              <a:t> axis is represented by a triangle).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</a:rPr>
              <a:t>x</a:t>
            </a:r>
            <a:r>
              <a:rPr lang="en-US" sz="2100" b="1" dirty="0">
                <a:cs typeface="Arial" pitchFamily="34" charset="0"/>
              </a:rPr>
              <a:t> and 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</a:rPr>
              <a:t>y</a:t>
            </a:r>
            <a:r>
              <a:rPr lang="en-US" sz="2100" b="1" dirty="0">
                <a:cs typeface="Arial" pitchFamily="34" charset="0"/>
              </a:rPr>
              <a:t> axes are indicated with </a:t>
            </a:r>
            <a:r>
              <a:rPr lang="en-US" sz="2100" b="1" dirty="0">
                <a:solidFill>
                  <a:srgbClr val="00B050"/>
                </a:solidFill>
                <a:cs typeface="Arial" pitchFamily="34" charset="0"/>
              </a:rPr>
              <a:t>light dash</a:t>
            </a:r>
            <a:r>
              <a:rPr lang="en-US" sz="2100" b="1" dirty="0">
                <a:cs typeface="Arial" pitchFamily="34" charset="0"/>
              </a:rPr>
              <a:t> </a:t>
            </a:r>
            <a:r>
              <a:rPr lang="en-US" sz="2100" b="1" dirty="0">
                <a:solidFill>
                  <a:srgbClr val="00B0F0"/>
                </a:solidFill>
                <a:cs typeface="Arial" pitchFamily="34" charset="0"/>
              </a:rPr>
              <a:t>horizontal</a:t>
            </a:r>
            <a:r>
              <a:rPr lang="en-US" sz="2100" b="1" dirty="0">
                <a:cs typeface="Arial" pitchFamily="34" charset="0"/>
              </a:rPr>
              <a:t> and </a:t>
            </a:r>
            <a:r>
              <a:rPr lang="en-US" sz="2100" b="1" dirty="0">
                <a:solidFill>
                  <a:srgbClr val="00B0F0"/>
                </a:solidFill>
                <a:cs typeface="Arial" pitchFamily="34" charset="0"/>
              </a:rPr>
              <a:t>vertical</a:t>
            </a:r>
            <a:r>
              <a:rPr lang="en-US" sz="2100" b="1" dirty="0">
                <a:cs typeface="Arial" pitchFamily="34" charset="0"/>
              </a:rPr>
              <a:t> lines respectively.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solidFill>
                  <a:srgbClr val="00B0F0"/>
                </a:solidFill>
                <a:cs typeface="Arial" pitchFamily="34" charset="0"/>
              </a:rPr>
              <a:t>Vertical mirror planes </a:t>
            </a:r>
            <a:r>
              <a:rPr lang="en-US" sz="2100" b="1" dirty="0">
                <a:cs typeface="Arial" pitchFamily="34" charset="0"/>
              </a:rPr>
              <a:t>are shown as a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bold solid lines</a:t>
            </a:r>
            <a:r>
              <a:rPr lang="en-US" sz="2100" b="1" dirty="0">
                <a:cs typeface="Arial" pitchFamily="34" charset="0"/>
              </a:rPr>
              <a:t> corresponding to the diameter of the circle.</a:t>
            </a:r>
            <a:endParaRPr lang="en-US" sz="2100" b="1" i="1" dirty="0">
              <a:cs typeface="Arial" pitchFamily="34" charset="0"/>
            </a:endParaRP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</a:rPr>
              <a:t>x</a:t>
            </a:r>
            <a:r>
              <a:rPr lang="en-US" sz="2100" b="1" dirty="0">
                <a:cs typeface="Arial" pitchFamily="34" charset="0"/>
              </a:rPr>
              <a:t>-axis is the reference axis of rotation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Thus whenever there are mirror planes containing the 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</a:rPr>
              <a:t>z</a:t>
            </a:r>
            <a:r>
              <a:rPr lang="en-US" sz="2100" b="1" dirty="0">
                <a:cs typeface="Arial" pitchFamily="34" charset="0"/>
              </a:rPr>
              <a:t>-axis, at least one of these symmetry element will be coincident with the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x</a:t>
            </a:r>
            <a:r>
              <a:rPr lang="en-US" sz="2100" b="1" dirty="0">
                <a:cs typeface="Arial" pitchFamily="34" charset="0"/>
              </a:rPr>
              <a:t> axis.</a:t>
            </a:r>
          </a:p>
        </p:txBody>
      </p:sp>
      <p:grpSp>
        <p:nvGrpSpPr>
          <p:cNvPr id="49155" name="Group 8"/>
          <p:cNvGrpSpPr>
            <a:grpSpLocks/>
          </p:cNvGrpSpPr>
          <p:nvPr/>
        </p:nvGrpSpPr>
        <p:grpSpPr bwMode="auto">
          <a:xfrm>
            <a:off x="6934200" y="4800600"/>
            <a:ext cx="1600200" cy="1524000"/>
            <a:chOff x="6858000" y="1676400"/>
            <a:chExt cx="1600200" cy="1524000"/>
          </a:xfrm>
        </p:grpSpPr>
        <p:sp>
          <p:nvSpPr>
            <p:cNvPr id="4" name="Oval 3"/>
            <p:cNvSpPr/>
            <p:nvPr/>
          </p:nvSpPr>
          <p:spPr>
            <a:xfrm>
              <a:off x="6858000" y="1676400"/>
              <a:ext cx="1600200" cy="1524000"/>
            </a:xfrm>
            <a:prstGeom prst="ellipse">
              <a:avLst/>
            </a:prstGeom>
            <a:noFill/>
            <a:ln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6" name="Straight Connector 5"/>
            <p:cNvCxnSpPr>
              <a:stCxn id="4" idx="2"/>
              <a:endCxn id="4" idx="6"/>
            </p:cNvCxnSpPr>
            <p:nvPr/>
          </p:nvCxnSpPr>
          <p:spPr>
            <a:xfrm>
              <a:off x="6858000" y="2438400"/>
              <a:ext cx="1600200" cy="0"/>
            </a:xfrm>
            <a:prstGeom prst="line">
              <a:avLst/>
            </a:prstGeom>
            <a:ln w="508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4" idx="0"/>
              <a:endCxn id="4" idx="4"/>
            </p:cNvCxnSpPr>
            <p:nvPr/>
          </p:nvCxnSpPr>
          <p:spPr>
            <a:xfrm>
              <a:off x="7658100" y="1676400"/>
              <a:ext cx="0" cy="1524000"/>
            </a:xfrm>
            <a:prstGeom prst="line">
              <a:avLst/>
            </a:prstGeom>
            <a:ln w="508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156" name="Group 11"/>
          <p:cNvGrpSpPr>
            <a:grpSpLocks/>
          </p:cNvGrpSpPr>
          <p:nvPr/>
        </p:nvGrpSpPr>
        <p:grpSpPr bwMode="auto">
          <a:xfrm>
            <a:off x="6934200" y="3124200"/>
            <a:ext cx="1600200" cy="1524000"/>
            <a:chOff x="6858000" y="1676400"/>
            <a:chExt cx="1600200" cy="1524000"/>
          </a:xfrm>
        </p:grpSpPr>
        <p:sp>
          <p:nvSpPr>
            <p:cNvPr id="13" name="Oval 12"/>
            <p:cNvSpPr/>
            <p:nvPr/>
          </p:nvSpPr>
          <p:spPr>
            <a:xfrm>
              <a:off x="6858000" y="1676400"/>
              <a:ext cx="1600200" cy="1524000"/>
            </a:xfrm>
            <a:prstGeom prst="ellipse">
              <a:avLst/>
            </a:prstGeom>
            <a:noFill/>
            <a:ln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4" name="Straight Connector 13"/>
            <p:cNvCxnSpPr>
              <a:stCxn id="13" idx="2"/>
              <a:endCxn id="13" idx="6"/>
            </p:cNvCxnSpPr>
            <p:nvPr/>
          </p:nvCxnSpPr>
          <p:spPr>
            <a:xfrm>
              <a:off x="6858000" y="2438400"/>
              <a:ext cx="1600200" cy="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3" idx="0"/>
              <a:endCxn id="13" idx="4"/>
            </p:cNvCxnSpPr>
            <p:nvPr/>
          </p:nvCxnSpPr>
          <p:spPr>
            <a:xfrm>
              <a:off x="7658100" y="1676400"/>
              <a:ext cx="0" cy="15240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157" name="Group 24"/>
          <p:cNvGrpSpPr>
            <a:grpSpLocks/>
          </p:cNvGrpSpPr>
          <p:nvPr/>
        </p:nvGrpSpPr>
        <p:grpSpPr bwMode="auto">
          <a:xfrm>
            <a:off x="6934200" y="1371600"/>
            <a:ext cx="1600200" cy="1524000"/>
            <a:chOff x="6934200" y="762000"/>
            <a:chExt cx="1600200" cy="1524000"/>
          </a:xfrm>
        </p:grpSpPr>
        <p:grpSp>
          <p:nvGrpSpPr>
            <p:cNvPr id="49159" name="Group 11"/>
            <p:cNvGrpSpPr>
              <a:grpSpLocks/>
            </p:cNvGrpSpPr>
            <p:nvPr/>
          </p:nvGrpSpPr>
          <p:grpSpPr bwMode="auto">
            <a:xfrm>
              <a:off x="6934200" y="762000"/>
              <a:ext cx="1600200" cy="1524000"/>
              <a:chOff x="6858000" y="1676400"/>
              <a:chExt cx="1600200" cy="1524000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6858000" y="1676400"/>
                <a:ext cx="1600200" cy="1524000"/>
              </a:xfrm>
              <a:prstGeom prst="ellipse">
                <a:avLst/>
              </a:prstGeom>
              <a:noFill/>
              <a:ln>
                <a:solidFill>
                  <a:srgbClr val="00206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21" name="Straight Connector 20"/>
              <p:cNvCxnSpPr>
                <a:stCxn id="20" idx="2"/>
                <a:endCxn id="20" idx="6"/>
              </p:cNvCxnSpPr>
              <p:nvPr/>
            </p:nvCxnSpPr>
            <p:spPr>
              <a:xfrm>
                <a:off x="6858000" y="2438400"/>
                <a:ext cx="1600200" cy="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>
                <a:stCxn id="20" idx="0"/>
                <a:endCxn id="20" idx="4"/>
              </p:cNvCxnSpPr>
              <p:nvPr/>
            </p:nvCxnSpPr>
            <p:spPr>
              <a:xfrm>
                <a:off x="7658100" y="1676400"/>
                <a:ext cx="0" cy="152400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Isosceles Triangle 22"/>
            <p:cNvSpPr/>
            <p:nvPr/>
          </p:nvSpPr>
          <p:spPr>
            <a:xfrm>
              <a:off x="7643813" y="1447800"/>
              <a:ext cx="152400" cy="152400"/>
            </a:xfrm>
            <a:prstGeom prst="triangle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4" name="Rectangle 23"/>
          <p:cNvSpPr/>
          <p:nvPr/>
        </p:nvSpPr>
        <p:spPr>
          <a:xfrm>
            <a:off x="454025" y="381000"/>
            <a:ext cx="84613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Representation of crystallographic point groups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P009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295400"/>
            <a:ext cx="5556504" cy="324548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457200"/>
            <a:ext cx="699101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70C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PF</a:t>
            </a:r>
            <a:r>
              <a:rPr lang="en-US" b="1" baseline="-25000" dirty="0" smtClean="0">
                <a:solidFill>
                  <a:srgbClr val="0070C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5</a:t>
            </a:r>
            <a:r>
              <a:rPr lang="en-US" b="1" dirty="0" smtClean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 molecule in </a:t>
            </a:r>
            <a:r>
              <a:rPr lang="en-US" b="1" dirty="0" err="1" smtClean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orthonormal</a:t>
            </a:r>
            <a:r>
              <a:rPr lang="en-US" b="1" dirty="0" smtClean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 coordinate system and </a:t>
            </a:r>
          </a:p>
          <a:p>
            <a:pPr algn="ctr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its stereographic projection</a:t>
            </a:r>
            <a:endParaRPr lang="en-US" b="1" dirty="0">
              <a:solidFill>
                <a:srgbClr val="C00000"/>
              </a:solidFill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4419600"/>
            <a:ext cx="8001000" cy="2140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 algn="just" fontAlgn="auto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axial point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above the plane 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is shown as projected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dot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, and the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point below the plane 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 a projected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ring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heavier lines 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indicate </a:t>
            </a:r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vertical mirror planes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lighter lines 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extending beyond the perimeter are the </a:t>
            </a:r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two-fold axes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, and the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solid circle 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indicates the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horizontal mirror plane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dash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----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 line is reference line for the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y-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axis.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0" y="2057400"/>
            <a:ext cx="2743200" cy="1039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 algn="just" fontAlgn="auto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three dots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 the plane illustrate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3-fold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axis.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4025" y="381000"/>
            <a:ext cx="82105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Representation of rotation axis on stereogram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2362200" y="2916237"/>
            <a:ext cx="4114800" cy="3636966"/>
            <a:chOff x="2362200" y="2915652"/>
            <a:chExt cx="4114800" cy="3637548"/>
          </a:xfrm>
        </p:grpSpPr>
        <p:grpSp>
          <p:nvGrpSpPr>
            <p:cNvPr id="50190" name="Group 15"/>
            <p:cNvGrpSpPr>
              <a:grpSpLocks/>
            </p:cNvGrpSpPr>
            <p:nvPr/>
          </p:nvGrpSpPr>
          <p:grpSpPr bwMode="auto">
            <a:xfrm>
              <a:off x="2362200" y="2915652"/>
              <a:ext cx="4114800" cy="2956852"/>
              <a:chOff x="1066800" y="1143005"/>
              <a:chExt cx="4114800" cy="2956869"/>
            </a:xfrm>
          </p:grpSpPr>
          <p:grpSp>
            <p:nvGrpSpPr>
              <p:cNvPr id="50192" name="Group 11"/>
              <p:cNvGrpSpPr>
                <a:grpSpLocks/>
              </p:cNvGrpSpPr>
              <p:nvPr/>
            </p:nvGrpSpPr>
            <p:grpSpPr bwMode="auto">
              <a:xfrm>
                <a:off x="3581400" y="2209811"/>
                <a:ext cx="1600200" cy="1524008"/>
                <a:chOff x="6858000" y="1676400"/>
                <a:chExt cx="1600200" cy="1524000"/>
              </a:xfrm>
            </p:grpSpPr>
            <p:sp>
              <p:nvSpPr>
                <p:cNvPr id="3" name="Oval 2"/>
                <p:cNvSpPr/>
                <p:nvPr/>
              </p:nvSpPr>
              <p:spPr>
                <a:xfrm>
                  <a:off x="6858000" y="1676571"/>
                  <a:ext cx="1600200" cy="1522657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cxnSp>
              <p:nvCxnSpPr>
                <p:cNvPr id="4" name="Straight Connector 3"/>
                <p:cNvCxnSpPr>
                  <a:stCxn id="3" idx="2"/>
                  <a:endCxn id="3" idx="6"/>
                </p:cNvCxnSpPr>
                <p:nvPr/>
              </p:nvCxnSpPr>
              <p:spPr>
                <a:xfrm>
                  <a:off x="6858000" y="2438694"/>
                  <a:ext cx="1600200" cy="0"/>
                </a:xfrm>
                <a:prstGeom prst="line">
                  <a:avLst/>
                </a:prstGeom>
                <a:ln w="2540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Straight Connector 4"/>
                <p:cNvCxnSpPr>
                  <a:stCxn id="3" idx="0"/>
                  <a:endCxn id="3" idx="4"/>
                </p:cNvCxnSpPr>
                <p:nvPr/>
              </p:nvCxnSpPr>
              <p:spPr>
                <a:xfrm>
                  <a:off x="7658100" y="1676571"/>
                  <a:ext cx="0" cy="1522657"/>
                </a:xfrm>
                <a:prstGeom prst="line">
                  <a:avLst/>
                </a:prstGeom>
                <a:ln w="2540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0193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066800" y="1143005"/>
                <a:ext cx="2057400" cy="29568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50194" name="Group 13"/>
              <p:cNvGrpSpPr>
                <a:grpSpLocks/>
              </p:cNvGrpSpPr>
              <p:nvPr/>
            </p:nvGrpSpPr>
            <p:grpSpPr bwMode="auto">
              <a:xfrm>
                <a:off x="2743200" y="2057410"/>
                <a:ext cx="228600" cy="838204"/>
                <a:chOff x="2743200" y="2057400"/>
                <a:chExt cx="228600" cy="838200"/>
              </a:xfrm>
            </p:grpSpPr>
            <p:grpSp>
              <p:nvGrpSpPr>
                <p:cNvPr id="50196" name="Group 10"/>
                <p:cNvGrpSpPr>
                  <a:grpSpLocks/>
                </p:cNvGrpSpPr>
                <p:nvPr/>
              </p:nvGrpSpPr>
              <p:grpSpPr bwMode="auto">
                <a:xfrm>
                  <a:off x="2743200" y="2057400"/>
                  <a:ext cx="228600" cy="838200"/>
                  <a:chOff x="5638800" y="2209800"/>
                  <a:chExt cx="228600" cy="1106424"/>
                </a:xfrm>
              </p:grpSpPr>
              <p:cxnSp>
                <p:nvCxnSpPr>
                  <p:cNvPr id="10" name="Straight Connector 9"/>
                  <p:cNvCxnSpPr/>
                  <p:nvPr/>
                </p:nvCxnSpPr>
                <p:spPr>
                  <a:xfrm>
                    <a:off x="5734050" y="2438440"/>
                    <a:ext cx="0" cy="87815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" name="Oval 6"/>
                  <p:cNvSpPr/>
                  <p:nvPr/>
                </p:nvSpPr>
                <p:spPr>
                  <a:xfrm>
                    <a:off x="5638800" y="2209800"/>
                    <a:ext cx="228600" cy="2286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sp>
                <p:nvSpPr>
                  <p:cNvPr id="8" name="Oval 7"/>
                  <p:cNvSpPr/>
                  <p:nvPr/>
                </p:nvSpPr>
                <p:spPr>
                  <a:xfrm>
                    <a:off x="5638800" y="2514600"/>
                    <a:ext cx="228600" cy="228600"/>
                  </a:xfrm>
                  <a:prstGeom prst="ellipse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>
                    <a:solidFill>
                      <a:srgbClr val="00B0F0"/>
                    </a:solidFill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3" name="Oval 12"/>
                <p:cNvSpPr/>
                <p:nvPr/>
              </p:nvSpPr>
              <p:spPr>
                <a:xfrm>
                  <a:off x="2819400" y="2849837"/>
                  <a:ext cx="46038" cy="46045"/>
                </a:xfrm>
                <a:prstGeom prst="ellips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5" name="Oval 14"/>
              <p:cNvSpPr/>
              <p:nvPr/>
            </p:nvSpPr>
            <p:spPr>
              <a:xfrm>
                <a:off x="4800600" y="2743457"/>
                <a:ext cx="76200" cy="9050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7" name="Rectangle 16"/>
            <p:cNvSpPr/>
            <p:nvPr/>
          </p:nvSpPr>
          <p:spPr>
            <a:xfrm>
              <a:off x="2971800" y="6040356"/>
              <a:ext cx="2971800" cy="51284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463550" indent="-463550" algn="just" fontAlgn="auto">
                <a:lnSpc>
                  <a:spcPct val="114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SzPct val="95000"/>
                <a:tabLst>
                  <a:tab pos="2054225" algn="l"/>
                </a:tabLst>
                <a:defRPr/>
              </a:pPr>
              <a:r>
                <a:rPr lang="en-US" sz="2400" b="1" dirty="0">
                  <a:cs typeface="Arial" pitchFamily="34" charset="0"/>
                </a:rPr>
                <a:t>Monad axis, 1 </a:t>
              </a:r>
              <a:r>
                <a:rPr lang="en-US" sz="2400" b="1" dirty="0">
                  <a:cs typeface="Arial" pitchFamily="34" charset="0"/>
                  <a:sym typeface="Symbol"/>
                </a:rPr>
                <a:t></a:t>
              </a:r>
              <a:r>
                <a:rPr lang="en-US" sz="2400" b="1" dirty="0">
                  <a:cs typeface="Arial" pitchFamily="34" charset="0"/>
                </a:rPr>
                <a:t> </a:t>
              </a:r>
              <a:r>
                <a:rPr lang="en-US" sz="2400" b="1" i="1" dirty="0">
                  <a:cs typeface="Arial" pitchFamily="34" charset="0"/>
                </a:rPr>
                <a:t>C</a:t>
              </a:r>
              <a:r>
                <a:rPr lang="en-US" sz="2400" b="1" baseline="-25000" dirty="0">
                  <a:cs typeface="Arial" pitchFamily="34" charset="0"/>
                </a:rPr>
                <a:t>1</a:t>
              </a:r>
              <a:endParaRPr lang="en-US" sz="2400" b="1" dirty="0">
                <a:cs typeface="Arial" pitchFamily="34" charset="0"/>
              </a:endParaRPr>
            </a:p>
          </p:txBody>
        </p:sp>
      </p:grpSp>
      <p:sp>
        <p:nvSpPr>
          <p:cNvPr id="18" name="Rectangle 30"/>
          <p:cNvSpPr txBox="1">
            <a:spLocks noChangeArrowheads="1"/>
          </p:cNvSpPr>
          <p:nvPr/>
        </p:nvSpPr>
        <p:spPr>
          <a:xfrm>
            <a:off x="1074738" y="685800"/>
            <a:ext cx="8069262" cy="11430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70C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  <a:ea typeface="+mj-ea"/>
                <a:cs typeface="+mj-cs"/>
              </a:rPr>
              <a:t/>
            </a:r>
            <a:br>
              <a:rPr lang="en-US" sz="2400" b="1" dirty="0">
                <a:solidFill>
                  <a:srgbClr val="0070C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  <a:ea typeface="+mj-ea"/>
                <a:cs typeface="+mj-cs"/>
              </a:rPr>
            </a:br>
            <a:r>
              <a:rPr lang="en-US" sz="2400" b="1" dirty="0">
                <a:solidFill>
                  <a:srgbClr val="0070C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Comic Sans MS" pitchFamily="66" charset="0"/>
                <a:ea typeface="+mj-ea"/>
                <a:cs typeface="+mj-cs"/>
              </a:rPr>
              <a:t>Types of pure rotation symmetry</a:t>
            </a:r>
            <a:endParaRPr lang="en-US" sz="2800" b="1" dirty="0">
              <a:solidFill>
                <a:srgbClr val="0070C0"/>
              </a:solidFill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latin typeface="Comic Sans MS" pitchFamily="66" charset="0"/>
              <a:ea typeface="+mj-ea"/>
              <a:cs typeface="+mj-cs"/>
            </a:endParaRPr>
          </a:p>
        </p:txBody>
      </p:sp>
      <p:grpSp>
        <p:nvGrpSpPr>
          <p:cNvPr id="16" name="Group 68"/>
          <p:cNvGrpSpPr>
            <a:grpSpLocks/>
          </p:cNvGrpSpPr>
          <p:nvPr/>
        </p:nvGrpSpPr>
        <p:grpSpPr bwMode="auto">
          <a:xfrm>
            <a:off x="644525" y="1722438"/>
            <a:ext cx="7054850" cy="1477962"/>
            <a:chOff x="406" y="1190"/>
            <a:chExt cx="4444" cy="931"/>
          </a:xfrm>
        </p:grpSpPr>
        <p:sp>
          <p:nvSpPr>
            <p:cNvPr id="20" name="Text Box 5"/>
            <p:cNvSpPr txBox="1">
              <a:spLocks noChangeArrowheads="1"/>
            </p:cNvSpPr>
            <p:nvPr/>
          </p:nvSpPr>
          <p:spPr bwMode="auto">
            <a:xfrm>
              <a:off x="406" y="1190"/>
              <a:ext cx="4444" cy="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7030A0"/>
                </a:solidFill>
                <a:latin typeface="Geneva" pitchFamily="1" charset="0"/>
              </a:endParaRP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7030A0"/>
                  </a:solidFill>
                  <a:latin typeface="Geneva" pitchFamily="1" charset="0"/>
                </a:rPr>
                <a:t>	</a:t>
              </a:r>
              <a:r>
                <a:rPr lang="en-US" dirty="0">
                  <a:solidFill>
                    <a:srgbClr val="7030A0"/>
                  </a:solidFill>
                  <a:latin typeface="Comic Sans MS" pitchFamily="66" charset="0"/>
                </a:rPr>
                <a:t>Rotation	1, 2, 3, 4, 6</a:t>
              </a: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7030A0"/>
                </a:solidFill>
                <a:latin typeface="Comic Sans MS" pitchFamily="66" charset="0"/>
              </a:endParaRP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7030A0"/>
                  </a:solidFill>
                  <a:latin typeface="Comic Sans MS" pitchFamily="66" charset="0"/>
                </a:rPr>
                <a:t>	</a:t>
              </a:r>
              <a:r>
                <a:rPr lang="en-US" dirty="0" err="1">
                  <a:solidFill>
                    <a:srgbClr val="7030A0"/>
                  </a:solidFill>
                  <a:latin typeface="Comic Sans MS" pitchFamily="66" charset="0"/>
                </a:rPr>
                <a:t>Rotoinversion</a:t>
              </a:r>
              <a:r>
                <a:rPr lang="en-US" dirty="0">
                  <a:solidFill>
                    <a:srgbClr val="7030A0"/>
                  </a:solidFill>
                  <a:latin typeface="Comic Sans MS" pitchFamily="66" charset="0"/>
                </a:rPr>
                <a:t> 1 (= </a:t>
              </a:r>
              <a:r>
                <a:rPr lang="en-US" dirty="0" err="1">
                  <a:solidFill>
                    <a:srgbClr val="7030A0"/>
                  </a:solidFill>
                  <a:latin typeface="Comic Sans MS" pitchFamily="66" charset="0"/>
                </a:rPr>
                <a:t>i</a:t>
              </a:r>
              <a:r>
                <a:rPr lang="en-US" dirty="0">
                  <a:solidFill>
                    <a:srgbClr val="7030A0"/>
                  </a:solidFill>
                  <a:latin typeface="Comic Sans MS" pitchFamily="66" charset="0"/>
                </a:rPr>
                <a:t>), 2 (= m), 3, 4, 6</a:t>
              </a: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7030A0"/>
                </a:solidFill>
                <a:latin typeface="Comic Sans MS" pitchFamily="66" charset="0"/>
              </a:endParaRPr>
            </a:p>
          </p:txBody>
        </p:sp>
        <p:grpSp>
          <p:nvGrpSpPr>
            <p:cNvPr id="50184" name="Group 48"/>
            <p:cNvGrpSpPr>
              <a:grpSpLocks/>
            </p:cNvGrpSpPr>
            <p:nvPr/>
          </p:nvGrpSpPr>
          <p:grpSpPr bwMode="auto">
            <a:xfrm>
              <a:off x="2256" y="1728"/>
              <a:ext cx="1448" cy="0"/>
              <a:chOff x="2256" y="1728"/>
              <a:chExt cx="1448" cy="0"/>
            </a:xfrm>
          </p:grpSpPr>
          <p:sp>
            <p:nvSpPr>
              <p:cNvPr id="50185" name="Line 43"/>
              <p:cNvSpPr>
                <a:spLocks noChangeShapeType="1"/>
              </p:cNvSpPr>
              <p:nvPr/>
            </p:nvSpPr>
            <p:spPr bwMode="auto">
              <a:xfrm>
                <a:off x="2256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86" name="Line 44"/>
              <p:cNvSpPr>
                <a:spLocks noChangeShapeType="1"/>
              </p:cNvSpPr>
              <p:nvPr/>
            </p:nvSpPr>
            <p:spPr bwMode="auto">
              <a:xfrm>
                <a:off x="2736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87" name="Line 45"/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88" name="Line 46"/>
              <p:cNvSpPr>
                <a:spLocks noChangeShapeType="1"/>
              </p:cNvSpPr>
              <p:nvPr/>
            </p:nvSpPr>
            <p:spPr bwMode="auto">
              <a:xfrm>
                <a:off x="3448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89" name="Line 47"/>
              <p:cNvSpPr>
                <a:spLocks noChangeShapeType="1"/>
              </p:cNvSpPr>
              <p:nvPr/>
            </p:nvSpPr>
            <p:spPr bwMode="auto">
              <a:xfrm>
                <a:off x="3600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0182" name="Oval 62"/>
          <p:cNvSpPr>
            <a:spLocks noChangeArrowheads="1"/>
          </p:cNvSpPr>
          <p:nvPr/>
        </p:nvSpPr>
        <p:spPr bwMode="auto">
          <a:xfrm>
            <a:off x="3352800" y="1981200"/>
            <a:ext cx="368300" cy="381000"/>
          </a:xfrm>
          <a:prstGeom prst="ellipse">
            <a:avLst/>
          </a:prstGeom>
          <a:noFill/>
          <a:ln w="38100">
            <a:solidFill>
              <a:srgbClr val="E16BA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Verdana" pitchFamily="34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5" descr="pg_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76400"/>
            <a:ext cx="41148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3" name="Text Box 6"/>
          <p:cNvSpPr txBox="1">
            <a:spLocks noChangeArrowheads="1"/>
          </p:cNvSpPr>
          <p:nvPr/>
        </p:nvSpPr>
        <p:spPr bwMode="auto">
          <a:xfrm>
            <a:off x="1676400" y="4953000"/>
            <a:ext cx="1981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latin typeface="Verdana" pitchFamily="34" charset="0"/>
              </a:rPr>
              <a:t>1</a:t>
            </a:r>
          </a:p>
        </p:txBody>
      </p:sp>
      <p:pic>
        <p:nvPicPr>
          <p:cNvPr id="51204" name="Picture 9" descr="C1 stereograph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1676400"/>
            <a:ext cx="1743075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5" name="Picture 11" descr="C1 solid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0" y="3810000"/>
            <a:ext cx="20002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6" name="TextBox 6"/>
          <p:cNvSpPr txBox="1">
            <a:spLocks noChangeArrowheads="1"/>
          </p:cNvSpPr>
          <p:nvPr/>
        </p:nvSpPr>
        <p:spPr bwMode="auto">
          <a:xfrm>
            <a:off x="1295400" y="620713"/>
            <a:ext cx="6096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rgbClr val="7030A0"/>
                </a:solidFill>
                <a:latin typeface="Verdana" pitchFamily="34" charset="0"/>
              </a:rPr>
              <a:t>One-fold rotation (rotation by 360°)</a:t>
            </a:r>
            <a:endParaRPr lang="en-IN" sz="2400">
              <a:solidFill>
                <a:srgbClr val="7030A0"/>
              </a:solidFill>
              <a:latin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DF07F-91DB-40B9-B42C-0D780E6555CA}" type="slidenum">
              <a:rPr lang="en-US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06" name="Text Box 38"/>
          <p:cNvSpPr txBox="1">
            <a:spLocks noChangeArrowheads="1"/>
          </p:cNvSpPr>
          <p:nvPr/>
        </p:nvSpPr>
        <p:spPr bwMode="auto">
          <a:xfrm>
            <a:off x="682625" y="3767138"/>
            <a:ext cx="795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>
                <a:solidFill>
                  <a:srgbClr val="FBF72C"/>
                </a:solidFill>
                <a:latin typeface="Comic Sans MS" pitchFamily="66" charset="0"/>
              </a:rPr>
              <a:t>Draw point group diagrams (stereographic projections)</a:t>
            </a:r>
          </a:p>
        </p:txBody>
      </p:sp>
      <p:grpSp>
        <p:nvGrpSpPr>
          <p:cNvPr id="52227" name="Group 68"/>
          <p:cNvGrpSpPr>
            <a:grpSpLocks/>
          </p:cNvGrpSpPr>
          <p:nvPr/>
        </p:nvGrpSpPr>
        <p:grpSpPr bwMode="auto">
          <a:xfrm>
            <a:off x="-990600" y="990600"/>
            <a:ext cx="7054850" cy="1917700"/>
            <a:chOff x="406" y="1190"/>
            <a:chExt cx="4444" cy="1208"/>
          </a:xfrm>
        </p:grpSpPr>
        <p:sp>
          <p:nvSpPr>
            <p:cNvPr id="288773" name="Text Box 5"/>
            <p:cNvSpPr txBox="1">
              <a:spLocks noChangeArrowheads="1"/>
            </p:cNvSpPr>
            <p:nvPr/>
          </p:nvSpPr>
          <p:spPr bwMode="auto">
            <a:xfrm>
              <a:off x="406" y="1190"/>
              <a:ext cx="4444" cy="1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BF72C"/>
                </a:solidFill>
                <a:latin typeface="Geneva" pitchFamily="1" charset="0"/>
              </a:endParaRP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FBF72C"/>
                  </a:solidFill>
                  <a:latin typeface="Geneva" pitchFamily="1" charset="0"/>
                </a:rPr>
                <a:t>	</a:t>
              </a:r>
              <a:r>
                <a:rPr lang="en-US" dirty="0">
                  <a:solidFill>
                    <a:srgbClr val="FBF72C"/>
                  </a:solidFill>
                  <a:latin typeface="Comic Sans MS" pitchFamily="66" charset="0"/>
                </a:rPr>
                <a:t>Rotation	1, 2, 3, 4, 6</a:t>
              </a: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BF72C"/>
                </a:solidFill>
                <a:latin typeface="Comic Sans MS" pitchFamily="66" charset="0"/>
              </a:endParaRP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FBF72C"/>
                  </a:solidFill>
                  <a:latin typeface="Comic Sans MS" pitchFamily="66" charset="0"/>
                </a:rPr>
                <a:t>	</a:t>
              </a:r>
              <a:r>
                <a:rPr lang="en-US" dirty="0" err="1">
                  <a:solidFill>
                    <a:srgbClr val="FBF72C"/>
                  </a:solidFill>
                  <a:latin typeface="Comic Sans MS" pitchFamily="66" charset="0"/>
                </a:rPr>
                <a:t>Rotoinversion</a:t>
              </a:r>
              <a:r>
                <a:rPr lang="en-US" dirty="0">
                  <a:solidFill>
                    <a:srgbClr val="FBF72C"/>
                  </a:solidFill>
                  <a:latin typeface="Comic Sans MS" pitchFamily="66" charset="0"/>
                </a:rPr>
                <a:t> 1 (= </a:t>
              </a:r>
              <a:r>
                <a:rPr lang="en-US" dirty="0" err="1">
                  <a:solidFill>
                    <a:srgbClr val="FBF72C"/>
                  </a:solidFill>
                  <a:latin typeface="Comic Sans MS" pitchFamily="66" charset="0"/>
                </a:rPr>
                <a:t>i</a:t>
              </a:r>
              <a:r>
                <a:rPr lang="en-US" dirty="0">
                  <a:solidFill>
                    <a:srgbClr val="FBF72C"/>
                  </a:solidFill>
                  <a:latin typeface="Comic Sans MS" pitchFamily="66" charset="0"/>
                </a:rPr>
                <a:t>), 2 (= m), 3, 4, 6</a:t>
              </a: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BF72C"/>
                </a:solidFill>
                <a:latin typeface="Comic Sans MS" pitchFamily="66" charset="0"/>
              </a:endParaRPr>
            </a:p>
          </p:txBody>
        </p:sp>
        <p:grpSp>
          <p:nvGrpSpPr>
            <p:cNvPr id="52277" name="Group 48"/>
            <p:cNvGrpSpPr>
              <a:grpSpLocks/>
            </p:cNvGrpSpPr>
            <p:nvPr/>
          </p:nvGrpSpPr>
          <p:grpSpPr bwMode="auto">
            <a:xfrm>
              <a:off x="2256" y="1728"/>
              <a:ext cx="1448" cy="0"/>
              <a:chOff x="2256" y="1728"/>
              <a:chExt cx="1448" cy="0"/>
            </a:xfrm>
          </p:grpSpPr>
          <p:sp>
            <p:nvSpPr>
              <p:cNvPr id="52278" name="Line 43"/>
              <p:cNvSpPr>
                <a:spLocks noChangeShapeType="1"/>
              </p:cNvSpPr>
              <p:nvPr/>
            </p:nvSpPr>
            <p:spPr bwMode="auto">
              <a:xfrm>
                <a:off x="2256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rgbClr val="FBF72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79" name="Line 44"/>
              <p:cNvSpPr>
                <a:spLocks noChangeShapeType="1"/>
              </p:cNvSpPr>
              <p:nvPr/>
            </p:nvSpPr>
            <p:spPr bwMode="auto">
              <a:xfrm>
                <a:off x="2736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rgbClr val="FBF72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0" name="Line 45"/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rgbClr val="FBF72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1" name="Line 46"/>
              <p:cNvSpPr>
                <a:spLocks noChangeShapeType="1"/>
              </p:cNvSpPr>
              <p:nvPr/>
            </p:nvSpPr>
            <p:spPr bwMode="auto">
              <a:xfrm>
                <a:off x="3448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rgbClr val="FBF72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2" name="Line 47"/>
              <p:cNvSpPr>
                <a:spLocks noChangeShapeType="1"/>
              </p:cNvSpPr>
              <p:nvPr/>
            </p:nvSpPr>
            <p:spPr bwMode="auto">
              <a:xfrm>
                <a:off x="3600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rgbClr val="FBF72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4826000" y="4559300"/>
            <a:ext cx="1765300" cy="1752600"/>
            <a:chOff x="1240" y="2864"/>
            <a:chExt cx="1112" cy="1104"/>
          </a:xfrm>
        </p:grpSpPr>
        <p:sp>
          <p:nvSpPr>
            <p:cNvPr id="52273" name="Oval 54"/>
            <p:cNvSpPr>
              <a:spLocks noChangeArrowheads="1"/>
            </p:cNvSpPr>
            <p:nvPr/>
          </p:nvSpPr>
          <p:spPr bwMode="auto">
            <a:xfrm>
              <a:off x="1240" y="2864"/>
              <a:ext cx="1104" cy="11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Rockwell" pitchFamily="18" charset="0"/>
              </a:endParaRPr>
            </a:p>
          </p:txBody>
        </p:sp>
        <p:sp>
          <p:nvSpPr>
            <p:cNvPr id="52274" name="Line 55"/>
            <p:cNvSpPr>
              <a:spLocks noChangeShapeType="1"/>
            </p:cNvSpPr>
            <p:nvPr/>
          </p:nvSpPr>
          <p:spPr bwMode="auto">
            <a:xfrm>
              <a:off x="1792" y="2864"/>
              <a:ext cx="0" cy="10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75" name="Line 56"/>
            <p:cNvSpPr>
              <a:spLocks noChangeShapeType="1"/>
            </p:cNvSpPr>
            <p:nvPr/>
          </p:nvSpPr>
          <p:spPr bwMode="auto">
            <a:xfrm>
              <a:off x="1240" y="3400"/>
              <a:ext cx="1112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66"/>
          <p:cNvGrpSpPr>
            <a:grpSpLocks/>
          </p:cNvGrpSpPr>
          <p:nvPr/>
        </p:nvGrpSpPr>
        <p:grpSpPr bwMode="auto">
          <a:xfrm>
            <a:off x="1938338" y="1295400"/>
            <a:ext cx="1795462" cy="5003800"/>
            <a:chOff x="1221" y="816"/>
            <a:chExt cx="1131" cy="3152"/>
          </a:xfrm>
        </p:grpSpPr>
        <p:grpSp>
          <p:nvGrpSpPr>
            <p:cNvPr id="52268" name="Group 52"/>
            <p:cNvGrpSpPr>
              <a:grpSpLocks/>
            </p:cNvGrpSpPr>
            <p:nvPr/>
          </p:nvGrpSpPr>
          <p:grpSpPr bwMode="auto">
            <a:xfrm>
              <a:off x="1240" y="2864"/>
              <a:ext cx="1112" cy="1104"/>
              <a:chOff x="1240" y="2864"/>
              <a:chExt cx="1112" cy="1104"/>
            </a:xfrm>
          </p:grpSpPr>
          <p:sp>
            <p:nvSpPr>
              <p:cNvPr id="52270" name="Oval 49"/>
              <p:cNvSpPr>
                <a:spLocks noChangeArrowheads="1"/>
              </p:cNvSpPr>
              <p:nvPr/>
            </p:nvSpPr>
            <p:spPr bwMode="auto">
              <a:xfrm>
                <a:off x="1240" y="2864"/>
                <a:ext cx="1104" cy="110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Rockwell" pitchFamily="18" charset="0"/>
                </a:endParaRPr>
              </a:p>
            </p:txBody>
          </p:sp>
          <p:sp>
            <p:nvSpPr>
              <p:cNvPr id="52271" name="Line 50"/>
              <p:cNvSpPr>
                <a:spLocks noChangeShapeType="1"/>
              </p:cNvSpPr>
              <p:nvPr/>
            </p:nvSpPr>
            <p:spPr bwMode="auto">
              <a:xfrm>
                <a:off x="1792" y="2864"/>
                <a:ext cx="0" cy="10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72" name="Line 51"/>
              <p:cNvSpPr>
                <a:spLocks noChangeShapeType="1"/>
              </p:cNvSpPr>
              <p:nvPr/>
            </p:nvSpPr>
            <p:spPr bwMode="auto">
              <a:xfrm>
                <a:off x="1240" y="3400"/>
                <a:ext cx="1112" cy="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2269" name="Oval 62"/>
            <p:cNvSpPr>
              <a:spLocks noChangeArrowheads="1"/>
            </p:cNvSpPr>
            <p:nvPr/>
          </p:nvSpPr>
          <p:spPr bwMode="auto">
            <a:xfrm>
              <a:off x="1221" y="816"/>
              <a:ext cx="232" cy="240"/>
            </a:xfrm>
            <a:prstGeom prst="ellipse">
              <a:avLst/>
            </a:prstGeom>
            <a:noFill/>
            <a:ln w="38100">
              <a:solidFill>
                <a:srgbClr val="E16BA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Rockwell" pitchFamily="18" charset="0"/>
              </a:endParaRPr>
            </a:p>
          </p:txBody>
        </p:sp>
      </p:grpSp>
      <p:sp>
        <p:nvSpPr>
          <p:cNvPr id="288831" name="Oval 63"/>
          <p:cNvSpPr>
            <a:spLocks noChangeArrowheads="1"/>
          </p:cNvSpPr>
          <p:nvPr/>
        </p:nvSpPr>
        <p:spPr bwMode="auto">
          <a:xfrm>
            <a:off x="2781300" y="5257800"/>
            <a:ext cx="127000" cy="3175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sp>
        <p:nvSpPr>
          <p:cNvPr id="288832" name="AutoShape 64"/>
          <p:cNvSpPr>
            <a:spLocks noChangeArrowheads="1"/>
          </p:cNvSpPr>
          <p:nvPr/>
        </p:nvSpPr>
        <p:spPr bwMode="auto">
          <a:xfrm flipV="1">
            <a:off x="5765800" y="5829300"/>
            <a:ext cx="127000" cy="368300"/>
          </a:xfrm>
          <a:prstGeom prst="rtTriangl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sp>
        <p:nvSpPr>
          <p:cNvPr id="288833" name="AutoShape 65"/>
          <p:cNvSpPr>
            <a:spLocks noChangeArrowheads="1"/>
          </p:cNvSpPr>
          <p:nvPr/>
        </p:nvSpPr>
        <p:spPr bwMode="auto">
          <a:xfrm flipH="1">
            <a:off x="5499100" y="4648200"/>
            <a:ext cx="127000" cy="368300"/>
          </a:xfrm>
          <a:prstGeom prst="rtTriangl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sp>
        <p:nvSpPr>
          <p:cNvPr id="288835" name="Text Box 67"/>
          <p:cNvSpPr txBox="1">
            <a:spLocks noChangeArrowheads="1"/>
          </p:cNvSpPr>
          <p:nvPr/>
        </p:nvSpPr>
        <p:spPr bwMode="auto">
          <a:xfrm>
            <a:off x="1800225" y="6251575"/>
            <a:ext cx="49260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BF72C"/>
                </a:solidFill>
                <a:latin typeface="Comic Sans MS" pitchFamily="66" charset="0"/>
              </a:rPr>
              <a:t>symmetry elements             equivalent points</a:t>
            </a:r>
          </a:p>
        </p:txBody>
      </p:sp>
      <p:grpSp>
        <p:nvGrpSpPr>
          <p:cNvPr id="7" name="Group 69"/>
          <p:cNvGrpSpPr>
            <a:grpSpLocks/>
          </p:cNvGrpSpPr>
          <p:nvPr/>
        </p:nvGrpSpPr>
        <p:grpSpPr bwMode="auto">
          <a:xfrm>
            <a:off x="5626100" y="4806950"/>
            <a:ext cx="646113" cy="1069975"/>
            <a:chOff x="3544" y="3028"/>
            <a:chExt cx="407" cy="674"/>
          </a:xfrm>
        </p:grpSpPr>
        <p:sp>
          <p:nvSpPr>
            <p:cNvPr id="52266" name="Freeform 70"/>
            <p:cNvSpPr>
              <a:spLocks/>
            </p:cNvSpPr>
            <p:nvPr/>
          </p:nvSpPr>
          <p:spPr bwMode="auto">
            <a:xfrm rot="-951659">
              <a:off x="3588" y="3028"/>
              <a:ext cx="363" cy="674"/>
            </a:xfrm>
            <a:custGeom>
              <a:avLst/>
              <a:gdLst>
                <a:gd name="T0" fmla="*/ 50 w 259"/>
                <a:gd name="T1" fmla="*/ 0 h 605"/>
                <a:gd name="T2" fmla="*/ 381 w 259"/>
                <a:gd name="T3" fmla="*/ 129 h 605"/>
                <a:gd name="T4" fmla="*/ 507 w 259"/>
                <a:gd name="T5" fmla="*/ 390 h 605"/>
                <a:gd name="T6" fmla="*/ 366 w 259"/>
                <a:gd name="T7" fmla="*/ 625 h 605"/>
                <a:gd name="T8" fmla="*/ 0 w 259"/>
                <a:gd name="T9" fmla="*/ 751 h 6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9"/>
                <a:gd name="T16" fmla="*/ 0 h 605"/>
                <a:gd name="T17" fmla="*/ 259 w 259"/>
                <a:gd name="T18" fmla="*/ 605 h 6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9" h="605">
                  <a:moveTo>
                    <a:pt x="26" y="0"/>
                  </a:moveTo>
                  <a:cubicBezTo>
                    <a:pt x="90" y="26"/>
                    <a:pt x="155" y="52"/>
                    <a:pt x="194" y="104"/>
                  </a:cubicBezTo>
                  <a:cubicBezTo>
                    <a:pt x="233" y="156"/>
                    <a:pt x="259" y="247"/>
                    <a:pt x="258" y="314"/>
                  </a:cubicBezTo>
                  <a:cubicBezTo>
                    <a:pt x="257" y="381"/>
                    <a:pt x="229" y="455"/>
                    <a:pt x="186" y="504"/>
                  </a:cubicBezTo>
                  <a:cubicBezTo>
                    <a:pt x="143" y="553"/>
                    <a:pt x="34" y="587"/>
                    <a:pt x="0" y="605"/>
                  </a:cubicBezTo>
                </a:path>
              </a:pathLst>
            </a:custGeom>
            <a:noFill/>
            <a:ln w="9525">
              <a:solidFill>
                <a:schemeClr val="tx1">
                  <a:alpha val="39999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67" name="Freeform 71"/>
            <p:cNvSpPr>
              <a:spLocks/>
            </p:cNvSpPr>
            <p:nvPr/>
          </p:nvSpPr>
          <p:spPr bwMode="auto">
            <a:xfrm>
              <a:off x="3544" y="3064"/>
              <a:ext cx="59" cy="35"/>
            </a:xfrm>
            <a:custGeom>
              <a:avLst/>
              <a:gdLst>
                <a:gd name="T0" fmla="*/ 0 w 59"/>
                <a:gd name="T1" fmla="*/ 13 h 35"/>
                <a:gd name="T2" fmla="*/ 59 w 59"/>
                <a:gd name="T3" fmla="*/ 0 h 35"/>
                <a:gd name="T4" fmla="*/ 56 w 59"/>
                <a:gd name="T5" fmla="*/ 35 h 35"/>
                <a:gd name="T6" fmla="*/ 0 w 59"/>
                <a:gd name="T7" fmla="*/ 13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"/>
                <a:gd name="T13" fmla="*/ 0 h 35"/>
                <a:gd name="T14" fmla="*/ 59 w 59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" h="35">
                  <a:moveTo>
                    <a:pt x="0" y="13"/>
                  </a:moveTo>
                  <a:lnTo>
                    <a:pt x="59" y="0"/>
                  </a:lnTo>
                  <a:lnTo>
                    <a:pt x="56" y="35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tx1">
                <a:alpha val="47058"/>
              </a:schemeClr>
            </a:solidFill>
            <a:ln w="9525">
              <a:solidFill>
                <a:schemeClr val="tx1">
                  <a:alpha val="14117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4191000" y="3276600"/>
            <a:ext cx="2971800" cy="4778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tabLst>
                <a:tab pos="2054225" algn="l"/>
              </a:tabLst>
              <a:defRPr/>
            </a:pPr>
            <a:r>
              <a:rPr lang="en-US" sz="2400" b="1" dirty="0" err="1">
                <a:cs typeface="Arial" pitchFamily="34" charset="0"/>
              </a:rPr>
              <a:t>diad</a:t>
            </a:r>
            <a:r>
              <a:rPr lang="en-US" sz="2400" b="1" dirty="0">
                <a:cs typeface="Arial" pitchFamily="34" charset="0"/>
              </a:rPr>
              <a:t> axis, 2 </a:t>
            </a:r>
            <a:r>
              <a:rPr lang="en-US" sz="2400" b="1" dirty="0">
                <a:cs typeface="Arial" pitchFamily="34" charset="0"/>
                <a:sym typeface="Symbol"/>
              </a:rPr>
              <a:t></a:t>
            </a:r>
            <a:r>
              <a:rPr lang="en-US" sz="2400" b="1" dirty="0">
                <a:cs typeface="Arial" pitchFamily="34" charset="0"/>
              </a:rPr>
              <a:t> </a:t>
            </a:r>
            <a:r>
              <a:rPr lang="en-US" sz="2400" b="1" i="1" dirty="0">
                <a:cs typeface="Arial" pitchFamily="34" charset="0"/>
              </a:rPr>
              <a:t>C</a:t>
            </a:r>
            <a:r>
              <a:rPr lang="en-US" sz="2400" b="1" baseline="-25000" dirty="0">
                <a:cs typeface="Arial" pitchFamily="34" charset="0"/>
              </a:rPr>
              <a:t>2</a:t>
            </a:r>
            <a:endParaRPr lang="en-US" sz="2400" b="1" dirty="0">
              <a:cs typeface="Arial" pitchFamily="34" charset="0"/>
            </a:endParaRPr>
          </a:p>
        </p:txBody>
      </p:sp>
      <p:grpSp>
        <p:nvGrpSpPr>
          <p:cNvPr id="52238" name="Group 45"/>
          <p:cNvGrpSpPr>
            <a:grpSpLocks/>
          </p:cNvGrpSpPr>
          <p:nvPr/>
        </p:nvGrpSpPr>
        <p:grpSpPr bwMode="auto">
          <a:xfrm>
            <a:off x="4572000" y="533400"/>
            <a:ext cx="1981200" cy="2654300"/>
            <a:chOff x="4572000" y="609600"/>
            <a:chExt cx="1981200" cy="2654299"/>
          </a:xfrm>
        </p:grpSpPr>
        <p:pic>
          <p:nvPicPr>
            <p:cNvPr id="5226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0" y="990600"/>
              <a:ext cx="1981200" cy="2273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262" name="Rectangle 44"/>
            <p:cNvSpPr>
              <a:spLocks noChangeArrowheads="1"/>
            </p:cNvSpPr>
            <p:nvPr/>
          </p:nvSpPr>
          <p:spPr bwMode="auto">
            <a:xfrm>
              <a:off x="5334000" y="609600"/>
              <a:ext cx="3545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solidFill>
                    <a:schemeClr val="tx2"/>
                  </a:solidFill>
                  <a:latin typeface="Rockwell" pitchFamily="18" charset="0"/>
                </a:rPr>
                <a:t>2</a:t>
              </a:r>
              <a:endParaRPr lang="en-US" sz="2400">
                <a:latin typeface="Rockwell" pitchFamily="18" charset="0"/>
              </a:endParaRPr>
            </a:p>
          </p:txBody>
        </p:sp>
      </p:grpSp>
      <p:grpSp>
        <p:nvGrpSpPr>
          <p:cNvPr id="52239" name="Group 13"/>
          <p:cNvGrpSpPr>
            <a:grpSpLocks/>
          </p:cNvGrpSpPr>
          <p:nvPr/>
        </p:nvGrpSpPr>
        <p:grpSpPr bwMode="auto">
          <a:xfrm>
            <a:off x="6172200" y="1219200"/>
            <a:ext cx="228600" cy="838200"/>
            <a:chOff x="2743200" y="2057400"/>
            <a:chExt cx="228600" cy="838200"/>
          </a:xfrm>
        </p:grpSpPr>
        <p:grpSp>
          <p:nvGrpSpPr>
            <p:cNvPr id="52252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5734050" y="2438210"/>
                <a:ext cx="0" cy="8780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37" name="Oval 36"/>
            <p:cNvSpPr/>
            <p:nvPr/>
          </p:nvSpPr>
          <p:spPr>
            <a:xfrm>
              <a:off x="2819400" y="2849563"/>
              <a:ext cx="46038" cy="46037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2240" name="Group 13"/>
          <p:cNvGrpSpPr>
            <a:grpSpLocks/>
          </p:cNvGrpSpPr>
          <p:nvPr/>
        </p:nvGrpSpPr>
        <p:grpSpPr bwMode="auto">
          <a:xfrm>
            <a:off x="4724400" y="1219200"/>
            <a:ext cx="228600" cy="838200"/>
            <a:chOff x="2743200" y="2057400"/>
            <a:chExt cx="228600" cy="838200"/>
          </a:xfrm>
        </p:grpSpPr>
        <p:grpSp>
          <p:nvGrpSpPr>
            <p:cNvPr id="52243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5734050" y="2438210"/>
                <a:ext cx="0" cy="8780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9" name="Oval 48"/>
            <p:cNvSpPr/>
            <p:nvPr/>
          </p:nvSpPr>
          <p:spPr>
            <a:xfrm>
              <a:off x="2819400" y="2849563"/>
              <a:ext cx="46038" cy="46037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7010400" y="1371600"/>
            <a:ext cx="1600200" cy="1524000"/>
            <a:chOff x="7010400" y="1371600"/>
            <a:chExt cx="1600200" cy="1524000"/>
          </a:xfrm>
        </p:grpSpPr>
        <p:grpSp>
          <p:nvGrpSpPr>
            <p:cNvPr id="52235" name="Group 11"/>
            <p:cNvGrpSpPr>
              <a:grpSpLocks/>
            </p:cNvGrpSpPr>
            <p:nvPr/>
          </p:nvGrpSpPr>
          <p:grpSpPr bwMode="auto">
            <a:xfrm>
              <a:off x="7010400" y="1371600"/>
              <a:ext cx="1600200" cy="1524000"/>
              <a:chOff x="6858000" y="1676400"/>
              <a:chExt cx="1600200" cy="1524000"/>
            </a:xfrm>
          </p:grpSpPr>
          <p:sp>
            <p:nvSpPr>
              <p:cNvPr id="41" name="Oval 2"/>
              <p:cNvSpPr/>
              <p:nvPr/>
            </p:nvSpPr>
            <p:spPr>
              <a:xfrm>
                <a:off x="6858000" y="1676400"/>
                <a:ext cx="1600200" cy="1524000"/>
              </a:xfrm>
              <a:prstGeom prst="ellipse">
                <a:avLst/>
              </a:prstGeom>
              <a:noFill/>
              <a:ln>
                <a:solidFill>
                  <a:srgbClr val="00206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42" name="Straight Connector 3"/>
              <p:cNvCxnSpPr/>
              <p:nvPr/>
            </p:nvCxnSpPr>
            <p:spPr>
              <a:xfrm>
                <a:off x="6858000" y="2438400"/>
                <a:ext cx="1600200" cy="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"/>
              <p:cNvCxnSpPr/>
              <p:nvPr/>
            </p:nvCxnSpPr>
            <p:spPr>
              <a:xfrm>
                <a:off x="7658100" y="1676400"/>
                <a:ext cx="0" cy="152400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Oval 34"/>
            <p:cNvSpPr/>
            <p:nvPr/>
          </p:nvSpPr>
          <p:spPr>
            <a:xfrm>
              <a:off x="8229600" y="1905000"/>
              <a:ext cx="76200" cy="92075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7735888" y="1981200"/>
              <a:ext cx="152400" cy="381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7239000" y="2209800"/>
              <a:ext cx="76200" cy="92075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806" grpId="0"/>
      <p:bldP spid="288831" grpId="0" animBg="1"/>
      <p:bldP spid="288832" grpId="0" animBg="1"/>
      <p:bldP spid="288833" grpId="0" animBg="1"/>
      <p:bldP spid="2888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5" descr="pg_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19200"/>
            <a:ext cx="48006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1" name="Text Box 6"/>
          <p:cNvSpPr txBox="1">
            <a:spLocks noChangeArrowheads="1"/>
          </p:cNvSpPr>
          <p:nvPr/>
        </p:nvSpPr>
        <p:spPr bwMode="auto">
          <a:xfrm>
            <a:off x="1600200" y="5181600"/>
            <a:ext cx="2057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latin typeface="Verdana" pitchFamily="34" charset="0"/>
              </a:rPr>
              <a:t>2</a:t>
            </a:r>
          </a:p>
        </p:txBody>
      </p:sp>
      <p:pic>
        <p:nvPicPr>
          <p:cNvPr id="53252" name="Picture 7" descr="sm_C2 stereograph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657225"/>
            <a:ext cx="2057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3" name="Picture 8" descr="C2 solid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48400" y="3429000"/>
            <a:ext cx="15906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4" name="Picture 9" descr="H2O2">
            <a:hlinkClick r:id="rId7"/>
          </p:cNvPr>
          <p:cNvPicPr>
            <a:picLocks noChangeAspect="1" noChangeArrowheads="1" noCrop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53200" y="5181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062325-1D34-4BB3-9270-367F864D7D21}" type="slidenum">
              <a:rPr lang="en-US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80" name="Group 11"/>
          <p:cNvGrpSpPr>
            <a:grpSpLocks/>
          </p:cNvGrpSpPr>
          <p:nvPr/>
        </p:nvGrpSpPr>
        <p:grpSpPr bwMode="auto">
          <a:xfrm>
            <a:off x="5029200" y="1524111"/>
            <a:ext cx="1600200" cy="1524185"/>
            <a:chOff x="6858000" y="1676400"/>
            <a:chExt cx="1600200" cy="1524000"/>
          </a:xfrm>
        </p:grpSpPr>
        <p:sp>
          <p:nvSpPr>
            <p:cNvPr id="41" name="Oval 2"/>
            <p:cNvSpPr/>
            <p:nvPr/>
          </p:nvSpPr>
          <p:spPr>
            <a:xfrm>
              <a:off x="6858000" y="1676289"/>
              <a:ext cx="1600200" cy="1523815"/>
            </a:xfrm>
            <a:prstGeom prst="ellipse">
              <a:avLst/>
            </a:prstGeom>
            <a:noFill/>
            <a:ln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42" name="Straight Connector 3"/>
            <p:cNvCxnSpPr/>
            <p:nvPr/>
          </p:nvCxnSpPr>
          <p:spPr>
            <a:xfrm>
              <a:off x="6858000" y="2438197"/>
              <a:ext cx="1600200" cy="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"/>
            <p:cNvCxnSpPr/>
            <p:nvPr/>
          </p:nvCxnSpPr>
          <p:spPr>
            <a:xfrm>
              <a:off x="7658100" y="1676289"/>
              <a:ext cx="0" cy="1523815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Oval 34"/>
          <p:cNvSpPr/>
          <p:nvPr/>
        </p:nvSpPr>
        <p:spPr bwMode="auto">
          <a:xfrm>
            <a:off x="6248400" y="2057400"/>
            <a:ext cx="76200" cy="920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 bwMode="auto">
          <a:xfrm>
            <a:off x="2209800" y="3429000"/>
            <a:ext cx="2971800" cy="4778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tabLst>
                <a:tab pos="2054225" algn="l"/>
              </a:tabLst>
              <a:defRPr/>
            </a:pPr>
            <a:r>
              <a:rPr lang="en-US" sz="2400" b="1" dirty="0">
                <a:cs typeface="Arial" pitchFamily="34" charset="0"/>
              </a:rPr>
              <a:t>triad axis, 3 </a:t>
            </a:r>
            <a:r>
              <a:rPr lang="en-US" sz="2400" b="1" dirty="0">
                <a:cs typeface="Arial" pitchFamily="34" charset="0"/>
                <a:sym typeface="Symbol"/>
              </a:rPr>
              <a:t></a:t>
            </a:r>
            <a:r>
              <a:rPr lang="en-US" sz="2400" b="1" dirty="0">
                <a:cs typeface="Arial" pitchFamily="34" charset="0"/>
              </a:rPr>
              <a:t> </a:t>
            </a:r>
            <a:r>
              <a:rPr lang="en-US" sz="2400" b="1" i="1" dirty="0">
                <a:cs typeface="Arial" pitchFamily="34" charset="0"/>
              </a:rPr>
              <a:t>C</a:t>
            </a:r>
            <a:r>
              <a:rPr lang="en-US" sz="2400" b="1" baseline="-25000" dirty="0">
                <a:cs typeface="Arial" pitchFamily="34" charset="0"/>
              </a:rPr>
              <a:t>3</a:t>
            </a:r>
            <a:endParaRPr lang="en-US" sz="2400" b="1" dirty="0">
              <a:cs typeface="Arial" pitchFamily="34" charset="0"/>
            </a:endParaRPr>
          </a:p>
        </p:txBody>
      </p:sp>
      <p:grpSp>
        <p:nvGrpSpPr>
          <p:cNvPr id="54283" name="Group 45"/>
          <p:cNvGrpSpPr>
            <a:grpSpLocks/>
          </p:cNvGrpSpPr>
          <p:nvPr/>
        </p:nvGrpSpPr>
        <p:grpSpPr bwMode="auto">
          <a:xfrm>
            <a:off x="2590800" y="609600"/>
            <a:ext cx="1981200" cy="2730830"/>
            <a:chOff x="4572000" y="533400"/>
            <a:chExt cx="1981200" cy="2730499"/>
          </a:xfrm>
        </p:grpSpPr>
        <p:pic>
          <p:nvPicPr>
            <p:cNvPr id="5431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0" y="990600"/>
              <a:ext cx="1981200" cy="2273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18" name="Rectangle 44"/>
            <p:cNvSpPr>
              <a:spLocks noChangeArrowheads="1"/>
            </p:cNvSpPr>
            <p:nvPr/>
          </p:nvSpPr>
          <p:spPr bwMode="auto">
            <a:xfrm>
              <a:off x="5355336" y="533400"/>
              <a:ext cx="3545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solidFill>
                    <a:schemeClr val="tx2"/>
                  </a:solidFill>
                  <a:latin typeface="Verdana" pitchFamily="34" charset="0"/>
                </a:rPr>
                <a:t>3</a:t>
              </a:r>
              <a:endParaRPr lang="en-US" sz="2400">
                <a:latin typeface="Verdana" pitchFamily="34" charset="0"/>
              </a:endParaRPr>
            </a:p>
          </p:txBody>
        </p:sp>
      </p:grpSp>
      <p:grpSp>
        <p:nvGrpSpPr>
          <p:cNvPr id="54284" name="Group 13"/>
          <p:cNvGrpSpPr>
            <a:grpSpLocks/>
          </p:cNvGrpSpPr>
          <p:nvPr/>
        </p:nvGrpSpPr>
        <p:grpSpPr bwMode="auto">
          <a:xfrm>
            <a:off x="4191000" y="1371692"/>
            <a:ext cx="228600" cy="838302"/>
            <a:chOff x="2743200" y="2057400"/>
            <a:chExt cx="228600" cy="838200"/>
          </a:xfrm>
        </p:grpSpPr>
        <p:grpSp>
          <p:nvGrpSpPr>
            <p:cNvPr id="54308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5734050" y="2438061"/>
                <a:ext cx="0" cy="87790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37" name="Oval 36"/>
            <p:cNvSpPr/>
            <p:nvPr/>
          </p:nvSpPr>
          <p:spPr>
            <a:xfrm>
              <a:off x="2819400" y="2849375"/>
              <a:ext cx="46038" cy="46031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4285" name="Group 13"/>
          <p:cNvGrpSpPr>
            <a:grpSpLocks/>
          </p:cNvGrpSpPr>
          <p:nvPr/>
        </p:nvGrpSpPr>
        <p:grpSpPr bwMode="auto">
          <a:xfrm>
            <a:off x="3124200" y="1219274"/>
            <a:ext cx="228600" cy="838302"/>
            <a:chOff x="2743200" y="2057400"/>
            <a:chExt cx="228600" cy="838200"/>
          </a:xfrm>
        </p:grpSpPr>
        <p:grpSp>
          <p:nvGrpSpPr>
            <p:cNvPr id="54299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5734050" y="2438085"/>
                <a:ext cx="0" cy="87790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9" name="Oval 48"/>
            <p:cNvSpPr/>
            <p:nvPr/>
          </p:nvSpPr>
          <p:spPr>
            <a:xfrm>
              <a:off x="2819400" y="2849393"/>
              <a:ext cx="46038" cy="46031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54" name="Oval 53"/>
          <p:cNvSpPr/>
          <p:nvPr/>
        </p:nvSpPr>
        <p:spPr bwMode="auto">
          <a:xfrm>
            <a:off x="5638800" y="2728913"/>
            <a:ext cx="76200" cy="904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4287" name="Group 13"/>
          <p:cNvGrpSpPr>
            <a:grpSpLocks/>
          </p:cNvGrpSpPr>
          <p:nvPr/>
        </p:nvGrpSpPr>
        <p:grpSpPr bwMode="auto">
          <a:xfrm>
            <a:off x="2819400" y="1524111"/>
            <a:ext cx="228600" cy="838302"/>
            <a:chOff x="2743200" y="2057400"/>
            <a:chExt cx="228600" cy="838200"/>
          </a:xfrm>
        </p:grpSpPr>
        <p:grpSp>
          <p:nvGrpSpPr>
            <p:cNvPr id="54290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5734050" y="2438036"/>
                <a:ext cx="0" cy="87790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57" name="Oval 56"/>
            <p:cNvSpPr/>
            <p:nvPr/>
          </p:nvSpPr>
          <p:spPr>
            <a:xfrm>
              <a:off x="2819400" y="2849356"/>
              <a:ext cx="46038" cy="46031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1" name="Isosceles Triangle 60"/>
          <p:cNvSpPr/>
          <p:nvPr/>
        </p:nvSpPr>
        <p:spPr bwMode="auto">
          <a:xfrm>
            <a:off x="5715000" y="2133600"/>
            <a:ext cx="228600" cy="304800"/>
          </a:xfrm>
          <a:prstGeom prst="triangl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2" name="Oval 61"/>
          <p:cNvSpPr/>
          <p:nvPr/>
        </p:nvSpPr>
        <p:spPr bwMode="auto">
          <a:xfrm>
            <a:off x="5334000" y="1905000"/>
            <a:ext cx="76200" cy="920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1" name="Group 161"/>
          <p:cNvGrpSpPr>
            <a:grpSpLocks/>
          </p:cNvGrpSpPr>
          <p:nvPr/>
        </p:nvGrpSpPr>
        <p:grpSpPr bwMode="auto">
          <a:xfrm>
            <a:off x="381000" y="4038600"/>
            <a:ext cx="7153275" cy="2425700"/>
            <a:chOff x="381000" y="4038600"/>
            <a:chExt cx="7153275" cy="2425700"/>
          </a:xfrm>
        </p:grpSpPr>
        <p:pic>
          <p:nvPicPr>
            <p:cNvPr id="54276" name="Picture 5" descr="pg_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81000" y="4064000"/>
              <a:ext cx="3149600" cy="2362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77" name="Text Box 7"/>
            <p:cNvSpPr txBox="1">
              <a:spLocks noChangeArrowheads="1"/>
            </p:cNvSpPr>
            <p:nvPr/>
          </p:nvSpPr>
          <p:spPr bwMode="auto">
            <a:xfrm>
              <a:off x="2819400" y="5791200"/>
              <a:ext cx="609600" cy="58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200" b="1">
                  <a:latin typeface="Verdana" pitchFamily="34" charset="0"/>
                </a:rPr>
                <a:t>3</a:t>
              </a:r>
            </a:p>
          </p:txBody>
        </p:sp>
        <p:pic>
          <p:nvPicPr>
            <p:cNvPr id="54278" name="Picture 10" descr="C3 stereograph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581400" y="4038600"/>
              <a:ext cx="2438400" cy="2425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79" name="Picture 12" descr="C3 solid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553200" y="4495800"/>
              <a:ext cx="981075" cy="1590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2362200" y="3048000"/>
            <a:ext cx="2971800" cy="4778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tabLst>
                <a:tab pos="2054225" algn="l"/>
              </a:tabLst>
              <a:defRPr/>
            </a:pPr>
            <a:r>
              <a:rPr lang="en-US" sz="2400" b="1" dirty="0">
                <a:cs typeface="Arial" pitchFamily="34" charset="0"/>
              </a:rPr>
              <a:t>tetrad axis, 4 </a:t>
            </a:r>
            <a:r>
              <a:rPr lang="en-US" sz="2400" b="1" dirty="0">
                <a:cs typeface="Arial" pitchFamily="34" charset="0"/>
                <a:sym typeface="Symbol"/>
              </a:rPr>
              <a:t></a:t>
            </a:r>
            <a:r>
              <a:rPr lang="en-US" sz="2400" b="1" dirty="0">
                <a:cs typeface="Arial" pitchFamily="34" charset="0"/>
              </a:rPr>
              <a:t> </a:t>
            </a:r>
            <a:r>
              <a:rPr lang="en-US" sz="2400" b="1" i="1" dirty="0">
                <a:cs typeface="Arial" pitchFamily="34" charset="0"/>
              </a:rPr>
              <a:t>C</a:t>
            </a:r>
            <a:r>
              <a:rPr lang="en-US" sz="2400" b="1" baseline="-25000" dirty="0">
                <a:cs typeface="Arial" pitchFamily="34" charset="0"/>
              </a:rPr>
              <a:t>4</a:t>
            </a:r>
            <a:endParaRPr lang="en-US" sz="2400" b="1" dirty="0">
              <a:cs typeface="Arial" pitchFamily="34" charset="0"/>
            </a:endParaRPr>
          </a:p>
        </p:txBody>
      </p:sp>
      <p:grpSp>
        <p:nvGrpSpPr>
          <p:cNvPr id="55301" name="Group 45"/>
          <p:cNvGrpSpPr>
            <a:grpSpLocks/>
          </p:cNvGrpSpPr>
          <p:nvPr/>
        </p:nvGrpSpPr>
        <p:grpSpPr bwMode="auto">
          <a:xfrm>
            <a:off x="2743200" y="304800"/>
            <a:ext cx="1981200" cy="2730500"/>
            <a:chOff x="4572000" y="533400"/>
            <a:chExt cx="1981200" cy="2730499"/>
          </a:xfrm>
        </p:grpSpPr>
        <p:pic>
          <p:nvPicPr>
            <p:cNvPr id="5535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0" y="990600"/>
              <a:ext cx="1981200" cy="2273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352" name="Rectangle 70"/>
            <p:cNvSpPr>
              <a:spLocks noChangeArrowheads="1"/>
            </p:cNvSpPr>
            <p:nvPr/>
          </p:nvSpPr>
          <p:spPr bwMode="auto">
            <a:xfrm>
              <a:off x="5355336" y="533400"/>
              <a:ext cx="3545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solidFill>
                    <a:schemeClr val="tx2"/>
                  </a:solidFill>
                  <a:latin typeface="Verdana" pitchFamily="34" charset="0"/>
                </a:rPr>
                <a:t>4</a:t>
              </a:r>
              <a:endParaRPr lang="en-US" sz="2400">
                <a:latin typeface="Verdana" pitchFamily="34" charset="0"/>
              </a:endParaRPr>
            </a:p>
          </p:txBody>
        </p:sp>
      </p:grpSp>
      <p:grpSp>
        <p:nvGrpSpPr>
          <p:cNvPr id="55302" name="Group 13"/>
          <p:cNvGrpSpPr>
            <a:grpSpLocks/>
          </p:cNvGrpSpPr>
          <p:nvPr/>
        </p:nvGrpSpPr>
        <p:grpSpPr bwMode="auto">
          <a:xfrm>
            <a:off x="4343400" y="1066800"/>
            <a:ext cx="228600" cy="838200"/>
            <a:chOff x="2743200" y="2057400"/>
            <a:chExt cx="228600" cy="838200"/>
          </a:xfrm>
        </p:grpSpPr>
        <p:grpSp>
          <p:nvGrpSpPr>
            <p:cNvPr id="55342" name="Group 72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5734050" y="2438210"/>
                <a:ext cx="0" cy="8780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4" name="Oval 73"/>
            <p:cNvSpPr/>
            <p:nvPr/>
          </p:nvSpPr>
          <p:spPr>
            <a:xfrm>
              <a:off x="2819400" y="2849563"/>
              <a:ext cx="46038" cy="46037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5303" name="Group 13"/>
          <p:cNvGrpSpPr>
            <a:grpSpLocks/>
          </p:cNvGrpSpPr>
          <p:nvPr/>
        </p:nvGrpSpPr>
        <p:grpSpPr bwMode="auto">
          <a:xfrm>
            <a:off x="3429000" y="914400"/>
            <a:ext cx="228600" cy="838200"/>
            <a:chOff x="2743200" y="2057400"/>
            <a:chExt cx="228600" cy="838200"/>
          </a:xfrm>
        </p:grpSpPr>
        <p:grpSp>
          <p:nvGrpSpPr>
            <p:cNvPr id="55333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>
                <a:off x="5734050" y="2438210"/>
                <a:ext cx="0" cy="8780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80" name="Oval 79"/>
            <p:cNvSpPr/>
            <p:nvPr/>
          </p:nvSpPr>
          <p:spPr>
            <a:xfrm>
              <a:off x="2819400" y="2849563"/>
              <a:ext cx="46038" cy="46037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5305" name="Group 13"/>
          <p:cNvGrpSpPr>
            <a:grpSpLocks/>
          </p:cNvGrpSpPr>
          <p:nvPr/>
        </p:nvGrpSpPr>
        <p:grpSpPr bwMode="auto">
          <a:xfrm>
            <a:off x="2819400" y="1066800"/>
            <a:ext cx="228600" cy="838200"/>
            <a:chOff x="2743200" y="2057400"/>
            <a:chExt cx="228600" cy="838200"/>
          </a:xfrm>
        </p:grpSpPr>
        <p:grpSp>
          <p:nvGrpSpPr>
            <p:cNvPr id="55324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88" name="Straight Connector 87"/>
              <p:cNvCxnSpPr/>
              <p:nvPr/>
            </p:nvCxnSpPr>
            <p:spPr>
              <a:xfrm>
                <a:off x="5734050" y="2438210"/>
                <a:ext cx="0" cy="8780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87" name="Oval 86"/>
            <p:cNvSpPr/>
            <p:nvPr/>
          </p:nvSpPr>
          <p:spPr>
            <a:xfrm>
              <a:off x="2819400" y="2849563"/>
              <a:ext cx="46038" cy="46037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5307" name="Group 13"/>
          <p:cNvGrpSpPr>
            <a:grpSpLocks/>
          </p:cNvGrpSpPr>
          <p:nvPr/>
        </p:nvGrpSpPr>
        <p:grpSpPr bwMode="auto">
          <a:xfrm>
            <a:off x="3733800" y="1295400"/>
            <a:ext cx="228600" cy="838200"/>
            <a:chOff x="2743200" y="2057400"/>
            <a:chExt cx="228600" cy="838200"/>
          </a:xfrm>
        </p:grpSpPr>
        <p:grpSp>
          <p:nvGrpSpPr>
            <p:cNvPr id="55315" name="Group 93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96" name="Straight Connector 95"/>
              <p:cNvCxnSpPr/>
              <p:nvPr/>
            </p:nvCxnSpPr>
            <p:spPr>
              <a:xfrm>
                <a:off x="5734050" y="2438210"/>
                <a:ext cx="0" cy="8780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95" name="Oval 94"/>
            <p:cNvSpPr/>
            <p:nvPr/>
          </p:nvSpPr>
          <p:spPr>
            <a:xfrm>
              <a:off x="2819400" y="2849563"/>
              <a:ext cx="46038" cy="46037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181600" y="1219200"/>
            <a:ext cx="1600200" cy="1524000"/>
            <a:chOff x="5181600" y="1219200"/>
            <a:chExt cx="1600200" cy="1524000"/>
          </a:xfrm>
        </p:grpSpPr>
        <p:grpSp>
          <p:nvGrpSpPr>
            <p:cNvPr id="55298" name="Group 11"/>
            <p:cNvGrpSpPr>
              <a:grpSpLocks/>
            </p:cNvGrpSpPr>
            <p:nvPr/>
          </p:nvGrpSpPr>
          <p:grpSpPr bwMode="auto">
            <a:xfrm>
              <a:off x="5181600" y="1219200"/>
              <a:ext cx="1600200" cy="1524000"/>
              <a:chOff x="6858000" y="1676400"/>
              <a:chExt cx="1600200" cy="1524000"/>
            </a:xfrm>
          </p:grpSpPr>
          <p:sp>
            <p:nvSpPr>
              <p:cNvPr id="64" name="Oval 2"/>
              <p:cNvSpPr/>
              <p:nvPr/>
            </p:nvSpPr>
            <p:spPr>
              <a:xfrm>
                <a:off x="6858000" y="1676400"/>
                <a:ext cx="1600200" cy="1524000"/>
              </a:xfrm>
              <a:prstGeom prst="ellipse">
                <a:avLst/>
              </a:prstGeom>
              <a:noFill/>
              <a:ln>
                <a:solidFill>
                  <a:srgbClr val="00206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65" name="Straight Connector 3"/>
              <p:cNvCxnSpPr/>
              <p:nvPr/>
            </p:nvCxnSpPr>
            <p:spPr>
              <a:xfrm>
                <a:off x="6858000" y="2438400"/>
                <a:ext cx="1600200" cy="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4"/>
              <p:cNvCxnSpPr/>
              <p:nvPr/>
            </p:nvCxnSpPr>
            <p:spPr>
              <a:xfrm>
                <a:off x="7658100" y="1676400"/>
                <a:ext cx="0" cy="152400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Oval 66"/>
            <p:cNvSpPr/>
            <p:nvPr/>
          </p:nvSpPr>
          <p:spPr>
            <a:xfrm>
              <a:off x="6400800" y="1752600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5486400" y="2057400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2" name="Oval 91"/>
            <p:cNvSpPr/>
            <p:nvPr/>
          </p:nvSpPr>
          <p:spPr>
            <a:xfrm>
              <a:off x="5791200" y="1447800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Diamond 99"/>
            <p:cNvSpPr/>
            <p:nvPr/>
          </p:nvSpPr>
          <p:spPr>
            <a:xfrm>
              <a:off x="5867400" y="1828800"/>
              <a:ext cx="228600" cy="304800"/>
            </a:xfrm>
            <a:prstGeom prst="diamond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6096000" y="2438400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2" name="Group 147"/>
          <p:cNvGrpSpPr>
            <a:grpSpLocks/>
          </p:cNvGrpSpPr>
          <p:nvPr/>
        </p:nvGrpSpPr>
        <p:grpSpPr bwMode="auto">
          <a:xfrm>
            <a:off x="609600" y="3733800"/>
            <a:ext cx="8124825" cy="2743200"/>
            <a:chOff x="609600" y="3733800"/>
            <a:chExt cx="8124825" cy="2743200"/>
          </a:xfrm>
        </p:grpSpPr>
        <p:pic>
          <p:nvPicPr>
            <p:cNvPr id="55311" name="Picture 7" descr="pg_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9600" y="3733800"/>
              <a:ext cx="3657600" cy="2743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312" name="Text Box 8"/>
            <p:cNvSpPr txBox="1">
              <a:spLocks noChangeArrowheads="1"/>
            </p:cNvSpPr>
            <p:nvPr/>
          </p:nvSpPr>
          <p:spPr bwMode="auto">
            <a:xfrm>
              <a:off x="3048000" y="5867400"/>
              <a:ext cx="2209800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200">
                  <a:latin typeface="Verdana" pitchFamily="34" charset="0"/>
                </a:rPr>
                <a:t>4</a:t>
              </a:r>
            </a:p>
          </p:txBody>
        </p:sp>
        <p:pic>
          <p:nvPicPr>
            <p:cNvPr id="55313" name="Picture 10" descr="C4 stereograph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95800" y="3962400"/>
              <a:ext cx="2438400" cy="2425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5314" name="Picture 12" descr="C4 solid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934200" y="3810000"/>
              <a:ext cx="1800225" cy="2409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/>
          <p:cNvSpPr/>
          <p:nvPr/>
        </p:nvSpPr>
        <p:spPr bwMode="auto">
          <a:xfrm>
            <a:off x="2743200" y="2971800"/>
            <a:ext cx="2971800" cy="4778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tabLst>
                <a:tab pos="2054225" algn="l"/>
              </a:tabLst>
              <a:defRPr/>
            </a:pPr>
            <a:r>
              <a:rPr lang="en-US" sz="2400" b="1" dirty="0" err="1">
                <a:cs typeface="Arial" pitchFamily="34" charset="0"/>
              </a:rPr>
              <a:t>hexad</a:t>
            </a:r>
            <a:r>
              <a:rPr lang="en-US" sz="2400" b="1" dirty="0">
                <a:cs typeface="Arial" pitchFamily="34" charset="0"/>
              </a:rPr>
              <a:t> axis, 6</a:t>
            </a:r>
            <a:r>
              <a:rPr lang="en-US" sz="2400" b="1" dirty="0">
                <a:cs typeface="Arial" pitchFamily="34" charset="0"/>
                <a:sym typeface="Symbol"/>
              </a:rPr>
              <a:t></a:t>
            </a:r>
            <a:r>
              <a:rPr lang="en-US" sz="2400" b="1" dirty="0">
                <a:cs typeface="Arial" pitchFamily="34" charset="0"/>
              </a:rPr>
              <a:t> </a:t>
            </a:r>
            <a:r>
              <a:rPr lang="en-US" sz="2400" b="1" i="1" dirty="0">
                <a:cs typeface="Arial" pitchFamily="34" charset="0"/>
              </a:rPr>
              <a:t>C</a:t>
            </a:r>
            <a:r>
              <a:rPr lang="en-US" sz="2400" b="1" baseline="-25000" dirty="0">
                <a:cs typeface="Arial" pitchFamily="34" charset="0"/>
              </a:rPr>
              <a:t>6</a:t>
            </a:r>
            <a:endParaRPr lang="en-US" sz="2400" b="1" dirty="0">
              <a:cs typeface="Arial" pitchFamily="34" charset="0"/>
            </a:endParaRPr>
          </a:p>
        </p:txBody>
      </p:sp>
      <p:grpSp>
        <p:nvGrpSpPr>
          <p:cNvPr id="56331" name="Group 45"/>
          <p:cNvGrpSpPr>
            <a:grpSpLocks/>
          </p:cNvGrpSpPr>
          <p:nvPr/>
        </p:nvGrpSpPr>
        <p:grpSpPr bwMode="auto">
          <a:xfrm>
            <a:off x="3124200" y="381000"/>
            <a:ext cx="1981200" cy="2730855"/>
            <a:chOff x="4572000" y="533400"/>
            <a:chExt cx="1981200" cy="2730499"/>
          </a:xfrm>
        </p:grpSpPr>
        <p:pic>
          <p:nvPicPr>
            <p:cNvPr id="5639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0" y="990600"/>
              <a:ext cx="1981200" cy="2273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399" name="Rectangle 137"/>
            <p:cNvSpPr>
              <a:spLocks noChangeArrowheads="1"/>
            </p:cNvSpPr>
            <p:nvPr/>
          </p:nvSpPr>
          <p:spPr bwMode="auto">
            <a:xfrm>
              <a:off x="5355336" y="533400"/>
              <a:ext cx="3545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solidFill>
                    <a:schemeClr val="tx2"/>
                  </a:solidFill>
                  <a:latin typeface="Verdana" pitchFamily="34" charset="0"/>
                </a:rPr>
                <a:t>6</a:t>
              </a:r>
              <a:endParaRPr lang="en-US" sz="2400">
                <a:latin typeface="Verdana" pitchFamily="34" charset="0"/>
              </a:endParaRPr>
            </a:p>
          </p:txBody>
        </p:sp>
      </p:grpSp>
      <p:grpSp>
        <p:nvGrpSpPr>
          <p:cNvPr id="56332" name="Group 13"/>
          <p:cNvGrpSpPr>
            <a:grpSpLocks/>
          </p:cNvGrpSpPr>
          <p:nvPr/>
        </p:nvGrpSpPr>
        <p:grpSpPr bwMode="auto">
          <a:xfrm>
            <a:off x="4419600" y="934709"/>
            <a:ext cx="228600" cy="838309"/>
            <a:chOff x="2743200" y="2057400"/>
            <a:chExt cx="228600" cy="838200"/>
          </a:xfrm>
        </p:grpSpPr>
        <p:grpSp>
          <p:nvGrpSpPr>
            <p:cNvPr id="56389" name="Group 131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5734050" y="2438612"/>
                <a:ext cx="0" cy="8779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33" name="Oval 132"/>
            <p:cNvSpPr/>
            <p:nvPr/>
          </p:nvSpPr>
          <p:spPr>
            <a:xfrm>
              <a:off x="2819400" y="2849787"/>
              <a:ext cx="46038" cy="46032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6333" name="Group 13"/>
          <p:cNvGrpSpPr>
            <a:grpSpLocks/>
          </p:cNvGrpSpPr>
          <p:nvPr/>
        </p:nvGrpSpPr>
        <p:grpSpPr bwMode="auto">
          <a:xfrm>
            <a:off x="3810000" y="990681"/>
            <a:ext cx="228600" cy="838309"/>
            <a:chOff x="2743200" y="2057400"/>
            <a:chExt cx="228600" cy="838200"/>
          </a:xfrm>
        </p:grpSpPr>
        <p:grpSp>
          <p:nvGrpSpPr>
            <p:cNvPr id="56380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29" name="Straight Connector 128"/>
              <p:cNvCxnSpPr/>
              <p:nvPr/>
            </p:nvCxnSpPr>
            <p:spPr>
              <a:xfrm>
                <a:off x="5734050" y="2438076"/>
                <a:ext cx="0" cy="8779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2819400" y="2849381"/>
              <a:ext cx="46038" cy="46031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6335" name="Group 13"/>
          <p:cNvGrpSpPr>
            <a:grpSpLocks/>
          </p:cNvGrpSpPr>
          <p:nvPr/>
        </p:nvGrpSpPr>
        <p:grpSpPr bwMode="auto">
          <a:xfrm>
            <a:off x="3276600" y="1087131"/>
            <a:ext cx="228600" cy="838309"/>
            <a:chOff x="2743200" y="2057400"/>
            <a:chExt cx="228600" cy="838200"/>
          </a:xfrm>
        </p:grpSpPr>
        <p:grpSp>
          <p:nvGrpSpPr>
            <p:cNvPr id="56371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>
                <a:off x="5734050" y="2438586"/>
                <a:ext cx="0" cy="8779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2819400" y="2849767"/>
              <a:ext cx="46038" cy="46032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6337" name="Group 13"/>
          <p:cNvGrpSpPr>
            <a:grpSpLocks/>
          </p:cNvGrpSpPr>
          <p:nvPr/>
        </p:nvGrpSpPr>
        <p:grpSpPr bwMode="auto">
          <a:xfrm>
            <a:off x="4724400" y="1239551"/>
            <a:ext cx="228600" cy="838310"/>
            <a:chOff x="2743200" y="2057400"/>
            <a:chExt cx="228600" cy="838200"/>
          </a:xfrm>
        </p:grpSpPr>
        <p:grpSp>
          <p:nvGrpSpPr>
            <p:cNvPr id="56362" name="Group 116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19" name="Straight Connector 118"/>
              <p:cNvCxnSpPr/>
              <p:nvPr/>
            </p:nvCxnSpPr>
            <p:spPr>
              <a:xfrm>
                <a:off x="5734050" y="2438559"/>
                <a:ext cx="0" cy="8779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18" name="Oval 117"/>
            <p:cNvSpPr/>
            <p:nvPr/>
          </p:nvSpPr>
          <p:spPr>
            <a:xfrm>
              <a:off x="2819400" y="2849747"/>
              <a:ext cx="46038" cy="46032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6339" name="Group 13"/>
          <p:cNvGrpSpPr>
            <a:grpSpLocks/>
          </p:cNvGrpSpPr>
          <p:nvPr/>
        </p:nvGrpSpPr>
        <p:grpSpPr bwMode="auto">
          <a:xfrm>
            <a:off x="4191000" y="1391970"/>
            <a:ext cx="228600" cy="838309"/>
            <a:chOff x="2743200" y="2057400"/>
            <a:chExt cx="228600" cy="838200"/>
          </a:xfrm>
        </p:grpSpPr>
        <p:grpSp>
          <p:nvGrpSpPr>
            <p:cNvPr id="56353" name="Group 142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45" name="Straight Connector 144"/>
              <p:cNvCxnSpPr/>
              <p:nvPr/>
            </p:nvCxnSpPr>
            <p:spPr>
              <a:xfrm>
                <a:off x="5734050" y="2438533"/>
                <a:ext cx="0" cy="8779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44" name="Oval 143"/>
            <p:cNvSpPr/>
            <p:nvPr/>
          </p:nvSpPr>
          <p:spPr>
            <a:xfrm>
              <a:off x="2819400" y="2849727"/>
              <a:ext cx="46038" cy="46032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6340" name="Group 13"/>
          <p:cNvGrpSpPr>
            <a:grpSpLocks/>
          </p:cNvGrpSpPr>
          <p:nvPr/>
        </p:nvGrpSpPr>
        <p:grpSpPr bwMode="auto">
          <a:xfrm>
            <a:off x="3505200" y="1315758"/>
            <a:ext cx="228600" cy="838308"/>
            <a:chOff x="2743200" y="2057400"/>
            <a:chExt cx="228600" cy="838200"/>
          </a:xfrm>
        </p:grpSpPr>
        <p:grpSp>
          <p:nvGrpSpPr>
            <p:cNvPr id="56344" name="Group 148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5734050" y="2438546"/>
                <a:ext cx="0" cy="8779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50" name="Oval 149"/>
            <p:cNvSpPr/>
            <p:nvPr/>
          </p:nvSpPr>
          <p:spPr>
            <a:xfrm>
              <a:off x="2819400" y="2849737"/>
              <a:ext cx="46038" cy="46032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562600" y="1295519"/>
            <a:ext cx="1600200" cy="1524199"/>
            <a:chOff x="5562600" y="1295519"/>
            <a:chExt cx="1600200" cy="1524199"/>
          </a:xfrm>
        </p:grpSpPr>
        <p:grpSp>
          <p:nvGrpSpPr>
            <p:cNvPr id="56328" name="Group 11"/>
            <p:cNvGrpSpPr>
              <a:grpSpLocks/>
            </p:cNvGrpSpPr>
            <p:nvPr/>
          </p:nvGrpSpPr>
          <p:grpSpPr bwMode="auto">
            <a:xfrm>
              <a:off x="5562600" y="1295519"/>
              <a:ext cx="1600200" cy="1524199"/>
              <a:chOff x="6858000" y="1676400"/>
              <a:chExt cx="1600200" cy="1524000"/>
            </a:xfrm>
          </p:grpSpPr>
          <p:sp>
            <p:nvSpPr>
              <p:cNvPr id="139" name="Oval 2"/>
              <p:cNvSpPr/>
              <p:nvPr/>
            </p:nvSpPr>
            <p:spPr>
              <a:xfrm>
                <a:off x="6858000" y="1676281"/>
                <a:ext cx="1600200" cy="1523801"/>
              </a:xfrm>
              <a:prstGeom prst="ellipse">
                <a:avLst/>
              </a:prstGeom>
              <a:noFill/>
              <a:ln>
                <a:solidFill>
                  <a:srgbClr val="00206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140" name="Straight Connector 3"/>
              <p:cNvCxnSpPr/>
              <p:nvPr/>
            </p:nvCxnSpPr>
            <p:spPr>
              <a:xfrm>
                <a:off x="6858000" y="2438182"/>
                <a:ext cx="1600200" cy="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4"/>
              <p:cNvCxnSpPr/>
              <p:nvPr/>
            </p:nvCxnSpPr>
            <p:spPr>
              <a:xfrm>
                <a:off x="7658100" y="1676281"/>
                <a:ext cx="0" cy="1523801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" name="Oval 105"/>
            <p:cNvSpPr/>
            <p:nvPr/>
          </p:nvSpPr>
          <p:spPr bwMode="auto">
            <a:xfrm>
              <a:off x="6781800" y="1833563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1" name="Oval 110"/>
            <p:cNvSpPr/>
            <p:nvPr/>
          </p:nvSpPr>
          <p:spPr bwMode="auto">
            <a:xfrm>
              <a:off x="5791200" y="2138363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3" name="Oval 112"/>
            <p:cNvSpPr/>
            <p:nvPr/>
          </p:nvSpPr>
          <p:spPr bwMode="auto">
            <a:xfrm>
              <a:off x="6400800" y="1524000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6" name="Oval 115"/>
            <p:cNvSpPr/>
            <p:nvPr/>
          </p:nvSpPr>
          <p:spPr bwMode="auto">
            <a:xfrm>
              <a:off x="6172200" y="2514600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4" name="Hexagon 153"/>
            <p:cNvSpPr/>
            <p:nvPr/>
          </p:nvSpPr>
          <p:spPr bwMode="auto">
            <a:xfrm rot="5400000">
              <a:off x="6248400" y="1925638"/>
              <a:ext cx="266700" cy="266700"/>
            </a:xfrm>
            <a:prstGeom prst="hexagon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5" name="Oval 154"/>
            <p:cNvSpPr/>
            <p:nvPr/>
          </p:nvSpPr>
          <p:spPr bwMode="auto">
            <a:xfrm>
              <a:off x="6705600" y="2382838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6" name="Oval 155"/>
            <p:cNvSpPr/>
            <p:nvPr/>
          </p:nvSpPr>
          <p:spPr bwMode="auto">
            <a:xfrm>
              <a:off x="5943600" y="1681163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7" name="Group 147"/>
          <p:cNvGrpSpPr>
            <a:grpSpLocks/>
          </p:cNvGrpSpPr>
          <p:nvPr/>
        </p:nvGrpSpPr>
        <p:grpSpPr bwMode="auto">
          <a:xfrm>
            <a:off x="609600" y="3657600"/>
            <a:ext cx="8143875" cy="2838450"/>
            <a:chOff x="609600" y="3657600"/>
            <a:chExt cx="8143875" cy="2838450"/>
          </a:xfrm>
        </p:grpSpPr>
        <p:pic>
          <p:nvPicPr>
            <p:cNvPr id="56324" name="Picture 5" descr="pg_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9600" y="3657600"/>
              <a:ext cx="3784600" cy="283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325" name="Text Box 6"/>
            <p:cNvSpPr txBox="1">
              <a:spLocks noChangeArrowheads="1"/>
            </p:cNvSpPr>
            <p:nvPr/>
          </p:nvSpPr>
          <p:spPr bwMode="auto">
            <a:xfrm>
              <a:off x="2133600" y="5334000"/>
              <a:ext cx="1600200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200" b="1">
                  <a:latin typeface="Verdana" pitchFamily="34" charset="0"/>
                </a:rPr>
                <a:t>6</a:t>
              </a:r>
            </a:p>
          </p:txBody>
        </p:sp>
        <p:pic>
          <p:nvPicPr>
            <p:cNvPr id="56326" name="Picture 8" descr="C6 stereograph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95800" y="3886200"/>
              <a:ext cx="2347913" cy="2362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6327" name="Picture 10" descr="C6 solid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7162800" y="4114800"/>
              <a:ext cx="1590675" cy="1800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06" name="Text Box 38"/>
          <p:cNvSpPr txBox="1">
            <a:spLocks noChangeArrowheads="1"/>
          </p:cNvSpPr>
          <p:nvPr/>
        </p:nvSpPr>
        <p:spPr bwMode="auto">
          <a:xfrm>
            <a:off x="1111250" y="3767138"/>
            <a:ext cx="795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solidFill>
                  <a:srgbClr val="FBF72C"/>
                </a:solidFill>
                <a:latin typeface="Comic Sans MS" pitchFamily="66" charset="0"/>
              </a:rPr>
              <a:t>Draw point group diagrams (stereographic projections)</a:t>
            </a:r>
          </a:p>
        </p:txBody>
      </p:sp>
      <p:grpSp>
        <p:nvGrpSpPr>
          <p:cNvPr id="57347" name="Group 68"/>
          <p:cNvGrpSpPr>
            <a:grpSpLocks/>
          </p:cNvGrpSpPr>
          <p:nvPr/>
        </p:nvGrpSpPr>
        <p:grpSpPr bwMode="auto">
          <a:xfrm>
            <a:off x="-990600" y="990600"/>
            <a:ext cx="7054850" cy="1917700"/>
            <a:chOff x="406" y="1190"/>
            <a:chExt cx="4444" cy="1208"/>
          </a:xfrm>
        </p:grpSpPr>
        <p:sp>
          <p:nvSpPr>
            <p:cNvPr id="288773" name="Text Box 5"/>
            <p:cNvSpPr txBox="1">
              <a:spLocks noChangeArrowheads="1"/>
            </p:cNvSpPr>
            <p:nvPr/>
          </p:nvSpPr>
          <p:spPr bwMode="auto">
            <a:xfrm>
              <a:off x="406" y="1190"/>
              <a:ext cx="4444" cy="1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BF72C"/>
                </a:solidFill>
                <a:latin typeface="Geneva" pitchFamily="1" charset="0"/>
              </a:endParaRP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FBF72C"/>
                  </a:solidFill>
                  <a:latin typeface="Geneva" pitchFamily="1" charset="0"/>
                </a:rPr>
                <a:t>	</a:t>
              </a:r>
              <a:r>
                <a:rPr lang="en-US" dirty="0">
                  <a:solidFill>
                    <a:srgbClr val="FBF72C"/>
                  </a:solidFill>
                  <a:latin typeface="Comic Sans MS" pitchFamily="66" charset="0"/>
                </a:rPr>
                <a:t>Rotation	1, 2, 3, 4, 6</a:t>
              </a: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BF72C"/>
                </a:solidFill>
                <a:latin typeface="Comic Sans MS" pitchFamily="66" charset="0"/>
              </a:endParaRP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FBF72C"/>
                  </a:solidFill>
                  <a:latin typeface="Comic Sans MS" pitchFamily="66" charset="0"/>
                </a:rPr>
                <a:t>	</a:t>
              </a:r>
              <a:r>
                <a:rPr lang="en-US" dirty="0" err="1">
                  <a:solidFill>
                    <a:srgbClr val="FBF72C"/>
                  </a:solidFill>
                  <a:latin typeface="Comic Sans MS" pitchFamily="66" charset="0"/>
                </a:rPr>
                <a:t>Rotoinversion</a:t>
              </a:r>
              <a:r>
                <a:rPr lang="en-US" dirty="0">
                  <a:solidFill>
                    <a:srgbClr val="FBF72C"/>
                  </a:solidFill>
                  <a:latin typeface="Comic Sans MS" pitchFamily="66" charset="0"/>
                </a:rPr>
                <a:t> 1 (= </a:t>
              </a:r>
              <a:r>
                <a:rPr lang="en-US" dirty="0" err="1">
                  <a:solidFill>
                    <a:srgbClr val="FBF72C"/>
                  </a:solidFill>
                  <a:latin typeface="Comic Sans MS" pitchFamily="66" charset="0"/>
                </a:rPr>
                <a:t>i</a:t>
              </a:r>
              <a:r>
                <a:rPr lang="en-US" dirty="0">
                  <a:solidFill>
                    <a:srgbClr val="FBF72C"/>
                  </a:solidFill>
                  <a:latin typeface="Comic Sans MS" pitchFamily="66" charset="0"/>
                </a:rPr>
                <a:t>), 2 (= m), 3, 4, 6</a:t>
              </a:r>
            </a:p>
            <a:p>
              <a:pPr marL="1371600" lvl="2" indent="-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BF72C"/>
                </a:solidFill>
                <a:latin typeface="Comic Sans MS" pitchFamily="66" charset="0"/>
              </a:endParaRPr>
            </a:p>
          </p:txBody>
        </p:sp>
        <p:grpSp>
          <p:nvGrpSpPr>
            <p:cNvPr id="57401" name="Group 48"/>
            <p:cNvGrpSpPr>
              <a:grpSpLocks/>
            </p:cNvGrpSpPr>
            <p:nvPr/>
          </p:nvGrpSpPr>
          <p:grpSpPr bwMode="auto">
            <a:xfrm>
              <a:off x="2256" y="1728"/>
              <a:ext cx="1448" cy="0"/>
              <a:chOff x="2256" y="1728"/>
              <a:chExt cx="1448" cy="0"/>
            </a:xfrm>
          </p:grpSpPr>
          <p:sp>
            <p:nvSpPr>
              <p:cNvPr id="57402" name="Line 43"/>
              <p:cNvSpPr>
                <a:spLocks noChangeShapeType="1"/>
              </p:cNvSpPr>
              <p:nvPr/>
            </p:nvSpPr>
            <p:spPr bwMode="auto">
              <a:xfrm>
                <a:off x="2256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rgbClr val="FBF72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3" name="Line 44"/>
              <p:cNvSpPr>
                <a:spLocks noChangeShapeType="1"/>
              </p:cNvSpPr>
              <p:nvPr/>
            </p:nvSpPr>
            <p:spPr bwMode="auto">
              <a:xfrm>
                <a:off x="2736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rgbClr val="FBF72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4" name="Line 45"/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rgbClr val="FBF72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5" name="Line 46"/>
              <p:cNvSpPr>
                <a:spLocks noChangeShapeType="1"/>
              </p:cNvSpPr>
              <p:nvPr/>
            </p:nvSpPr>
            <p:spPr bwMode="auto">
              <a:xfrm>
                <a:off x="3448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rgbClr val="FBF72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6" name="Line 47"/>
              <p:cNvSpPr>
                <a:spLocks noChangeShapeType="1"/>
              </p:cNvSpPr>
              <p:nvPr/>
            </p:nvSpPr>
            <p:spPr bwMode="auto">
              <a:xfrm>
                <a:off x="3600" y="1728"/>
                <a:ext cx="104" cy="0"/>
              </a:xfrm>
              <a:prstGeom prst="line">
                <a:avLst/>
              </a:prstGeom>
              <a:noFill/>
              <a:ln w="38100">
                <a:solidFill>
                  <a:srgbClr val="FBF72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7348" name="Group 11"/>
          <p:cNvGrpSpPr>
            <a:grpSpLocks/>
          </p:cNvGrpSpPr>
          <p:nvPr/>
        </p:nvGrpSpPr>
        <p:grpSpPr bwMode="auto">
          <a:xfrm>
            <a:off x="7010400" y="1371600"/>
            <a:ext cx="1600200" cy="1524000"/>
            <a:chOff x="6858000" y="1676400"/>
            <a:chExt cx="1600200" cy="1524000"/>
          </a:xfrm>
        </p:grpSpPr>
        <p:sp>
          <p:nvSpPr>
            <p:cNvPr id="41" name="Oval 2"/>
            <p:cNvSpPr/>
            <p:nvPr/>
          </p:nvSpPr>
          <p:spPr>
            <a:xfrm>
              <a:off x="6858000" y="1676400"/>
              <a:ext cx="1600200" cy="1524000"/>
            </a:xfrm>
            <a:prstGeom prst="ellipse">
              <a:avLst/>
            </a:prstGeom>
            <a:noFill/>
            <a:ln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42" name="Straight Connector 3"/>
            <p:cNvCxnSpPr/>
            <p:nvPr/>
          </p:nvCxnSpPr>
          <p:spPr>
            <a:xfrm>
              <a:off x="6858000" y="2438400"/>
              <a:ext cx="1600200" cy="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"/>
            <p:cNvCxnSpPr/>
            <p:nvPr/>
          </p:nvCxnSpPr>
          <p:spPr>
            <a:xfrm>
              <a:off x="7658100" y="1676400"/>
              <a:ext cx="0" cy="15240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Oval 34"/>
          <p:cNvSpPr/>
          <p:nvPr/>
        </p:nvSpPr>
        <p:spPr>
          <a:xfrm>
            <a:off x="8229600" y="1905000"/>
            <a:ext cx="76200" cy="9207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7350" name="Group 45"/>
          <p:cNvGrpSpPr>
            <a:grpSpLocks/>
          </p:cNvGrpSpPr>
          <p:nvPr/>
        </p:nvGrpSpPr>
        <p:grpSpPr bwMode="auto">
          <a:xfrm>
            <a:off x="4572000" y="533400"/>
            <a:ext cx="1981200" cy="2654300"/>
            <a:chOff x="4572000" y="609600"/>
            <a:chExt cx="1981200" cy="2654299"/>
          </a:xfrm>
        </p:grpSpPr>
        <p:pic>
          <p:nvPicPr>
            <p:cNvPr id="5739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0" y="990600"/>
              <a:ext cx="1981200" cy="2273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396" name="Rectangle 44"/>
            <p:cNvSpPr>
              <a:spLocks noChangeArrowheads="1"/>
            </p:cNvSpPr>
            <p:nvPr/>
          </p:nvSpPr>
          <p:spPr bwMode="auto">
            <a:xfrm>
              <a:off x="5334000" y="609600"/>
              <a:ext cx="3545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solidFill>
                    <a:schemeClr val="tx2"/>
                  </a:solidFill>
                  <a:latin typeface="Rockwell" pitchFamily="18" charset="0"/>
                </a:rPr>
                <a:t>1</a:t>
              </a:r>
              <a:endParaRPr lang="en-US" sz="2400">
                <a:latin typeface="Rockwell" pitchFamily="18" charset="0"/>
              </a:endParaRPr>
            </a:p>
          </p:txBody>
        </p:sp>
      </p:grpSp>
      <p:grpSp>
        <p:nvGrpSpPr>
          <p:cNvPr id="57351" name="Group 13"/>
          <p:cNvGrpSpPr>
            <a:grpSpLocks/>
          </p:cNvGrpSpPr>
          <p:nvPr/>
        </p:nvGrpSpPr>
        <p:grpSpPr bwMode="auto">
          <a:xfrm>
            <a:off x="6172200" y="1219200"/>
            <a:ext cx="228600" cy="838200"/>
            <a:chOff x="2743200" y="2057400"/>
            <a:chExt cx="228600" cy="838200"/>
          </a:xfrm>
        </p:grpSpPr>
        <p:grpSp>
          <p:nvGrpSpPr>
            <p:cNvPr id="57386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5734050" y="2438210"/>
                <a:ext cx="0" cy="8780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37" name="Oval 36"/>
            <p:cNvSpPr/>
            <p:nvPr/>
          </p:nvSpPr>
          <p:spPr>
            <a:xfrm>
              <a:off x="2819400" y="2849563"/>
              <a:ext cx="46038" cy="46037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7352" name="Group 13"/>
          <p:cNvGrpSpPr>
            <a:grpSpLocks/>
          </p:cNvGrpSpPr>
          <p:nvPr/>
        </p:nvGrpSpPr>
        <p:grpSpPr bwMode="auto">
          <a:xfrm flipV="1">
            <a:off x="4724400" y="1981200"/>
            <a:ext cx="228600" cy="838200"/>
            <a:chOff x="2743200" y="2057400"/>
            <a:chExt cx="228600" cy="838200"/>
          </a:xfrm>
        </p:grpSpPr>
        <p:grpSp>
          <p:nvGrpSpPr>
            <p:cNvPr id="57377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5734050" y="2438209"/>
                <a:ext cx="0" cy="8780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9" name="Oval 48"/>
            <p:cNvSpPr/>
            <p:nvPr/>
          </p:nvSpPr>
          <p:spPr>
            <a:xfrm>
              <a:off x="2819400" y="2849562"/>
              <a:ext cx="46038" cy="46038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54" name="Oval 53"/>
          <p:cNvSpPr>
            <a:spLocks/>
          </p:cNvSpPr>
          <p:nvPr/>
        </p:nvSpPr>
        <p:spPr>
          <a:xfrm>
            <a:off x="7196138" y="2243138"/>
            <a:ext cx="119062" cy="119062"/>
          </a:xfrm>
          <a:prstGeom prst="ellipse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7354" name="Group 12"/>
          <p:cNvGrpSpPr>
            <a:grpSpLocks/>
          </p:cNvGrpSpPr>
          <p:nvPr/>
        </p:nvGrpSpPr>
        <p:grpSpPr bwMode="auto">
          <a:xfrm>
            <a:off x="4289425" y="4559300"/>
            <a:ext cx="1765300" cy="1752600"/>
            <a:chOff x="1240" y="2864"/>
            <a:chExt cx="1112" cy="1104"/>
          </a:xfrm>
        </p:grpSpPr>
        <p:sp>
          <p:nvSpPr>
            <p:cNvPr id="57374" name="Oval 13"/>
            <p:cNvSpPr>
              <a:spLocks noChangeArrowheads="1"/>
            </p:cNvSpPr>
            <p:nvPr/>
          </p:nvSpPr>
          <p:spPr bwMode="auto">
            <a:xfrm>
              <a:off x="1240" y="2864"/>
              <a:ext cx="1104" cy="11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Rockwell" pitchFamily="18" charset="0"/>
              </a:endParaRPr>
            </a:p>
          </p:txBody>
        </p:sp>
        <p:sp>
          <p:nvSpPr>
            <p:cNvPr id="57375" name="Line 14"/>
            <p:cNvSpPr>
              <a:spLocks noChangeShapeType="1"/>
            </p:cNvSpPr>
            <p:nvPr/>
          </p:nvSpPr>
          <p:spPr bwMode="auto">
            <a:xfrm>
              <a:off x="1792" y="2864"/>
              <a:ext cx="0" cy="10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76" name="Line 15"/>
            <p:cNvSpPr>
              <a:spLocks noChangeShapeType="1"/>
            </p:cNvSpPr>
            <p:nvPr/>
          </p:nvSpPr>
          <p:spPr bwMode="auto">
            <a:xfrm>
              <a:off x="1240" y="3400"/>
              <a:ext cx="1112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7355" name="Group 49"/>
          <p:cNvGrpSpPr>
            <a:grpSpLocks/>
          </p:cNvGrpSpPr>
          <p:nvPr/>
        </p:nvGrpSpPr>
        <p:grpSpPr bwMode="auto">
          <a:xfrm>
            <a:off x="1003300" y="1752600"/>
            <a:ext cx="1765300" cy="4546600"/>
            <a:chOff x="632" y="1104"/>
            <a:chExt cx="1112" cy="2864"/>
          </a:xfrm>
        </p:grpSpPr>
        <p:grpSp>
          <p:nvGrpSpPr>
            <p:cNvPr id="57369" name="Group 17"/>
            <p:cNvGrpSpPr>
              <a:grpSpLocks/>
            </p:cNvGrpSpPr>
            <p:nvPr/>
          </p:nvGrpSpPr>
          <p:grpSpPr bwMode="auto">
            <a:xfrm>
              <a:off x="632" y="2864"/>
              <a:ext cx="1112" cy="1104"/>
              <a:chOff x="1240" y="2864"/>
              <a:chExt cx="1112" cy="1104"/>
            </a:xfrm>
          </p:grpSpPr>
          <p:sp>
            <p:nvSpPr>
              <p:cNvPr id="57371" name="Oval 18"/>
              <p:cNvSpPr>
                <a:spLocks noChangeArrowheads="1"/>
              </p:cNvSpPr>
              <p:nvPr/>
            </p:nvSpPr>
            <p:spPr bwMode="auto">
              <a:xfrm>
                <a:off x="1240" y="2864"/>
                <a:ext cx="1104" cy="110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Rockwell" pitchFamily="18" charset="0"/>
                </a:endParaRPr>
              </a:p>
            </p:txBody>
          </p:sp>
          <p:sp>
            <p:nvSpPr>
              <p:cNvPr id="57372" name="Line 19"/>
              <p:cNvSpPr>
                <a:spLocks noChangeShapeType="1"/>
              </p:cNvSpPr>
              <p:nvPr/>
            </p:nvSpPr>
            <p:spPr bwMode="auto">
              <a:xfrm>
                <a:off x="1792" y="2864"/>
                <a:ext cx="0" cy="10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3" name="Line 20"/>
              <p:cNvSpPr>
                <a:spLocks noChangeShapeType="1"/>
              </p:cNvSpPr>
              <p:nvPr/>
            </p:nvSpPr>
            <p:spPr bwMode="auto">
              <a:xfrm>
                <a:off x="1240" y="3400"/>
                <a:ext cx="1112" cy="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7370" name="Oval 21"/>
            <p:cNvSpPr>
              <a:spLocks noChangeArrowheads="1"/>
            </p:cNvSpPr>
            <p:nvPr/>
          </p:nvSpPr>
          <p:spPr bwMode="auto">
            <a:xfrm>
              <a:off x="1152" y="1104"/>
              <a:ext cx="272" cy="256"/>
            </a:xfrm>
            <a:prstGeom prst="ellipse">
              <a:avLst/>
            </a:prstGeom>
            <a:noFill/>
            <a:ln w="38100">
              <a:solidFill>
                <a:srgbClr val="E16BA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Rockwell" pitchFamily="18" charset="0"/>
              </a:endParaRPr>
            </a:p>
          </p:txBody>
        </p:sp>
      </p:grpSp>
      <p:sp>
        <p:nvSpPr>
          <p:cNvPr id="65" name="AutoShape 23"/>
          <p:cNvSpPr>
            <a:spLocks noChangeArrowheads="1"/>
          </p:cNvSpPr>
          <p:nvPr/>
        </p:nvSpPr>
        <p:spPr bwMode="auto">
          <a:xfrm flipV="1">
            <a:off x="5229225" y="5829300"/>
            <a:ext cx="127000" cy="368300"/>
          </a:xfrm>
          <a:prstGeom prst="rtTriangl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sp>
        <p:nvSpPr>
          <p:cNvPr id="66" name="AutoShape 24"/>
          <p:cNvSpPr>
            <a:spLocks noChangeArrowheads="1"/>
          </p:cNvSpPr>
          <p:nvPr/>
        </p:nvSpPr>
        <p:spPr bwMode="auto">
          <a:xfrm flipH="1">
            <a:off x="4962525" y="4648200"/>
            <a:ext cx="127000" cy="368300"/>
          </a:xfrm>
          <a:prstGeom prst="rtTriangl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sp>
        <p:nvSpPr>
          <p:cNvPr id="67" name="Text Box 25"/>
          <p:cNvSpPr txBox="1">
            <a:spLocks noChangeArrowheads="1"/>
          </p:cNvSpPr>
          <p:nvPr/>
        </p:nvSpPr>
        <p:spPr bwMode="auto">
          <a:xfrm>
            <a:off x="1263650" y="6251575"/>
            <a:ext cx="49260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BF72C"/>
                </a:solidFill>
                <a:latin typeface="Comic Sans MS" pitchFamily="66" charset="0"/>
              </a:rPr>
              <a:t>symmetry elements             equivalent points</a:t>
            </a:r>
          </a:p>
        </p:txBody>
      </p:sp>
      <p:sp>
        <p:nvSpPr>
          <p:cNvPr id="68" name="Oval 31"/>
          <p:cNvSpPr>
            <a:spLocks noChangeArrowheads="1"/>
          </p:cNvSpPr>
          <p:nvPr/>
        </p:nvSpPr>
        <p:spPr bwMode="auto">
          <a:xfrm>
            <a:off x="1828800" y="5372100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grpSp>
        <p:nvGrpSpPr>
          <p:cNvPr id="13" name="Group 46"/>
          <p:cNvGrpSpPr>
            <a:grpSpLocks/>
          </p:cNvGrpSpPr>
          <p:nvPr/>
        </p:nvGrpSpPr>
        <p:grpSpPr bwMode="auto">
          <a:xfrm>
            <a:off x="4622800" y="4879975"/>
            <a:ext cx="1089025" cy="1117600"/>
            <a:chOff x="3250" y="3074"/>
            <a:chExt cx="686" cy="704"/>
          </a:xfrm>
        </p:grpSpPr>
        <p:sp>
          <p:nvSpPr>
            <p:cNvPr id="57367" name="Oval 40"/>
            <p:cNvSpPr>
              <a:spLocks noChangeArrowheads="1"/>
            </p:cNvSpPr>
            <p:nvPr/>
          </p:nvSpPr>
          <p:spPr bwMode="auto">
            <a:xfrm>
              <a:off x="3250" y="3074"/>
              <a:ext cx="686" cy="686"/>
            </a:xfrm>
            <a:prstGeom prst="ellipse">
              <a:avLst/>
            </a:prstGeom>
            <a:noFill/>
            <a:ln w="9525">
              <a:solidFill>
                <a:schemeClr val="tx1">
                  <a:alpha val="34901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Rockwell" pitchFamily="18" charset="0"/>
              </a:endParaRPr>
            </a:p>
          </p:txBody>
        </p:sp>
        <p:sp>
          <p:nvSpPr>
            <p:cNvPr id="57368" name="Freeform 45"/>
            <p:cNvSpPr>
              <a:spLocks/>
            </p:cNvSpPr>
            <p:nvPr/>
          </p:nvSpPr>
          <p:spPr bwMode="auto">
            <a:xfrm>
              <a:off x="3538" y="3728"/>
              <a:ext cx="80" cy="50"/>
            </a:xfrm>
            <a:custGeom>
              <a:avLst/>
              <a:gdLst>
                <a:gd name="T0" fmla="*/ 80 w 80"/>
                <a:gd name="T1" fmla="*/ 28 h 50"/>
                <a:gd name="T2" fmla="*/ 6 w 80"/>
                <a:gd name="T3" fmla="*/ 0 h 50"/>
                <a:gd name="T4" fmla="*/ 0 w 80"/>
                <a:gd name="T5" fmla="*/ 50 h 50"/>
                <a:gd name="T6" fmla="*/ 80 w 80"/>
                <a:gd name="T7" fmla="*/ 28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"/>
                <a:gd name="T13" fmla="*/ 0 h 50"/>
                <a:gd name="T14" fmla="*/ 80 w 8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" h="50">
                  <a:moveTo>
                    <a:pt x="80" y="28"/>
                  </a:moveTo>
                  <a:lnTo>
                    <a:pt x="6" y="0"/>
                  </a:lnTo>
                  <a:lnTo>
                    <a:pt x="0" y="50"/>
                  </a:lnTo>
                  <a:lnTo>
                    <a:pt x="80" y="2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>
                  <a:alpha val="34901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" name="Line 48"/>
          <p:cNvSpPr>
            <a:spLocks noChangeShapeType="1"/>
          </p:cNvSpPr>
          <p:nvPr/>
        </p:nvSpPr>
        <p:spPr bwMode="auto">
          <a:xfrm flipH="1" flipV="1">
            <a:off x="5076825" y="5032375"/>
            <a:ext cx="200025" cy="920750"/>
          </a:xfrm>
          <a:prstGeom prst="line">
            <a:avLst/>
          </a:prstGeom>
          <a:noFill/>
          <a:ln w="9525">
            <a:solidFill>
              <a:schemeClr val="tx1">
                <a:alpha val="43921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2" name="Line 43"/>
          <p:cNvSpPr>
            <a:spLocks noChangeShapeType="1"/>
          </p:cNvSpPr>
          <p:nvPr/>
        </p:nvSpPr>
        <p:spPr bwMode="auto">
          <a:xfrm>
            <a:off x="5397500" y="609600"/>
            <a:ext cx="165100" cy="0"/>
          </a:xfrm>
          <a:prstGeom prst="line">
            <a:avLst/>
          </a:prstGeom>
          <a:noFill/>
          <a:ln w="38100">
            <a:solidFill>
              <a:srgbClr val="FBF72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Oval 73"/>
          <p:cNvSpPr>
            <a:spLocks/>
          </p:cNvSpPr>
          <p:nvPr/>
        </p:nvSpPr>
        <p:spPr>
          <a:xfrm>
            <a:off x="7753350" y="2057400"/>
            <a:ext cx="147638" cy="14605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7364" name="Group 75"/>
          <p:cNvGrpSpPr>
            <a:grpSpLocks/>
          </p:cNvGrpSpPr>
          <p:nvPr/>
        </p:nvGrpSpPr>
        <p:grpSpPr bwMode="auto">
          <a:xfrm>
            <a:off x="4876800" y="3200400"/>
            <a:ext cx="2971800" cy="477838"/>
            <a:chOff x="4343400" y="3200400"/>
            <a:chExt cx="2971800" cy="477438"/>
          </a:xfrm>
        </p:grpSpPr>
        <p:sp>
          <p:nvSpPr>
            <p:cNvPr id="31" name="Rectangle 30"/>
            <p:cNvSpPr/>
            <p:nvPr/>
          </p:nvSpPr>
          <p:spPr>
            <a:xfrm>
              <a:off x="4343400" y="3200400"/>
              <a:ext cx="2971800" cy="47743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463550" indent="-463550" algn="just" fontAlgn="auto">
                <a:lnSpc>
                  <a:spcPct val="114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SzPct val="95000"/>
                <a:tabLst>
                  <a:tab pos="2054225" algn="l"/>
                </a:tabLst>
                <a:defRPr/>
              </a:pPr>
              <a:r>
                <a:rPr lang="en-US" sz="2400" b="1" dirty="0">
                  <a:cs typeface="Arial" pitchFamily="34" charset="0"/>
                </a:rPr>
                <a:t>1 </a:t>
              </a:r>
              <a:r>
                <a:rPr lang="en-US" sz="2400" b="1" dirty="0">
                  <a:cs typeface="Arial" pitchFamily="34" charset="0"/>
                  <a:sym typeface="Symbol"/>
                </a:rPr>
                <a:t></a:t>
              </a:r>
              <a:r>
                <a:rPr lang="en-US" sz="2400" b="1" dirty="0">
                  <a:cs typeface="Arial" pitchFamily="34" charset="0"/>
                </a:rPr>
                <a:t> </a:t>
              </a:r>
              <a:r>
                <a:rPr lang="en-US" sz="2400" b="1" i="1" dirty="0">
                  <a:cs typeface="Arial" pitchFamily="34" charset="0"/>
                </a:rPr>
                <a:t>S</a:t>
              </a:r>
              <a:r>
                <a:rPr lang="en-US" sz="2400" b="1" baseline="-25000" dirty="0">
                  <a:cs typeface="Arial" pitchFamily="34" charset="0"/>
                </a:rPr>
                <a:t>2 </a:t>
              </a:r>
              <a:r>
                <a:rPr lang="en-US" sz="2400" b="1" dirty="0">
                  <a:cs typeface="Arial" pitchFamily="34" charset="0"/>
                  <a:sym typeface="Symbol"/>
                </a:rPr>
                <a:t></a:t>
              </a:r>
              <a:r>
                <a:rPr lang="en-US" sz="2400" b="1" i="1" dirty="0">
                  <a:cs typeface="Arial" pitchFamily="34" charset="0"/>
                  <a:sym typeface="Symbol"/>
                </a:rPr>
                <a:t> </a:t>
              </a:r>
              <a:r>
                <a:rPr lang="en-US" sz="2400" b="1" i="1" dirty="0" err="1">
                  <a:cs typeface="Arial" pitchFamily="34" charset="0"/>
                  <a:sym typeface="Symbol"/>
                </a:rPr>
                <a:t>i</a:t>
              </a:r>
              <a:endParaRPr lang="en-US" sz="2400" b="1" i="1" dirty="0">
                <a:cs typeface="Arial" pitchFamily="34" charset="0"/>
              </a:endParaRPr>
            </a:p>
          </p:txBody>
        </p:sp>
        <p:sp>
          <p:nvSpPr>
            <p:cNvPr id="57366" name="Line 43"/>
            <p:cNvSpPr>
              <a:spLocks noChangeShapeType="1"/>
            </p:cNvSpPr>
            <p:nvPr/>
          </p:nvSpPr>
          <p:spPr bwMode="auto">
            <a:xfrm>
              <a:off x="4419600" y="3276600"/>
              <a:ext cx="165100" cy="0"/>
            </a:xfrm>
            <a:prstGeom prst="line">
              <a:avLst/>
            </a:prstGeom>
            <a:noFill/>
            <a:ln w="38100">
              <a:solidFill>
                <a:srgbClr val="FBF72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806" grpId="0"/>
      <p:bldP spid="65" grpId="0" animBg="1"/>
      <p:bldP spid="66" grpId="0" animBg="1"/>
      <p:bldP spid="68" grpId="0" animBg="1"/>
      <p:bldP spid="7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5" descr="pg_bar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00200"/>
            <a:ext cx="4191000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1" name="Picture 24" descr="Ci stereograph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990600"/>
            <a:ext cx="2438400" cy="242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2" name="Picture 26" descr="Ci solid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19800" y="4267200"/>
            <a:ext cx="20002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8373" name="Group 7"/>
          <p:cNvGrpSpPr>
            <a:grpSpLocks/>
          </p:cNvGrpSpPr>
          <p:nvPr/>
        </p:nvGrpSpPr>
        <p:grpSpPr bwMode="auto">
          <a:xfrm>
            <a:off x="2667000" y="4724400"/>
            <a:ext cx="381000" cy="971550"/>
            <a:chOff x="2667000" y="4724400"/>
            <a:chExt cx="381000" cy="972125"/>
          </a:xfrm>
        </p:grpSpPr>
        <p:sp>
          <p:nvSpPr>
            <p:cNvPr id="58375" name="Text Box 6"/>
            <p:cNvSpPr txBox="1">
              <a:spLocks noChangeArrowheads="1"/>
            </p:cNvSpPr>
            <p:nvPr/>
          </p:nvSpPr>
          <p:spPr bwMode="auto">
            <a:xfrm>
              <a:off x="2667000" y="5111750"/>
              <a:ext cx="38100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200">
                  <a:latin typeface="Verdana" pitchFamily="34" charset="0"/>
                </a:rPr>
                <a:t>1</a:t>
              </a:r>
            </a:p>
          </p:txBody>
        </p:sp>
        <p:sp>
          <p:nvSpPr>
            <p:cNvPr id="58376" name="Text Box 6"/>
            <p:cNvSpPr txBox="1">
              <a:spLocks noChangeArrowheads="1"/>
            </p:cNvSpPr>
            <p:nvPr/>
          </p:nvSpPr>
          <p:spPr bwMode="auto">
            <a:xfrm>
              <a:off x="2667000" y="4724400"/>
              <a:ext cx="38100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200">
                  <a:latin typeface="Verdana" pitchFamily="34" charset="0"/>
                </a:rPr>
                <a:t>_</a:t>
              </a: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40E281-851F-4A0D-A97C-FECD04B26318}" type="slidenum">
              <a:rPr lang="en-US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6"/>
          <p:cNvSpPr txBox="1">
            <a:spLocks noChangeArrowheads="1"/>
          </p:cNvSpPr>
          <p:nvPr/>
        </p:nvSpPr>
        <p:spPr bwMode="auto">
          <a:xfrm>
            <a:off x="2438400" y="6019800"/>
            <a:ext cx="205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latin typeface="Rockwell" pitchFamily="18" charset="0"/>
            </a:endParaRPr>
          </a:p>
        </p:txBody>
      </p:sp>
      <p:sp>
        <p:nvSpPr>
          <p:cNvPr id="59395" name="Rectangle 8"/>
          <p:cNvSpPr>
            <a:spLocks noChangeArrowheads="1"/>
          </p:cNvSpPr>
          <p:nvPr/>
        </p:nvSpPr>
        <p:spPr bwMode="auto">
          <a:xfrm>
            <a:off x="-1676400" y="1409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IN">
              <a:latin typeface="Rockwell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B1C0ED-04B9-44A6-8F66-C7EB3937254F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-1031875" y="1066800"/>
            <a:ext cx="705485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1371600" lvl="2" indent="-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BF72C"/>
              </a:solidFill>
              <a:latin typeface="Geneva" pitchFamily="1" charset="0"/>
            </a:endParaRPr>
          </a:p>
          <a:p>
            <a:pPr marL="1371600" lvl="2" indent="-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BF72C"/>
                </a:solidFill>
                <a:latin typeface="Geneva" pitchFamily="1" charset="0"/>
              </a:rPr>
              <a:t>	</a:t>
            </a:r>
            <a:r>
              <a:rPr lang="en-US" dirty="0">
                <a:solidFill>
                  <a:srgbClr val="FBF72C"/>
                </a:solidFill>
                <a:latin typeface="Comic Sans MS" pitchFamily="66" charset="0"/>
              </a:rPr>
              <a:t>Rotation	1, 2, 3, 4, 6</a:t>
            </a:r>
          </a:p>
          <a:p>
            <a:pPr marL="1371600" lvl="2" indent="-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BF72C"/>
              </a:solidFill>
              <a:latin typeface="Comic Sans MS" pitchFamily="66" charset="0"/>
            </a:endParaRPr>
          </a:p>
          <a:p>
            <a:pPr marL="1371600" lvl="2" indent="-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BF72C"/>
                </a:solidFill>
                <a:latin typeface="Comic Sans MS" pitchFamily="66" charset="0"/>
              </a:rPr>
              <a:t>	</a:t>
            </a:r>
            <a:r>
              <a:rPr lang="en-US" dirty="0" err="1">
                <a:solidFill>
                  <a:srgbClr val="FBF72C"/>
                </a:solidFill>
                <a:latin typeface="Comic Sans MS" pitchFamily="66" charset="0"/>
              </a:rPr>
              <a:t>Rotoinversion</a:t>
            </a:r>
            <a:r>
              <a:rPr lang="en-US" dirty="0">
                <a:solidFill>
                  <a:srgbClr val="FBF72C"/>
                </a:solidFill>
                <a:latin typeface="Comic Sans MS" pitchFamily="66" charset="0"/>
              </a:rPr>
              <a:t> 1 (= </a:t>
            </a:r>
            <a:r>
              <a:rPr lang="en-US" dirty="0" err="1">
                <a:solidFill>
                  <a:srgbClr val="FBF72C"/>
                </a:solidFill>
                <a:latin typeface="Comic Sans MS" pitchFamily="66" charset="0"/>
              </a:rPr>
              <a:t>i</a:t>
            </a:r>
            <a:r>
              <a:rPr lang="en-US" dirty="0">
                <a:solidFill>
                  <a:srgbClr val="FBF72C"/>
                </a:solidFill>
                <a:latin typeface="Comic Sans MS" pitchFamily="66" charset="0"/>
              </a:rPr>
              <a:t>), 2 (= m), 3, 4, 6</a:t>
            </a:r>
          </a:p>
          <a:p>
            <a:pPr marL="1371600" lvl="2" indent="-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BF72C"/>
              </a:solidFill>
              <a:latin typeface="Comic Sans MS" pitchFamily="66" charset="0"/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682625" y="3767138"/>
            <a:ext cx="795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>
                <a:solidFill>
                  <a:srgbClr val="FBF72C"/>
                </a:solidFill>
                <a:latin typeface="Comic Sans MS" pitchFamily="66" charset="0"/>
              </a:rPr>
              <a:t>Draw point group diagrams (stereographic projections)</a:t>
            </a:r>
          </a:p>
        </p:txBody>
      </p:sp>
      <p:grpSp>
        <p:nvGrpSpPr>
          <p:cNvPr id="59399" name="Group 5"/>
          <p:cNvGrpSpPr>
            <a:grpSpLocks/>
          </p:cNvGrpSpPr>
          <p:nvPr/>
        </p:nvGrpSpPr>
        <p:grpSpPr bwMode="auto">
          <a:xfrm>
            <a:off x="1905000" y="1905000"/>
            <a:ext cx="2324100" cy="0"/>
            <a:chOff x="2584" y="1888"/>
            <a:chExt cx="1464" cy="0"/>
          </a:xfrm>
        </p:grpSpPr>
        <p:sp>
          <p:nvSpPr>
            <p:cNvPr id="59454" name="Line 6"/>
            <p:cNvSpPr>
              <a:spLocks noChangeShapeType="1"/>
            </p:cNvSpPr>
            <p:nvPr/>
          </p:nvSpPr>
          <p:spPr bwMode="auto">
            <a:xfrm>
              <a:off x="2584" y="1888"/>
              <a:ext cx="104" cy="0"/>
            </a:xfrm>
            <a:prstGeom prst="line">
              <a:avLst/>
            </a:prstGeom>
            <a:noFill/>
            <a:ln w="38100">
              <a:solidFill>
                <a:srgbClr val="FBF72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5" name="Line 7"/>
            <p:cNvSpPr>
              <a:spLocks noChangeShapeType="1"/>
            </p:cNvSpPr>
            <p:nvPr/>
          </p:nvSpPr>
          <p:spPr bwMode="auto">
            <a:xfrm>
              <a:off x="3056" y="1888"/>
              <a:ext cx="104" cy="0"/>
            </a:xfrm>
            <a:prstGeom prst="line">
              <a:avLst/>
            </a:prstGeom>
            <a:noFill/>
            <a:ln w="38100">
              <a:solidFill>
                <a:srgbClr val="FBF72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6" name="Line 8"/>
            <p:cNvSpPr>
              <a:spLocks noChangeShapeType="1"/>
            </p:cNvSpPr>
            <p:nvPr/>
          </p:nvSpPr>
          <p:spPr bwMode="auto">
            <a:xfrm>
              <a:off x="3944" y="1888"/>
              <a:ext cx="104" cy="0"/>
            </a:xfrm>
            <a:prstGeom prst="line">
              <a:avLst/>
            </a:prstGeom>
            <a:noFill/>
            <a:ln w="38100">
              <a:solidFill>
                <a:srgbClr val="FBF72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7" name="Line 9"/>
            <p:cNvSpPr>
              <a:spLocks noChangeShapeType="1"/>
            </p:cNvSpPr>
            <p:nvPr/>
          </p:nvSpPr>
          <p:spPr bwMode="auto">
            <a:xfrm>
              <a:off x="3776" y="1888"/>
              <a:ext cx="104" cy="0"/>
            </a:xfrm>
            <a:prstGeom prst="line">
              <a:avLst/>
            </a:prstGeom>
            <a:noFill/>
            <a:ln w="38100">
              <a:solidFill>
                <a:srgbClr val="FBF72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8" name="Line 10"/>
            <p:cNvSpPr>
              <a:spLocks noChangeShapeType="1"/>
            </p:cNvSpPr>
            <p:nvPr/>
          </p:nvSpPr>
          <p:spPr bwMode="auto">
            <a:xfrm>
              <a:off x="3592" y="1888"/>
              <a:ext cx="104" cy="0"/>
            </a:xfrm>
            <a:prstGeom prst="line">
              <a:avLst/>
            </a:prstGeom>
            <a:noFill/>
            <a:ln w="38100">
              <a:solidFill>
                <a:srgbClr val="FBF72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400" name="Group 11"/>
          <p:cNvGrpSpPr>
            <a:grpSpLocks/>
          </p:cNvGrpSpPr>
          <p:nvPr/>
        </p:nvGrpSpPr>
        <p:grpSpPr bwMode="auto">
          <a:xfrm>
            <a:off x="4813300" y="4546600"/>
            <a:ext cx="1765300" cy="1752600"/>
            <a:chOff x="1240" y="2864"/>
            <a:chExt cx="1112" cy="1104"/>
          </a:xfrm>
        </p:grpSpPr>
        <p:sp>
          <p:nvSpPr>
            <p:cNvPr id="59451" name="Oval 12"/>
            <p:cNvSpPr>
              <a:spLocks noChangeArrowheads="1"/>
            </p:cNvSpPr>
            <p:nvPr/>
          </p:nvSpPr>
          <p:spPr bwMode="auto">
            <a:xfrm>
              <a:off x="1240" y="2864"/>
              <a:ext cx="1104" cy="11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Rockwell" pitchFamily="18" charset="0"/>
              </a:endParaRPr>
            </a:p>
          </p:txBody>
        </p:sp>
        <p:sp>
          <p:nvSpPr>
            <p:cNvPr id="59452" name="Line 13"/>
            <p:cNvSpPr>
              <a:spLocks noChangeShapeType="1"/>
            </p:cNvSpPr>
            <p:nvPr/>
          </p:nvSpPr>
          <p:spPr bwMode="auto">
            <a:xfrm>
              <a:off x="1792" y="2864"/>
              <a:ext cx="0" cy="10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3" name="Line 14"/>
            <p:cNvSpPr>
              <a:spLocks noChangeShapeType="1"/>
            </p:cNvSpPr>
            <p:nvPr/>
          </p:nvSpPr>
          <p:spPr bwMode="auto">
            <a:xfrm>
              <a:off x="1240" y="3400"/>
              <a:ext cx="1112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401" name="Group 30"/>
          <p:cNvGrpSpPr>
            <a:grpSpLocks/>
          </p:cNvGrpSpPr>
          <p:nvPr/>
        </p:nvGrpSpPr>
        <p:grpSpPr bwMode="auto">
          <a:xfrm>
            <a:off x="1968500" y="1828800"/>
            <a:ext cx="1765300" cy="4457700"/>
            <a:chOff x="1240" y="1152"/>
            <a:chExt cx="1112" cy="2808"/>
          </a:xfrm>
        </p:grpSpPr>
        <p:grpSp>
          <p:nvGrpSpPr>
            <p:cNvPr id="59446" name="Group 29"/>
            <p:cNvGrpSpPr>
              <a:grpSpLocks/>
            </p:cNvGrpSpPr>
            <p:nvPr/>
          </p:nvGrpSpPr>
          <p:grpSpPr bwMode="auto">
            <a:xfrm>
              <a:off x="1240" y="2856"/>
              <a:ext cx="1112" cy="1104"/>
              <a:chOff x="1240" y="2856"/>
              <a:chExt cx="1112" cy="1104"/>
            </a:xfrm>
          </p:grpSpPr>
          <p:sp>
            <p:nvSpPr>
              <p:cNvPr id="59448" name="Oval 21"/>
              <p:cNvSpPr>
                <a:spLocks noChangeArrowheads="1"/>
              </p:cNvSpPr>
              <p:nvPr/>
            </p:nvSpPr>
            <p:spPr bwMode="auto">
              <a:xfrm>
                <a:off x="1240" y="2856"/>
                <a:ext cx="1104" cy="110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Rockwell" pitchFamily="18" charset="0"/>
                </a:endParaRPr>
              </a:p>
            </p:txBody>
          </p:sp>
          <p:sp>
            <p:nvSpPr>
              <p:cNvPr id="59449" name="Line 22"/>
              <p:cNvSpPr>
                <a:spLocks noChangeShapeType="1"/>
              </p:cNvSpPr>
              <p:nvPr/>
            </p:nvSpPr>
            <p:spPr bwMode="auto">
              <a:xfrm>
                <a:off x="1792" y="2856"/>
                <a:ext cx="0" cy="10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50" name="Line 23"/>
              <p:cNvSpPr>
                <a:spLocks noChangeShapeType="1"/>
              </p:cNvSpPr>
              <p:nvPr/>
            </p:nvSpPr>
            <p:spPr bwMode="auto">
              <a:xfrm>
                <a:off x="1240" y="3392"/>
                <a:ext cx="1112" cy="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9447" name="Oval 24"/>
            <p:cNvSpPr>
              <a:spLocks noChangeArrowheads="1"/>
            </p:cNvSpPr>
            <p:nvPr/>
          </p:nvSpPr>
          <p:spPr bwMode="auto">
            <a:xfrm>
              <a:off x="1560" y="1152"/>
              <a:ext cx="264" cy="256"/>
            </a:xfrm>
            <a:prstGeom prst="ellipse">
              <a:avLst/>
            </a:prstGeom>
            <a:noFill/>
            <a:ln w="38100">
              <a:solidFill>
                <a:srgbClr val="E16BA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Rockwell" pitchFamily="18" charset="0"/>
              </a:endParaRPr>
            </a:p>
          </p:txBody>
        </p:sp>
      </p:grpSp>
      <p:sp>
        <p:nvSpPr>
          <p:cNvPr id="35" name="AutoShape 26"/>
          <p:cNvSpPr>
            <a:spLocks noChangeArrowheads="1"/>
          </p:cNvSpPr>
          <p:nvPr/>
        </p:nvSpPr>
        <p:spPr bwMode="auto">
          <a:xfrm flipV="1">
            <a:off x="5753100" y="5816600"/>
            <a:ext cx="127000" cy="368300"/>
          </a:xfrm>
          <a:prstGeom prst="rtTriangl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sp>
        <p:nvSpPr>
          <p:cNvPr id="36" name="AutoShape 27"/>
          <p:cNvSpPr>
            <a:spLocks noChangeArrowheads="1"/>
          </p:cNvSpPr>
          <p:nvPr/>
        </p:nvSpPr>
        <p:spPr bwMode="auto">
          <a:xfrm flipH="1">
            <a:off x="5486400" y="4635500"/>
            <a:ext cx="127000" cy="368300"/>
          </a:xfrm>
          <a:prstGeom prst="rtTriangle">
            <a:avLst/>
          </a:prstGeom>
          <a:solidFill>
            <a:schemeClr val="tx1">
              <a:alpha val="39999"/>
            </a:schemeClr>
          </a:solidFill>
          <a:ln w="9525">
            <a:solidFill>
              <a:schemeClr val="tx1">
                <a:alpha val="12941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sp>
        <p:nvSpPr>
          <p:cNvPr id="37" name="Text Box 28"/>
          <p:cNvSpPr txBox="1">
            <a:spLocks noChangeArrowheads="1"/>
          </p:cNvSpPr>
          <p:nvPr/>
        </p:nvSpPr>
        <p:spPr bwMode="auto">
          <a:xfrm>
            <a:off x="1800225" y="6251575"/>
            <a:ext cx="4857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BF72C"/>
                </a:solidFill>
                <a:latin typeface="Comic Sans MS" pitchFamily="66" charset="0"/>
              </a:rPr>
              <a:t>symmetry elements            equivalent points</a:t>
            </a:r>
          </a:p>
        </p:txBody>
      </p:sp>
      <p:sp>
        <p:nvSpPr>
          <p:cNvPr id="38" name="Oval 31"/>
          <p:cNvSpPr>
            <a:spLocks noChangeArrowheads="1"/>
          </p:cNvSpPr>
          <p:nvPr/>
        </p:nvSpPr>
        <p:spPr bwMode="auto">
          <a:xfrm>
            <a:off x="1968500" y="4546600"/>
            <a:ext cx="1739900" cy="17399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5626100" y="4806950"/>
            <a:ext cx="646113" cy="1069975"/>
            <a:chOff x="3544" y="3028"/>
            <a:chExt cx="407" cy="674"/>
          </a:xfrm>
        </p:grpSpPr>
        <p:sp>
          <p:nvSpPr>
            <p:cNvPr id="59444" name="Freeform 32"/>
            <p:cNvSpPr>
              <a:spLocks/>
            </p:cNvSpPr>
            <p:nvPr/>
          </p:nvSpPr>
          <p:spPr bwMode="auto">
            <a:xfrm rot="-951659">
              <a:off x="3588" y="3028"/>
              <a:ext cx="363" cy="674"/>
            </a:xfrm>
            <a:custGeom>
              <a:avLst/>
              <a:gdLst>
                <a:gd name="T0" fmla="*/ 50 w 259"/>
                <a:gd name="T1" fmla="*/ 0 h 605"/>
                <a:gd name="T2" fmla="*/ 381 w 259"/>
                <a:gd name="T3" fmla="*/ 129 h 605"/>
                <a:gd name="T4" fmla="*/ 507 w 259"/>
                <a:gd name="T5" fmla="*/ 390 h 605"/>
                <a:gd name="T6" fmla="*/ 366 w 259"/>
                <a:gd name="T7" fmla="*/ 625 h 605"/>
                <a:gd name="T8" fmla="*/ 0 w 259"/>
                <a:gd name="T9" fmla="*/ 751 h 6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9"/>
                <a:gd name="T16" fmla="*/ 0 h 605"/>
                <a:gd name="T17" fmla="*/ 259 w 259"/>
                <a:gd name="T18" fmla="*/ 605 h 6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9" h="605">
                  <a:moveTo>
                    <a:pt x="26" y="0"/>
                  </a:moveTo>
                  <a:cubicBezTo>
                    <a:pt x="90" y="26"/>
                    <a:pt x="155" y="52"/>
                    <a:pt x="194" y="104"/>
                  </a:cubicBezTo>
                  <a:cubicBezTo>
                    <a:pt x="233" y="156"/>
                    <a:pt x="259" y="247"/>
                    <a:pt x="258" y="314"/>
                  </a:cubicBezTo>
                  <a:cubicBezTo>
                    <a:pt x="257" y="381"/>
                    <a:pt x="229" y="455"/>
                    <a:pt x="186" y="504"/>
                  </a:cubicBezTo>
                  <a:cubicBezTo>
                    <a:pt x="143" y="553"/>
                    <a:pt x="34" y="587"/>
                    <a:pt x="0" y="605"/>
                  </a:cubicBezTo>
                </a:path>
              </a:pathLst>
            </a:custGeom>
            <a:noFill/>
            <a:ln w="9525">
              <a:solidFill>
                <a:schemeClr val="tx1">
                  <a:alpha val="39999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5" name="Freeform 33"/>
            <p:cNvSpPr>
              <a:spLocks/>
            </p:cNvSpPr>
            <p:nvPr/>
          </p:nvSpPr>
          <p:spPr bwMode="auto">
            <a:xfrm>
              <a:off x="3544" y="3064"/>
              <a:ext cx="59" cy="35"/>
            </a:xfrm>
            <a:custGeom>
              <a:avLst/>
              <a:gdLst>
                <a:gd name="T0" fmla="*/ 0 w 59"/>
                <a:gd name="T1" fmla="*/ 13 h 35"/>
                <a:gd name="T2" fmla="*/ 59 w 59"/>
                <a:gd name="T3" fmla="*/ 0 h 35"/>
                <a:gd name="T4" fmla="*/ 56 w 59"/>
                <a:gd name="T5" fmla="*/ 35 h 35"/>
                <a:gd name="T6" fmla="*/ 0 w 59"/>
                <a:gd name="T7" fmla="*/ 13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"/>
                <a:gd name="T13" fmla="*/ 0 h 35"/>
                <a:gd name="T14" fmla="*/ 59 w 59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" h="35">
                  <a:moveTo>
                    <a:pt x="0" y="13"/>
                  </a:moveTo>
                  <a:lnTo>
                    <a:pt x="59" y="0"/>
                  </a:lnTo>
                  <a:lnTo>
                    <a:pt x="56" y="35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tx1">
                <a:alpha val="47058"/>
              </a:schemeClr>
            </a:solidFill>
            <a:ln w="9525">
              <a:solidFill>
                <a:schemeClr val="tx1">
                  <a:alpha val="14117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" name="Line 36"/>
          <p:cNvSpPr>
            <a:spLocks noChangeShapeType="1"/>
          </p:cNvSpPr>
          <p:nvPr/>
        </p:nvSpPr>
        <p:spPr bwMode="auto">
          <a:xfrm>
            <a:off x="5600700" y="5033963"/>
            <a:ext cx="160338" cy="723900"/>
          </a:xfrm>
          <a:prstGeom prst="line">
            <a:avLst/>
          </a:prstGeom>
          <a:noFill/>
          <a:ln w="9525">
            <a:solidFill>
              <a:schemeClr val="tx1">
                <a:alpha val="50195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AutoShape 38"/>
          <p:cNvSpPr>
            <a:spLocks noChangeArrowheads="1"/>
          </p:cNvSpPr>
          <p:nvPr/>
        </p:nvSpPr>
        <p:spPr bwMode="auto">
          <a:xfrm flipV="1">
            <a:off x="5727700" y="5770563"/>
            <a:ext cx="203200" cy="546100"/>
          </a:xfrm>
          <a:prstGeom prst="rtTriangl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sp>
        <p:nvSpPr>
          <p:cNvPr id="59409" name="Rectangle 39"/>
          <p:cNvSpPr>
            <a:spLocks noChangeArrowheads="1"/>
          </p:cNvSpPr>
          <p:nvPr/>
        </p:nvSpPr>
        <p:spPr bwMode="auto">
          <a:xfrm>
            <a:off x="5710238" y="6308725"/>
            <a:ext cx="42862" cy="58738"/>
          </a:xfrm>
          <a:prstGeom prst="rect">
            <a:avLst/>
          </a:prstGeom>
          <a:solidFill>
            <a:srgbClr val="3653C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Rockwell" pitchFamily="18" charset="0"/>
            </a:endParaRPr>
          </a:p>
        </p:txBody>
      </p:sp>
      <p:sp>
        <p:nvSpPr>
          <p:cNvPr id="46" name="Oval 2"/>
          <p:cNvSpPr/>
          <p:nvPr/>
        </p:nvSpPr>
        <p:spPr bwMode="auto">
          <a:xfrm>
            <a:off x="7010400" y="1371600"/>
            <a:ext cx="1600200" cy="1524000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47" name="Straight Connector 3"/>
          <p:cNvCxnSpPr/>
          <p:nvPr/>
        </p:nvCxnSpPr>
        <p:spPr bwMode="auto">
          <a:xfrm>
            <a:off x="7010400" y="2133600"/>
            <a:ext cx="160020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"/>
          <p:cNvCxnSpPr/>
          <p:nvPr/>
        </p:nvCxnSpPr>
        <p:spPr bwMode="auto">
          <a:xfrm>
            <a:off x="7810500" y="1371600"/>
            <a:ext cx="0" cy="152400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229600" y="1905000"/>
            <a:ext cx="76200" cy="9207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9412" name="Group 45"/>
          <p:cNvGrpSpPr>
            <a:grpSpLocks/>
          </p:cNvGrpSpPr>
          <p:nvPr/>
        </p:nvGrpSpPr>
        <p:grpSpPr bwMode="auto">
          <a:xfrm>
            <a:off x="4572000" y="533400"/>
            <a:ext cx="1981200" cy="2654300"/>
            <a:chOff x="4572000" y="609600"/>
            <a:chExt cx="1981200" cy="2654299"/>
          </a:xfrm>
        </p:grpSpPr>
        <p:pic>
          <p:nvPicPr>
            <p:cNvPr id="59439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72000" y="990600"/>
              <a:ext cx="1981200" cy="2273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9440" name="Rectangle 51"/>
            <p:cNvSpPr>
              <a:spLocks noChangeArrowheads="1"/>
            </p:cNvSpPr>
            <p:nvPr/>
          </p:nvSpPr>
          <p:spPr bwMode="auto">
            <a:xfrm>
              <a:off x="5334000" y="609600"/>
              <a:ext cx="3545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solidFill>
                    <a:schemeClr val="tx2"/>
                  </a:solidFill>
                  <a:latin typeface="Rockwell" pitchFamily="18" charset="0"/>
                </a:rPr>
                <a:t>2</a:t>
              </a:r>
              <a:endParaRPr lang="en-US" sz="2400">
                <a:latin typeface="Rockwell" pitchFamily="18" charset="0"/>
              </a:endParaRPr>
            </a:p>
          </p:txBody>
        </p:sp>
      </p:grpSp>
      <p:grpSp>
        <p:nvGrpSpPr>
          <p:cNvPr id="59413" name="Group 13"/>
          <p:cNvGrpSpPr>
            <a:grpSpLocks/>
          </p:cNvGrpSpPr>
          <p:nvPr/>
        </p:nvGrpSpPr>
        <p:grpSpPr bwMode="auto">
          <a:xfrm>
            <a:off x="6172200" y="1219200"/>
            <a:ext cx="228600" cy="838200"/>
            <a:chOff x="2743200" y="2057400"/>
            <a:chExt cx="228600" cy="838200"/>
          </a:xfrm>
        </p:grpSpPr>
        <p:grpSp>
          <p:nvGrpSpPr>
            <p:cNvPr id="59430" name="Group 53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56" name="Straight Connector 55"/>
              <p:cNvCxnSpPr/>
              <p:nvPr/>
            </p:nvCxnSpPr>
            <p:spPr>
              <a:xfrm>
                <a:off x="5734050" y="2438210"/>
                <a:ext cx="0" cy="8780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55" name="Oval 54"/>
            <p:cNvSpPr/>
            <p:nvPr/>
          </p:nvSpPr>
          <p:spPr>
            <a:xfrm>
              <a:off x="2819400" y="2849563"/>
              <a:ext cx="46038" cy="46037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9414" name="Group 13"/>
          <p:cNvGrpSpPr>
            <a:grpSpLocks/>
          </p:cNvGrpSpPr>
          <p:nvPr/>
        </p:nvGrpSpPr>
        <p:grpSpPr bwMode="auto">
          <a:xfrm flipV="1">
            <a:off x="6172200" y="2057400"/>
            <a:ext cx="228600" cy="838200"/>
            <a:chOff x="2743200" y="2057400"/>
            <a:chExt cx="228600" cy="838200"/>
          </a:xfrm>
        </p:grpSpPr>
        <p:grpSp>
          <p:nvGrpSpPr>
            <p:cNvPr id="59421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5734050" y="2438209"/>
                <a:ext cx="0" cy="8780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1" name="Oval 60"/>
            <p:cNvSpPr/>
            <p:nvPr/>
          </p:nvSpPr>
          <p:spPr>
            <a:xfrm>
              <a:off x="2819400" y="2849562"/>
              <a:ext cx="46038" cy="46038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5" name="Oval 64"/>
          <p:cNvSpPr>
            <a:spLocks/>
          </p:cNvSpPr>
          <p:nvPr/>
        </p:nvSpPr>
        <p:spPr>
          <a:xfrm>
            <a:off x="8174038" y="1865313"/>
            <a:ext cx="184150" cy="182562"/>
          </a:xfrm>
          <a:prstGeom prst="ellipse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9416" name="Line 43"/>
          <p:cNvSpPr>
            <a:spLocks noChangeShapeType="1"/>
          </p:cNvSpPr>
          <p:nvPr/>
        </p:nvSpPr>
        <p:spPr bwMode="auto">
          <a:xfrm>
            <a:off x="5397500" y="609600"/>
            <a:ext cx="165100" cy="0"/>
          </a:xfrm>
          <a:prstGeom prst="line">
            <a:avLst/>
          </a:prstGeom>
          <a:noFill/>
          <a:ln w="38100">
            <a:solidFill>
              <a:srgbClr val="FBF72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9418" name="Group 67"/>
          <p:cNvGrpSpPr>
            <a:grpSpLocks/>
          </p:cNvGrpSpPr>
          <p:nvPr/>
        </p:nvGrpSpPr>
        <p:grpSpPr bwMode="auto">
          <a:xfrm>
            <a:off x="4876800" y="3200400"/>
            <a:ext cx="2971800" cy="512763"/>
            <a:chOff x="4343400" y="3200400"/>
            <a:chExt cx="2971800" cy="513346"/>
          </a:xfrm>
        </p:grpSpPr>
        <p:sp>
          <p:nvSpPr>
            <p:cNvPr id="69" name="Rectangle 68"/>
            <p:cNvSpPr/>
            <p:nvPr/>
          </p:nvSpPr>
          <p:spPr>
            <a:xfrm>
              <a:off x="4343400" y="3200400"/>
              <a:ext cx="2971800" cy="5133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463550" indent="-463550" algn="just" fontAlgn="auto">
                <a:lnSpc>
                  <a:spcPct val="114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SzPct val="95000"/>
                <a:tabLst>
                  <a:tab pos="2054225" algn="l"/>
                </a:tabLst>
                <a:defRPr/>
              </a:pPr>
              <a:r>
                <a:rPr lang="en-US" sz="2400" b="1" dirty="0">
                  <a:cs typeface="Arial" pitchFamily="34" charset="0"/>
                </a:rPr>
                <a:t>2 </a:t>
              </a:r>
              <a:r>
                <a:rPr lang="en-US" sz="2400" b="1" dirty="0">
                  <a:cs typeface="Arial" pitchFamily="34" charset="0"/>
                  <a:sym typeface="Symbol"/>
                </a:rPr>
                <a:t></a:t>
              </a:r>
              <a:r>
                <a:rPr lang="en-US" sz="2400" b="1" dirty="0">
                  <a:cs typeface="Arial" pitchFamily="34" charset="0"/>
                </a:rPr>
                <a:t> </a:t>
              </a:r>
              <a:r>
                <a:rPr lang="en-US" sz="2400" b="1" i="1" dirty="0">
                  <a:cs typeface="Arial" pitchFamily="34" charset="0"/>
                </a:rPr>
                <a:t>S</a:t>
              </a:r>
              <a:r>
                <a:rPr lang="en-US" sz="2400" b="1" baseline="-25000" dirty="0">
                  <a:cs typeface="Arial" pitchFamily="34" charset="0"/>
                </a:rPr>
                <a:t>1 </a:t>
              </a:r>
              <a:r>
                <a:rPr lang="en-US" sz="2400" b="1" dirty="0">
                  <a:cs typeface="Arial" pitchFamily="34" charset="0"/>
                  <a:sym typeface="Symbol"/>
                </a:rPr>
                <a:t></a:t>
              </a:r>
              <a:r>
                <a:rPr lang="en-US" sz="2400" b="1" i="1" dirty="0">
                  <a:cs typeface="Arial" pitchFamily="34" charset="0"/>
                  <a:sym typeface="Symbol"/>
                </a:rPr>
                <a:t> m</a:t>
              </a:r>
              <a:endParaRPr lang="en-US" sz="2400" b="1" i="1" dirty="0">
                <a:cs typeface="Arial" pitchFamily="34" charset="0"/>
              </a:endParaRPr>
            </a:p>
          </p:txBody>
        </p:sp>
        <p:sp>
          <p:nvSpPr>
            <p:cNvPr id="59420" name="Line 43"/>
            <p:cNvSpPr>
              <a:spLocks noChangeShapeType="1"/>
            </p:cNvSpPr>
            <p:nvPr/>
          </p:nvSpPr>
          <p:spPr bwMode="auto">
            <a:xfrm>
              <a:off x="4419600" y="3276600"/>
              <a:ext cx="165100" cy="0"/>
            </a:xfrm>
            <a:prstGeom prst="line">
              <a:avLst/>
            </a:prstGeom>
            <a:noFill/>
            <a:ln w="38100">
              <a:solidFill>
                <a:srgbClr val="FBF72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" name="Oval 66"/>
          <p:cNvSpPr>
            <a:spLocks/>
          </p:cNvSpPr>
          <p:nvPr/>
        </p:nvSpPr>
        <p:spPr>
          <a:xfrm>
            <a:off x="7753350" y="2057400"/>
            <a:ext cx="147638" cy="14605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 animBg="1"/>
      <p:bldP spid="42" grpId="0" animBg="1"/>
      <p:bldP spid="4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8"/>
          <p:cNvSpPr>
            <a:spLocks noChangeArrowheads="1"/>
          </p:cNvSpPr>
          <p:nvPr/>
        </p:nvSpPr>
        <p:spPr bwMode="auto">
          <a:xfrm>
            <a:off x="-1676400" y="1409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IN">
              <a:latin typeface="Verdan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5E765D-692D-48DC-A1E7-923CA8103AAE}" type="slidenum">
              <a:rPr lang="en-US"/>
              <a:pPr>
                <a:defRPr/>
              </a:pPr>
              <a:t>35</a:t>
            </a:fld>
            <a:endParaRPr lang="en-US"/>
          </a:p>
        </p:txBody>
      </p:sp>
      <p:grpSp>
        <p:nvGrpSpPr>
          <p:cNvPr id="60441" name="Group 67"/>
          <p:cNvGrpSpPr>
            <a:grpSpLocks/>
          </p:cNvGrpSpPr>
          <p:nvPr/>
        </p:nvGrpSpPr>
        <p:grpSpPr bwMode="auto">
          <a:xfrm>
            <a:off x="1219200" y="3428507"/>
            <a:ext cx="2971800" cy="513256"/>
            <a:chOff x="4343400" y="3200400"/>
            <a:chExt cx="2971800" cy="513346"/>
          </a:xfrm>
        </p:grpSpPr>
        <p:sp>
          <p:nvSpPr>
            <p:cNvPr id="69" name="Rectangle 68"/>
            <p:cNvSpPr/>
            <p:nvPr/>
          </p:nvSpPr>
          <p:spPr>
            <a:xfrm>
              <a:off x="4343400" y="3200893"/>
              <a:ext cx="2971800" cy="51285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463550" indent="-463550" algn="just" fontAlgn="auto">
                <a:lnSpc>
                  <a:spcPct val="114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SzPct val="95000"/>
                <a:tabLst>
                  <a:tab pos="2054225" algn="l"/>
                </a:tabLst>
                <a:defRPr/>
              </a:pPr>
              <a:r>
                <a:rPr lang="en-US" sz="2400" b="1" dirty="0">
                  <a:cs typeface="Arial" pitchFamily="34" charset="0"/>
                </a:rPr>
                <a:t>3 </a:t>
              </a:r>
              <a:r>
                <a:rPr lang="en-US" sz="2400" b="1" dirty="0">
                  <a:cs typeface="Arial" pitchFamily="34" charset="0"/>
                  <a:sym typeface="Symbol"/>
                </a:rPr>
                <a:t></a:t>
              </a:r>
              <a:r>
                <a:rPr lang="en-US" sz="2400" b="1" dirty="0">
                  <a:cs typeface="Arial" pitchFamily="34" charset="0"/>
                </a:rPr>
                <a:t> </a:t>
              </a:r>
              <a:r>
                <a:rPr lang="en-US" sz="2400" b="1" i="1" dirty="0">
                  <a:cs typeface="Arial" pitchFamily="34" charset="0"/>
                </a:rPr>
                <a:t>S</a:t>
              </a:r>
              <a:r>
                <a:rPr lang="en-US" sz="2400" b="1" baseline="-25000" dirty="0">
                  <a:cs typeface="Arial" pitchFamily="34" charset="0"/>
                </a:rPr>
                <a:t>6</a:t>
              </a:r>
              <a:endParaRPr lang="en-US" sz="2400" b="1" i="1" dirty="0">
                <a:cs typeface="Arial" pitchFamily="34" charset="0"/>
              </a:endParaRPr>
            </a:p>
          </p:txBody>
        </p:sp>
        <p:sp>
          <p:nvSpPr>
            <p:cNvPr id="60519" name="Line 43"/>
            <p:cNvSpPr>
              <a:spLocks noChangeShapeType="1"/>
            </p:cNvSpPr>
            <p:nvPr/>
          </p:nvSpPr>
          <p:spPr bwMode="auto">
            <a:xfrm>
              <a:off x="4419600" y="3276600"/>
              <a:ext cx="165100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0444" name="Group 45"/>
          <p:cNvGrpSpPr>
            <a:grpSpLocks/>
          </p:cNvGrpSpPr>
          <p:nvPr/>
        </p:nvGrpSpPr>
        <p:grpSpPr bwMode="auto">
          <a:xfrm>
            <a:off x="1066800" y="609600"/>
            <a:ext cx="1981200" cy="2730021"/>
            <a:chOff x="4572000" y="533400"/>
            <a:chExt cx="1981200" cy="2730499"/>
          </a:xfrm>
        </p:grpSpPr>
        <p:pic>
          <p:nvPicPr>
            <p:cNvPr id="60513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72000" y="990600"/>
              <a:ext cx="1981200" cy="2273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514" name="Rectangle 95"/>
            <p:cNvSpPr>
              <a:spLocks noChangeArrowheads="1"/>
            </p:cNvSpPr>
            <p:nvPr/>
          </p:nvSpPr>
          <p:spPr bwMode="auto">
            <a:xfrm>
              <a:off x="5355336" y="533400"/>
              <a:ext cx="3545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solidFill>
                    <a:schemeClr val="tx2"/>
                  </a:solidFill>
                  <a:latin typeface="Verdana" pitchFamily="34" charset="0"/>
                </a:rPr>
                <a:t>3</a:t>
              </a:r>
              <a:endParaRPr lang="en-US" sz="2400">
                <a:latin typeface="Verdana" pitchFamily="34" charset="0"/>
              </a:endParaRPr>
            </a:p>
          </p:txBody>
        </p:sp>
      </p:grpSp>
      <p:grpSp>
        <p:nvGrpSpPr>
          <p:cNvPr id="60445" name="Group 13"/>
          <p:cNvGrpSpPr>
            <a:grpSpLocks/>
          </p:cNvGrpSpPr>
          <p:nvPr/>
        </p:nvGrpSpPr>
        <p:grpSpPr bwMode="auto">
          <a:xfrm>
            <a:off x="2667000" y="1371467"/>
            <a:ext cx="228600" cy="838053"/>
            <a:chOff x="2743200" y="2057400"/>
            <a:chExt cx="228600" cy="838200"/>
          </a:xfrm>
        </p:grpSpPr>
        <p:grpSp>
          <p:nvGrpSpPr>
            <p:cNvPr id="60504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92" name="Straight Connector 91"/>
              <p:cNvCxnSpPr/>
              <p:nvPr/>
            </p:nvCxnSpPr>
            <p:spPr>
              <a:xfrm>
                <a:off x="5734050" y="2438426"/>
                <a:ext cx="0" cy="8781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91" name="Oval 90"/>
            <p:cNvSpPr/>
            <p:nvPr/>
          </p:nvSpPr>
          <p:spPr>
            <a:xfrm>
              <a:off x="2819400" y="2849835"/>
              <a:ext cx="46038" cy="46045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0446" name="Group 13"/>
          <p:cNvGrpSpPr>
            <a:grpSpLocks/>
          </p:cNvGrpSpPr>
          <p:nvPr/>
        </p:nvGrpSpPr>
        <p:grpSpPr bwMode="auto">
          <a:xfrm>
            <a:off x="1600200" y="1219093"/>
            <a:ext cx="228600" cy="838053"/>
            <a:chOff x="2743200" y="2057400"/>
            <a:chExt cx="228600" cy="838200"/>
          </a:xfrm>
        </p:grpSpPr>
        <p:grpSp>
          <p:nvGrpSpPr>
            <p:cNvPr id="60495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5734050" y="2438391"/>
                <a:ext cx="0" cy="8781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86" name="Oval 85"/>
            <p:cNvSpPr/>
            <p:nvPr/>
          </p:nvSpPr>
          <p:spPr>
            <a:xfrm>
              <a:off x="2819400" y="2849809"/>
              <a:ext cx="46038" cy="46045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0448" name="Group 13"/>
          <p:cNvGrpSpPr>
            <a:grpSpLocks/>
          </p:cNvGrpSpPr>
          <p:nvPr/>
        </p:nvGrpSpPr>
        <p:grpSpPr bwMode="auto">
          <a:xfrm>
            <a:off x="1371600" y="1600027"/>
            <a:ext cx="228600" cy="838053"/>
            <a:chOff x="2743200" y="2057400"/>
            <a:chExt cx="228600" cy="838200"/>
          </a:xfrm>
        </p:grpSpPr>
        <p:grpSp>
          <p:nvGrpSpPr>
            <p:cNvPr id="60486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5734050" y="2438479"/>
                <a:ext cx="0" cy="8781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81" name="Oval 80"/>
            <p:cNvSpPr/>
            <p:nvPr/>
          </p:nvSpPr>
          <p:spPr>
            <a:xfrm>
              <a:off x="2819400" y="2849875"/>
              <a:ext cx="46038" cy="46045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0452" name="Line 43"/>
          <p:cNvSpPr>
            <a:spLocks noChangeShapeType="1"/>
          </p:cNvSpPr>
          <p:nvPr/>
        </p:nvSpPr>
        <p:spPr bwMode="auto">
          <a:xfrm>
            <a:off x="1968500" y="685787"/>
            <a:ext cx="165100" cy="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0" name="Group 79"/>
          <p:cNvGrpSpPr/>
          <p:nvPr/>
        </p:nvGrpSpPr>
        <p:grpSpPr>
          <a:xfrm>
            <a:off x="3505200" y="1523840"/>
            <a:ext cx="1600200" cy="1523733"/>
            <a:chOff x="3505200" y="1523840"/>
            <a:chExt cx="1600200" cy="1523733"/>
          </a:xfrm>
        </p:grpSpPr>
        <p:grpSp>
          <p:nvGrpSpPr>
            <p:cNvPr id="60442" name="Group 11"/>
            <p:cNvGrpSpPr>
              <a:grpSpLocks/>
            </p:cNvGrpSpPr>
            <p:nvPr/>
          </p:nvGrpSpPr>
          <p:grpSpPr bwMode="auto">
            <a:xfrm>
              <a:off x="3505200" y="1523840"/>
              <a:ext cx="1600200" cy="1523733"/>
              <a:chOff x="6858000" y="1676400"/>
              <a:chExt cx="1600200" cy="1524000"/>
            </a:xfrm>
          </p:grpSpPr>
          <p:sp>
            <p:nvSpPr>
              <p:cNvPr id="97" name="Oval 2"/>
              <p:cNvSpPr/>
              <p:nvPr/>
            </p:nvSpPr>
            <p:spPr>
              <a:xfrm>
                <a:off x="6858000" y="1676560"/>
                <a:ext cx="1600200" cy="1524267"/>
              </a:xfrm>
              <a:prstGeom prst="ellipse">
                <a:avLst/>
              </a:prstGeom>
              <a:noFill/>
              <a:ln>
                <a:solidFill>
                  <a:srgbClr val="00206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98" name="Straight Connector 3"/>
              <p:cNvCxnSpPr/>
              <p:nvPr/>
            </p:nvCxnSpPr>
            <p:spPr>
              <a:xfrm>
                <a:off x="6858000" y="2438694"/>
                <a:ext cx="1600200" cy="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4"/>
              <p:cNvCxnSpPr/>
              <p:nvPr/>
            </p:nvCxnSpPr>
            <p:spPr>
              <a:xfrm>
                <a:off x="7658100" y="1676560"/>
                <a:ext cx="0" cy="1524267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Oval 70"/>
            <p:cNvSpPr/>
            <p:nvPr/>
          </p:nvSpPr>
          <p:spPr bwMode="auto">
            <a:xfrm>
              <a:off x="4800600" y="2117725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6" name="Oval 75"/>
            <p:cNvSpPr/>
            <p:nvPr/>
          </p:nvSpPr>
          <p:spPr bwMode="auto">
            <a:xfrm>
              <a:off x="4114800" y="2727325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8" name="Isosceles Triangle 77"/>
            <p:cNvSpPr/>
            <p:nvPr/>
          </p:nvSpPr>
          <p:spPr bwMode="auto">
            <a:xfrm>
              <a:off x="4191000" y="2133600"/>
              <a:ext cx="228600" cy="228600"/>
            </a:xfrm>
            <a:prstGeom prst="triangl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9" name="Oval 78"/>
            <p:cNvSpPr/>
            <p:nvPr/>
          </p:nvSpPr>
          <p:spPr bwMode="auto">
            <a:xfrm>
              <a:off x="3810000" y="1905000"/>
              <a:ext cx="76200" cy="90488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7" name="Oval 66"/>
            <p:cNvSpPr>
              <a:spLocks/>
            </p:cNvSpPr>
            <p:nvPr/>
          </p:nvSpPr>
          <p:spPr bwMode="auto">
            <a:xfrm>
              <a:off x="4233672" y="2209800"/>
              <a:ext cx="146050" cy="1460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2" name="Oval 101"/>
            <p:cNvSpPr>
              <a:spLocks/>
            </p:cNvSpPr>
            <p:nvPr/>
          </p:nvSpPr>
          <p:spPr bwMode="auto">
            <a:xfrm>
              <a:off x="4605338" y="2590800"/>
              <a:ext cx="119062" cy="119063"/>
            </a:xfrm>
            <a:prstGeom prst="ellipse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3" name="Oval 102"/>
            <p:cNvSpPr>
              <a:spLocks/>
            </p:cNvSpPr>
            <p:nvPr/>
          </p:nvSpPr>
          <p:spPr bwMode="auto">
            <a:xfrm>
              <a:off x="4343400" y="1752600"/>
              <a:ext cx="119063" cy="119063"/>
            </a:xfrm>
            <a:prstGeom prst="ellipse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4" name="Oval 103"/>
            <p:cNvSpPr>
              <a:spLocks/>
            </p:cNvSpPr>
            <p:nvPr/>
          </p:nvSpPr>
          <p:spPr bwMode="auto">
            <a:xfrm>
              <a:off x="3733800" y="2362200"/>
              <a:ext cx="119063" cy="119063"/>
            </a:xfrm>
            <a:prstGeom prst="ellipse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0456" name="Group 13"/>
          <p:cNvGrpSpPr>
            <a:grpSpLocks/>
          </p:cNvGrpSpPr>
          <p:nvPr/>
        </p:nvGrpSpPr>
        <p:grpSpPr bwMode="auto">
          <a:xfrm flipV="1">
            <a:off x="2362200" y="1980960"/>
            <a:ext cx="228600" cy="838053"/>
            <a:chOff x="2743200" y="2057400"/>
            <a:chExt cx="228600" cy="838200"/>
          </a:xfrm>
        </p:grpSpPr>
        <p:grpSp>
          <p:nvGrpSpPr>
            <p:cNvPr id="60477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08" name="Straight Connector 107"/>
              <p:cNvCxnSpPr/>
              <p:nvPr/>
            </p:nvCxnSpPr>
            <p:spPr>
              <a:xfrm>
                <a:off x="5734050" y="2437738"/>
                <a:ext cx="0" cy="878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07" name="Oval 106"/>
            <p:cNvSpPr/>
            <p:nvPr/>
          </p:nvSpPr>
          <p:spPr>
            <a:xfrm>
              <a:off x="2819400" y="2849314"/>
              <a:ext cx="46038" cy="46046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0457" name="Group 13"/>
          <p:cNvGrpSpPr>
            <a:grpSpLocks/>
          </p:cNvGrpSpPr>
          <p:nvPr/>
        </p:nvGrpSpPr>
        <p:grpSpPr bwMode="auto">
          <a:xfrm flipV="1">
            <a:off x="2590800" y="2361893"/>
            <a:ext cx="228600" cy="838053"/>
            <a:chOff x="2743200" y="2057400"/>
            <a:chExt cx="228600" cy="838200"/>
          </a:xfrm>
        </p:grpSpPr>
        <p:grpSp>
          <p:nvGrpSpPr>
            <p:cNvPr id="60468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14" name="Straight Connector 113"/>
              <p:cNvCxnSpPr/>
              <p:nvPr/>
            </p:nvCxnSpPr>
            <p:spPr>
              <a:xfrm>
                <a:off x="5734050" y="2437650"/>
                <a:ext cx="0" cy="878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2819400" y="2849247"/>
              <a:ext cx="46038" cy="46046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0458" name="Group 13"/>
          <p:cNvGrpSpPr>
            <a:grpSpLocks/>
          </p:cNvGrpSpPr>
          <p:nvPr/>
        </p:nvGrpSpPr>
        <p:grpSpPr bwMode="auto">
          <a:xfrm flipV="1">
            <a:off x="1219200" y="2133333"/>
            <a:ext cx="228600" cy="838053"/>
            <a:chOff x="2743200" y="2057400"/>
            <a:chExt cx="228600" cy="838200"/>
          </a:xfrm>
        </p:grpSpPr>
        <p:grpSp>
          <p:nvGrpSpPr>
            <p:cNvPr id="60459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>
                <a:off x="5734050" y="2437702"/>
                <a:ext cx="0" cy="878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19" name="Oval 118"/>
            <p:cNvSpPr/>
            <p:nvPr/>
          </p:nvSpPr>
          <p:spPr>
            <a:xfrm>
              <a:off x="2819400" y="2849287"/>
              <a:ext cx="46038" cy="46046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9" name="Group 144"/>
          <p:cNvGrpSpPr>
            <a:grpSpLocks/>
          </p:cNvGrpSpPr>
          <p:nvPr/>
        </p:nvGrpSpPr>
        <p:grpSpPr bwMode="auto">
          <a:xfrm>
            <a:off x="457200" y="2286000"/>
            <a:ext cx="8153400" cy="4114800"/>
            <a:chOff x="457200" y="2286000"/>
            <a:chExt cx="8153400" cy="4114800"/>
          </a:xfrm>
        </p:grpSpPr>
        <p:pic>
          <p:nvPicPr>
            <p:cNvPr id="60422" name="Picture 5" descr="pg_bar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124200" y="3657600"/>
              <a:ext cx="3657600" cy="2743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0423" name="Picture 10" descr="C3h solid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315200" y="4800600"/>
              <a:ext cx="981075" cy="1590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0424" name="Picture 12" descr="B(CO)3">
              <a:hlinkClick r:id="rId6"/>
            </p:cNvPr>
            <p:cNvPicPr>
              <a:picLocks noChangeAspect="1" noChangeArrowheads="1" noCrop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57200" y="4572000"/>
              <a:ext cx="1752600" cy="1752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0425" name="Group 8"/>
            <p:cNvGrpSpPr>
              <a:grpSpLocks/>
            </p:cNvGrpSpPr>
            <p:nvPr/>
          </p:nvGrpSpPr>
          <p:grpSpPr bwMode="auto">
            <a:xfrm>
              <a:off x="3200400" y="4953000"/>
              <a:ext cx="381000" cy="990600"/>
              <a:chOff x="2438400" y="5486400"/>
              <a:chExt cx="381000" cy="990600"/>
            </a:xfrm>
          </p:grpSpPr>
          <p:sp>
            <p:nvSpPr>
              <p:cNvPr id="60439" name="Text Box 6"/>
              <p:cNvSpPr txBox="1">
                <a:spLocks noChangeArrowheads="1"/>
              </p:cNvSpPr>
              <p:nvPr/>
            </p:nvSpPr>
            <p:spPr bwMode="auto">
              <a:xfrm>
                <a:off x="2438400" y="5892225"/>
                <a:ext cx="381000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3200" b="1">
                    <a:latin typeface="Verdana" pitchFamily="34" charset="0"/>
                  </a:rPr>
                  <a:t>3</a:t>
                </a:r>
              </a:p>
            </p:txBody>
          </p:sp>
          <p:sp>
            <p:nvSpPr>
              <p:cNvPr id="60440" name="Text Box 6"/>
              <p:cNvSpPr txBox="1">
                <a:spLocks noChangeArrowheads="1"/>
              </p:cNvSpPr>
              <p:nvPr/>
            </p:nvSpPr>
            <p:spPr bwMode="auto">
              <a:xfrm>
                <a:off x="2438400" y="5486400"/>
                <a:ext cx="381000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3200" b="1">
                    <a:latin typeface="Verdana" pitchFamily="34" charset="0"/>
                  </a:rPr>
                  <a:t>_</a:t>
                </a:r>
              </a:p>
            </p:txBody>
          </p:sp>
        </p:grpSp>
        <p:grpSp>
          <p:nvGrpSpPr>
            <p:cNvPr id="60426" name="Group 31"/>
            <p:cNvGrpSpPr>
              <a:grpSpLocks/>
            </p:cNvGrpSpPr>
            <p:nvPr/>
          </p:nvGrpSpPr>
          <p:grpSpPr bwMode="auto">
            <a:xfrm>
              <a:off x="6858000" y="2286000"/>
              <a:ext cx="1752600" cy="1676400"/>
              <a:chOff x="6400800" y="838200"/>
              <a:chExt cx="1752600" cy="1676400"/>
            </a:xfrm>
          </p:grpSpPr>
          <p:sp>
            <p:nvSpPr>
              <p:cNvPr id="60428" name="Oval 41"/>
              <p:cNvSpPr>
                <a:spLocks noChangeArrowheads="1"/>
              </p:cNvSpPr>
              <p:nvPr/>
            </p:nvSpPr>
            <p:spPr bwMode="auto">
              <a:xfrm>
                <a:off x="6400800" y="838200"/>
                <a:ext cx="1752600" cy="16764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>
                  <a:latin typeface="Verdana" pitchFamily="34" charset="0"/>
                </a:endParaRPr>
              </a:p>
            </p:txBody>
          </p:sp>
          <p:cxnSp>
            <p:nvCxnSpPr>
              <p:cNvPr id="132" name="Straight Connector 131"/>
              <p:cNvCxnSpPr>
                <a:stCxn id="60428" idx="2"/>
                <a:endCxn id="60428" idx="6"/>
              </p:cNvCxnSpPr>
              <p:nvPr/>
            </p:nvCxnSpPr>
            <p:spPr>
              <a:xfrm rot="10800000" flipH="1">
                <a:off x="6400800" y="1676400"/>
                <a:ext cx="1752600" cy="1588"/>
              </a:xfrm>
              <a:prstGeom prst="line">
                <a:avLst/>
              </a:prstGeom>
              <a:ln w="19050">
                <a:solidFill>
                  <a:srgbClr val="00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rot="16200000" flipH="1">
                <a:off x="6591300" y="1181100"/>
                <a:ext cx="1371600" cy="990600"/>
              </a:xfrm>
              <a:prstGeom prst="line">
                <a:avLst/>
              </a:prstGeom>
              <a:ln w="19050">
                <a:solidFill>
                  <a:srgbClr val="00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 rot="5400000" flipH="1" flipV="1">
                <a:off x="6515100" y="1257300"/>
                <a:ext cx="1524000" cy="838200"/>
              </a:xfrm>
              <a:prstGeom prst="line">
                <a:avLst/>
              </a:prstGeom>
              <a:ln w="19050">
                <a:solidFill>
                  <a:srgbClr val="00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Isosceles Triangle 134"/>
              <p:cNvSpPr/>
              <p:nvPr/>
            </p:nvSpPr>
            <p:spPr>
              <a:xfrm>
                <a:off x="7162800" y="1524000"/>
                <a:ext cx="228600" cy="228600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IN"/>
              </a:p>
            </p:txBody>
          </p:sp>
          <p:sp>
            <p:nvSpPr>
              <p:cNvPr id="60433" name="TextBox 19"/>
              <p:cNvSpPr txBox="1">
                <a:spLocks noChangeArrowheads="1"/>
              </p:cNvSpPr>
              <p:nvPr/>
            </p:nvSpPr>
            <p:spPr bwMode="auto">
              <a:xfrm>
                <a:off x="6858000" y="838200"/>
                <a:ext cx="2286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>
                    <a:latin typeface="Verdana" pitchFamily="34" charset="0"/>
                  </a:rPr>
                  <a:t>+</a:t>
                </a:r>
                <a:endParaRPr lang="en-IN">
                  <a:latin typeface="Verdana" pitchFamily="34" charset="0"/>
                </a:endParaRPr>
              </a:p>
            </p:txBody>
          </p:sp>
          <p:sp>
            <p:nvSpPr>
              <p:cNvPr id="60434" name="TextBox 20"/>
              <p:cNvSpPr txBox="1">
                <a:spLocks noChangeArrowheads="1"/>
              </p:cNvSpPr>
              <p:nvPr/>
            </p:nvSpPr>
            <p:spPr bwMode="auto">
              <a:xfrm>
                <a:off x="7924800" y="1600200"/>
                <a:ext cx="2286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>
                    <a:latin typeface="Verdana" pitchFamily="34" charset="0"/>
                  </a:rPr>
                  <a:t>+</a:t>
                </a:r>
                <a:endParaRPr lang="en-IN">
                  <a:latin typeface="Verdana" pitchFamily="34" charset="0"/>
                </a:endParaRPr>
              </a:p>
            </p:txBody>
          </p:sp>
          <p:sp>
            <p:nvSpPr>
              <p:cNvPr id="60435" name="TextBox 21"/>
              <p:cNvSpPr txBox="1">
                <a:spLocks noChangeArrowheads="1"/>
              </p:cNvSpPr>
              <p:nvPr/>
            </p:nvSpPr>
            <p:spPr bwMode="auto">
              <a:xfrm>
                <a:off x="6705600" y="2069068"/>
                <a:ext cx="2286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>
                    <a:latin typeface="Verdana" pitchFamily="34" charset="0"/>
                  </a:rPr>
                  <a:t>+</a:t>
                </a:r>
                <a:endParaRPr lang="en-IN">
                  <a:latin typeface="Verdana" pitchFamily="34" charset="0"/>
                </a:endParaRPr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7664450" y="1035050"/>
                <a:ext cx="107950" cy="10795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IN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6445250" y="1492250"/>
                <a:ext cx="107950" cy="10795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IN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7543800" y="2254250"/>
                <a:ext cx="107950" cy="10795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IN"/>
              </a:p>
            </p:txBody>
          </p:sp>
        </p:grpSp>
        <p:sp>
          <p:nvSpPr>
            <p:cNvPr id="143" name="Oval 142"/>
            <p:cNvSpPr>
              <a:spLocks/>
            </p:cNvSpPr>
            <p:nvPr/>
          </p:nvSpPr>
          <p:spPr>
            <a:xfrm>
              <a:off x="7662863" y="3054350"/>
              <a:ext cx="146050" cy="1460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/>
          <p:cNvSpPr>
            <a:spLocks noChangeArrowheads="1"/>
          </p:cNvSpPr>
          <p:nvPr/>
        </p:nvSpPr>
        <p:spPr bwMode="auto">
          <a:xfrm>
            <a:off x="-1676400" y="1409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IN">
              <a:latin typeface="Verdan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341DD4-AA1D-423E-B467-C1A73C552662}" type="slidenum">
              <a:rPr lang="en-US"/>
              <a:pPr>
                <a:defRPr/>
              </a:pPr>
              <a:t>36</a:t>
            </a:fld>
            <a:endParaRPr lang="en-US"/>
          </a:p>
        </p:txBody>
      </p:sp>
      <p:grpSp>
        <p:nvGrpSpPr>
          <p:cNvPr id="61444" name="Group 45"/>
          <p:cNvGrpSpPr>
            <a:grpSpLocks/>
          </p:cNvGrpSpPr>
          <p:nvPr/>
        </p:nvGrpSpPr>
        <p:grpSpPr bwMode="auto">
          <a:xfrm>
            <a:off x="609600" y="381000"/>
            <a:ext cx="1981200" cy="2730500"/>
            <a:chOff x="4572000" y="533400"/>
            <a:chExt cx="1981200" cy="2730499"/>
          </a:xfrm>
        </p:grpSpPr>
        <p:pic>
          <p:nvPicPr>
            <p:cNvPr id="6150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72000" y="990600"/>
              <a:ext cx="1981200" cy="2273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509" name="Rectangle 95"/>
            <p:cNvSpPr>
              <a:spLocks noChangeArrowheads="1"/>
            </p:cNvSpPr>
            <p:nvPr/>
          </p:nvSpPr>
          <p:spPr bwMode="auto">
            <a:xfrm>
              <a:off x="5355336" y="533400"/>
              <a:ext cx="40427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solidFill>
                    <a:schemeClr val="tx2"/>
                  </a:solidFill>
                  <a:latin typeface="Verdana" pitchFamily="34" charset="0"/>
                </a:rPr>
                <a:t>4</a:t>
              </a:r>
              <a:endParaRPr lang="en-US" sz="2400">
                <a:latin typeface="Verdana" pitchFamily="34" charset="0"/>
              </a:endParaRPr>
            </a:p>
          </p:txBody>
        </p:sp>
      </p:grpSp>
      <p:grpSp>
        <p:nvGrpSpPr>
          <p:cNvPr id="61445" name="Group 13"/>
          <p:cNvGrpSpPr>
            <a:grpSpLocks/>
          </p:cNvGrpSpPr>
          <p:nvPr/>
        </p:nvGrpSpPr>
        <p:grpSpPr bwMode="auto">
          <a:xfrm>
            <a:off x="2209800" y="1143000"/>
            <a:ext cx="228600" cy="838200"/>
            <a:chOff x="2743200" y="2057400"/>
            <a:chExt cx="228600" cy="838200"/>
          </a:xfrm>
        </p:grpSpPr>
        <p:grpSp>
          <p:nvGrpSpPr>
            <p:cNvPr id="61499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92" name="Straight Connector 91"/>
              <p:cNvCxnSpPr/>
              <p:nvPr/>
            </p:nvCxnSpPr>
            <p:spPr>
              <a:xfrm>
                <a:off x="5734050" y="2438210"/>
                <a:ext cx="0" cy="8780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91" name="Oval 90"/>
            <p:cNvSpPr/>
            <p:nvPr/>
          </p:nvSpPr>
          <p:spPr>
            <a:xfrm>
              <a:off x="2819400" y="2849563"/>
              <a:ext cx="46038" cy="46037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1446" name="Group 13"/>
          <p:cNvGrpSpPr>
            <a:grpSpLocks/>
          </p:cNvGrpSpPr>
          <p:nvPr/>
        </p:nvGrpSpPr>
        <p:grpSpPr bwMode="auto">
          <a:xfrm>
            <a:off x="762000" y="1143000"/>
            <a:ext cx="228600" cy="838200"/>
            <a:chOff x="2743200" y="2057400"/>
            <a:chExt cx="228600" cy="838200"/>
          </a:xfrm>
        </p:grpSpPr>
        <p:grpSp>
          <p:nvGrpSpPr>
            <p:cNvPr id="61490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5734050" y="2438210"/>
                <a:ext cx="0" cy="8780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81" name="Oval 80"/>
            <p:cNvSpPr/>
            <p:nvPr/>
          </p:nvSpPr>
          <p:spPr>
            <a:xfrm>
              <a:off x="2819400" y="2849563"/>
              <a:ext cx="46038" cy="46037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1447" name="Line 43"/>
          <p:cNvSpPr>
            <a:spLocks noChangeShapeType="1"/>
          </p:cNvSpPr>
          <p:nvPr/>
        </p:nvSpPr>
        <p:spPr bwMode="auto">
          <a:xfrm>
            <a:off x="1511300" y="457200"/>
            <a:ext cx="165100" cy="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448" name="Group 13"/>
          <p:cNvGrpSpPr>
            <a:grpSpLocks/>
          </p:cNvGrpSpPr>
          <p:nvPr/>
        </p:nvGrpSpPr>
        <p:grpSpPr bwMode="auto">
          <a:xfrm flipV="1">
            <a:off x="1371600" y="1752600"/>
            <a:ext cx="228600" cy="838200"/>
            <a:chOff x="2743200" y="2057400"/>
            <a:chExt cx="228600" cy="838200"/>
          </a:xfrm>
        </p:grpSpPr>
        <p:grpSp>
          <p:nvGrpSpPr>
            <p:cNvPr id="61481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>
                <a:off x="5734050" y="2438209"/>
                <a:ext cx="0" cy="8780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19" name="Oval 118"/>
            <p:cNvSpPr/>
            <p:nvPr/>
          </p:nvSpPr>
          <p:spPr>
            <a:xfrm>
              <a:off x="2819400" y="2849562"/>
              <a:ext cx="46038" cy="46038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1449" name="Group 13"/>
          <p:cNvGrpSpPr>
            <a:grpSpLocks/>
          </p:cNvGrpSpPr>
          <p:nvPr/>
        </p:nvGrpSpPr>
        <p:grpSpPr bwMode="auto">
          <a:xfrm flipV="1">
            <a:off x="1600200" y="2286000"/>
            <a:ext cx="228600" cy="838200"/>
            <a:chOff x="2743200" y="2057400"/>
            <a:chExt cx="228600" cy="838200"/>
          </a:xfrm>
        </p:grpSpPr>
        <p:grpSp>
          <p:nvGrpSpPr>
            <p:cNvPr id="61472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08" name="Straight Connector 107"/>
              <p:cNvCxnSpPr/>
              <p:nvPr/>
            </p:nvCxnSpPr>
            <p:spPr>
              <a:xfrm>
                <a:off x="5734050" y="2438209"/>
                <a:ext cx="0" cy="8780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07" name="Oval 106"/>
            <p:cNvSpPr/>
            <p:nvPr/>
          </p:nvSpPr>
          <p:spPr>
            <a:xfrm>
              <a:off x="2819400" y="2849562"/>
              <a:ext cx="46038" cy="46038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2" name="Group 148"/>
          <p:cNvGrpSpPr>
            <a:grpSpLocks/>
          </p:cNvGrpSpPr>
          <p:nvPr/>
        </p:nvGrpSpPr>
        <p:grpSpPr bwMode="auto">
          <a:xfrm>
            <a:off x="457200" y="3200400"/>
            <a:ext cx="8382000" cy="3352800"/>
            <a:chOff x="457200" y="3200400"/>
            <a:chExt cx="8382000" cy="3352800"/>
          </a:xfrm>
        </p:grpSpPr>
        <p:grpSp>
          <p:nvGrpSpPr>
            <p:cNvPr id="61463" name="Group 67"/>
            <p:cNvGrpSpPr>
              <a:grpSpLocks/>
            </p:cNvGrpSpPr>
            <p:nvPr/>
          </p:nvGrpSpPr>
          <p:grpSpPr bwMode="auto">
            <a:xfrm>
              <a:off x="1143000" y="3200400"/>
              <a:ext cx="1219200" cy="512763"/>
              <a:chOff x="3786187" y="3200400"/>
              <a:chExt cx="2971800" cy="512763"/>
            </a:xfrm>
          </p:grpSpPr>
          <p:sp>
            <p:nvSpPr>
              <p:cNvPr id="69" name="Rectangle 68"/>
              <p:cNvSpPr/>
              <p:nvPr/>
            </p:nvSpPr>
            <p:spPr>
              <a:xfrm>
                <a:off x="3786187" y="3200400"/>
                <a:ext cx="2971800" cy="51276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63550" indent="-463550" algn="just" fontAlgn="auto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3"/>
                  </a:buClr>
                  <a:buSzPct val="95000"/>
                  <a:tabLst>
                    <a:tab pos="2054225" algn="l"/>
                  </a:tabLst>
                  <a:defRPr/>
                </a:pPr>
                <a:r>
                  <a:rPr lang="en-US" sz="2400" b="1" dirty="0">
                    <a:cs typeface="Arial" pitchFamily="34" charset="0"/>
                  </a:rPr>
                  <a:t>4 </a:t>
                </a:r>
                <a:r>
                  <a:rPr lang="en-US" sz="2400" b="1" dirty="0">
                    <a:cs typeface="Arial" pitchFamily="34" charset="0"/>
                    <a:sym typeface="Symbol"/>
                  </a:rPr>
                  <a:t></a:t>
                </a:r>
                <a:r>
                  <a:rPr lang="en-US" sz="2400" b="1" dirty="0">
                    <a:cs typeface="Arial" pitchFamily="34" charset="0"/>
                  </a:rPr>
                  <a:t> </a:t>
                </a:r>
                <a:r>
                  <a:rPr lang="en-US" sz="2400" b="1" i="1" dirty="0">
                    <a:cs typeface="Arial" pitchFamily="34" charset="0"/>
                  </a:rPr>
                  <a:t>S</a:t>
                </a:r>
                <a:r>
                  <a:rPr lang="en-US" sz="2400" b="1" baseline="-25000" dirty="0">
                    <a:cs typeface="Arial" pitchFamily="34" charset="0"/>
                  </a:rPr>
                  <a:t>4</a:t>
                </a:r>
                <a:endParaRPr lang="en-US" sz="2400" b="1" i="1" dirty="0">
                  <a:cs typeface="Arial" pitchFamily="34" charset="0"/>
                </a:endParaRPr>
              </a:p>
            </p:txBody>
          </p:sp>
          <p:sp>
            <p:nvSpPr>
              <p:cNvPr id="61471" name="Line 43"/>
              <p:cNvSpPr>
                <a:spLocks noChangeShapeType="1"/>
              </p:cNvSpPr>
              <p:nvPr/>
            </p:nvSpPr>
            <p:spPr bwMode="auto">
              <a:xfrm>
                <a:off x="4157662" y="3276600"/>
                <a:ext cx="295274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61464" name="Picture 5" descr="pg_bar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62200" y="3657600"/>
              <a:ext cx="3683000" cy="2762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465" name="Picture 8" descr="S4 stereograph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248400" y="3976688"/>
              <a:ext cx="2590800" cy="2576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466" name="Picture 10" descr="S4 solid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57200" y="3810000"/>
              <a:ext cx="1800225" cy="2409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1467" name="Group 1036"/>
            <p:cNvGrpSpPr>
              <a:grpSpLocks/>
            </p:cNvGrpSpPr>
            <p:nvPr/>
          </p:nvGrpSpPr>
          <p:grpSpPr bwMode="auto">
            <a:xfrm>
              <a:off x="5334000" y="5486400"/>
              <a:ext cx="1676400" cy="1022350"/>
              <a:chOff x="1392" y="3225"/>
              <a:chExt cx="1056" cy="644"/>
            </a:xfrm>
          </p:grpSpPr>
          <p:sp>
            <p:nvSpPr>
              <p:cNvPr id="61468" name="Text Box 6"/>
              <p:cNvSpPr txBox="1">
                <a:spLocks noChangeArrowheads="1"/>
              </p:cNvSpPr>
              <p:nvPr/>
            </p:nvSpPr>
            <p:spPr bwMode="auto">
              <a:xfrm>
                <a:off x="1392" y="3504"/>
                <a:ext cx="1056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3200">
                    <a:latin typeface="Verdana" pitchFamily="34" charset="0"/>
                  </a:rPr>
                  <a:t>4</a:t>
                </a:r>
              </a:p>
            </p:txBody>
          </p:sp>
          <p:sp>
            <p:nvSpPr>
              <p:cNvPr id="61469" name="Text Box 6"/>
              <p:cNvSpPr txBox="1">
                <a:spLocks noChangeArrowheads="1"/>
              </p:cNvSpPr>
              <p:nvPr/>
            </p:nvSpPr>
            <p:spPr bwMode="auto">
              <a:xfrm>
                <a:off x="1392" y="3225"/>
                <a:ext cx="240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3200">
                    <a:latin typeface="Verdana" pitchFamily="34" charset="0"/>
                  </a:rPr>
                  <a:t>_</a:t>
                </a:r>
              </a:p>
            </p:txBody>
          </p:sp>
        </p:grpSp>
      </p:grpSp>
      <p:sp>
        <p:nvSpPr>
          <p:cNvPr id="147" name="Rectangle 146"/>
          <p:cNvSpPr/>
          <p:nvPr/>
        </p:nvSpPr>
        <p:spPr>
          <a:xfrm>
            <a:off x="4953000" y="762000"/>
            <a:ext cx="3810000" cy="2771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tabLst>
                <a:tab pos="2054225" algn="l"/>
              </a:tabLst>
              <a:defRPr/>
            </a:pPr>
            <a:r>
              <a:rPr lang="en-US" b="1" dirty="0">
                <a:cs typeface="Arial" pitchFamily="34" charset="0"/>
              </a:rPr>
              <a:t>The </a:t>
            </a:r>
            <a:r>
              <a:rPr lang="en-US" b="1" dirty="0" err="1">
                <a:solidFill>
                  <a:srgbClr val="00B0F0"/>
                </a:solidFill>
                <a:cs typeface="Arial" pitchFamily="34" charset="0"/>
              </a:rPr>
              <a:t>diad</a:t>
            </a:r>
            <a:r>
              <a:rPr lang="en-US" b="1" dirty="0">
                <a:solidFill>
                  <a:srgbClr val="00B0F0"/>
                </a:solidFill>
                <a:cs typeface="Arial" pitchFamily="34" charset="0"/>
              </a:rPr>
              <a:t> axis </a:t>
            </a:r>
            <a:r>
              <a:rPr lang="en-US" b="1" dirty="0">
                <a:cs typeface="Arial" pitchFamily="34" charset="0"/>
              </a:rPr>
              <a:t>also exists as a consequence of the </a:t>
            </a:r>
            <a:r>
              <a:rPr lang="en-US" b="1" dirty="0">
                <a:solidFill>
                  <a:srgbClr val="00B0F0"/>
                </a:solidFill>
                <a:cs typeface="Arial" pitchFamily="34" charset="0"/>
              </a:rPr>
              <a:t>4-fold </a:t>
            </a:r>
            <a:r>
              <a:rPr lang="en-US" b="1" dirty="0" err="1">
                <a:solidFill>
                  <a:srgbClr val="00B0F0"/>
                </a:solidFill>
                <a:cs typeface="Arial" pitchFamily="34" charset="0"/>
              </a:rPr>
              <a:t>rotoinversion</a:t>
            </a:r>
            <a:r>
              <a:rPr lang="en-US" b="1" dirty="0">
                <a:cs typeface="Arial" pitchFamily="34" charset="0"/>
              </a:rPr>
              <a:t>; the </a:t>
            </a:r>
            <a:r>
              <a:rPr lang="en-US" b="1" dirty="0">
                <a:solidFill>
                  <a:srgbClr val="00B0F0"/>
                </a:solidFill>
                <a:cs typeface="Arial" pitchFamily="34" charset="0"/>
              </a:rPr>
              <a:t>4</a:t>
            </a:r>
            <a:r>
              <a:rPr lang="en-US" b="1" dirty="0">
                <a:cs typeface="Arial" pitchFamily="34" charset="0"/>
              </a:rPr>
              <a:t>(</a:t>
            </a:r>
            <a:r>
              <a:rPr lang="en-US" b="1" dirty="0">
                <a:solidFill>
                  <a:srgbClr val="00B050"/>
                </a:solidFill>
                <a:cs typeface="Arial" pitchFamily="34" charset="0"/>
              </a:rPr>
              <a:t>bar</a:t>
            </a:r>
            <a:r>
              <a:rPr lang="en-US" b="1" dirty="0">
                <a:cs typeface="Arial" pitchFamily="34" charset="0"/>
              </a:rPr>
              <a:t>) axis is therefore represented by a combination of symbol for the </a:t>
            </a:r>
            <a:r>
              <a:rPr lang="en-US" b="1" dirty="0">
                <a:solidFill>
                  <a:srgbClr val="00B050"/>
                </a:solidFill>
                <a:cs typeface="Arial" pitchFamily="34" charset="0"/>
              </a:rPr>
              <a:t>tetrad</a:t>
            </a:r>
            <a:r>
              <a:rPr lang="en-US" b="1" dirty="0">
                <a:cs typeface="Arial" pitchFamily="34" charset="0"/>
              </a:rPr>
              <a:t> and </a:t>
            </a:r>
            <a:r>
              <a:rPr lang="en-US" b="1" dirty="0" err="1">
                <a:solidFill>
                  <a:srgbClr val="FF0000"/>
                </a:solidFill>
                <a:cs typeface="Arial" pitchFamily="34" charset="0"/>
              </a:rPr>
              <a:t>diad</a:t>
            </a:r>
            <a:r>
              <a:rPr lang="en-US" b="1" dirty="0">
                <a:cs typeface="Arial" pitchFamily="34" charset="0"/>
              </a:rPr>
              <a:t> rotation axes.</a:t>
            </a:r>
          </a:p>
          <a:p>
            <a:pPr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tabLst>
                <a:tab pos="2054225" algn="l"/>
              </a:tabLst>
              <a:defRPr/>
            </a:pPr>
            <a:r>
              <a:rPr lang="en-US" b="1" dirty="0">
                <a:cs typeface="Arial" pitchFamily="34" charset="0"/>
              </a:rPr>
              <a:t>This is general property of </a:t>
            </a:r>
            <a:r>
              <a:rPr lang="en-US" b="1" dirty="0">
                <a:solidFill>
                  <a:srgbClr val="FF0000"/>
                </a:solidFill>
                <a:cs typeface="Arial" pitchFamily="34" charset="0"/>
              </a:rPr>
              <a:t>n</a:t>
            </a:r>
            <a:r>
              <a:rPr lang="en-US" b="1" dirty="0">
                <a:cs typeface="Arial" pitchFamily="34" charset="0"/>
              </a:rPr>
              <a:t>(</a:t>
            </a:r>
            <a:r>
              <a:rPr lang="en-US" b="1" dirty="0">
                <a:solidFill>
                  <a:srgbClr val="00B050"/>
                </a:solidFill>
                <a:cs typeface="Arial" pitchFamily="34" charset="0"/>
              </a:rPr>
              <a:t>bar</a:t>
            </a:r>
            <a:r>
              <a:rPr lang="en-US" b="1" dirty="0">
                <a:cs typeface="Arial" pitchFamily="34" charset="0"/>
              </a:rPr>
              <a:t>) axes when </a:t>
            </a:r>
            <a:r>
              <a:rPr lang="en-US" b="1" dirty="0">
                <a:solidFill>
                  <a:srgbClr val="00B050"/>
                </a:solidFill>
                <a:cs typeface="Arial" pitchFamily="34" charset="0"/>
              </a:rPr>
              <a:t>n</a:t>
            </a:r>
            <a:r>
              <a:rPr lang="en-US" b="1" dirty="0">
                <a:cs typeface="Arial" pitchFamily="34" charset="0"/>
              </a:rPr>
              <a:t> is even number</a:t>
            </a:r>
          </a:p>
        </p:txBody>
      </p:sp>
      <p:grpSp>
        <p:nvGrpSpPr>
          <p:cNvPr id="61452" name="Group 150"/>
          <p:cNvGrpSpPr>
            <a:grpSpLocks/>
          </p:cNvGrpSpPr>
          <p:nvPr/>
        </p:nvGrpSpPr>
        <p:grpSpPr bwMode="auto">
          <a:xfrm>
            <a:off x="2971800" y="1143000"/>
            <a:ext cx="1600200" cy="1524000"/>
            <a:chOff x="3733800" y="1143000"/>
            <a:chExt cx="1600200" cy="1524000"/>
          </a:xfrm>
        </p:grpSpPr>
        <p:grpSp>
          <p:nvGrpSpPr>
            <p:cNvPr id="61453" name="Group 79"/>
            <p:cNvGrpSpPr>
              <a:grpSpLocks/>
            </p:cNvGrpSpPr>
            <p:nvPr/>
          </p:nvGrpSpPr>
          <p:grpSpPr bwMode="auto">
            <a:xfrm>
              <a:off x="3733800" y="1143000"/>
              <a:ext cx="1600200" cy="1524000"/>
              <a:chOff x="6858000" y="1676400"/>
              <a:chExt cx="1600200" cy="1524000"/>
            </a:xfrm>
          </p:grpSpPr>
          <p:sp>
            <p:nvSpPr>
              <p:cNvPr id="85" name="Oval 2"/>
              <p:cNvSpPr/>
              <p:nvPr/>
            </p:nvSpPr>
            <p:spPr>
              <a:xfrm>
                <a:off x="6858000" y="1676400"/>
                <a:ext cx="1600200" cy="1524000"/>
              </a:xfrm>
              <a:prstGeom prst="ellipse">
                <a:avLst/>
              </a:prstGeom>
              <a:noFill/>
              <a:ln>
                <a:solidFill>
                  <a:srgbClr val="00206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90" name="Straight Connector 3"/>
              <p:cNvCxnSpPr/>
              <p:nvPr/>
            </p:nvCxnSpPr>
            <p:spPr>
              <a:xfrm>
                <a:off x="6858000" y="2438400"/>
                <a:ext cx="1600200" cy="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4"/>
              <p:cNvCxnSpPr/>
              <p:nvPr/>
            </p:nvCxnSpPr>
            <p:spPr>
              <a:xfrm>
                <a:off x="7658100" y="1676400"/>
                <a:ext cx="0" cy="152400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Oval 104"/>
            <p:cNvSpPr/>
            <p:nvPr/>
          </p:nvSpPr>
          <p:spPr>
            <a:xfrm>
              <a:off x="4953000" y="1676400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3962400" y="2041525"/>
              <a:ext cx="76200" cy="9207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1" name="Oval 110"/>
            <p:cNvSpPr/>
            <p:nvPr/>
          </p:nvSpPr>
          <p:spPr>
            <a:xfrm>
              <a:off x="4267200" y="1371600"/>
              <a:ext cx="146050" cy="146050"/>
            </a:xfrm>
            <a:prstGeom prst="ellipse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2" name="Diamond 111"/>
            <p:cNvSpPr/>
            <p:nvPr/>
          </p:nvSpPr>
          <p:spPr>
            <a:xfrm>
              <a:off x="4370388" y="1676400"/>
              <a:ext cx="304800" cy="457200"/>
            </a:xfrm>
            <a:prstGeom prst="diamond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4479925" y="1752600"/>
              <a:ext cx="92075" cy="30480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0" name="Oval 149"/>
            <p:cNvSpPr/>
            <p:nvPr/>
          </p:nvSpPr>
          <p:spPr>
            <a:xfrm>
              <a:off x="4648200" y="2292350"/>
              <a:ext cx="146050" cy="146050"/>
            </a:xfrm>
            <a:prstGeom prst="ellipse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8"/>
          <p:cNvSpPr>
            <a:spLocks noChangeArrowheads="1"/>
          </p:cNvSpPr>
          <p:nvPr/>
        </p:nvSpPr>
        <p:spPr bwMode="auto">
          <a:xfrm>
            <a:off x="-1676400" y="1409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IN">
              <a:latin typeface="Verdan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69239A-D1CF-4B1B-86BC-0D144390B550}" type="slidenum">
              <a:rPr lang="en-US"/>
              <a:pPr>
                <a:defRPr/>
              </a:pPr>
              <a:t>37</a:t>
            </a:fld>
            <a:endParaRPr lang="en-US"/>
          </a:p>
        </p:txBody>
      </p:sp>
      <p:grpSp>
        <p:nvGrpSpPr>
          <p:cNvPr id="62470" name="Group 67"/>
          <p:cNvGrpSpPr>
            <a:grpSpLocks/>
          </p:cNvGrpSpPr>
          <p:nvPr/>
        </p:nvGrpSpPr>
        <p:grpSpPr bwMode="auto">
          <a:xfrm>
            <a:off x="2590800" y="3276602"/>
            <a:ext cx="1981200" cy="513346"/>
            <a:chOff x="4343400" y="3200893"/>
            <a:chExt cx="2971800" cy="513436"/>
          </a:xfrm>
        </p:grpSpPr>
        <p:sp>
          <p:nvSpPr>
            <p:cNvPr id="69" name="Rectangle 68"/>
            <p:cNvSpPr/>
            <p:nvPr/>
          </p:nvSpPr>
          <p:spPr>
            <a:xfrm>
              <a:off x="4343400" y="3200893"/>
              <a:ext cx="2971800" cy="51343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463550" indent="-463550" algn="just" fontAlgn="auto">
                <a:lnSpc>
                  <a:spcPct val="114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SzPct val="95000"/>
                <a:tabLst>
                  <a:tab pos="2054225" algn="l"/>
                </a:tabLst>
                <a:defRPr/>
              </a:pPr>
              <a:r>
                <a:rPr lang="en-US" sz="2400" b="1" dirty="0" smtClean="0">
                  <a:cs typeface="Arial" pitchFamily="34" charset="0"/>
                </a:rPr>
                <a:t>6 </a:t>
              </a:r>
              <a:r>
                <a:rPr lang="en-US" sz="2400" b="1" dirty="0">
                  <a:cs typeface="Arial" pitchFamily="34" charset="0"/>
                  <a:sym typeface="Symbol"/>
                </a:rPr>
                <a:t></a:t>
              </a:r>
              <a:r>
                <a:rPr lang="en-US" sz="2400" b="1" dirty="0">
                  <a:cs typeface="Arial" pitchFamily="34" charset="0"/>
                </a:rPr>
                <a:t> </a:t>
              </a:r>
              <a:r>
                <a:rPr lang="en-US" sz="2400" b="1" i="1" dirty="0" smtClean="0">
                  <a:solidFill>
                    <a:srgbClr val="00B0F0"/>
                  </a:solidFill>
                  <a:cs typeface="Arial" pitchFamily="34" charset="0"/>
                </a:rPr>
                <a:t>S</a:t>
              </a:r>
              <a:r>
                <a:rPr lang="en-US" sz="2400" b="1" baseline="-25000" dirty="0" smtClean="0">
                  <a:solidFill>
                    <a:srgbClr val="00B0F0"/>
                  </a:solidFill>
                  <a:cs typeface="Arial" pitchFamily="34" charset="0"/>
                </a:rPr>
                <a:t>3</a:t>
              </a:r>
              <a:r>
                <a:rPr lang="en-US" sz="2400" b="1" baseline="-25000" dirty="0" smtClean="0">
                  <a:cs typeface="Arial" pitchFamily="34" charset="0"/>
                </a:rPr>
                <a:t> </a:t>
              </a:r>
              <a:r>
                <a:rPr lang="en-US" sz="2400" b="1" dirty="0">
                  <a:cs typeface="Arial" pitchFamily="34" charset="0"/>
                  <a:sym typeface="Symbol"/>
                </a:rPr>
                <a:t></a:t>
              </a:r>
              <a:r>
                <a:rPr lang="en-US" sz="2400" b="1" i="1" dirty="0">
                  <a:cs typeface="Arial" pitchFamily="34" charset="0"/>
                  <a:sym typeface="Symbol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cs typeface="Arial" pitchFamily="34" charset="0"/>
                  <a:sym typeface="Symbol"/>
                </a:rPr>
                <a:t>3/m</a:t>
              </a:r>
              <a:endParaRPr lang="en-US" sz="2400" b="1" i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  <p:sp>
          <p:nvSpPr>
            <p:cNvPr id="62548" name="Line 43"/>
            <p:cNvSpPr>
              <a:spLocks noChangeShapeType="1"/>
            </p:cNvSpPr>
            <p:nvPr/>
          </p:nvSpPr>
          <p:spPr bwMode="auto">
            <a:xfrm>
              <a:off x="4419600" y="3276600"/>
              <a:ext cx="165100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471" name="Group 45"/>
          <p:cNvGrpSpPr>
            <a:grpSpLocks/>
          </p:cNvGrpSpPr>
          <p:nvPr/>
        </p:nvGrpSpPr>
        <p:grpSpPr bwMode="auto">
          <a:xfrm>
            <a:off x="2438400" y="457200"/>
            <a:ext cx="1981200" cy="2730021"/>
            <a:chOff x="4572000" y="533400"/>
            <a:chExt cx="1981200" cy="2730499"/>
          </a:xfrm>
        </p:grpSpPr>
        <p:pic>
          <p:nvPicPr>
            <p:cNvPr id="6254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72000" y="990600"/>
              <a:ext cx="1981200" cy="2273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546" name="Rectangle 95"/>
            <p:cNvSpPr>
              <a:spLocks noChangeArrowheads="1"/>
            </p:cNvSpPr>
            <p:nvPr/>
          </p:nvSpPr>
          <p:spPr bwMode="auto">
            <a:xfrm>
              <a:off x="5355336" y="533400"/>
              <a:ext cx="40427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solidFill>
                    <a:schemeClr val="tx2"/>
                  </a:solidFill>
                  <a:latin typeface="Verdana" pitchFamily="34" charset="0"/>
                </a:rPr>
                <a:t>6</a:t>
              </a:r>
              <a:endParaRPr lang="en-US" sz="2400">
                <a:latin typeface="Verdana" pitchFamily="34" charset="0"/>
              </a:endParaRPr>
            </a:p>
          </p:txBody>
        </p:sp>
      </p:grpSp>
      <p:grpSp>
        <p:nvGrpSpPr>
          <p:cNvPr id="62472" name="Group 13"/>
          <p:cNvGrpSpPr>
            <a:grpSpLocks/>
          </p:cNvGrpSpPr>
          <p:nvPr/>
        </p:nvGrpSpPr>
        <p:grpSpPr bwMode="auto">
          <a:xfrm>
            <a:off x="4038600" y="1219067"/>
            <a:ext cx="228600" cy="838053"/>
            <a:chOff x="2743200" y="2057400"/>
            <a:chExt cx="228600" cy="838200"/>
          </a:xfrm>
        </p:grpSpPr>
        <p:grpSp>
          <p:nvGrpSpPr>
            <p:cNvPr id="62536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92" name="Straight Connector 91"/>
              <p:cNvCxnSpPr/>
              <p:nvPr/>
            </p:nvCxnSpPr>
            <p:spPr>
              <a:xfrm>
                <a:off x="5734050" y="2438426"/>
                <a:ext cx="0" cy="8781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91" name="Oval 90"/>
            <p:cNvSpPr/>
            <p:nvPr/>
          </p:nvSpPr>
          <p:spPr>
            <a:xfrm>
              <a:off x="2819400" y="2849835"/>
              <a:ext cx="46038" cy="46045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2473" name="Group 13"/>
          <p:cNvGrpSpPr>
            <a:grpSpLocks/>
          </p:cNvGrpSpPr>
          <p:nvPr/>
        </p:nvGrpSpPr>
        <p:grpSpPr bwMode="auto">
          <a:xfrm>
            <a:off x="2971800" y="1066693"/>
            <a:ext cx="228600" cy="838053"/>
            <a:chOff x="2743200" y="2057400"/>
            <a:chExt cx="228600" cy="838200"/>
          </a:xfrm>
        </p:grpSpPr>
        <p:grpSp>
          <p:nvGrpSpPr>
            <p:cNvPr id="62527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5734050" y="2438391"/>
                <a:ext cx="0" cy="8781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86" name="Oval 85"/>
            <p:cNvSpPr/>
            <p:nvPr/>
          </p:nvSpPr>
          <p:spPr>
            <a:xfrm>
              <a:off x="2819400" y="2849809"/>
              <a:ext cx="46038" cy="46045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2474" name="Group 13"/>
          <p:cNvGrpSpPr>
            <a:grpSpLocks/>
          </p:cNvGrpSpPr>
          <p:nvPr/>
        </p:nvGrpSpPr>
        <p:grpSpPr bwMode="auto">
          <a:xfrm>
            <a:off x="2743200" y="1447627"/>
            <a:ext cx="228600" cy="838053"/>
            <a:chOff x="2743200" y="2057400"/>
            <a:chExt cx="228600" cy="838200"/>
          </a:xfrm>
        </p:grpSpPr>
        <p:grpSp>
          <p:nvGrpSpPr>
            <p:cNvPr id="62518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5734050" y="2438479"/>
                <a:ext cx="0" cy="8781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81" name="Oval 80"/>
            <p:cNvSpPr/>
            <p:nvPr/>
          </p:nvSpPr>
          <p:spPr>
            <a:xfrm>
              <a:off x="2819400" y="2849875"/>
              <a:ext cx="46038" cy="46045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2475" name="Line 43"/>
          <p:cNvSpPr>
            <a:spLocks noChangeShapeType="1"/>
          </p:cNvSpPr>
          <p:nvPr/>
        </p:nvSpPr>
        <p:spPr bwMode="auto">
          <a:xfrm>
            <a:off x="3340100" y="533387"/>
            <a:ext cx="165100" cy="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2476" name="Group 13"/>
          <p:cNvGrpSpPr>
            <a:grpSpLocks/>
          </p:cNvGrpSpPr>
          <p:nvPr/>
        </p:nvGrpSpPr>
        <p:grpSpPr bwMode="auto">
          <a:xfrm flipV="1">
            <a:off x="2971800" y="1904747"/>
            <a:ext cx="228600" cy="838053"/>
            <a:chOff x="2743200" y="2057400"/>
            <a:chExt cx="228600" cy="838200"/>
          </a:xfrm>
        </p:grpSpPr>
        <p:grpSp>
          <p:nvGrpSpPr>
            <p:cNvPr id="62509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08" name="Straight Connector 107"/>
              <p:cNvCxnSpPr/>
              <p:nvPr/>
            </p:nvCxnSpPr>
            <p:spPr>
              <a:xfrm>
                <a:off x="5734050" y="2437721"/>
                <a:ext cx="0" cy="878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07" name="Oval 106"/>
            <p:cNvSpPr/>
            <p:nvPr/>
          </p:nvSpPr>
          <p:spPr>
            <a:xfrm>
              <a:off x="2819400" y="2849301"/>
              <a:ext cx="46038" cy="46046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2477" name="Group 13"/>
          <p:cNvGrpSpPr>
            <a:grpSpLocks/>
          </p:cNvGrpSpPr>
          <p:nvPr/>
        </p:nvGrpSpPr>
        <p:grpSpPr bwMode="auto">
          <a:xfrm flipV="1">
            <a:off x="4038600" y="2057120"/>
            <a:ext cx="228600" cy="838053"/>
            <a:chOff x="2743200" y="2057400"/>
            <a:chExt cx="228600" cy="838200"/>
          </a:xfrm>
        </p:grpSpPr>
        <p:grpSp>
          <p:nvGrpSpPr>
            <p:cNvPr id="62500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14" name="Straight Connector 113"/>
              <p:cNvCxnSpPr/>
              <p:nvPr/>
            </p:nvCxnSpPr>
            <p:spPr>
              <a:xfrm>
                <a:off x="5734050" y="2437685"/>
                <a:ext cx="0" cy="878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2819400" y="2849274"/>
              <a:ext cx="46038" cy="46046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2478" name="Group 13"/>
          <p:cNvGrpSpPr>
            <a:grpSpLocks/>
          </p:cNvGrpSpPr>
          <p:nvPr/>
        </p:nvGrpSpPr>
        <p:grpSpPr bwMode="auto">
          <a:xfrm flipV="1">
            <a:off x="2743200" y="2285680"/>
            <a:ext cx="228600" cy="838053"/>
            <a:chOff x="2743200" y="2057400"/>
            <a:chExt cx="228600" cy="838200"/>
          </a:xfrm>
        </p:grpSpPr>
        <p:grpSp>
          <p:nvGrpSpPr>
            <p:cNvPr id="62491" name="Group 10"/>
            <p:cNvGrpSpPr>
              <a:grpSpLocks/>
            </p:cNvGrpSpPr>
            <p:nvPr/>
          </p:nvGrpSpPr>
          <p:grpSpPr bwMode="auto">
            <a:xfrm>
              <a:off x="2743200" y="2057400"/>
              <a:ext cx="228600" cy="838200"/>
              <a:chOff x="5638800" y="2209800"/>
              <a:chExt cx="228600" cy="110642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>
                <a:off x="5734050" y="2437632"/>
                <a:ext cx="0" cy="878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Oval 6"/>
              <p:cNvSpPr/>
              <p:nvPr/>
            </p:nvSpPr>
            <p:spPr>
              <a:xfrm>
                <a:off x="5638800" y="220980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5638800" y="2514600"/>
                <a:ext cx="228600" cy="2286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19" name="Oval 118"/>
            <p:cNvSpPr/>
            <p:nvPr/>
          </p:nvSpPr>
          <p:spPr>
            <a:xfrm>
              <a:off x="2819400" y="2849234"/>
              <a:ext cx="46038" cy="46046"/>
            </a:xfrm>
            <a:prstGeom prst="ellips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105400" y="1295253"/>
            <a:ext cx="1600200" cy="1523733"/>
            <a:chOff x="5105400" y="1295253"/>
            <a:chExt cx="1600200" cy="1523733"/>
          </a:xfrm>
        </p:grpSpPr>
        <p:grpSp>
          <p:nvGrpSpPr>
            <p:cNvPr id="62479" name="Group 11"/>
            <p:cNvGrpSpPr>
              <a:grpSpLocks/>
            </p:cNvGrpSpPr>
            <p:nvPr/>
          </p:nvGrpSpPr>
          <p:grpSpPr bwMode="auto">
            <a:xfrm>
              <a:off x="5105400" y="1295253"/>
              <a:ext cx="1600200" cy="1523733"/>
              <a:chOff x="6858000" y="1676400"/>
              <a:chExt cx="1600200" cy="1524000"/>
            </a:xfrm>
          </p:grpSpPr>
          <p:sp>
            <p:nvSpPr>
              <p:cNvPr id="85" name="Oval 2"/>
              <p:cNvSpPr/>
              <p:nvPr/>
            </p:nvSpPr>
            <p:spPr>
              <a:xfrm>
                <a:off x="6858000" y="1676547"/>
                <a:ext cx="1600200" cy="1524267"/>
              </a:xfrm>
              <a:prstGeom prst="ellipse">
                <a:avLst/>
              </a:prstGeom>
              <a:noFill/>
              <a:ln w="38100">
                <a:solidFill>
                  <a:srgbClr val="00206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90" name="Straight Connector 3"/>
              <p:cNvCxnSpPr/>
              <p:nvPr/>
            </p:nvCxnSpPr>
            <p:spPr>
              <a:xfrm>
                <a:off x="6858000" y="2438681"/>
                <a:ext cx="1600200" cy="0"/>
              </a:xfrm>
              <a:prstGeom prst="line">
                <a:avLst/>
              </a:prstGeom>
              <a:ln w="127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4"/>
              <p:cNvCxnSpPr/>
              <p:nvPr/>
            </p:nvCxnSpPr>
            <p:spPr>
              <a:xfrm>
                <a:off x="7658100" y="1676547"/>
                <a:ext cx="0" cy="1524267"/>
              </a:xfrm>
              <a:prstGeom prst="line">
                <a:avLst/>
              </a:prstGeom>
              <a:ln w="127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Oval 104"/>
            <p:cNvSpPr/>
            <p:nvPr/>
          </p:nvSpPr>
          <p:spPr bwMode="auto">
            <a:xfrm>
              <a:off x="6324600" y="1828800"/>
              <a:ext cx="76200" cy="90488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6" name="Oval 105"/>
            <p:cNvSpPr>
              <a:spLocks/>
            </p:cNvSpPr>
            <p:nvPr/>
          </p:nvSpPr>
          <p:spPr bwMode="auto">
            <a:xfrm>
              <a:off x="6269038" y="1789113"/>
              <a:ext cx="184150" cy="182562"/>
            </a:xfrm>
            <a:prstGeom prst="ellipse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2" name="Hexagon 111"/>
            <p:cNvSpPr/>
            <p:nvPr/>
          </p:nvSpPr>
          <p:spPr bwMode="auto">
            <a:xfrm rot="5400000">
              <a:off x="5791200" y="1905000"/>
              <a:ext cx="266700" cy="266700"/>
            </a:xfrm>
            <a:prstGeom prst="hexagon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7" name="Isosceles Triangle 116"/>
            <p:cNvSpPr/>
            <p:nvPr/>
          </p:nvSpPr>
          <p:spPr bwMode="auto">
            <a:xfrm>
              <a:off x="5851525" y="1941513"/>
              <a:ext cx="152400" cy="152400"/>
            </a:xfrm>
            <a:prstGeom prst="triangle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8" name="Oval 117"/>
            <p:cNvSpPr/>
            <p:nvPr/>
          </p:nvSpPr>
          <p:spPr bwMode="auto">
            <a:xfrm>
              <a:off x="5770563" y="2524125"/>
              <a:ext cx="76200" cy="90488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3" name="Oval 122"/>
            <p:cNvSpPr>
              <a:spLocks/>
            </p:cNvSpPr>
            <p:nvPr/>
          </p:nvSpPr>
          <p:spPr bwMode="auto">
            <a:xfrm>
              <a:off x="5715000" y="2484438"/>
              <a:ext cx="182563" cy="182562"/>
            </a:xfrm>
            <a:prstGeom prst="ellipse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7" name="Oval 126"/>
            <p:cNvSpPr/>
            <p:nvPr/>
          </p:nvSpPr>
          <p:spPr bwMode="auto">
            <a:xfrm>
              <a:off x="5510213" y="1639888"/>
              <a:ext cx="76200" cy="90487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0" name="Oval 129"/>
            <p:cNvSpPr>
              <a:spLocks/>
            </p:cNvSpPr>
            <p:nvPr/>
          </p:nvSpPr>
          <p:spPr bwMode="auto">
            <a:xfrm>
              <a:off x="5456238" y="1600200"/>
              <a:ext cx="182562" cy="182563"/>
            </a:xfrm>
            <a:prstGeom prst="ellipse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42" name="Rectangle 141"/>
          <p:cNvSpPr/>
          <p:nvPr/>
        </p:nvSpPr>
        <p:spPr>
          <a:xfrm>
            <a:off x="685800" y="3810000"/>
            <a:ext cx="7848600" cy="15093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tabLst>
                <a:tab pos="2054225" algn="l"/>
              </a:tabLst>
              <a:defRPr/>
            </a:pPr>
            <a:r>
              <a:rPr lang="en-US" b="1" dirty="0">
                <a:cs typeface="Arial" pitchFamily="34" charset="0"/>
              </a:rPr>
              <a:t>The </a:t>
            </a:r>
            <a:r>
              <a:rPr lang="en-US" b="1" dirty="0">
                <a:solidFill>
                  <a:srgbClr val="FF0000"/>
                </a:solidFill>
                <a:cs typeface="Arial" pitchFamily="34" charset="0"/>
              </a:rPr>
              <a:t>6</a:t>
            </a:r>
            <a:r>
              <a:rPr lang="en-US" b="1" dirty="0">
                <a:cs typeface="Arial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cs typeface="Arial" pitchFamily="34" charset="0"/>
              </a:rPr>
              <a:t>bar</a:t>
            </a:r>
            <a:r>
              <a:rPr lang="en-US" b="1" dirty="0">
                <a:cs typeface="Arial" pitchFamily="34" charset="0"/>
              </a:rPr>
              <a:t>) axis is represented by a combination of </a:t>
            </a:r>
            <a:r>
              <a:rPr lang="en-US" b="1" dirty="0">
                <a:solidFill>
                  <a:srgbClr val="FF0000"/>
                </a:solidFill>
                <a:cs typeface="Arial" pitchFamily="34" charset="0"/>
              </a:rPr>
              <a:t>triad</a:t>
            </a:r>
            <a:r>
              <a:rPr lang="en-US" b="1" dirty="0">
                <a:cs typeface="Arial" pitchFamily="34" charset="0"/>
              </a:rPr>
              <a:t> and </a:t>
            </a:r>
            <a:r>
              <a:rPr lang="en-US" b="1" dirty="0" err="1">
                <a:solidFill>
                  <a:srgbClr val="FF0000"/>
                </a:solidFill>
                <a:cs typeface="Arial" pitchFamily="34" charset="0"/>
              </a:rPr>
              <a:t>hexad</a:t>
            </a:r>
            <a:r>
              <a:rPr lang="en-US" b="1" dirty="0">
                <a:cs typeface="Arial" pitchFamily="34" charset="0"/>
              </a:rPr>
              <a:t> axial symbols.</a:t>
            </a:r>
          </a:p>
          <a:p>
            <a:pPr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tabLst>
                <a:tab pos="2054225" algn="l"/>
              </a:tabLst>
              <a:defRPr/>
            </a:pPr>
            <a:r>
              <a:rPr lang="en-US" b="1" dirty="0">
                <a:cs typeface="Arial" pitchFamily="34" charset="0"/>
              </a:rPr>
              <a:t>The </a:t>
            </a:r>
            <a:r>
              <a:rPr lang="en-US" b="1" dirty="0">
                <a:solidFill>
                  <a:srgbClr val="FF0000"/>
                </a:solidFill>
                <a:cs typeface="Arial" pitchFamily="34" charset="0"/>
              </a:rPr>
              <a:t>6-fold</a:t>
            </a:r>
            <a:r>
              <a:rPr lang="en-US" b="1" dirty="0"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cs typeface="Arial" pitchFamily="34" charset="0"/>
              </a:rPr>
              <a:t>rotoinversion</a:t>
            </a:r>
            <a:r>
              <a:rPr lang="en-US" b="1" dirty="0">
                <a:cs typeface="Arial" pitchFamily="34" charset="0"/>
              </a:rPr>
              <a:t> axis generate a horizontal mirror plane in addition to the </a:t>
            </a:r>
            <a:r>
              <a:rPr lang="en-US" b="1" dirty="0">
                <a:solidFill>
                  <a:srgbClr val="00B0F0"/>
                </a:solidFill>
                <a:cs typeface="Arial" pitchFamily="34" charset="0"/>
              </a:rPr>
              <a:t>triad</a:t>
            </a:r>
            <a:r>
              <a:rPr lang="en-US" b="1" dirty="0">
                <a:cs typeface="Arial" pitchFamily="34" charset="0"/>
              </a:rPr>
              <a:t> axis so </a:t>
            </a:r>
            <a:r>
              <a:rPr lang="en-US" b="1" dirty="0" smtClean="0">
                <a:cs typeface="Arial" pitchFamily="34" charset="0"/>
              </a:rPr>
              <a:t>that</a:t>
            </a:r>
            <a:endParaRPr lang="en-US" b="1" dirty="0">
              <a:cs typeface="Arial" pitchFamily="3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316976" y="4964668"/>
            <a:ext cx="1550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cs typeface="Arial" pitchFamily="34" charset="0"/>
              </a:rPr>
              <a:t>6(bar)</a:t>
            </a:r>
            <a:r>
              <a:rPr lang="en-US" b="1" dirty="0" smtClean="0">
                <a:cs typeface="Arial" pitchFamily="34" charset="0"/>
              </a:rPr>
              <a:t> = </a:t>
            </a:r>
            <a:r>
              <a:rPr lang="en-US" b="1" dirty="0" smtClean="0">
                <a:solidFill>
                  <a:srgbClr val="FF0000"/>
                </a:solidFill>
                <a:cs typeface="Arial" pitchFamily="34" charset="0"/>
              </a:rPr>
              <a:t>3/m</a:t>
            </a:r>
            <a:r>
              <a:rPr lang="en-US" b="1" dirty="0" smtClean="0">
                <a:cs typeface="Arial" pitchFamily="34" charset="0"/>
              </a:rPr>
              <a:t>.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1547813" y="4724400"/>
            <a:ext cx="54229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6" tIns="45718" rIns="91436" bIns="45718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TW" sz="2400" b="1" u="sng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華康中楷體" pitchFamily="49" charset="-120"/>
              </a:rPr>
              <a:t>Ten basic symmetry elements in crystals</a:t>
            </a:r>
            <a:endParaRPr kumimoji="1" lang="en-US" altLang="zh-TW" sz="2800" b="1" dirty="0">
              <a:solidFill>
                <a:srgbClr val="333333"/>
              </a:solidFill>
              <a:latin typeface="Times New Roman" pitchFamily="18" charset="0"/>
              <a:ea typeface="華康中楷體" pitchFamily="49" charset="-120"/>
            </a:endParaRPr>
          </a:p>
        </p:txBody>
      </p:sp>
      <p:grpSp>
        <p:nvGrpSpPr>
          <p:cNvPr id="63491" name="Group 3"/>
          <p:cNvGrpSpPr>
            <a:grpSpLocks/>
          </p:cNvGrpSpPr>
          <p:nvPr/>
        </p:nvGrpSpPr>
        <p:grpSpPr bwMode="auto">
          <a:xfrm>
            <a:off x="2311400" y="1327150"/>
            <a:ext cx="5308600" cy="1755775"/>
            <a:chOff x="1200" y="1632"/>
            <a:chExt cx="3344" cy="1106"/>
          </a:xfrm>
        </p:grpSpPr>
        <p:sp>
          <p:nvSpPr>
            <p:cNvPr id="63506" name="Text Box 4"/>
            <p:cNvSpPr txBox="1">
              <a:spLocks noChangeArrowheads="1"/>
            </p:cNvSpPr>
            <p:nvPr/>
          </p:nvSpPr>
          <p:spPr bwMode="auto">
            <a:xfrm>
              <a:off x="3216" y="2352"/>
              <a:ext cx="1328" cy="38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zh-TW" sz="3100" b="1" i="1">
                  <a:solidFill>
                    <a:srgbClr val="FF99FF"/>
                  </a:solidFill>
                  <a:latin typeface="Verdana" pitchFamily="34" charset="0"/>
                  <a:ea typeface="華康中楷體" pitchFamily="49" charset="-120"/>
                </a:rPr>
                <a:t>n </a:t>
              </a:r>
              <a:r>
                <a:rPr kumimoji="1" lang="en-US" altLang="zh-TW" sz="3100" b="1">
                  <a:solidFill>
                    <a:srgbClr val="FF99FF"/>
                  </a:solidFill>
                  <a:latin typeface="Verdana" pitchFamily="34" charset="0"/>
                  <a:ea typeface="華康中楷體" pitchFamily="49" charset="-120"/>
                </a:rPr>
                <a:t>    +   </a:t>
              </a:r>
              <a:r>
                <a:rPr kumimoji="1" lang="en-US" altLang="zh-TW" sz="3100" b="1">
                  <a:solidFill>
                    <a:srgbClr val="FF99FF"/>
                  </a:solidFill>
                  <a:latin typeface="Times New Roman" pitchFamily="18" charset="0"/>
                  <a:ea typeface="GungsuhChe" pitchFamily="49" charset="-127"/>
                </a:rPr>
                <a:t> </a:t>
              </a:r>
              <a:r>
                <a:rPr kumimoji="1" lang="en-US" altLang="zh-TW" sz="3100" b="1" i="1">
                  <a:solidFill>
                    <a:srgbClr val="FF99FF"/>
                  </a:solidFill>
                  <a:latin typeface="Times New Roman" pitchFamily="18" charset="0"/>
                  <a:ea typeface="GungsuhChe" pitchFamily="49" charset="-127"/>
                </a:rPr>
                <a:t>i</a:t>
              </a:r>
              <a:r>
                <a:rPr kumimoji="1" lang="en-US" altLang="zh-TW" sz="2800" b="1" i="1">
                  <a:solidFill>
                    <a:srgbClr val="FF99FF"/>
                  </a:solidFill>
                  <a:latin typeface="Times New Roman" pitchFamily="18" charset="0"/>
                  <a:ea typeface="GungsuhChe" pitchFamily="49" charset="-127"/>
                </a:rPr>
                <a:t>  </a:t>
              </a:r>
              <a:r>
                <a:rPr kumimoji="1" lang="en-US" altLang="zh-TW" sz="2800" b="1">
                  <a:solidFill>
                    <a:srgbClr val="FF99FF"/>
                  </a:solidFill>
                  <a:latin typeface="Times New Roman" pitchFamily="18" charset="0"/>
                  <a:ea typeface="GungsuhChe" pitchFamily="49" charset="-127"/>
                </a:rPr>
                <a:t> </a:t>
              </a:r>
              <a:r>
                <a:rPr kumimoji="1" lang="en-US" altLang="zh-TW" sz="2400" b="1">
                  <a:solidFill>
                    <a:srgbClr val="FF99FF"/>
                  </a:solidFill>
                  <a:latin typeface="Times New Roman" pitchFamily="18" charset="0"/>
                  <a:ea typeface="華康中楷體" pitchFamily="49" charset="-120"/>
                </a:rPr>
                <a:t>        </a:t>
              </a:r>
            </a:p>
          </p:txBody>
        </p:sp>
        <p:sp>
          <p:nvSpPr>
            <p:cNvPr id="63507" name="Text Box 5"/>
            <p:cNvSpPr txBox="1">
              <a:spLocks noChangeArrowheads="1"/>
            </p:cNvSpPr>
            <p:nvPr/>
          </p:nvSpPr>
          <p:spPr bwMode="auto">
            <a:xfrm>
              <a:off x="1200" y="1632"/>
              <a:ext cx="3144" cy="250"/>
            </a:xfrm>
            <a:prstGeom prst="rect">
              <a:avLst/>
            </a:prstGeom>
            <a:noFill/>
            <a:ln w="12700">
              <a:noFill/>
              <a:prstDash val="lgDashDotDot"/>
              <a:miter lim="800000"/>
              <a:headEnd/>
              <a:tailEnd/>
            </a:ln>
          </p:spPr>
          <p:txBody>
            <a:bodyPr wrap="none" lIns="91436" tIns="45718" rIns="91436" bIns="45718">
              <a:spAutoFit/>
            </a:bodyPr>
            <a:lstStyle/>
            <a:p>
              <a:r>
                <a:rPr kumimoji="1" lang="en-US" altLang="zh-TW" sz="2000" b="1" dirty="0">
                  <a:solidFill>
                    <a:srgbClr val="A60053"/>
                  </a:solidFill>
                  <a:latin typeface="Verdana" pitchFamily="34" charset="0"/>
                  <a:ea typeface="PMingLiU" pitchFamily="18" charset="-120"/>
                </a:rPr>
                <a:t>Combination of  inversion and rotation</a:t>
              </a:r>
              <a:r>
                <a:rPr kumimoji="1" lang="en-US" altLang="zh-TW" sz="2000" b="1" dirty="0">
                  <a:solidFill>
                    <a:srgbClr val="005C00"/>
                  </a:solidFill>
                  <a:latin typeface="Verdana" pitchFamily="34" charset="0"/>
                  <a:ea typeface="PMingLiU" pitchFamily="18" charset="-120"/>
                </a:rPr>
                <a:t>  </a:t>
              </a:r>
            </a:p>
          </p:txBody>
        </p:sp>
      </p:grpSp>
      <p:pic>
        <p:nvPicPr>
          <p:cNvPr id="63492" name="Picture 6" descr="Pict0048"/>
          <p:cNvPicPr>
            <a:picLocks noChangeAspect="1" noChangeArrowheads="1"/>
          </p:cNvPicPr>
          <p:nvPr/>
        </p:nvPicPr>
        <p:blipFill>
          <a:blip r:embed="rId2" cstate="print"/>
          <a:srcRect t="89455" r="60867" b="8211"/>
          <a:stretch>
            <a:fillRect/>
          </a:stretch>
        </p:blipFill>
        <p:spPr bwMode="auto">
          <a:xfrm>
            <a:off x="1143000" y="609600"/>
            <a:ext cx="42672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3493" name="Group 7"/>
          <p:cNvGrpSpPr>
            <a:grpSpLocks/>
          </p:cNvGrpSpPr>
          <p:nvPr/>
        </p:nvGrpSpPr>
        <p:grpSpPr bwMode="auto">
          <a:xfrm>
            <a:off x="2463800" y="3841750"/>
            <a:ext cx="1028700" cy="450850"/>
            <a:chOff x="1296" y="3193"/>
            <a:chExt cx="504" cy="274"/>
          </a:xfrm>
        </p:grpSpPr>
        <p:sp>
          <p:nvSpPr>
            <p:cNvPr id="63504" name="Text Box 8"/>
            <p:cNvSpPr txBox="1">
              <a:spLocks noChangeArrowheads="1"/>
            </p:cNvSpPr>
            <p:nvPr/>
          </p:nvSpPr>
          <p:spPr bwMode="auto">
            <a:xfrm>
              <a:off x="1536" y="3216"/>
              <a:ext cx="264" cy="251"/>
            </a:xfrm>
            <a:prstGeom prst="rect">
              <a:avLst/>
            </a:prstGeom>
            <a:solidFill>
              <a:srgbClr val="000099"/>
            </a:solidFill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lnSpc>
                  <a:spcPct val="75000"/>
                </a:lnSpc>
              </a:pPr>
              <a:r>
                <a:rPr kumimoji="1" lang="en-US" altLang="zh-TW" sz="2800" b="1" i="1">
                  <a:solidFill>
                    <a:schemeClr val="bg1"/>
                  </a:solidFill>
                  <a:latin typeface="Times New Roman" pitchFamily="18" charset="0"/>
                  <a:ea typeface="PMingLiU" pitchFamily="18" charset="-120"/>
                </a:rPr>
                <a:t>m</a:t>
              </a:r>
            </a:p>
          </p:txBody>
        </p:sp>
        <p:sp>
          <p:nvSpPr>
            <p:cNvPr id="63505" name="Text Box 9"/>
            <p:cNvSpPr txBox="1">
              <a:spLocks noChangeArrowheads="1"/>
            </p:cNvSpPr>
            <p:nvPr/>
          </p:nvSpPr>
          <p:spPr bwMode="auto">
            <a:xfrm>
              <a:off x="1296" y="3193"/>
              <a:ext cx="138" cy="251"/>
            </a:xfrm>
            <a:prstGeom prst="rect">
              <a:avLst/>
            </a:prstGeom>
            <a:solidFill>
              <a:srgbClr val="000099"/>
            </a:solidFill>
            <a:ln w="9525">
              <a:noFill/>
              <a:miter lim="800000"/>
              <a:headEnd/>
              <a:tailEnd/>
            </a:ln>
          </p:spPr>
          <p:txBody>
            <a:bodyPr wrap="none" lIns="91436" tIns="45718" rIns="91436" bIns="45718">
              <a:spAutoFit/>
            </a:bodyPr>
            <a:lstStyle/>
            <a:p>
              <a:pPr>
                <a:lnSpc>
                  <a:spcPct val="75000"/>
                </a:lnSpc>
              </a:pPr>
              <a:r>
                <a:rPr kumimoji="1" lang="en-US" altLang="zh-TW" sz="2800" b="1" i="1">
                  <a:solidFill>
                    <a:schemeClr val="bg1"/>
                  </a:solidFill>
                  <a:latin typeface="Times New Roman" pitchFamily="18" charset="0"/>
                  <a:ea typeface="PMingLiU" pitchFamily="18" charset="-120"/>
                </a:rPr>
                <a:t>i</a:t>
              </a:r>
            </a:p>
          </p:txBody>
        </p:sp>
      </p:grpSp>
      <p:sp>
        <p:nvSpPr>
          <p:cNvPr id="118794" name="Text Box 10"/>
          <p:cNvSpPr txBox="1">
            <a:spLocks noChangeArrowheads="1"/>
          </p:cNvSpPr>
          <p:nvPr/>
        </p:nvSpPr>
        <p:spPr bwMode="auto">
          <a:xfrm>
            <a:off x="2387600" y="1935163"/>
            <a:ext cx="29972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6" tIns="45718" rIns="91436" bIns="45718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TW" sz="24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華康中楷體" pitchFamily="49" charset="-120"/>
              </a:rPr>
              <a:t>1    2    3    4     6</a:t>
            </a:r>
            <a:r>
              <a:rPr kumimoji="1" lang="en-US" altLang="zh-TW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華康中楷體" pitchFamily="49" charset="-120"/>
              </a:rPr>
              <a:t>       </a:t>
            </a:r>
          </a:p>
        </p:txBody>
      </p:sp>
      <p:grpSp>
        <p:nvGrpSpPr>
          <p:cNvPr id="63495" name="Group 11"/>
          <p:cNvGrpSpPr>
            <a:grpSpLocks/>
          </p:cNvGrpSpPr>
          <p:nvPr/>
        </p:nvGrpSpPr>
        <p:grpSpPr bwMode="auto">
          <a:xfrm>
            <a:off x="2555875" y="3328988"/>
            <a:ext cx="2417763" cy="100012"/>
            <a:chOff x="2017" y="2123"/>
            <a:chExt cx="1296" cy="0"/>
          </a:xfrm>
        </p:grpSpPr>
        <p:sp>
          <p:nvSpPr>
            <p:cNvPr id="63499" name="Line 12"/>
            <p:cNvSpPr>
              <a:spLocks noChangeShapeType="1"/>
            </p:cNvSpPr>
            <p:nvPr/>
          </p:nvSpPr>
          <p:spPr bwMode="auto">
            <a:xfrm>
              <a:off x="2017" y="2123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500" name="Line 13"/>
            <p:cNvSpPr>
              <a:spLocks noChangeShapeType="1"/>
            </p:cNvSpPr>
            <p:nvPr/>
          </p:nvSpPr>
          <p:spPr bwMode="auto">
            <a:xfrm>
              <a:off x="2305" y="2123"/>
              <a:ext cx="96" cy="0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501" name="Line 14"/>
            <p:cNvSpPr>
              <a:spLocks noChangeShapeType="1"/>
            </p:cNvSpPr>
            <p:nvPr/>
          </p:nvSpPr>
          <p:spPr bwMode="auto">
            <a:xfrm>
              <a:off x="2593" y="2123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502" name="Line 15"/>
            <p:cNvSpPr>
              <a:spLocks noChangeShapeType="1"/>
            </p:cNvSpPr>
            <p:nvPr/>
          </p:nvSpPr>
          <p:spPr bwMode="auto">
            <a:xfrm>
              <a:off x="3217" y="2123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503" name="Line 16"/>
            <p:cNvSpPr>
              <a:spLocks noChangeShapeType="1"/>
            </p:cNvSpPr>
            <p:nvPr/>
          </p:nvSpPr>
          <p:spPr bwMode="auto">
            <a:xfrm>
              <a:off x="2881" y="2123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496" name="Text Box 17"/>
          <p:cNvSpPr txBox="1">
            <a:spLocks noChangeArrowheads="1"/>
          </p:cNvSpPr>
          <p:nvPr/>
        </p:nvSpPr>
        <p:spPr bwMode="auto">
          <a:xfrm>
            <a:off x="2463800" y="3251200"/>
            <a:ext cx="285115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TW" sz="2800" b="1">
                <a:solidFill>
                  <a:srgbClr val="333333"/>
                </a:solidFill>
                <a:latin typeface="Times New Roman" pitchFamily="18" charset="0"/>
                <a:ea typeface="華康中楷體" pitchFamily="49" charset="-120"/>
              </a:rPr>
              <a:t>1    </a:t>
            </a:r>
            <a:r>
              <a:rPr kumimoji="1" lang="en-US" altLang="zh-TW" sz="2800" b="1">
                <a:solidFill>
                  <a:srgbClr val="CC0066"/>
                </a:solidFill>
                <a:latin typeface="Times New Roman" pitchFamily="18" charset="0"/>
                <a:ea typeface="華康中楷體" pitchFamily="49" charset="-120"/>
              </a:rPr>
              <a:t>2</a:t>
            </a:r>
            <a:r>
              <a:rPr kumimoji="1" lang="en-US" altLang="zh-TW" sz="2800" b="1">
                <a:solidFill>
                  <a:srgbClr val="333333"/>
                </a:solidFill>
                <a:latin typeface="Times New Roman" pitchFamily="18" charset="0"/>
                <a:ea typeface="華康中楷體" pitchFamily="49" charset="-120"/>
              </a:rPr>
              <a:t>    3    4     6   </a:t>
            </a:r>
          </a:p>
        </p:txBody>
      </p:sp>
      <p:sp>
        <p:nvSpPr>
          <p:cNvPr id="63497" name="Line 18"/>
          <p:cNvSpPr>
            <a:spLocks noChangeShapeType="1"/>
          </p:cNvSpPr>
          <p:nvPr/>
        </p:nvSpPr>
        <p:spPr bwMode="auto">
          <a:xfrm>
            <a:off x="3606800" y="2393950"/>
            <a:ext cx="0" cy="836613"/>
          </a:xfrm>
          <a:prstGeom prst="line">
            <a:avLst/>
          </a:prstGeom>
          <a:noFill/>
          <a:ln w="63500">
            <a:solidFill>
              <a:srgbClr val="96969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27E7CA-0ABE-4F52-9C64-D584D308E176}" type="slidenum">
              <a:rPr lang="en-US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818" name="Picture 2" descr="http://www.xtal.iqfr.csic.es/Cristalografia/archivos_03/point-groups/pg_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685800"/>
            <a:ext cx="1981200" cy="1485900"/>
          </a:xfrm>
          <a:prstGeom prst="rect">
            <a:avLst/>
          </a:prstGeom>
          <a:noFill/>
        </p:spPr>
      </p:pic>
      <p:pic>
        <p:nvPicPr>
          <p:cNvPr id="418820" name="Picture 4" descr="http://www.xtal.iqfr.csic.es/Cristalografia/archivos_03/point-groups/pg_2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685800"/>
            <a:ext cx="1981200" cy="1485900"/>
          </a:xfrm>
          <a:prstGeom prst="rect">
            <a:avLst/>
          </a:prstGeom>
          <a:noFill/>
        </p:spPr>
      </p:pic>
      <p:pic>
        <p:nvPicPr>
          <p:cNvPr id="418822" name="Picture 6" descr="http://www.xtal.iqfr.csic.es/Cristalografia/archivos_03/point-groups/pg_3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685800"/>
            <a:ext cx="1981200" cy="1485900"/>
          </a:xfrm>
          <a:prstGeom prst="rect">
            <a:avLst/>
          </a:prstGeom>
          <a:noFill/>
        </p:spPr>
      </p:pic>
      <p:pic>
        <p:nvPicPr>
          <p:cNvPr id="418824" name="Picture 8" descr="http://www.xtal.iqfr.csic.es/Cristalografia/archivos_03/point-groups/pg_4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53200" y="647700"/>
            <a:ext cx="1981200" cy="1485900"/>
          </a:xfrm>
          <a:prstGeom prst="rect">
            <a:avLst/>
          </a:prstGeom>
          <a:noFill/>
        </p:spPr>
      </p:pic>
      <p:pic>
        <p:nvPicPr>
          <p:cNvPr id="418826" name="Picture 10" descr="http://www.xtal.iqfr.csic.es/Cristalografia/archivos_03/point-groups/pg_6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2343150"/>
            <a:ext cx="2057400" cy="1543050"/>
          </a:xfrm>
          <a:prstGeom prst="rect">
            <a:avLst/>
          </a:prstGeom>
          <a:noFill/>
        </p:spPr>
      </p:pic>
      <p:pic>
        <p:nvPicPr>
          <p:cNvPr id="7" name="Picture 5" descr="pg_bar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14600" y="2343150"/>
            <a:ext cx="2032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pg_bar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29400" y="2266950"/>
            <a:ext cx="19812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 descr="pg_bar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1000" y="4038600"/>
            <a:ext cx="21336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8828" name="Picture 12" descr="http://www.xtal.iqfr.csic.es/Cristalografia/archivos_03/point-groups/pg_m.gi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572000" y="2324100"/>
            <a:ext cx="1981200" cy="1485900"/>
          </a:xfrm>
          <a:prstGeom prst="rect">
            <a:avLst/>
          </a:prstGeom>
          <a:noFill/>
        </p:spPr>
      </p:pic>
      <p:pic>
        <p:nvPicPr>
          <p:cNvPr id="418830" name="Picture 14" descr="http://www.xtal.iqfr.csic.es/Cristalografia/archivos_03/point-groups/pg_bar6.gif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667000" y="4038600"/>
            <a:ext cx="2133600" cy="1600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457200"/>
            <a:ext cx="634500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1" lang="en-US" altLang="zh-TW" sz="2400" b="1" cap="none" spc="0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Verdana" pitchFamily="34" charset="0"/>
                <a:ea typeface="PMingLiU" pitchFamily="18" charset="-120"/>
              </a:rPr>
              <a:t>Combination of symmetry elements</a:t>
            </a:r>
            <a:endParaRPr lang="en-US" sz="2400" b="1" cap="none" spc="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295400"/>
            <a:ext cx="8305800" cy="4001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457200" algn="just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Ø"/>
              <a:tabLst>
                <a:tab pos="2054225" algn="l"/>
              </a:tabLst>
              <a:defRPr/>
            </a:pPr>
            <a:r>
              <a:rPr lang="en-US" b="1" dirty="0" smtClean="0">
                <a:solidFill>
                  <a:srgbClr val="002060"/>
                </a:solidFill>
                <a:cs typeface="Arial" pitchFamily="34" charset="0"/>
              </a:rPr>
              <a:t>There are total </a:t>
            </a:r>
            <a:r>
              <a:rPr lang="en-US" b="1" dirty="0" smtClean="0">
                <a:solidFill>
                  <a:srgbClr val="FF0000"/>
                </a:solidFill>
                <a:cs typeface="Arial" pitchFamily="34" charset="0"/>
              </a:rPr>
              <a:t>10</a:t>
            </a:r>
            <a:r>
              <a:rPr lang="en-US" b="1" dirty="0" smtClean="0">
                <a:solidFill>
                  <a:srgbClr val="002060"/>
                </a:solidFill>
                <a:cs typeface="Arial" pitchFamily="34" charset="0"/>
              </a:rPr>
              <a:t> symmetry elements available to the crystal  lattice.</a:t>
            </a:r>
          </a:p>
          <a:p>
            <a:pPr marL="274320" indent="457200" algn="just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Ø"/>
              <a:tabLst>
                <a:tab pos="2054225" algn="l"/>
              </a:tabLst>
              <a:defRPr/>
            </a:pPr>
            <a:r>
              <a:rPr lang="en-US" b="1" dirty="0" smtClean="0">
                <a:solidFill>
                  <a:srgbClr val="002060"/>
                </a:solidFill>
                <a:cs typeface="Arial" pitchFamily="34" charset="0"/>
              </a:rPr>
              <a:t>Their </a:t>
            </a:r>
            <a:r>
              <a:rPr lang="en-US" b="1" dirty="0" smtClean="0">
                <a:solidFill>
                  <a:srgbClr val="00B0F0"/>
                </a:solidFill>
                <a:cs typeface="Arial" pitchFamily="34" charset="0"/>
              </a:rPr>
              <a:t>random combination</a:t>
            </a:r>
            <a:r>
              <a:rPr lang="en-US" b="1" dirty="0" smtClean="0">
                <a:solidFill>
                  <a:srgbClr val="002060"/>
                </a:solidFill>
                <a:cs typeface="Arial" pitchFamily="34" charset="0"/>
              </a:rPr>
              <a:t> will produce very large number of </a:t>
            </a:r>
            <a:r>
              <a:rPr lang="en-US" b="1" dirty="0" smtClean="0">
                <a:solidFill>
                  <a:srgbClr val="00B0F0"/>
                </a:solidFill>
                <a:cs typeface="Arial" pitchFamily="34" charset="0"/>
              </a:rPr>
              <a:t>crystal symmetries</a:t>
            </a:r>
            <a:r>
              <a:rPr lang="en-US" b="1" dirty="0" smtClean="0">
                <a:solidFill>
                  <a:srgbClr val="002060"/>
                </a:solidFill>
                <a:cs typeface="Arial" pitchFamily="34" charset="0"/>
              </a:rPr>
              <a:t>.</a:t>
            </a:r>
          </a:p>
          <a:p>
            <a:pPr marL="274320" indent="457200" algn="just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Ø"/>
              <a:tabLst>
                <a:tab pos="2054225" algn="l"/>
              </a:tabLst>
              <a:defRPr/>
            </a:pPr>
            <a:r>
              <a:rPr lang="en-US" b="1" dirty="0" smtClean="0">
                <a:solidFill>
                  <a:srgbClr val="00B050"/>
                </a:solidFill>
                <a:cs typeface="Arial" pitchFamily="34" charset="0"/>
              </a:rPr>
              <a:t>However</a:t>
            </a:r>
            <a:r>
              <a:rPr lang="en-US" b="1" dirty="0" smtClean="0">
                <a:solidFill>
                  <a:srgbClr val="002060"/>
                </a:solidFill>
                <a:cs typeface="Arial" pitchFamily="34" charset="0"/>
              </a:rPr>
              <a:t> only certain combination of these symmetry elements are possible as their corresponding symmetry operation do not </a:t>
            </a:r>
            <a:r>
              <a:rPr lang="en-US" b="1" dirty="0" smtClean="0">
                <a:solidFill>
                  <a:srgbClr val="00B0F0"/>
                </a:solidFill>
                <a:cs typeface="Arial" pitchFamily="34" charset="0"/>
              </a:rPr>
              <a:t>constitute a point group.</a:t>
            </a:r>
          </a:p>
          <a:p>
            <a:pPr marL="274320" indent="457200" algn="just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Ø"/>
              <a:tabLst>
                <a:tab pos="2054225" algn="l"/>
              </a:tabLst>
              <a:defRPr/>
            </a:pPr>
            <a:r>
              <a:rPr lang="en-US" b="1" dirty="0" smtClean="0">
                <a:solidFill>
                  <a:srgbClr val="002060"/>
                </a:solidFill>
                <a:cs typeface="Arial" pitchFamily="34" charset="0"/>
              </a:rPr>
              <a:t>Because of this the combination of certain symmetry elements </a:t>
            </a:r>
            <a:r>
              <a:rPr lang="en-US" b="1" dirty="0" smtClean="0">
                <a:solidFill>
                  <a:srgbClr val="00B050"/>
                </a:solidFill>
                <a:cs typeface="Arial" pitchFamily="34" charset="0"/>
              </a:rPr>
              <a:t>will generate other symmetry elements</a:t>
            </a:r>
            <a:r>
              <a:rPr lang="en-US" b="1" dirty="0" smtClean="0">
                <a:solidFill>
                  <a:srgbClr val="002060"/>
                </a:solidFill>
                <a:cs typeface="Arial" pitchFamily="34" charset="0"/>
              </a:rPr>
              <a:t>.</a:t>
            </a:r>
          </a:p>
          <a:p>
            <a:pPr marL="274320" indent="457200" algn="just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Wingdings" pitchFamily="2" charset="2"/>
              <a:buChar char="Ø"/>
              <a:tabLst>
                <a:tab pos="2054225" algn="l"/>
              </a:tabLst>
              <a:defRPr/>
            </a:pPr>
            <a:r>
              <a:rPr lang="en-US" b="1" dirty="0" smtClean="0">
                <a:solidFill>
                  <a:srgbClr val="FF0000"/>
                </a:solidFill>
                <a:cs typeface="Arial" pitchFamily="34" charset="0"/>
              </a:rPr>
              <a:t>The relationships are………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04800" y="914400"/>
            <a:ext cx="8534400" cy="2057400"/>
          </a:xfrm>
          <a:prstGeom prst="rect">
            <a:avLst/>
          </a:prstGeom>
        </p:spPr>
        <p:txBody>
          <a:bodyPr/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+mj-lt"/>
              <a:buAutoNum type="arabicPeriod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</a:t>
            </a:r>
            <a:r>
              <a:rPr lang="en-US" sz="2100" b="1" dirty="0">
                <a:solidFill>
                  <a:srgbClr val="00B050"/>
                </a:solidFill>
                <a:cs typeface="Arial" pitchFamily="34" charset="0"/>
              </a:rPr>
              <a:t>intersection</a:t>
            </a:r>
            <a:r>
              <a:rPr lang="en-US" sz="2100" b="1" dirty="0">
                <a:cs typeface="Arial" pitchFamily="34" charset="0"/>
              </a:rPr>
              <a:t> of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two mirror planes </a:t>
            </a:r>
            <a:r>
              <a:rPr lang="en-US" sz="2100" b="1" dirty="0">
                <a:cs typeface="Arial" pitchFamily="34" charset="0"/>
              </a:rPr>
              <a:t>is a </a:t>
            </a:r>
            <a:r>
              <a:rPr lang="en-US" sz="2100" b="1" dirty="0">
                <a:solidFill>
                  <a:srgbClr val="7030A0"/>
                </a:solidFill>
                <a:cs typeface="Arial" pitchFamily="34" charset="0"/>
              </a:rPr>
              <a:t>rotation axis</a:t>
            </a:r>
            <a:r>
              <a:rPr lang="en-US" sz="2100" b="1" dirty="0">
                <a:cs typeface="Arial" pitchFamily="34" charset="0"/>
              </a:rPr>
              <a:t>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 smtClean="0">
                <a:cs typeface="Arial" pitchFamily="34" charset="0"/>
              </a:rPr>
              <a:t>If the dihedral </a:t>
            </a:r>
            <a:r>
              <a:rPr lang="en-US" sz="2100" b="1" dirty="0">
                <a:cs typeface="Arial" pitchFamily="34" charset="0"/>
              </a:rPr>
              <a:t>angle between the two mirror plane is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2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  <a:sym typeface="Symbol"/>
              </a:rPr>
              <a:t>/n</a:t>
            </a:r>
            <a:r>
              <a:rPr lang="en-US" sz="2100" b="1" dirty="0">
                <a:cs typeface="Arial" pitchFamily="34" charset="0"/>
                <a:sym typeface="Symbol"/>
              </a:rPr>
              <a:t>, then the axis is an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  <a:sym typeface="Symbol"/>
              </a:rPr>
              <a:t>n</a:t>
            </a:r>
            <a:r>
              <a:rPr lang="en-US" sz="2100" b="1" dirty="0">
                <a:cs typeface="Arial" pitchFamily="34" charset="0"/>
                <a:sym typeface="Symbol"/>
              </a:rPr>
              <a:t>-fold axis. Let us examine the case of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  <a:sym typeface="Symbol"/>
              </a:rPr>
              <a:t>n=3</a:t>
            </a:r>
            <a:r>
              <a:rPr lang="en-US" sz="2100" b="1" dirty="0">
                <a:cs typeface="Arial" pitchFamily="34" charset="0"/>
                <a:sym typeface="Symbol"/>
              </a:rPr>
              <a:t>.</a:t>
            </a:r>
            <a:endParaRPr lang="en-US" sz="2100" b="1" dirty="0"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4025" y="381000"/>
            <a:ext cx="84613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Representation of crystallographic point groups</a:t>
            </a:r>
          </a:p>
        </p:txBody>
      </p:sp>
      <p:sp>
        <p:nvSpPr>
          <p:cNvPr id="18" name="Oval 17"/>
          <p:cNvSpPr/>
          <p:nvPr/>
        </p:nvSpPr>
        <p:spPr>
          <a:xfrm>
            <a:off x="762000" y="2590800"/>
            <a:ext cx="1600200" cy="1524000"/>
          </a:xfrm>
          <a:prstGeom prst="ellipse">
            <a:avLst/>
          </a:prstGeom>
          <a:noFill/>
          <a:ln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9" name="Straight Connector 18"/>
          <p:cNvCxnSpPr>
            <a:stCxn id="18" idx="2"/>
            <a:endCxn id="18" idx="6"/>
          </p:cNvCxnSpPr>
          <p:nvPr/>
        </p:nvCxnSpPr>
        <p:spPr>
          <a:xfrm>
            <a:off x="762000" y="3352800"/>
            <a:ext cx="1600200" cy="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8" idx="0"/>
            <a:endCxn id="18" idx="4"/>
          </p:cNvCxnSpPr>
          <p:nvPr/>
        </p:nvCxnSpPr>
        <p:spPr>
          <a:xfrm>
            <a:off x="1562100" y="2590800"/>
            <a:ext cx="0" cy="152400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981200" y="3124200"/>
            <a:ext cx="76200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4516438" y="3201988"/>
            <a:ext cx="76200" cy="379412"/>
            <a:chOff x="4517136" y="3888049"/>
            <a:chExt cx="76200" cy="379151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4536186" y="3888049"/>
              <a:ext cx="11112" cy="303003"/>
            </a:xfrm>
            <a:prstGeom prst="line">
              <a:avLst/>
            </a:prstGeom>
            <a:ln w="254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4517136" y="4175188"/>
              <a:ext cx="76200" cy="9201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2590800" y="2590800"/>
            <a:ext cx="2286000" cy="1524000"/>
            <a:chOff x="2590800" y="3276600"/>
            <a:chExt cx="2286000" cy="1524000"/>
          </a:xfrm>
        </p:grpSpPr>
        <p:sp>
          <p:nvSpPr>
            <p:cNvPr id="27" name="Right Arrow 26"/>
            <p:cNvSpPr/>
            <p:nvPr/>
          </p:nvSpPr>
          <p:spPr>
            <a:xfrm>
              <a:off x="2590800" y="4038600"/>
              <a:ext cx="533400" cy="76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66649" name="Group 38"/>
            <p:cNvGrpSpPr>
              <a:grpSpLocks/>
            </p:cNvGrpSpPr>
            <p:nvPr/>
          </p:nvGrpSpPr>
          <p:grpSpPr bwMode="auto">
            <a:xfrm>
              <a:off x="3276600" y="3276600"/>
              <a:ext cx="1600200" cy="1524000"/>
              <a:chOff x="3276600" y="3276600"/>
              <a:chExt cx="1600200" cy="1524000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>
                <a:off x="3276600" y="4038600"/>
                <a:ext cx="1600200" cy="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6651" name="Group 35"/>
              <p:cNvGrpSpPr>
                <a:grpSpLocks/>
              </p:cNvGrpSpPr>
              <p:nvPr/>
            </p:nvGrpSpPr>
            <p:grpSpPr bwMode="auto">
              <a:xfrm>
                <a:off x="3276600" y="3276600"/>
                <a:ext cx="1600200" cy="1524000"/>
                <a:chOff x="3276600" y="3276600"/>
                <a:chExt cx="1600200" cy="1524000"/>
              </a:xfrm>
            </p:grpSpPr>
            <p:sp>
              <p:nvSpPr>
                <p:cNvPr id="28" name="Oval 27"/>
                <p:cNvSpPr/>
                <p:nvPr/>
              </p:nvSpPr>
              <p:spPr>
                <a:xfrm>
                  <a:off x="3276600" y="3276600"/>
                  <a:ext cx="1600200" cy="1524000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cxnSp>
              <p:nvCxnSpPr>
                <p:cNvPr id="30" name="Straight Connector 29"/>
                <p:cNvCxnSpPr>
                  <a:stCxn id="28" idx="0"/>
                  <a:endCxn id="28" idx="4"/>
                </p:cNvCxnSpPr>
                <p:nvPr/>
              </p:nvCxnSpPr>
              <p:spPr>
                <a:xfrm>
                  <a:off x="4076700" y="3276600"/>
                  <a:ext cx="0" cy="1524000"/>
                </a:xfrm>
                <a:prstGeom prst="line">
                  <a:avLst/>
                </a:prstGeom>
                <a:ln w="2540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Oval 30"/>
                <p:cNvSpPr/>
                <p:nvPr/>
              </p:nvSpPr>
              <p:spPr>
                <a:xfrm>
                  <a:off x="4495800" y="3810000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</p:grpSp>
      </p:grpSp>
      <p:cxnSp>
        <p:nvCxnSpPr>
          <p:cNvPr id="37" name="Straight Connector 36"/>
          <p:cNvCxnSpPr/>
          <p:nvPr/>
        </p:nvCxnSpPr>
        <p:spPr>
          <a:xfrm>
            <a:off x="3276600" y="3352800"/>
            <a:ext cx="1600200" cy="0"/>
          </a:xfrm>
          <a:prstGeom prst="line">
            <a:avLst/>
          </a:prstGeom>
          <a:ln w="508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54"/>
          <p:cNvGrpSpPr>
            <a:grpSpLocks/>
          </p:cNvGrpSpPr>
          <p:nvPr/>
        </p:nvGrpSpPr>
        <p:grpSpPr bwMode="auto">
          <a:xfrm>
            <a:off x="5257800" y="2590800"/>
            <a:ext cx="2286000" cy="1524000"/>
            <a:chOff x="5257800" y="3276600"/>
            <a:chExt cx="2286000" cy="1524000"/>
          </a:xfrm>
        </p:grpSpPr>
        <p:sp>
          <p:nvSpPr>
            <p:cNvPr id="45" name="Oval 44"/>
            <p:cNvSpPr/>
            <p:nvPr/>
          </p:nvSpPr>
          <p:spPr>
            <a:xfrm>
              <a:off x="7183438" y="4175125"/>
              <a:ext cx="76200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66639" name="Group 45"/>
            <p:cNvGrpSpPr>
              <a:grpSpLocks/>
            </p:cNvGrpSpPr>
            <p:nvPr/>
          </p:nvGrpSpPr>
          <p:grpSpPr bwMode="auto">
            <a:xfrm>
              <a:off x="5257800" y="3276600"/>
              <a:ext cx="2286000" cy="1524000"/>
              <a:chOff x="2590800" y="3276600"/>
              <a:chExt cx="2286000" cy="1524000"/>
            </a:xfrm>
          </p:grpSpPr>
          <p:sp>
            <p:nvSpPr>
              <p:cNvPr id="47" name="Right Arrow 46"/>
              <p:cNvSpPr/>
              <p:nvPr/>
            </p:nvSpPr>
            <p:spPr>
              <a:xfrm>
                <a:off x="2590800" y="4038600"/>
                <a:ext cx="533400" cy="762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grpSp>
            <p:nvGrpSpPr>
              <p:cNvPr id="66642" name="Group 38"/>
              <p:cNvGrpSpPr>
                <a:grpSpLocks/>
              </p:cNvGrpSpPr>
              <p:nvPr/>
            </p:nvGrpSpPr>
            <p:grpSpPr bwMode="auto">
              <a:xfrm>
                <a:off x="3276600" y="3276600"/>
                <a:ext cx="1600200" cy="1524000"/>
                <a:chOff x="3276600" y="3276600"/>
                <a:chExt cx="1600200" cy="1524000"/>
              </a:xfrm>
            </p:grpSpPr>
            <p:cxnSp>
              <p:nvCxnSpPr>
                <p:cNvPr id="49" name="Straight Connector 48"/>
                <p:cNvCxnSpPr/>
                <p:nvPr/>
              </p:nvCxnSpPr>
              <p:spPr>
                <a:xfrm>
                  <a:off x="3276600" y="4038600"/>
                  <a:ext cx="1600200" cy="0"/>
                </a:xfrm>
                <a:prstGeom prst="line">
                  <a:avLst/>
                </a:prstGeom>
                <a:ln w="2540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6644" name="Group 35"/>
                <p:cNvGrpSpPr>
                  <a:grpSpLocks/>
                </p:cNvGrpSpPr>
                <p:nvPr/>
              </p:nvGrpSpPr>
              <p:grpSpPr bwMode="auto">
                <a:xfrm>
                  <a:off x="3276600" y="3276600"/>
                  <a:ext cx="1600200" cy="1524000"/>
                  <a:chOff x="3276600" y="3276600"/>
                  <a:chExt cx="1600200" cy="1524000"/>
                </a:xfrm>
              </p:grpSpPr>
              <p:sp>
                <p:nvSpPr>
                  <p:cNvPr id="51" name="Oval 50"/>
                  <p:cNvSpPr/>
                  <p:nvPr/>
                </p:nvSpPr>
                <p:spPr>
                  <a:xfrm>
                    <a:off x="3276600" y="3276600"/>
                    <a:ext cx="1600200" cy="1524000"/>
                  </a:xfrm>
                  <a:prstGeom prst="ellipse">
                    <a:avLst/>
                  </a:prstGeom>
                  <a:noFill/>
                  <a:ln>
                    <a:solidFill>
                      <a:srgbClr val="00206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cxnSp>
                <p:nvCxnSpPr>
                  <p:cNvPr id="52" name="Straight Connector 51"/>
                  <p:cNvCxnSpPr>
                    <a:stCxn id="51" idx="0"/>
                    <a:endCxn id="51" idx="4"/>
                  </p:cNvCxnSpPr>
                  <p:nvPr/>
                </p:nvCxnSpPr>
                <p:spPr>
                  <a:xfrm>
                    <a:off x="4076700" y="3276600"/>
                    <a:ext cx="0" cy="1524000"/>
                  </a:xfrm>
                  <a:prstGeom prst="line">
                    <a:avLst/>
                  </a:prstGeom>
                  <a:ln w="25400"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Oval 52"/>
                  <p:cNvSpPr/>
                  <p:nvPr/>
                </p:nvSpPr>
                <p:spPr>
                  <a:xfrm>
                    <a:off x="4495800" y="3810000"/>
                    <a:ext cx="76200" cy="9207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</p:grpSp>
          </p:grpSp>
        </p:grpSp>
        <p:cxnSp>
          <p:nvCxnSpPr>
            <p:cNvPr id="54" name="Straight Connector 53"/>
            <p:cNvCxnSpPr/>
            <p:nvPr/>
          </p:nvCxnSpPr>
          <p:spPr>
            <a:xfrm>
              <a:off x="5943600" y="4038600"/>
              <a:ext cx="1600200" cy="0"/>
            </a:xfrm>
            <a:prstGeom prst="line">
              <a:avLst/>
            </a:prstGeom>
            <a:ln w="50800">
              <a:solidFill>
                <a:srgbClr val="00206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Straight Connector 55"/>
          <p:cNvCxnSpPr/>
          <p:nvPr/>
        </p:nvCxnSpPr>
        <p:spPr>
          <a:xfrm>
            <a:off x="6324600" y="2667000"/>
            <a:ext cx="762000" cy="1371600"/>
          </a:xfrm>
          <a:prstGeom prst="line">
            <a:avLst/>
          </a:prstGeom>
          <a:ln w="508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68"/>
          <p:cNvGrpSpPr>
            <a:grpSpLocks/>
          </p:cNvGrpSpPr>
          <p:nvPr/>
        </p:nvGrpSpPr>
        <p:grpSpPr bwMode="auto">
          <a:xfrm>
            <a:off x="6248400" y="3200400"/>
            <a:ext cx="973138" cy="838200"/>
            <a:chOff x="6248400" y="3886200"/>
            <a:chExt cx="973836" cy="838200"/>
          </a:xfrm>
        </p:grpSpPr>
        <p:cxnSp>
          <p:nvCxnSpPr>
            <p:cNvPr id="64" name="Straight Connector 63"/>
            <p:cNvCxnSpPr/>
            <p:nvPr/>
          </p:nvCxnSpPr>
          <p:spPr>
            <a:xfrm flipH="1">
              <a:off x="6553419" y="4267200"/>
              <a:ext cx="668817" cy="381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H="1">
              <a:off x="6248400" y="3886200"/>
              <a:ext cx="897581" cy="5334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/>
            <p:cNvSpPr/>
            <p:nvPr/>
          </p:nvSpPr>
          <p:spPr>
            <a:xfrm>
              <a:off x="6477164" y="4632325"/>
              <a:ext cx="7625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6248400" y="4327525"/>
              <a:ext cx="7625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2" name="Group 91"/>
          <p:cNvGrpSpPr>
            <a:grpSpLocks/>
          </p:cNvGrpSpPr>
          <p:nvPr/>
        </p:nvGrpSpPr>
        <p:grpSpPr bwMode="auto">
          <a:xfrm>
            <a:off x="6019800" y="4343400"/>
            <a:ext cx="1600200" cy="1905000"/>
            <a:chOff x="6019800" y="4343400"/>
            <a:chExt cx="1600200" cy="1905000"/>
          </a:xfrm>
        </p:grpSpPr>
        <p:sp>
          <p:nvSpPr>
            <p:cNvPr id="71" name="Right Arrow 70"/>
            <p:cNvSpPr/>
            <p:nvPr/>
          </p:nvSpPr>
          <p:spPr>
            <a:xfrm rot="5400000">
              <a:off x="6705600" y="4419600"/>
              <a:ext cx="228600" cy="76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66620" name="Group 90"/>
            <p:cNvGrpSpPr>
              <a:grpSpLocks/>
            </p:cNvGrpSpPr>
            <p:nvPr/>
          </p:nvGrpSpPr>
          <p:grpSpPr bwMode="auto">
            <a:xfrm>
              <a:off x="6019800" y="4724400"/>
              <a:ext cx="1600200" cy="1524000"/>
              <a:chOff x="6172200" y="4876800"/>
              <a:chExt cx="1600200" cy="1524000"/>
            </a:xfrm>
          </p:grpSpPr>
          <p:grpSp>
            <p:nvGrpSpPr>
              <p:cNvPr id="66621" name="Group 71"/>
              <p:cNvGrpSpPr>
                <a:grpSpLocks/>
              </p:cNvGrpSpPr>
              <p:nvPr/>
            </p:nvGrpSpPr>
            <p:grpSpPr bwMode="auto">
              <a:xfrm>
                <a:off x="6172200" y="4876800"/>
                <a:ext cx="1600200" cy="1524000"/>
                <a:chOff x="5943600" y="3276600"/>
                <a:chExt cx="1600200" cy="1524000"/>
              </a:xfrm>
            </p:grpSpPr>
            <p:sp>
              <p:nvSpPr>
                <p:cNvPr id="73" name="Oval 72"/>
                <p:cNvSpPr/>
                <p:nvPr/>
              </p:nvSpPr>
              <p:spPr>
                <a:xfrm>
                  <a:off x="7183438" y="4175125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grpSp>
              <p:nvGrpSpPr>
                <p:cNvPr id="66627" name="Group 38"/>
                <p:cNvGrpSpPr>
                  <a:grpSpLocks/>
                </p:cNvGrpSpPr>
                <p:nvPr/>
              </p:nvGrpSpPr>
              <p:grpSpPr bwMode="auto">
                <a:xfrm>
                  <a:off x="5943600" y="3276600"/>
                  <a:ext cx="1600200" cy="1524000"/>
                  <a:chOff x="3276600" y="3276600"/>
                  <a:chExt cx="1600200" cy="1524000"/>
                </a:xfrm>
              </p:grpSpPr>
              <p:cxnSp>
                <p:nvCxnSpPr>
                  <p:cNvPr id="78" name="Straight Connector 77"/>
                  <p:cNvCxnSpPr/>
                  <p:nvPr/>
                </p:nvCxnSpPr>
                <p:spPr>
                  <a:xfrm>
                    <a:off x="3276600" y="4038600"/>
                    <a:ext cx="1600200" cy="0"/>
                  </a:xfrm>
                  <a:prstGeom prst="line">
                    <a:avLst/>
                  </a:prstGeom>
                  <a:ln w="25400"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6630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3276600" y="3276600"/>
                    <a:ext cx="1600200" cy="1524000"/>
                    <a:chOff x="3276600" y="3276600"/>
                    <a:chExt cx="1600200" cy="1524000"/>
                  </a:xfrm>
                </p:grpSpPr>
                <p:sp>
                  <p:nvSpPr>
                    <p:cNvPr id="80" name="Oval 79"/>
                    <p:cNvSpPr/>
                    <p:nvPr/>
                  </p:nvSpPr>
                  <p:spPr>
                    <a:xfrm>
                      <a:off x="3276600" y="3276600"/>
                      <a:ext cx="1600200" cy="1524000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002060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  <p:cxnSp>
                  <p:nvCxnSpPr>
                    <p:cNvPr id="81" name="Straight Connector 80"/>
                    <p:cNvCxnSpPr>
                      <a:stCxn id="80" idx="0"/>
                      <a:endCxn id="80" idx="4"/>
                    </p:cNvCxnSpPr>
                    <p:nvPr/>
                  </p:nvCxnSpPr>
                  <p:spPr>
                    <a:xfrm>
                      <a:off x="4076700" y="3276600"/>
                      <a:ext cx="0" cy="1524000"/>
                    </a:xfrm>
                    <a:prstGeom prst="line">
                      <a:avLst/>
                    </a:prstGeom>
                    <a:ln w="25400"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2" name="Oval 81"/>
                    <p:cNvSpPr/>
                    <p:nvPr/>
                  </p:nvSpPr>
                  <p:spPr>
                    <a:xfrm>
                      <a:off x="4495800" y="3810000"/>
                      <a:ext cx="76200" cy="92075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</p:grpSp>
            </p:grpSp>
            <p:cxnSp>
              <p:nvCxnSpPr>
                <p:cNvPr id="75" name="Straight Connector 74"/>
                <p:cNvCxnSpPr/>
                <p:nvPr/>
              </p:nvCxnSpPr>
              <p:spPr>
                <a:xfrm>
                  <a:off x="5943600" y="4038600"/>
                  <a:ext cx="1600200" cy="0"/>
                </a:xfrm>
                <a:prstGeom prst="line">
                  <a:avLst/>
                </a:prstGeom>
                <a:ln w="50800">
                  <a:solidFill>
                    <a:srgbClr val="002060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3" name="Straight Connector 82"/>
              <p:cNvCxnSpPr/>
              <p:nvPr/>
            </p:nvCxnSpPr>
            <p:spPr>
              <a:xfrm>
                <a:off x="6553200" y="4953000"/>
                <a:ext cx="762000" cy="1371600"/>
              </a:xfrm>
              <a:prstGeom prst="line">
                <a:avLst/>
              </a:prstGeom>
              <a:ln w="50800">
                <a:solidFill>
                  <a:srgbClr val="00206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6623" name="Group 83"/>
              <p:cNvGrpSpPr>
                <a:grpSpLocks/>
              </p:cNvGrpSpPr>
              <p:nvPr/>
            </p:nvGrpSpPr>
            <p:grpSpPr bwMode="auto">
              <a:xfrm>
                <a:off x="6477000" y="5928360"/>
                <a:ext cx="304800" cy="396240"/>
                <a:chOff x="6248400" y="4328160"/>
                <a:chExt cx="304800" cy="396240"/>
              </a:xfrm>
            </p:grpSpPr>
            <p:sp>
              <p:nvSpPr>
                <p:cNvPr id="87" name="Oval 86"/>
                <p:cNvSpPr/>
                <p:nvPr/>
              </p:nvSpPr>
              <p:spPr>
                <a:xfrm>
                  <a:off x="6477000" y="4632325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88" name="Oval 87"/>
                <p:cNvSpPr/>
                <p:nvPr/>
              </p:nvSpPr>
              <p:spPr>
                <a:xfrm>
                  <a:off x="6248400" y="4327525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</p:grpSp>
      </p:grpSp>
      <p:grpSp>
        <p:nvGrpSpPr>
          <p:cNvPr id="20" name="Group 97"/>
          <p:cNvGrpSpPr>
            <a:grpSpLocks/>
          </p:cNvGrpSpPr>
          <p:nvPr/>
        </p:nvGrpSpPr>
        <p:grpSpPr bwMode="auto">
          <a:xfrm>
            <a:off x="6324600" y="4876800"/>
            <a:ext cx="304800" cy="1219200"/>
            <a:chOff x="6324600" y="4876800"/>
            <a:chExt cx="304800" cy="1219200"/>
          </a:xfrm>
        </p:grpSpPr>
        <p:cxnSp>
          <p:nvCxnSpPr>
            <p:cNvPr id="90" name="Straight Connector 89"/>
            <p:cNvCxnSpPr/>
            <p:nvPr/>
          </p:nvCxnSpPr>
          <p:spPr>
            <a:xfrm>
              <a:off x="6364288" y="5105400"/>
              <a:ext cx="0" cy="6858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6553200" y="4876800"/>
              <a:ext cx="39688" cy="12192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/>
            <p:cNvSpPr/>
            <p:nvPr/>
          </p:nvSpPr>
          <p:spPr>
            <a:xfrm>
              <a:off x="6553200" y="4876800"/>
              <a:ext cx="76200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6324600" y="5029200"/>
              <a:ext cx="76200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1" name="Group 121"/>
          <p:cNvGrpSpPr>
            <a:grpSpLocks/>
          </p:cNvGrpSpPr>
          <p:nvPr/>
        </p:nvGrpSpPr>
        <p:grpSpPr bwMode="auto">
          <a:xfrm>
            <a:off x="3581400" y="4800600"/>
            <a:ext cx="2286000" cy="1524000"/>
            <a:chOff x="3581400" y="4800600"/>
            <a:chExt cx="2286000" cy="1524000"/>
          </a:xfrm>
        </p:grpSpPr>
        <p:sp>
          <p:nvSpPr>
            <p:cNvPr id="99" name="Right Arrow 98"/>
            <p:cNvSpPr/>
            <p:nvPr/>
          </p:nvSpPr>
          <p:spPr>
            <a:xfrm rot="10800000" flipV="1">
              <a:off x="5334000" y="5486400"/>
              <a:ext cx="5334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66600" name="Group 101"/>
            <p:cNvGrpSpPr>
              <a:grpSpLocks/>
            </p:cNvGrpSpPr>
            <p:nvPr/>
          </p:nvGrpSpPr>
          <p:grpSpPr bwMode="auto">
            <a:xfrm>
              <a:off x="3581400" y="4800600"/>
              <a:ext cx="1600200" cy="1524000"/>
              <a:chOff x="6172200" y="4876800"/>
              <a:chExt cx="1600200" cy="1524000"/>
            </a:xfrm>
          </p:grpSpPr>
          <p:grpSp>
            <p:nvGrpSpPr>
              <p:cNvPr id="66604" name="Group 102"/>
              <p:cNvGrpSpPr>
                <a:grpSpLocks/>
              </p:cNvGrpSpPr>
              <p:nvPr/>
            </p:nvGrpSpPr>
            <p:grpSpPr bwMode="auto">
              <a:xfrm>
                <a:off x="6172200" y="4876800"/>
                <a:ext cx="1600200" cy="1524000"/>
                <a:chOff x="5943600" y="3276600"/>
                <a:chExt cx="1600200" cy="1524000"/>
              </a:xfrm>
            </p:grpSpPr>
            <p:sp>
              <p:nvSpPr>
                <p:cNvPr id="108" name="Oval 107"/>
                <p:cNvSpPr/>
                <p:nvPr/>
              </p:nvSpPr>
              <p:spPr>
                <a:xfrm>
                  <a:off x="7183438" y="4175125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grpSp>
              <p:nvGrpSpPr>
                <p:cNvPr id="66609" name="Group 38"/>
                <p:cNvGrpSpPr>
                  <a:grpSpLocks/>
                </p:cNvGrpSpPr>
                <p:nvPr/>
              </p:nvGrpSpPr>
              <p:grpSpPr bwMode="auto">
                <a:xfrm>
                  <a:off x="5943600" y="3276600"/>
                  <a:ext cx="1600200" cy="1524000"/>
                  <a:chOff x="3276600" y="3276600"/>
                  <a:chExt cx="1600200" cy="1524000"/>
                </a:xfrm>
              </p:grpSpPr>
              <p:cxnSp>
                <p:nvCxnSpPr>
                  <p:cNvPr id="111" name="Straight Connector 110"/>
                  <p:cNvCxnSpPr/>
                  <p:nvPr/>
                </p:nvCxnSpPr>
                <p:spPr>
                  <a:xfrm>
                    <a:off x="3276600" y="4038600"/>
                    <a:ext cx="1600200" cy="0"/>
                  </a:xfrm>
                  <a:prstGeom prst="line">
                    <a:avLst/>
                  </a:prstGeom>
                  <a:ln w="25400"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6611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3276600" y="3276600"/>
                    <a:ext cx="1600200" cy="1524000"/>
                    <a:chOff x="3276600" y="3276600"/>
                    <a:chExt cx="1600200" cy="1524000"/>
                  </a:xfrm>
                </p:grpSpPr>
                <p:sp>
                  <p:nvSpPr>
                    <p:cNvPr id="113" name="Oval 112"/>
                    <p:cNvSpPr/>
                    <p:nvPr/>
                  </p:nvSpPr>
                  <p:spPr>
                    <a:xfrm>
                      <a:off x="3276600" y="3276600"/>
                      <a:ext cx="1600200" cy="1524000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002060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  <p:cxnSp>
                  <p:nvCxnSpPr>
                    <p:cNvPr id="114" name="Straight Connector 113"/>
                    <p:cNvCxnSpPr>
                      <a:stCxn id="113" idx="0"/>
                      <a:endCxn id="113" idx="4"/>
                    </p:cNvCxnSpPr>
                    <p:nvPr/>
                  </p:nvCxnSpPr>
                  <p:spPr>
                    <a:xfrm>
                      <a:off x="4076700" y="3276600"/>
                      <a:ext cx="0" cy="1524000"/>
                    </a:xfrm>
                    <a:prstGeom prst="line">
                      <a:avLst/>
                    </a:prstGeom>
                    <a:ln w="25400"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5" name="Oval 114"/>
                    <p:cNvSpPr/>
                    <p:nvPr/>
                  </p:nvSpPr>
                  <p:spPr>
                    <a:xfrm>
                      <a:off x="4495800" y="3810000"/>
                      <a:ext cx="76200" cy="92075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</p:grpSp>
            </p:grpSp>
          </p:grpSp>
          <p:grpSp>
            <p:nvGrpSpPr>
              <p:cNvPr id="66605" name="Group 104"/>
              <p:cNvGrpSpPr>
                <a:grpSpLocks/>
              </p:cNvGrpSpPr>
              <p:nvPr/>
            </p:nvGrpSpPr>
            <p:grpSpPr bwMode="auto">
              <a:xfrm>
                <a:off x="6477000" y="5928360"/>
                <a:ext cx="304800" cy="335280"/>
                <a:chOff x="6248400" y="4328160"/>
                <a:chExt cx="304800" cy="335280"/>
              </a:xfrm>
            </p:grpSpPr>
            <p:sp>
              <p:nvSpPr>
                <p:cNvPr id="106" name="Oval 105"/>
                <p:cNvSpPr/>
                <p:nvPr/>
              </p:nvSpPr>
              <p:spPr>
                <a:xfrm>
                  <a:off x="6477000" y="4572000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6248400" y="4327525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</p:grpSp>
        <p:grpSp>
          <p:nvGrpSpPr>
            <p:cNvPr id="66601" name="Group 115"/>
            <p:cNvGrpSpPr>
              <a:grpSpLocks/>
            </p:cNvGrpSpPr>
            <p:nvPr/>
          </p:nvGrpSpPr>
          <p:grpSpPr bwMode="auto">
            <a:xfrm>
              <a:off x="3886200" y="4953000"/>
              <a:ext cx="304800" cy="243840"/>
              <a:chOff x="6324600" y="4876800"/>
              <a:chExt cx="304800" cy="243840"/>
            </a:xfrm>
          </p:grpSpPr>
          <p:sp>
            <p:nvSpPr>
              <p:cNvPr id="119" name="Oval 118"/>
              <p:cNvSpPr/>
              <p:nvPr/>
            </p:nvSpPr>
            <p:spPr>
              <a:xfrm>
                <a:off x="6553200" y="4876800"/>
                <a:ext cx="76200" cy="9207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6324600" y="5029200"/>
                <a:ext cx="76200" cy="9207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121" name="Isosceles Triangle 120"/>
          <p:cNvSpPr/>
          <p:nvPr/>
        </p:nvSpPr>
        <p:spPr>
          <a:xfrm>
            <a:off x="4306888" y="5440680"/>
            <a:ext cx="152400" cy="1524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1143000" y="4876800"/>
            <a:ext cx="2286000" cy="1524000"/>
            <a:chOff x="1143000" y="4876800"/>
            <a:chExt cx="2286000" cy="1524000"/>
          </a:xfrm>
        </p:grpSpPr>
        <p:grpSp>
          <p:nvGrpSpPr>
            <p:cNvPr id="66579" name="Group 122"/>
            <p:cNvGrpSpPr>
              <a:grpSpLocks/>
            </p:cNvGrpSpPr>
            <p:nvPr/>
          </p:nvGrpSpPr>
          <p:grpSpPr bwMode="auto">
            <a:xfrm>
              <a:off x="1143000" y="4876800"/>
              <a:ext cx="2286000" cy="1524000"/>
              <a:chOff x="3581400" y="4800600"/>
              <a:chExt cx="2286000" cy="1524000"/>
            </a:xfrm>
          </p:grpSpPr>
          <p:sp>
            <p:nvSpPr>
              <p:cNvPr id="124" name="Right Arrow 123"/>
              <p:cNvSpPr/>
              <p:nvPr/>
            </p:nvSpPr>
            <p:spPr>
              <a:xfrm rot="10800000" flipV="1">
                <a:off x="5334000" y="5486400"/>
                <a:ext cx="533400" cy="1524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grpSp>
            <p:nvGrpSpPr>
              <p:cNvPr id="66584" name="Group 124"/>
              <p:cNvGrpSpPr>
                <a:grpSpLocks/>
              </p:cNvGrpSpPr>
              <p:nvPr/>
            </p:nvGrpSpPr>
            <p:grpSpPr bwMode="auto">
              <a:xfrm>
                <a:off x="3581400" y="4800600"/>
                <a:ext cx="1600200" cy="1524000"/>
                <a:chOff x="6172200" y="4876800"/>
                <a:chExt cx="1600200" cy="1524000"/>
              </a:xfrm>
            </p:grpSpPr>
            <p:grpSp>
              <p:nvGrpSpPr>
                <p:cNvPr id="66588" name="Group 128"/>
                <p:cNvGrpSpPr>
                  <a:grpSpLocks/>
                </p:cNvGrpSpPr>
                <p:nvPr/>
              </p:nvGrpSpPr>
              <p:grpSpPr bwMode="auto">
                <a:xfrm>
                  <a:off x="6172200" y="4876800"/>
                  <a:ext cx="1600200" cy="1524000"/>
                  <a:chOff x="5943600" y="3276600"/>
                  <a:chExt cx="1600200" cy="1524000"/>
                </a:xfrm>
              </p:grpSpPr>
              <p:sp>
                <p:nvSpPr>
                  <p:cNvPr id="133" name="Oval 132"/>
                  <p:cNvSpPr/>
                  <p:nvPr/>
                </p:nvSpPr>
                <p:spPr>
                  <a:xfrm>
                    <a:off x="7183438" y="4175125"/>
                    <a:ext cx="76200" cy="9207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grpSp>
                <p:nvGrpSpPr>
                  <p:cNvPr id="66593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5943600" y="3276600"/>
                    <a:ext cx="1600200" cy="1524000"/>
                    <a:chOff x="3276600" y="3276600"/>
                    <a:chExt cx="1600200" cy="1524000"/>
                  </a:xfrm>
                </p:grpSpPr>
                <p:cxnSp>
                  <p:nvCxnSpPr>
                    <p:cNvPr id="135" name="Straight Connector 134"/>
                    <p:cNvCxnSpPr/>
                    <p:nvPr/>
                  </p:nvCxnSpPr>
                  <p:spPr>
                    <a:xfrm>
                      <a:off x="3276600" y="4038600"/>
                      <a:ext cx="1600200" cy="0"/>
                    </a:xfrm>
                    <a:prstGeom prst="line">
                      <a:avLst/>
                    </a:prstGeom>
                    <a:ln w="25400"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6595" name="Group 3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76600" y="3276600"/>
                      <a:ext cx="1600200" cy="1524000"/>
                      <a:chOff x="3276600" y="3276600"/>
                      <a:chExt cx="1600200" cy="1524000"/>
                    </a:xfrm>
                  </p:grpSpPr>
                  <p:sp>
                    <p:nvSpPr>
                      <p:cNvPr id="137" name="Oval 136"/>
                      <p:cNvSpPr/>
                      <p:nvPr/>
                    </p:nvSpPr>
                    <p:spPr>
                      <a:xfrm>
                        <a:off x="3276600" y="3276600"/>
                        <a:ext cx="1600200" cy="1524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rgbClr val="002060"/>
                        </a:solidFill>
                        <a:prstDash val="sysDot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/>
                      </a:p>
                    </p:txBody>
                  </p:sp>
                  <p:cxnSp>
                    <p:nvCxnSpPr>
                      <p:cNvPr id="138" name="Straight Connector 137"/>
                      <p:cNvCxnSpPr>
                        <a:stCxn id="137" idx="0"/>
                        <a:endCxn id="137" idx="4"/>
                      </p:cNvCxnSpPr>
                      <p:nvPr/>
                    </p:nvCxnSpPr>
                    <p:spPr>
                      <a:xfrm>
                        <a:off x="4076700" y="3276600"/>
                        <a:ext cx="0" cy="1524000"/>
                      </a:xfrm>
                      <a:prstGeom prst="line">
                        <a:avLst/>
                      </a:prstGeom>
                      <a:ln w="25400">
                        <a:prstDash val="sysDot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9" name="Oval 138"/>
                      <p:cNvSpPr/>
                      <p:nvPr/>
                    </p:nvSpPr>
                    <p:spPr>
                      <a:xfrm>
                        <a:off x="4495800" y="3810000"/>
                        <a:ext cx="76200" cy="92075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/>
                      </a:p>
                    </p:txBody>
                  </p:sp>
                </p:grpSp>
              </p:grpSp>
            </p:grpSp>
            <p:grpSp>
              <p:nvGrpSpPr>
                <p:cNvPr id="66589" name="Group 129"/>
                <p:cNvGrpSpPr>
                  <a:grpSpLocks/>
                </p:cNvGrpSpPr>
                <p:nvPr/>
              </p:nvGrpSpPr>
              <p:grpSpPr bwMode="auto">
                <a:xfrm>
                  <a:off x="6400800" y="5928360"/>
                  <a:ext cx="381000" cy="335280"/>
                  <a:chOff x="6172200" y="4328160"/>
                  <a:chExt cx="381000" cy="335280"/>
                </a:xfrm>
              </p:grpSpPr>
              <p:sp>
                <p:nvSpPr>
                  <p:cNvPr id="131" name="Oval 130"/>
                  <p:cNvSpPr/>
                  <p:nvPr/>
                </p:nvSpPr>
                <p:spPr>
                  <a:xfrm>
                    <a:off x="6477000" y="4572000"/>
                    <a:ext cx="76200" cy="9207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sp>
                <p:nvSpPr>
                  <p:cNvPr id="132" name="Oval 131"/>
                  <p:cNvSpPr/>
                  <p:nvPr/>
                </p:nvSpPr>
                <p:spPr>
                  <a:xfrm>
                    <a:off x="6172200" y="4327525"/>
                    <a:ext cx="76200" cy="9207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66585" name="Group 125"/>
              <p:cNvGrpSpPr>
                <a:grpSpLocks/>
              </p:cNvGrpSpPr>
              <p:nvPr/>
            </p:nvGrpSpPr>
            <p:grpSpPr bwMode="auto">
              <a:xfrm>
                <a:off x="3886200" y="4953000"/>
                <a:ext cx="381000" cy="243840"/>
                <a:chOff x="6324600" y="4876800"/>
                <a:chExt cx="381000" cy="243840"/>
              </a:xfrm>
            </p:grpSpPr>
            <p:sp>
              <p:nvSpPr>
                <p:cNvPr id="127" name="Oval 126"/>
                <p:cNvSpPr/>
                <p:nvPr/>
              </p:nvSpPr>
              <p:spPr>
                <a:xfrm>
                  <a:off x="6629400" y="4876800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28" name="Oval 127"/>
                <p:cNvSpPr/>
                <p:nvPr/>
              </p:nvSpPr>
              <p:spPr>
                <a:xfrm>
                  <a:off x="6324600" y="5029200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</p:grpSp>
        <p:cxnSp>
          <p:nvCxnSpPr>
            <p:cNvPr id="141" name="Straight Connector 140"/>
            <p:cNvCxnSpPr/>
            <p:nvPr/>
          </p:nvCxnSpPr>
          <p:spPr bwMode="auto">
            <a:xfrm>
              <a:off x="1524000" y="4953000"/>
              <a:ext cx="762000" cy="1371600"/>
            </a:xfrm>
            <a:prstGeom prst="line">
              <a:avLst/>
            </a:prstGeom>
            <a:ln w="50800">
              <a:solidFill>
                <a:srgbClr val="00206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 bwMode="auto">
            <a:xfrm>
              <a:off x="1143000" y="5638800"/>
              <a:ext cx="1600200" cy="0"/>
            </a:xfrm>
            <a:prstGeom prst="line">
              <a:avLst/>
            </a:prstGeom>
            <a:ln w="50800">
              <a:solidFill>
                <a:srgbClr val="00206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3" name="Straight Connector 142"/>
          <p:cNvCxnSpPr/>
          <p:nvPr/>
        </p:nvCxnSpPr>
        <p:spPr bwMode="auto">
          <a:xfrm flipV="1">
            <a:off x="1447800" y="5029200"/>
            <a:ext cx="914400" cy="1219200"/>
          </a:xfrm>
          <a:prstGeom prst="line">
            <a:avLst/>
          </a:prstGeom>
          <a:ln w="508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>
            <a:off x="1828800" y="5562600"/>
            <a:ext cx="152400" cy="1524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0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04800" y="1143000"/>
            <a:ext cx="8534400" cy="2590800"/>
          </a:xfrm>
          <a:prstGeom prst="rect">
            <a:avLst/>
          </a:prstGeom>
        </p:spPr>
        <p:txBody>
          <a:bodyPr/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+mj-lt"/>
              <a:buAutoNum type="arabicPeriod" startAt="2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If a </a:t>
            </a:r>
            <a:r>
              <a:rPr lang="en-US" sz="2100" b="1" dirty="0">
                <a:solidFill>
                  <a:srgbClr val="00B050"/>
                </a:solidFill>
                <a:cs typeface="Arial" pitchFamily="34" charset="0"/>
              </a:rPr>
              <a:t>mirror plane </a:t>
            </a:r>
            <a:r>
              <a:rPr lang="en-US" sz="2100" b="1" dirty="0">
                <a:solidFill>
                  <a:srgbClr val="7030A0"/>
                </a:solidFill>
                <a:cs typeface="Arial" pitchFamily="34" charset="0"/>
              </a:rPr>
              <a:t>contains</a:t>
            </a:r>
            <a:r>
              <a:rPr lang="en-US" sz="2100" b="1" dirty="0">
                <a:cs typeface="Arial" pitchFamily="34" charset="0"/>
              </a:rPr>
              <a:t> </a:t>
            </a:r>
            <a:r>
              <a:rPr lang="en-US" sz="2100" b="1" dirty="0" smtClean="0">
                <a:cs typeface="Arial" pitchFamily="34" charset="0"/>
              </a:rPr>
              <a:t>an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n</a:t>
            </a:r>
            <a:r>
              <a:rPr lang="en-US" sz="2100" b="1" dirty="0">
                <a:cs typeface="Arial" pitchFamily="34" charset="0"/>
              </a:rPr>
              <a:t>-fold axis, then there are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n-1 </a:t>
            </a:r>
            <a:r>
              <a:rPr lang="en-US" sz="2100" b="1" dirty="0">
                <a:solidFill>
                  <a:srgbClr val="00B050"/>
                </a:solidFill>
                <a:cs typeface="Arial" pitchFamily="34" charset="0"/>
              </a:rPr>
              <a:t>additional mirror planes </a:t>
            </a:r>
            <a:r>
              <a:rPr lang="en-US" sz="2100" b="1" dirty="0">
                <a:cs typeface="Arial" pitchFamily="34" charset="0"/>
              </a:rPr>
              <a:t>which also contains the axis.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This is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converse </a:t>
            </a:r>
            <a:r>
              <a:rPr lang="en-US" sz="2100" b="1" dirty="0">
                <a:cs typeface="Arial" pitchFamily="34" charset="0"/>
              </a:rPr>
              <a:t>of previous relationship</a:t>
            </a: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cs typeface="Arial" pitchFamily="34" charset="0"/>
              </a:rPr>
              <a:t>The </a:t>
            </a:r>
            <a:r>
              <a:rPr lang="en-US" sz="2100" b="1" dirty="0" smtClean="0">
                <a:solidFill>
                  <a:srgbClr val="7030A0"/>
                </a:solidFill>
                <a:cs typeface="Arial" pitchFamily="34" charset="0"/>
              </a:rPr>
              <a:t>original mirror plane combined with 3-fold rotation </a:t>
            </a:r>
            <a:r>
              <a:rPr lang="en-US" sz="2100" b="1" dirty="0">
                <a:solidFill>
                  <a:srgbClr val="7030A0"/>
                </a:solidFill>
                <a:cs typeface="Arial" pitchFamily="34" charset="0"/>
              </a:rPr>
              <a:t>axis </a:t>
            </a:r>
            <a:r>
              <a:rPr lang="en-US" sz="2100" b="1" dirty="0">
                <a:cs typeface="Arial" pitchFamily="34" charset="0"/>
              </a:rPr>
              <a:t>generates the </a:t>
            </a:r>
            <a:r>
              <a:rPr lang="en-US" sz="2100" b="1" dirty="0">
                <a:solidFill>
                  <a:srgbClr val="00B0F0"/>
                </a:solidFill>
                <a:cs typeface="Arial" pitchFamily="34" charset="0"/>
              </a:rPr>
              <a:t>stereogram</a:t>
            </a:r>
            <a:r>
              <a:rPr lang="en-US" sz="2100" b="1" dirty="0">
                <a:cs typeface="Arial" pitchFamily="34" charset="0"/>
              </a:rPr>
              <a:t> </a:t>
            </a:r>
            <a:r>
              <a:rPr lang="en-US" sz="2100" b="1" dirty="0" smtClean="0">
                <a:cs typeface="Arial" pitchFamily="34" charset="0"/>
              </a:rPr>
              <a:t>as </a:t>
            </a:r>
            <a:r>
              <a:rPr lang="en-US" sz="2100" b="1" dirty="0">
                <a:cs typeface="Arial" pitchFamily="34" charset="0"/>
              </a:rPr>
              <a:t>shown. The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triad axis </a:t>
            </a:r>
            <a:r>
              <a:rPr lang="en-US" sz="2100" b="1" dirty="0">
                <a:cs typeface="Arial" pitchFamily="34" charset="0"/>
              </a:rPr>
              <a:t>has created </a:t>
            </a:r>
            <a:r>
              <a:rPr lang="en-US" sz="2100" b="1" dirty="0">
                <a:solidFill>
                  <a:srgbClr val="7030A0"/>
                </a:solidFill>
                <a:cs typeface="Arial" pitchFamily="34" charset="0"/>
              </a:rPr>
              <a:t>additional two mirror planes</a:t>
            </a:r>
            <a:r>
              <a:rPr lang="en-US" sz="2100" b="1" dirty="0">
                <a:cs typeface="Arial" pitchFamily="34" charset="0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4025" y="381000"/>
            <a:ext cx="84613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Representation of crystallographic point groups</a:t>
            </a:r>
          </a:p>
        </p:txBody>
      </p:sp>
      <p:grpSp>
        <p:nvGrpSpPr>
          <p:cNvPr id="67616" name="Group 104"/>
          <p:cNvGrpSpPr>
            <a:grpSpLocks/>
          </p:cNvGrpSpPr>
          <p:nvPr/>
        </p:nvGrpSpPr>
        <p:grpSpPr bwMode="auto">
          <a:xfrm>
            <a:off x="4038600" y="5394960"/>
            <a:ext cx="304800" cy="335280"/>
            <a:chOff x="6248400" y="4328160"/>
            <a:chExt cx="304800" cy="335280"/>
          </a:xfrm>
        </p:grpSpPr>
        <p:sp>
          <p:nvSpPr>
            <p:cNvPr id="106" name="Oval 105"/>
            <p:cNvSpPr/>
            <p:nvPr/>
          </p:nvSpPr>
          <p:spPr>
            <a:xfrm>
              <a:off x="6477000" y="4572000"/>
              <a:ext cx="76200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6248400" y="4327525"/>
              <a:ext cx="76200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7612" name="Group 115"/>
          <p:cNvGrpSpPr>
            <a:grpSpLocks/>
          </p:cNvGrpSpPr>
          <p:nvPr/>
        </p:nvGrpSpPr>
        <p:grpSpPr bwMode="auto">
          <a:xfrm>
            <a:off x="4038600" y="4495800"/>
            <a:ext cx="304800" cy="243840"/>
            <a:chOff x="6324600" y="4876800"/>
            <a:chExt cx="304800" cy="243840"/>
          </a:xfrm>
        </p:grpSpPr>
        <p:sp>
          <p:nvSpPr>
            <p:cNvPr id="119" name="Oval 118"/>
            <p:cNvSpPr/>
            <p:nvPr/>
          </p:nvSpPr>
          <p:spPr>
            <a:xfrm>
              <a:off x="6553200" y="4876800"/>
              <a:ext cx="76200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0" name="Oval 119"/>
            <p:cNvSpPr/>
            <p:nvPr/>
          </p:nvSpPr>
          <p:spPr>
            <a:xfrm>
              <a:off x="6324600" y="5029200"/>
              <a:ext cx="76200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141" name="Straight Connector 140"/>
          <p:cNvCxnSpPr/>
          <p:nvPr/>
        </p:nvCxnSpPr>
        <p:spPr bwMode="auto">
          <a:xfrm>
            <a:off x="1295400" y="4419600"/>
            <a:ext cx="762000" cy="1371600"/>
          </a:xfrm>
          <a:prstGeom prst="line">
            <a:avLst/>
          </a:prstGeom>
          <a:ln w="50800">
            <a:solidFill>
              <a:srgbClr val="00B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 bwMode="auto">
          <a:xfrm flipV="1">
            <a:off x="1219200" y="4495800"/>
            <a:ext cx="914400" cy="1219200"/>
          </a:xfrm>
          <a:prstGeom prst="line">
            <a:avLst/>
          </a:prstGeom>
          <a:ln w="50800">
            <a:solidFill>
              <a:srgbClr val="00B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 bwMode="auto">
          <a:xfrm>
            <a:off x="7924800" y="5181600"/>
            <a:ext cx="76200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2" name="Group 38"/>
          <p:cNvGrpSpPr>
            <a:grpSpLocks/>
          </p:cNvGrpSpPr>
          <p:nvPr/>
        </p:nvGrpSpPr>
        <p:grpSpPr bwMode="auto">
          <a:xfrm>
            <a:off x="6684962" y="4283075"/>
            <a:ext cx="1600200" cy="1524000"/>
            <a:chOff x="3276600" y="3276600"/>
            <a:chExt cx="1600200" cy="1524000"/>
          </a:xfrm>
        </p:grpSpPr>
        <p:cxnSp>
          <p:nvCxnSpPr>
            <p:cNvPr id="53" name="Straight Connector 52"/>
            <p:cNvCxnSpPr/>
            <p:nvPr/>
          </p:nvCxnSpPr>
          <p:spPr>
            <a:xfrm>
              <a:off x="3276600" y="4038600"/>
              <a:ext cx="1600200" cy="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35"/>
            <p:cNvGrpSpPr>
              <a:grpSpLocks/>
            </p:cNvGrpSpPr>
            <p:nvPr/>
          </p:nvGrpSpPr>
          <p:grpSpPr bwMode="auto">
            <a:xfrm>
              <a:off x="3276600" y="3276600"/>
              <a:ext cx="1600200" cy="1524000"/>
              <a:chOff x="3276600" y="3276600"/>
              <a:chExt cx="1600200" cy="152400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3276600" y="3276600"/>
                <a:ext cx="1600200" cy="1524000"/>
              </a:xfrm>
              <a:prstGeom prst="ellipse">
                <a:avLst/>
              </a:prstGeom>
              <a:noFill/>
              <a:ln>
                <a:solidFill>
                  <a:srgbClr val="00206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56" name="Straight Connector 55"/>
              <p:cNvCxnSpPr>
                <a:stCxn id="55" idx="0"/>
                <a:endCxn id="55" idx="4"/>
              </p:cNvCxnSpPr>
              <p:nvPr/>
            </p:nvCxnSpPr>
            <p:spPr>
              <a:xfrm>
                <a:off x="4076700" y="3276600"/>
                <a:ext cx="0" cy="152400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/>
              <p:cNvSpPr/>
              <p:nvPr/>
            </p:nvSpPr>
            <p:spPr>
              <a:xfrm>
                <a:off x="4495800" y="3810000"/>
                <a:ext cx="76200" cy="9207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cxnSp>
        <p:nvCxnSpPr>
          <p:cNvPr id="59" name="Straight Connector 58"/>
          <p:cNvCxnSpPr/>
          <p:nvPr/>
        </p:nvCxnSpPr>
        <p:spPr bwMode="auto">
          <a:xfrm>
            <a:off x="6684962" y="5045075"/>
            <a:ext cx="1600200" cy="0"/>
          </a:xfrm>
          <a:prstGeom prst="line">
            <a:avLst/>
          </a:prstGeom>
          <a:ln w="508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3733800" y="4343400"/>
            <a:ext cx="2514600" cy="1524000"/>
            <a:chOff x="3733800" y="4343400"/>
            <a:chExt cx="2514600" cy="1524000"/>
          </a:xfrm>
        </p:grpSpPr>
        <p:grpSp>
          <p:nvGrpSpPr>
            <p:cNvPr id="67615" name="Group 102"/>
            <p:cNvGrpSpPr>
              <a:grpSpLocks/>
            </p:cNvGrpSpPr>
            <p:nvPr/>
          </p:nvGrpSpPr>
          <p:grpSpPr bwMode="auto">
            <a:xfrm>
              <a:off x="3733800" y="4343400"/>
              <a:ext cx="1600200" cy="1524000"/>
              <a:chOff x="5943600" y="3276600"/>
              <a:chExt cx="1600200" cy="1524000"/>
            </a:xfrm>
          </p:grpSpPr>
          <p:sp>
            <p:nvSpPr>
              <p:cNvPr id="108" name="Oval 107"/>
              <p:cNvSpPr/>
              <p:nvPr/>
            </p:nvSpPr>
            <p:spPr>
              <a:xfrm>
                <a:off x="7183438" y="4175125"/>
                <a:ext cx="76200" cy="9207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grpSp>
            <p:nvGrpSpPr>
              <p:cNvPr id="67620" name="Group 38"/>
              <p:cNvGrpSpPr>
                <a:grpSpLocks/>
              </p:cNvGrpSpPr>
              <p:nvPr/>
            </p:nvGrpSpPr>
            <p:grpSpPr bwMode="auto">
              <a:xfrm>
                <a:off x="5943600" y="3276600"/>
                <a:ext cx="1600200" cy="1524000"/>
                <a:chOff x="3276600" y="3276600"/>
                <a:chExt cx="1600200" cy="1524000"/>
              </a:xfrm>
            </p:grpSpPr>
            <p:cxnSp>
              <p:nvCxnSpPr>
                <p:cNvPr id="111" name="Straight Connector 110"/>
                <p:cNvCxnSpPr/>
                <p:nvPr/>
              </p:nvCxnSpPr>
              <p:spPr>
                <a:xfrm>
                  <a:off x="3276600" y="4038600"/>
                  <a:ext cx="1600200" cy="0"/>
                </a:xfrm>
                <a:prstGeom prst="line">
                  <a:avLst/>
                </a:prstGeom>
                <a:ln w="2540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7622" name="Group 35"/>
                <p:cNvGrpSpPr>
                  <a:grpSpLocks/>
                </p:cNvGrpSpPr>
                <p:nvPr/>
              </p:nvGrpSpPr>
              <p:grpSpPr bwMode="auto">
                <a:xfrm>
                  <a:off x="3276600" y="3276600"/>
                  <a:ext cx="1600200" cy="1524000"/>
                  <a:chOff x="3276600" y="3276600"/>
                  <a:chExt cx="1600200" cy="1524000"/>
                </a:xfrm>
              </p:grpSpPr>
              <p:sp>
                <p:nvSpPr>
                  <p:cNvPr id="113" name="Oval 112"/>
                  <p:cNvSpPr/>
                  <p:nvPr/>
                </p:nvSpPr>
                <p:spPr>
                  <a:xfrm>
                    <a:off x="3276600" y="3276600"/>
                    <a:ext cx="1600200" cy="1524000"/>
                  </a:xfrm>
                  <a:prstGeom prst="ellipse">
                    <a:avLst/>
                  </a:prstGeom>
                  <a:noFill/>
                  <a:ln>
                    <a:solidFill>
                      <a:srgbClr val="00206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cxnSp>
                <p:nvCxnSpPr>
                  <p:cNvPr id="114" name="Straight Connector 113"/>
                  <p:cNvCxnSpPr>
                    <a:stCxn id="113" idx="0"/>
                    <a:endCxn id="113" idx="4"/>
                  </p:cNvCxnSpPr>
                  <p:nvPr/>
                </p:nvCxnSpPr>
                <p:spPr>
                  <a:xfrm>
                    <a:off x="4076700" y="3276600"/>
                    <a:ext cx="0" cy="1524000"/>
                  </a:xfrm>
                  <a:prstGeom prst="line">
                    <a:avLst/>
                  </a:prstGeom>
                  <a:ln w="25400"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" name="Oval 114"/>
                  <p:cNvSpPr/>
                  <p:nvPr/>
                </p:nvSpPr>
                <p:spPr>
                  <a:xfrm>
                    <a:off x="4495800" y="3810000"/>
                    <a:ext cx="76200" cy="9207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</p:grpSp>
          </p:grpSp>
        </p:grpSp>
        <p:sp>
          <p:nvSpPr>
            <p:cNvPr id="60" name="Right Arrow 59"/>
            <p:cNvSpPr/>
            <p:nvPr/>
          </p:nvSpPr>
          <p:spPr bwMode="auto">
            <a:xfrm rot="10800000" flipV="1">
              <a:off x="5715000" y="5029200"/>
              <a:ext cx="5334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61" name="Straight Connector 60"/>
            <p:cNvCxnSpPr/>
            <p:nvPr/>
          </p:nvCxnSpPr>
          <p:spPr bwMode="auto">
            <a:xfrm>
              <a:off x="3733800" y="5105400"/>
              <a:ext cx="1600200" cy="0"/>
            </a:xfrm>
            <a:prstGeom prst="line">
              <a:avLst/>
            </a:prstGeom>
            <a:ln w="50800">
              <a:solidFill>
                <a:srgbClr val="00206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Isosceles Triangle 120"/>
          <p:cNvSpPr/>
          <p:nvPr/>
        </p:nvSpPr>
        <p:spPr>
          <a:xfrm>
            <a:off x="4459288" y="5029200"/>
            <a:ext cx="152400" cy="1524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914400" y="4343400"/>
            <a:ext cx="2286000" cy="1524000"/>
            <a:chOff x="914400" y="4343400"/>
            <a:chExt cx="2286000" cy="1524000"/>
          </a:xfrm>
        </p:grpSpPr>
        <p:grpSp>
          <p:nvGrpSpPr>
            <p:cNvPr id="63" name="Group 62"/>
            <p:cNvGrpSpPr/>
            <p:nvPr/>
          </p:nvGrpSpPr>
          <p:grpSpPr>
            <a:xfrm>
              <a:off x="914400" y="4343400"/>
              <a:ext cx="2286000" cy="1524000"/>
              <a:chOff x="914400" y="4343400"/>
              <a:chExt cx="2286000" cy="1524000"/>
            </a:xfrm>
          </p:grpSpPr>
          <p:grpSp>
            <p:nvGrpSpPr>
              <p:cNvPr id="67591" name="Group 122"/>
              <p:cNvGrpSpPr>
                <a:grpSpLocks/>
              </p:cNvGrpSpPr>
              <p:nvPr/>
            </p:nvGrpSpPr>
            <p:grpSpPr bwMode="auto">
              <a:xfrm>
                <a:off x="914400" y="4343400"/>
                <a:ext cx="2286000" cy="1524000"/>
                <a:chOff x="3581400" y="4800600"/>
                <a:chExt cx="2286000" cy="1524000"/>
              </a:xfrm>
            </p:grpSpPr>
            <p:sp>
              <p:nvSpPr>
                <p:cNvPr id="124" name="Right Arrow 123"/>
                <p:cNvSpPr/>
                <p:nvPr/>
              </p:nvSpPr>
              <p:spPr>
                <a:xfrm rot="10800000" flipV="1">
                  <a:off x="5334000" y="5486400"/>
                  <a:ext cx="533400" cy="15240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grpSp>
              <p:nvGrpSpPr>
                <p:cNvPr id="67596" name="Group 124"/>
                <p:cNvGrpSpPr>
                  <a:grpSpLocks/>
                </p:cNvGrpSpPr>
                <p:nvPr/>
              </p:nvGrpSpPr>
              <p:grpSpPr bwMode="auto">
                <a:xfrm>
                  <a:off x="3581400" y="4800600"/>
                  <a:ext cx="1600200" cy="1524000"/>
                  <a:chOff x="6172200" y="4876800"/>
                  <a:chExt cx="1600200" cy="1524000"/>
                </a:xfrm>
              </p:grpSpPr>
              <p:grpSp>
                <p:nvGrpSpPr>
                  <p:cNvPr id="67600" name="Group 128"/>
                  <p:cNvGrpSpPr>
                    <a:grpSpLocks/>
                  </p:cNvGrpSpPr>
                  <p:nvPr/>
                </p:nvGrpSpPr>
                <p:grpSpPr bwMode="auto">
                  <a:xfrm>
                    <a:off x="6172200" y="4876800"/>
                    <a:ext cx="1600200" cy="1524000"/>
                    <a:chOff x="5943600" y="3276600"/>
                    <a:chExt cx="1600200" cy="1524000"/>
                  </a:xfrm>
                </p:grpSpPr>
                <p:sp>
                  <p:nvSpPr>
                    <p:cNvPr id="133" name="Oval 132"/>
                    <p:cNvSpPr/>
                    <p:nvPr/>
                  </p:nvSpPr>
                  <p:spPr>
                    <a:xfrm>
                      <a:off x="7183438" y="4175125"/>
                      <a:ext cx="76200" cy="92075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  <p:grpSp>
                  <p:nvGrpSpPr>
                    <p:cNvPr id="67605" name="Group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43600" y="3276600"/>
                      <a:ext cx="1600200" cy="1524000"/>
                      <a:chOff x="3276600" y="3276600"/>
                      <a:chExt cx="1600200" cy="1524000"/>
                    </a:xfrm>
                  </p:grpSpPr>
                  <p:cxnSp>
                    <p:nvCxnSpPr>
                      <p:cNvPr id="135" name="Straight Connector 134"/>
                      <p:cNvCxnSpPr/>
                      <p:nvPr/>
                    </p:nvCxnSpPr>
                    <p:spPr>
                      <a:xfrm>
                        <a:off x="3276600" y="4038600"/>
                        <a:ext cx="1600200" cy="0"/>
                      </a:xfrm>
                      <a:prstGeom prst="line">
                        <a:avLst/>
                      </a:prstGeom>
                      <a:ln w="25400">
                        <a:prstDash val="sysDot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67607" name="Group 3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276600" y="3276600"/>
                        <a:ext cx="1600200" cy="1524000"/>
                        <a:chOff x="3276600" y="3276600"/>
                        <a:chExt cx="1600200" cy="1524000"/>
                      </a:xfrm>
                    </p:grpSpPr>
                    <p:sp>
                      <p:nvSpPr>
                        <p:cNvPr id="137" name="Oval 136"/>
                        <p:cNvSpPr/>
                        <p:nvPr/>
                      </p:nvSpPr>
                      <p:spPr>
                        <a:xfrm>
                          <a:off x="3276600" y="3276600"/>
                          <a:ext cx="1600200" cy="1524000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rgbClr val="002060"/>
                          </a:solidFill>
                          <a:prstDash val="sysDot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defRPr/>
                          </a:pPr>
                          <a:endParaRPr lang="en-US"/>
                        </a:p>
                      </p:txBody>
                    </p:sp>
                    <p:cxnSp>
                      <p:nvCxnSpPr>
                        <p:cNvPr id="138" name="Straight Connector 137"/>
                        <p:cNvCxnSpPr>
                          <a:stCxn id="137" idx="0"/>
                          <a:endCxn id="137" idx="4"/>
                        </p:cNvCxnSpPr>
                        <p:nvPr/>
                      </p:nvCxnSpPr>
                      <p:spPr>
                        <a:xfrm>
                          <a:off x="4076700" y="3276600"/>
                          <a:ext cx="0" cy="1524000"/>
                        </a:xfrm>
                        <a:prstGeom prst="line">
                          <a:avLst/>
                        </a:prstGeom>
                        <a:ln w="25400">
                          <a:prstDash val="sysDot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39" name="Oval 138"/>
                        <p:cNvSpPr/>
                        <p:nvPr/>
                      </p:nvSpPr>
                      <p:spPr>
                        <a:xfrm>
                          <a:off x="4495800" y="3810000"/>
                          <a:ext cx="76200" cy="92075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defRPr/>
                          </a:pPr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7601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6400800" y="5928360"/>
                    <a:ext cx="381000" cy="335280"/>
                    <a:chOff x="6172200" y="4328160"/>
                    <a:chExt cx="381000" cy="335280"/>
                  </a:xfrm>
                </p:grpSpPr>
                <p:sp>
                  <p:nvSpPr>
                    <p:cNvPr id="131" name="Oval 130"/>
                    <p:cNvSpPr/>
                    <p:nvPr/>
                  </p:nvSpPr>
                  <p:spPr>
                    <a:xfrm>
                      <a:off x="6477000" y="4572000"/>
                      <a:ext cx="76200" cy="92075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132" name="Oval 131"/>
                    <p:cNvSpPr/>
                    <p:nvPr/>
                  </p:nvSpPr>
                  <p:spPr>
                    <a:xfrm>
                      <a:off x="6172200" y="4327525"/>
                      <a:ext cx="76200" cy="92075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</p:grpSp>
            </p:grpSp>
            <p:grpSp>
              <p:nvGrpSpPr>
                <p:cNvPr id="67597" name="Group 125"/>
                <p:cNvGrpSpPr>
                  <a:grpSpLocks/>
                </p:cNvGrpSpPr>
                <p:nvPr/>
              </p:nvGrpSpPr>
              <p:grpSpPr bwMode="auto">
                <a:xfrm>
                  <a:off x="3886200" y="4953000"/>
                  <a:ext cx="381000" cy="243840"/>
                  <a:chOff x="6324600" y="4876800"/>
                  <a:chExt cx="381000" cy="243840"/>
                </a:xfrm>
              </p:grpSpPr>
              <p:sp>
                <p:nvSpPr>
                  <p:cNvPr id="127" name="Oval 126"/>
                  <p:cNvSpPr/>
                  <p:nvPr/>
                </p:nvSpPr>
                <p:spPr>
                  <a:xfrm>
                    <a:off x="6629400" y="4876800"/>
                    <a:ext cx="76200" cy="9207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6324600" y="5029200"/>
                    <a:ext cx="76200" cy="9207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</p:grpSp>
          </p:grpSp>
          <p:cxnSp>
            <p:nvCxnSpPr>
              <p:cNvPr id="142" name="Straight Connector 141"/>
              <p:cNvCxnSpPr/>
              <p:nvPr/>
            </p:nvCxnSpPr>
            <p:spPr bwMode="auto">
              <a:xfrm>
                <a:off x="914400" y="5105400"/>
                <a:ext cx="1600200" cy="0"/>
              </a:xfrm>
              <a:prstGeom prst="line">
                <a:avLst/>
              </a:prstGeom>
              <a:ln w="50800">
                <a:solidFill>
                  <a:srgbClr val="00206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Isosceles Triangle 63"/>
            <p:cNvSpPr/>
            <p:nvPr/>
          </p:nvSpPr>
          <p:spPr>
            <a:xfrm>
              <a:off x="1627632" y="5029200"/>
              <a:ext cx="152400" cy="1524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1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04800" y="838200"/>
            <a:ext cx="8534400" cy="2057400"/>
          </a:xfrm>
          <a:prstGeom prst="rect">
            <a:avLst/>
          </a:prstGeom>
        </p:spPr>
        <p:txBody>
          <a:bodyPr/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+mj-lt"/>
              <a:buAutoNum type="arabicPeriod" startAt="3"/>
              <a:tabLst>
                <a:tab pos="2054225" algn="l"/>
              </a:tabLst>
              <a:defRPr/>
            </a:pPr>
            <a:r>
              <a:rPr lang="en-US" sz="2100" b="1" i="1" dirty="0">
                <a:cs typeface="Arial" pitchFamily="34" charset="0"/>
              </a:rPr>
              <a:t>If a </a:t>
            </a:r>
            <a:r>
              <a:rPr lang="en-US" sz="2100" b="1" i="1" dirty="0" smtClean="0">
                <a:cs typeface="Arial" pitchFamily="34" charset="0"/>
              </a:rPr>
              <a:t>there are </a:t>
            </a:r>
            <a:r>
              <a:rPr lang="en-US" sz="2100" b="1" i="1" dirty="0" smtClean="0">
                <a:solidFill>
                  <a:srgbClr val="00B050"/>
                </a:solidFill>
                <a:cs typeface="Arial" pitchFamily="34" charset="0"/>
              </a:rPr>
              <a:t>two intersecting </a:t>
            </a:r>
            <a:r>
              <a:rPr lang="en-US" sz="2100" b="1" i="1" dirty="0" err="1" smtClean="0">
                <a:solidFill>
                  <a:srgbClr val="00B050"/>
                </a:solidFill>
                <a:cs typeface="Arial" pitchFamily="34" charset="0"/>
              </a:rPr>
              <a:t>diad</a:t>
            </a:r>
            <a:r>
              <a:rPr lang="en-US" sz="2100" b="1" i="1" dirty="0" smtClean="0">
                <a:solidFill>
                  <a:srgbClr val="00B050"/>
                </a:solidFill>
                <a:cs typeface="Arial" pitchFamily="34" charset="0"/>
              </a:rPr>
              <a:t> axes </a:t>
            </a:r>
            <a:r>
              <a:rPr lang="en-US" sz="2100" b="1" i="1" dirty="0" smtClean="0">
                <a:cs typeface="Arial" pitchFamily="34" charset="0"/>
              </a:rPr>
              <a:t>with an angle </a:t>
            </a:r>
            <a:r>
              <a:rPr lang="en-US" sz="2100" b="1" i="1" dirty="0">
                <a:cs typeface="Arial" pitchFamily="34" charset="0"/>
              </a:rPr>
              <a:t> 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</a:rPr>
              <a:t>2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  <a:sym typeface="Symbol"/>
              </a:rPr>
              <a:t>/</a:t>
            </a:r>
            <a:r>
              <a:rPr lang="en-US" sz="2100" b="1" i="1" dirty="0" smtClean="0">
                <a:solidFill>
                  <a:srgbClr val="FF0000"/>
                </a:solidFill>
                <a:cs typeface="Arial" pitchFamily="34" charset="0"/>
                <a:sym typeface="Symbol"/>
              </a:rPr>
              <a:t>n</a:t>
            </a:r>
            <a:r>
              <a:rPr lang="en-US" sz="2100" b="1" i="1" dirty="0" smtClean="0">
                <a:cs typeface="Arial" pitchFamily="34" charset="0"/>
                <a:sym typeface="Symbol"/>
              </a:rPr>
              <a:t> between them, then there must be an </a:t>
            </a:r>
            <a:r>
              <a:rPr lang="en-US" sz="2100" b="1" i="1" dirty="0" smtClean="0">
                <a:solidFill>
                  <a:srgbClr val="00B050"/>
                </a:solidFill>
                <a:cs typeface="Arial" pitchFamily="34" charset="0"/>
                <a:sym typeface="Symbol"/>
              </a:rPr>
              <a:t>n-fold axis </a:t>
            </a:r>
            <a:r>
              <a:rPr lang="en-US" sz="2100" b="1" i="1" dirty="0" smtClean="0">
                <a:cs typeface="Arial" pitchFamily="34" charset="0"/>
                <a:sym typeface="Symbol"/>
              </a:rPr>
              <a:t>perpendicular to both of the </a:t>
            </a:r>
            <a:r>
              <a:rPr lang="en-US" sz="2100" b="1" i="1" dirty="0" err="1" smtClean="0">
                <a:solidFill>
                  <a:srgbClr val="7030A0"/>
                </a:solidFill>
                <a:cs typeface="Arial" pitchFamily="34" charset="0"/>
                <a:sym typeface="Symbol"/>
              </a:rPr>
              <a:t>diad</a:t>
            </a:r>
            <a:r>
              <a:rPr lang="en-US" sz="2100" b="1" i="1" dirty="0" smtClean="0">
                <a:solidFill>
                  <a:srgbClr val="7030A0"/>
                </a:solidFill>
                <a:cs typeface="Arial" pitchFamily="34" charset="0"/>
                <a:sym typeface="Symbol"/>
              </a:rPr>
              <a:t> axes</a:t>
            </a:r>
            <a:r>
              <a:rPr lang="en-US" sz="2100" b="1" i="1" dirty="0" smtClean="0">
                <a:cs typeface="Arial" pitchFamily="34" charset="0"/>
                <a:sym typeface="Symbol"/>
              </a:rPr>
              <a:t>.</a:t>
            </a:r>
            <a:endParaRPr lang="en-US" sz="2100" b="1" i="1" dirty="0">
              <a:cs typeface="Arial" pitchFamily="34" charset="0"/>
            </a:endParaRP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 smtClean="0">
                <a:cs typeface="Arial" pitchFamily="34" charset="0"/>
              </a:rPr>
              <a:t>This creates </a:t>
            </a:r>
            <a:r>
              <a:rPr lang="en-US" sz="2100" b="1" dirty="0" smtClean="0">
                <a:solidFill>
                  <a:srgbClr val="7030A0"/>
                </a:solidFill>
                <a:cs typeface="Arial" pitchFamily="34" charset="0"/>
              </a:rPr>
              <a:t>triad axis </a:t>
            </a:r>
            <a:r>
              <a:rPr lang="en-US" sz="2100" b="1" dirty="0">
                <a:cs typeface="Arial" pitchFamily="34" charset="0"/>
                <a:sym typeface="Symbol"/>
              </a:rPr>
              <a:t>perpendicular to </a:t>
            </a:r>
            <a:r>
              <a:rPr lang="en-US" sz="2100" b="1" dirty="0" smtClean="0">
                <a:cs typeface="Arial" pitchFamily="34" charset="0"/>
                <a:sym typeface="Symbol"/>
              </a:rPr>
              <a:t>the </a:t>
            </a:r>
            <a:r>
              <a:rPr lang="en-US" sz="2100" b="1" dirty="0" smtClean="0">
                <a:solidFill>
                  <a:srgbClr val="7030A0"/>
                </a:solidFill>
                <a:cs typeface="Arial" pitchFamily="34" charset="0"/>
                <a:sym typeface="Symbol"/>
              </a:rPr>
              <a:t>two </a:t>
            </a:r>
            <a:r>
              <a:rPr lang="en-US" sz="2100" b="1" dirty="0" err="1" smtClean="0">
                <a:solidFill>
                  <a:srgbClr val="7030A0"/>
                </a:solidFill>
                <a:cs typeface="Arial" pitchFamily="34" charset="0"/>
                <a:sym typeface="Symbol"/>
              </a:rPr>
              <a:t>diad</a:t>
            </a:r>
            <a:r>
              <a:rPr lang="en-US" sz="2100" b="1" dirty="0" smtClean="0">
                <a:solidFill>
                  <a:srgbClr val="7030A0"/>
                </a:solidFill>
                <a:cs typeface="Arial" pitchFamily="34" charset="0"/>
                <a:sym typeface="Symbol"/>
              </a:rPr>
              <a:t> axes </a:t>
            </a:r>
            <a:r>
              <a:rPr lang="en-US" sz="2100" b="1" dirty="0" smtClean="0">
                <a:cs typeface="Arial" pitchFamily="34" charset="0"/>
                <a:sym typeface="Symbol"/>
              </a:rPr>
              <a:t>with an inter axial angle between the </a:t>
            </a:r>
            <a:r>
              <a:rPr lang="en-US" sz="2100" b="1" dirty="0" err="1" smtClean="0">
                <a:cs typeface="Arial" pitchFamily="34" charset="0"/>
                <a:sym typeface="Symbol"/>
              </a:rPr>
              <a:t>diads</a:t>
            </a:r>
            <a:r>
              <a:rPr lang="en-US" sz="2100" b="1" dirty="0" smtClean="0">
                <a:cs typeface="Arial" pitchFamily="34" charset="0"/>
                <a:sym typeface="Symbol"/>
              </a:rPr>
              <a:t> of </a:t>
            </a:r>
            <a:r>
              <a:rPr lang="en-US" sz="2100" b="1" dirty="0">
                <a:solidFill>
                  <a:srgbClr val="FF0000"/>
                </a:solidFill>
                <a:cs typeface="Arial" pitchFamily="34" charset="0"/>
              </a:rPr>
              <a:t>2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  <a:sym typeface="Symbol"/>
              </a:rPr>
              <a:t></a:t>
            </a:r>
            <a:r>
              <a:rPr lang="en-US" sz="2100" b="1" dirty="0" smtClean="0">
                <a:solidFill>
                  <a:srgbClr val="FF0000"/>
                </a:solidFill>
                <a:cs typeface="Arial" pitchFamily="34" charset="0"/>
                <a:sym typeface="Symbol"/>
              </a:rPr>
              <a:t>/3</a:t>
            </a:r>
            <a:r>
              <a:rPr lang="en-US" sz="2100" b="1" dirty="0" smtClean="0">
                <a:cs typeface="Arial" pitchFamily="34" charset="0"/>
                <a:sym typeface="Symbol"/>
              </a:rPr>
              <a:t>. </a:t>
            </a:r>
            <a:endParaRPr lang="en-US" sz="2100" b="1" dirty="0"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4025" y="228600"/>
            <a:ext cx="84613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Representation of crystallographic point groups</a:t>
            </a:r>
          </a:p>
        </p:txBody>
      </p:sp>
      <p:sp>
        <p:nvSpPr>
          <p:cNvPr id="42" name="Oval 41"/>
          <p:cNvSpPr/>
          <p:nvPr/>
        </p:nvSpPr>
        <p:spPr>
          <a:xfrm>
            <a:off x="762000" y="3048000"/>
            <a:ext cx="1600200" cy="1524000"/>
          </a:xfrm>
          <a:prstGeom prst="ellipse">
            <a:avLst/>
          </a:prstGeom>
          <a:noFill/>
          <a:ln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43" name="Straight Connector 42"/>
          <p:cNvCxnSpPr>
            <a:stCxn id="42" idx="2"/>
            <a:endCxn id="42" idx="6"/>
          </p:cNvCxnSpPr>
          <p:nvPr/>
        </p:nvCxnSpPr>
        <p:spPr>
          <a:xfrm>
            <a:off x="762000" y="3810000"/>
            <a:ext cx="1600200" cy="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2" idx="0"/>
            <a:endCxn id="42" idx="4"/>
          </p:cNvCxnSpPr>
          <p:nvPr/>
        </p:nvCxnSpPr>
        <p:spPr>
          <a:xfrm>
            <a:off x="1562100" y="3048000"/>
            <a:ext cx="0" cy="152400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981200" y="3581400"/>
            <a:ext cx="76200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46" name="Group 39"/>
          <p:cNvGrpSpPr>
            <a:grpSpLocks/>
          </p:cNvGrpSpPr>
          <p:nvPr/>
        </p:nvGrpSpPr>
        <p:grpSpPr bwMode="auto">
          <a:xfrm>
            <a:off x="4764024" y="3659185"/>
            <a:ext cx="182880" cy="486095"/>
            <a:chOff x="4459922" y="3888049"/>
            <a:chExt cx="182880" cy="485761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4536186" y="3888049"/>
              <a:ext cx="11112" cy="303003"/>
            </a:xfrm>
            <a:prstGeom prst="line">
              <a:avLst/>
            </a:prstGeom>
            <a:ln w="254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>
            <a:xfrm>
              <a:off x="4459922" y="4191056"/>
              <a:ext cx="182880" cy="1827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9" name="Group 40"/>
          <p:cNvGrpSpPr>
            <a:grpSpLocks/>
          </p:cNvGrpSpPr>
          <p:nvPr/>
        </p:nvGrpSpPr>
        <p:grpSpPr bwMode="auto">
          <a:xfrm>
            <a:off x="2590800" y="3048000"/>
            <a:ext cx="2590800" cy="1524000"/>
            <a:chOff x="2286000" y="3276600"/>
            <a:chExt cx="2590800" cy="1524000"/>
          </a:xfrm>
        </p:grpSpPr>
        <p:sp>
          <p:nvSpPr>
            <p:cNvPr id="50" name="Right Arrow 49"/>
            <p:cNvSpPr/>
            <p:nvPr/>
          </p:nvSpPr>
          <p:spPr>
            <a:xfrm>
              <a:off x="2286000" y="4038600"/>
              <a:ext cx="533400" cy="76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51" name="Group 38"/>
            <p:cNvGrpSpPr>
              <a:grpSpLocks/>
            </p:cNvGrpSpPr>
            <p:nvPr/>
          </p:nvGrpSpPr>
          <p:grpSpPr bwMode="auto">
            <a:xfrm>
              <a:off x="3276600" y="3276600"/>
              <a:ext cx="1600200" cy="1524000"/>
              <a:chOff x="3276600" y="3276600"/>
              <a:chExt cx="1600200" cy="1524000"/>
            </a:xfrm>
          </p:grpSpPr>
          <p:cxnSp>
            <p:nvCxnSpPr>
              <p:cNvPr id="52" name="Straight Connector 51"/>
              <p:cNvCxnSpPr/>
              <p:nvPr/>
            </p:nvCxnSpPr>
            <p:spPr>
              <a:xfrm>
                <a:off x="3276600" y="4038600"/>
                <a:ext cx="1600200" cy="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Group 35"/>
              <p:cNvGrpSpPr>
                <a:grpSpLocks/>
              </p:cNvGrpSpPr>
              <p:nvPr/>
            </p:nvGrpSpPr>
            <p:grpSpPr bwMode="auto">
              <a:xfrm>
                <a:off x="3276600" y="3276600"/>
                <a:ext cx="1600200" cy="1524000"/>
                <a:chOff x="3276600" y="3276600"/>
                <a:chExt cx="1600200" cy="1524000"/>
              </a:xfrm>
            </p:grpSpPr>
            <p:sp>
              <p:nvSpPr>
                <p:cNvPr id="54" name="Oval 53"/>
                <p:cNvSpPr/>
                <p:nvPr/>
              </p:nvSpPr>
              <p:spPr>
                <a:xfrm>
                  <a:off x="3276600" y="3276600"/>
                  <a:ext cx="1600200" cy="1524000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cxnSp>
              <p:nvCxnSpPr>
                <p:cNvPr id="55" name="Straight Connector 54"/>
                <p:cNvCxnSpPr>
                  <a:stCxn id="54" idx="0"/>
                  <a:endCxn id="54" idx="4"/>
                </p:cNvCxnSpPr>
                <p:nvPr/>
              </p:nvCxnSpPr>
              <p:spPr>
                <a:xfrm>
                  <a:off x="4076700" y="3276600"/>
                  <a:ext cx="0" cy="1524000"/>
                </a:xfrm>
                <a:prstGeom prst="line">
                  <a:avLst/>
                </a:prstGeom>
                <a:ln w="2540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/>
                <p:cNvSpPr/>
                <p:nvPr/>
              </p:nvSpPr>
              <p:spPr>
                <a:xfrm>
                  <a:off x="4495800" y="3810000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</p:grpSp>
      </p:grpSp>
      <p:grpSp>
        <p:nvGrpSpPr>
          <p:cNvPr id="91" name="Group 97"/>
          <p:cNvGrpSpPr>
            <a:grpSpLocks/>
          </p:cNvGrpSpPr>
          <p:nvPr/>
        </p:nvGrpSpPr>
        <p:grpSpPr bwMode="auto">
          <a:xfrm>
            <a:off x="6781800" y="5105399"/>
            <a:ext cx="411480" cy="1219201"/>
            <a:chOff x="6324600" y="4876799"/>
            <a:chExt cx="411480" cy="1219201"/>
          </a:xfrm>
        </p:grpSpPr>
        <p:cxnSp>
          <p:nvCxnSpPr>
            <p:cNvPr id="92" name="Straight Connector 91"/>
            <p:cNvCxnSpPr/>
            <p:nvPr/>
          </p:nvCxnSpPr>
          <p:spPr>
            <a:xfrm>
              <a:off x="6364288" y="5105400"/>
              <a:ext cx="0" cy="6858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94" idx="3"/>
            </p:cNvCxnSpPr>
            <p:nvPr/>
          </p:nvCxnSpPr>
          <p:spPr>
            <a:xfrm>
              <a:off x="6579982" y="5032897"/>
              <a:ext cx="12906" cy="1063103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Oval 93"/>
            <p:cNvSpPr/>
            <p:nvPr/>
          </p:nvSpPr>
          <p:spPr>
            <a:xfrm>
              <a:off x="6553200" y="4876799"/>
              <a:ext cx="182880" cy="1828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Oval 94"/>
            <p:cNvSpPr/>
            <p:nvPr/>
          </p:nvSpPr>
          <p:spPr>
            <a:xfrm>
              <a:off x="6324600" y="5029200"/>
              <a:ext cx="76200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6" name="Group 121"/>
          <p:cNvGrpSpPr>
            <a:grpSpLocks/>
          </p:cNvGrpSpPr>
          <p:nvPr/>
        </p:nvGrpSpPr>
        <p:grpSpPr bwMode="auto">
          <a:xfrm>
            <a:off x="4038600" y="5029200"/>
            <a:ext cx="1981200" cy="1524000"/>
            <a:chOff x="3581400" y="4800600"/>
            <a:chExt cx="1981200" cy="1524000"/>
          </a:xfrm>
        </p:grpSpPr>
        <p:sp>
          <p:nvSpPr>
            <p:cNvPr id="97" name="Right Arrow 96"/>
            <p:cNvSpPr/>
            <p:nvPr/>
          </p:nvSpPr>
          <p:spPr>
            <a:xfrm rot="10800000" flipV="1">
              <a:off x="5334000" y="5486400"/>
              <a:ext cx="228600" cy="76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98" name="Group 101"/>
            <p:cNvGrpSpPr>
              <a:grpSpLocks/>
            </p:cNvGrpSpPr>
            <p:nvPr/>
          </p:nvGrpSpPr>
          <p:grpSpPr bwMode="auto">
            <a:xfrm>
              <a:off x="3581400" y="4800600"/>
              <a:ext cx="1600200" cy="1524000"/>
              <a:chOff x="6172200" y="4876800"/>
              <a:chExt cx="1600200" cy="1524000"/>
            </a:xfrm>
          </p:grpSpPr>
          <p:grpSp>
            <p:nvGrpSpPr>
              <p:cNvPr id="102" name="Group 102"/>
              <p:cNvGrpSpPr>
                <a:grpSpLocks/>
              </p:cNvGrpSpPr>
              <p:nvPr/>
            </p:nvGrpSpPr>
            <p:grpSpPr bwMode="auto">
              <a:xfrm>
                <a:off x="6172200" y="4876800"/>
                <a:ext cx="1600200" cy="1524000"/>
                <a:chOff x="5943600" y="3276600"/>
                <a:chExt cx="1600200" cy="1524000"/>
              </a:xfrm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7183438" y="4175124"/>
                  <a:ext cx="182880" cy="18288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grpSp>
              <p:nvGrpSpPr>
                <p:cNvPr id="110" name="Group 38"/>
                <p:cNvGrpSpPr>
                  <a:grpSpLocks/>
                </p:cNvGrpSpPr>
                <p:nvPr/>
              </p:nvGrpSpPr>
              <p:grpSpPr bwMode="auto">
                <a:xfrm>
                  <a:off x="5943600" y="3276600"/>
                  <a:ext cx="1600200" cy="1524000"/>
                  <a:chOff x="3276600" y="3276600"/>
                  <a:chExt cx="1600200" cy="1524000"/>
                </a:xfrm>
              </p:grpSpPr>
              <p:cxnSp>
                <p:nvCxnSpPr>
                  <p:cNvPr id="112" name="Straight Connector 111"/>
                  <p:cNvCxnSpPr/>
                  <p:nvPr/>
                </p:nvCxnSpPr>
                <p:spPr>
                  <a:xfrm>
                    <a:off x="3276600" y="4038600"/>
                    <a:ext cx="1600200" cy="0"/>
                  </a:xfrm>
                  <a:prstGeom prst="line">
                    <a:avLst/>
                  </a:prstGeom>
                  <a:ln w="25400"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6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3276600" y="3276600"/>
                    <a:ext cx="1600200" cy="1524000"/>
                    <a:chOff x="3276600" y="3276600"/>
                    <a:chExt cx="1600200" cy="1524000"/>
                  </a:xfrm>
                </p:grpSpPr>
                <p:sp>
                  <p:nvSpPr>
                    <p:cNvPr id="117" name="Oval 116"/>
                    <p:cNvSpPr/>
                    <p:nvPr/>
                  </p:nvSpPr>
                  <p:spPr>
                    <a:xfrm>
                      <a:off x="3276600" y="3276600"/>
                      <a:ext cx="1600200" cy="1524000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002060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  <p:cxnSp>
                  <p:nvCxnSpPr>
                    <p:cNvPr id="118" name="Straight Connector 117"/>
                    <p:cNvCxnSpPr>
                      <a:stCxn id="117" idx="0"/>
                      <a:endCxn id="117" idx="4"/>
                    </p:cNvCxnSpPr>
                    <p:nvPr/>
                  </p:nvCxnSpPr>
                  <p:spPr>
                    <a:xfrm>
                      <a:off x="4076700" y="3276600"/>
                      <a:ext cx="0" cy="1524000"/>
                    </a:xfrm>
                    <a:prstGeom prst="line">
                      <a:avLst/>
                    </a:prstGeom>
                    <a:ln w="25400"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2" name="Oval 121"/>
                    <p:cNvSpPr/>
                    <p:nvPr/>
                  </p:nvSpPr>
                  <p:spPr>
                    <a:xfrm>
                      <a:off x="4495800" y="3810000"/>
                      <a:ext cx="76200" cy="92075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</p:grpSp>
            </p:grpSp>
          </p:grpSp>
          <p:grpSp>
            <p:nvGrpSpPr>
              <p:cNvPr id="103" name="Group 104"/>
              <p:cNvGrpSpPr>
                <a:grpSpLocks/>
              </p:cNvGrpSpPr>
              <p:nvPr/>
            </p:nvGrpSpPr>
            <p:grpSpPr bwMode="auto">
              <a:xfrm>
                <a:off x="6477000" y="5927724"/>
                <a:ext cx="304800" cy="336551"/>
                <a:chOff x="6248400" y="4327524"/>
                <a:chExt cx="304800" cy="336551"/>
              </a:xfrm>
            </p:grpSpPr>
            <p:sp>
              <p:nvSpPr>
                <p:cNvPr id="104" name="Oval 103"/>
                <p:cNvSpPr/>
                <p:nvPr/>
              </p:nvSpPr>
              <p:spPr>
                <a:xfrm>
                  <a:off x="6477000" y="4572000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5" name="Oval 104"/>
                <p:cNvSpPr/>
                <p:nvPr/>
              </p:nvSpPr>
              <p:spPr>
                <a:xfrm>
                  <a:off x="6248400" y="4327524"/>
                  <a:ext cx="182880" cy="18288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</p:grpSp>
        <p:grpSp>
          <p:nvGrpSpPr>
            <p:cNvPr id="99" name="Group 115"/>
            <p:cNvGrpSpPr>
              <a:grpSpLocks/>
            </p:cNvGrpSpPr>
            <p:nvPr/>
          </p:nvGrpSpPr>
          <p:grpSpPr bwMode="auto">
            <a:xfrm>
              <a:off x="3886200" y="4952999"/>
              <a:ext cx="411480" cy="244476"/>
              <a:chOff x="6324600" y="4876799"/>
              <a:chExt cx="411480" cy="244476"/>
            </a:xfrm>
          </p:grpSpPr>
          <p:sp>
            <p:nvSpPr>
              <p:cNvPr id="100" name="Oval 99"/>
              <p:cNvSpPr/>
              <p:nvPr/>
            </p:nvSpPr>
            <p:spPr>
              <a:xfrm>
                <a:off x="6553200" y="4876799"/>
                <a:ext cx="182880" cy="18288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6324600" y="5029200"/>
                <a:ext cx="76200" cy="9207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123" name="Isosceles Triangle 122"/>
          <p:cNvSpPr/>
          <p:nvPr/>
        </p:nvSpPr>
        <p:spPr>
          <a:xfrm>
            <a:off x="4764088" y="5638800"/>
            <a:ext cx="152400" cy="1524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74" name="Group 173"/>
          <p:cNvGrpSpPr/>
          <p:nvPr/>
        </p:nvGrpSpPr>
        <p:grpSpPr>
          <a:xfrm>
            <a:off x="3352800" y="3657600"/>
            <a:ext cx="2149475" cy="304800"/>
            <a:chOff x="3352800" y="3962400"/>
            <a:chExt cx="2149475" cy="304800"/>
          </a:xfrm>
        </p:grpSpPr>
        <p:cxnSp>
          <p:nvCxnSpPr>
            <p:cNvPr id="57" name="Straight Connector 56"/>
            <p:cNvCxnSpPr/>
            <p:nvPr/>
          </p:nvCxnSpPr>
          <p:spPr>
            <a:xfrm>
              <a:off x="3352800" y="4114800"/>
              <a:ext cx="2057400" cy="0"/>
            </a:xfrm>
            <a:prstGeom prst="line">
              <a:avLst/>
            </a:prstGeom>
            <a:ln w="25400">
              <a:solidFill>
                <a:srgbClr val="00206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Oval 159"/>
            <p:cNvSpPr/>
            <p:nvPr/>
          </p:nvSpPr>
          <p:spPr bwMode="auto">
            <a:xfrm>
              <a:off x="5410200" y="3962400"/>
              <a:ext cx="92075" cy="30480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6705600" y="2819400"/>
            <a:ext cx="1214210" cy="1951037"/>
            <a:chOff x="6705600" y="3124200"/>
            <a:chExt cx="1214210" cy="1951037"/>
          </a:xfrm>
        </p:grpSpPr>
        <p:cxnSp>
          <p:nvCxnSpPr>
            <p:cNvPr id="69" name="Straight Connector 68"/>
            <p:cNvCxnSpPr/>
            <p:nvPr/>
          </p:nvCxnSpPr>
          <p:spPr>
            <a:xfrm>
              <a:off x="6705600" y="3124200"/>
              <a:ext cx="1066800" cy="1905000"/>
            </a:xfrm>
            <a:prstGeom prst="line">
              <a:avLst/>
            </a:prstGeom>
            <a:ln w="25400">
              <a:solidFill>
                <a:srgbClr val="00206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Oval 162"/>
            <p:cNvSpPr/>
            <p:nvPr/>
          </p:nvSpPr>
          <p:spPr bwMode="auto">
            <a:xfrm rot="3420000">
              <a:off x="7721372" y="4876800"/>
              <a:ext cx="92075" cy="30480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78" name="Group 177"/>
          <p:cNvGrpSpPr/>
          <p:nvPr/>
        </p:nvGrpSpPr>
        <p:grpSpPr>
          <a:xfrm>
            <a:off x="5791200" y="3048000"/>
            <a:ext cx="2682875" cy="1524000"/>
            <a:chOff x="5791200" y="3352800"/>
            <a:chExt cx="2682875" cy="1524000"/>
          </a:xfrm>
        </p:grpSpPr>
        <p:grpSp>
          <p:nvGrpSpPr>
            <p:cNvPr id="175" name="Group 174"/>
            <p:cNvGrpSpPr/>
            <p:nvPr/>
          </p:nvGrpSpPr>
          <p:grpSpPr>
            <a:xfrm>
              <a:off x="5791200" y="3352800"/>
              <a:ext cx="2682875" cy="1524000"/>
              <a:chOff x="5791200" y="3352800"/>
              <a:chExt cx="2682875" cy="1524000"/>
            </a:xfrm>
          </p:grpSpPr>
          <p:grpSp>
            <p:nvGrpSpPr>
              <p:cNvPr id="58" name="Group 54"/>
              <p:cNvGrpSpPr>
                <a:grpSpLocks/>
              </p:cNvGrpSpPr>
              <p:nvPr/>
            </p:nvGrpSpPr>
            <p:grpSpPr bwMode="auto">
              <a:xfrm>
                <a:off x="5791200" y="3352800"/>
                <a:ext cx="2590800" cy="1524000"/>
                <a:chOff x="5257800" y="3276600"/>
                <a:chExt cx="2590800" cy="1524000"/>
              </a:xfrm>
            </p:grpSpPr>
            <p:grpSp>
              <p:nvGrpSpPr>
                <p:cNvPr id="60" name="Group 45"/>
                <p:cNvGrpSpPr>
                  <a:grpSpLocks/>
                </p:cNvGrpSpPr>
                <p:nvPr/>
              </p:nvGrpSpPr>
              <p:grpSpPr bwMode="auto">
                <a:xfrm>
                  <a:off x="5257800" y="3276600"/>
                  <a:ext cx="2286000" cy="1524000"/>
                  <a:chOff x="2590800" y="3276600"/>
                  <a:chExt cx="2286000" cy="1524000"/>
                </a:xfrm>
              </p:grpSpPr>
              <p:sp>
                <p:nvSpPr>
                  <p:cNvPr id="62" name="Right Arrow 61"/>
                  <p:cNvSpPr/>
                  <p:nvPr/>
                </p:nvSpPr>
                <p:spPr>
                  <a:xfrm>
                    <a:off x="2590800" y="4002024"/>
                    <a:ext cx="228600" cy="76200"/>
                  </a:xfrm>
                  <a:prstGeom prst="righ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grpSp>
                <p:nvGrpSpPr>
                  <p:cNvPr id="63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3276600" y="3276600"/>
                    <a:ext cx="1600200" cy="1524000"/>
                    <a:chOff x="3276600" y="3276600"/>
                    <a:chExt cx="1600200" cy="1524000"/>
                  </a:xfrm>
                </p:grpSpPr>
                <p:cxnSp>
                  <p:nvCxnSpPr>
                    <p:cNvPr id="64" name="Straight Connector 63"/>
                    <p:cNvCxnSpPr/>
                    <p:nvPr/>
                  </p:nvCxnSpPr>
                  <p:spPr>
                    <a:xfrm>
                      <a:off x="3276600" y="4038600"/>
                      <a:ext cx="1600200" cy="0"/>
                    </a:xfrm>
                    <a:prstGeom prst="line">
                      <a:avLst/>
                    </a:prstGeom>
                    <a:ln w="25400"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5" name="Group 3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76600" y="3276600"/>
                      <a:ext cx="1600200" cy="1524000"/>
                      <a:chOff x="3276600" y="3276600"/>
                      <a:chExt cx="1600200" cy="1524000"/>
                    </a:xfrm>
                  </p:grpSpPr>
                  <p:sp>
                    <p:nvSpPr>
                      <p:cNvPr id="66" name="Oval 65"/>
                      <p:cNvSpPr/>
                      <p:nvPr/>
                    </p:nvSpPr>
                    <p:spPr>
                      <a:xfrm>
                        <a:off x="3276600" y="3276600"/>
                        <a:ext cx="1600200" cy="1524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rgbClr val="002060"/>
                        </a:solidFill>
                        <a:prstDash val="sysDot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/>
                      </a:p>
                    </p:txBody>
                  </p:sp>
                  <p:cxnSp>
                    <p:nvCxnSpPr>
                      <p:cNvPr id="67" name="Straight Connector 66"/>
                      <p:cNvCxnSpPr>
                        <a:stCxn id="66" idx="0"/>
                        <a:endCxn id="66" idx="4"/>
                      </p:cNvCxnSpPr>
                      <p:nvPr/>
                    </p:nvCxnSpPr>
                    <p:spPr>
                      <a:xfrm>
                        <a:off x="4076700" y="3276600"/>
                        <a:ext cx="0" cy="1524000"/>
                      </a:xfrm>
                      <a:prstGeom prst="line">
                        <a:avLst/>
                      </a:prstGeom>
                      <a:ln w="25400">
                        <a:prstDash val="sysDot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8" name="Oval 67"/>
                      <p:cNvSpPr/>
                      <p:nvPr/>
                    </p:nvSpPr>
                    <p:spPr>
                      <a:xfrm>
                        <a:off x="4495800" y="3810000"/>
                        <a:ext cx="76200" cy="92075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/>
                      </a:p>
                    </p:txBody>
                  </p:sp>
                </p:grpSp>
              </p:grpSp>
            </p:grpSp>
            <p:cxnSp>
              <p:nvCxnSpPr>
                <p:cNvPr id="61" name="Straight Connector 60"/>
                <p:cNvCxnSpPr/>
                <p:nvPr/>
              </p:nvCxnSpPr>
              <p:spPr>
                <a:xfrm>
                  <a:off x="5562600" y="4038600"/>
                  <a:ext cx="2286000" cy="0"/>
                </a:xfrm>
                <a:prstGeom prst="line">
                  <a:avLst/>
                </a:prstGeom>
                <a:ln w="25400">
                  <a:solidFill>
                    <a:srgbClr val="002060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6" name="Oval 165"/>
              <p:cNvSpPr/>
              <p:nvPr/>
            </p:nvSpPr>
            <p:spPr bwMode="auto">
              <a:xfrm>
                <a:off x="8382000" y="3962400"/>
                <a:ext cx="92075" cy="304800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70" name="Oval 169"/>
            <p:cNvSpPr/>
            <p:nvPr/>
          </p:nvSpPr>
          <p:spPr bwMode="auto">
            <a:xfrm>
              <a:off x="7665720" y="4191000"/>
              <a:ext cx="182880" cy="1828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6705600" y="3657600"/>
            <a:ext cx="986902" cy="777875"/>
            <a:chOff x="6705600" y="3962400"/>
            <a:chExt cx="986902" cy="777875"/>
          </a:xfrm>
        </p:grpSpPr>
        <p:grpSp>
          <p:nvGrpSpPr>
            <p:cNvPr id="70" name="Group 68"/>
            <p:cNvGrpSpPr>
              <a:grpSpLocks/>
            </p:cNvGrpSpPr>
            <p:nvPr/>
          </p:nvGrpSpPr>
          <p:grpSpPr bwMode="auto">
            <a:xfrm>
              <a:off x="6861695" y="3962400"/>
              <a:ext cx="830807" cy="777875"/>
              <a:chOff x="6328360" y="3886200"/>
              <a:chExt cx="831404" cy="777875"/>
            </a:xfrm>
          </p:grpSpPr>
          <p:cxnSp>
            <p:nvCxnSpPr>
              <p:cNvPr id="71" name="Straight Connector 70"/>
              <p:cNvCxnSpPr>
                <a:stCxn id="170" idx="3"/>
                <a:endCxn id="73" idx="7"/>
              </p:cNvCxnSpPr>
              <p:nvPr/>
            </p:nvCxnSpPr>
            <p:spPr>
              <a:xfrm flipH="1">
                <a:off x="6542254" y="4194698"/>
                <a:ext cx="617510" cy="390786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>
                <a:endCxn id="172" idx="7"/>
              </p:cNvCxnSpPr>
              <p:nvPr/>
            </p:nvCxnSpPr>
            <p:spPr>
              <a:xfrm flipH="1">
                <a:off x="6328360" y="3886200"/>
                <a:ext cx="817627" cy="453502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/>
              <p:cNvSpPr/>
              <p:nvPr/>
            </p:nvSpPr>
            <p:spPr>
              <a:xfrm>
                <a:off x="6477166" y="4572000"/>
                <a:ext cx="76255" cy="9207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172" name="Oval 171"/>
            <p:cNvSpPr/>
            <p:nvPr/>
          </p:nvSpPr>
          <p:spPr bwMode="auto">
            <a:xfrm>
              <a:off x="6705600" y="4389120"/>
              <a:ext cx="182880" cy="1828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6248400" y="4648200"/>
            <a:ext cx="2225675" cy="2072651"/>
            <a:chOff x="6248400" y="5181600"/>
            <a:chExt cx="2225675" cy="2072651"/>
          </a:xfrm>
        </p:grpSpPr>
        <p:grpSp>
          <p:nvGrpSpPr>
            <p:cNvPr id="75" name="Group 91"/>
            <p:cNvGrpSpPr>
              <a:grpSpLocks/>
            </p:cNvGrpSpPr>
            <p:nvPr/>
          </p:nvGrpSpPr>
          <p:grpSpPr bwMode="auto">
            <a:xfrm>
              <a:off x="6248400" y="5181600"/>
              <a:ext cx="2133600" cy="1981200"/>
              <a:chOff x="5791200" y="4419600"/>
              <a:chExt cx="2133600" cy="1981200"/>
            </a:xfrm>
          </p:grpSpPr>
          <p:sp>
            <p:nvSpPr>
              <p:cNvPr id="76" name="Right Arrow 75"/>
              <p:cNvSpPr/>
              <p:nvPr/>
            </p:nvSpPr>
            <p:spPr>
              <a:xfrm rot="5400000">
                <a:off x="6705600" y="4495800"/>
                <a:ext cx="228600" cy="762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grpSp>
            <p:nvGrpSpPr>
              <p:cNvPr id="77" name="Group 90"/>
              <p:cNvGrpSpPr>
                <a:grpSpLocks/>
              </p:cNvGrpSpPr>
              <p:nvPr/>
            </p:nvGrpSpPr>
            <p:grpSpPr bwMode="auto">
              <a:xfrm>
                <a:off x="5791200" y="4572000"/>
                <a:ext cx="2133600" cy="1828800"/>
                <a:chOff x="5943600" y="4724400"/>
                <a:chExt cx="2133600" cy="1828800"/>
              </a:xfrm>
            </p:grpSpPr>
            <p:grpSp>
              <p:nvGrpSpPr>
                <p:cNvPr id="78" name="Group 71"/>
                <p:cNvGrpSpPr>
                  <a:grpSpLocks/>
                </p:cNvGrpSpPr>
                <p:nvPr/>
              </p:nvGrpSpPr>
              <p:grpSpPr bwMode="auto">
                <a:xfrm>
                  <a:off x="5943600" y="4876800"/>
                  <a:ext cx="2133600" cy="1524000"/>
                  <a:chOff x="5715000" y="3276600"/>
                  <a:chExt cx="2133600" cy="1524000"/>
                </a:xfrm>
              </p:grpSpPr>
              <p:sp>
                <p:nvSpPr>
                  <p:cNvPr id="83" name="Oval 82"/>
                  <p:cNvSpPr/>
                  <p:nvPr/>
                </p:nvSpPr>
                <p:spPr>
                  <a:xfrm>
                    <a:off x="7129272" y="4175124"/>
                    <a:ext cx="182880" cy="182880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grpSp>
                <p:nvGrpSpPr>
                  <p:cNvPr id="84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5943600" y="3276600"/>
                    <a:ext cx="1600200" cy="1524000"/>
                    <a:chOff x="3276600" y="3276600"/>
                    <a:chExt cx="1600200" cy="1524000"/>
                  </a:xfrm>
                </p:grpSpPr>
                <p:cxnSp>
                  <p:nvCxnSpPr>
                    <p:cNvPr id="86" name="Straight Connector 85"/>
                    <p:cNvCxnSpPr/>
                    <p:nvPr/>
                  </p:nvCxnSpPr>
                  <p:spPr>
                    <a:xfrm>
                      <a:off x="3276600" y="4038600"/>
                      <a:ext cx="1600200" cy="0"/>
                    </a:xfrm>
                    <a:prstGeom prst="line">
                      <a:avLst/>
                    </a:prstGeom>
                    <a:ln w="25400"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87" name="Group 3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76600" y="3276600"/>
                      <a:ext cx="1600200" cy="1524000"/>
                      <a:chOff x="3276600" y="3276600"/>
                      <a:chExt cx="1600200" cy="1524000"/>
                    </a:xfrm>
                  </p:grpSpPr>
                  <p:sp>
                    <p:nvSpPr>
                      <p:cNvPr id="88" name="Oval 87"/>
                      <p:cNvSpPr/>
                      <p:nvPr/>
                    </p:nvSpPr>
                    <p:spPr>
                      <a:xfrm>
                        <a:off x="3276600" y="3276600"/>
                        <a:ext cx="1600200" cy="1524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rgbClr val="002060"/>
                        </a:solidFill>
                        <a:prstDash val="sysDot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/>
                      </a:p>
                    </p:txBody>
                  </p:sp>
                  <p:cxnSp>
                    <p:nvCxnSpPr>
                      <p:cNvPr id="89" name="Straight Connector 88"/>
                      <p:cNvCxnSpPr>
                        <a:stCxn id="88" idx="0"/>
                        <a:endCxn id="88" idx="4"/>
                      </p:cNvCxnSpPr>
                      <p:nvPr/>
                    </p:nvCxnSpPr>
                    <p:spPr>
                      <a:xfrm>
                        <a:off x="4076700" y="3276600"/>
                        <a:ext cx="0" cy="1524000"/>
                      </a:xfrm>
                      <a:prstGeom prst="line">
                        <a:avLst/>
                      </a:prstGeom>
                      <a:ln w="25400">
                        <a:prstDash val="sysDot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0" name="Oval 89"/>
                      <p:cNvSpPr/>
                      <p:nvPr/>
                    </p:nvSpPr>
                    <p:spPr>
                      <a:xfrm>
                        <a:off x="4495800" y="3810000"/>
                        <a:ext cx="76200" cy="92075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/>
                      </a:p>
                    </p:txBody>
                  </p:sp>
                </p:grpSp>
              </p:grp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5715000" y="4038600"/>
                    <a:ext cx="2133600" cy="0"/>
                  </a:xfrm>
                  <a:prstGeom prst="line">
                    <a:avLst/>
                  </a:prstGeom>
                  <a:ln w="25400">
                    <a:solidFill>
                      <a:srgbClr val="002060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9" name="Straight Connector 78"/>
                <p:cNvCxnSpPr/>
                <p:nvPr/>
              </p:nvCxnSpPr>
              <p:spPr>
                <a:xfrm>
                  <a:off x="6400800" y="4724400"/>
                  <a:ext cx="1066800" cy="1828800"/>
                </a:xfrm>
                <a:prstGeom prst="line">
                  <a:avLst/>
                </a:prstGeom>
                <a:ln w="25400">
                  <a:solidFill>
                    <a:srgbClr val="002060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0" name="Group 83"/>
                <p:cNvGrpSpPr>
                  <a:grpSpLocks/>
                </p:cNvGrpSpPr>
                <p:nvPr/>
              </p:nvGrpSpPr>
              <p:grpSpPr bwMode="auto">
                <a:xfrm>
                  <a:off x="6477000" y="5927724"/>
                  <a:ext cx="304800" cy="396876"/>
                  <a:chOff x="6248400" y="4327524"/>
                  <a:chExt cx="304800" cy="396876"/>
                </a:xfrm>
              </p:grpSpPr>
              <p:sp>
                <p:nvSpPr>
                  <p:cNvPr id="81" name="Oval 80"/>
                  <p:cNvSpPr/>
                  <p:nvPr/>
                </p:nvSpPr>
                <p:spPr>
                  <a:xfrm>
                    <a:off x="6477000" y="4632325"/>
                    <a:ext cx="76200" cy="9207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sp>
                <p:nvSpPr>
                  <p:cNvPr id="82" name="Oval 81"/>
                  <p:cNvSpPr/>
                  <p:nvPr/>
                </p:nvSpPr>
                <p:spPr>
                  <a:xfrm>
                    <a:off x="6248400" y="4327524"/>
                    <a:ext cx="182880" cy="182880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</p:grpSp>
          </p:grpSp>
        </p:grpSp>
        <p:sp>
          <p:nvSpPr>
            <p:cNvPr id="183" name="Oval 182"/>
            <p:cNvSpPr/>
            <p:nvPr/>
          </p:nvSpPr>
          <p:spPr bwMode="auto">
            <a:xfrm rot="3420000">
              <a:off x="7726850" y="7055814"/>
              <a:ext cx="92075" cy="30480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4" name="Oval 183"/>
            <p:cNvSpPr/>
            <p:nvPr/>
          </p:nvSpPr>
          <p:spPr bwMode="auto">
            <a:xfrm>
              <a:off x="8382000" y="6096000"/>
              <a:ext cx="92075" cy="30480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18" name="Group 217"/>
          <p:cNvGrpSpPr/>
          <p:nvPr/>
        </p:nvGrpSpPr>
        <p:grpSpPr>
          <a:xfrm>
            <a:off x="1298613" y="4724400"/>
            <a:ext cx="1215987" cy="1836886"/>
            <a:chOff x="1298613" y="5257800"/>
            <a:chExt cx="1215987" cy="1836886"/>
          </a:xfrm>
        </p:grpSpPr>
        <p:cxnSp>
          <p:nvCxnSpPr>
            <p:cNvPr id="211" name="Straight Connector 210"/>
            <p:cNvCxnSpPr/>
            <p:nvPr/>
          </p:nvCxnSpPr>
          <p:spPr bwMode="auto">
            <a:xfrm flipH="1">
              <a:off x="1447800" y="5257800"/>
              <a:ext cx="1066800" cy="1828800"/>
            </a:xfrm>
            <a:prstGeom prst="line">
              <a:avLst/>
            </a:prstGeom>
            <a:ln w="25400">
              <a:solidFill>
                <a:srgbClr val="00206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Oval 216"/>
            <p:cNvSpPr/>
            <p:nvPr/>
          </p:nvSpPr>
          <p:spPr bwMode="auto">
            <a:xfrm rot="7140000">
              <a:off x="1404975" y="6896249"/>
              <a:ext cx="92075" cy="30480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44" name="Group 243"/>
          <p:cNvGrpSpPr/>
          <p:nvPr/>
        </p:nvGrpSpPr>
        <p:grpSpPr>
          <a:xfrm>
            <a:off x="990600" y="4648200"/>
            <a:ext cx="2819400" cy="1920251"/>
            <a:chOff x="990600" y="5181600"/>
            <a:chExt cx="2819400" cy="1920251"/>
          </a:xfrm>
        </p:grpSpPr>
        <p:grpSp>
          <p:nvGrpSpPr>
            <p:cNvPr id="219" name="Group 218"/>
            <p:cNvGrpSpPr/>
            <p:nvPr/>
          </p:nvGrpSpPr>
          <p:grpSpPr>
            <a:xfrm>
              <a:off x="990600" y="5181600"/>
              <a:ext cx="2225675" cy="1920251"/>
              <a:chOff x="990600" y="5181600"/>
              <a:chExt cx="2225675" cy="1920251"/>
            </a:xfrm>
          </p:grpSpPr>
          <p:grpSp>
            <p:nvGrpSpPr>
              <p:cNvPr id="187" name="Group 97"/>
              <p:cNvGrpSpPr>
                <a:grpSpLocks/>
              </p:cNvGrpSpPr>
              <p:nvPr/>
            </p:nvGrpSpPr>
            <p:grpSpPr bwMode="auto">
              <a:xfrm>
                <a:off x="1524000" y="5486399"/>
                <a:ext cx="411480" cy="244476"/>
                <a:chOff x="6324600" y="4876799"/>
                <a:chExt cx="411480" cy="244476"/>
              </a:xfrm>
            </p:grpSpPr>
            <p:sp>
              <p:nvSpPr>
                <p:cNvPr id="190" name="Oval 189"/>
                <p:cNvSpPr/>
                <p:nvPr/>
              </p:nvSpPr>
              <p:spPr>
                <a:xfrm>
                  <a:off x="6553200" y="4876799"/>
                  <a:ext cx="182880" cy="18288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91" name="Oval 190"/>
                <p:cNvSpPr/>
                <p:nvPr/>
              </p:nvSpPr>
              <p:spPr>
                <a:xfrm>
                  <a:off x="6324600" y="5029200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92" name="Group 191"/>
              <p:cNvGrpSpPr/>
              <p:nvPr/>
            </p:nvGrpSpPr>
            <p:grpSpPr>
              <a:xfrm>
                <a:off x="990600" y="5181600"/>
                <a:ext cx="2225675" cy="1920251"/>
                <a:chOff x="6248400" y="5334000"/>
                <a:chExt cx="2225675" cy="1920251"/>
              </a:xfrm>
            </p:grpSpPr>
            <p:grpSp>
              <p:nvGrpSpPr>
                <p:cNvPr id="197" name="Group 90"/>
                <p:cNvGrpSpPr>
                  <a:grpSpLocks/>
                </p:cNvGrpSpPr>
                <p:nvPr/>
              </p:nvGrpSpPr>
              <p:grpSpPr bwMode="auto">
                <a:xfrm>
                  <a:off x="6248400" y="5334000"/>
                  <a:ext cx="2133600" cy="1828800"/>
                  <a:chOff x="5943600" y="4724400"/>
                  <a:chExt cx="2133600" cy="1828800"/>
                </a:xfrm>
              </p:grpSpPr>
              <p:grpSp>
                <p:nvGrpSpPr>
                  <p:cNvPr id="198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5943600" y="4876800"/>
                    <a:ext cx="2133600" cy="1524000"/>
                    <a:chOff x="5715000" y="3276600"/>
                    <a:chExt cx="2133600" cy="1524000"/>
                  </a:xfrm>
                </p:grpSpPr>
                <p:sp>
                  <p:nvSpPr>
                    <p:cNvPr id="203" name="Oval 202"/>
                    <p:cNvSpPr/>
                    <p:nvPr/>
                  </p:nvSpPr>
                  <p:spPr>
                    <a:xfrm>
                      <a:off x="7129272" y="4175124"/>
                      <a:ext cx="182880" cy="182880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  <p:grpSp>
                  <p:nvGrpSpPr>
                    <p:cNvPr id="204" name="Group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43600" y="3276600"/>
                      <a:ext cx="1600200" cy="1524000"/>
                      <a:chOff x="3276600" y="3276600"/>
                      <a:chExt cx="1600200" cy="1524000"/>
                    </a:xfrm>
                  </p:grpSpPr>
                  <p:cxnSp>
                    <p:nvCxnSpPr>
                      <p:cNvPr id="206" name="Straight Connector 205"/>
                      <p:cNvCxnSpPr/>
                      <p:nvPr/>
                    </p:nvCxnSpPr>
                    <p:spPr>
                      <a:xfrm>
                        <a:off x="3276600" y="4038600"/>
                        <a:ext cx="1600200" cy="0"/>
                      </a:xfrm>
                      <a:prstGeom prst="line">
                        <a:avLst/>
                      </a:prstGeom>
                      <a:ln w="25400">
                        <a:prstDash val="sysDot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207" name="Group 3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276600" y="3276600"/>
                        <a:ext cx="1600200" cy="1524000"/>
                        <a:chOff x="3276600" y="3276600"/>
                        <a:chExt cx="1600200" cy="1524000"/>
                      </a:xfrm>
                    </p:grpSpPr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3276600" y="3276600"/>
                          <a:ext cx="1600200" cy="1524000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rgbClr val="002060"/>
                          </a:solidFill>
                          <a:prstDash val="sysDot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defRPr/>
                          </a:pPr>
                          <a:endParaRPr lang="en-US"/>
                        </a:p>
                      </p:txBody>
                    </p:sp>
                    <p:cxnSp>
                      <p:nvCxnSpPr>
                        <p:cNvPr id="209" name="Straight Connector 208"/>
                        <p:cNvCxnSpPr>
                          <a:stCxn id="208" idx="0"/>
                          <a:endCxn id="208" idx="4"/>
                        </p:cNvCxnSpPr>
                        <p:nvPr/>
                      </p:nvCxnSpPr>
                      <p:spPr>
                        <a:xfrm>
                          <a:off x="4076700" y="3276600"/>
                          <a:ext cx="0" cy="1524000"/>
                        </a:xfrm>
                        <a:prstGeom prst="line">
                          <a:avLst/>
                        </a:prstGeom>
                        <a:ln w="25400">
                          <a:prstDash val="sysDot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4495800" y="3810000"/>
                          <a:ext cx="76200" cy="92075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defRPr/>
                          </a:pPr>
                          <a:endParaRPr lang="en-US"/>
                        </a:p>
                      </p:txBody>
                    </p:sp>
                  </p:grpSp>
                </p:grpSp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>
                      <a:off x="5715000" y="4038600"/>
                      <a:ext cx="2133600" cy="0"/>
                    </a:xfrm>
                    <a:prstGeom prst="line">
                      <a:avLst/>
                    </a:prstGeom>
                    <a:ln w="25400">
                      <a:solidFill>
                        <a:srgbClr val="002060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9" name="Straight Connector 198"/>
                  <p:cNvCxnSpPr/>
                  <p:nvPr/>
                </p:nvCxnSpPr>
                <p:spPr>
                  <a:xfrm>
                    <a:off x="6400800" y="4724400"/>
                    <a:ext cx="1066800" cy="1828800"/>
                  </a:xfrm>
                  <a:prstGeom prst="line">
                    <a:avLst/>
                  </a:prstGeom>
                  <a:ln w="25400">
                    <a:solidFill>
                      <a:srgbClr val="002060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0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6477000" y="5927724"/>
                    <a:ext cx="381000" cy="320676"/>
                    <a:chOff x="6248400" y="4327524"/>
                    <a:chExt cx="381000" cy="320676"/>
                  </a:xfrm>
                </p:grpSpPr>
                <p:sp>
                  <p:nvSpPr>
                    <p:cNvPr id="201" name="Oval 200"/>
                    <p:cNvSpPr/>
                    <p:nvPr/>
                  </p:nvSpPr>
                  <p:spPr>
                    <a:xfrm>
                      <a:off x="6553200" y="4556125"/>
                      <a:ext cx="76200" cy="92075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202" name="Oval 201"/>
                    <p:cNvSpPr/>
                    <p:nvPr/>
                  </p:nvSpPr>
                  <p:spPr>
                    <a:xfrm>
                      <a:off x="6248400" y="4327524"/>
                      <a:ext cx="182880" cy="182880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/>
                    </a:p>
                  </p:txBody>
                </p:sp>
              </p:grpSp>
            </p:grpSp>
            <p:sp>
              <p:nvSpPr>
                <p:cNvPr id="194" name="Oval 193"/>
                <p:cNvSpPr/>
                <p:nvPr/>
              </p:nvSpPr>
              <p:spPr bwMode="auto">
                <a:xfrm rot="3420000">
                  <a:off x="7726850" y="7055814"/>
                  <a:ext cx="92075" cy="304800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95" name="Oval 194"/>
                <p:cNvSpPr/>
                <p:nvPr/>
              </p:nvSpPr>
              <p:spPr bwMode="auto">
                <a:xfrm>
                  <a:off x="8382000" y="6096000"/>
                  <a:ext cx="92075" cy="304800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</p:grpSp>
        <p:sp>
          <p:nvSpPr>
            <p:cNvPr id="221" name="Right Arrow 220"/>
            <p:cNvSpPr/>
            <p:nvPr/>
          </p:nvSpPr>
          <p:spPr bwMode="auto">
            <a:xfrm rot="10800000" flipV="1">
              <a:off x="3581400" y="6324600"/>
              <a:ext cx="228600" cy="76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04800" y="1143000"/>
            <a:ext cx="8534400" cy="2057400"/>
          </a:xfrm>
          <a:prstGeom prst="rect">
            <a:avLst/>
          </a:prstGeom>
        </p:spPr>
        <p:txBody>
          <a:bodyPr/>
          <a:lstStyle/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ct val="95000"/>
              <a:buFont typeface="+mj-lt"/>
              <a:buAutoNum type="arabicPeriod" startAt="4"/>
              <a:tabLst>
                <a:tab pos="2054225" algn="l"/>
              </a:tabLst>
              <a:defRPr/>
            </a:pPr>
            <a:r>
              <a:rPr lang="en-US" sz="2100" b="1" i="1" dirty="0">
                <a:cs typeface="Arial" pitchFamily="34" charset="0"/>
              </a:rPr>
              <a:t>If </a:t>
            </a:r>
            <a:r>
              <a:rPr lang="en-US" sz="2100" b="1" i="1" dirty="0" smtClean="0">
                <a:cs typeface="Arial" pitchFamily="34" charset="0"/>
              </a:rPr>
              <a:t>there is an </a:t>
            </a:r>
            <a:r>
              <a:rPr lang="en-US" sz="2100" b="1" i="1" dirty="0" smtClean="0">
                <a:solidFill>
                  <a:srgbClr val="FF0000"/>
                </a:solidFill>
                <a:cs typeface="Arial" pitchFamily="34" charset="0"/>
              </a:rPr>
              <a:t>n-fold axis </a:t>
            </a:r>
            <a:r>
              <a:rPr lang="en-US" sz="2100" b="1" i="1" dirty="0" smtClean="0">
                <a:cs typeface="Arial" pitchFamily="34" charset="0"/>
              </a:rPr>
              <a:t>intersecting a </a:t>
            </a:r>
            <a:r>
              <a:rPr lang="en-US" sz="2100" b="1" i="1" dirty="0" smtClean="0">
                <a:solidFill>
                  <a:srgbClr val="7030A0"/>
                </a:solidFill>
                <a:cs typeface="Arial" pitchFamily="34" charset="0"/>
              </a:rPr>
              <a:t>perpendicular </a:t>
            </a:r>
            <a:r>
              <a:rPr lang="en-US" sz="2100" b="1" i="1" dirty="0" err="1" smtClean="0">
                <a:solidFill>
                  <a:srgbClr val="7030A0"/>
                </a:solidFill>
                <a:cs typeface="Arial" pitchFamily="34" charset="0"/>
              </a:rPr>
              <a:t>diad</a:t>
            </a:r>
            <a:r>
              <a:rPr lang="en-US" sz="2100" b="1" i="1" dirty="0" smtClean="0">
                <a:solidFill>
                  <a:srgbClr val="7030A0"/>
                </a:solidFill>
                <a:cs typeface="Arial" pitchFamily="34" charset="0"/>
              </a:rPr>
              <a:t> axis</a:t>
            </a:r>
            <a:r>
              <a:rPr lang="en-US" sz="2100" b="1" i="1" dirty="0" smtClean="0">
                <a:cs typeface="Arial" pitchFamily="34" charset="0"/>
              </a:rPr>
              <a:t>, then there are </a:t>
            </a:r>
            <a:r>
              <a:rPr lang="en-US" sz="2100" b="1" i="1" dirty="0" smtClean="0">
                <a:solidFill>
                  <a:srgbClr val="FF0000"/>
                </a:solidFill>
                <a:cs typeface="Arial" pitchFamily="34" charset="0"/>
              </a:rPr>
              <a:t>n-1</a:t>
            </a:r>
            <a:r>
              <a:rPr lang="en-US" sz="2100" b="1" i="1" dirty="0" smtClean="0">
                <a:cs typeface="Arial" pitchFamily="34" charset="0"/>
              </a:rPr>
              <a:t> additional </a:t>
            </a:r>
            <a:r>
              <a:rPr lang="en-US" sz="2100" b="1" i="1" dirty="0" err="1" smtClean="0">
                <a:solidFill>
                  <a:srgbClr val="0070C0"/>
                </a:solidFill>
                <a:cs typeface="Arial" pitchFamily="34" charset="0"/>
              </a:rPr>
              <a:t>diad</a:t>
            </a:r>
            <a:r>
              <a:rPr lang="en-US" sz="2100" b="1" i="1" dirty="0" smtClean="0">
                <a:solidFill>
                  <a:srgbClr val="0070C0"/>
                </a:solidFill>
                <a:cs typeface="Arial" pitchFamily="34" charset="0"/>
              </a:rPr>
              <a:t> axes</a:t>
            </a:r>
            <a:r>
              <a:rPr lang="en-US" sz="2100" b="1" i="1" dirty="0" smtClean="0">
                <a:cs typeface="Arial" pitchFamily="34" charset="0"/>
              </a:rPr>
              <a:t>, separated from one another by angle of 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</a:rPr>
              <a:t>2</a:t>
            </a:r>
            <a:r>
              <a:rPr lang="en-US" sz="2100" b="1" i="1" dirty="0">
                <a:solidFill>
                  <a:srgbClr val="FF0000"/>
                </a:solidFill>
                <a:cs typeface="Arial" pitchFamily="34" charset="0"/>
                <a:sym typeface="Symbol"/>
              </a:rPr>
              <a:t>/</a:t>
            </a:r>
            <a:r>
              <a:rPr lang="en-US" sz="2100" b="1" i="1" dirty="0" smtClean="0">
                <a:solidFill>
                  <a:srgbClr val="FF0000"/>
                </a:solidFill>
                <a:cs typeface="Arial" pitchFamily="34" charset="0"/>
                <a:sym typeface="Symbol"/>
              </a:rPr>
              <a:t>n</a:t>
            </a:r>
            <a:r>
              <a:rPr lang="en-US" sz="2100" b="1" i="1" dirty="0" smtClean="0">
                <a:cs typeface="Arial" pitchFamily="34" charset="0"/>
                <a:sym typeface="Symbol"/>
              </a:rPr>
              <a:t>.</a:t>
            </a:r>
            <a:endParaRPr lang="en-US" sz="2100" b="1" i="1" dirty="0">
              <a:cs typeface="Arial" pitchFamily="34" charset="0"/>
            </a:endParaRP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>
                <a:solidFill>
                  <a:srgbClr val="00B050"/>
                </a:solidFill>
                <a:cs typeface="Arial" pitchFamily="34" charset="0"/>
              </a:rPr>
              <a:t>This is converse </a:t>
            </a:r>
            <a:r>
              <a:rPr lang="en-US" sz="2100" b="1" dirty="0" smtClean="0">
                <a:solidFill>
                  <a:srgbClr val="00B050"/>
                </a:solidFill>
                <a:cs typeface="Arial" pitchFamily="34" charset="0"/>
              </a:rPr>
              <a:t>of the third relationship</a:t>
            </a:r>
            <a:endParaRPr lang="en-US" sz="2100" b="1" dirty="0">
              <a:solidFill>
                <a:srgbClr val="00B050"/>
              </a:solidFill>
              <a:cs typeface="Arial" pitchFamily="34" charset="0"/>
            </a:endParaRPr>
          </a:p>
          <a:p>
            <a:pPr marL="463550" indent="-463550" algn="just" fontAlgn="auto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95000"/>
              <a:buFont typeface="Wingdings" pitchFamily="2" charset="2"/>
              <a:buChar char="v"/>
              <a:tabLst>
                <a:tab pos="2054225" algn="l"/>
              </a:tabLst>
              <a:defRPr/>
            </a:pPr>
            <a:r>
              <a:rPr lang="en-US" sz="2100" b="1" dirty="0" smtClean="0">
                <a:cs typeface="Arial" pitchFamily="34" charset="0"/>
              </a:rPr>
              <a:t>If the </a:t>
            </a:r>
            <a:r>
              <a:rPr lang="en-US" sz="2100" b="1" dirty="0" err="1" smtClean="0">
                <a:solidFill>
                  <a:srgbClr val="FF0000"/>
                </a:solidFill>
                <a:cs typeface="Arial" pitchFamily="34" charset="0"/>
              </a:rPr>
              <a:t>diad</a:t>
            </a:r>
            <a:r>
              <a:rPr lang="en-US" sz="2100" b="1" dirty="0" smtClean="0">
                <a:solidFill>
                  <a:srgbClr val="FF0000"/>
                </a:solidFill>
                <a:cs typeface="Arial" pitchFamily="34" charset="0"/>
              </a:rPr>
              <a:t> axis</a:t>
            </a:r>
            <a:r>
              <a:rPr lang="en-US" sz="2100" b="1" dirty="0" smtClean="0">
                <a:cs typeface="Arial" pitchFamily="34" charset="0"/>
              </a:rPr>
              <a:t> is perpendicular to the </a:t>
            </a:r>
            <a:r>
              <a:rPr lang="en-US" sz="2100" b="1" dirty="0" smtClean="0">
                <a:solidFill>
                  <a:srgbClr val="FF0000"/>
                </a:solidFill>
                <a:cs typeface="Arial" pitchFamily="34" charset="0"/>
              </a:rPr>
              <a:t>triad axis</a:t>
            </a:r>
            <a:r>
              <a:rPr lang="en-US" sz="2100" b="1" dirty="0" smtClean="0">
                <a:cs typeface="Arial" pitchFamily="34" charset="0"/>
              </a:rPr>
              <a:t>, then </a:t>
            </a:r>
            <a:r>
              <a:rPr lang="en-US" sz="2100" b="1" dirty="0" smtClean="0">
                <a:solidFill>
                  <a:srgbClr val="FF0000"/>
                </a:solidFill>
                <a:cs typeface="Arial" pitchFamily="34" charset="0"/>
              </a:rPr>
              <a:t>two  more </a:t>
            </a:r>
            <a:r>
              <a:rPr lang="en-US" sz="2100" b="1" dirty="0" err="1" smtClean="0">
                <a:solidFill>
                  <a:srgbClr val="FF0000"/>
                </a:solidFill>
                <a:cs typeface="Arial" pitchFamily="34" charset="0"/>
              </a:rPr>
              <a:t>diad</a:t>
            </a:r>
            <a:r>
              <a:rPr lang="en-US" sz="2100" b="1" dirty="0" smtClean="0">
                <a:solidFill>
                  <a:srgbClr val="FF0000"/>
                </a:solidFill>
                <a:cs typeface="Arial" pitchFamily="34" charset="0"/>
              </a:rPr>
              <a:t> axes</a:t>
            </a:r>
            <a:r>
              <a:rPr lang="en-US" sz="2100" b="1" dirty="0" smtClean="0">
                <a:cs typeface="Arial" pitchFamily="34" charset="0"/>
              </a:rPr>
              <a:t> will be generated by the </a:t>
            </a:r>
            <a:r>
              <a:rPr lang="en-US" sz="2100" b="1" dirty="0" smtClean="0">
                <a:solidFill>
                  <a:srgbClr val="FF0000"/>
                </a:solidFill>
                <a:cs typeface="Arial" pitchFamily="34" charset="0"/>
              </a:rPr>
              <a:t>triad axis</a:t>
            </a:r>
            <a:r>
              <a:rPr lang="en-US" sz="2100" b="1" dirty="0" smtClean="0">
                <a:cs typeface="Arial" pitchFamily="34" charset="0"/>
              </a:rPr>
              <a:t>.</a:t>
            </a:r>
            <a:endParaRPr lang="en-US" sz="2100" b="1" dirty="0"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4025" y="381000"/>
            <a:ext cx="84613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n-lt"/>
              </a:rPr>
              <a:t>Representation of crystallographic point groups</a:t>
            </a:r>
          </a:p>
        </p:txBody>
      </p:sp>
      <p:grpSp>
        <p:nvGrpSpPr>
          <p:cNvPr id="100" name="Group 99"/>
          <p:cNvGrpSpPr/>
          <p:nvPr/>
        </p:nvGrpSpPr>
        <p:grpSpPr>
          <a:xfrm rot="374062">
            <a:off x="896112" y="3931920"/>
            <a:ext cx="1215987" cy="1836886"/>
            <a:chOff x="896112" y="3931920"/>
            <a:chExt cx="1215987" cy="1836886"/>
          </a:xfrm>
        </p:grpSpPr>
        <p:cxnSp>
          <p:nvCxnSpPr>
            <p:cNvPr id="149" name="Straight Connector 148"/>
            <p:cNvCxnSpPr/>
            <p:nvPr/>
          </p:nvCxnSpPr>
          <p:spPr bwMode="auto">
            <a:xfrm flipH="1">
              <a:off x="1045299" y="3931920"/>
              <a:ext cx="1066800" cy="1828800"/>
            </a:xfrm>
            <a:prstGeom prst="line">
              <a:avLst/>
            </a:prstGeom>
            <a:ln w="25400">
              <a:solidFill>
                <a:srgbClr val="00B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/>
            <p:cNvSpPr/>
            <p:nvPr/>
          </p:nvSpPr>
          <p:spPr bwMode="auto">
            <a:xfrm rot="7140000">
              <a:off x="1002474" y="5570369"/>
              <a:ext cx="92075" cy="30480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1045299" y="3931920"/>
            <a:ext cx="1219688" cy="1844051"/>
            <a:chOff x="1045299" y="3931920"/>
            <a:chExt cx="1219688" cy="1844051"/>
          </a:xfrm>
        </p:grpSpPr>
        <p:cxnSp>
          <p:nvCxnSpPr>
            <p:cNvPr id="160" name="Straight Connector 159"/>
            <p:cNvCxnSpPr/>
            <p:nvPr/>
          </p:nvCxnSpPr>
          <p:spPr bwMode="auto">
            <a:xfrm>
              <a:off x="1045299" y="3931920"/>
              <a:ext cx="1066800" cy="1828800"/>
            </a:xfrm>
            <a:prstGeom prst="line">
              <a:avLst/>
            </a:prstGeom>
            <a:ln w="25400">
              <a:solidFill>
                <a:srgbClr val="00B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Oval 156"/>
            <p:cNvSpPr/>
            <p:nvPr/>
          </p:nvSpPr>
          <p:spPr bwMode="auto">
            <a:xfrm rot="3420000">
              <a:off x="2066549" y="5577534"/>
              <a:ext cx="92075" cy="30480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9" name="Group 104"/>
          <p:cNvGrpSpPr>
            <a:grpSpLocks/>
          </p:cNvGrpSpPr>
          <p:nvPr/>
        </p:nvGrpSpPr>
        <p:grpSpPr bwMode="auto">
          <a:xfrm>
            <a:off x="4038600" y="5105400"/>
            <a:ext cx="381000" cy="320675"/>
            <a:chOff x="6172200" y="4343400"/>
            <a:chExt cx="381000" cy="320675"/>
          </a:xfrm>
        </p:grpSpPr>
        <p:sp>
          <p:nvSpPr>
            <p:cNvPr id="70" name="Oval 69"/>
            <p:cNvSpPr/>
            <p:nvPr/>
          </p:nvSpPr>
          <p:spPr>
            <a:xfrm>
              <a:off x="6477000" y="4572000"/>
              <a:ext cx="76200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6172200" y="4343400"/>
              <a:ext cx="182880" cy="1828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65" name="Group 115"/>
          <p:cNvGrpSpPr>
            <a:grpSpLocks/>
          </p:cNvGrpSpPr>
          <p:nvPr/>
        </p:nvGrpSpPr>
        <p:grpSpPr bwMode="auto">
          <a:xfrm>
            <a:off x="4114800" y="4190999"/>
            <a:ext cx="411480" cy="244476"/>
            <a:chOff x="6324600" y="4876799"/>
            <a:chExt cx="411480" cy="244476"/>
          </a:xfrm>
        </p:grpSpPr>
        <p:sp>
          <p:nvSpPr>
            <p:cNvPr id="66" name="Oval 65"/>
            <p:cNvSpPr/>
            <p:nvPr/>
          </p:nvSpPr>
          <p:spPr>
            <a:xfrm>
              <a:off x="6553200" y="4876799"/>
              <a:ext cx="182880" cy="1828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6324600" y="5029200"/>
              <a:ext cx="76200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533400" y="4038600"/>
            <a:ext cx="2606676" cy="1524000"/>
            <a:chOff x="1524000" y="4114800"/>
            <a:chExt cx="2606676" cy="1524000"/>
          </a:xfrm>
        </p:grpSpPr>
        <p:sp>
          <p:nvSpPr>
            <p:cNvPr id="153" name="Right Arrow 152"/>
            <p:cNvSpPr/>
            <p:nvPr/>
          </p:nvSpPr>
          <p:spPr bwMode="auto">
            <a:xfrm rot="10800000" flipV="1">
              <a:off x="3902076" y="4876800"/>
              <a:ext cx="228600" cy="76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178" name="Group 177"/>
            <p:cNvGrpSpPr/>
            <p:nvPr/>
          </p:nvGrpSpPr>
          <p:grpSpPr>
            <a:xfrm>
              <a:off x="1524000" y="4114800"/>
              <a:ext cx="2225675" cy="1524000"/>
              <a:chOff x="1524000" y="4114800"/>
              <a:chExt cx="2225675" cy="1524000"/>
            </a:xfrm>
          </p:grpSpPr>
          <p:grpSp>
            <p:nvGrpSpPr>
              <p:cNvPr id="154" name="Group 97"/>
              <p:cNvGrpSpPr>
                <a:grpSpLocks/>
              </p:cNvGrpSpPr>
              <p:nvPr/>
            </p:nvGrpSpPr>
            <p:grpSpPr bwMode="auto">
              <a:xfrm>
                <a:off x="2057400" y="4190999"/>
                <a:ext cx="411480" cy="244476"/>
                <a:chOff x="6324600" y="4876799"/>
                <a:chExt cx="411480" cy="244476"/>
              </a:xfrm>
            </p:grpSpPr>
            <p:sp>
              <p:nvSpPr>
                <p:cNvPr id="172" name="Oval 171"/>
                <p:cNvSpPr/>
                <p:nvPr/>
              </p:nvSpPr>
              <p:spPr>
                <a:xfrm>
                  <a:off x="6553200" y="4876799"/>
                  <a:ext cx="182880" cy="18288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73" name="Oval 172"/>
                <p:cNvSpPr/>
                <p:nvPr/>
              </p:nvSpPr>
              <p:spPr>
                <a:xfrm>
                  <a:off x="6324600" y="5029200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64" name="Oval 163"/>
              <p:cNvSpPr/>
              <p:nvPr/>
            </p:nvSpPr>
            <p:spPr bwMode="auto">
              <a:xfrm>
                <a:off x="3048000" y="5013324"/>
                <a:ext cx="182880" cy="18288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grpSp>
            <p:nvGrpSpPr>
              <p:cNvPr id="165" name="Group 38"/>
              <p:cNvGrpSpPr>
                <a:grpSpLocks/>
              </p:cNvGrpSpPr>
              <p:nvPr/>
            </p:nvGrpSpPr>
            <p:grpSpPr bwMode="auto">
              <a:xfrm>
                <a:off x="1752600" y="4114800"/>
                <a:ext cx="1600200" cy="1524000"/>
                <a:chOff x="3276600" y="3276600"/>
                <a:chExt cx="1600200" cy="1524000"/>
              </a:xfrm>
            </p:grpSpPr>
            <p:cxnSp>
              <p:nvCxnSpPr>
                <p:cNvPr id="167" name="Straight Connector 166"/>
                <p:cNvCxnSpPr/>
                <p:nvPr/>
              </p:nvCxnSpPr>
              <p:spPr>
                <a:xfrm>
                  <a:off x="3276600" y="4038600"/>
                  <a:ext cx="1600200" cy="0"/>
                </a:xfrm>
                <a:prstGeom prst="line">
                  <a:avLst/>
                </a:prstGeom>
                <a:ln w="2540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8" name="Group 35"/>
                <p:cNvGrpSpPr>
                  <a:grpSpLocks/>
                </p:cNvGrpSpPr>
                <p:nvPr/>
              </p:nvGrpSpPr>
              <p:grpSpPr bwMode="auto">
                <a:xfrm>
                  <a:off x="3276600" y="3276600"/>
                  <a:ext cx="1600200" cy="1524000"/>
                  <a:chOff x="3276600" y="3276600"/>
                  <a:chExt cx="1600200" cy="1524000"/>
                </a:xfrm>
              </p:grpSpPr>
              <p:sp>
                <p:nvSpPr>
                  <p:cNvPr id="169" name="Oval 168"/>
                  <p:cNvSpPr/>
                  <p:nvPr/>
                </p:nvSpPr>
                <p:spPr>
                  <a:xfrm>
                    <a:off x="3276600" y="3276600"/>
                    <a:ext cx="1600200" cy="1524000"/>
                  </a:xfrm>
                  <a:prstGeom prst="ellipse">
                    <a:avLst/>
                  </a:prstGeom>
                  <a:noFill/>
                  <a:ln>
                    <a:solidFill>
                      <a:srgbClr val="00206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cxnSp>
                <p:nvCxnSpPr>
                  <p:cNvPr id="170" name="Straight Connector 169"/>
                  <p:cNvCxnSpPr>
                    <a:stCxn id="169" idx="0"/>
                    <a:endCxn id="169" idx="4"/>
                  </p:cNvCxnSpPr>
                  <p:nvPr/>
                </p:nvCxnSpPr>
                <p:spPr>
                  <a:xfrm>
                    <a:off x="4076700" y="3276600"/>
                    <a:ext cx="0" cy="1524000"/>
                  </a:xfrm>
                  <a:prstGeom prst="line">
                    <a:avLst/>
                  </a:prstGeom>
                  <a:ln w="25400"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Oval 170"/>
                  <p:cNvSpPr/>
                  <p:nvPr/>
                </p:nvSpPr>
                <p:spPr>
                  <a:xfrm>
                    <a:off x="4648200" y="3810000"/>
                    <a:ext cx="76200" cy="9207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</p:grpSp>
          </p:grpSp>
          <p:cxnSp>
            <p:nvCxnSpPr>
              <p:cNvPr id="166" name="Straight Connector 165"/>
              <p:cNvCxnSpPr/>
              <p:nvPr/>
            </p:nvCxnSpPr>
            <p:spPr bwMode="auto">
              <a:xfrm>
                <a:off x="1524000" y="4876800"/>
                <a:ext cx="2133600" cy="0"/>
              </a:xfrm>
              <a:prstGeom prst="line">
                <a:avLst/>
              </a:prstGeom>
              <a:ln w="25400">
                <a:solidFill>
                  <a:srgbClr val="00206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83"/>
              <p:cNvGrpSpPr>
                <a:grpSpLocks/>
              </p:cNvGrpSpPr>
              <p:nvPr/>
            </p:nvGrpSpPr>
            <p:grpSpPr bwMode="auto">
              <a:xfrm>
                <a:off x="1981200" y="5165724"/>
                <a:ext cx="381000" cy="336551"/>
                <a:chOff x="6172200" y="4327524"/>
                <a:chExt cx="381000" cy="336551"/>
              </a:xfrm>
            </p:grpSpPr>
            <p:sp>
              <p:nvSpPr>
                <p:cNvPr id="162" name="Oval 161"/>
                <p:cNvSpPr/>
                <p:nvPr/>
              </p:nvSpPr>
              <p:spPr>
                <a:xfrm>
                  <a:off x="6477000" y="4572000"/>
                  <a:ext cx="76200" cy="920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63" name="Oval 162"/>
                <p:cNvSpPr/>
                <p:nvPr/>
              </p:nvSpPr>
              <p:spPr>
                <a:xfrm>
                  <a:off x="6172200" y="4327524"/>
                  <a:ext cx="182880" cy="18288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58" name="Oval 157"/>
              <p:cNvSpPr/>
              <p:nvPr/>
            </p:nvSpPr>
            <p:spPr bwMode="auto">
              <a:xfrm>
                <a:off x="3657600" y="4724400"/>
                <a:ext cx="92075" cy="304800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77" name="Isosceles Triangle 176"/>
              <p:cNvSpPr/>
              <p:nvPr/>
            </p:nvSpPr>
            <p:spPr>
              <a:xfrm>
                <a:off x="2490216" y="4800600"/>
                <a:ext cx="152400" cy="1524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63" name="Oval 62"/>
          <p:cNvSpPr/>
          <p:nvPr/>
        </p:nvSpPr>
        <p:spPr bwMode="auto">
          <a:xfrm>
            <a:off x="8019288" y="4876800"/>
            <a:ext cx="182880" cy="1828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80" name="Group 38"/>
          <p:cNvGrpSpPr>
            <a:grpSpLocks/>
          </p:cNvGrpSpPr>
          <p:nvPr/>
        </p:nvGrpSpPr>
        <p:grpSpPr bwMode="auto">
          <a:xfrm>
            <a:off x="6705600" y="4038600"/>
            <a:ext cx="1600200" cy="1524000"/>
            <a:chOff x="3276600" y="3276600"/>
            <a:chExt cx="1600200" cy="1524000"/>
          </a:xfrm>
        </p:grpSpPr>
        <p:cxnSp>
          <p:nvCxnSpPr>
            <p:cNvPr id="81" name="Straight Connector 80"/>
            <p:cNvCxnSpPr/>
            <p:nvPr/>
          </p:nvCxnSpPr>
          <p:spPr>
            <a:xfrm>
              <a:off x="3276600" y="4038600"/>
              <a:ext cx="1600200" cy="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35"/>
            <p:cNvGrpSpPr>
              <a:grpSpLocks/>
            </p:cNvGrpSpPr>
            <p:nvPr/>
          </p:nvGrpSpPr>
          <p:grpSpPr bwMode="auto">
            <a:xfrm>
              <a:off x="3276600" y="3276600"/>
              <a:ext cx="1600200" cy="1524000"/>
              <a:chOff x="3276600" y="3276600"/>
              <a:chExt cx="1600200" cy="1524000"/>
            </a:xfrm>
          </p:grpSpPr>
          <p:sp>
            <p:nvSpPr>
              <p:cNvPr id="83" name="Oval 82"/>
              <p:cNvSpPr/>
              <p:nvPr/>
            </p:nvSpPr>
            <p:spPr>
              <a:xfrm>
                <a:off x="3276600" y="3276600"/>
                <a:ext cx="1600200" cy="1524000"/>
              </a:xfrm>
              <a:prstGeom prst="ellipse">
                <a:avLst/>
              </a:prstGeom>
              <a:noFill/>
              <a:ln>
                <a:solidFill>
                  <a:srgbClr val="00206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84" name="Straight Connector 83"/>
              <p:cNvCxnSpPr>
                <a:stCxn id="83" idx="0"/>
                <a:endCxn id="83" idx="4"/>
              </p:cNvCxnSpPr>
              <p:nvPr/>
            </p:nvCxnSpPr>
            <p:spPr>
              <a:xfrm>
                <a:off x="4076700" y="3276600"/>
                <a:ext cx="0" cy="152400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Oval 84"/>
              <p:cNvSpPr/>
              <p:nvPr/>
            </p:nvSpPr>
            <p:spPr>
              <a:xfrm>
                <a:off x="4648200" y="3810000"/>
                <a:ext cx="76200" cy="9207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grpSp>
        <p:nvGrpSpPr>
          <p:cNvPr id="86" name="Group 85"/>
          <p:cNvGrpSpPr/>
          <p:nvPr/>
        </p:nvGrpSpPr>
        <p:grpSpPr>
          <a:xfrm>
            <a:off x="6400800" y="4648200"/>
            <a:ext cx="2225675" cy="304800"/>
            <a:chOff x="6400800" y="4648200"/>
            <a:chExt cx="2225675" cy="304800"/>
          </a:xfrm>
        </p:grpSpPr>
        <p:cxnSp>
          <p:nvCxnSpPr>
            <p:cNvPr id="51" name="Straight Connector 50"/>
            <p:cNvCxnSpPr/>
            <p:nvPr/>
          </p:nvCxnSpPr>
          <p:spPr bwMode="auto">
            <a:xfrm>
              <a:off x="6400800" y="4800600"/>
              <a:ext cx="2133600" cy="0"/>
            </a:xfrm>
            <a:prstGeom prst="line">
              <a:avLst/>
            </a:prstGeom>
            <a:ln w="25400">
              <a:solidFill>
                <a:srgbClr val="00206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 bwMode="auto">
            <a:xfrm>
              <a:off x="8534400" y="4648200"/>
              <a:ext cx="92075" cy="30480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aphicFrame>
        <p:nvGraphicFramePr>
          <p:cNvPr id="223235" name="Object 3"/>
          <p:cNvGraphicFramePr>
            <a:graphicFrameLocks noChangeAspect="1"/>
          </p:cNvGraphicFramePr>
          <p:nvPr/>
        </p:nvGraphicFramePr>
        <p:xfrm>
          <a:off x="8335963" y="4600575"/>
          <a:ext cx="155575" cy="352425"/>
        </p:xfrm>
        <a:graphic>
          <a:graphicData uri="http://schemas.openxmlformats.org/presentationml/2006/ole">
            <p:oleObj spid="_x0000_s223237" name="CS ChemDraw Drawing" r:id="rId4" imgW="155067" imgH="351663" progId="">
              <p:embed/>
            </p:oleObj>
          </a:graphicData>
        </a:graphic>
      </p:graphicFrame>
      <p:cxnSp>
        <p:nvCxnSpPr>
          <p:cNvPr id="97" name="Straight Connector 96"/>
          <p:cNvCxnSpPr/>
          <p:nvPr/>
        </p:nvCxnSpPr>
        <p:spPr>
          <a:xfrm rot="5400000">
            <a:off x="7964424" y="4799806"/>
            <a:ext cx="304800" cy="1588"/>
          </a:xfrm>
          <a:prstGeom prst="line">
            <a:avLst/>
          </a:prstGeom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3505200" y="4038600"/>
            <a:ext cx="2667000" cy="1524000"/>
            <a:chOff x="3505200" y="4038600"/>
            <a:chExt cx="2667000" cy="1524000"/>
          </a:xfrm>
        </p:grpSpPr>
        <p:grpSp>
          <p:nvGrpSpPr>
            <p:cNvPr id="68" name="Group 102"/>
            <p:cNvGrpSpPr>
              <a:grpSpLocks/>
            </p:cNvGrpSpPr>
            <p:nvPr/>
          </p:nvGrpSpPr>
          <p:grpSpPr bwMode="auto">
            <a:xfrm>
              <a:off x="3810000" y="4038600"/>
              <a:ext cx="1600200" cy="1524000"/>
              <a:chOff x="5943600" y="3276600"/>
              <a:chExt cx="1600200" cy="1524000"/>
            </a:xfrm>
          </p:grpSpPr>
          <p:sp>
            <p:nvSpPr>
              <p:cNvPr id="72" name="Oval 71"/>
              <p:cNvSpPr/>
              <p:nvPr/>
            </p:nvSpPr>
            <p:spPr>
              <a:xfrm>
                <a:off x="7284720" y="4114800"/>
                <a:ext cx="182880" cy="18288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grpSp>
            <p:nvGrpSpPr>
              <p:cNvPr id="73" name="Group 38"/>
              <p:cNvGrpSpPr>
                <a:grpSpLocks/>
              </p:cNvGrpSpPr>
              <p:nvPr/>
            </p:nvGrpSpPr>
            <p:grpSpPr bwMode="auto">
              <a:xfrm>
                <a:off x="5943600" y="3276600"/>
                <a:ext cx="1600200" cy="1524000"/>
                <a:chOff x="3276600" y="3276600"/>
                <a:chExt cx="1600200" cy="1524000"/>
              </a:xfrm>
            </p:grpSpPr>
            <p:cxnSp>
              <p:nvCxnSpPr>
                <p:cNvPr id="74" name="Straight Connector 73"/>
                <p:cNvCxnSpPr/>
                <p:nvPr/>
              </p:nvCxnSpPr>
              <p:spPr>
                <a:xfrm>
                  <a:off x="3276600" y="4038600"/>
                  <a:ext cx="1600200" cy="0"/>
                </a:xfrm>
                <a:prstGeom prst="line">
                  <a:avLst/>
                </a:prstGeom>
                <a:ln w="2540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" name="Group 35"/>
                <p:cNvGrpSpPr>
                  <a:grpSpLocks/>
                </p:cNvGrpSpPr>
                <p:nvPr/>
              </p:nvGrpSpPr>
              <p:grpSpPr bwMode="auto">
                <a:xfrm>
                  <a:off x="3276600" y="3276600"/>
                  <a:ext cx="1600200" cy="1524000"/>
                  <a:chOff x="3276600" y="3276600"/>
                  <a:chExt cx="1600200" cy="1524000"/>
                </a:xfrm>
              </p:grpSpPr>
              <p:sp>
                <p:nvSpPr>
                  <p:cNvPr id="76" name="Oval 75"/>
                  <p:cNvSpPr/>
                  <p:nvPr/>
                </p:nvSpPr>
                <p:spPr>
                  <a:xfrm>
                    <a:off x="3276600" y="3276600"/>
                    <a:ext cx="1600200" cy="1524000"/>
                  </a:xfrm>
                  <a:prstGeom prst="ellipse">
                    <a:avLst/>
                  </a:prstGeom>
                  <a:noFill/>
                  <a:ln>
                    <a:solidFill>
                      <a:srgbClr val="00206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  <p:cxnSp>
                <p:nvCxnSpPr>
                  <p:cNvPr id="77" name="Straight Connector 76"/>
                  <p:cNvCxnSpPr>
                    <a:stCxn id="76" idx="0"/>
                    <a:endCxn id="76" idx="4"/>
                  </p:cNvCxnSpPr>
                  <p:nvPr/>
                </p:nvCxnSpPr>
                <p:spPr>
                  <a:xfrm>
                    <a:off x="4076700" y="3276600"/>
                    <a:ext cx="0" cy="1524000"/>
                  </a:xfrm>
                  <a:prstGeom prst="line">
                    <a:avLst/>
                  </a:prstGeom>
                  <a:ln w="25400"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" name="Oval 77"/>
                  <p:cNvSpPr/>
                  <p:nvPr/>
                </p:nvSpPr>
                <p:spPr>
                  <a:xfrm>
                    <a:off x="4648200" y="3810000"/>
                    <a:ext cx="76200" cy="9207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/>
                  </a:p>
                </p:txBody>
              </p:sp>
            </p:grpSp>
          </p:grpSp>
        </p:grpSp>
        <p:cxnSp>
          <p:nvCxnSpPr>
            <p:cNvPr id="174" name="Straight Connector 173"/>
            <p:cNvCxnSpPr/>
            <p:nvPr/>
          </p:nvCxnSpPr>
          <p:spPr bwMode="auto">
            <a:xfrm>
              <a:off x="3505200" y="4800600"/>
              <a:ext cx="2133600" cy="0"/>
            </a:xfrm>
            <a:prstGeom prst="line">
              <a:avLst/>
            </a:prstGeom>
            <a:ln w="25400">
              <a:solidFill>
                <a:srgbClr val="00206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Oval 174"/>
            <p:cNvSpPr/>
            <p:nvPr/>
          </p:nvSpPr>
          <p:spPr bwMode="auto">
            <a:xfrm>
              <a:off x="5638800" y="4648200"/>
              <a:ext cx="92075" cy="30480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Right Arrow 97"/>
            <p:cNvSpPr/>
            <p:nvPr/>
          </p:nvSpPr>
          <p:spPr bwMode="auto">
            <a:xfrm rot="10800000" flipV="1">
              <a:off x="5943600" y="4800600"/>
              <a:ext cx="228600" cy="76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79" name="Isosceles Triangle 78"/>
          <p:cNvSpPr/>
          <p:nvPr/>
        </p:nvSpPr>
        <p:spPr>
          <a:xfrm>
            <a:off x="4535488" y="4724400"/>
            <a:ext cx="152400" cy="1524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79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>
    <a:spDef>
      <a:spPr bwMode="auto">
        <a:solidFill>
          <a:schemeClr val="tx1"/>
        </a:solidFill>
        <a:ln w="12700">
          <a:solidFill>
            <a:srgbClr val="002060"/>
          </a:solidFill>
        </a:ln>
      </a:spPr>
      <a:bodyPr anchor="ctr"/>
      <a:lstStyle>
        <a:defPPr algn="ctr" fontAlgn="auto">
          <a:spcBef>
            <a:spcPts val="0"/>
          </a:spcBef>
          <a:spcAft>
            <a:spcPts val="0"/>
          </a:spcAft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46019</TotalTime>
  <Words>1836</Words>
  <Application>Microsoft Office PowerPoint</Application>
  <PresentationFormat>On-screen Show (4:3)</PresentationFormat>
  <Paragraphs>373</Paragraphs>
  <Slides>44</Slides>
  <Notes>20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Aspect</vt:lpstr>
      <vt:lpstr>Foundry</vt:lpstr>
      <vt:lpstr>CS ChemDraw Drawing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Rotoinversion-axis</vt:lpstr>
      <vt:lpstr>4-fold rotoinversion axis (4)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Stereographic projections  Show or represent 3-D object in 2-D  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NCL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X-ray Diffractions and Structures of Solid (6)</dc:title>
  <dc:creator>Rajesh Gonnade</dc:creator>
  <cp:lastModifiedBy>Windows User</cp:lastModifiedBy>
  <cp:revision>403</cp:revision>
  <dcterms:created xsi:type="dcterms:W3CDTF">2012-03-17T03:04:27Z</dcterms:created>
  <dcterms:modified xsi:type="dcterms:W3CDTF">2018-02-16T12:43:33Z</dcterms:modified>
</cp:coreProperties>
</file>