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57D5E-4073-DAF0-84CB-DDCE7D4538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1519DA-C371-83C7-4603-D60CD53EC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291B4-49B4-B092-FB52-D36EA037C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1AC27-0726-48B8-9584-2B43366A79C1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F5E0CD-F605-2EF9-890B-B4D3590C2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8DE0BA-B93F-6E14-31CD-8220FC849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BB1B3-8726-435B-B9BA-2F0916E637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3088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99F9A-3874-AB0C-3FF2-5CF8F4D9B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4AC97-C2CA-F177-AA18-496D372DD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AB351-B3BF-CA21-1752-B6FED679C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1AC27-0726-48B8-9584-2B43366A79C1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F360B-0C95-C517-83E0-074FACD32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DBB5D8-C66D-8876-5A5B-4AD47708E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BB1B3-8726-435B-B9BA-2F0916E637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7788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698DF-F654-B264-F0AD-94381453B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1FCD79-85AE-39BF-882D-4D114CC596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7AF63-FD9D-F3CB-2F51-39AF8713F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1AC27-0726-48B8-9584-2B43366A79C1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62541D-C7A3-99E1-9916-253CA0F8E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DC3CE-5239-8827-7F9D-052DB80B8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BB1B3-8726-435B-B9BA-2F0916E637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5163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DB41E-6DB2-4EB5-B5BA-5D2FAF748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EFEA6-1288-F650-4C1B-07934CE924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4D15FB-2581-55E1-F632-A5024AA42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6C52F5-E25F-3011-EB94-8248915B4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1AC27-0726-48B8-9584-2B43366A79C1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3E1CD7-0CD3-3569-8F4F-3B9E28481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968B40-595F-7D5B-0791-97E195DF4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BB1B3-8726-435B-B9BA-2F0916E637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6939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7F2FD-AC66-B564-9933-DD7E68B2B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0EDB62-F07E-32A8-D3C9-D39F13580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263F89-DE41-A4A2-AC94-07BF4E19DD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531247-D7D2-5213-0081-30DA0BBC57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D2DB02-3DBF-00C0-3358-EA3714586A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A47402-1FBB-7E1E-2474-F8000435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1AC27-0726-48B8-9584-2B43366A79C1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8EF228-D0B6-8199-2FDF-D3DD40784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C73A66-9815-03BF-B455-FC09589CA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BB1B3-8726-435B-B9BA-2F0916E637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8527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882ED-5036-E06A-D61A-853727203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7DC229-4BE2-379A-1788-73D9F0181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1AC27-0726-48B8-9584-2B43366A79C1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93966E-07B4-68FF-4108-36644414E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B8E0DF-B044-381E-3FDE-D5D0232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BB1B3-8726-435B-B9BA-2F0916E637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9740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5EEADC-5C33-7354-2210-898CA1B9D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1AC27-0726-48B8-9584-2B43366A79C1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9EFC12-4578-E62F-0E5D-99B1EC39D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B7EB42-6600-BA98-463A-0937B69CA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BB1B3-8726-435B-B9BA-2F0916E637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971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491FE-6DA7-E940-1C70-839580BA8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B78A1-C7C9-D2FF-385C-6EABE3D2C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E50D95-5F7F-798F-7870-E0A6352333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3369EA-4460-22B7-2EE8-59F4E74C4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1AC27-0726-48B8-9584-2B43366A79C1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51E857-2E2C-BF06-550F-EAD7C2315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EF475-7C85-0CBF-B1BF-EB031FD42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BB1B3-8726-435B-B9BA-2F0916E637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5959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B5840-7A91-8004-CBE6-865040D24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A2915E-F4A0-9768-3DD6-D1A2A8623B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330683-21F8-3ABB-B08B-3DA14B9FA3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84176B-0DA1-48E6-25E7-2543A59C7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1AC27-0726-48B8-9584-2B43366A79C1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DFDA4E-69F0-AB68-FF24-54A391E5C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942676-76CE-001C-1C44-E120CB31B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BB1B3-8726-435B-B9BA-2F0916E637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7275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F207F-7805-D8EE-7486-9120E1CB6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2F5068-62D5-4F19-38B9-499F1EE28C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4B7DB-48E7-CC34-CB43-761056E3D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1AC27-0726-48B8-9584-2B43366A79C1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211E9-CB6F-1829-F6DD-9DD43CDBC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AC69D-8EA3-F072-808A-2588EE08C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BB1B3-8726-435B-B9BA-2F0916E637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5598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E81C09-2E22-DD1A-4C10-B2AD40ECF5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A97FE7-6A7F-07AD-724D-38DA7E0410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F71AB-9E71-AE49-01BE-A08D7A37D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1AC27-0726-48B8-9584-2B43366A79C1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6BBD9-0F29-EE0E-4673-AFE512E06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61504-D486-AE12-49EF-443686133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BB1B3-8726-435B-B9BA-2F0916E637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7171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DAC68E-2FA0-4F5E-D2CD-ACD1F2125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3B45CE-3296-A59A-A310-E9DA4BBCF2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23698-A645-1242-5B3D-1ACD5A8D42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A1AC27-0726-48B8-9584-2B43366A79C1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118F79-047F-F272-9D59-ABEAA6EDD6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4114C-F148-298C-E188-E557DAF218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CBB1B3-8726-435B-B9BA-2F0916E637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7776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AD229B-5D40-604F-26D8-BF388B7C3E1E}"/>
              </a:ext>
            </a:extLst>
          </p:cNvPr>
          <p:cNvSpPr txBox="1"/>
          <p:nvPr/>
        </p:nvSpPr>
        <p:spPr>
          <a:xfrm>
            <a:off x="0" y="124980"/>
            <a:ext cx="1219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IN" b="0" i="0" u="none" strike="noStrike" dirty="0">
                <a:solidFill>
                  <a:srgbClr val="2B2B2B"/>
                </a:solidFill>
                <a:effectLst/>
              </a:rPr>
              <a:t>1. An organic compound (C</a:t>
            </a:r>
            <a:r>
              <a:rPr lang="en-IN" b="0" i="0" u="none" strike="noStrike" baseline="-25000" dirty="0">
                <a:solidFill>
                  <a:srgbClr val="2B2B2B"/>
                </a:solidFill>
                <a:effectLst/>
              </a:rPr>
              <a:t>7</a:t>
            </a:r>
            <a:r>
              <a:rPr lang="en-IN" b="0" i="0" u="none" strike="noStrike" dirty="0">
                <a:solidFill>
                  <a:srgbClr val="2B2B2B"/>
                </a:solidFill>
                <a:effectLst/>
              </a:rPr>
              <a:t>H</a:t>
            </a:r>
            <a:r>
              <a:rPr lang="en-IN" b="0" i="0" u="none" strike="noStrike" baseline="-25000" dirty="0">
                <a:solidFill>
                  <a:srgbClr val="2B2B2B"/>
                </a:solidFill>
                <a:effectLst/>
              </a:rPr>
              <a:t>12</a:t>
            </a:r>
            <a:r>
              <a:rPr lang="en-IN" b="0" i="0" u="none" strike="noStrike" dirty="0">
                <a:solidFill>
                  <a:srgbClr val="2B2B2B"/>
                </a:solidFill>
                <a:effectLst/>
              </a:rPr>
              <a:t>O</a:t>
            </a:r>
            <a:r>
              <a:rPr lang="en-IN" b="0" i="0" u="none" strike="noStrike" baseline="-25000" dirty="0">
                <a:solidFill>
                  <a:srgbClr val="2B2B2B"/>
                </a:solidFill>
                <a:effectLst/>
              </a:rPr>
              <a:t>2</a:t>
            </a:r>
            <a:r>
              <a:rPr lang="en-IN" b="0" i="0" u="none" strike="noStrike" dirty="0">
                <a:solidFill>
                  <a:srgbClr val="2B2B2B"/>
                </a:solidFill>
                <a:effectLst/>
              </a:rPr>
              <a:t>) exhibited the following data in the </a:t>
            </a:r>
            <a:r>
              <a:rPr lang="en-IN" b="0" i="0" u="none" strike="noStrike" baseline="30000" dirty="0">
                <a:solidFill>
                  <a:srgbClr val="2B2B2B"/>
                </a:solidFill>
                <a:effectLst/>
              </a:rPr>
              <a:t>1</a:t>
            </a:r>
            <a:r>
              <a:rPr lang="en-IN" b="0" i="0" u="none" strike="noStrike" dirty="0">
                <a:solidFill>
                  <a:srgbClr val="2B2B2B"/>
                </a:solidFill>
                <a:effectLst/>
              </a:rPr>
              <a:t>H NMR spectrum.</a:t>
            </a:r>
            <a:br>
              <a:rPr lang="en-IN" b="0" i="0" u="none" strike="noStrike" dirty="0">
                <a:solidFill>
                  <a:srgbClr val="2B2B2B"/>
                </a:solidFill>
                <a:effectLst/>
              </a:rPr>
            </a:br>
            <a:endParaRPr lang="en-IN" b="0" i="0" u="none" strike="noStrike" dirty="0">
              <a:solidFill>
                <a:srgbClr val="2B2B2B"/>
              </a:solidFill>
              <a:effectLst/>
            </a:endParaRPr>
          </a:p>
          <a:p>
            <a:pPr>
              <a:buNone/>
            </a:pPr>
            <a:r>
              <a:rPr lang="el-GR" b="0" i="0" dirty="0">
                <a:solidFill>
                  <a:srgbClr val="2B2B2B"/>
                </a:solidFill>
                <a:effectLst/>
              </a:rPr>
              <a:t>δ 7.10 (1</a:t>
            </a:r>
            <a:r>
              <a:rPr lang="en-IN" b="0" i="0" dirty="0">
                <a:solidFill>
                  <a:srgbClr val="2B2B2B"/>
                </a:solidFill>
                <a:effectLst/>
              </a:rPr>
              <a:t>H, dt, J= 16 Hz and 7.2 Hz), 5.90 (1H, dt, J= 16 Hz and 2 Hz), 4.1 (2H, q, J= 7.2 Hz), 2.10 (2H, m), 1.25 (3H, t, J= 7.2 Hz), 0.90 (3H, t, J= 7.2 Hz) ppm.                                                                                                                                                                 </a:t>
            </a:r>
            <a:r>
              <a:rPr lang="en-US" dirty="0"/>
              <a:t>(CSIR NET)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400FE1-E131-48E5-823C-486CC37F6DF8}"/>
              </a:ext>
            </a:extLst>
          </p:cNvPr>
          <p:cNvSpPr txBox="1"/>
          <p:nvPr/>
        </p:nvSpPr>
        <p:spPr>
          <a:xfrm>
            <a:off x="0" y="1979628"/>
            <a:ext cx="118243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Q2. </a:t>
            </a:r>
            <a:r>
              <a:rPr lang="en-US" dirty="0"/>
              <a:t>Determine the correct structure of a compound having molecular formula </a:t>
            </a:r>
            <a:r>
              <a:rPr lang="en-IN" dirty="0"/>
              <a:t>C</a:t>
            </a:r>
            <a:r>
              <a:rPr lang="en-IN" baseline="-25000" dirty="0"/>
              <a:t>6</a:t>
            </a:r>
            <a:r>
              <a:rPr lang="en-IN" dirty="0"/>
              <a:t>H</a:t>
            </a:r>
            <a:r>
              <a:rPr lang="en-IN" baseline="-25000" dirty="0"/>
              <a:t>11</a:t>
            </a:r>
            <a:r>
              <a:rPr lang="en-IN" dirty="0"/>
              <a:t>BrO₂, </a:t>
            </a:r>
            <a:r>
              <a:rPr lang="en-US" dirty="0"/>
              <a:t>based on the following characteristic spectral data:</a:t>
            </a:r>
          </a:p>
          <a:p>
            <a:r>
              <a:rPr lang="en-US" b="1" dirty="0"/>
              <a:t>IR:</a:t>
            </a:r>
            <a:r>
              <a:rPr lang="en-US" dirty="0"/>
              <a:t> 1736 cm⁻¹</a:t>
            </a:r>
          </a:p>
          <a:p>
            <a:r>
              <a:rPr lang="en-US" b="1" dirty="0"/>
              <a:t>¹H NMR (δ, ppm):</a:t>
            </a:r>
            <a:r>
              <a:rPr lang="en-US" dirty="0"/>
              <a:t> 3.59 (s, 3H), 3.32 (t, 2H), 2.25 (t, 2H), 1.85–1.75 (m, 2H), 1.73–1.62 (m, 2H)</a:t>
            </a:r>
          </a:p>
          <a:p>
            <a:r>
              <a:rPr lang="en-US" b="1" dirty="0"/>
              <a:t>¹³C NMR (δ, ppm):</a:t>
            </a:r>
            <a:r>
              <a:rPr lang="en-US" dirty="0"/>
              <a:t> 174.0, 51.0, 32.9, 32.8, 31.0, 23.0                                                                                                               (CSIR NET)</a:t>
            </a:r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F3F932-DDAF-B2A6-FA9D-87254F0D5C96}"/>
              </a:ext>
            </a:extLst>
          </p:cNvPr>
          <p:cNvSpPr txBox="1"/>
          <p:nvPr/>
        </p:nvSpPr>
        <p:spPr>
          <a:xfrm>
            <a:off x="0" y="4213781"/>
            <a:ext cx="119091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Q3. </a:t>
            </a:r>
            <a:r>
              <a:rPr lang="en-US" dirty="0"/>
              <a:t>Predict the number of signals expected in the ¹H NMR spectrum of the following compound and assign order of chemical shift (δ) values to each type of proton.</a:t>
            </a:r>
            <a:endParaRPr lang="en-IN" dirty="0"/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4BB8275C-97D3-8941-64E4-FF9908911A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7396904"/>
              </p:ext>
            </p:extLst>
          </p:nvPr>
        </p:nvGraphicFramePr>
        <p:xfrm>
          <a:off x="4753172" y="4930994"/>
          <a:ext cx="1308262" cy="11024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817929" imgH="688559" progId="ChemDraw.Document.6.0">
                  <p:embed/>
                </p:oleObj>
              </mc:Choice>
              <mc:Fallback>
                <p:oleObj name="CS ChemDraw Drawing" r:id="rId2" imgW="817929" imgH="688559" progId="ChemDraw.Document.6.0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753172" y="4930994"/>
                        <a:ext cx="1308262" cy="11024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0673D01-4B4D-9EE6-6357-0139FE443EB9}"/>
              </a:ext>
            </a:extLst>
          </p:cNvPr>
          <p:cNvSpPr txBox="1"/>
          <p:nvPr/>
        </p:nvSpPr>
        <p:spPr>
          <a:xfrm>
            <a:off x="10602570" y="4561662"/>
            <a:ext cx="15894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(CSIR NET)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3942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AEF5A13-62AC-A081-BFA7-5132A6D32CD0}"/>
              </a:ext>
            </a:extLst>
          </p:cNvPr>
          <p:cNvGrpSpPr/>
          <p:nvPr/>
        </p:nvGrpSpPr>
        <p:grpSpPr>
          <a:xfrm>
            <a:off x="7105963" y="953198"/>
            <a:ext cx="3872442" cy="3045454"/>
            <a:chOff x="5797486" y="150830"/>
            <a:chExt cx="6240543" cy="490783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52C7053-3AE4-34DF-7829-0053F419A4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007" t="7338" r="15151"/>
            <a:stretch>
              <a:fillRect/>
            </a:stretch>
          </p:blipFill>
          <p:spPr>
            <a:xfrm>
              <a:off x="5979491" y="329938"/>
              <a:ext cx="6058538" cy="4728722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E83E011-7C8D-30A2-D4FB-4D7EC3351F57}"/>
                </a:ext>
              </a:extLst>
            </p:cNvPr>
            <p:cNvSpPr/>
            <p:nvPr/>
          </p:nvSpPr>
          <p:spPr>
            <a:xfrm>
              <a:off x="5797486" y="150830"/>
              <a:ext cx="1294368" cy="612742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32B08F7-0868-032A-FE92-8D58D9AAB582}"/>
                </a:ext>
              </a:extLst>
            </p:cNvPr>
            <p:cNvSpPr/>
            <p:nvPr/>
          </p:nvSpPr>
          <p:spPr>
            <a:xfrm>
              <a:off x="6183984" y="3337089"/>
              <a:ext cx="452486" cy="282804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B9C135A-C332-4655-A48E-D526A635F31F}"/>
                </a:ext>
              </a:extLst>
            </p:cNvPr>
            <p:cNvSpPr/>
            <p:nvPr/>
          </p:nvSpPr>
          <p:spPr>
            <a:xfrm>
              <a:off x="9305827" y="944251"/>
              <a:ext cx="452486" cy="282804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6D38374-1F52-DE68-8EBB-C6A924867BFD}"/>
              </a:ext>
            </a:extLst>
          </p:cNvPr>
          <p:cNvSpPr txBox="1"/>
          <p:nvPr/>
        </p:nvSpPr>
        <p:spPr>
          <a:xfrm>
            <a:off x="62845" y="82369"/>
            <a:ext cx="11655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4. The </a:t>
            </a:r>
            <a:r>
              <a:rPr lang="en-IN" baseline="30000" dirty="0"/>
              <a:t>1</a:t>
            </a:r>
            <a:r>
              <a:rPr lang="en-IN" dirty="0"/>
              <a:t>H and </a:t>
            </a:r>
            <a:r>
              <a:rPr lang="en-IN" baseline="30000" dirty="0"/>
              <a:t>13</a:t>
            </a:r>
            <a:r>
              <a:rPr lang="en-IN" dirty="0"/>
              <a:t>C NMR data is provided of one compound having formula (C</a:t>
            </a:r>
            <a:r>
              <a:rPr lang="en-IN" baseline="-25000" dirty="0"/>
              <a:t>5</a:t>
            </a:r>
            <a:r>
              <a:rPr lang="en-IN" dirty="0"/>
              <a:t>H</a:t>
            </a:r>
            <a:r>
              <a:rPr lang="en-IN" baseline="-25000" dirty="0"/>
              <a:t>10</a:t>
            </a:r>
            <a:r>
              <a:rPr lang="en-IN" dirty="0"/>
              <a:t>Cl</a:t>
            </a:r>
            <a:r>
              <a:rPr lang="en-IN" baseline="-25000" dirty="0"/>
              <a:t>2</a:t>
            </a:r>
            <a:r>
              <a:rPr lang="en-IN" dirty="0"/>
              <a:t>). Predict the structure of the compound.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BC0BB1-FD57-F13E-4049-52272A6C5C38}"/>
              </a:ext>
            </a:extLst>
          </p:cNvPr>
          <p:cNvSpPr txBox="1"/>
          <p:nvPr/>
        </p:nvSpPr>
        <p:spPr>
          <a:xfrm>
            <a:off x="62845" y="4718432"/>
            <a:ext cx="121919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5. Two isomers with the formula C</a:t>
            </a:r>
            <a:r>
              <a:rPr lang="en-IN" baseline="-25000" dirty="0"/>
              <a:t>10</a:t>
            </a:r>
            <a:r>
              <a:rPr lang="en-IN" dirty="0"/>
              <a:t>H</a:t>
            </a:r>
            <a:r>
              <a:rPr lang="en-IN" baseline="-25000" dirty="0"/>
              <a:t>12</a:t>
            </a:r>
            <a:r>
              <a:rPr lang="en-IN" dirty="0"/>
              <a:t>O. Predict the structure of the compounds.</a:t>
            </a:r>
          </a:p>
          <a:p>
            <a:endParaRPr lang="en-IN" dirty="0"/>
          </a:p>
          <a:p>
            <a:r>
              <a:rPr lang="en-IN" dirty="0"/>
              <a:t>Compound A: </a:t>
            </a:r>
            <a:r>
              <a:rPr lang="pt-BR" dirty="0"/>
              <a:t>IR (neat): 1675 cm-</a:t>
            </a:r>
            <a:r>
              <a:rPr lang="pt-BR" baseline="30000" dirty="0"/>
              <a:t>1</a:t>
            </a:r>
            <a:r>
              <a:rPr lang="pt-BR" dirty="0"/>
              <a:t>; </a:t>
            </a:r>
            <a:r>
              <a:rPr lang="pt-BR" baseline="30000" dirty="0"/>
              <a:t>1</a:t>
            </a:r>
            <a:r>
              <a:rPr lang="pt-BR" dirty="0"/>
              <a:t>H NMR (CDCl</a:t>
            </a:r>
            <a:r>
              <a:rPr lang="pt-BR" baseline="-25000" dirty="0"/>
              <a:t>3</a:t>
            </a:r>
            <a:r>
              <a:rPr lang="pt-BR" dirty="0"/>
              <a:t>): 1.20 (d, J = 7 Hz, 6H), 3.53 (septet, J = 7 Hz, 1H), 7.94 (m, 2H), 7.68 (m, 1H), 7.3 (m, 2H).</a:t>
            </a:r>
          </a:p>
          <a:p>
            <a:endParaRPr lang="pt-BR" dirty="0"/>
          </a:p>
          <a:p>
            <a:r>
              <a:rPr lang="pt-BR" dirty="0"/>
              <a:t>Compond B: B: IR (neat): 1705 cm</a:t>
            </a:r>
            <a:r>
              <a:rPr lang="pt-BR" baseline="30000" dirty="0"/>
              <a:t>-1</a:t>
            </a:r>
            <a:r>
              <a:rPr lang="pt-BR" dirty="0"/>
              <a:t>; </a:t>
            </a:r>
            <a:r>
              <a:rPr lang="pt-BR" baseline="30000" dirty="0"/>
              <a:t>1</a:t>
            </a:r>
            <a:r>
              <a:rPr lang="pt-BR" dirty="0"/>
              <a:t>H NMR (CDCl</a:t>
            </a:r>
            <a:r>
              <a:rPr lang="pt-BR" baseline="-25000" dirty="0"/>
              <a:t>3</a:t>
            </a:r>
            <a:r>
              <a:rPr lang="pt-BR" dirty="0"/>
              <a:t>): 0.95 (t, J = 7 Hz, 3H), 2.35 (q, J = 7Hz, 2H), 3.6 (s, 2H), 7.20 (m, 5H).</a:t>
            </a:r>
            <a:endParaRPr lang="en-IN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779C18E-359A-F545-E1E0-39867F42F72F}"/>
              </a:ext>
            </a:extLst>
          </p:cNvPr>
          <p:cNvGrpSpPr/>
          <p:nvPr/>
        </p:nvGrpSpPr>
        <p:grpSpPr>
          <a:xfrm>
            <a:off x="1060878" y="546754"/>
            <a:ext cx="4510362" cy="3625203"/>
            <a:chOff x="1060878" y="546754"/>
            <a:chExt cx="4510362" cy="3625203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8566C09F-690D-887B-FE7A-64555B81BD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065" t="6048" r="12368"/>
            <a:stretch>
              <a:fillRect/>
            </a:stretch>
          </p:blipFill>
          <p:spPr>
            <a:xfrm>
              <a:off x="1060878" y="546754"/>
              <a:ext cx="4510362" cy="3625203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146BD4F-0EE9-B914-ED6B-DB27FF59E7BC}"/>
                </a:ext>
              </a:extLst>
            </p:cNvPr>
            <p:cNvSpPr/>
            <p:nvPr/>
          </p:nvSpPr>
          <p:spPr>
            <a:xfrm>
              <a:off x="1564668" y="1533283"/>
              <a:ext cx="348792" cy="369332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823350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887276-00CF-BA14-F184-80C0B0EBE933}"/>
              </a:ext>
            </a:extLst>
          </p:cNvPr>
          <p:cNvSpPr txBox="1"/>
          <p:nvPr/>
        </p:nvSpPr>
        <p:spPr>
          <a:xfrm>
            <a:off x="160917" y="188239"/>
            <a:ext cx="113385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Q 6. Match the following with </a:t>
            </a:r>
            <a:r>
              <a:rPr lang="en-IN" baseline="30000" dirty="0"/>
              <a:t>13</a:t>
            </a:r>
            <a:r>
              <a:rPr lang="en-IN" dirty="0"/>
              <a:t>C NMR value:</a:t>
            </a:r>
          </a:p>
          <a:p>
            <a:r>
              <a:rPr lang="en-IN" b="1" dirty="0"/>
              <a:t>Compound                                                                                   ¹³C NMR chemical shift (</a:t>
            </a:r>
            <a:r>
              <a:rPr lang="el-GR" b="1" dirty="0"/>
              <a:t>δ </a:t>
            </a:r>
            <a:r>
              <a:rPr lang="en-IN" b="1" dirty="0"/>
              <a:t>ppm)</a:t>
            </a:r>
            <a:br>
              <a:rPr lang="en-IN" dirty="0"/>
            </a:br>
            <a:br>
              <a:rPr lang="en-IN" dirty="0"/>
            </a:br>
            <a:r>
              <a:rPr lang="en-IN" dirty="0"/>
              <a:t>(A) Acetic acid                                                                                            (</a:t>
            </a:r>
            <a:r>
              <a:rPr lang="en-IN" dirty="0" err="1"/>
              <a:t>i</a:t>
            </a:r>
            <a:r>
              <a:rPr lang="en-IN" dirty="0"/>
              <a:t>) 95</a:t>
            </a:r>
            <a:br>
              <a:rPr lang="en-IN" dirty="0"/>
            </a:br>
            <a:r>
              <a:rPr lang="en-IN" dirty="0"/>
              <a:t>(B) Acetonitrile                                                                                          (ii) 115</a:t>
            </a:r>
            <a:br>
              <a:rPr lang="en-IN" dirty="0"/>
            </a:br>
            <a:r>
              <a:rPr lang="en-IN" dirty="0"/>
              <a:t>(C) Acetone                                                                                                (iii) 175</a:t>
            </a:r>
            <a:br>
              <a:rPr lang="en-IN" dirty="0"/>
            </a:br>
            <a:r>
              <a:rPr lang="en-IN" dirty="0"/>
              <a:t>(D) Carbon tetrachloride                                                                          (iv) 205</a:t>
            </a:r>
            <a:br>
              <a:rPr lang="en-IN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697EAA-D712-7184-7151-A6C8C7432996}"/>
              </a:ext>
            </a:extLst>
          </p:cNvPr>
          <p:cNvSpPr txBox="1"/>
          <p:nvPr/>
        </p:nvSpPr>
        <p:spPr>
          <a:xfrm>
            <a:off x="10334134" y="2311897"/>
            <a:ext cx="13859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(CSIR NET)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5191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429</Words>
  <Application>Microsoft Office PowerPoint</Application>
  <PresentationFormat>Widescreen</PresentationFormat>
  <Paragraphs>17</Paragraphs>
  <Slides>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CS ChemDraw Drawing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PRATIP BHATTACHARYYA</dc:creator>
  <cp:lastModifiedBy>PRATIP BHATTACHARYYA</cp:lastModifiedBy>
  <cp:revision>3</cp:revision>
  <dcterms:created xsi:type="dcterms:W3CDTF">2026-02-23T11:22:05Z</dcterms:created>
  <dcterms:modified xsi:type="dcterms:W3CDTF">2026-02-26T04:40:49Z</dcterms:modified>
</cp:coreProperties>
</file>