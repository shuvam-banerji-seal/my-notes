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4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1E21-24C9-C02C-AFCA-D48E62272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3D9FF-022C-CA83-A071-B6B9BD9B0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237C7-E1E7-80BD-24DA-C20C34F81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55BB5-9532-4293-9CDE-C64A46F7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8E893-6165-A497-C689-C33A043F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46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4374-0A61-B7ED-72A6-C3E2B0BF6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2B0A-8F45-EDE0-C86C-E95BE7CBC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A731B-78AF-23D7-1D93-E4683F39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3E4C0-4462-BF21-D786-E4BB1338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9CB8E-4900-4915-C211-E7033A7E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45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1A7-120A-3507-230E-656D10E8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ACC5B-3A8C-9E6F-8130-C9BFA50A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64622-FD96-F604-6A45-420249F9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55FEB-394D-42F5-7EF1-580BCC7D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126FE-4278-1929-CF86-99BA13E4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5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5661-D952-074A-5BDB-CD5E6DDC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61A74-0100-392E-590A-4161C590A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D1DAF1-C035-CE6F-D994-2D6A33E2E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13AB8-625D-F197-E24F-DA087325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2F8CF-9FFF-C18C-EB18-8DBE7E1EF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3EA61-045E-9F92-1CCF-F0C4DCB81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61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6E53-3077-2C08-681A-4BC603BE9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E6858-7E89-0E3C-D9DE-5B645C563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2F3B4-6D97-39D4-CF26-E73A63004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F6C96-5217-4394-A49B-F86CF34AF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4B49E-AAA9-FE9B-D5B4-F91856AFE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12580-2F4D-F043-F0DE-A422FD71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D5F82-5ADA-8A85-4204-4D5027DE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E9F4-9E96-9FC2-0806-1E166997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2DFF-8B71-0938-335F-CE5EE1CA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7F65F-AC8D-457E-246B-2ABCAEF2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8314C-BB0D-5774-27A8-F70718B32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7844B-9DAA-3EFC-0882-7C639ED7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08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F72F6-692E-A3CB-695E-E5F5ED8D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4550F-B630-3F9E-CE1E-5CC41E96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49A93-0701-B8E7-8DC1-33005588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240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3AC1-80A0-E15A-C68D-77C8495B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53353-E743-138D-A27F-16A4031C7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FDF1D-12FC-B607-9388-00D4ADE4D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3C4E-F0F7-0445-080B-96048C2E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FE6C9-4EB0-B49B-47DC-7852DD08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C3D12-358E-E1E5-0D6F-E6C71DCF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823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B615-82F0-E1F1-595B-B3710E59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5B076-03F1-781D-A7E6-056BFBAC6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3DB5B-A1CA-C63A-D797-469F653B7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0F458-4287-5AEF-D7EC-73CD1F32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217FA-533C-D7CA-DE5F-1628B827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0D0F0-F77F-990C-C969-6EF7BC0D9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04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B331-E7C4-12FC-D88D-7964D9FA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68D32-4261-F614-1DBD-64E3E9324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1112D-D266-EF58-7675-1C0BC72E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82B18-7909-8D60-F1C0-BDE6961AA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A67C1-AA4E-1E06-B999-6ECB2A4B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2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08215-D1A2-E943-373C-9C640B519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59205-DE67-8E15-1A0C-C7BF198B4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5CFD5-9D65-4E12-5655-84A78BDB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4B2BD-2DF8-A431-D7EA-31620CFC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842B8-29AE-AF78-BAB2-7C4CDCC8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4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A0E686-73F3-3153-419B-D5EBF1278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06498-750E-D733-8F32-D0AE84FAD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0EB5D-8A3A-6DF0-F620-1CF601B25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EC342-87D7-41F1-B06F-2C86DEA1CBD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B8B44-35DA-189F-7CBB-9D7E4BA39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23EA2-2D63-E25B-BB9A-12605E44E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254E9-3AB3-4B58-8DF5-79B14C7BF1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32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12" Type="http://schemas.openxmlformats.org/officeDocument/2006/relationships/oleObject" Target="../embeddings/oleObject8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9.emf"/><Relationship Id="rId5" Type="http://schemas.openxmlformats.org/officeDocument/2006/relationships/image" Target="../media/image6.e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2646D7-34E2-D49C-65BE-23F5876BA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5" t="4943" r="50000" b="43886"/>
          <a:stretch>
            <a:fillRect/>
          </a:stretch>
        </p:blipFill>
        <p:spPr>
          <a:xfrm>
            <a:off x="2357015" y="910828"/>
            <a:ext cx="3220825" cy="12820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F59006-20FF-30F2-D7D9-9B8B85ED1AD6}"/>
              </a:ext>
            </a:extLst>
          </p:cNvPr>
          <p:cNvSpPr txBox="1"/>
          <p:nvPr/>
        </p:nvSpPr>
        <p:spPr>
          <a:xfrm>
            <a:off x="376484" y="18119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A86D2-27D6-85F3-F1EA-A3EB01949655}"/>
              </a:ext>
            </a:extLst>
          </p:cNvPr>
          <p:cNvSpPr txBox="1"/>
          <p:nvPr/>
        </p:nvSpPr>
        <p:spPr>
          <a:xfrm>
            <a:off x="650449" y="261122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FC33D-419E-E741-0340-5706729F32B5}"/>
              </a:ext>
            </a:extLst>
          </p:cNvPr>
          <p:cNvSpPr txBox="1"/>
          <p:nvPr/>
        </p:nvSpPr>
        <p:spPr>
          <a:xfrm>
            <a:off x="773586" y="453429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3420"/>
          <a:stretch/>
        </p:blipFill>
        <p:spPr>
          <a:xfrm>
            <a:off x="7697804" y="2499360"/>
            <a:ext cx="4494196" cy="1748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5520" y="2946400"/>
            <a:ext cx="717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DBE = 1, and IR data confirms the presence of ester functional  group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BB8275C-97D3-8941-64E4-FF9908911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572215"/>
              </p:ext>
            </p:extLst>
          </p:nvPr>
        </p:nvGraphicFramePr>
        <p:xfrm>
          <a:off x="4397572" y="4575394"/>
          <a:ext cx="1308262" cy="1102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17929" imgH="688559" progId="ChemDraw.Document.6.0">
                  <p:embed/>
                </p:oleObj>
              </mc:Choice>
              <mc:Fallback>
                <p:oleObj name="CS ChemDraw Drawing" r:id="rId4" imgW="817929" imgH="688559" progId="ChemDraw.Document.6.0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4BB8275C-97D3-8941-64E4-FF9908911A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97572" y="4575394"/>
                        <a:ext cx="1308262" cy="1102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84960" y="4653280"/>
            <a:ext cx="242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No. of signals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5191760"/>
            <a:ext cx="49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1120" y="5608320"/>
            <a:ext cx="49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760" y="5577840"/>
            <a:ext cx="49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6560" y="4673600"/>
            <a:ext cx="49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02CF01A-D201-96E3-894F-97CD43F59B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591239"/>
              </p:ext>
            </p:extLst>
          </p:nvPr>
        </p:nvGraphicFramePr>
        <p:xfrm>
          <a:off x="6613525" y="1068388"/>
          <a:ext cx="292417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924379" imgH="912892" progId="ChemDraw.Document.6.0">
                  <p:embed/>
                </p:oleObj>
              </mc:Choice>
              <mc:Fallback>
                <p:oleObj name="CS ChemDraw Drawing" r:id="rId6" imgW="2924379" imgH="91289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13525" y="1068388"/>
                        <a:ext cx="2924175" cy="91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958107E-2F26-F881-F59B-78331955A473}"/>
              </a:ext>
            </a:extLst>
          </p:cNvPr>
          <p:cNvSpPr txBox="1"/>
          <p:nvPr/>
        </p:nvSpPr>
        <p:spPr>
          <a:xfrm>
            <a:off x="650449" y="167878"/>
            <a:ext cx="4695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DBE = 2</a:t>
            </a:r>
          </a:p>
          <a:p>
            <a:r>
              <a:rPr lang="en-US" dirty="0"/>
              <a:t>δ value 6 near ppm indicates presence of alkene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391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0663" y="0"/>
            <a:ext cx="10434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concept of resonance comes into play while deciding the chemical shift of protons.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091623" y="1751854"/>
            <a:ext cx="454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 &gt; 1 </a:t>
            </a:r>
            <a:r>
              <a:rPr lang="en-IN"/>
              <a:t>&gt; 4&gt;3</a:t>
            </a:r>
            <a:endParaRPr lang="en-IN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524346"/>
              </p:ext>
            </p:extLst>
          </p:nvPr>
        </p:nvGraphicFramePr>
        <p:xfrm>
          <a:off x="5514657" y="388509"/>
          <a:ext cx="1472565" cy="1267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33931" imgH="802859" progId="ChemDraw.Document.6.0">
                  <p:embed/>
                </p:oleObj>
              </mc:Choice>
              <mc:Fallback>
                <p:oleObj name="CS ChemDraw Drawing" r:id="rId2" imgW="933931" imgH="80285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14657" y="388509"/>
                        <a:ext cx="1472565" cy="1267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BB8275C-97D3-8941-64E4-FF9908911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654318"/>
              </p:ext>
            </p:extLst>
          </p:nvPr>
        </p:nvGraphicFramePr>
        <p:xfrm>
          <a:off x="2586235" y="444608"/>
          <a:ext cx="1308262" cy="1102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17929" imgH="688559" progId="ChemDraw.Document.6.0">
                  <p:embed/>
                </p:oleObj>
              </mc:Choice>
              <mc:Fallback>
                <p:oleObj name="CS ChemDraw Drawing" r:id="rId4" imgW="817929" imgH="688559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BB8275C-97D3-8941-64E4-FF9908911A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86235" y="444608"/>
                        <a:ext cx="1308262" cy="1102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766503" y="1060974"/>
            <a:ext cx="49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9783" y="1477534"/>
            <a:ext cx="49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423" y="1447054"/>
            <a:ext cx="49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5223" y="542814"/>
            <a:ext cx="49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365943" y="1111774"/>
            <a:ext cx="92456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6BEC681-DEE9-31F8-1FC8-718CE7263962}"/>
              </a:ext>
            </a:extLst>
          </p:cNvPr>
          <p:cNvSpPr txBox="1"/>
          <p:nvPr/>
        </p:nvSpPr>
        <p:spPr>
          <a:xfrm>
            <a:off x="1022191" y="254322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3E7FE4-0DAE-2DD9-2DB4-5993A6E760DD}"/>
              </a:ext>
            </a:extLst>
          </p:cNvPr>
          <p:cNvSpPr txBox="1"/>
          <p:nvPr/>
        </p:nvSpPr>
        <p:spPr>
          <a:xfrm>
            <a:off x="600737" y="392360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</a:t>
            </a: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BE122B77-8983-F3D6-9F15-068BBC3B0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4763"/>
              </p:ext>
            </p:extLst>
          </p:nvPr>
        </p:nvGraphicFramePr>
        <p:xfrm>
          <a:off x="1577820" y="2542565"/>
          <a:ext cx="12223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687289" imgH="518380" progId="ChemDraw.Document.6.0">
                  <p:embed/>
                </p:oleObj>
              </mc:Choice>
              <mc:Fallback>
                <p:oleObj name="CS ChemDraw Drawing" r:id="rId6" imgW="687289" imgH="518380" progId="ChemDraw.Document.6.0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BE122B77-8983-F3D6-9F15-068BBC3B0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77820" y="2542565"/>
                        <a:ext cx="1222375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168B1958-0D2B-05B7-DAC6-59C2EA0BAD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764484"/>
              </p:ext>
            </p:extLst>
          </p:nvPr>
        </p:nvGraphicFramePr>
        <p:xfrm>
          <a:off x="8382983" y="3939308"/>
          <a:ext cx="2783412" cy="1313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2051233" imgH="968039" progId="ChemDraw.Document.6.0">
                  <p:embed/>
                </p:oleObj>
              </mc:Choice>
              <mc:Fallback>
                <p:oleObj name="CS ChemDraw Drawing" r:id="rId8" imgW="2051233" imgH="968039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168B1958-0D2B-05B7-DAC6-59C2EA0BA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82983" y="3939308"/>
                        <a:ext cx="2783412" cy="1313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B7BE8193-FD9E-E2D2-0DD8-FBA71CA6E6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851723"/>
              </p:ext>
            </p:extLst>
          </p:nvPr>
        </p:nvGraphicFramePr>
        <p:xfrm>
          <a:off x="3089623" y="3923601"/>
          <a:ext cx="2519050" cy="1595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022313" imgH="1282800" progId="ChemDraw.Document.6.0">
                  <p:embed/>
                </p:oleObj>
              </mc:Choice>
              <mc:Fallback>
                <p:oleObj name="CS ChemDraw Drawing" r:id="rId10" imgW="2022313" imgH="1282800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B7BE8193-FD9E-E2D2-0DD8-FBA71CA6E6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89623" y="3923601"/>
                        <a:ext cx="2519050" cy="1595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3D5283C7-9E2E-2D27-9A72-E6B7CB2B15F0}"/>
              </a:ext>
            </a:extLst>
          </p:cNvPr>
          <p:cNvSpPr txBox="1"/>
          <p:nvPr/>
        </p:nvSpPr>
        <p:spPr>
          <a:xfrm>
            <a:off x="1056538" y="4596116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Compound 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47CD18-7DE8-43E5-7F84-D504DD4DE85D}"/>
              </a:ext>
            </a:extLst>
          </p:cNvPr>
          <p:cNvSpPr txBox="1"/>
          <p:nvPr/>
        </p:nvSpPr>
        <p:spPr>
          <a:xfrm>
            <a:off x="6737062" y="4588694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Compound B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91CFDB4-067F-432C-F31E-535F18508A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051317"/>
              </p:ext>
            </p:extLst>
          </p:nvPr>
        </p:nvGraphicFramePr>
        <p:xfrm>
          <a:off x="5322732" y="2467953"/>
          <a:ext cx="2023064" cy="1074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720348" imgH="914164" progId="ChemDraw.Document.6.0">
                  <p:embed/>
                </p:oleObj>
              </mc:Choice>
              <mc:Fallback>
                <p:oleObj name="CS ChemDraw Drawing" r:id="rId12" imgW="1720348" imgH="91416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22732" y="2467953"/>
                        <a:ext cx="2023064" cy="1074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E1C1AC-D872-97D8-1FF0-8D8E4DE50ED7}"/>
              </a:ext>
            </a:extLst>
          </p:cNvPr>
          <p:cNvSpPr txBox="1"/>
          <p:nvPr/>
        </p:nvSpPr>
        <p:spPr>
          <a:xfrm>
            <a:off x="7880301" y="5258745"/>
            <a:ext cx="44498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All H’ peak of benzene merges  and appears </a:t>
            </a:r>
          </a:p>
          <a:p>
            <a:r>
              <a:rPr lang="en-IN" dirty="0"/>
              <a:t>as multiplate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EEB55-3857-67DA-96A2-C7C8B430A0A9}"/>
              </a:ext>
            </a:extLst>
          </p:cNvPr>
          <p:cNvSpPr txBox="1"/>
          <p:nvPr/>
        </p:nvSpPr>
        <p:spPr>
          <a:xfrm>
            <a:off x="0" y="5995253"/>
            <a:ext cx="12453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IR value of carbonyl group of compound B is higher than compound A as for compound A the carbonyl group is in conjugation with </a:t>
            </a:r>
          </a:p>
          <a:p>
            <a:r>
              <a:rPr lang="en-IN" dirty="0"/>
              <a:t>the benzene which weakens the carbonyl bond strength which is not present in Compound B.</a:t>
            </a:r>
          </a:p>
        </p:txBody>
      </p:sp>
    </p:spTree>
    <p:extLst>
      <p:ext uri="{BB962C8B-B14F-4D97-AF65-F5344CB8AC3E}">
        <p14:creationId xmlns:p14="http://schemas.microsoft.com/office/powerpoint/2010/main" val="84554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4F3D2AC-FC8F-4CF1-FE33-A8670EB843AE}"/>
              </a:ext>
            </a:extLst>
          </p:cNvPr>
          <p:cNvSpPr txBox="1"/>
          <p:nvPr/>
        </p:nvSpPr>
        <p:spPr>
          <a:xfrm>
            <a:off x="711514" y="51867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0480" y="335280"/>
            <a:ext cx="9997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US" dirty="0"/>
              <a:t>0-50 ppm: C-C single bond. 50-100 ppm: C-X (X: O, N, S, and halogen). 100-150 ppm: C=C double bonded carbons. 150-200 ppm: C=O (carbon double bonded to electronegative atom)</a:t>
            </a:r>
            <a:endParaRPr lang="en-IN" dirty="0"/>
          </a:p>
          <a:p>
            <a:br>
              <a:rPr lang="en-IN" dirty="0"/>
            </a:br>
            <a:r>
              <a:rPr lang="en-IN" dirty="0"/>
              <a:t>(A) Acetic acid  : 175</a:t>
            </a:r>
            <a:br>
              <a:rPr lang="en-IN" dirty="0"/>
            </a:br>
            <a:r>
              <a:rPr lang="en-IN" dirty="0"/>
              <a:t>(B) Acetonitrile : 115                                                                                      </a:t>
            </a:r>
            <a:br>
              <a:rPr lang="en-IN" dirty="0"/>
            </a:br>
            <a:r>
              <a:rPr lang="en-IN" dirty="0"/>
              <a:t>(C) Acetone :  205                                                                                             </a:t>
            </a:r>
            <a:br>
              <a:rPr lang="en-IN" dirty="0"/>
            </a:br>
            <a:r>
              <a:rPr lang="en-IN" dirty="0"/>
              <a:t>(D) Carbon tetrachloride : 95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613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205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CS ChemDraw Drawing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PRATIP BHATTACHARYYA</dc:creator>
  <cp:lastModifiedBy>Dibyendu Das</cp:lastModifiedBy>
  <cp:revision>7</cp:revision>
  <dcterms:created xsi:type="dcterms:W3CDTF">2026-02-24T06:56:42Z</dcterms:created>
  <dcterms:modified xsi:type="dcterms:W3CDTF">2026-03-19T13:38:31Z</dcterms:modified>
</cp:coreProperties>
</file>