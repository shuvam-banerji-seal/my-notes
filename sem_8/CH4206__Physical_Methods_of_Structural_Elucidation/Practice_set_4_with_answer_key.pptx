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63A7-E70D-4FEC-9185-6D6F4FCD7C1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8C4A-6A09-40B4-BF7B-1F6380E5E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85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98C4A-6A09-40B4-BF7B-1F6380E5E0A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0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3BE0-4D6B-25B5-9C8C-3D9491E9F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3DF95-47D2-DB6B-06E5-11311C161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D8BE9-2BD1-F108-C478-10F337E7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65F1C-62F2-1947-E4EE-2435C8CE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8959-8F6A-B486-4951-94290C57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3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297E-0E80-020E-1272-EE636E5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5321-25AE-41CE-1692-71B86EEB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4EA45-75F0-FE8B-5F2C-8A97AA3B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70217-A5FC-4034-84AC-F764994C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86E83-C171-D4E4-31F5-127D0AAE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7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4C2B-6DF1-9D94-069E-BB62DA21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66E76-0901-24AE-C982-132938BC8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0B351-68B2-1A2B-3CFE-B1C09C15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169EF-A2DB-7028-9DF3-CD3FAAEC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FE8D-7B62-14A6-CB46-B573E30F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8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CC7A-A45A-423F-8C60-51A9783B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468C-357D-353D-B52B-00CE3D3BA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510D-BB99-E18D-EF98-8FE8C6AEF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182D0-0DD3-7C5A-FADB-6BFF48EEB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6699A-875B-0F93-C63C-E0AEB7BA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D0238-6FD1-DF8D-FB0E-4C4A8367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38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92BD-322A-D954-B04E-18301FC32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BA29-4F5F-DC8D-2CC8-A49E19B80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EA317-0EFE-A20F-A86E-B0F96A67F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D2C3-667B-CFF4-6EF7-2C858A2AB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A5A2F-4FB3-704F-3751-36E10A886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9B5E4-8F45-E89E-505A-6E3DA754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953E8-9700-62BE-8934-046E1C28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435BE-2673-A74C-0E7F-15C5BB5D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46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07A9-A236-AA67-C3B5-C9423C36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474C9-5639-82DB-FAE3-CCBFD455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4F6E-916C-48B5-4BCA-3F653B23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84680-370D-5DC0-E648-DC1455FE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9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E5C38-B98C-E43E-86E9-13824D9A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D5A4A-E791-6CC9-318E-480C6354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C886F-BB80-78F5-6048-214E6EAB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3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BBB-27E4-E66A-3D43-CAEBB661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229A6-DD3F-2EA7-B355-BC8BC3AE1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12100-B6D7-1262-2274-9C6700537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34441-2740-249F-0F9B-73FB2E1B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BA51D-A34D-6379-52A2-25AC118C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59D42-1DE1-BCC6-F250-50C63868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09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1192-B93F-B691-0F35-11859310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C8B18-E93F-78CA-F5B2-A5A6C227A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9BF23-C11F-078A-2991-8560DFC66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6720A-61CA-4508-B0FB-9BBB8D9E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3FA58-8EA3-356C-1117-77D054E1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3DD8C-51ED-4BD1-D0CB-92260F75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65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33E0-B751-1C8E-A3C0-D08A6B30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DFC45-9A72-D7DC-2B91-8309A3E47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4D-9171-6CC7-B09F-CD837A6B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CA567-AF0B-512B-015E-123181DE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A2D88-54EC-6ABB-5EB7-8515C96D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90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EF655-F51D-C413-2D5C-D45450E0D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1705D-02F2-0E35-4AFB-5FA4F440C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54E1-4C08-27FF-0233-090985E6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DD424-8EEB-DA75-0B3B-E6B88C03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2AAED-1C99-537C-2115-7D482F48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7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E598-998E-C781-D029-778509C8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11E22-3329-568E-00DF-5861A1FE8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8EE5C-910D-E956-22F8-A775E3B39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4A2BC-8C6B-4FA1-9751-1F1656E69B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4EA6-7175-F41C-711C-A39B18034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968C7-AB14-02CE-E19C-D8071D752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0A525-B497-4D31-A5A8-85F7940075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8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61399B-F8D7-F21D-F54B-962179E2BF8E}"/>
              </a:ext>
            </a:extLst>
          </p:cNvPr>
          <p:cNvSpPr txBox="1"/>
          <p:nvPr/>
        </p:nvSpPr>
        <p:spPr>
          <a:xfrm>
            <a:off x="513551" y="424206"/>
            <a:ext cx="87725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 </a:t>
            </a:r>
            <a:r>
              <a:rPr lang="en-US" dirty="0"/>
              <a:t>H</a:t>
            </a:r>
            <a:r>
              <a:rPr lang="en-US" baseline="-25000" dirty="0"/>
              <a:t>1 </a:t>
            </a:r>
            <a:r>
              <a:rPr lang="en-US" dirty="0"/>
              <a:t>and H</a:t>
            </a:r>
            <a:r>
              <a:rPr lang="en-US" baseline="-25000" dirty="0"/>
              <a:t>4</a:t>
            </a:r>
            <a:r>
              <a:rPr lang="en-US" dirty="0"/>
              <a:t> have equivalent chemical shift as they are symmetric. The same thing is</a:t>
            </a:r>
          </a:p>
          <a:p>
            <a:r>
              <a:rPr lang="en-US" dirty="0"/>
              <a:t>valid for H</a:t>
            </a:r>
            <a:r>
              <a:rPr lang="en-US" baseline="-25000" dirty="0"/>
              <a:t>2</a:t>
            </a:r>
            <a:r>
              <a:rPr lang="en-US" dirty="0"/>
              <a:t> and H</a:t>
            </a:r>
            <a:r>
              <a:rPr lang="en-US" baseline="-25000" dirty="0"/>
              <a:t>3</a:t>
            </a:r>
            <a:r>
              <a:rPr lang="en-US" dirty="0"/>
              <a:t>. However, H</a:t>
            </a:r>
            <a:r>
              <a:rPr lang="en-US" baseline="-25000" dirty="0"/>
              <a:t>1</a:t>
            </a:r>
            <a:r>
              <a:rPr lang="en-US" dirty="0"/>
              <a:t> has ortho coupling with H</a:t>
            </a:r>
            <a:r>
              <a:rPr lang="en-US" baseline="-25000" dirty="0"/>
              <a:t>2</a:t>
            </a:r>
            <a:r>
              <a:rPr lang="en-US" dirty="0"/>
              <a:t> whereas it has meta coupling</a:t>
            </a:r>
          </a:p>
          <a:p>
            <a:r>
              <a:rPr lang="en-US" dirty="0"/>
              <a:t>with H</a:t>
            </a:r>
            <a:r>
              <a:rPr lang="en-US" baseline="-25000" dirty="0"/>
              <a:t>3</a:t>
            </a:r>
            <a:r>
              <a:rPr lang="en-US" dirty="0"/>
              <a:t>. Thus, H</a:t>
            </a:r>
            <a:r>
              <a:rPr lang="en-US" baseline="-25000" dirty="0"/>
              <a:t>2</a:t>
            </a:r>
            <a:r>
              <a:rPr lang="en-US" dirty="0"/>
              <a:t> and H</a:t>
            </a:r>
            <a:r>
              <a:rPr lang="en-US" baseline="-25000" dirty="0"/>
              <a:t>3</a:t>
            </a:r>
            <a:r>
              <a:rPr lang="en-US" dirty="0"/>
              <a:t> magnetically non-equivalent. This in turn also makes H</a:t>
            </a:r>
            <a:r>
              <a:rPr lang="en-US" baseline="-25000" dirty="0"/>
              <a:t>1</a:t>
            </a:r>
            <a:r>
              <a:rPr lang="en-US" dirty="0"/>
              <a:t> and H</a:t>
            </a:r>
            <a:r>
              <a:rPr lang="en-US" baseline="-25000" dirty="0"/>
              <a:t>4</a:t>
            </a:r>
          </a:p>
          <a:p>
            <a:r>
              <a:rPr lang="en-US" dirty="0"/>
              <a:t>magnetically non-equivalent. That is why the spectrum is complicated.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10386-3DC5-A8EE-1598-002A594B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748" y="209370"/>
            <a:ext cx="2410161" cy="1876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8F5AF2-7A5A-4173-0DFC-FD10F46D1396}"/>
              </a:ext>
            </a:extLst>
          </p:cNvPr>
          <p:cNvSpPr txBox="1"/>
          <p:nvPr/>
        </p:nvSpPr>
        <p:spPr>
          <a:xfrm>
            <a:off x="433633" y="231899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AB302-2866-4CAB-82E3-42D246CDF855}"/>
              </a:ext>
            </a:extLst>
          </p:cNvPr>
          <p:cNvSpPr txBox="1"/>
          <p:nvPr/>
        </p:nvSpPr>
        <p:spPr>
          <a:xfrm>
            <a:off x="509047" y="393097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7440" y="2946400"/>
            <a:ext cx="1057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2 methyl groups are non-equivalent and appear at two different chemical shifts of 2.6 and 2.8 ppm. The </a:t>
            </a:r>
            <a:r>
              <a:rPr lang="en-US" dirty="0" err="1"/>
              <a:t>olefinic</a:t>
            </a:r>
            <a:r>
              <a:rPr lang="en-US" dirty="0"/>
              <a:t> proton appears at a singlet at 7.8 ppm.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57" y="2023893"/>
            <a:ext cx="1254164" cy="960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60" y="2407920"/>
            <a:ext cx="55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compound is </a:t>
            </a:r>
            <a:r>
              <a:rPr lang="en-IN" dirty="0" err="1"/>
              <a:t>dimethylformamide</a:t>
            </a:r>
            <a:r>
              <a:rPr lang="en-IN" dirty="0"/>
              <a:t> (DMF)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08584"/>
              </p:ext>
            </p:extLst>
          </p:nvPr>
        </p:nvGraphicFramePr>
        <p:xfrm>
          <a:off x="1778000" y="3818573"/>
          <a:ext cx="1016000" cy="82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10827" imgH="661363" progId="ChemDraw.Document.6.0">
                  <p:embed/>
                </p:oleObj>
              </mc:Choice>
              <mc:Fallback>
                <p:oleObj name="CS ChemDraw Drawing" r:id="rId4" imgW="810827" imgH="66136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8000" y="3818573"/>
                        <a:ext cx="1016000" cy="829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619330"/>
              </p:ext>
            </p:extLst>
          </p:nvPr>
        </p:nvGraphicFramePr>
        <p:xfrm>
          <a:off x="3123248" y="4271963"/>
          <a:ext cx="5761037" cy="258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760621" imgH="2585939" progId="ChemDraw.Document.6.0">
                  <p:embed/>
                </p:oleObj>
              </mc:Choice>
              <mc:Fallback>
                <p:oleObj name="CS ChemDraw Drawing" r:id="rId6" imgW="5760621" imgH="25859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3248" y="4271963"/>
                        <a:ext cx="5761037" cy="2586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80640" y="3799840"/>
            <a:ext cx="25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240" y="4206240"/>
            <a:ext cx="25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4240" y="3545840"/>
            <a:ext cx="25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892800"/>
            <a:ext cx="25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5600" y="4338320"/>
            <a:ext cx="25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551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6685C7-FA5E-876C-60A8-AC62EA0CF5B9}"/>
              </a:ext>
            </a:extLst>
          </p:cNvPr>
          <p:cNvSpPr txBox="1"/>
          <p:nvPr/>
        </p:nvSpPr>
        <p:spPr>
          <a:xfrm>
            <a:off x="775931" y="429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41" y="285703"/>
            <a:ext cx="9690598" cy="18161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27" y="2054852"/>
            <a:ext cx="6611114" cy="43905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66" y="2505355"/>
            <a:ext cx="4554107" cy="23349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339" y="2529377"/>
            <a:ext cx="3425301" cy="250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3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685C7-FA5E-876C-60A8-AC62EA0CF5B9}"/>
              </a:ext>
            </a:extLst>
          </p:cNvPr>
          <p:cNvSpPr txBox="1"/>
          <p:nvPr/>
        </p:nvSpPr>
        <p:spPr>
          <a:xfrm>
            <a:off x="888529" y="7085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28284-853D-444D-3D23-5410B7BF5890}"/>
              </a:ext>
            </a:extLst>
          </p:cNvPr>
          <p:cNvSpPr txBox="1"/>
          <p:nvPr/>
        </p:nvSpPr>
        <p:spPr>
          <a:xfrm>
            <a:off x="888529" y="350410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63DB257-5876-A60D-A2C9-9397328E7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95177"/>
              </p:ext>
            </p:extLst>
          </p:nvPr>
        </p:nvGraphicFramePr>
        <p:xfrm>
          <a:off x="2052049" y="3176392"/>
          <a:ext cx="2822575" cy="217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837731" imgH="1420242" progId="ChemDraw.Document.6.0">
                  <p:embed/>
                </p:oleObj>
              </mc:Choice>
              <mc:Fallback>
                <p:oleObj name="CS ChemDraw Drawing" r:id="rId3" imgW="1837731" imgH="1420242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63DB257-5876-A60D-A2C9-9397328E7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049" y="3176392"/>
                        <a:ext cx="2822575" cy="217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DC69D67-A573-74FC-041B-CA02E7CE9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801779"/>
              </p:ext>
            </p:extLst>
          </p:nvPr>
        </p:nvGraphicFramePr>
        <p:xfrm>
          <a:off x="2052049" y="708581"/>
          <a:ext cx="2851150" cy="175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861974" imgH="1147902" progId="ChemDraw.Document.6.0">
                  <p:embed/>
                </p:oleObj>
              </mc:Choice>
              <mc:Fallback>
                <p:oleObj name="CS ChemDraw Drawing" r:id="rId5" imgW="1861974" imgH="1147902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DC69D67-A573-74FC-041B-CA02E7CE9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2049" y="708581"/>
                        <a:ext cx="2851150" cy="175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480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15555</TotalTime>
  <Words>120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6</cp:revision>
  <dcterms:created xsi:type="dcterms:W3CDTF">2026-02-24T06:47:44Z</dcterms:created>
  <dcterms:modified xsi:type="dcterms:W3CDTF">2026-03-09T04:30:15Z</dcterms:modified>
</cp:coreProperties>
</file>