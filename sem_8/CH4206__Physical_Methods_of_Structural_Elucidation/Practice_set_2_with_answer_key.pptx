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4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01ED-85E6-2283-B8B4-74FFF9EEB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48603-40A1-B8A6-A25E-E26208413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89B56-227E-C3D8-4979-5F44160F6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ED8C-6689-49E8-A489-693A28649E0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01AFF-4B39-6BCB-0A47-C77C3B8C0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7AEE6-E353-5288-E6B7-15499D636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E5E8-DBBE-4198-B688-59993B8C5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397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124F5-6556-0F3C-C64F-37BFB4F95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755EC-EEB5-AEA8-1975-AC25170EA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27B9F-674E-5009-CC2B-5F303797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ED8C-6689-49E8-A489-693A28649E0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7E3B5-9641-9534-22D5-4F3B363C9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C7982-69AD-8F07-20B5-D52B586B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E5E8-DBBE-4198-B688-59993B8C5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0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6C34-B879-B9B2-C7C9-3F83261F2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88E21-EEC8-9655-F6C1-25CC8AF73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868D0-369F-1DDF-C24E-4106283C6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ED8C-6689-49E8-A489-693A28649E0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ADD8E-5DD5-EBBD-032F-ACB53C65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D6DEB-227B-D1FC-604A-DD8AA64C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E5E8-DBBE-4198-B688-59993B8C5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22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8C0B3-BAC0-07A6-830A-AF54B5A22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66A0F-D97A-92B9-D616-2ED9DD72C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20321-8985-570D-0745-2A8595E6F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02AF1-775B-C682-0689-126A68A22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ED8C-6689-49E8-A489-693A28649E0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3FABB-9A36-649D-63D6-96AF9970F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B87DF-C079-6FFF-B6AC-604858BBA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E5E8-DBBE-4198-B688-59993B8C5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82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6A4C-CEAE-50B6-75EF-712B6B36D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2CBE2-A6FF-26FA-7DA1-A0A1E33EA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F6A1C-A42B-EA15-A960-274D9CF05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FA8A3-F857-DE95-0755-B68E3C1A2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78C11-B032-D4D8-B4F0-D653E4AAB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43A77-709A-6756-2E8B-F037740FB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ED8C-6689-49E8-A489-693A28649E0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E40905-DE61-0273-6CD4-4DE64DD65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E3B027-6F0A-164F-F359-D4D32D5F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E5E8-DBBE-4198-B688-59993B8C5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254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7C311-3050-535E-49B7-D5E4DE4D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0BED10-35A5-B4CA-F5DB-8BD48B2D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ED8C-6689-49E8-A489-693A28649E0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5C0D2-CBE0-E414-A6C4-80791E54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322FA-5A0B-967A-B654-E1BF93C9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E5E8-DBBE-4198-B688-59993B8C5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523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A3AB8D-B928-4B46-5D92-4A8847A5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ED8C-6689-49E8-A489-693A28649E0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8922B-865D-5149-5FCE-5A4F8465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7C793-B68B-4386-AF38-6635D8CA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E5E8-DBBE-4198-B688-59993B8C5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12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D4A4-DA5B-42AD-0634-E57F9089F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8B5D5-9E1E-C689-E79E-2B3A48F43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0EAF0A-4EA8-20F5-AAD1-8A7E7F5D9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297A4-A4AF-1637-C054-B22EA9445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ED8C-6689-49E8-A489-693A28649E0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B7988-0B30-51AA-ACAD-CB0B9A35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1EE8C-9376-F010-F1A6-8A80B660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E5E8-DBBE-4198-B688-59993B8C5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96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B0DA-6E52-5AF9-D400-72C853E8F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8ED94F-EFCF-A0C9-7A07-8848FEA742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52BB7-206E-A9AA-EC77-F4739C3ED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B7E5F-0065-AAD9-789E-5D616CF54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ED8C-6689-49E8-A489-693A28649E0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743F6-3FBB-0138-A30E-587770010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6D1C6-3B5E-E27F-EF01-5B9C00F5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E5E8-DBBE-4198-B688-59993B8C5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673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03E32-1296-EAD7-CBD8-FE139EE0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47D60-5445-38C7-B954-7BAF56B5B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BFBEF-AE78-4103-A758-3957F8EA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ED8C-6689-49E8-A489-693A28649E0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69F0C-2705-F024-955A-F24D7B28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D1F4B-9CC6-3D42-019B-377E8E06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E5E8-DBBE-4198-B688-59993B8C5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383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485CC5-7AC9-A8E3-F419-8BDF0E357D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1FF7-B071-9174-759B-C8E02B55C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1CB01-1DF1-941A-150B-6E4D5BF97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ED8C-6689-49E8-A489-693A28649E0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E083D-87AE-A548-0039-D05EC5723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36180-954D-5B84-E2FB-7D4857BA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9E5E8-DBBE-4198-B688-59993B8C5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078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DAE35-1068-FDE0-84BF-C77B7532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278F5-5803-4BCB-B286-EA8AAFA4E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640E6-5C84-49D0-B3E4-3DBD169A2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EED8C-6689-49E8-A489-693A28649E0A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BF11-C7BB-901B-056C-31E74CE643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1A086-B580-4D48-2DAC-6DC09FEA8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9E5E8-DBBE-4198-B688-59993B8C5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93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2.png"/><Relationship Id="rId7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5.emf"/><Relationship Id="rId5" Type="http://schemas.openxmlformats.org/officeDocument/2006/relationships/image" Target="../media/image6.png"/><Relationship Id="rId10" Type="http://schemas.openxmlformats.org/officeDocument/2006/relationships/oleObject" Target="../embeddings/oleObject3.bin"/><Relationship Id="rId9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2.png"/><Relationship Id="rId7" Type="http://schemas.openxmlformats.org/officeDocument/2006/relationships/oleObject" Target="../embeddings/oleObject6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7.emf"/><Relationship Id="rId4" Type="http://schemas.openxmlformats.org/officeDocument/2006/relationships/image" Target="../media/image13.png"/><Relationship Id="rId9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F8D219-6209-7EE1-F5DF-31597B800864}"/>
                  </a:ext>
                </a:extLst>
              </p:cNvPr>
              <p:cNvSpPr txBox="1"/>
              <p:nvPr/>
            </p:nvSpPr>
            <p:spPr>
              <a:xfrm>
                <a:off x="424206" y="631597"/>
                <a:ext cx="5757410" cy="1039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1.     Difference between two peaks: 2.38 - 2.35 = 0.03 ppm </a:t>
                </a:r>
              </a:p>
              <a:p>
                <a:r>
                  <a:rPr lang="en-IN" dirty="0"/>
                  <a:t>        Coupling constant (J)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0.03 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400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106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b="0" i="1" baseline="3000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nor/>
                      </m:rPr>
                      <a:rPr lang="en-IN" b="0" i="0" baseline="3000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dirty="0" smtClean="0"/>
                      <m:t>=</m:t>
                    </m:r>
                    <m:r>
                      <m:rPr>
                        <m:nor/>
                      </m:rPr>
                      <a:rPr lang="en-IN" b="0" i="0" dirty="0" smtClean="0"/>
                      <m:t> 12 </m:t>
                    </m:r>
                    <m:r>
                      <m:rPr>
                        <m:nor/>
                      </m:rPr>
                      <a:rPr lang="en-IN" b="0" i="0" dirty="0" smtClean="0"/>
                      <m:t>Hz</m:t>
                    </m:r>
                  </m:oMath>
                </a14:m>
                <a:endParaRPr lang="en-IN" baseline="30000" dirty="0"/>
              </a:p>
              <a:p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F8D219-6209-7EE1-F5DF-31597B800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206" y="631597"/>
                <a:ext cx="5757410" cy="1039772"/>
              </a:xfrm>
              <a:prstGeom prst="rect">
                <a:avLst/>
              </a:prstGeom>
              <a:blipFill>
                <a:blip r:embed="rId2"/>
                <a:stretch>
                  <a:fillRect l="-953" t="-35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alculate coupling constants ...">
            <a:extLst>
              <a:ext uri="{FF2B5EF4-FFF2-40B4-BE49-F238E27FC236}">
                <a16:creationId xmlns:a16="http://schemas.microsoft.com/office/drawing/2014/main" id="{DDAD7056-CC0F-4FAE-A19B-606AFE5229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7" r="54630"/>
          <a:stretch>
            <a:fillRect/>
          </a:stretch>
        </p:blipFill>
        <p:spPr bwMode="auto">
          <a:xfrm>
            <a:off x="6193410" y="495842"/>
            <a:ext cx="725864" cy="1206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0DBE1F-6723-7AE2-ECAA-C8ED11B21F80}"/>
              </a:ext>
            </a:extLst>
          </p:cNvPr>
          <p:cNvCxnSpPr/>
          <p:nvPr/>
        </p:nvCxnSpPr>
        <p:spPr>
          <a:xfrm>
            <a:off x="6400800" y="495842"/>
            <a:ext cx="3299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E5AE0A-93DA-8591-8AB5-36F994BD0D22}"/>
              </a:ext>
            </a:extLst>
          </p:cNvPr>
          <p:cNvSpPr txBox="1"/>
          <p:nvPr/>
        </p:nvSpPr>
        <p:spPr>
          <a:xfrm>
            <a:off x="6281146" y="173120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0.03 ppm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D05C04-FFBF-8BC3-AC46-ADB0525E564B}"/>
                  </a:ext>
                </a:extLst>
              </p:cNvPr>
              <p:cNvSpPr txBox="1"/>
              <p:nvPr/>
            </p:nvSpPr>
            <p:spPr>
              <a:xfrm>
                <a:off x="509047" y="5043340"/>
                <a:ext cx="7862665" cy="1641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3. Difference between any two peaks: 1759-1753 = 1753-1747 = 1747-1741 = 6 Hz</a:t>
                </a:r>
              </a:p>
              <a:p>
                <a:r>
                  <a:rPr lang="en-IN" dirty="0"/>
                  <a:t>     So the coupling constant is 6 Hz</a:t>
                </a:r>
              </a:p>
              <a:p>
                <a:endParaRPr lang="en-IN" dirty="0"/>
              </a:p>
              <a:p>
                <a:r>
                  <a:rPr lang="en-IN" dirty="0"/>
                  <a:t>The chemical shift in ppm for peak 1759 Hz is</a:t>
                </a:r>
              </a:p>
              <a:p>
                <a:r>
                  <a:rPr lang="en-IN" dirty="0"/>
                  <a:t>    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𝑝𝑝𝑚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𝐶h𝑒𝑚𝑖𝑐𝑎𝑙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𝑆h𝑖𝑓𝑡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𝐻𝑍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𝑂𝑠𝑐𝑖𝑙𝑙𝑎𝑡𝑜𝑟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𝑓𝑟𝑒𝑞𝑢𝑒𝑛𝑐𝑦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𝐻𝑧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IN" dirty="0"/>
                  <a:t> x 10</a:t>
                </a:r>
                <a:r>
                  <a:rPr lang="en-IN" baseline="30000" dirty="0"/>
                  <a:t>6 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1759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500 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106</m:t>
                        </m:r>
                      </m:den>
                    </m:f>
                  </m:oMath>
                </a14:m>
                <a:r>
                  <a:rPr lang="en-IN" baseline="30000" dirty="0"/>
                  <a:t> x </a:t>
                </a:r>
                <a:r>
                  <a:rPr lang="en-IN" dirty="0"/>
                  <a:t>10</a:t>
                </a:r>
                <a14:m>
                  <m:oMath xmlns:m="http://schemas.openxmlformats.org/officeDocument/2006/math">
                    <m:r>
                      <a:rPr lang="en-IN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I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3.518</m:t>
                    </m:r>
                  </m:oMath>
                </a14:m>
                <a:r>
                  <a:rPr lang="en-IN" dirty="0"/>
                  <a:t> </a:t>
                </a:r>
                <a:endParaRPr lang="en-IN" baseline="30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D05C04-FFBF-8BC3-AC46-ADB0525E5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47" y="5043340"/>
                <a:ext cx="7862665" cy="1641540"/>
              </a:xfrm>
              <a:prstGeom prst="rect">
                <a:avLst/>
              </a:prstGeom>
              <a:blipFill>
                <a:blip r:embed="rId5"/>
                <a:stretch>
                  <a:fillRect l="-698" t="-1852" b="-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5BC887F-CF48-337C-4CC5-94E288E9852B}"/>
              </a:ext>
            </a:extLst>
          </p:cNvPr>
          <p:cNvSpPr txBox="1"/>
          <p:nvPr/>
        </p:nvSpPr>
        <p:spPr>
          <a:xfrm>
            <a:off x="424206" y="211776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B57DB8D-8131-483A-3668-0C2946859C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697231"/>
              </p:ext>
            </p:extLst>
          </p:nvPr>
        </p:nvGraphicFramePr>
        <p:xfrm>
          <a:off x="5567363" y="2362366"/>
          <a:ext cx="125095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6" imgW="650713" imgH="608312" progId="ChemDraw.Document.6.0">
                  <p:embed/>
                </p:oleObj>
              </mc:Choice>
              <mc:Fallback>
                <p:oleObj name="CS ChemDraw Drawing" r:id="rId6" imgW="650713" imgH="608312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C8D4FDD-42AF-4B6B-A5DA-A649891703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67363" y="2362366"/>
                        <a:ext cx="1250950" cy="1168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56511BEB-0A96-B13B-B2A0-915C7455BE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294389"/>
              </p:ext>
            </p:extLst>
          </p:nvPr>
        </p:nvGraphicFramePr>
        <p:xfrm>
          <a:off x="1246149" y="2408551"/>
          <a:ext cx="1367089" cy="1168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8" imgW="711531" imgH="608312" progId="ChemDraw.Document.6.0">
                  <p:embed/>
                </p:oleObj>
              </mc:Choice>
              <mc:Fallback>
                <p:oleObj name="CS ChemDraw Drawing" r:id="rId8" imgW="711531" imgH="608312" progId="ChemDraw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E6FBDBE2-BA66-A52A-F8F8-73DD9969BB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46149" y="2408551"/>
                        <a:ext cx="1367089" cy="1168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E92E417-5A95-A1D2-4995-8E297E5728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273828"/>
              </p:ext>
            </p:extLst>
          </p:nvPr>
        </p:nvGraphicFramePr>
        <p:xfrm>
          <a:off x="9271886" y="2191987"/>
          <a:ext cx="1367090" cy="1171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0" imgW="711531" imgH="609584" progId="ChemDraw.Document.6.0">
                  <p:embed/>
                </p:oleObj>
              </mc:Choice>
              <mc:Fallback>
                <p:oleObj name="CS ChemDraw Drawing" r:id="rId10" imgW="711531" imgH="609584" progId="ChemDraw.Document.6.0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B70989C-2F56-106B-8845-8A86F62FE7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271886" y="2191987"/>
                        <a:ext cx="1367090" cy="11717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10CC6DD-9C52-403D-F8FA-3C7BCE2B6CDD}"/>
              </a:ext>
            </a:extLst>
          </p:cNvPr>
          <p:cNvSpPr txBox="1"/>
          <p:nvPr/>
        </p:nvSpPr>
        <p:spPr>
          <a:xfrm>
            <a:off x="509047" y="3699725"/>
            <a:ext cx="39162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Both the H is equivalent </a:t>
            </a:r>
          </a:p>
          <a:p>
            <a:r>
              <a:rPr lang="en-IN" dirty="0"/>
              <a:t>Thus no splitting and it would be singlet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32A3A2F-10B1-D3F0-FDCA-234A817725EF}"/>
              </a:ext>
            </a:extLst>
          </p:cNvPr>
          <p:cNvSpPr/>
          <p:nvPr/>
        </p:nvSpPr>
        <p:spPr>
          <a:xfrm rot="19956328">
            <a:off x="5401559" y="2856324"/>
            <a:ext cx="299156" cy="720967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026E87-CAD3-5E52-009B-25A63825C2DC}"/>
              </a:ext>
            </a:extLst>
          </p:cNvPr>
          <p:cNvSpPr txBox="1"/>
          <p:nvPr/>
        </p:nvSpPr>
        <p:spPr>
          <a:xfrm>
            <a:off x="4944691" y="3554222"/>
            <a:ext cx="1345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One type H</a:t>
            </a:r>
          </a:p>
          <a:p>
            <a:r>
              <a:rPr lang="en-IN" dirty="0"/>
              <a:t>And doublet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613B92CB-50F6-1F86-D82D-6B4F748A44E8}"/>
              </a:ext>
            </a:extLst>
          </p:cNvPr>
          <p:cNvSpPr/>
          <p:nvPr/>
        </p:nvSpPr>
        <p:spPr>
          <a:xfrm rot="4787045">
            <a:off x="6500575" y="3010222"/>
            <a:ext cx="243739" cy="35412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4C986D-501B-EB11-F46C-52152C9950C5}"/>
              </a:ext>
            </a:extLst>
          </p:cNvPr>
          <p:cNvSpPr txBox="1"/>
          <p:nvPr/>
        </p:nvSpPr>
        <p:spPr>
          <a:xfrm>
            <a:off x="6342196" y="3257068"/>
            <a:ext cx="1624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Another type H</a:t>
            </a:r>
          </a:p>
          <a:p>
            <a:r>
              <a:rPr lang="en-IN" dirty="0"/>
              <a:t>And triplet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F01D84-19DF-08E9-6BB4-C7B5F5406940}"/>
              </a:ext>
            </a:extLst>
          </p:cNvPr>
          <p:cNvCxnSpPr/>
          <p:nvPr/>
        </p:nvCxnSpPr>
        <p:spPr>
          <a:xfrm flipV="1">
            <a:off x="9634194" y="3363778"/>
            <a:ext cx="113121" cy="241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EB8B5E-4A3A-59C5-5373-733FD7BBD7C2}"/>
              </a:ext>
            </a:extLst>
          </p:cNvPr>
          <p:cNvSpPr txBox="1"/>
          <p:nvPr/>
        </p:nvSpPr>
        <p:spPr>
          <a:xfrm>
            <a:off x="8936071" y="3577291"/>
            <a:ext cx="1345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One type H</a:t>
            </a:r>
          </a:p>
          <a:p>
            <a:r>
              <a:rPr lang="en-IN" dirty="0"/>
              <a:t>And doublet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E84544B-FE43-5846-F4D7-6663B3E2FD42}"/>
              </a:ext>
            </a:extLst>
          </p:cNvPr>
          <p:cNvCxnSpPr/>
          <p:nvPr/>
        </p:nvCxnSpPr>
        <p:spPr>
          <a:xfrm flipH="1" flipV="1">
            <a:off x="10496880" y="2999009"/>
            <a:ext cx="273377" cy="258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E2DB7C1-7D2D-E183-6B03-80312C4AED75}"/>
              </a:ext>
            </a:extLst>
          </p:cNvPr>
          <p:cNvSpPr txBox="1"/>
          <p:nvPr/>
        </p:nvSpPr>
        <p:spPr>
          <a:xfrm>
            <a:off x="10473179" y="3484734"/>
            <a:ext cx="1624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Another type H</a:t>
            </a:r>
          </a:p>
          <a:p>
            <a:r>
              <a:rPr lang="en-IN" dirty="0"/>
              <a:t>And doublet</a:t>
            </a:r>
          </a:p>
        </p:txBody>
      </p:sp>
    </p:spTree>
    <p:extLst>
      <p:ext uri="{BB962C8B-B14F-4D97-AF65-F5344CB8AC3E}">
        <p14:creationId xmlns:p14="http://schemas.microsoft.com/office/powerpoint/2010/main" val="49955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728196-354B-0CCF-B300-600EEC8C3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38" y="1051162"/>
            <a:ext cx="6685962" cy="48044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304575-C861-CE7E-CD43-DE778B8DF6D0}"/>
              </a:ext>
            </a:extLst>
          </p:cNvPr>
          <p:cNvSpPr txBox="1"/>
          <p:nvPr/>
        </p:nvSpPr>
        <p:spPr>
          <a:xfrm>
            <a:off x="367645" y="35821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4.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13EE944-0B1E-B1BD-4B49-BA8AA82D59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2304194"/>
              </p:ext>
            </p:extLst>
          </p:nvPr>
        </p:nvGraphicFramePr>
        <p:xfrm>
          <a:off x="1563950" y="727550"/>
          <a:ext cx="184943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223595" imgH="550195" progId="ChemDraw.Document.6.0">
                  <p:embed/>
                </p:oleObj>
              </mc:Choice>
              <mc:Fallback>
                <p:oleObj name="CS ChemDraw Drawing" r:id="rId3" imgW="1223595" imgH="550195" progId="ChemDraw.Document.6.0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36237FC3-9A1B-2186-8C87-58A01A2DB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63950" y="727550"/>
                        <a:ext cx="1849437" cy="83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89C9B3D-4860-A54C-CD6C-4A813A23A8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239468"/>
              </p:ext>
            </p:extLst>
          </p:nvPr>
        </p:nvGraphicFramePr>
        <p:xfrm>
          <a:off x="8611631" y="358218"/>
          <a:ext cx="1511300" cy="1385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1001162" imgH="919255" progId="ChemDraw.Document.6.0">
                  <p:embed/>
                </p:oleObj>
              </mc:Choice>
              <mc:Fallback>
                <p:oleObj name="CS ChemDraw Drawing" r:id="rId5" imgW="1001162" imgH="919255" progId="ChemDraw.Document.6.0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EEE9CAC7-B0CB-00DB-C9FC-2F50AB6199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611631" y="358218"/>
                        <a:ext cx="1511300" cy="1385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46E4010-5062-A3C3-3424-8F18491806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27" y="1954997"/>
            <a:ext cx="4788230" cy="228317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056AD4B-06F4-9845-58AC-8C75C6D55B21}"/>
              </a:ext>
            </a:extLst>
          </p:cNvPr>
          <p:cNvSpPr/>
          <p:nvPr/>
        </p:nvSpPr>
        <p:spPr>
          <a:xfrm>
            <a:off x="5901180" y="4367422"/>
            <a:ext cx="556182" cy="31497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73098D-1F35-91A5-AC64-FDCFCAE3FB4C}"/>
              </a:ext>
            </a:extLst>
          </p:cNvPr>
          <p:cNvSpPr/>
          <p:nvPr/>
        </p:nvSpPr>
        <p:spPr>
          <a:xfrm>
            <a:off x="8835661" y="3770722"/>
            <a:ext cx="405353" cy="2922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DEF962-9A2D-098A-0986-7B1AF816B4D4}"/>
              </a:ext>
            </a:extLst>
          </p:cNvPr>
          <p:cNvSpPr/>
          <p:nvPr/>
        </p:nvSpPr>
        <p:spPr>
          <a:xfrm>
            <a:off x="10228082" y="4553146"/>
            <a:ext cx="254524" cy="2356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9B5FED-8BB2-51CC-0F42-8681B5984331}"/>
              </a:ext>
            </a:extLst>
          </p:cNvPr>
          <p:cNvSpPr/>
          <p:nvPr/>
        </p:nvSpPr>
        <p:spPr>
          <a:xfrm>
            <a:off x="5637620" y="4430598"/>
            <a:ext cx="169292" cy="1225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D4BAAD-FE12-39F1-E348-B95C18BF14A2}"/>
              </a:ext>
            </a:extLst>
          </p:cNvPr>
          <p:cNvSpPr/>
          <p:nvPr/>
        </p:nvSpPr>
        <p:spPr>
          <a:xfrm>
            <a:off x="5506038" y="4670981"/>
            <a:ext cx="169292" cy="1225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BB6BAD-E4BC-52E1-C3B4-5ABE944962F8}"/>
              </a:ext>
            </a:extLst>
          </p:cNvPr>
          <p:cNvSpPr/>
          <p:nvPr/>
        </p:nvSpPr>
        <p:spPr>
          <a:xfrm>
            <a:off x="11773986" y="2743200"/>
            <a:ext cx="226243" cy="2168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174DEE-D440-B477-764D-1DD5AA8D35E1}"/>
              </a:ext>
            </a:extLst>
          </p:cNvPr>
          <p:cNvSpPr txBox="1"/>
          <p:nvPr/>
        </p:nvSpPr>
        <p:spPr>
          <a:xfrm>
            <a:off x="8445140" y="132067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4A7850-FD4B-5A5D-AF8E-D70374261A84}"/>
              </a:ext>
            </a:extLst>
          </p:cNvPr>
          <p:cNvSpPr txBox="1"/>
          <p:nvPr/>
        </p:nvSpPr>
        <p:spPr>
          <a:xfrm>
            <a:off x="8745322" y="118777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8D103F-EC27-73E9-3001-B394D0AE87E0}"/>
              </a:ext>
            </a:extLst>
          </p:cNvPr>
          <p:cNvSpPr txBox="1"/>
          <p:nvPr/>
        </p:nvSpPr>
        <p:spPr>
          <a:xfrm>
            <a:off x="9802773" y="39592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5EBF16-4149-0290-828C-E4D606A50877}"/>
              </a:ext>
            </a:extLst>
          </p:cNvPr>
          <p:cNvSpPr txBox="1"/>
          <p:nvPr/>
        </p:nvSpPr>
        <p:spPr>
          <a:xfrm>
            <a:off x="1610182" y="68183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274DB2-8272-514A-226F-2A72C65EBED8}"/>
              </a:ext>
            </a:extLst>
          </p:cNvPr>
          <p:cNvSpPr txBox="1"/>
          <p:nvPr/>
        </p:nvSpPr>
        <p:spPr>
          <a:xfrm>
            <a:off x="10034569" y="63305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668F70-51FE-730B-E345-43E0DB381C70}"/>
              </a:ext>
            </a:extLst>
          </p:cNvPr>
          <p:cNvSpPr txBox="1"/>
          <p:nvPr/>
        </p:nvSpPr>
        <p:spPr>
          <a:xfrm>
            <a:off x="9527481" y="8826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EC74C9-0227-51E2-9814-B97A18977A7C}"/>
              </a:ext>
            </a:extLst>
          </p:cNvPr>
          <p:cNvSpPr txBox="1"/>
          <p:nvPr/>
        </p:nvSpPr>
        <p:spPr>
          <a:xfrm>
            <a:off x="9257122" y="335358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F62584-126A-6D4D-A386-5E048ADF85ED}"/>
              </a:ext>
            </a:extLst>
          </p:cNvPr>
          <p:cNvSpPr txBox="1"/>
          <p:nvPr/>
        </p:nvSpPr>
        <p:spPr>
          <a:xfrm>
            <a:off x="8900736" y="513316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3C2721-2B58-A3CB-3FD9-D7255C1EF89D}"/>
              </a:ext>
            </a:extLst>
          </p:cNvPr>
          <p:cNvSpPr txBox="1"/>
          <p:nvPr/>
        </p:nvSpPr>
        <p:spPr>
          <a:xfrm>
            <a:off x="8848825" y="91885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FE132D-7B3F-365C-C0B7-FE899F3A835F}"/>
              </a:ext>
            </a:extLst>
          </p:cNvPr>
          <p:cNvSpPr txBox="1"/>
          <p:nvPr/>
        </p:nvSpPr>
        <p:spPr>
          <a:xfrm>
            <a:off x="11852592" y="76525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8070AB-2B49-3A91-16EE-2936757962D3}"/>
              </a:ext>
            </a:extLst>
          </p:cNvPr>
          <p:cNvSpPr txBox="1"/>
          <p:nvPr/>
        </p:nvSpPr>
        <p:spPr>
          <a:xfrm>
            <a:off x="5601098" y="430720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CBD216-DDA3-5586-482C-D0B475F659B7}"/>
              </a:ext>
            </a:extLst>
          </p:cNvPr>
          <p:cNvSpPr txBox="1"/>
          <p:nvPr/>
        </p:nvSpPr>
        <p:spPr>
          <a:xfrm>
            <a:off x="5637620" y="5947720"/>
            <a:ext cx="1059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 triplet</a:t>
            </a:r>
          </a:p>
          <a:p>
            <a:r>
              <a:rPr lang="en-IN" dirty="0"/>
              <a:t>b quartet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0AA4C-1E47-4E8C-562D-6B9E2D360D82}"/>
              </a:ext>
            </a:extLst>
          </p:cNvPr>
          <p:cNvSpPr txBox="1"/>
          <p:nvPr/>
        </p:nvSpPr>
        <p:spPr>
          <a:xfrm>
            <a:off x="6993222" y="5947720"/>
            <a:ext cx="1090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 </a:t>
            </a:r>
            <a:r>
              <a:rPr lang="en-IN" dirty="0" err="1"/>
              <a:t>heptet</a:t>
            </a:r>
            <a:endParaRPr lang="en-IN" dirty="0"/>
          </a:p>
          <a:p>
            <a:r>
              <a:rPr lang="en-IN" dirty="0"/>
              <a:t>d doublet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85BAEA-4653-15C7-8B0D-3D991CC0B8DA}"/>
              </a:ext>
            </a:extLst>
          </p:cNvPr>
          <p:cNvSpPr txBox="1"/>
          <p:nvPr/>
        </p:nvSpPr>
        <p:spPr>
          <a:xfrm>
            <a:off x="8378843" y="5947720"/>
            <a:ext cx="1039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 singlet</a:t>
            </a:r>
          </a:p>
          <a:p>
            <a:r>
              <a:rPr lang="en-IN" dirty="0"/>
              <a:t>f doublet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85B908-EABC-9061-E387-9609EDA37E2F}"/>
              </a:ext>
            </a:extLst>
          </p:cNvPr>
          <p:cNvSpPr txBox="1"/>
          <p:nvPr/>
        </p:nvSpPr>
        <p:spPr>
          <a:xfrm>
            <a:off x="9594120" y="5947720"/>
            <a:ext cx="1201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 </a:t>
            </a:r>
            <a:r>
              <a:rPr lang="en-IN" dirty="0" err="1"/>
              <a:t>multiplet</a:t>
            </a:r>
            <a:endParaRPr lang="en-IN" dirty="0"/>
          </a:p>
          <a:p>
            <a:r>
              <a:rPr lang="en-IN" dirty="0"/>
              <a:t>h doublet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FC72A7-4BD7-C1C8-4302-A6D89B84A7C2}"/>
              </a:ext>
            </a:extLst>
          </p:cNvPr>
          <p:cNvSpPr txBox="1"/>
          <p:nvPr/>
        </p:nvSpPr>
        <p:spPr>
          <a:xfrm>
            <a:off x="6167316" y="4483033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228FBB-13B7-6E9D-C0A1-A94311591A8B}"/>
              </a:ext>
            </a:extLst>
          </p:cNvPr>
          <p:cNvSpPr txBox="1"/>
          <p:nvPr/>
        </p:nvSpPr>
        <p:spPr>
          <a:xfrm>
            <a:off x="2759279" y="1372443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F953A0-28BD-A78E-9213-9540A6A3F970}"/>
              </a:ext>
            </a:extLst>
          </p:cNvPr>
          <p:cNvSpPr txBox="1"/>
          <p:nvPr/>
        </p:nvSpPr>
        <p:spPr>
          <a:xfrm>
            <a:off x="2365946" y="4848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E05E71-A326-7824-6A74-905B6CB73DEE}"/>
              </a:ext>
            </a:extLst>
          </p:cNvPr>
          <p:cNvSpPr txBox="1"/>
          <p:nvPr/>
        </p:nvSpPr>
        <p:spPr>
          <a:xfrm>
            <a:off x="2067612" y="455092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22A4A5-05A9-6966-BA75-619C3BF1DDAD}"/>
              </a:ext>
            </a:extLst>
          </p:cNvPr>
          <p:cNvSpPr txBox="1"/>
          <p:nvPr/>
        </p:nvSpPr>
        <p:spPr>
          <a:xfrm>
            <a:off x="9682044" y="6643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0576F8-967C-8B3F-2968-0507990AC3C1}"/>
              </a:ext>
            </a:extLst>
          </p:cNvPr>
          <p:cNvSpPr txBox="1"/>
          <p:nvPr/>
        </p:nvSpPr>
        <p:spPr>
          <a:xfrm>
            <a:off x="2329845" y="120363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44948B-41F0-71ED-9C44-D3191668519E}"/>
              </a:ext>
            </a:extLst>
          </p:cNvPr>
          <p:cNvSpPr txBox="1"/>
          <p:nvPr/>
        </p:nvSpPr>
        <p:spPr>
          <a:xfrm>
            <a:off x="2058374" y="116541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EB3E8F-146A-D826-17EA-64F8BBAF1634}"/>
              </a:ext>
            </a:extLst>
          </p:cNvPr>
          <p:cNvSpPr txBox="1"/>
          <p:nvPr/>
        </p:nvSpPr>
        <p:spPr>
          <a:xfrm>
            <a:off x="4383756" y="166372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4F0E8E-CCFE-132A-B543-48C11DBAC576}"/>
              </a:ext>
            </a:extLst>
          </p:cNvPr>
          <p:cNvSpPr txBox="1"/>
          <p:nvPr/>
        </p:nvSpPr>
        <p:spPr>
          <a:xfrm>
            <a:off x="1916676" y="326872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792CF9-E339-8877-3A72-FF69BEF2C94B}"/>
              </a:ext>
            </a:extLst>
          </p:cNvPr>
          <p:cNvSpPr txBox="1"/>
          <p:nvPr/>
        </p:nvSpPr>
        <p:spPr>
          <a:xfrm>
            <a:off x="1753820" y="309658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6946F3-9755-8CBC-BD78-A1811C76CB95}"/>
              </a:ext>
            </a:extLst>
          </p:cNvPr>
          <p:cNvSpPr txBox="1"/>
          <p:nvPr/>
        </p:nvSpPr>
        <p:spPr>
          <a:xfrm>
            <a:off x="806380" y="29600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AF92AF-8C66-615A-B116-743FB6D503BE}"/>
              </a:ext>
            </a:extLst>
          </p:cNvPr>
          <p:cNvSpPr txBox="1"/>
          <p:nvPr/>
        </p:nvSpPr>
        <p:spPr>
          <a:xfrm>
            <a:off x="923827" y="4676538"/>
            <a:ext cx="10923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 singlet</a:t>
            </a:r>
          </a:p>
          <a:p>
            <a:r>
              <a:rPr lang="en-IN" dirty="0"/>
              <a:t>b doublet</a:t>
            </a:r>
          </a:p>
          <a:p>
            <a:r>
              <a:rPr lang="en-IN" dirty="0"/>
              <a:t>C doublet</a:t>
            </a:r>
          </a:p>
          <a:p>
            <a:r>
              <a:rPr lang="en-IN" dirty="0"/>
              <a:t>d singlet</a:t>
            </a:r>
          </a:p>
        </p:txBody>
      </p:sp>
    </p:spTree>
    <p:extLst>
      <p:ext uri="{BB962C8B-B14F-4D97-AF65-F5344CB8AC3E}">
        <p14:creationId xmlns:p14="http://schemas.microsoft.com/office/powerpoint/2010/main" val="811915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3A244F-ADEE-A11D-DAFE-3D6765919755}"/>
              </a:ext>
            </a:extLst>
          </p:cNvPr>
          <p:cNvSpPr txBox="1"/>
          <p:nvPr/>
        </p:nvSpPr>
        <p:spPr>
          <a:xfrm>
            <a:off x="797329" y="20739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2E8393-97A3-3593-F90C-702F3FF6A3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41"/>
          <a:stretch>
            <a:fillRect/>
          </a:stretch>
        </p:blipFill>
        <p:spPr>
          <a:xfrm>
            <a:off x="1329577" y="73477"/>
            <a:ext cx="2514951" cy="16852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B8CA68-AFD7-1158-16FD-35241F684CF5}"/>
              </a:ext>
            </a:extLst>
          </p:cNvPr>
          <p:cNvSpPr txBox="1"/>
          <p:nvPr/>
        </p:nvSpPr>
        <p:spPr>
          <a:xfrm>
            <a:off x="797329" y="2213612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6. </a:t>
            </a:r>
          </a:p>
        </p:txBody>
      </p:sp>
      <p:pic>
        <p:nvPicPr>
          <p:cNvPr id="5" name="Picture 2" descr="Analyzing Coupling Constants">
            <a:extLst>
              <a:ext uri="{FF2B5EF4-FFF2-40B4-BE49-F238E27FC236}">
                <a16:creationId xmlns:a16="http://schemas.microsoft.com/office/drawing/2014/main" id="{73A4295C-9362-30DA-9FA0-A9FEC00B2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3" b="19171"/>
          <a:stretch>
            <a:fillRect/>
          </a:stretch>
        </p:blipFill>
        <p:spPr bwMode="auto">
          <a:xfrm>
            <a:off x="1287536" y="2789644"/>
            <a:ext cx="3114715" cy="1278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834710-A497-57D4-55CC-0AE23D9CCA40}"/>
              </a:ext>
            </a:extLst>
          </p:cNvPr>
          <p:cNvCxnSpPr/>
          <p:nvPr/>
        </p:nvCxnSpPr>
        <p:spPr>
          <a:xfrm>
            <a:off x="2055042" y="2789644"/>
            <a:ext cx="32993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67E870-AEEA-50C5-62C6-618B68F8A3D1}"/>
              </a:ext>
            </a:extLst>
          </p:cNvPr>
          <p:cNvCxnSpPr/>
          <p:nvPr/>
        </p:nvCxnSpPr>
        <p:spPr>
          <a:xfrm>
            <a:off x="3205113" y="2789644"/>
            <a:ext cx="3016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D6FEEF8-7BDA-884D-8AD6-22D09A0C5D8B}"/>
              </a:ext>
            </a:extLst>
          </p:cNvPr>
          <p:cNvSpPr txBox="1"/>
          <p:nvPr/>
        </p:nvSpPr>
        <p:spPr>
          <a:xfrm>
            <a:off x="5323299" y="2705813"/>
            <a:ext cx="2183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2.82-2.80 = 0.02 ppm</a:t>
            </a:r>
          </a:p>
          <a:p>
            <a:r>
              <a:rPr lang="en-IN" dirty="0"/>
              <a:t>2.77-2.75 = 0.02 ppm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69D0C4-3567-5D39-F08F-40659BD97554}"/>
              </a:ext>
            </a:extLst>
          </p:cNvPr>
          <p:cNvSpPr txBox="1"/>
          <p:nvPr/>
        </p:nvSpPr>
        <p:spPr>
          <a:xfrm>
            <a:off x="1933144" y="2582944"/>
            <a:ext cx="645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0.02 ppm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D637CD-445C-A76A-8AB5-37DBECE2A088}"/>
              </a:ext>
            </a:extLst>
          </p:cNvPr>
          <p:cNvSpPr txBox="1"/>
          <p:nvPr/>
        </p:nvSpPr>
        <p:spPr>
          <a:xfrm>
            <a:off x="3033154" y="2582944"/>
            <a:ext cx="6455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0.02 ppm</a:t>
            </a:r>
          </a:p>
        </p:txBody>
      </p:sp>
      <p:pic>
        <p:nvPicPr>
          <p:cNvPr id="11" name="Picture 2" descr="Analyzing Coupling Constants">
            <a:extLst>
              <a:ext uri="{FF2B5EF4-FFF2-40B4-BE49-F238E27FC236}">
                <a16:creationId xmlns:a16="http://schemas.microsoft.com/office/drawing/2014/main" id="{BAAC36D9-C036-4649-95CC-53E9384C77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3" b="19171"/>
          <a:stretch>
            <a:fillRect/>
          </a:stretch>
        </p:blipFill>
        <p:spPr bwMode="auto">
          <a:xfrm>
            <a:off x="1329577" y="5328502"/>
            <a:ext cx="3019323" cy="123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C521FA-BDD9-1916-590F-0577F8BBCE3C}"/>
              </a:ext>
            </a:extLst>
          </p:cNvPr>
          <p:cNvCxnSpPr/>
          <p:nvPr/>
        </p:nvCxnSpPr>
        <p:spPr>
          <a:xfrm flipH="1">
            <a:off x="2255930" y="4972763"/>
            <a:ext cx="1" cy="171544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1F094-0B4D-687A-6B45-71C60CE670D7}"/>
              </a:ext>
            </a:extLst>
          </p:cNvPr>
          <p:cNvCxnSpPr/>
          <p:nvPr/>
        </p:nvCxnSpPr>
        <p:spPr>
          <a:xfrm flipH="1">
            <a:off x="3355941" y="4972763"/>
            <a:ext cx="1" cy="171544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93996F4-7DD6-ACEB-285D-45D856A0353B}"/>
              </a:ext>
            </a:extLst>
          </p:cNvPr>
          <p:cNvSpPr txBox="1"/>
          <p:nvPr/>
        </p:nvSpPr>
        <p:spPr>
          <a:xfrm>
            <a:off x="5241236" y="4772018"/>
            <a:ext cx="2682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(2.82 + 2.80)/2 = 2.81 ppm</a:t>
            </a:r>
          </a:p>
          <a:p>
            <a:r>
              <a:rPr lang="en-IN" dirty="0"/>
              <a:t>(2.77+2.75)/2 = 2.76 ppm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F97452-C1E9-ECD3-BB7E-88543C2AC979}"/>
              </a:ext>
            </a:extLst>
          </p:cNvPr>
          <p:cNvSpPr txBox="1"/>
          <p:nvPr/>
        </p:nvSpPr>
        <p:spPr>
          <a:xfrm>
            <a:off x="1968021" y="4718473"/>
            <a:ext cx="16656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2.81 ppm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D7A69F-5C5F-AB80-2EE2-77B5D64C9D46}"/>
              </a:ext>
            </a:extLst>
          </p:cNvPr>
          <p:cNvSpPr txBox="1"/>
          <p:nvPr/>
        </p:nvSpPr>
        <p:spPr>
          <a:xfrm>
            <a:off x="3108093" y="4741932"/>
            <a:ext cx="13621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2.76 ppm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F49B60-BF22-D4CC-7252-2060651CACF4}"/>
              </a:ext>
            </a:extLst>
          </p:cNvPr>
          <p:cNvCxnSpPr>
            <a:cxnSpLocks/>
          </p:cNvCxnSpPr>
          <p:nvPr/>
        </p:nvCxnSpPr>
        <p:spPr>
          <a:xfrm>
            <a:off x="2264992" y="4725493"/>
            <a:ext cx="10674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0C2BDE4-D907-11F1-F55E-91F7576F89F8}"/>
              </a:ext>
            </a:extLst>
          </p:cNvPr>
          <p:cNvSpPr txBox="1"/>
          <p:nvPr/>
        </p:nvSpPr>
        <p:spPr>
          <a:xfrm>
            <a:off x="2551958" y="4464182"/>
            <a:ext cx="8039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0.05 ppm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09933-520A-5C96-A0A3-56ACC1A64D40}"/>
              </a:ext>
            </a:extLst>
          </p:cNvPr>
          <p:cNvSpPr txBox="1"/>
          <p:nvPr/>
        </p:nvSpPr>
        <p:spPr>
          <a:xfrm>
            <a:off x="5375488" y="5362211"/>
            <a:ext cx="2342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2.81 - 2.76 = 0.05 ppm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5C7911-B2CF-B554-B1BD-ACDD4F65E8C3}"/>
                  </a:ext>
                </a:extLst>
              </p:cNvPr>
              <p:cNvSpPr txBox="1"/>
              <p:nvPr/>
            </p:nvSpPr>
            <p:spPr>
              <a:xfrm>
                <a:off x="4536503" y="3616045"/>
                <a:ext cx="4244624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Coupling constant (J)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0.02 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400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106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b="0" i="1" baseline="3000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nor/>
                      </m:rPr>
                      <a:rPr lang="en-IN" b="0" i="0" baseline="3000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dirty="0" smtClean="0"/>
                      <m:t>=</m:t>
                    </m:r>
                    <m:r>
                      <m:rPr>
                        <m:nor/>
                      </m:rPr>
                      <a:rPr lang="en-IN" b="0" i="0" dirty="0" smtClean="0"/>
                      <m:t> 8 </m:t>
                    </m:r>
                    <m:r>
                      <m:rPr>
                        <m:nor/>
                      </m:rPr>
                      <a:rPr lang="en-IN" b="0" i="0" dirty="0" smtClean="0"/>
                      <m:t>Hz</m:t>
                    </m:r>
                  </m:oMath>
                </a14:m>
                <a:endParaRPr lang="en-IN" baseline="30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5C7911-B2CF-B554-B1BD-ACDD4F65E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503" y="3616045"/>
                <a:ext cx="4244624" cy="485774"/>
              </a:xfrm>
              <a:prstGeom prst="rect">
                <a:avLst/>
              </a:prstGeom>
              <a:blipFill>
                <a:blip r:embed="rId4"/>
                <a:stretch>
                  <a:fillRect l="-1149" b="-7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DF511B2-3EA5-EA51-7FA0-62F33B2CB133}"/>
                  </a:ext>
                </a:extLst>
              </p:cNvPr>
              <p:cNvSpPr txBox="1"/>
              <p:nvPr/>
            </p:nvSpPr>
            <p:spPr>
              <a:xfrm>
                <a:off x="4446606" y="5967163"/>
                <a:ext cx="4361643" cy="489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Coupling constant (J)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0.05 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400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106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b="0" i="1" baseline="3000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nor/>
                      </m:rPr>
                      <a:rPr lang="en-IN" b="0" i="0" baseline="3000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dirty="0" smtClean="0"/>
                      <m:t>=</m:t>
                    </m:r>
                    <m:r>
                      <m:rPr>
                        <m:nor/>
                      </m:rPr>
                      <a:rPr lang="en-IN" b="0" i="0" dirty="0" smtClean="0"/>
                      <m:t> 20 </m:t>
                    </m:r>
                    <m:r>
                      <m:rPr>
                        <m:nor/>
                      </m:rPr>
                      <a:rPr lang="en-IN" b="0" i="0" dirty="0" smtClean="0"/>
                      <m:t>Hz</m:t>
                    </m:r>
                  </m:oMath>
                </a14:m>
                <a:endParaRPr lang="en-IN" baseline="30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DF511B2-3EA5-EA51-7FA0-62F33B2CB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06" y="5967163"/>
                <a:ext cx="4361643" cy="489686"/>
              </a:xfrm>
              <a:prstGeom prst="rect">
                <a:avLst/>
              </a:prstGeom>
              <a:blipFill>
                <a:blip r:embed="rId5"/>
                <a:stretch>
                  <a:fillRect l="-1117" b="-7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4" descr="atom on my NMR graph ...">
            <a:extLst>
              <a:ext uri="{FF2B5EF4-FFF2-40B4-BE49-F238E27FC236}">
                <a16:creationId xmlns:a16="http://schemas.microsoft.com/office/drawing/2014/main" id="{61CB04B3-380D-8653-D71C-5EDFA8BAA6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81" t="25385"/>
          <a:stretch>
            <a:fillRect/>
          </a:stretch>
        </p:blipFill>
        <p:spPr bwMode="auto">
          <a:xfrm>
            <a:off x="10297031" y="3576795"/>
            <a:ext cx="1470581" cy="197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C9E2E81F-ABFF-2B56-8900-82EF16EE1E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652357"/>
              </p:ext>
            </p:extLst>
          </p:nvPr>
        </p:nvGraphicFramePr>
        <p:xfrm>
          <a:off x="5241236" y="73477"/>
          <a:ext cx="2643187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2642829" imgH="1476662" progId="ChemDraw.Document.6.0">
                  <p:embed/>
                </p:oleObj>
              </mc:Choice>
              <mc:Fallback>
                <p:oleObj name="CS ChemDraw Drawing" r:id="rId7" imgW="2642829" imgH="1476662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41236" y="73477"/>
                        <a:ext cx="2643187" cy="1476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B768F1F7-9C04-D2EC-F999-4A4B05B7FB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768834"/>
              </p:ext>
            </p:extLst>
          </p:nvPr>
        </p:nvGraphicFramePr>
        <p:xfrm>
          <a:off x="8347474" y="311276"/>
          <a:ext cx="278130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2780937" imgH="1400141" progId="ChemDraw.Document.6.0">
                  <p:embed/>
                </p:oleObj>
              </mc:Choice>
              <mc:Fallback>
                <p:oleObj name="CS ChemDraw Drawing" r:id="rId9" imgW="2780937" imgH="140014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47474" y="311276"/>
                        <a:ext cx="2781300" cy="140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1682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226</Words>
  <Application>Microsoft Office PowerPoint</Application>
  <PresentationFormat>Widescreen</PresentationFormat>
  <Paragraphs>74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CS ChemDraw Drawing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PRATIP BHATTACHARYYA</dc:creator>
  <cp:lastModifiedBy>Dibyendu Das</cp:lastModifiedBy>
  <cp:revision>5</cp:revision>
  <dcterms:created xsi:type="dcterms:W3CDTF">2026-02-24T13:08:41Z</dcterms:created>
  <dcterms:modified xsi:type="dcterms:W3CDTF">2026-03-12T12:13:30Z</dcterms:modified>
</cp:coreProperties>
</file>