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0833A-1BC3-5595-5B64-97ABF6047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BE77C-B2E4-2EEA-3E1A-844F70ADF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A3C65-3D34-D473-D148-CA576310F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37D2-56FB-4E1D-9C9B-903B3B00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61F98-B2AB-618B-20E0-C5C5989C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18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EEB5-EF2C-3D25-8667-5DBDF179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34528-9897-C1D6-0A4A-2BA5D407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E97C-CC7D-A432-6185-C3427574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A1DEC-13C8-47BD-11F8-E73A9C97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91D4-BDA8-E316-AFD3-1AF94187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963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7BB8-7132-E403-1028-F7BC9D63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49C65-4367-4543-8158-F2C18062C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A380E-7FD6-848E-AD96-C1C16162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581F-836C-2AD0-8637-5A88F1FE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A934C-0689-2286-1006-A2214F73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7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9482-597B-34A8-6B7D-E87E4567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54C6-A4EB-3F51-F80D-5B4865FA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4FEC9-8267-F432-B334-400CEE3BC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A0D97-31E4-375F-79E0-DFE747BA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A6E1E-9B5C-200C-D152-5DCE5018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78655-CFB0-00CD-8FFA-9AE0B09B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063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CE49-4FA1-894A-A899-48DFE5356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9DC6-A160-A9E2-0503-F7EF3DCE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3AB81-005A-3B0B-C2A8-9686A2467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ED05D-4A02-97C4-2D7C-16F56E48E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2E1A2-6508-861E-1E04-F7653DD6B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86EE4-B843-4EDF-3DD6-3D5912FC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B2A1A-56B0-EE00-F17B-8E03C18D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606190-5FF3-8C39-6089-577E4CE7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37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1942-1653-6AAA-C800-060D0D2E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001EC-7BFC-807B-4D80-37265A12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C122B-4CE4-A5DC-13AF-4B34E343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2CE69-02CD-3AA2-F441-51CE7ACE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56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7E268-86BA-DD66-A0A1-368DBB4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9AB7D-BD52-4D88-ACDF-6862C098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50FE7-7670-C954-7C2E-93E10754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109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D518-939A-E745-7295-D6D2203D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C318-2A69-C15D-805D-97D3879CA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56E03-828A-DE76-F73D-2165B74AF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1E620-4451-6B1D-FABE-2751804D6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53BE8-009B-EE5B-1579-31EAD325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D3C9E-CB05-D90C-DB7D-E4A1010E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27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4DCA-C67C-781C-B0A4-E90313CB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421125-8453-FEC3-C369-CFEB29578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B7C9E-D2E5-8AD1-8C7C-A178B31B6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917C2-CB37-C14F-BED5-637D34EB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76128-252A-A2D8-650B-AAF654A68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1D2A4-08A1-FA94-3ACE-2476C863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624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EE43A-C573-67C9-8B97-92A07FCF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3E8D3-139A-B879-304D-E20663A0C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E0B7-F458-B937-637B-4EB120EA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90758-1877-D497-262A-5BD7BE3D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44439-C78F-A843-7601-A74CC8E8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03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E30CC8-BAA9-BD9B-633D-CAEBBCC3B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17C6F-F250-B9B6-5000-62F86D937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90696-7E71-EC50-9980-D2C39DC3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AFD4-467F-BC40-403E-BD3904FB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2655-4AD5-0098-DED2-6DEE42B1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67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08FFE-F43E-AA1E-DF8C-39E1CF8E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9AA3A-A170-97F7-ACE1-2F804231A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ED44E-3282-B7CD-D62C-21801DBCF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A7CEE-9209-43B0-A1E5-C95FBF52978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12206-753E-35D3-3C4F-A7E11D75D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6CFE1-FA9B-34A9-1BA9-23ED460EE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51D79-D769-4A38-A9B3-6508FE817A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53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1.png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12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png"/><Relationship Id="rId5" Type="http://schemas.openxmlformats.org/officeDocument/2006/relationships/image" Target="../media/image5.emf"/><Relationship Id="rId15" Type="http://schemas.openxmlformats.org/officeDocument/2006/relationships/image" Target="../media/image12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emf"/><Relationship Id="rId1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33E3EF-17D6-7B72-D6A2-21FC74FF6BEB}"/>
              </a:ext>
            </a:extLst>
          </p:cNvPr>
          <p:cNvSpPr txBox="1"/>
          <p:nvPr/>
        </p:nvSpPr>
        <p:spPr>
          <a:xfrm>
            <a:off x="556181" y="44306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4AEDE-DBE8-2E1D-E595-BF5BDF44235F}"/>
              </a:ext>
            </a:extLst>
          </p:cNvPr>
          <p:cNvSpPr txBox="1"/>
          <p:nvPr/>
        </p:nvSpPr>
        <p:spPr>
          <a:xfrm>
            <a:off x="606981" y="338820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37276"/>
          <a:stretch/>
        </p:blipFill>
        <p:spPr>
          <a:xfrm>
            <a:off x="1391055" y="314961"/>
            <a:ext cx="8922209" cy="140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16000" y="1795195"/>
            <a:ext cx="9641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 err="1"/>
              <a:t>methoxy</a:t>
            </a:r>
            <a:r>
              <a:rPr lang="en-US" sz="1600" dirty="0"/>
              <a:t> proton (e) appears as a singlet at 3.9 ppm. The methyl proton (f) shows a peak at 2.3 ppm.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aromatic protons (c) comes at 7.8 ppm, (b) at 7.0 ppm and (d) appear around 6.5 ppm.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 The OH proton (a) comes around 5.8 ppm.</a:t>
            </a:r>
            <a:endParaRPr lang="en-IN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75" y="3010502"/>
            <a:ext cx="1727289" cy="12637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5575" y="4347182"/>
            <a:ext cx="10993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presence of a broad band at 3400 cm</a:t>
            </a:r>
            <a:r>
              <a:rPr lang="en-US" baseline="30000" dirty="0"/>
              <a:t>-1</a:t>
            </a:r>
            <a:r>
              <a:rPr lang="en-US" dirty="0"/>
              <a:t> confirms the presence of OH group. The OH group here appears as a singlet at 5.0 ppm </a:t>
            </a:r>
          </a:p>
          <a:p>
            <a:r>
              <a:rPr lang="en-US" dirty="0"/>
              <a:t>• The aromatic protons are observed at (c: 6.9 ppm, 1H, d); (d: 6.75 ppm, 1H, d), (h: 6.8 ppm, 1H, s). </a:t>
            </a:r>
          </a:p>
          <a:p>
            <a:r>
              <a:rPr lang="en-US" dirty="0"/>
              <a:t>• The peak at 3.8 ppm (a) is </a:t>
            </a:r>
            <a:r>
              <a:rPr lang="en-US" dirty="0" err="1"/>
              <a:t>OMe</a:t>
            </a:r>
            <a:r>
              <a:rPr lang="en-US" dirty="0"/>
              <a:t> peak. It appears as a singlet. </a:t>
            </a:r>
          </a:p>
          <a:p>
            <a:r>
              <a:rPr lang="en-US" dirty="0"/>
              <a:t>• J = 18 Hz indicates trans geometry of H. The alkene protons (e and f) appear at 6.28 ppm and 6.0 ppm. </a:t>
            </a:r>
          </a:p>
          <a:p>
            <a:r>
              <a:rPr lang="en-US" dirty="0"/>
              <a:t>• The methyl protons (g) appear at 1.85 ppm as a doublet. 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962400" y="3576320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DBE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802640"/>
            <a:ext cx="216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DBE = 5</a:t>
            </a:r>
          </a:p>
        </p:txBody>
      </p:sp>
    </p:spTree>
    <p:extLst>
      <p:ext uri="{BB962C8B-B14F-4D97-AF65-F5344CB8AC3E}">
        <p14:creationId xmlns:p14="http://schemas.microsoft.com/office/powerpoint/2010/main" val="297217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A6CEFF-850F-2418-F28C-FB2FEA2F0A32}"/>
              </a:ext>
            </a:extLst>
          </p:cNvPr>
          <p:cNvSpPr txBox="1"/>
          <p:nvPr/>
        </p:nvSpPr>
        <p:spPr>
          <a:xfrm>
            <a:off x="466836" y="50286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6230" y="436880"/>
            <a:ext cx="11174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baseline="30000" dirty="0"/>
              <a:t>1</a:t>
            </a:r>
            <a:r>
              <a:rPr lang="en-US" dirty="0"/>
              <a:t>H NMR, we observe a peak for DMSO-d</a:t>
            </a:r>
            <a:r>
              <a:rPr lang="en-US" baseline="-25000" dirty="0"/>
              <a:t>6</a:t>
            </a:r>
            <a:r>
              <a:rPr lang="en-US" dirty="0"/>
              <a:t> because the residual non-deuterated impurity (a small amount of </a:t>
            </a:r>
            <a:r>
              <a:rPr lang="en-US" dirty="0" err="1"/>
              <a:t>protic</a:t>
            </a:r>
            <a:r>
              <a:rPr lang="en-US" dirty="0"/>
              <a:t> solvent) still contains a hydrogen, which gives a signal. This peak appears as a quintet because of the residual DMSO-d</a:t>
            </a:r>
            <a:r>
              <a:rPr lang="en-US" baseline="-25000" dirty="0"/>
              <a:t>5 </a:t>
            </a:r>
            <a:r>
              <a:rPr lang="en-US" dirty="0"/>
              <a:t>in which the proton couples with the deuterium atoms, causing a splitting pattern (2nI + 1 = 5) as I = 1 for D.</a:t>
            </a:r>
          </a:p>
          <a:p>
            <a:r>
              <a:rPr lang="en-US" dirty="0"/>
              <a:t>In the </a:t>
            </a:r>
            <a:r>
              <a:rPr lang="en-US" baseline="30000" dirty="0"/>
              <a:t>13</a:t>
            </a:r>
            <a:r>
              <a:rPr lang="en-US" dirty="0"/>
              <a:t>C NMR, the signal at δ 39.7 ppm is typically a septet, due to coupling with 3 D atoms (2nI + 1) as I = 1 for 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6CEFF-850F-2418-F28C-FB2FEA2F0A32}"/>
              </a:ext>
            </a:extLst>
          </p:cNvPr>
          <p:cNvSpPr txBox="1"/>
          <p:nvPr/>
        </p:nvSpPr>
        <p:spPr>
          <a:xfrm>
            <a:off x="405876" y="276854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38" y="2465023"/>
            <a:ext cx="6974428" cy="38530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03957" y="5601903"/>
            <a:ext cx="90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015" y="2483319"/>
            <a:ext cx="1684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Excess</a:t>
            </a:r>
          </a:p>
          <a:p>
            <a:r>
              <a:rPr lang="en-IN" sz="1600" dirty="0" err="1"/>
              <a:t>MeMgCl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6191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CD83BB-D858-2363-5A1B-EA38A4662A71}"/>
              </a:ext>
            </a:extLst>
          </p:cNvPr>
          <p:cNvSpPr txBox="1"/>
          <p:nvPr/>
        </p:nvSpPr>
        <p:spPr>
          <a:xfrm>
            <a:off x="168507" y="21681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FDCD5-9989-9787-4F06-D1E32FFF9EE1}"/>
              </a:ext>
            </a:extLst>
          </p:cNvPr>
          <p:cNvSpPr txBox="1"/>
          <p:nvPr/>
        </p:nvSpPr>
        <p:spPr>
          <a:xfrm>
            <a:off x="527901" y="3858419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 Isomer 1: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96FECC7-2E6C-6A80-25C4-570C90556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723546"/>
              </p:ext>
            </p:extLst>
          </p:nvPr>
        </p:nvGraphicFramePr>
        <p:xfrm>
          <a:off x="1925638" y="3879850"/>
          <a:ext cx="83978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07386" imgH="325790" progId="ChemDraw.Document.6.0">
                  <p:embed/>
                </p:oleObj>
              </mc:Choice>
              <mc:Fallback>
                <p:oleObj name="CS ChemDraw Drawing" r:id="rId2" imgW="507386" imgH="3257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25638" y="3879850"/>
                        <a:ext cx="839787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2D2C7F-0672-7C1E-3BB3-5F89ACEC88FE}"/>
              </a:ext>
            </a:extLst>
          </p:cNvPr>
          <p:cNvSpPr txBox="1"/>
          <p:nvPr/>
        </p:nvSpPr>
        <p:spPr>
          <a:xfrm>
            <a:off x="641714" y="4659419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Isomer 3: 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3FDC64B-FEB2-A84E-2672-BE30073C60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570430"/>
              </p:ext>
            </p:extLst>
          </p:nvPr>
        </p:nvGraphicFramePr>
        <p:xfrm>
          <a:off x="1925638" y="4694238"/>
          <a:ext cx="123825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822960" imgH="199801" progId="ChemDraw.Document.6.0">
                  <p:embed/>
                </p:oleObj>
              </mc:Choice>
              <mc:Fallback>
                <p:oleObj name="CS ChemDraw Drawing" r:id="rId4" imgW="822960" imgH="19980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25638" y="4694238"/>
                        <a:ext cx="1238250" cy="301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F0AD07-512B-4708-213E-A0BE87762F37}"/>
              </a:ext>
            </a:extLst>
          </p:cNvPr>
          <p:cNvSpPr txBox="1"/>
          <p:nvPr/>
        </p:nvSpPr>
        <p:spPr>
          <a:xfrm>
            <a:off x="658133" y="5395760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Isomer 2: 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8C83E8F-425E-35AA-AB73-FF57DFDCC1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901913"/>
              </p:ext>
            </p:extLst>
          </p:nvPr>
        </p:nvGraphicFramePr>
        <p:xfrm>
          <a:off x="1878012" y="5320640"/>
          <a:ext cx="896938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529076" imgH="382634" progId="ChemDraw.Document.6.0">
                  <p:embed/>
                </p:oleObj>
              </mc:Choice>
              <mc:Fallback>
                <p:oleObj name="CS ChemDraw Drawing" r:id="rId6" imgW="529076" imgH="38263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78012" y="5320640"/>
                        <a:ext cx="896938" cy="64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973A8-AA07-ACB8-C2C8-FB88AB50D77A}"/>
              </a:ext>
            </a:extLst>
          </p:cNvPr>
          <p:cNvSpPr txBox="1"/>
          <p:nvPr/>
        </p:nvSpPr>
        <p:spPr>
          <a:xfrm>
            <a:off x="717612" y="6215350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Isomer 4: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7812DA4-FAE6-7324-92E9-A8E457A055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243940"/>
              </p:ext>
            </p:extLst>
          </p:nvPr>
        </p:nvGraphicFramePr>
        <p:xfrm>
          <a:off x="1679575" y="6210300"/>
          <a:ext cx="10953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666023" imgH="330881" progId="ChemDraw.Document.6.0">
                  <p:embed/>
                </p:oleObj>
              </mc:Choice>
              <mc:Fallback>
                <p:oleObj name="CS ChemDraw Drawing" r:id="rId8" imgW="666023" imgH="33088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79575" y="6210300"/>
                        <a:ext cx="109537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25FEDE67-33AB-8A3B-EA70-DB5450DBB130}"/>
              </a:ext>
            </a:extLst>
          </p:cNvPr>
          <p:cNvGrpSpPr/>
          <p:nvPr/>
        </p:nvGrpSpPr>
        <p:grpSpPr>
          <a:xfrm>
            <a:off x="4859596" y="4165340"/>
            <a:ext cx="5581195" cy="2633367"/>
            <a:chOff x="4583876" y="1932495"/>
            <a:chExt cx="4371588" cy="206264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D42F972-3597-C46F-BA05-9CF4FA2AE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3045" b="1"/>
            <a:stretch>
              <a:fillRect/>
            </a:stretch>
          </p:blipFill>
          <p:spPr>
            <a:xfrm>
              <a:off x="4583876" y="1932495"/>
              <a:ext cx="4371588" cy="206264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2D3E35A-78ED-667F-DEF4-C9A21B8BD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25272" b="38919"/>
            <a:stretch>
              <a:fillRect/>
            </a:stretch>
          </p:blipFill>
          <p:spPr>
            <a:xfrm>
              <a:off x="7298630" y="2423210"/>
              <a:ext cx="1081799" cy="742445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103377-8DF7-C271-AAF4-3CD8E29A027F}"/>
              </a:ext>
            </a:extLst>
          </p:cNvPr>
          <p:cNvSpPr txBox="1"/>
          <p:nvPr/>
        </p:nvSpPr>
        <p:spPr>
          <a:xfrm>
            <a:off x="10365081" y="236949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Isomer 2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328060-0FF8-5A67-4E42-A6F050CA1B82}"/>
              </a:ext>
            </a:extLst>
          </p:cNvPr>
          <p:cNvSpPr txBox="1"/>
          <p:nvPr/>
        </p:nvSpPr>
        <p:spPr>
          <a:xfrm>
            <a:off x="10626755" y="5265774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Isomer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7C50D1-B1BC-9C2F-0BB5-95FDD68F8871}"/>
              </a:ext>
            </a:extLst>
          </p:cNvPr>
          <p:cNvSpPr txBox="1"/>
          <p:nvPr/>
        </p:nvSpPr>
        <p:spPr>
          <a:xfrm>
            <a:off x="386499" y="2111604"/>
            <a:ext cx="4401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 Upon addition of Lucas reagent tertiary</a:t>
            </a:r>
          </a:p>
          <a:p>
            <a:r>
              <a:rPr lang="en-IN" dirty="0"/>
              <a:t> alcohol solution becomes turbid instantly, </a:t>
            </a:r>
          </a:p>
          <a:p>
            <a:r>
              <a:rPr lang="en-IN" dirty="0"/>
              <a:t>Secondary alcohol reacts slowly and primary </a:t>
            </a:r>
          </a:p>
          <a:p>
            <a:r>
              <a:rPr lang="en-IN" dirty="0"/>
              <a:t>alcohol does not react at 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A4C9-1E80-D933-C7F9-D7377957B4D6}"/>
              </a:ext>
            </a:extLst>
          </p:cNvPr>
          <p:cNvSpPr txBox="1"/>
          <p:nvPr/>
        </p:nvSpPr>
        <p:spPr>
          <a:xfrm>
            <a:off x="757130" y="3234531"/>
            <a:ext cx="2543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formula is of butanol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AFDD23-E3FA-96EC-2582-DAFF6E7C913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3071" t="47581" r="36453"/>
          <a:stretch>
            <a:fillRect/>
          </a:stretch>
        </p:blipFill>
        <p:spPr>
          <a:xfrm>
            <a:off x="8580098" y="1609844"/>
            <a:ext cx="706950" cy="114602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186962-FC12-007C-F2D1-C9B64E1BDD1F}"/>
              </a:ext>
            </a:extLst>
          </p:cNvPr>
          <p:cNvSpPr txBox="1"/>
          <p:nvPr/>
        </p:nvSpPr>
        <p:spPr>
          <a:xfrm>
            <a:off x="10365081" y="3015825"/>
            <a:ext cx="18013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Diastereotopic</a:t>
            </a:r>
            <a:r>
              <a:rPr lang="en-IN" dirty="0"/>
              <a:t> H </a:t>
            </a:r>
          </a:p>
          <a:p>
            <a:r>
              <a:rPr lang="en-IN" dirty="0"/>
              <a:t>present.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0D6531-0636-F92D-5FEE-C7751078F3A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1321" r="5185"/>
          <a:stretch>
            <a:fillRect/>
          </a:stretch>
        </p:blipFill>
        <p:spPr>
          <a:xfrm>
            <a:off x="4797826" y="987716"/>
            <a:ext cx="5302066" cy="3055369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1C1FEDB-32E9-6944-D25D-654FD7473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538198"/>
              </p:ext>
            </p:extLst>
          </p:nvPr>
        </p:nvGraphicFramePr>
        <p:xfrm>
          <a:off x="3872436" y="270021"/>
          <a:ext cx="2817813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4" imgW="1480052" imgH="666004" progId="ChemDraw.Document.6.0">
                  <p:embed/>
                </p:oleObj>
              </mc:Choice>
              <mc:Fallback>
                <p:oleObj name="CS ChemDraw Drawing" r:id="rId14" imgW="1480052" imgH="66600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72436" y="270021"/>
                        <a:ext cx="2817813" cy="1266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61A2BAA-D11E-F0C5-0866-BFC3E98BFC76}"/>
              </a:ext>
            </a:extLst>
          </p:cNvPr>
          <p:cNvSpPr txBox="1"/>
          <p:nvPr/>
        </p:nvSpPr>
        <p:spPr>
          <a:xfrm>
            <a:off x="326351" y="503355"/>
            <a:ext cx="27064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DBE is 1</a:t>
            </a:r>
          </a:p>
          <a:p>
            <a:r>
              <a:rPr lang="en-IN" dirty="0"/>
              <a:t>Plane of symmetry present</a:t>
            </a:r>
          </a:p>
          <a:p>
            <a:r>
              <a:rPr lang="en-IN" dirty="0"/>
              <a:t>-OCH2 present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24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382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 ChemDraw Drawing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PRATIP BHATTACHARYYA</cp:lastModifiedBy>
  <cp:revision>11</cp:revision>
  <dcterms:created xsi:type="dcterms:W3CDTF">2026-02-24T06:38:47Z</dcterms:created>
  <dcterms:modified xsi:type="dcterms:W3CDTF">2026-02-26T09:42:13Z</dcterms:modified>
</cp:coreProperties>
</file>