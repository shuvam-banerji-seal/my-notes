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C716-3AA0-7D12-129F-096023C66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0B41F-3FAD-CC7B-FC07-B3708C492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21DFB-B858-D1B3-3480-81B20640C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47F7-9A9C-4663-8FD5-91A7363214C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728E5-28FC-2B8A-13AD-DEC5F8C91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A8708-FE25-98DE-1FB8-9CAFCB5F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8A34D-05EC-4521-8D85-A34CC6E74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945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2BB8B-726F-A47D-0682-BA29CC711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049A5-5558-B0E6-D3C1-BDEEC7FB3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E3C6D-FBAF-CF64-B888-9D9A902D2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47F7-9A9C-4663-8FD5-91A7363214C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57D90-880D-0F95-5D7F-15A9E62D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ECFF5-EF6C-62C8-0735-F4B0DEB1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8A34D-05EC-4521-8D85-A34CC6E74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996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C0030-8DCB-20AC-3C0C-12425CC8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2C2CE-F611-87D8-5A65-289094E00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1E8AE-BD3B-2715-A0EA-B31530455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47F7-9A9C-4663-8FD5-91A7363214C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73FB2-3386-7CD1-C6C1-B90EC635F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B230A-9725-3346-6539-7B4C4908D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8A34D-05EC-4521-8D85-A34CC6E74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73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7C77-1866-1D5D-36F5-A3F3EA6B4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85435-D37A-DB04-9C95-A05247EBAA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B433E-F865-E770-7C15-462F1C065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C6864-0E01-F09B-FF07-10CEE1BFB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47F7-9A9C-4663-8FD5-91A7363214C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A6B12-28B1-6DCB-084D-9B2646C20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56695-EBDC-2EB4-5A67-EA0D7136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8A34D-05EC-4521-8D85-A34CC6E74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641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E7353-A65A-F082-B5FF-662B40838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0D006-011B-3BB0-334D-AD1E72D7C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DA0B7-2E49-19C7-C5DA-9B0E9E259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84EAF8-1B29-EB72-D497-E5E26A63F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14C51C-3F61-6C72-AE65-56E780F281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AF0E04-2348-9E49-DD4B-30C35357D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47F7-9A9C-4663-8FD5-91A7363214C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4D05AC-9F5E-BC8B-B83D-483262AE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3D78D-6A8B-D409-085E-D69D0ED13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8A34D-05EC-4521-8D85-A34CC6E74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606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E4899-5C0A-8C06-3BA0-12234C68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4D01C6-BB8C-EE31-A20D-667EC52B3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47F7-9A9C-4663-8FD5-91A7363214C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0EF44-1C77-76F9-5A88-6097D92E7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C1112C-3887-2B11-260F-76005ECE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8A34D-05EC-4521-8D85-A34CC6E74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84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75BFB4-89A4-06F3-ADBF-02F83B114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47F7-9A9C-4663-8FD5-91A7363214C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761330-5C5A-A26C-40DD-62C1CA20F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836AD-4C6F-675C-2FD1-68FD89F8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8A34D-05EC-4521-8D85-A34CC6E74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13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8CC6E-9F22-861B-4DAA-6D3758D9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AAB3E-5A4F-2FCE-C5D8-03EEAB286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4AB33-7635-F59E-3552-92F320BA9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0DEF9-EA03-6DA7-8A98-6C28BFE97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47F7-9A9C-4663-8FD5-91A7363214C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7E47D-51EE-9B3A-68F1-229B686FE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862F5-360C-6E14-7BDB-5E7264CC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8A34D-05EC-4521-8D85-A34CC6E74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461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AEF8-2DB4-064F-B526-63CA8288E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462BDD-06F8-B34A-755D-0C8C0F05A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408E6-2C83-EB58-E721-45119713F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567D5-3EFB-5718-F2D9-50444E0D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47F7-9A9C-4663-8FD5-91A7363214C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64F6B-AC06-3EF4-5A56-C0E93E131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EA860-30C2-9848-C1F1-58621931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8A34D-05EC-4521-8D85-A34CC6E74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996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D8CD-2C0B-C492-2C3A-A600D7B45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63CFD-355A-C7B2-5958-7F19C6A91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845A8-16DD-9069-8F0F-9CC039869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47F7-9A9C-4663-8FD5-91A7363214C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5E7D5-9FE3-5FC5-3EA6-DDD4B0F69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905AB-4D36-C486-61C6-BF375AEA9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8A34D-05EC-4521-8D85-A34CC6E74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32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1E898A-81C9-A8FD-5F3E-962B35B739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85159-E988-E4B7-CB53-6DCC12EC9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53EB1-A425-3E09-F580-CDA9EC581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E47F7-9A9C-4663-8FD5-91A7363214C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91869-8DFE-1845-6FE7-590A33F3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0F5E0-50A2-30BD-DECA-E60171F61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8A34D-05EC-4521-8D85-A34CC6E74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793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D6DFE-3152-BF09-DA12-088D2B803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A0ED3-4361-522D-CE17-36793D0F9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1FF8B-E8DF-F580-2824-44BBC75D03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E47F7-9A9C-4663-8FD5-91A7363214C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3F130-1601-CEDA-FD10-E7C31BB1B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F1ED2-8ACD-C16D-E263-A7E6AE81FE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8A34D-05EC-4521-8D85-A34CC6E74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5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DB7742-7ECA-06EE-7C8C-3B0ECB40AE65}"/>
              </a:ext>
            </a:extLst>
          </p:cNvPr>
          <p:cNvSpPr txBox="1"/>
          <p:nvPr/>
        </p:nvSpPr>
        <p:spPr>
          <a:xfrm>
            <a:off x="18854" y="179109"/>
            <a:ext cx="118337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An organic compound with molecular formula </a:t>
            </a:r>
            <a:r>
              <a:rPr lang="en-IN" b="1" dirty="0"/>
              <a:t>C₉H₁₀O₃</a:t>
            </a:r>
            <a:r>
              <a:rPr lang="en-IN" dirty="0"/>
              <a:t> exhibited the following spectral data:</a:t>
            </a:r>
          </a:p>
          <a:p>
            <a:r>
              <a:rPr lang="en-IN" dirty="0"/>
              <a:t>IR: 3400, 1680 cm⁻¹</a:t>
            </a:r>
            <a:br>
              <a:rPr lang="en-IN" dirty="0"/>
            </a:br>
            <a:r>
              <a:rPr lang="en-IN" dirty="0"/>
              <a:t>¹H NMR: </a:t>
            </a:r>
            <a:r>
              <a:rPr lang="el-GR" dirty="0"/>
              <a:t>δ 7.8 (1</a:t>
            </a:r>
            <a:r>
              <a:rPr lang="en-IN" dirty="0"/>
              <a:t>H, d, J = 8 Hz), 7.0 (1H, d, J = 8 Hz), 6.5 (1H, s), 5.8 (1H, s, D₂O exchangeable), 3.9 (3H, s), 2.3 (3H, s).</a:t>
            </a:r>
          </a:p>
          <a:p>
            <a:r>
              <a:rPr lang="en-IN" dirty="0"/>
              <a:t>Identify the compound.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3A6CC9-E696-3EB2-58F9-4629AAEBDD05}"/>
              </a:ext>
            </a:extLst>
          </p:cNvPr>
          <p:cNvSpPr txBox="1"/>
          <p:nvPr/>
        </p:nvSpPr>
        <p:spPr>
          <a:xfrm>
            <a:off x="18854" y="1674674"/>
            <a:ext cx="119469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2. An organic compound having molecular formula C₁₀H₁₂O</a:t>
            </a:r>
            <a:r>
              <a:rPr lang="en-IN"/>
              <a:t>₂ exhibits </a:t>
            </a:r>
            <a:r>
              <a:rPr lang="en-IN" dirty="0"/>
              <a:t>the following spectral data:</a:t>
            </a:r>
          </a:p>
          <a:p>
            <a:r>
              <a:rPr lang="en-IN" dirty="0"/>
              <a:t>IR: 3400 (</a:t>
            </a:r>
            <a:r>
              <a:rPr lang="en-IN" dirty="0" err="1"/>
              <a:t>br</a:t>
            </a:r>
            <a:r>
              <a:rPr lang="en-IN" dirty="0"/>
              <a:t>), 1600 cm⁻¹</a:t>
            </a:r>
          </a:p>
          <a:p>
            <a:r>
              <a:rPr lang="en-IN" dirty="0"/>
              <a:t>¹H NMR (</a:t>
            </a:r>
            <a:r>
              <a:rPr lang="el-GR" dirty="0"/>
              <a:t>δ, </a:t>
            </a:r>
            <a:r>
              <a:rPr lang="en-IN" dirty="0"/>
              <a:t>ppm): 1.85 (3H, d, J = 6 Hz), 3.8 (3H, s), 5.0 (1H, s, D₂O exchangeable), 6.0 (1H, </a:t>
            </a:r>
            <a:r>
              <a:rPr lang="en-IN" dirty="0" err="1"/>
              <a:t>dq</a:t>
            </a:r>
            <a:r>
              <a:rPr lang="en-IN" dirty="0"/>
              <a:t>, J = 18, 6 Hz),                                           6.28 (1H, d, J = 18 Hz), 6.75 (1H, d, J = 8 Hz), 6.8 (1H, s), 6.90 (1H, d, J = 8 Hz)</a:t>
            </a:r>
          </a:p>
          <a:p>
            <a:r>
              <a:rPr lang="en-IN" dirty="0"/>
              <a:t>¹³C NMR (</a:t>
            </a:r>
            <a:r>
              <a:rPr lang="el-GR" dirty="0"/>
              <a:t>δ, </a:t>
            </a:r>
            <a:r>
              <a:rPr lang="en-IN" dirty="0"/>
              <a:t>ppm): 146.5, 144.0, 131.0, 130.5, 123.0, 119.0, 114.0, 108.0, 55.0, 18.0</a:t>
            </a:r>
          </a:p>
          <a:p>
            <a:r>
              <a:rPr lang="en-IN" dirty="0"/>
              <a:t>Determine the structure of the compound.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B6008F-1D99-7D30-AD6A-F3B3D578EFA3}"/>
              </a:ext>
            </a:extLst>
          </p:cNvPr>
          <p:cNvSpPr txBox="1"/>
          <p:nvPr/>
        </p:nvSpPr>
        <p:spPr>
          <a:xfrm>
            <a:off x="18854" y="3846137"/>
            <a:ext cx="11833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3. Why we observe peak of </a:t>
            </a:r>
            <a:r>
              <a:rPr lang="en-US" dirty="0"/>
              <a:t>DMSO-d</a:t>
            </a:r>
            <a:r>
              <a:rPr lang="en-US" baseline="-25000" dirty="0"/>
              <a:t>6</a:t>
            </a:r>
            <a:r>
              <a:rPr lang="en-US" dirty="0"/>
              <a:t> in </a:t>
            </a:r>
            <a:r>
              <a:rPr lang="en-US" baseline="30000" dirty="0"/>
              <a:t>1</a:t>
            </a:r>
            <a:r>
              <a:rPr lang="en-US" dirty="0"/>
              <a:t>H NMR although there is no ‘H’ present and why the peak is observed as quintet ?</a:t>
            </a:r>
          </a:p>
          <a:p>
            <a:r>
              <a:rPr lang="en-US" dirty="0"/>
              <a:t>In</a:t>
            </a:r>
            <a:r>
              <a:rPr lang="en-IN" dirty="0"/>
              <a:t> </a:t>
            </a:r>
            <a:r>
              <a:rPr lang="en-US" baseline="30000" dirty="0"/>
              <a:t>13</a:t>
            </a:r>
            <a:r>
              <a:rPr lang="en-US" dirty="0"/>
              <a:t>C NMR </a:t>
            </a:r>
            <a:r>
              <a:rPr lang="en-US"/>
              <a:t>spectrum it </a:t>
            </a:r>
            <a:r>
              <a:rPr lang="en-US" dirty="0"/>
              <a:t>gives a signal at </a:t>
            </a:r>
            <a:r>
              <a:rPr lang="el-GR" b="1" dirty="0"/>
              <a:t>δ</a:t>
            </a:r>
            <a:r>
              <a:rPr lang="en-US" dirty="0"/>
              <a:t> 39.7 ppm, what is the multiplicity of the signal?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FFBB9-CFF6-D7B8-FCF7-E930DFC6504E}"/>
              </a:ext>
            </a:extLst>
          </p:cNvPr>
          <p:cNvSpPr txBox="1"/>
          <p:nvPr/>
        </p:nvSpPr>
        <p:spPr>
          <a:xfrm>
            <a:off x="0" y="5009089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4. </a:t>
            </a:r>
            <a:r>
              <a:rPr lang="en-US" dirty="0"/>
              <a:t>An organic compound </a:t>
            </a:r>
            <a:r>
              <a:rPr lang="en-US" b="1" dirty="0"/>
              <a:t>A</a:t>
            </a:r>
            <a:r>
              <a:rPr lang="en-US" dirty="0"/>
              <a:t> (C</a:t>
            </a:r>
            <a:r>
              <a:rPr lang="en-US" baseline="-25000" dirty="0"/>
              <a:t>8</a:t>
            </a:r>
            <a:r>
              <a:rPr lang="en-US" dirty="0"/>
              <a:t>H</a:t>
            </a:r>
            <a:r>
              <a:rPr lang="en-US" baseline="-25000" dirty="0"/>
              <a:t>16</a:t>
            </a:r>
            <a:r>
              <a:rPr lang="en-US" dirty="0"/>
              <a:t>O</a:t>
            </a:r>
            <a:r>
              <a:rPr lang="en-US" baseline="-25000" dirty="0"/>
              <a:t>2</a:t>
            </a:r>
            <a:r>
              <a:rPr lang="en-US" dirty="0"/>
              <a:t>) on treatment with an excess of methyl-magnesium chloride generated two alcohols</a:t>
            </a:r>
            <a:r>
              <a:rPr lang="en-US" b="1" dirty="0"/>
              <a:t> B</a:t>
            </a:r>
            <a:r>
              <a:rPr lang="en-US" dirty="0"/>
              <a:t> and </a:t>
            </a:r>
            <a:r>
              <a:rPr lang="en-US" b="1" dirty="0"/>
              <a:t>C</a:t>
            </a:r>
            <a:r>
              <a:rPr lang="en-US" dirty="0"/>
              <a:t>, whereas reaction of </a:t>
            </a:r>
            <a:r>
              <a:rPr lang="en-US" b="1" dirty="0"/>
              <a:t>A</a:t>
            </a:r>
            <a:r>
              <a:rPr lang="en-US" dirty="0"/>
              <a:t> with lithium </a:t>
            </a:r>
            <a:r>
              <a:rPr lang="en-US" dirty="0" err="1"/>
              <a:t>aluminium</a:t>
            </a:r>
            <a:r>
              <a:rPr lang="en-US" dirty="0"/>
              <a:t> hydride generated only a single alcohol </a:t>
            </a:r>
            <a:r>
              <a:rPr lang="en-US" b="1" dirty="0"/>
              <a:t>C</a:t>
            </a:r>
            <a:r>
              <a:rPr lang="en-US" dirty="0"/>
              <a:t>. Compound </a:t>
            </a:r>
            <a:r>
              <a:rPr lang="en-US" b="1" dirty="0"/>
              <a:t>B </a:t>
            </a:r>
            <a:r>
              <a:rPr lang="en-US" dirty="0"/>
              <a:t>on treatment with an acid yielded an olefin </a:t>
            </a:r>
            <a:r>
              <a:rPr lang="en-US" b="1" dirty="0"/>
              <a:t>D </a:t>
            </a:r>
            <a:r>
              <a:rPr lang="en-US" dirty="0"/>
              <a:t>(C</a:t>
            </a:r>
            <a:r>
              <a:rPr lang="en-US" baseline="-25000" dirty="0"/>
              <a:t>6</a:t>
            </a:r>
            <a:r>
              <a:rPr lang="en-US" dirty="0"/>
              <a:t>H</a:t>
            </a:r>
            <a:r>
              <a:rPr lang="en-US" baseline="-25000" dirty="0"/>
              <a:t>12</a:t>
            </a:r>
            <a:r>
              <a:rPr lang="en-US" dirty="0"/>
              <a:t>), which exhibited only a singlet at </a:t>
            </a:r>
            <a:r>
              <a:rPr lang="el-GR" b="1" dirty="0"/>
              <a:t>δ</a:t>
            </a:r>
            <a:r>
              <a:rPr lang="en-US" dirty="0"/>
              <a:t> =1.5 ppm in the 1H NMR spectrum. Predict the structure of compound A, B, C and D. 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C00365-3C9F-38D6-C422-508D72996112}"/>
              </a:ext>
            </a:extLst>
          </p:cNvPr>
          <p:cNvSpPr txBox="1"/>
          <p:nvPr/>
        </p:nvSpPr>
        <p:spPr>
          <a:xfrm>
            <a:off x="10334134" y="1111558"/>
            <a:ext cx="1307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(CSIR NET)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D43ECF-49D8-D403-2340-411905ACD683}"/>
              </a:ext>
            </a:extLst>
          </p:cNvPr>
          <p:cNvSpPr txBox="1"/>
          <p:nvPr/>
        </p:nvSpPr>
        <p:spPr>
          <a:xfrm>
            <a:off x="10657788" y="6209418"/>
            <a:ext cx="1307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(CSIR NET)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1354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7D99B-4820-9B37-2574-E935348295D1}"/>
              </a:ext>
            </a:extLst>
          </p:cNvPr>
          <p:cNvSpPr txBox="1"/>
          <p:nvPr/>
        </p:nvSpPr>
        <p:spPr>
          <a:xfrm>
            <a:off x="80250" y="1527141"/>
            <a:ext cx="12031499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6. A compound with molecular formula C</a:t>
            </a:r>
            <a:r>
              <a:rPr lang="en-IN" baseline="-25000" dirty="0"/>
              <a:t>4</a:t>
            </a:r>
            <a:r>
              <a:rPr lang="en-IN" dirty="0"/>
              <a:t>H</a:t>
            </a:r>
            <a:r>
              <a:rPr lang="en-IN" baseline="-25000" dirty="0"/>
              <a:t>10</a:t>
            </a:r>
            <a:r>
              <a:rPr lang="en-IN" dirty="0"/>
              <a:t>O has four isomers. </a:t>
            </a:r>
          </a:p>
          <a:p>
            <a:r>
              <a:rPr lang="en-IN" dirty="0"/>
              <a:t>Addition of </a:t>
            </a:r>
            <a:r>
              <a:rPr lang="en-IN" dirty="0" err="1"/>
              <a:t>Anhy</a:t>
            </a:r>
            <a:r>
              <a:rPr lang="en-IN" dirty="0"/>
              <a:t>. ZnCl</a:t>
            </a:r>
            <a:r>
              <a:rPr lang="en-IN" baseline="-25000" dirty="0"/>
              <a:t>2</a:t>
            </a:r>
            <a:r>
              <a:rPr lang="en-IN" dirty="0"/>
              <a:t> and Conc. HCl to isomer 1 it gives instant turbid solution whereas for isomer 2 turbidity appears slowly</a:t>
            </a:r>
          </a:p>
          <a:p>
            <a:r>
              <a:rPr lang="en-IN" dirty="0"/>
              <a:t>and isomer 3 and 4 shows no turbid solution at RT upon addition of the reagent. </a:t>
            </a:r>
          </a:p>
          <a:p>
            <a:endParaRPr lang="en-IN" dirty="0"/>
          </a:p>
          <a:p>
            <a:r>
              <a:rPr lang="en-IN" dirty="0"/>
              <a:t>Isomer 1</a:t>
            </a:r>
          </a:p>
          <a:p>
            <a:r>
              <a:rPr lang="en-IN" baseline="30000" dirty="0"/>
              <a:t>1</a:t>
            </a:r>
            <a:r>
              <a:rPr lang="en-IN" dirty="0"/>
              <a:t>H NMR: 1.20 (s, 9H), 4.5 (s, 1H)</a:t>
            </a:r>
          </a:p>
          <a:p>
            <a:r>
              <a:rPr lang="en-IN" baseline="30000" dirty="0"/>
              <a:t>13</a:t>
            </a:r>
            <a:r>
              <a:rPr lang="en-IN" dirty="0"/>
              <a:t>C NMR : 30.9, 70.3</a:t>
            </a:r>
          </a:p>
          <a:p>
            <a:endParaRPr lang="en-IN" dirty="0"/>
          </a:p>
          <a:p>
            <a:r>
              <a:rPr lang="en-IN" dirty="0"/>
              <a:t>Isomer 3: </a:t>
            </a:r>
          </a:p>
          <a:p>
            <a:r>
              <a:rPr lang="en-IN" baseline="30000" dirty="0"/>
              <a:t>1</a:t>
            </a:r>
            <a:r>
              <a:rPr lang="en-IN" dirty="0"/>
              <a:t>H NMR: 0.94 (t, 3H), 1.39 (m, 2H), 1.56 (m, 2H), 3.64 (t, 2H), 4.7 (s, 1H)</a:t>
            </a:r>
          </a:p>
          <a:p>
            <a:r>
              <a:rPr lang="en-IN" baseline="30000" dirty="0"/>
              <a:t>13</a:t>
            </a:r>
            <a:r>
              <a:rPr lang="en-IN" dirty="0"/>
              <a:t>C NMR: 14.1, 18.7, 34.4, 62.5  </a:t>
            </a:r>
          </a:p>
          <a:p>
            <a:endParaRPr lang="en-IN" dirty="0"/>
          </a:p>
          <a:p>
            <a:r>
              <a:rPr lang="en-IN" dirty="0"/>
              <a:t>Predict the structure of Isomer 1 and 3.</a:t>
            </a:r>
          </a:p>
          <a:p>
            <a:r>
              <a:rPr lang="en-IN" dirty="0"/>
              <a:t>Draw the structures of isomers 2 and 4 with their </a:t>
            </a:r>
            <a:r>
              <a:rPr lang="en-IN" baseline="30000" dirty="0"/>
              <a:t>1</a:t>
            </a:r>
            <a:r>
              <a:rPr lang="en-IN" dirty="0"/>
              <a:t>H NMR spectra (approximate </a:t>
            </a:r>
            <a:r>
              <a:rPr lang="el-GR" dirty="0"/>
              <a:t>δ</a:t>
            </a:r>
            <a:r>
              <a:rPr lang="en-IN" dirty="0"/>
              <a:t> value in right order of their chemical shift) </a:t>
            </a:r>
          </a:p>
          <a:p>
            <a:r>
              <a:rPr lang="en-IN" dirty="0"/>
              <a:t>with labelling the hydrogen and proper splitting.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E33E23-28F5-72EB-F823-06FE364D964D}"/>
              </a:ext>
            </a:extLst>
          </p:cNvPr>
          <p:cNvSpPr txBox="1"/>
          <p:nvPr/>
        </p:nvSpPr>
        <p:spPr>
          <a:xfrm>
            <a:off x="80250" y="273378"/>
            <a:ext cx="7088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5. Draw the structure of the molecule which molecular formula is C</a:t>
            </a:r>
            <a:r>
              <a:rPr lang="en-IN" baseline="-25000" dirty="0"/>
              <a:t>5</a:t>
            </a:r>
            <a:r>
              <a:rPr lang="en-IN" dirty="0"/>
              <a:t>H</a:t>
            </a:r>
            <a:r>
              <a:rPr lang="en-IN" baseline="-25000" dirty="0"/>
              <a:t>10</a:t>
            </a:r>
            <a:r>
              <a:rPr lang="en-IN" dirty="0"/>
              <a:t>O</a:t>
            </a:r>
            <a:r>
              <a:rPr lang="en-IN" baseline="-25000" dirty="0"/>
              <a:t>2</a:t>
            </a:r>
            <a:r>
              <a:rPr lang="en-IN" dirty="0"/>
              <a:t>.</a:t>
            </a:r>
          </a:p>
          <a:p>
            <a:r>
              <a:rPr lang="en-IN" dirty="0"/>
              <a:t>   </a:t>
            </a:r>
            <a:r>
              <a:rPr lang="en-IN" baseline="30000" dirty="0"/>
              <a:t>1</a:t>
            </a:r>
            <a:r>
              <a:rPr lang="en-IN" dirty="0"/>
              <a:t>H: 1.10 (s, 6H), 3.5 (s, 4H)</a:t>
            </a:r>
          </a:p>
        </p:txBody>
      </p:sp>
    </p:spTree>
    <p:extLst>
      <p:ext uri="{BB962C8B-B14F-4D97-AF65-F5344CB8AC3E}">
        <p14:creationId xmlns:p14="http://schemas.microsoft.com/office/powerpoint/2010/main" val="4066973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571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PRATIP BHATTACHARYYA</dc:creator>
  <cp:lastModifiedBy>PRATIP BHATTACHARYYA</cp:lastModifiedBy>
  <cp:revision>7</cp:revision>
  <dcterms:created xsi:type="dcterms:W3CDTF">2026-02-23T11:37:24Z</dcterms:created>
  <dcterms:modified xsi:type="dcterms:W3CDTF">2026-02-26T09:42:20Z</dcterms:modified>
</cp:coreProperties>
</file>