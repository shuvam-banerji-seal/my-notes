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8" r:id="rId3"/>
    <p:sldId id="26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A9758-BB8C-60F8-0BD0-72DF1026F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1E1B6E-8D66-BFD1-777B-DBE2B526E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1CD92-C93B-8283-2C66-DA99AEA3F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CF1A-0748-40D3-AAAC-08CE6AC62D5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C5CB6-912E-B5D0-6709-199EEFBE1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BB304-9B66-4295-9A53-E0D1BBB8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4E79D-7E48-4E80-A103-3E466FD26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43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BE539-1E2C-8B93-4000-36356C89E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94603-C00A-5BD3-99D1-347630FAC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7F3B9-330D-3273-5A5F-D258BA594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CF1A-0748-40D3-AAAC-08CE6AC62D5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41BB2-51E3-3CF0-53CF-583A7206F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8ABB0-30B5-8307-658A-DA7BB66F3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4E79D-7E48-4E80-A103-3E466FD26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33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4C942-0B45-00C8-C656-567BC7530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F9EB33-7A81-B3EE-A311-F0D1BF583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B43EC-5F00-05A6-DCCA-11631928B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CF1A-0748-40D3-AAAC-08CE6AC62D5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B3E97-1115-F7F9-0B72-43B410DF6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81097-8EF1-BE0D-0B06-6D4825C18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4E79D-7E48-4E80-A103-3E466FD26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042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2046F-59DE-85A5-C605-608A285C5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24CFA-CF8C-5061-6895-82ABBDD29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7D951-AE87-10F6-E802-332E22A51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AAEDC-27B0-1FB3-5DC4-7B229E461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CF1A-0748-40D3-AAAC-08CE6AC62D5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2D706-BF8C-2C4D-31EB-EADCEE8E2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47D67-8E3C-F753-EF30-9B389CFAE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4E79D-7E48-4E80-A103-3E466FD26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089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1FD90-A91F-DA81-8A45-CA47522ED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34B12-CFC3-6B60-93BE-36E586CB6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D7EE44-680A-7117-3458-FDE5DAE05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905D8-7AAF-B825-A6A1-26475513F9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7F3A8B-9D48-6151-0A9B-24AC996E25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DAE42C-636B-1011-002E-40E32D79E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CF1A-0748-40D3-AAAC-08CE6AC62D5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E3BFD1-5E79-324B-E476-8A45369BC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E9E1D1-014B-2185-3E6C-8C002A320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4E79D-7E48-4E80-A103-3E466FD26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526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26483-14B5-73C9-1BDE-096333172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3F19B3-AEF3-D771-E4D7-8B433F452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CF1A-0748-40D3-AAAC-08CE6AC62D5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CBC286-0E0E-99E1-FDA5-B749B0AF9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C8DD5C-ADE5-6654-B557-44FBD70A9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4E79D-7E48-4E80-A103-3E466FD26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191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B620FF-249A-461D-E5DA-47CD6B535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CF1A-0748-40D3-AAAC-08CE6AC62D5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8A3345-413D-A631-BC7D-A2575ECFF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181F6-4EF1-8D6F-EC7A-9ECD9E4C8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4E79D-7E48-4E80-A103-3E466FD26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668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C6A92-FD45-613F-5CCA-3573DBD21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857D-0470-44AF-55D3-44E38A640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63518F-273B-B311-C46E-F29DAEB64F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AC9257-83BF-B00F-1CA2-B3D837FB4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CF1A-0748-40D3-AAAC-08CE6AC62D5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2385B-801A-6716-2473-7D97BD463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2303A-262E-F439-AC52-C47AE39C0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4E79D-7E48-4E80-A103-3E466FD26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028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66EED-AAA4-9B75-C15D-06BAE9500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D63C1F-9B3C-DA4C-CD38-B6650FB3B6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0AA4A9-044E-B03E-0989-82402310F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4E25F-EEB7-33D3-4CE7-A9875CF42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CF1A-0748-40D3-AAAC-08CE6AC62D5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8F63F-EBBB-C07E-AE56-04FFEC39F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0D141-A17F-304B-720E-89995E99E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4E79D-7E48-4E80-A103-3E466FD26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29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5A779-AAD5-5704-3026-06152F334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8B003B-BCEE-AE2E-691F-D71838D45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543F0-5220-9F51-8262-169774BD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CF1A-0748-40D3-AAAC-08CE6AC62D5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B4CFE-1485-D4E0-F0B8-5FD15B152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F43B0-7594-F22C-8B66-E0C37ED4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4E79D-7E48-4E80-A103-3E466FD26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255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E649D7-89FE-2781-4476-9DE0C94E3C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236D6-D4D9-4F4F-08D2-BA030D53E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49167-F019-6529-571D-6674AFA87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CF1A-0748-40D3-AAAC-08CE6AC62D5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F89FD-6DC0-5245-CAF1-2E081D27C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CE434-B696-A9D5-E7F4-9F18B58AD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4E79D-7E48-4E80-A103-3E466FD26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194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2BFC66-0797-4B45-A7D6-746DDCDBC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86A50-FF9F-A892-E8A1-E059E9556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F37F9-D926-1733-C203-7FC4A2891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1CF1A-0748-40D3-AAAC-08CE6AC62D5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42310-D6F6-C4CA-1DA5-CDE4E11A00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7C131-30A0-76F3-78C1-994736993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4E79D-7E48-4E80-A103-3E466FD26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979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6CEE31-E43C-A992-942A-884D4D7812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1" t="31872" r="9042"/>
          <a:stretch>
            <a:fillRect/>
          </a:stretch>
        </p:blipFill>
        <p:spPr>
          <a:xfrm>
            <a:off x="575035" y="1287256"/>
            <a:ext cx="6900421" cy="21417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7E8CD4-6C07-D5FD-05A5-A553690CDD6F}"/>
              </a:ext>
            </a:extLst>
          </p:cNvPr>
          <p:cNvSpPr txBox="1"/>
          <p:nvPr/>
        </p:nvSpPr>
        <p:spPr>
          <a:xfrm>
            <a:off x="107545" y="141402"/>
            <a:ext cx="119769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Di-n-</a:t>
            </a:r>
            <a:r>
              <a:rPr lang="en-US" dirty="0" err="1"/>
              <a:t>octylphthalate</a:t>
            </a:r>
            <a:r>
              <a:rPr lang="en-US" dirty="0"/>
              <a:t> is a colorless, odorless, oily liquid that is used to keep plastics soft or more flexible (plasticizer). If you record the 1 H NMR spectra of this compound, you will find that the pattern for the aromatic protons look more complicated than expected. Could you explain the reason behind it?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C0CB28-0831-B942-F412-6DDD1FFE9424}"/>
              </a:ext>
            </a:extLst>
          </p:cNvPr>
          <p:cNvSpPr txBox="1"/>
          <p:nvPr/>
        </p:nvSpPr>
        <p:spPr>
          <a:xfrm>
            <a:off x="107545" y="3799102"/>
            <a:ext cx="11194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2. </a:t>
            </a:r>
            <a:r>
              <a:rPr lang="en-US" dirty="0"/>
              <a:t> In the ¹H NMR spectrum recorded at 293 K, an organic compound (C₃H₇NO) exhibited signals at δ 7.8 (1H, s), 2.8 (3H, s), and 2.6 (3H, s). What is the compound?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1F519-6E0D-D2BE-F61E-9408B5702C6F}"/>
              </a:ext>
            </a:extLst>
          </p:cNvPr>
          <p:cNvSpPr txBox="1"/>
          <p:nvPr/>
        </p:nvSpPr>
        <p:spPr>
          <a:xfrm>
            <a:off x="116972" y="4732256"/>
            <a:ext cx="11302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3. </a:t>
            </a:r>
            <a:r>
              <a:rPr lang="en-US"/>
              <a:t>An aromatic compound which is mono-substituted with molecular formula </a:t>
            </a:r>
            <a:r>
              <a:rPr lang="en-US" b="1"/>
              <a:t>C₉H₁₂</a:t>
            </a:r>
            <a:r>
              <a:rPr lang="en-US"/>
              <a:t> shows three ¹H NMR signals at δ 7.2 (5H), 2.9 (1H), and 1.2 (6H). Predict its structure and assign the peaks.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794C50-AEEA-96FB-52B7-374F7FBC353A}"/>
              </a:ext>
            </a:extLst>
          </p:cNvPr>
          <p:cNvSpPr txBox="1"/>
          <p:nvPr/>
        </p:nvSpPr>
        <p:spPr>
          <a:xfrm>
            <a:off x="107545" y="5665410"/>
            <a:ext cx="11067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4. </a:t>
            </a:r>
            <a:r>
              <a:rPr lang="en-US" dirty="0"/>
              <a:t>Predict the splitting pattern of ¹³C NMR spectrum of </a:t>
            </a:r>
            <a:r>
              <a:rPr lang="en-US" dirty="0" err="1"/>
              <a:t>TiCl</a:t>
            </a:r>
            <a:r>
              <a:rPr lang="en-US" dirty="0"/>
              <a:t>₃(CDH₂)? Assume that it only couples with H and D, and ¹J(C–H) &gt; ¹J(C–D).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B78F30-6113-5C10-4954-C2697FDED722}"/>
              </a:ext>
            </a:extLst>
          </p:cNvPr>
          <p:cNvSpPr txBox="1"/>
          <p:nvPr/>
        </p:nvSpPr>
        <p:spPr>
          <a:xfrm>
            <a:off x="9825087" y="4122267"/>
            <a:ext cx="1157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(CSIR NET)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536C74-DF14-2EB1-F66D-B27D08EAE16F}"/>
              </a:ext>
            </a:extLst>
          </p:cNvPr>
          <p:cNvSpPr txBox="1"/>
          <p:nvPr/>
        </p:nvSpPr>
        <p:spPr>
          <a:xfrm>
            <a:off x="9984331" y="5988575"/>
            <a:ext cx="1317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(CSIR NET)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5728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0A26DBE-BD98-9D73-84D1-1905AE9DB4EE}"/>
              </a:ext>
            </a:extLst>
          </p:cNvPr>
          <p:cNvGrpSpPr/>
          <p:nvPr/>
        </p:nvGrpSpPr>
        <p:grpSpPr>
          <a:xfrm>
            <a:off x="0" y="419156"/>
            <a:ext cx="6315959" cy="4651423"/>
            <a:chOff x="395926" y="386499"/>
            <a:chExt cx="6315959" cy="465142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428CA68-26D9-AA03-3959-8130DA2A47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9396" y="697602"/>
              <a:ext cx="5862489" cy="434032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0D1DA9-B5C2-0EDF-95A3-E483ED3077E3}"/>
                </a:ext>
              </a:extLst>
            </p:cNvPr>
            <p:cNvSpPr/>
            <p:nvPr/>
          </p:nvSpPr>
          <p:spPr>
            <a:xfrm>
              <a:off x="395926" y="386499"/>
              <a:ext cx="1253765" cy="147058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B9CFB4C-602F-74FF-8A22-39B3D6C2A3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9127" y="881767"/>
              <a:ext cx="2361128" cy="1985995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782980E-A756-5AD2-ED44-3906FD16A90D}"/>
                </a:ext>
              </a:extLst>
            </p:cNvPr>
            <p:cNvSpPr/>
            <p:nvPr/>
          </p:nvSpPr>
          <p:spPr>
            <a:xfrm>
              <a:off x="952107" y="3035431"/>
              <a:ext cx="612742" cy="28280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D4D2437-25D6-EA28-EB9E-41122F2DCB2F}"/>
                </a:ext>
              </a:extLst>
            </p:cNvPr>
            <p:cNvSpPr/>
            <p:nvPr/>
          </p:nvSpPr>
          <p:spPr>
            <a:xfrm>
              <a:off x="1564849" y="3429000"/>
              <a:ext cx="339365" cy="28280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F861325-F62A-A6D0-EE04-7086C33AA122}"/>
                </a:ext>
              </a:extLst>
            </p:cNvPr>
            <p:cNvSpPr/>
            <p:nvPr/>
          </p:nvSpPr>
          <p:spPr>
            <a:xfrm>
              <a:off x="4722829" y="3780148"/>
              <a:ext cx="405352" cy="273378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5686171-DD83-2627-CD6C-9635DA4C7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-25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</a:extLst>
            </a:blip>
            <a:srcRect l="9281" t="8769" r="7977"/>
            <a:stretch>
              <a:fillRect/>
            </a:stretch>
          </p:blipFill>
          <p:spPr>
            <a:xfrm>
              <a:off x="4258781" y="2460395"/>
              <a:ext cx="1333448" cy="1432876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BEFAA14-09B1-7C3D-4515-3325CD5BBE48}"/>
                </a:ext>
              </a:extLst>
            </p:cNvPr>
            <p:cNvSpPr/>
            <p:nvPr/>
          </p:nvSpPr>
          <p:spPr>
            <a:xfrm>
              <a:off x="2196445" y="989814"/>
              <a:ext cx="273378" cy="35821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363D61D-05F8-0D51-41FA-C17C0BC58340}"/>
                </a:ext>
              </a:extLst>
            </p:cNvPr>
            <p:cNvSpPr/>
            <p:nvPr/>
          </p:nvSpPr>
          <p:spPr>
            <a:xfrm>
              <a:off x="5840612" y="4534293"/>
              <a:ext cx="47134" cy="42420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7637B0F-2B27-922A-FDEC-8B79C7A4FA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23422" y="697602"/>
              <a:ext cx="481513" cy="1338606"/>
            </a:xfrm>
            <a:prstGeom prst="rect">
              <a:avLst/>
            </a:prstGeom>
          </p:spPr>
        </p:pic>
      </p:grp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897FE8EA-AA62-0CB5-52F5-EC0EF4EE3028}"/>
              </a:ext>
            </a:extLst>
          </p:cNvPr>
          <p:cNvGraphicFramePr>
            <a:graphicFrameLocks noGrp="1"/>
          </p:cNvGraphicFramePr>
          <p:nvPr/>
        </p:nvGraphicFramePr>
        <p:xfrm>
          <a:off x="228144" y="5373279"/>
          <a:ext cx="5867856" cy="1338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952">
                  <a:extLst>
                    <a:ext uri="{9D8B030D-6E8A-4147-A177-3AD203B41FA5}">
                      <a16:colId xmlns:a16="http://schemas.microsoft.com/office/drawing/2014/main" val="2803900617"/>
                    </a:ext>
                  </a:extLst>
                </a:gridCol>
                <a:gridCol w="1955952">
                  <a:extLst>
                    <a:ext uri="{9D8B030D-6E8A-4147-A177-3AD203B41FA5}">
                      <a16:colId xmlns:a16="http://schemas.microsoft.com/office/drawing/2014/main" val="1920037969"/>
                    </a:ext>
                  </a:extLst>
                </a:gridCol>
                <a:gridCol w="1955952">
                  <a:extLst>
                    <a:ext uri="{9D8B030D-6E8A-4147-A177-3AD203B41FA5}">
                      <a16:colId xmlns:a16="http://schemas.microsoft.com/office/drawing/2014/main" val="475430103"/>
                    </a:ext>
                  </a:extLst>
                </a:gridCol>
              </a:tblGrid>
              <a:tr h="267721">
                <a:tc>
                  <a:txBody>
                    <a:bodyPr/>
                    <a:lstStyle/>
                    <a:p>
                      <a:r>
                        <a:rPr lang="en-IN" sz="1300" dirty="0"/>
                        <a:t>Normal Carbon</a:t>
                      </a:r>
                    </a:p>
                  </a:txBody>
                  <a:tcPr marL="66013" marR="66013" marT="33007" marB="33007"/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DEPT-135</a:t>
                      </a:r>
                    </a:p>
                  </a:txBody>
                  <a:tcPr marL="66013" marR="66013" marT="33007" marB="3300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dirty="0"/>
                        <a:t>DEPT-90</a:t>
                      </a:r>
                    </a:p>
                  </a:txBody>
                  <a:tcPr marL="66013" marR="66013" marT="33007" marB="33007"/>
                </a:tc>
                <a:extLst>
                  <a:ext uri="{0D108BD9-81ED-4DB2-BD59-A6C34878D82A}">
                    <a16:rowId xmlns:a16="http://schemas.microsoft.com/office/drawing/2014/main" val="1031084071"/>
                  </a:ext>
                </a:extLst>
              </a:tr>
              <a:tr h="267721">
                <a:tc>
                  <a:txBody>
                    <a:bodyPr/>
                    <a:lstStyle/>
                    <a:p>
                      <a:r>
                        <a:rPr lang="en-IN" sz="1300" dirty="0"/>
                        <a:t>26</a:t>
                      </a:r>
                    </a:p>
                  </a:txBody>
                  <a:tcPr marL="66013" marR="66013" marT="33007" marB="33007"/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Positive</a:t>
                      </a:r>
                    </a:p>
                  </a:txBody>
                  <a:tcPr marL="66013" marR="66013" marT="33007" marB="33007"/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No peak</a:t>
                      </a:r>
                    </a:p>
                  </a:txBody>
                  <a:tcPr marL="66013" marR="66013" marT="33007" marB="33007"/>
                </a:tc>
                <a:extLst>
                  <a:ext uri="{0D108BD9-81ED-4DB2-BD59-A6C34878D82A}">
                    <a16:rowId xmlns:a16="http://schemas.microsoft.com/office/drawing/2014/main" val="291716479"/>
                  </a:ext>
                </a:extLst>
              </a:tr>
              <a:tr h="267721">
                <a:tc>
                  <a:txBody>
                    <a:bodyPr/>
                    <a:lstStyle/>
                    <a:p>
                      <a:r>
                        <a:rPr lang="en-IN" sz="1300" dirty="0"/>
                        <a:t>34</a:t>
                      </a:r>
                    </a:p>
                  </a:txBody>
                  <a:tcPr marL="66013" marR="66013" marT="33007" marB="33007"/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Positive</a:t>
                      </a:r>
                    </a:p>
                  </a:txBody>
                  <a:tcPr marL="66013" marR="66013" marT="33007" marB="33007"/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Positive</a:t>
                      </a:r>
                    </a:p>
                  </a:txBody>
                  <a:tcPr marL="66013" marR="66013" marT="33007" marB="33007"/>
                </a:tc>
                <a:extLst>
                  <a:ext uri="{0D108BD9-81ED-4DB2-BD59-A6C34878D82A}">
                    <a16:rowId xmlns:a16="http://schemas.microsoft.com/office/drawing/2014/main" val="1324811763"/>
                  </a:ext>
                </a:extLst>
              </a:tr>
              <a:tr h="267721">
                <a:tc>
                  <a:txBody>
                    <a:bodyPr/>
                    <a:lstStyle/>
                    <a:p>
                      <a:r>
                        <a:rPr lang="en-IN" sz="1300" dirty="0"/>
                        <a:t>126.6</a:t>
                      </a:r>
                    </a:p>
                  </a:txBody>
                  <a:tcPr marL="66013" marR="66013" marT="33007" marB="33007"/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Positive</a:t>
                      </a:r>
                    </a:p>
                  </a:txBody>
                  <a:tcPr marL="66013" marR="66013" marT="33007" marB="33007"/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Positive</a:t>
                      </a:r>
                    </a:p>
                  </a:txBody>
                  <a:tcPr marL="66013" marR="66013" marT="33007" marB="33007"/>
                </a:tc>
                <a:extLst>
                  <a:ext uri="{0D108BD9-81ED-4DB2-BD59-A6C34878D82A}">
                    <a16:rowId xmlns:a16="http://schemas.microsoft.com/office/drawing/2014/main" val="977711331"/>
                  </a:ext>
                </a:extLst>
              </a:tr>
              <a:tr h="267721">
                <a:tc>
                  <a:txBody>
                    <a:bodyPr/>
                    <a:lstStyle/>
                    <a:p>
                      <a:r>
                        <a:rPr lang="en-IN" sz="1300" dirty="0"/>
                        <a:t>130.5</a:t>
                      </a:r>
                    </a:p>
                  </a:txBody>
                  <a:tcPr marL="66013" marR="66013" marT="33007" marB="33007"/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Positive</a:t>
                      </a:r>
                    </a:p>
                  </a:txBody>
                  <a:tcPr marL="66013" marR="66013" marT="33007" marB="33007"/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Positive</a:t>
                      </a:r>
                    </a:p>
                  </a:txBody>
                  <a:tcPr marL="66013" marR="66013" marT="33007" marB="33007"/>
                </a:tc>
                <a:extLst>
                  <a:ext uri="{0D108BD9-81ED-4DB2-BD59-A6C34878D82A}">
                    <a16:rowId xmlns:a16="http://schemas.microsoft.com/office/drawing/2014/main" val="3581185106"/>
                  </a:ext>
                </a:extLst>
              </a:tr>
            </a:tbl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DE63BEC6-E13D-BD69-38C4-EB24093512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2713" y="635710"/>
            <a:ext cx="4588440" cy="488768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61A634CB-2C84-D9F6-BF34-F5016F553FF8}"/>
              </a:ext>
            </a:extLst>
          </p:cNvPr>
          <p:cNvSpPr/>
          <p:nvPr/>
        </p:nvSpPr>
        <p:spPr>
          <a:xfrm>
            <a:off x="7032171" y="3744461"/>
            <a:ext cx="598715" cy="3417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95C16CF-2228-6A3B-6AF2-E389033D17FC}"/>
              </a:ext>
            </a:extLst>
          </p:cNvPr>
          <p:cNvSpPr/>
          <p:nvPr/>
        </p:nvSpPr>
        <p:spPr>
          <a:xfrm>
            <a:off x="8066314" y="2220686"/>
            <a:ext cx="413657" cy="37011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FA9B4F-FFAA-F136-BAF0-4308D6A787D7}"/>
              </a:ext>
            </a:extLst>
          </p:cNvPr>
          <p:cNvSpPr/>
          <p:nvPr/>
        </p:nvSpPr>
        <p:spPr>
          <a:xfrm>
            <a:off x="10863943" y="635710"/>
            <a:ext cx="315686" cy="2787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0EDB05-0466-8A4B-1079-A3EB2CD78161}"/>
              </a:ext>
            </a:extLst>
          </p:cNvPr>
          <p:cNvSpPr txBox="1"/>
          <p:nvPr/>
        </p:nvSpPr>
        <p:spPr>
          <a:xfrm>
            <a:off x="0" y="131667"/>
            <a:ext cx="12040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5. </a:t>
            </a:r>
            <a:r>
              <a:rPr lang="en-IN" baseline="30000" dirty="0"/>
              <a:t>1</a:t>
            </a:r>
            <a:r>
              <a:rPr lang="en-IN" dirty="0"/>
              <a:t>H and </a:t>
            </a:r>
            <a:r>
              <a:rPr lang="en-IN" baseline="30000" dirty="0"/>
              <a:t>13</a:t>
            </a:r>
            <a:r>
              <a:rPr lang="en-IN" dirty="0"/>
              <a:t>C NMR is given of a compound with molecular formula C</a:t>
            </a:r>
            <a:r>
              <a:rPr lang="en-IN" baseline="-25000" dirty="0"/>
              <a:t>10</a:t>
            </a:r>
            <a:r>
              <a:rPr lang="en-IN" dirty="0"/>
              <a:t>H</a:t>
            </a:r>
            <a:r>
              <a:rPr lang="en-IN" baseline="-25000" dirty="0"/>
              <a:t>12</a:t>
            </a:r>
            <a:r>
              <a:rPr lang="en-IN" dirty="0"/>
              <a:t>O</a:t>
            </a:r>
            <a:r>
              <a:rPr lang="en-IN" baseline="-25000" dirty="0"/>
              <a:t>2 </a:t>
            </a:r>
            <a:r>
              <a:rPr lang="en-IN" baseline="30000" dirty="0"/>
              <a:t> </a:t>
            </a:r>
            <a:r>
              <a:rPr lang="en-IN" dirty="0"/>
              <a:t>and it has one exchangeable proton near 12 ppm .</a:t>
            </a:r>
          </a:p>
          <a:p>
            <a:r>
              <a:rPr lang="en-IN" dirty="0"/>
              <a:t> What is the structure of the compound.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429E90-2ADC-25E3-E549-390B76423E3E}"/>
              </a:ext>
            </a:extLst>
          </p:cNvPr>
          <p:cNvSpPr txBox="1"/>
          <p:nvPr/>
        </p:nvSpPr>
        <p:spPr>
          <a:xfrm>
            <a:off x="710836" y="4440128"/>
            <a:ext cx="5157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2H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5233D9-5998-4CBF-580B-EC7F33DA33F2}"/>
              </a:ext>
            </a:extLst>
          </p:cNvPr>
          <p:cNvSpPr txBox="1"/>
          <p:nvPr/>
        </p:nvSpPr>
        <p:spPr>
          <a:xfrm>
            <a:off x="1151204" y="4440127"/>
            <a:ext cx="5157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2H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19E42F-14C4-0EA9-804E-A2BCA817F631}"/>
              </a:ext>
            </a:extLst>
          </p:cNvPr>
          <p:cNvSpPr txBox="1"/>
          <p:nvPr/>
        </p:nvSpPr>
        <p:spPr>
          <a:xfrm>
            <a:off x="4423627" y="4443737"/>
            <a:ext cx="5157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1H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01CFE9-4077-B6F9-EFA9-715850C03E61}"/>
              </a:ext>
            </a:extLst>
          </p:cNvPr>
          <p:cNvSpPr txBox="1"/>
          <p:nvPr/>
        </p:nvSpPr>
        <p:spPr>
          <a:xfrm>
            <a:off x="5664258" y="4435062"/>
            <a:ext cx="5157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6H</a:t>
            </a:r>
          </a:p>
        </p:txBody>
      </p:sp>
    </p:spTree>
    <p:extLst>
      <p:ext uri="{BB962C8B-B14F-4D97-AF65-F5344CB8AC3E}">
        <p14:creationId xmlns:p14="http://schemas.microsoft.com/office/powerpoint/2010/main" val="3624500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3D146E-95C6-E278-F92F-FB4A4F511284}"/>
              </a:ext>
            </a:extLst>
          </p:cNvPr>
          <p:cNvSpPr txBox="1"/>
          <p:nvPr/>
        </p:nvSpPr>
        <p:spPr>
          <a:xfrm>
            <a:off x="0" y="103108"/>
            <a:ext cx="10721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6. Continuing with same molecular formula (C</a:t>
            </a:r>
            <a:r>
              <a:rPr lang="en-IN" baseline="-25000" dirty="0"/>
              <a:t>10</a:t>
            </a:r>
            <a:r>
              <a:rPr lang="en-IN" dirty="0"/>
              <a:t>H</a:t>
            </a:r>
            <a:r>
              <a:rPr lang="en-IN" baseline="-25000" dirty="0"/>
              <a:t>12</a:t>
            </a:r>
            <a:r>
              <a:rPr lang="en-IN" dirty="0"/>
              <a:t>O</a:t>
            </a:r>
            <a:r>
              <a:rPr lang="en-IN" baseline="-25000" dirty="0"/>
              <a:t>2 </a:t>
            </a:r>
            <a:r>
              <a:rPr lang="en-IN" dirty="0"/>
              <a:t>) another compound’s NMR is given. Suggest the structure.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64B496-A185-5166-A6BE-BA32375257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87" r="2311"/>
          <a:stretch>
            <a:fillRect/>
          </a:stretch>
        </p:blipFill>
        <p:spPr>
          <a:xfrm>
            <a:off x="634790" y="957944"/>
            <a:ext cx="5135829" cy="367937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847F261-1060-AA4F-FB50-391990D904A6}"/>
              </a:ext>
            </a:extLst>
          </p:cNvPr>
          <p:cNvSpPr/>
          <p:nvPr/>
        </p:nvSpPr>
        <p:spPr>
          <a:xfrm>
            <a:off x="849086" y="870857"/>
            <a:ext cx="653143" cy="65314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B4A5CF-B938-4A94-F552-11DA1C50367A}"/>
              </a:ext>
            </a:extLst>
          </p:cNvPr>
          <p:cNvSpPr/>
          <p:nvPr/>
        </p:nvSpPr>
        <p:spPr>
          <a:xfrm>
            <a:off x="762000" y="3276600"/>
            <a:ext cx="653143" cy="152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339814-61E7-BA74-D21E-48E02D186D7E}"/>
              </a:ext>
            </a:extLst>
          </p:cNvPr>
          <p:cNvSpPr/>
          <p:nvPr/>
        </p:nvSpPr>
        <p:spPr>
          <a:xfrm>
            <a:off x="2394857" y="3429000"/>
            <a:ext cx="533400" cy="2721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A0A2A6-FB2E-8EEE-3FD3-C4B027AF2033}"/>
              </a:ext>
            </a:extLst>
          </p:cNvPr>
          <p:cNvSpPr/>
          <p:nvPr/>
        </p:nvSpPr>
        <p:spPr>
          <a:xfrm>
            <a:off x="555171" y="3352800"/>
            <a:ext cx="533400" cy="2721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847974-719F-F51E-2FEF-A64D96FD55C2}"/>
              </a:ext>
            </a:extLst>
          </p:cNvPr>
          <p:cNvSpPr/>
          <p:nvPr/>
        </p:nvSpPr>
        <p:spPr>
          <a:xfrm>
            <a:off x="1041399" y="3713843"/>
            <a:ext cx="152400" cy="9875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54075D8-D134-EB6A-500F-85BD7E50DD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44" t="44163"/>
          <a:stretch>
            <a:fillRect/>
          </a:stretch>
        </p:blipFill>
        <p:spPr>
          <a:xfrm>
            <a:off x="432581" y="1120142"/>
            <a:ext cx="3142202" cy="140794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B49A235-6043-BEEF-7B10-A65888342332}"/>
              </a:ext>
            </a:extLst>
          </p:cNvPr>
          <p:cNvSpPr/>
          <p:nvPr/>
        </p:nvSpPr>
        <p:spPr>
          <a:xfrm>
            <a:off x="2743200" y="1524000"/>
            <a:ext cx="185057" cy="2286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FC2EC02-6976-FF91-9CB7-D59214434C74}"/>
              </a:ext>
            </a:extLst>
          </p:cNvPr>
          <p:cNvSpPr/>
          <p:nvPr/>
        </p:nvSpPr>
        <p:spPr>
          <a:xfrm>
            <a:off x="584836" y="1655445"/>
            <a:ext cx="45719" cy="114300"/>
          </a:xfrm>
          <a:custGeom>
            <a:avLst/>
            <a:gdLst>
              <a:gd name="connsiteX0" fmla="*/ 0 w 3810"/>
              <a:gd name="connsiteY0" fmla="*/ 0 h 114300"/>
              <a:gd name="connsiteX1" fmla="*/ 3810 w 3810"/>
              <a:gd name="connsiteY1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10" h="114300">
                <a:moveTo>
                  <a:pt x="0" y="0"/>
                </a:moveTo>
                <a:cubicBezTo>
                  <a:pt x="1587" y="56197"/>
                  <a:pt x="3175" y="112395"/>
                  <a:pt x="3810" y="114300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CDB1E29-2E04-30D0-BD40-ACDBE53200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907" t="63846" r="37926"/>
          <a:stretch>
            <a:fillRect/>
          </a:stretch>
        </p:blipFill>
        <p:spPr>
          <a:xfrm>
            <a:off x="2394857" y="2571274"/>
            <a:ext cx="820798" cy="124132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F80DAFB-9285-C578-195A-CFC60E979CF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975" t="34119" r="44477"/>
          <a:stretch>
            <a:fillRect/>
          </a:stretch>
        </p:blipFill>
        <p:spPr>
          <a:xfrm flipH="1">
            <a:off x="5177920" y="1120142"/>
            <a:ext cx="313860" cy="171590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7AE2FB5-4672-1B8A-BA3A-7B584FB384F5}"/>
              </a:ext>
            </a:extLst>
          </p:cNvPr>
          <p:cNvSpPr txBox="1"/>
          <p:nvPr/>
        </p:nvSpPr>
        <p:spPr>
          <a:xfrm flipH="1">
            <a:off x="684303" y="4068628"/>
            <a:ext cx="357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2H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F58542-C457-B142-E3D1-8625CF829B58}"/>
              </a:ext>
            </a:extLst>
          </p:cNvPr>
          <p:cNvSpPr txBox="1"/>
          <p:nvPr/>
        </p:nvSpPr>
        <p:spPr>
          <a:xfrm flipH="1">
            <a:off x="959401" y="4025324"/>
            <a:ext cx="357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1H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180048-35F7-820E-AFFA-504552B72A5E}"/>
              </a:ext>
            </a:extLst>
          </p:cNvPr>
          <p:cNvSpPr txBox="1"/>
          <p:nvPr/>
        </p:nvSpPr>
        <p:spPr>
          <a:xfrm flipH="1">
            <a:off x="1105702" y="4061116"/>
            <a:ext cx="357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2H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0C57D2-606C-DF68-64E6-2B3B17D1E146}"/>
              </a:ext>
            </a:extLst>
          </p:cNvPr>
          <p:cNvSpPr txBox="1"/>
          <p:nvPr/>
        </p:nvSpPr>
        <p:spPr>
          <a:xfrm flipH="1">
            <a:off x="2657180" y="4053603"/>
            <a:ext cx="357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1H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D11A6B-19EC-AF8E-24D3-C99FBCF69DEA}"/>
              </a:ext>
            </a:extLst>
          </p:cNvPr>
          <p:cNvSpPr txBox="1"/>
          <p:nvPr/>
        </p:nvSpPr>
        <p:spPr>
          <a:xfrm flipH="1">
            <a:off x="5463036" y="4053604"/>
            <a:ext cx="357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6H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57679D7-9B4F-689A-4D75-D17D0C8208E2}"/>
              </a:ext>
            </a:extLst>
          </p:cNvPr>
          <p:cNvGrpSpPr/>
          <p:nvPr/>
        </p:nvGrpSpPr>
        <p:grpSpPr>
          <a:xfrm>
            <a:off x="6318657" y="870857"/>
            <a:ext cx="4913942" cy="3534087"/>
            <a:chOff x="1509072" y="122548"/>
            <a:chExt cx="9173855" cy="6597799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C7F95B9B-66B3-60C2-6428-61A19AC00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09072" y="137653"/>
              <a:ext cx="9173855" cy="6582694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5A7E73A-6662-240D-828D-85ED0648F477}"/>
                </a:ext>
              </a:extLst>
            </p:cNvPr>
            <p:cNvSpPr/>
            <p:nvPr/>
          </p:nvSpPr>
          <p:spPr>
            <a:xfrm>
              <a:off x="1649691" y="122548"/>
              <a:ext cx="1649690" cy="116044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D6430D2-E096-8D5A-2185-3F8F6AF6FCF7}"/>
                </a:ext>
              </a:extLst>
            </p:cNvPr>
            <p:cNvSpPr/>
            <p:nvPr/>
          </p:nvSpPr>
          <p:spPr>
            <a:xfrm>
              <a:off x="1649691" y="4543720"/>
              <a:ext cx="301657" cy="25579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A50671D-F950-64B3-E2A4-1EC08DECD4B3}"/>
                </a:ext>
              </a:extLst>
            </p:cNvPr>
            <p:cNvSpPr/>
            <p:nvPr/>
          </p:nvSpPr>
          <p:spPr>
            <a:xfrm>
              <a:off x="3685880" y="1913641"/>
              <a:ext cx="415560" cy="65763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80A37DB-165D-0503-AA2F-CA19DB70350F}"/>
                </a:ext>
              </a:extLst>
            </p:cNvPr>
            <p:cNvSpPr/>
            <p:nvPr/>
          </p:nvSpPr>
          <p:spPr>
            <a:xfrm>
              <a:off x="7334054" y="3949831"/>
              <a:ext cx="254523" cy="24622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BEB8353-1DA4-237D-A8C0-303DC5346296}"/>
                </a:ext>
              </a:extLst>
            </p:cNvPr>
            <p:cNvSpPr/>
            <p:nvPr/>
          </p:nvSpPr>
          <p:spPr>
            <a:xfrm>
              <a:off x="3574783" y="3812598"/>
              <a:ext cx="190474" cy="38345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171987C-2FD9-9B93-C908-EE698160A467}"/>
                </a:ext>
              </a:extLst>
            </p:cNvPr>
            <p:cNvSpPr/>
            <p:nvPr/>
          </p:nvSpPr>
          <p:spPr>
            <a:xfrm>
              <a:off x="3727183" y="4445587"/>
              <a:ext cx="128537" cy="38345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71DF2972-19FC-EEDF-0D72-9011942CCFDD}"/>
              </a:ext>
            </a:extLst>
          </p:cNvPr>
          <p:cNvGraphicFramePr>
            <a:graphicFrameLocks noGrp="1"/>
          </p:cNvGraphicFramePr>
          <p:nvPr/>
        </p:nvGraphicFramePr>
        <p:xfrm>
          <a:off x="395177" y="4668942"/>
          <a:ext cx="6359211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9737">
                  <a:extLst>
                    <a:ext uri="{9D8B030D-6E8A-4147-A177-3AD203B41FA5}">
                      <a16:colId xmlns:a16="http://schemas.microsoft.com/office/drawing/2014/main" val="3664600127"/>
                    </a:ext>
                  </a:extLst>
                </a:gridCol>
                <a:gridCol w="2119737">
                  <a:extLst>
                    <a:ext uri="{9D8B030D-6E8A-4147-A177-3AD203B41FA5}">
                      <a16:colId xmlns:a16="http://schemas.microsoft.com/office/drawing/2014/main" val="4184138568"/>
                    </a:ext>
                  </a:extLst>
                </a:gridCol>
                <a:gridCol w="2119737">
                  <a:extLst>
                    <a:ext uri="{9D8B030D-6E8A-4147-A177-3AD203B41FA5}">
                      <a16:colId xmlns:a16="http://schemas.microsoft.com/office/drawing/2014/main" val="2505139343"/>
                    </a:ext>
                  </a:extLst>
                </a:gridCol>
              </a:tblGrid>
              <a:tr h="308601">
                <a:tc>
                  <a:txBody>
                    <a:bodyPr/>
                    <a:lstStyle/>
                    <a:p>
                      <a:r>
                        <a:rPr lang="en-IN" dirty="0"/>
                        <a:t>Normal carbon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DEPT-135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DEPT-90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932901"/>
                  </a:ext>
                </a:extLst>
              </a:tr>
              <a:tr h="308601">
                <a:tc>
                  <a:txBody>
                    <a:bodyPr/>
                    <a:lstStyle/>
                    <a:p>
                      <a:r>
                        <a:rPr lang="en-IN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Peak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93141"/>
                  </a:ext>
                </a:extLst>
              </a:tr>
              <a:tr h="308601">
                <a:tc>
                  <a:txBody>
                    <a:bodyPr/>
                    <a:lstStyle/>
                    <a:p>
                      <a:r>
                        <a:rPr lang="en-IN" dirty="0"/>
                        <a:t>68.36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197091"/>
                  </a:ext>
                </a:extLst>
              </a:tr>
              <a:tr h="308601">
                <a:tc>
                  <a:txBody>
                    <a:bodyPr/>
                    <a:lstStyle/>
                    <a:p>
                      <a:r>
                        <a:rPr lang="en-IN" dirty="0"/>
                        <a:t>128.5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128786"/>
                  </a:ext>
                </a:extLst>
              </a:tr>
              <a:tr h="308601">
                <a:tc>
                  <a:txBody>
                    <a:bodyPr/>
                    <a:lstStyle/>
                    <a:p>
                      <a:r>
                        <a:rPr lang="en-IN" dirty="0"/>
                        <a:t>129.7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65159"/>
                  </a:ext>
                </a:extLst>
              </a:tr>
              <a:tr h="308601">
                <a:tc>
                  <a:txBody>
                    <a:bodyPr/>
                    <a:lstStyle/>
                    <a:p>
                      <a:r>
                        <a:rPr lang="en-IN" dirty="0"/>
                        <a:t>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67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084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15553</TotalTime>
  <Words>302</Words>
  <Application>Microsoft Office PowerPoint</Application>
  <PresentationFormat>Widescreen</PresentationFormat>
  <Paragraphs>51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PRATIP BHATTACHARYYA</dc:creator>
  <cp:lastModifiedBy>PRATIP BHATTACHARYYA</cp:lastModifiedBy>
  <cp:revision>4</cp:revision>
  <dcterms:created xsi:type="dcterms:W3CDTF">2026-02-23T11:28:25Z</dcterms:created>
  <dcterms:modified xsi:type="dcterms:W3CDTF">2026-03-09T04:30:13Z</dcterms:modified>
</cp:coreProperties>
</file>