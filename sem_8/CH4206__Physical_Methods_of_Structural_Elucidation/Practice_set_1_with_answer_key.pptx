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2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97E3-7174-EC7B-1A9D-3F7C7970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D29AF-C111-D9B0-7651-A115E5121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EAF9-68E2-1FF2-693B-33DAA37B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3E258-AD93-7FAF-0B17-7BF0FECC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A1F7-5143-C283-6A6C-B886DFC7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72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0344-F0BA-0C0D-1876-6E9359FEE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38CF-704E-61A6-15B2-7EBD7CDD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429E-2D87-7D05-1AB9-786E1AE8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715FB-2699-B05D-2340-5B264513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4EF5-D74D-EC01-CD28-D70D25FE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1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31CF-4DD5-40B1-3603-CEA67CDD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220BF-EFDE-B333-D4F4-26194EE49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097AF-9DF0-727C-E726-CA683012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425B6-795D-40B7-41C5-7CFB119B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43189-9218-6649-918A-776C8A0F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92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75EC-19BF-B7EB-41F3-C814B2A8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653BD-B2BF-B174-CA93-A7340B0C1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9A317-25E6-E657-48DF-885A6407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48F75-0B30-D354-7251-8A359C2E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7D09B-1EB7-9A2E-7BB6-0AD485BF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B8AF8-10CC-1087-CCC5-F64E2C61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17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A6D6-3C33-CE8C-DCFE-4A46D2D7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71E2B-6F6E-B5D7-FD8B-24B5E480C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90460-994A-B040-D7BF-C0E7FE1FF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16B3A-EA2A-BC0C-8BB6-F2B566B45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B82F9-BA88-56E3-E486-08A297171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A093E-E608-CCEA-1B5A-7981D12A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A56FA-6CB0-7BAE-66A2-000737D2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2802D-1696-3DBF-17FF-AC1352AA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85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20B5-D019-D817-EBCC-85557970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B4C40-3BC8-7994-AFDC-A5C78C69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87BD6-A492-9294-6312-7380836E5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3885C-97B1-2F52-BB50-E8047557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15FE-65E0-A36C-4FEB-C4D99DC9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A2799-82E8-9CFD-CA23-013DA7E7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6699B-CA87-A4B0-9FE2-918A0C65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95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E38A-474B-C9DC-65DB-B6359646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D984-8B12-C0A1-6ACD-52AFEADE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3A1C0-5E2B-27C3-D243-B6921B5B6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FE8A2-0599-32D3-F7F7-F08A7945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A8BB5-EC8C-A6D7-A747-167D9360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06304-E8C6-5B91-1BCB-296A7652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1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C65A-66AA-E62A-5071-9B76EA7C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DCE6F-6153-B40F-7CA1-E6894542B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8FE8C-9313-7F4A-9DC6-B3D24D2E0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5BB19-F5C5-AC0F-D882-B3C8C8FA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8F63E-0736-1EE8-BCE7-3AB8D2F1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802AC-AC2E-4A52-4571-1CD6607CC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91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9E16-171A-5A6B-3A70-3F7CD286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12AAA-D06C-5C35-7265-19C558B8B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08908-62FD-4631-EF8F-56B503807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FC5A4-FE12-65C0-C305-A5FBB73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997CE-2EA3-C28F-9A96-EA86203E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16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3B81D-FCDF-FC44-C0B7-6DB11F917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57E82-1ACD-D6F2-391F-0614BC8D8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61C81-8D9B-57BF-679C-19804592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5BA8-DE48-353C-8F5A-F071A2C3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E3E2-0700-BDFC-9528-20FE1682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9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DAB56-73EB-3894-27FF-3FD21899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2CBD0-9BAC-2F2E-4DA7-C30CEBA7D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36CF-8696-92A5-364A-6936260FE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1640F-4E84-46F5-856A-5E78C15C9EB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8C211-6FB5-675B-5CDA-B4EC2E520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E96E2-1F04-1A1C-A28D-E8AC1DACA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DB450-D857-49E2-9924-8834D8371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3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7" Type="http://schemas.openxmlformats.org/officeDocument/2006/relationships/oleObject" Target="../embeddings/oleObject8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DB92A-4110-961A-1D1F-E8C7ADFE8D0F}"/>
                  </a:ext>
                </a:extLst>
              </p:cNvPr>
              <p:cNvSpPr txBox="1"/>
              <p:nvPr/>
            </p:nvSpPr>
            <p:spPr>
              <a:xfrm>
                <a:off x="1941922" y="527901"/>
                <a:ext cx="856061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IN" dirty="0"/>
                  <a:t>What is the energy difference between two spin states at the magnetic field 5.87 T of </a:t>
                </a:r>
              </a:p>
              <a:p>
                <a:r>
                  <a:rPr lang="en-IN" dirty="0"/>
                  <a:t>               a) </a:t>
                </a:r>
                <a:r>
                  <a:rPr lang="en-IN" baseline="30000" dirty="0"/>
                  <a:t>1</a:t>
                </a:r>
                <a:r>
                  <a:rPr lang="en-IN" dirty="0"/>
                  <a:t>H ( given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= 267.512 x 10</a:t>
                </a:r>
                <a:r>
                  <a:rPr lang="en-IN" baseline="30000" dirty="0"/>
                  <a:t>6</a:t>
                </a:r>
                <a:r>
                  <a:rPr lang="en-IN" dirty="0"/>
                  <a:t> radT</a:t>
                </a:r>
                <a:r>
                  <a:rPr lang="en-IN" baseline="30000" dirty="0"/>
                  <a:t>-1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  <a:r>
                  <a:rPr lang="en-IN" dirty="0"/>
                  <a:t>) </a:t>
                </a:r>
              </a:p>
              <a:p>
                <a:r>
                  <a:rPr lang="en-IN" dirty="0"/>
                  <a:t>               b) </a:t>
                </a:r>
                <a:r>
                  <a:rPr lang="en-IN" baseline="30000" dirty="0"/>
                  <a:t>13</a:t>
                </a:r>
                <a:r>
                  <a:rPr lang="en-IN" dirty="0"/>
                  <a:t>C ( given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 = 67.2640 x 10</a:t>
                </a:r>
                <a:r>
                  <a:rPr lang="en-IN" baseline="30000" dirty="0"/>
                  <a:t>6</a:t>
                </a:r>
                <a:r>
                  <a:rPr lang="en-IN" dirty="0"/>
                  <a:t> radT</a:t>
                </a:r>
                <a:r>
                  <a:rPr lang="en-IN" baseline="30000" dirty="0"/>
                  <a:t>-1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  <a:r>
                  <a:rPr lang="en-IN" dirty="0"/>
                  <a:t>)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DB92A-4110-961A-1D1F-E8C7ADFE8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922" y="527901"/>
                <a:ext cx="8560613" cy="923330"/>
              </a:xfrm>
              <a:prstGeom prst="rect">
                <a:avLst/>
              </a:prstGeom>
              <a:blipFill>
                <a:blip r:embed="rId2"/>
                <a:stretch>
                  <a:fillRect l="-641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43B1F8-BBCB-E104-2FEB-F88C7AF40BA9}"/>
                  </a:ext>
                </a:extLst>
              </p:cNvPr>
              <p:cNvSpPr txBox="1"/>
              <p:nvPr/>
            </p:nvSpPr>
            <p:spPr>
              <a:xfrm>
                <a:off x="4025246" y="2471510"/>
                <a:ext cx="1463285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h𝐵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43B1F8-BBCB-E104-2FEB-F88C7AF40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246" y="2471510"/>
                <a:ext cx="1463285" cy="618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71800A-23B2-1EB2-FF15-9A1335487AB7}"/>
              </a:ext>
            </a:extLst>
          </p:cNvPr>
          <p:cNvSpPr txBox="1"/>
          <p:nvPr/>
        </p:nvSpPr>
        <p:spPr>
          <a:xfrm>
            <a:off x="2083324" y="2102178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24B5C6-ECA2-841E-67DF-05E28A46B161}"/>
                  </a:ext>
                </a:extLst>
              </p:cNvPr>
              <p:cNvSpPr txBox="1"/>
              <p:nvPr/>
            </p:nvSpPr>
            <p:spPr>
              <a:xfrm>
                <a:off x="2405688" y="3610466"/>
                <a:ext cx="6814045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a) For </a:t>
                </a:r>
                <a:r>
                  <a:rPr lang="en-IN" baseline="30000" dirty="0"/>
                  <a:t>1</a:t>
                </a:r>
                <a:r>
                  <a:rPr lang="en-IN" dirty="0"/>
                  <a:t>H given,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= 267.512 x 10</a:t>
                </a:r>
                <a:r>
                  <a:rPr lang="en-IN" baseline="30000" dirty="0"/>
                  <a:t>6</a:t>
                </a:r>
                <a:r>
                  <a:rPr lang="en-IN" dirty="0"/>
                  <a:t> radT</a:t>
                </a:r>
                <a:r>
                  <a:rPr lang="en-IN" baseline="30000" dirty="0"/>
                  <a:t>-1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</a:p>
              <a:p>
                <a:r>
                  <a:rPr lang="en-IN" baseline="30000" dirty="0"/>
                  <a:t>          </a:t>
                </a:r>
                <a:r>
                  <a:rPr lang="en-IN" dirty="0"/>
                  <a:t>And we know that h =  6.62 x 10</a:t>
                </a:r>
                <a:r>
                  <a:rPr lang="en-IN" baseline="30000" dirty="0"/>
                  <a:t>-34</a:t>
                </a:r>
                <a:r>
                  <a:rPr lang="en-IN" dirty="0"/>
                  <a:t> J. s, B</a:t>
                </a:r>
                <a:r>
                  <a:rPr lang="en-IN" baseline="-25000" dirty="0"/>
                  <a:t>0</a:t>
                </a:r>
                <a:r>
                  <a:rPr lang="en-IN" dirty="0"/>
                  <a:t> = 5.87 T and  </a:t>
                </a:r>
                <a:r>
                  <a:rPr lang="el-GR" dirty="0"/>
                  <a:t>π</a:t>
                </a:r>
                <a:r>
                  <a:rPr lang="en-IN" dirty="0"/>
                  <a:t> = 3.14 rad</a:t>
                </a:r>
              </a:p>
              <a:p>
                <a:r>
                  <a:rPr lang="en-IN" dirty="0"/>
                  <a:t>      Putting the values we will get</a:t>
                </a:r>
              </a:p>
              <a:p>
                <a:r>
                  <a:rPr lang="en-IN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 smtClean="0"/>
                      <m:t>=</m:t>
                    </m:r>
                  </m:oMath>
                </a14:m>
                <a:r>
                  <a:rPr lang="en-IN" dirty="0"/>
                  <a:t> 1.66 x 10</a:t>
                </a:r>
                <a:r>
                  <a:rPr lang="en-IN" baseline="30000" dirty="0"/>
                  <a:t>-25</a:t>
                </a:r>
                <a:r>
                  <a:rPr lang="en-IN" dirty="0"/>
                  <a:t> J</a:t>
                </a:r>
              </a:p>
              <a:p>
                <a:endParaRPr lang="en-IN" dirty="0"/>
              </a:p>
              <a:p>
                <a:r>
                  <a:rPr lang="en-IN" dirty="0"/>
                  <a:t>b) Same for </a:t>
                </a:r>
                <a:r>
                  <a:rPr lang="en-IN" baseline="30000" dirty="0"/>
                  <a:t>13</a:t>
                </a:r>
                <a:r>
                  <a:rPr lang="en-IN" dirty="0"/>
                  <a:t>C,</a:t>
                </a:r>
              </a:p>
              <a:p>
                <a:r>
                  <a:rPr lang="en-IN" dirty="0"/>
                  <a:t>                            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 smtClean="0"/>
                      <m:t>=</m:t>
                    </m:r>
                  </m:oMath>
                </a14:m>
                <a:r>
                  <a:rPr lang="en-IN" dirty="0"/>
                  <a:t> 4.18 x 10</a:t>
                </a:r>
                <a:r>
                  <a:rPr lang="en-IN" baseline="30000" dirty="0"/>
                  <a:t>-26</a:t>
                </a:r>
                <a:r>
                  <a:rPr lang="en-IN" dirty="0"/>
                  <a:t> J  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24B5C6-ECA2-841E-67DF-05E28A46B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688" y="3610466"/>
                <a:ext cx="6814045" cy="2031325"/>
              </a:xfrm>
              <a:prstGeom prst="rect">
                <a:avLst/>
              </a:prstGeom>
              <a:blipFill>
                <a:blip r:embed="rId4"/>
                <a:stretch>
                  <a:fillRect l="-806" t="-1502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2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A6A10B-65EC-385B-95D5-DA4BD12DD91F}"/>
                  </a:ext>
                </a:extLst>
              </p:cNvPr>
              <p:cNvSpPr txBox="1"/>
              <p:nvPr/>
            </p:nvSpPr>
            <p:spPr>
              <a:xfrm>
                <a:off x="2042228" y="405353"/>
                <a:ext cx="828598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2. At what magnetic field strength do proton (</a:t>
                </a:r>
                <a:r>
                  <a:rPr lang="en-IN" baseline="30000" dirty="0"/>
                  <a:t>1</a:t>
                </a:r>
                <a:r>
                  <a:rPr lang="en-IN" dirty="0"/>
                  <a:t>H) </a:t>
                </a:r>
                <a:r>
                  <a:rPr lang="en-IN" dirty="0" err="1"/>
                  <a:t>precesses</a:t>
                </a:r>
                <a:r>
                  <a:rPr lang="en-IN" dirty="0"/>
                  <a:t> at the frequency 300 </a:t>
                </a:r>
                <a:r>
                  <a:rPr lang="en-IN" dirty="0" err="1"/>
                  <a:t>MHz.</a:t>
                </a:r>
                <a:endParaRPr lang="en-IN" dirty="0"/>
              </a:p>
              <a:p>
                <a:r>
                  <a:rPr lang="en-IN" dirty="0"/>
                  <a:t>     Given that for </a:t>
                </a:r>
                <a:r>
                  <a:rPr lang="en-IN" baseline="30000" dirty="0"/>
                  <a:t>1</a:t>
                </a:r>
                <a:r>
                  <a:rPr lang="en-IN" dirty="0"/>
                  <a:t>H,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= 267.512 x 10</a:t>
                </a:r>
                <a:r>
                  <a:rPr lang="en-IN" baseline="30000" dirty="0"/>
                  <a:t>6</a:t>
                </a:r>
                <a:r>
                  <a:rPr lang="en-IN" dirty="0"/>
                  <a:t> rad T</a:t>
                </a:r>
                <a:r>
                  <a:rPr lang="en-IN" baseline="30000" dirty="0"/>
                  <a:t>-1 </a:t>
                </a:r>
                <a:r>
                  <a:rPr lang="en-IN" dirty="0"/>
                  <a:t>s</a:t>
                </a:r>
                <a:r>
                  <a:rPr lang="en-IN" baseline="30000" dirty="0"/>
                  <a:t>-1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A6A10B-65EC-385B-95D5-DA4BD12DD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228" y="405353"/>
                <a:ext cx="8285986" cy="923330"/>
              </a:xfrm>
              <a:prstGeom prst="rect">
                <a:avLst/>
              </a:prstGeom>
              <a:blipFill>
                <a:blip r:embed="rId2"/>
                <a:stretch>
                  <a:fillRect l="-589" t="-3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412D6C-87E1-C498-495D-FF78DB388CF5}"/>
                  </a:ext>
                </a:extLst>
              </p:cNvPr>
              <p:cNvSpPr txBox="1"/>
              <p:nvPr/>
            </p:nvSpPr>
            <p:spPr>
              <a:xfrm>
                <a:off x="3195686" y="1753386"/>
                <a:ext cx="2463047" cy="806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Ans . </a:t>
                </a:r>
              </a:p>
              <a:p>
                <a:r>
                  <a:rPr lang="en-IN" dirty="0"/>
                  <a:t>  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𝜋𝜗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412D6C-87E1-C498-495D-FF78DB3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686" y="1753386"/>
                <a:ext cx="2463047" cy="806567"/>
              </a:xfrm>
              <a:prstGeom prst="rect">
                <a:avLst/>
              </a:prstGeom>
              <a:blipFill>
                <a:blip r:embed="rId3"/>
                <a:stretch>
                  <a:fillRect l="-1980" t="-4545" b="-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4C7D00-F36C-FB57-77D1-20D1D36B1EDE}"/>
                  </a:ext>
                </a:extLst>
              </p:cNvPr>
              <p:cNvSpPr txBox="1"/>
              <p:nvPr/>
            </p:nvSpPr>
            <p:spPr>
              <a:xfrm>
                <a:off x="3761418" y="3186260"/>
                <a:ext cx="3794629" cy="246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Given,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 = 267.512 x 10</a:t>
                </a:r>
                <a:r>
                  <a:rPr lang="en-IN" baseline="30000" dirty="0"/>
                  <a:t>6</a:t>
                </a:r>
                <a:r>
                  <a:rPr lang="en-IN" dirty="0"/>
                  <a:t> rad T</a:t>
                </a:r>
                <a:r>
                  <a:rPr lang="en-IN" baseline="30000" dirty="0"/>
                  <a:t>-1 </a:t>
                </a:r>
                <a:r>
                  <a:rPr lang="en-IN" dirty="0"/>
                  <a:t>s</a:t>
                </a:r>
                <a:r>
                  <a:rPr lang="en-IN" baseline="30000" dirty="0"/>
                  <a:t>-1 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IN" dirty="0"/>
                  <a:t> = 300 x 10</a:t>
                </a:r>
                <a:r>
                  <a:rPr lang="en-IN" baseline="30000" dirty="0"/>
                  <a:t>6</a:t>
                </a:r>
                <a:r>
                  <a:rPr lang="en-IN" dirty="0"/>
                  <a:t> s</a:t>
                </a:r>
                <a:r>
                  <a:rPr lang="en-IN" baseline="30000" dirty="0"/>
                  <a:t>-1</a:t>
                </a:r>
              </a:p>
              <a:p>
                <a:r>
                  <a:rPr lang="en-IN" baseline="30000" dirty="0"/>
                  <a:t>                    </a:t>
                </a:r>
                <a:r>
                  <a:rPr lang="el-GR" dirty="0"/>
                  <a:t>π</a:t>
                </a:r>
                <a:r>
                  <a:rPr lang="en-IN" dirty="0"/>
                  <a:t> = 3.14 rad</a:t>
                </a:r>
              </a:p>
              <a:p>
                <a:endParaRPr lang="en-IN" dirty="0"/>
              </a:p>
              <a:p>
                <a:r>
                  <a:rPr lang="en-IN" dirty="0"/>
                  <a:t>Putting the values in equation,</a:t>
                </a:r>
              </a:p>
              <a:p>
                <a:r>
                  <a:rPr lang="en-IN" dirty="0"/>
                  <a:t>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3.14 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𝑟𝑎𝑑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dirty="0" smtClean="0"/>
                          <m:t>300 </m:t>
                        </m:r>
                        <m:r>
                          <m:rPr>
                            <m:nor/>
                          </m:rPr>
                          <a:rPr lang="en-IN" dirty="0" smtClean="0"/>
                          <m:t>x</m:t>
                        </m:r>
                        <m:r>
                          <m:rPr>
                            <m:nor/>
                          </m:rPr>
                          <a:rPr lang="en-IN" dirty="0" smtClean="0"/>
                          <m:t> 106 </m:t>
                        </m:r>
                        <m:r>
                          <m:rPr>
                            <m:nor/>
                          </m:rPr>
                          <a:rPr lang="en-IN" dirty="0" smtClean="0"/>
                          <m:t>s</m:t>
                        </m:r>
                        <m:r>
                          <m:rPr>
                            <m:nor/>
                          </m:rPr>
                          <a:rPr lang="en-IN" baseline="30000" dirty="0" smtClean="0"/>
                          <m:t>−1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 smtClean="0"/>
                          <m:t>267.512 </m:t>
                        </m:r>
                        <m:r>
                          <m:rPr>
                            <m:nor/>
                          </m:rPr>
                          <a:rPr lang="en-IN" dirty="0" smtClean="0"/>
                          <m:t>x</m:t>
                        </m:r>
                        <m:r>
                          <m:rPr>
                            <m:nor/>
                          </m:rPr>
                          <a:rPr lang="en-IN" dirty="0" smtClean="0"/>
                          <m:t> 106 </m:t>
                        </m:r>
                        <m:r>
                          <m:rPr>
                            <m:nor/>
                          </m:rPr>
                          <a:rPr lang="en-IN" dirty="0" smtClean="0"/>
                          <m:t>rad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dirty="0" smtClean="0"/>
                          <m:t>T</m:t>
                        </m:r>
                        <m:r>
                          <m:rPr>
                            <m:nor/>
                          </m:rPr>
                          <a:rPr lang="en-IN" baseline="30000" dirty="0" smtClean="0"/>
                          <m:t>−1</m:t>
                        </m:r>
                        <m:r>
                          <m:rPr>
                            <m:nor/>
                          </m:rPr>
                          <a:rPr lang="en-IN" b="0" i="0" baseline="3000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dirty="0" smtClean="0"/>
                          <m:t>s</m:t>
                        </m:r>
                        <m:r>
                          <m:rPr>
                            <m:nor/>
                          </m:rPr>
                          <a:rPr lang="en-IN" baseline="30000" dirty="0" smtClean="0"/>
                          <m:t>−1</m:t>
                        </m:r>
                      </m:den>
                    </m:f>
                  </m:oMath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r>
                  <a:rPr lang="en-IN" dirty="0"/>
                  <a:t>            </a:t>
                </a:r>
              </a:p>
              <a:p>
                <a:r>
                  <a:rPr lang="en-IN" dirty="0"/>
                  <a:t>            B</a:t>
                </a:r>
                <a:r>
                  <a:rPr lang="en-IN" baseline="-25000" dirty="0"/>
                  <a:t>0</a:t>
                </a:r>
                <a:r>
                  <a:rPr lang="en-IN" dirty="0"/>
                  <a:t> = 7.04 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4C7D00-F36C-FB57-77D1-20D1D36B1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418" y="3186260"/>
                <a:ext cx="3794629" cy="2466637"/>
              </a:xfrm>
              <a:prstGeom prst="rect">
                <a:avLst/>
              </a:prstGeom>
              <a:blipFill>
                <a:blip r:embed="rId4"/>
                <a:stretch>
                  <a:fillRect l="-1284" t="-1485" b="-32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12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2FF1C4E-5C7B-E074-73DE-CACFCF9D32BD}"/>
              </a:ext>
            </a:extLst>
          </p:cNvPr>
          <p:cNvGrpSpPr/>
          <p:nvPr/>
        </p:nvGrpSpPr>
        <p:grpSpPr>
          <a:xfrm>
            <a:off x="1793389" y="966880"/>
            <a:ext cx="8168495" cy="3938778"/>
            <a:chOff x="2151607" y="2060389"/>
            <a:chExt cx="8168495" cy="39387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BD6E7C7-CA28-1238-F2E4-ED6B213FAC9C}"/>
                    </a:ext>
                  </a:extLst>
                </p:cNvPr>
                <p:cNvSpPr txBox="1"/>
                <p:nvPr/>
              </p:nvSpPr>
              <p:spPr>
                <a:xfrm>
                  <a:off x="2771480" y="2516957"/>
                  <a:ext cx="4292585" cy="5335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𝑝𝑝𝑚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𝐶h𝑒𝑚𝑖𝑐𝑎𝑙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𝑆h𝑖𝑓𝑡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𝐻𝑍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𝑂𝑠𝑐𝑖𝑙𝑙𝑎𝑡𝑜𝑟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𝑓𝑟𝑒𝑞𝑢𝑒𝑛𝑐𝑦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𝐻𝑧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lang="en-IN" dirty="0"/>
                    <a:t> x 10</a:t>
                  </a:r>
                  <a:r>
                    <a:rPr lang="en-IN" baseline="30000" dirty="0"/>
                    <a:t>6</a:t>
                  </a:r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BD6E7C7-CA28-1238-F2E4-ED6B213FA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1480" y="2516957"/>
                  <a:ext cx="4292585" cy="533544"/>
                </a:xfrm>
                <a:prstGeom prst="rect">
                  <a:avLst/>
                </a:prstGeom>
                <a:blipFill>
                  <a:blip r:embed="rId2"/>
                  <a:stretch>
                    <a:fillRect b="-574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4EB4BA8-1EC7-DC55-F2C5-A8D97CC8EEC3}"/>
                    </a:ext>
                  </a:extLst>
                </p:cNvPr>
                <p:cNvSpPr txBox="1"/>
                <p:nvPr/>
              </p:nvSpPr>
              <p:spPr>
                <a:xfrm>
                  <a:off x="3129699" y="3183903"/>
                  <a:ext cx="3012107" cy="762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So, </a:t>
                  </a:r>
                  <a14:m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240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106</m:t>
                          </m:r>
                        </m:den>
                      </m:f>
                    </m:oMath>
                  </a14:m>
                  <a:r>
                    <a:rPr lang="en-IN" dirty="0"/>
                    <a:t> x 10</a:t>
                  </a:r>
                  <a:r>
                    <a:rPr lang="en-IN" baseline="30000" dirty="0"/>
                    <a:t>6 </a:t>
                  </a:r>
                  <a:r>
                    <a:rPr lang="en-IN" dirty="0"/>
                    <a:t> = 4 ppm</a:t>
                  </a:r>
                  <a:endParaRPr lang="en-IN" baseline="30000" dirty="0"/>
                </a:p>
                <a:p>
                  <a:endParaRPr lang="en-IN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4EB4BA8-1EC7-DC55-F2C5-A8D97CC8E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699" y="3183903"/>
                  <a:ext cx="3012107" cy="762773"/>
                </a:xfrm>
                <a:prstGeom prst="rect">
                  <a:avLst/>
                </a:prstGeom>
                <a:blipFill>
                  <a:blip r:embed="rId3"/>
                  <a:stretch>
                    <a:fillRect l="-1822" r="-182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D8E6C9-63ED-F40D-6056-143327556886}"/>
                </a:ext>
              </a:extLst>
            </p:cNvPr>
            <p:cNvSpPr txBox="1"/>
            <p:nvPr/>
          </p:nvSpPr>
          <p:spPr>
            <a:xfrm>
              <a:off x="2189269" y="2060389"/>
              <a:ext cx="4122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3. </a:t>
              </a:r>
            </a:p>
            <a:p>
              <a:r>
                <a:rPr lang="en-IN" dirty="0"/>
                <a:t>a)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088546-491F-25AE-EFB3-EAC754F09CCF}"/>
                </a:ext>
              </a:extLst>
            </p:cNvPr>
            <p:cNvSpPr txBox="1"/>
            <p:nvPr/>
          </p:nvSpPr>
          <p:spPr>
            <a:xfrm>
              <a:off x="2151607" y="4034672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b)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2F96705-BF12-9950-5A3C-34261DBD1B8E}"/>
                    </a:ext>
                  </a:extLst>
                </p:cNvPr>
                <p:cNvSpPr txBox="1"/>
                <p:nvPr/>
              </p:nvSpPr>
              <p:spPr>
                <a:xfrm>
                  <a:off x="2903456" y="4421171"/>
                  <a:ext cx="7416646" cy="15779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Irrespective of the instrument the </a:t>
                  </a:r>
                  <a:r>
                    <a:rPr lang="el-GR" dirty="0"/>
                    <a:t>δ</a:t>
                  </a:r>
                  <a:r>
                    <a:rPr lang="en-IN" dirty="0"/>
                    <a:t> value of any proton will remain constant.</a:t>
                  </a:r>
                </a:p>
                <a:p>
                  <a:endParaRPr lang="en-IN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𝐶h𝑒𝑚𝑖𝑐𝑎𝑙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𝑆h𝑖𝑓𝑡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𝐻𝑍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𝑝𝑝𝑚</m:t>
                                </m:r>
                              </m:e>
                            </m:d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𝑂𝑠𝑐𝑖𝑙𝑙𝑎𝑡𝑜𝑟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𝑓𝑟𝑒𝑞𝑢𝑒𝑛𝑐𝑦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𝐻𝑧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nor/>
                              </m:rPr>
                              <a:rPr lang="en-IN" dirty="0" smtClean="0"/>
                              <m:t>10</m:t>
                            </m:r>
                            <m:r>
                              <m:rPr>
                                <m:nor/>
                              </m:rPr>
                              <a:rPr lang="en-IN" baseline="30000" dirty="0" smtClean="0"/>
                              <m:t>6 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  <a:p>
                  <a:r>
                    <a:rPr lang="en-IN" dirty="0"/>
                    <a:t>     So, </a:t>
                  </a:r>
                  <a14:m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𝐶h𝑒𝑚𝑖𝑐𝑎𝑙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𝑠h𝑖𝑓𝑡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300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106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 smtClean="0"/>
                            <m:t>10</m:t>
                          </m:r>
                          <m:r>
                            <m:rPr>
                              <m:nor/>
                            </m:rPr>
                            <a:rPr lang="en-IN" baseline="30000" dirty="0" smtClean="0"/>
                            <m:t>6</m:t>
                          </m:r>
                        </m:den>
                      </m:f>
                    </m:oMath>
                  </a14:m>
                  <a:r>
                    <a:rPr lang="en-IN" dirty="0"/>
                    <a:t> = 1200 Hz</a:t>
                  </a: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2F96705-BF12-9950-5A3C-34261DBD1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3456" y="4421171"/>
                  <a:ext cx="7416646" cy="1577996"/>
                </a:xfrm>
                <a:prstGeom prst="rect">
                  <a:avLst/>
                </a:prstGeom>
                <a:blipFill>
                  <a:blip r:embed="rId4"/>
                  <a:stretch>
                    <a:fillRect l="-740" t="-2317" b="-154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950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3398" y="344288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In the ¹H NMR spectrum, acetone (CH₃COCH₃) gives a singlet corresponding to 6 equivalent protons, while dichloromethane (</a:t>
            </a:r>
            <a:r>
              <a:rPr lang="en-US" dirty="0" err="1"/>
              <a:t>CH₂Cl</a:t>
            </a:r>
            <a:r>
              <a:rPr lang="en-US" dirty="0"/>
              <a:t>₂) gives a singlet corresponding to 2 equivalent protons.</a:t>
            </a:r>
          </a:p>
          <a:p>
            <a:endParaRPr lang="en-US" dirty="0"/>
          </a:p>
          <a:p>
            <a:r>
              <a:rPr lang="en-US" dirty="0"/>
              <a:t>Since the two signals have equal intensity (1:1), the total number of contributing protons must be equal. Therefore, one molecule of acetone (6 H) corresponds to three molecules of </a:t>
            </a:r>
            <a:r>
              <a:rPr lang="en-US" dirty="0" err="1"/>
              <a:t>CH₂Cl</a:t>
            </a:r>
            <a:r>
              <a:rPr lang="en-US" dirty="0"/>
              <a:t>₂ (3 × 2 = 6 H).</a:t>
            </a:r>
          </a:p>
          <a:p>
            <a:endParaRPr lang="en-US" dirty="0"/>
          </a:p>
          <a:p>
            <a:r>
              <a:rPr lang="en-US" dirty="0"/>
              <a:t>Hence, the molar ratio of acetone to dichloromethane is </a:t>
            </a:r>
            <a:r>
              <a:rPr lang="en-US" b="1" dirty="0"/>
              <a:t>1 : 3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6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DEE8AA0-549F-DFE5-4B00-07B419491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287922"/>
              </p:ext>
            </p:extLst>
          </p:nvPr>
        </p:nvGraphicFramePr>
        <p:xfrm>
          <a:off x="5407818" y="2124172"/>
          <a:ext cx="1376363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63843" imgH="795387" progId="ChemDraw.Document.6.0">
                  <p:embed/>
                </p:oleObj>
              </mc:Choice>
              <mc:Fallback>
                <p:oleObj name="CS ChemDraw Drawing" r:id="rId2" imgW="763843" imgH="795387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F8E8CF8-F0A0-A574-BA6D-C628E8336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07818" y="2124172"/>
                        <a:ext cx="1376363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6B9F46B-DE2C-B19A-2A3A-4F206F729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385205"/>
              </p:ext>
            </p:extLst>
          </p:nvPr>
        </p:nvGraphicFramePr>
        <p:xfrm>
          <a:off x="824703" y="2295204"/>
          <a:ext cx="20574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245285" imgH="792417" progId="ChemDraw.Document.6.0">
                  <p:embed/>
                </p:oleObj>
              </mc:Choice>
              <mc:Fallback>
                <p:oleObj name="CS ChemDraw Drawing" r:id="rId4" imgW="1245285" imgH="792417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8A0720D-4E54-6E7F-AA8A-7A0BD39411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4703" y="2295204"/>
                        <a:ext cx="2057400" cy="130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FF99FFD5-5EE0-0ADB-F266-57CABF329C6B}"/>
              </a:ext>
            </a:extLst>
          </p:cNvPr>
          <p:cNvSpPr/>
          <p:nvPr/>
        </p:nvSpPr>
        <p:spPr>
          <a:xfrm rot="20226625">
            <a:off x="712138" y="2817644"/>
            <a:ext cx="225131" cy="63691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3C26FDE-22E3-A2E4-FE7A-3A0AF879246D}"/>
              </a:ext>
            </a:extLst>
          </p:cNvPr>
          <p:cNvSpPr/>
          <p:nvPr/>
        </p:nvSpPr>
        <p:spPr>
          <a:xfrm rot="5400000">
            <a:off x="1316006" y="2031923"/>
            <a:ext cx="245097" cy="49895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BEDDE61-5A1C-F78B-8313-01CF0AC1D58A}"/>
              </a:ext>
            </a:extLst>
          </p:cNvPr>
          <p:cNvSpPr/>
          <p:nvPr/>
        </p:nvSpPr>
        <p:spPr>
          <a:xfrm rot="20073162">
            <a:off x="2810252" y="2165314"/>
            <a:ext cx="211020" cy="80129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8CCE293-220B-BA9E-D3F8-A7201523D261}"/>
              </a:ext>
            </a:extLst>
          </p:cNvPr>
          <p:cNvSpPr/>
          <p:nvPr/>
        </p:nvSpPr>
        <p:spPr>
          <a:xfrm rot="5607564">
            <a:off x="2137153" y="3319371"/>
            <a:ext cx="207323" cy="65044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4C70819-3528-DFCF-F4B4-A3D52DD22087}"/>
              </a:ext>
            </a:extLst>
          </p:cNvPr>
          <p:cNvSpPr/>
          <p:nvPr/>
        </p:nvSpPr>
        <p:spPr>
          <a:xfrm>
            <a:off x="2648337" y="2949254"/>
            <a:ext cx="45719" cy="31758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0E350F-0DA4-03A8-26AD-834A1C6D2304}"/>
              </a:ext>
            </a:extLst>
          </p:cNvPr>
          <p:cNvSpPr txBox="1"/>
          <p:nvPr/>
        </p:nvSpPr>
        <p:spPr>
          <a:xfrm rot="19969336">
            <a:off x="455323" y="29995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96E0C6-028C-8E09-20E8-9E4B68697B1C}"/>
              </a:ext>
            </a:extLst>
          </p:cNvPr>
          <p:cNvSpPr txBox="1"/>
          <p:nvPr/>
        </p:nvSpPr>
        <p:spPr>
          <a:xfrm>
            <a:off x="1287711" y="18097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E9EDF3-BF24-39E1-B8F5-91FF87E03D9F}"/>
              </a:ext>
            </a:extLst>
          </p:cNvPr>
          <p:cNvSpPr txBox="1"/>
          <p:nvPr/>
        </p:nvSpPr>
        <p:spPr>
          <a:xfrm>
            <a:off x="2982409" y="22958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0DDA9-12AC-8441-60F0-8A4477E8D9BF}"/>
              </a:ext>
            </a:extLst>
          </p:cNvPr>
          <p:cNvSpPr txBox="1"/>
          <p:nvPr/>
        </p:nvSpPr>
        <p:spPr>
          <a:xfrm>
            <a:off x="2674441" y="2973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43FDC3-9DE6-4E99-B8FC-705151D1EA93}"/>
              </a:ext>
            </a:extLst>
          </p:cNvPr>
          <p:cNvSpPr txBox="1"/>
          <p:nvPr/>
        </p:nvSpPr>
        <p:spPr>
          <a:xfrm>
            <a:off x="2089971" y="37099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F0483-2FFB-0A5A-2A0D-829CAB17520B}"/>
              </a:ext>
            </a:extLst>
          </p:cNvPr>
          <p:cNvSpPr txBox="1"/>
          <p:nvPr/>
        </p:nvSpPr>
        <p:spPr>
          <a:xfrm>
            <a:off x="573223" y="3922371"/>
            <a:ext cx="240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Total type of proton is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43BF2-226D-D12A-62DE-3ECDEAF7FC80}"/>
              </a:ext>
            </a:extLst>
          </p:cNvPr>
          <p:cNvSpPr txBox="1"/>
          <p:nvPr/>
        </p:nvSpPr>
        <p:spPr>
          <a:xfrm>
            <a:off x="207390" y="42420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7E86F163-2626-D434-A907-6B3FD6E9B0ED}"/>
              </a:ext>
            </a:extLst>
          </p:cNvPr>
          <p:cNvSpPr/>
          <p:nvPr/>
        </p:nvSpPr>
        <p:spPr>
          <a:xfrm rot="4057675">
            <a:off x="5523854" y="1946405"/>
            <a:ext cx="216816" cy="48606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74A5510F-76E0-B065-8186-F78EFA2D06CC}"/>
              </a:ext>
            </a:extLst>
          </p:cNvPr>
          <p:cNvSpPr/>
          <p:nvPr/>
        </p:nvSpPr>
        <p:spPr>
          <a:xfrm>
            <a:off x="5219771" y="2820081"/>
            <a:ext cx="188047" cy="46720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9B0F74F4-A0EB-7F96-E4AC-49B8243990F4}"/>
              </a:ext>
            </a:extLst>
          </p:cNvPr>
          <p:cNvSpPr/>
          <p:nvPr/>
        </p:nvSpPr>
        <p:spPr>
          <a:xfrm rot="5643812">
            <a:off x="5939826" y="3442750"/>
            <a:ext cx="201195" cy="38550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EE1AF48-CB08-2D2A-91F9-7CFBFE584FCC}"/>
              </a:ext>
            </a:extLst>
          </p:cNvPr>
          <p:cNvSpPr/>
          <p:nvPr/>
        </p:nvSpPr>
        <p:spPr>
          <a:xfrm rot="1828855">
            <a:off x="6671120" y="2876088"/>
            <a:ext cx="204923" cy="44556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B0BCB8F-2C03-843D-51AA-E52B1C0606BC}"/>
              </a:ext>
            </a:extLst>
          </p:cNvPr>
          <p:cNvSpPr/>
          <p:nvPr/>
        </p:nvSpPr>
        <p:spPr>
          <a:xfrm rot="20547208">
            <a:off x="6497182" y="2011754"/>
            <a:ext cx="145435" cy="29466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73D64A9-943B-727E-0112-D146BC386126}"/>
              </a:ext>
            </a:extLst>
          </p:cNvPr>
          <p:cNvSpPr/>
          <p:nvPr/>
        </p:nvSpPr>
        <p:spPr>
          <a:xfrm>
            <a:off x="6541148" y="2382190"/>
            <a:ext cx="188047" cy="25104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33CE7A-CC5B-2F71-A440-6CF42E2B70E2}"/>
              </a:ext>
            </a:extLst>
          </p:cNvPr>
          <p:cNvSpPr txBox="1"/>
          <p:nvPr/>
        </p:nvSpPr>
        <p:spPr>
          <a:xfrm rot="20542624">
            <a:off x="6593371" y="18863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A1589B-44E1-2CD9-A00A-CB65CB6341C0}"/>
              </a:ext>
            </a:extLst>
          </p:cNvPr>
          <p:cNvSpPr txBox="1"/>
          <p:nvPr/>
        </p:nvSpPr>
        <p:spPr>
          <a:xfrm>
            <a:off x="6692698" y="22877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F03CBD-8D91-5E04-6BA6-F646136E1730}"/>
              </a:ext>
            </a:extLst>
          </p:cNvPr>
          <p:cNvSpPr txBox="1"/>
          <p:nvPr/>
        </p:nvSpPr>
        <p:spPr>
          <a:xfrm rot="2177333">
            <a:off x="6825740" y="30063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47C3D3-27FE-90D8-31F9-6A5068F9F333}"/>
              </a:ext>
            </a:extLst>
          </p:cNvPr>
          <p:cNvSpPr txBox="1"/>
          <p:nvPr/>
        </p:nvSpPr>
        <p:spPr>
          <a:xfrm>
            <a:off x="5889580" y="3702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AEF761-3A66-842C-3352-2229B00E0715}"/>
              </a:ext>
            </a:extLst>
          </p:cNvPr>
          <p:cNvSpPr txBox="1"/>
          <p:nvPr/>
        </p:nvSpPr>
        <p:spPr>
          <a:xfrm>
            <a:off x="4927715" y="2857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9BA95B-9350-1FFC-4256-92755C069C32}"/>
              </a:ext>
            </a:extLst>
          </p:cNvPr>
          <p:cNvSpPr txBox="1"/>
          <p:nvPr/>
        </p:nvSpPr>
        <p:spPr>
          <a:xfrm>
            <a:off x="5414100" y="17861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3AC75D-75F8-55D1-D17B-8B6F0411DE2D}"/>
              </a:ext>
            </a:extLst>
          </p:cNvPr>
          <p:cNvCxnSpPr>
            <a:cxnSpLocks/>
          </p:cNvCxnSpPr>
          <p:nvPr/>
        </p:nvCxnSpPr>
        <p:spPr>
          <a:xfrm flipV="1">
            <a:off x="5766974" y="1786157"/>
            <a:ext cx="689174" cy="173534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FD0425E-48C6-3E00-8C23-FBA8F94D3116}"/>
              </a:ext>
            </a:extLst>
          </p:cNvPr>
          <p:cNvSpPr txBox="1"/>
          <p:nvPr/>
        </p:nvSpPr>
        <p:spPr>
          <a:xfrm>
            <a:off x="4443851" y="3996800"/>
            <a:ext cx="379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molecule has a plane of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728665-93ED-F32A-A2DB-6DCF17218E57}"/>
              </a:ext>
            </a:extLst>
          </p:cNvPr>
          <p:cNvSpPr txBox="1"/>
          <p:nvPr/>
        </p:nvSpPr>
        <p:spPr>
          <a:xfrm>
            <a:off x="4913321" y="4428760"/>
            <a:ext cx="2462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Total type of proton is 4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2C59B4-E5E7-2A61-50E0-034D1CF25536}"/>
              </a:ext>
            </a:extLst>
          </p:cNvPr>
          <p:cNvSpPr txBox="1"/>
          <p:nvPr/>
        </p:nvSpPr>
        <p:spPr>
          <a:xfrm>
            <a:off x="9168723" y="6333414"/>
            <a:ext cx="2462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Total type of proton is 5 </a:t>
            </a:r>
          </a:p>
        </p:txBody>
      </p:sp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7043900D-B8C5-F9C5-8499-36F950F8A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015019"/>
              </p:ext>
            </p:extLst>
          </p:nvPr>
        </p:nvGraphicFramePr>
        <p:xfrm>
          <a:off x="5880166" y="165215"/>
          <a:ext cx="755005" cy="1038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419348" imgH="576072" progId="ChemDraw.Document.6.0">
                  <p:embed/>
                </p:oleObj>
              </mc:Choice>
              <mc:Fallback>
                <p:oleObj name="CS ChemDraw Drawing" r:id="rId6" imgW="419348" imgH="576072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F8E8CF8-F0A0-A574-BA6D-C628E83363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0166" y="165215"/>
                        <a:ext cx="755005" cy="1038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E873AE71-37EA-3626-4589-41483BF97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378188"/>
              </p:ext>
            </p:extLst>
          </p:nvPr>
        </p:nvGraphicFramePr>
        <p:xfrm>
          <a:off x="1322345" y="380910"/>
          <a:ext cx="1387617" cy="92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839972" imgH="559528" progId="ChemDraw.Document.6.0">
                  <p:embed/>
                </p:oleObj>
              </mc:Choice>
              <mc:Fallback>
                <p:oleObj name="CS ChemDraw Drawing" r:id="rId8" imgW="839972" imgH="559528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8A0720D-4E54-6E7F-AA8A-7A0BD39411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22345" y="380910"/>
                        <a:ext cx="1387617" cy="923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188C8EDE-88FA-C924-C53A-57C80B861A90}"/>
              </a:ext>
            </a:extLst>
          </p:cNvPr>
          <p:cNvGrpSpPr/>
          <p:nvPr/>
        </p:nvGrpSpPr>
        <p:grpSpPr>
          <a:xfrm>
            <a:off x="8910423" y="1766615"/>
            <a:ext cx="2463623" cy="2346779"/>
            <a:chOff x="4523508" y="1612479"/>
            <a:chExt cx="2463623" cy="2346779"/>
          </a:xfrm>
        </p:grpSpPr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B73B5EC3-4794-3E90-FD35-CE91E4EA43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522954"/>
                </p:ext>
              </p:extLst>
            </p:nvPr>
          </p:nvGraphicFramePr>
          <p:xfrm>
            <a:off x="4523508" y="2678588"/>
            <a:ext cx="2076013" cy="1280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10" imgW="1785844" imgH="1101663" progId="ChemDraw.Document.6.0">
                    <p:embed/>
                  </p:oleObj>
                </mc:Choice>
                <mc:Fallback>
                  <p:oleObj name="CS ChemDraw Drawing" r:id="rId10" imgW="1785844" imgH="1101663" progId="ChemDraw.Document.6.0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4824C9CD-7737-5F37-2639-34091D6808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523508" y="2678588"/>
                          <a:ext cx="2076013" cy="12806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AA0F057B-40F7-A9F9-CB82-DE4558DFEE59}"/>
                </a:ext>
              </a:extLst>
            </p:cNvPr>
            <p:cNvSpPr/>
            <p:nvPr/>
          </p:nvSpPr>
          <p:spPr>
            <a:xfrm rot="16200000">
              <a:off x="5169927" y="2172202"/>
              <a:ext cx="339368" cy="1066583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DF5756-D068-EF1B-72F2-FDCDC6C87673}"/>
                </a:ext>
              </a:extLst>
            </p:cNvPr>
            <p:cNvSpPr txBox="1"/>
            <p:nvPr/>
          </p:nvSpPr>
          <p:spPr>
            <a:xfrm>
              <a:off x="4523508" y="1612479"/>
              <a:ext cx="24636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This two protons are </a:t>
              </a:r>
            </a:p>
            <a:p>
              <a:r>
                <a:rPr lang="en-IN" dirty="0" err="1"/>
                <a:t>diastereotopic</a:t>
              </a:r>
              <a:r>
                <a:rPr lang="en-IN" dirty="0"/>
                <a:t> </a:t>
              </a:r>
            </a:p>
            <a:p>
              <a:r>
                <a:rPr lang="en-IN" dirty="0"/>
                <a:t>thus are non equivalent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0BFA221-C29D-38C8-5171-D3030F1E79BD}"/>
              </a:ext>
            </a:extLst>
          </p:cNvPr>
          <p:cNvGrpSpPr/>
          <p:nvPr/>
        </p:nvGrpSpPr>
        <p:grpSpPr>
          <a:xfrm>
            <a:off x="8759580" y="4576363"/>
            <a:ext cx="3126488" cy="1757051"/>
            <a:chOff x="8473346" y="4960559"/>
            <a:chExt cx="3126488" cy="175705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A2EEA3-C216-7447-F576-49B973B456C0}"/>
                </a:ext>
              </a:extLst>
            </p:cNvPr>
            <p:cNvSpPr txBox="1"/>
            <p:nvPr/>
          </p:nvSpPr>
          <p:spPr>
            <a:xfrm>
              <a:off x="10056790" y="496055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78CAEE6-615B-511E-AB7A-A26F6AB782AC}"/>
                </a:ext>
              </a:extLst>
            </p:cNvPr>
            <p:cNvGrpSpPr/>
            <p:nvPr/>
          </p:nvGrpSpPr>
          <p:grpSpPr>
            <a:xfrm>
              <a:off x="8473346" y="4971443"/>
              <a:ext cx="3126488" cy="1746167"/>
              <a:chOff x="4806319" y="4659196"/>
              <a:chExt cx="3126488" cy="1746167"/>
            </a:xfrm>
          </p:grpSpPr>
          <p:sp>
            <p:nvSpPr>
              <p:cNvPr id="56" name="Right Brace 55">
                <a:extLst>
                  <a:ext uri="{FF2B5EF4-FFF2-40B4-BE49-F238E27FC236}">
                    <a16:creationId xmlns:a16="http://schemas.microsoft.com/office/drawing/2014/main" id="{02EAC9A8-F87D-273E-7D00-5ACFC72BAE84}"/>
                  </a:ext>
                </a:extLst>
              </p:cNvPr>
              <p:cNvSpPr/>
              <p:nvPr/>
            </p:nvSpPr>
            <p:spPr>
              <a:xfrm rot="20283367">
                <a:off x="7215847" y="4659196"/>
                <a:ext cx="485575" cy="928803"/>
              </a:xfrm>
              <a:prstGeom prst="righ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3B6230CE-A164-5396-7463-CB65F44431A6}"/>
                  </a:ext>
                </a:extLst>
              </p:cNvPr>
              <p:cNvGrpSpPr/>
              <p:nvPr/>
            </p:nvGrpSpPr>
            <p:grpSpPr>
              <a:xfrm>
                <a:off x="4806319" y="4681868"/>
                <a:ext cx="3126488" cy="1723495"/>
                <a:chOff x="4806319" y="4681868"/>
                <a:chExt cx="3126488" cy="1723495"/>
              </a:xfrm>
            </p:grpSpPr>
            <p:graphicFrame>
              <p:nvGraphicFramePr>
                <p:cNvPr id="58" name="Object 57">
                  <a:extLst>
                    <a:ext uri="{FF2B5EF4-FFF2-40B4-BE49-F238E27FC236}">
                      <a16:creationId xmlns:a16="http://schemas.microsoft.com/office/drawing/2014/main" id="{4537AC0D-4137-6EB0-6FAB-F94963790EA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859321557"/>
                    </p:ext>
                  </p:extLst>
                </p:nvPr>
              </p:nvGraphicFramePr>
              <p:xfrm>
                <a:off x="5241516" y="4876604"/>
                <a:ext cx="2076013" cy="128067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S ChemDraw Drawing" r:id="rId10" imgW="1785844" imgH="1101663" progId="ChemDraw.Document.6.0">
                        <p:embed/>
                      </p:oleObj>
                    </mc:Choice>
                    <mc:Fallback>
                      <p:oleObj name="CS ChemDraw Drawing" r:id="rId10" imgW="1785844" imgH="1101663" progId="ChemDraw.Document.6.0">
                        <p:embed/>
                        <p:pic>
                          <p:nvPicPr>
                            <p:cNvPr id="6" name="Object 5">
                              <a:extLst>
                                <a:ext uri="{FF2B5EF4-FFF2-40B4-BE49-F238E27FC236}">
                                  <a16:creationId xmlns:a16="http://schemas.microsoft.com/office/drawing/2014/main" id="{8EA0C651-1E03-64D0-B672-A94B1FEAC74D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41516" y="4876604"/>
                              <a:ext cx="2076013" cy="128067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9" name="Right Brace 58">
                  <a:extLst>
                    <a:ext uri="{FF2B5EF4-FFF2-40B4-BE49-F238E27FC236}">
                      <a16:creationId xmlns:a16="http://schemas.microsoft.com/office/drawing/2014/main" id="{CD343BDD-6A7A-A319-1E49-506309994596}"/>
                    </a:ext>
                  </a:extLst>
                </p:cNvPr>
                <p:cNvSpPr/>
                <p:nvPr/>
              </p:nvSpPr>
              <p:spPr>
                <a:xfrm rot="15179352">
                  <a:off x="5616675" y="4894888"/>
                  <a:ext cx="164938" cy="316782"/>
                </a:xfrm>
                <a:prstGeom prst="rightBrac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" name="Right Brace 59">
                  <a:extLst>
                    <a:ext uri="{FF2B5EF4-FFF2-40B4-BE49-F238E27FC236}">
                      <a16:creationId xmlns:a16="http://schemas.microsoft.com/office/drawing/2014/main" id="{C01E225E-22A4-733B-E7AF-821C17F10BBA}"/>
                    </a:ext>
                  </a:extLst>
                </p:cNvPr>
                <p:cNvSpPr/>
                <p:nvPr/>
              </p:nvSpPr>
              <p:spPr>
                <a:xfrm rot="8833602">
                  <a:off x="5029096" y="5472956"/>
                  <a:ext cx="371738" cy="932407"/>
                </a:xfrm>
                <a:prstGeom prst="rightBrac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A2178A0-0B9A-CEF5-61C6-676C0E8F55F4}"/>
                    </a:ext>
                  </a:extLst>
                </p:cNvPr>
                <p:cNvSpPr txBox="1"/>
                <p:nvPr/>
              </p:nvSpPr>
              <p:spPr>
                <a:xfrm rot="175602">
                  <a:off x="7631121" y="480336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1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52D9BB0D-0884-B198-5275-37C2FB9D3D98}"/>
                    </a:ext>
                  </a:extLst>
                </p:cNvPr>
                <p:cNvSpPr txBox="1"/>
                <p:nvPr/>
              </p:nvSpPr>
              <p:spPr>
                <a:xfrm>
                  <a:off x="6836288" y="591957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2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5EEC414-0066-E6BA-A66E-1C6AA94D4757}"/>
                    </a:ext>
                  </a:extLst>
                </p:cNvPr>
                <p:cNvSpPr txBox="1"/>
                <p:nvPr/>
              </p:nvSpPr>
              <p:spPr>
                <a:xfrm>
                  <a:off x="4806319" y="5840631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5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EEBC911-FE6E-B6EE-1EBA-B60419E66B1A}"/>
                    </a:ext>
                  </a:extLst>
                </p:cNvPr>
                <p:cNvSpPr txBox="1"/>
                <p:nvPr/>
              </p:nvSpPr>
              <p:spPr>
                <a:xfrm>
                  <a:off x="5508025" y="4681868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4</a:t>
                  </a:r>
                </a:p>
              </p:txBody>
            </p:sp>
            <p:sp>
              <p:nvSpPr>
                <p:cNvPr id="65" name="Right Brace 64">
                  <a:extLst>
                    <a:ext uri="{FF2B5EF4-FFF2-40B4-BE49-F238E27FC236}">
                      <a16:creationId xmlns:a16="http://schemas.microsoft.com/office/drawing/2014/main" id="{FC3DE2AF-2EBB-01DE-63DA-024AB961F972}"/>
                    </a:ext>
                  </a:extLst>
                </p:cNvPr>
                <p:cNvSpPr/>
                <p:nvPr/>
              </p:nvSpPr>
              <p:spPr>
                <a:xfrm rot="17380533">
                  <a:off x="6380520" y="4789817"/>
                  <a:ext cx="173581" cy="396429"/>
                </a:xfrm>
                <a:prstGeom prst="rightBrac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6" name="Right Brace 65">
                  <a:extLst>
                    <a:ext uri="{FF2B5EF4-FFF2-40B4-BE49-F238E27FC236}">
                      <a16:creationId xmlns:a16="http://schemas.microsoft.com/office/drawing/2014/main" id="{54F055C7-DA07-C1CB-3739-0EC326173FD6}"/>
                    </a:ext>
                  </a:extLst>
                </p:cNvPr>
                <p:cNvSpPr/>
                <p:nvPr/>
              </p:nvSpPr>
              <p:spPr>
                <a:xfrm rot="3886949">
                  <a:off x="6871286" y="5774228"/>
                  <a:ext cx="139451" cy="318482"/>
                </a:xfrm>
                <a:prstGeom prst="rightBrac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6BBFE415-05D7-553C-E393-203DE222B0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133324"/>
              </p:ext>
            </p:extLst>
          </p:nvPr>
        </p:nvGraphicFramePr>
        <p:xfrm>
          <a:off x="9285468" y="312347"/>
          <a:ext cx="103981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039439" imgH="670670" progId="ChemDraw.Document.6.0">
                  <p:embed/>
                </p:oleObj>
              </mc:Choice>
              <mc:Fallback>
                <p:oleObj name="CS ChemDraw Drawing" r:id="rId12" imgW="1039439" imgH="6706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285468" y="312347"/>
                        <a:ext cx="1039813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142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AF6BA-3304-48AA-0B82-3B60FB5D4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825" y="427893"/>
            <a:ext cx="2915057" cy="647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59AF71-F0F3-D31A-A00E-13D2A53B0D82}"/>
              </a:ext>
            </a:extLst>
          </p:cNvPr>
          <p:cNvSpPr txBox="1"/>
          <p:nvPr/>
        </p:nvSpPr>
        <p:spPr>
          <a:xfrm>
            <a:off x="7810740" y="1075683"/>
            <a:ext cx="43027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C is the number of Carbon atoms</a:t>
            </a:r>
            <a:endParaRPr lang="en-US" dirty="0">
              <a:solidFill>
                <a:srgbClr val="0A0A0A"/>
              </a:solidFill>
              <a:latin typeface="Google Sans"/>
            </a:endParaRPr>
          </a:p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H is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the number of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 Hydrogen</a:t>
            </a:r>
            <a:endParaRPr lang="en-US" dirty="0">
              <a:solidFill>
                <a:srgbClr val="0A0A0A"/>
              </a:solidFill>
              <a:latin typeface="Google Sans"/>
            </a:endParaRPr>
          </a:p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X is 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the number of 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Halogen (F, Cl, Br, I)</a:t>
            </a:r>
          </a:p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N is 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the number of 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Nitrogen. </a:t>
            </a:r>
          </a:p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Oxygen and sulfur are not included here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7C3F1-6930-6D6C-51AE-52CC1C130EF0}"/>
              </a:ext>
            </a:extLst>
          </p:cNvPr>
          <p:cNvSpPr txBox="1"/>
          <p:nvPr/>
        </p:nvSpPr>
        <p:spPr>
          <a:xfrm>
            <a:off x="329938" y="32051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77290-9C21-D006-A7CF-84F9C6726DBF}"/>
              </a:ext>
            </a:extLst>
          </p:cNvPr>
          <p:cNvSpPr txBox="1"/>
          <p:nvPr/>
        </p:nvSpPr>
        <p:spPr>
          <a:xfrm>
            <a:off x="756501" y="32051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</a:t>
            </a:r>
            <a:r>
              <a:rPr lang="en-IN" baseline="-25000" dirty="0"/>
              <a:t>3</a:t>
            </a:r>
            <a:r>
              <a:rPr lang="en-IN" dirty="0"/>
              <a:t>H</a:t>
            </a:r>
            <a:r>
              <a:rPr lang="en-IN" baseline="-25000" dirty="0"/>
              <a:t>6</a:t>
            </a:r>
            <a:r>
              <a:rPr lang="en-IN" dirty="0"/>
              <a:t>O</a:t>
            </a:r>
            <a:r>
              <a:rPr lang="en-IN" baseline="-25000" dirty="0"/>
              <a:t>2</a:t>
            </a:r>
            <a:r>
              <a:rPr lang="en-IN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D97479-53B3-A2E7-30DD-F03D1503D4F7}"/>
                  </a:ext>
                </a:extLst>
              </p:cNvPr>
              <p:cNvSpPr txBox="1"/>
              <p:nvPr/>
            </p:nvSpPr>
            <p:spPr>
              <a:xfrm>
                <a:off x="756501" y="751788"/>
                <a:ext cx="2403928" cy="3917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𝐷𝐵𝐸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=3+1 −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 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D97479-53B3-A2E7-30DD-F03D1503D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01" y="751788"/>
                <a:ext cx="2403928" cy="391710"/>
              </a:xfrm>
              <a:prstGeom prst="rect">
                <a:avLst/>
              </a:prstGeom>
              <a:blipFill>
                <a:blip r:embed="rId4"/>
                <a:stretch>
                  <a:fillRect l="-3299" b="-12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F9A8F21-CE02-1404-370F-486802B61CDC}"/>
              </a:ext>
            </a:extLst>
          </p:cNvPr>
          <p:cNvSpPr txBox="1"/>
          <p:nvPr/>
        </p:nvSpPr>
        <p:spPr>
          <a:xfrm>
            <a:off x="329938" y="1143498"/>
            <a:ext cx="5695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This means the molecule has one double bond or one ring.</a:t>
            </a:r>
          </a:p>
          <a:p>
            <a:r>
              <a:rPr lang="en-IN" dirty="0"/>
              <a:t>Bothe peaks are singlet.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0163F-FD93-C083-888C-F99F6A8B46DB}"/>
              </a:ext>
            </a:extLst>
          </p:cNvPr>
          <p:cNvSpPr txBox="1"/>
          <p:nvPr/>
        </p:nvSpPr>
        <p:spPr>
          <a:xfrm>
            <a:off x="1840515" y="2384395"/>
            <a:ext cx="1998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 the structure is :</a:t>
            </a:r>
          </a:p>
          <a:p>
            <a:r>
              <a:rPr lang="en-IN" dirty="0"/>
              <a:t>    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2D6C048F-FC6E-137C-014A-1F4E3A08E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125478"/>
              </p:ext>
            </p:extLst>
          </p:nvPr>
        </p:nvGraphicFramePr>
        <p:xfrm>
          <a:off x="3729623" y="2186432"/>
          <a:ext cx="936731" cy="765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522697" imgH="426751" progId="ChemDraw.Document.6.0">
                  <p:embed/>
                </p:oleObj>
              </mc:Choice>
              <mc:Fallback>
                <p:oleObj name="CS ChemDraw Drawing" r:id="rId5" imgW="522697" imgH="42675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29623" y="2186432"/>
                        <a:ext cx="936731" cy="765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52363149-0C7B-6E4D-FDB0-B13ED4CC43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51036"/>
              </p:ext>
            </p:extLst>
          </p:nvPr>
        </p:nvGraphicFramePr>
        <p:xfrm>
          <a:off x="4197989" y="3669367"/>
          <a:ext cx="1719770" cy="11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928010" imgH="609584" progId="ChemDraw.Document.6.0">
                  <p:embed/>
                </p:oleObj>
              </mc:Choice>
              <mc:Fallback>
                <p:oleObj name="CS ChemDraw Drawing" r:id="rId7" imgW="928010" imgH="60958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97989" y="3669367"/>
                        <a:ext cx="1719770" cy="1128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ight Brace 14">
            <a:extLst>
              <a:ext uri="{FF2B5EF4-FFF2-40B4-BE49-F238E27FC236}">
                <a16:creationId xmlns:a16="http://schemas.microsoft.com/office/drawing/2014/main" id="{5B65ECEE-9C78-80EF-7A97-C502F8A38DD8}"/>
              </a:ext>
            </a:extLst>
          </p:cNvPr>
          <p:cNvSpPr/>
          <p:nvPr/>
        </p:nvSpPr>
        <p:spPr>
          <a:xfrm rot="19989850">
            <a:off x="5740925" y="3450212"/>
            <a:ext cx="477625" cy="9144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60EFBFAE-831C-9D29-2351-DC2C526E7A64}"/>
              </a:ext>
            </a:extLst>
          </p:cNvPr>
          <p:cNvSpPr/>
          <p:nvPr/>
        </p:nvSpPr>
        <p:spPr>
          <a:xfrm rot="19543653">
            <a:off x="3987541" y="4044100"/>
            <a:ext cx="424206" cy="109785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81B6BC-513B-9503-1D76-A0787AC8136F}"/>
                  </a:ext>
                </a:extLst>
              </p:cNvPr>
              <p:cNvSpPr txBox="1"/>
              <p:nvPr/>
            </p:nvSpPr>
            <p:spPr>
              <a:xfrm>
                <a:off x="3253204" y="4612833"/>
                <a:ext cx="11483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2.19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81B6BC-513B-9503-1D76-A0787AC8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204" y="4612833"/>
                <a:ext cx="1148300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6A0804-AC74-C0C7-70F5-55118862FF88}"/>
                  </a:ext>
                </a:extLst>
              </p:cNvPr>
              <p:cNvSpPr txBox="1"/>
              <p:nvPr/>
            </p:nvSpPr>
            <p:spPr>
              <a:xfrm>
                <a:off x="6096000" y="3456885"/>
                <a:ext cx="11483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3.66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6A0804-AC74-C0C7-70F5-55118862F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56885"/>
                <a:ext cx="11483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4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485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Google Sans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PRATIP BHATTACHARYYA</cp:lastModifiedBy>
  <cp:revision>5</cp:revision>
  <dcterms:created xsi:type="dcterms:W3CDTF">2026-02-23T13:26:35Z</dcterms:created>
  <dcterms:modified xsi:type="dcterms:W3CDTF">2026-02-25T04:17:04Z</dcterms:modified>
</cp:coreProperties>
</file>