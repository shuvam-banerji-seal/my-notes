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2.xml" ContentType="application/inkml+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995" r:id="rId2"/>
    <p:sldId id="999" r:id="rId3"/>
    <p:sldId id="353" r:id="rId4"/>
    <p:sldId id="354" r:id="rId5"/>
    <p:sldId id="321" r:id="rId6"/>
    <p:sldId id="351" r:id="rId7"/>
    <p:sldId id="311" r:id="rId8"/>
    <p:sldId id="344" r:id="rId9"/>
    <p:sldId id="348" r:id="rId10"/>
    <p:sldId id="291" r:id="rId11"/>
    <p:sldId id="1030" r:id="rId12"/>
    <p:sldId id="1031" r:id="rId13"/>
    <p:sldId id="411" r:id="rId14"/>
    <p:sldId id="1032" r:id="rId15"/>
    <p:sldId id="1033" r:id="rId16"/>
    <p:sldId id="1034" r:id="rId17"/>
    <p:sldId id="1035" r:id="rId18"/>
    <p:sldId id="1036" r:id="rId19"/>
    <p:sldId id="1037" r:id="rId20"/>
    <p:sldId id="1038" r:id="rId21"/>
    <p:sldId id="1039" r:id="rId22"/>
    <p:sldId id="1040" r:id="rId23"/>
    <p:sldId id="1041" r:id="rId24"/>
    <p:sldId id="1042" r:id="rId25"/>
    <p:sldId id="1043" r:id="rId26"/>
    <p:sldId id="1044" r:id="rId27"/>
    <p:sldId id="260" r:id="rId28"/>
    <p:sldId id="261" r:id="rId29"/>
    <p:sldId id="840" r:id="rId30"/>
    <p:sldId id="262" r:id="rId31"/>
    <p:sldId id="829" r:id="rId32"/>
    <p:sldId id="415" r:id="rId33"/>
    <p:sldId id="271" r:id="rId34"/>
    <p:sldId id="263" r:id="rId35"/>
    <p:sldId id="264" r:id="rId36"/>
    <p:sldId id="265" r:id="rId37"/>
    <p:sldId id="836" r:id="rId38"/>
    <p:sldId id="267" r:id="rId39"/>
    <p:sldId id="277" r:id="rId40"/>
    <p:sldId id="41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03-09T15:09:08.979"/>
    </inkml:context>
    <inkml:brush xml:id="br0">
      <inkml:brushProperty name="width" value="0.05292" units="cm"/>
      <inkml:brushProperty name="height" value="0.05292" units="cm"/>
      <inkml:brushProperty name="color" value="#FF0000"/>
    </inkml:brush>
  </inkml:definitions>
  <inkml:trace contextRef="#ctx0" brushRef="#br0">19733 17972 28 0,'0'0'71'0,"0"0"-48"16,0 0-3-16,0 0 0 15,0 0-2-15,0 0-3 0,0 0 0 16,0-27-6-1,0 20 11-15,0 7-7 0,0-3-8 16,0 3 6-16,0 0 3 16,0 0 2-16,0 0 10 15,0 0-4-15,0 0-8 16,0 0-9-16,0 0-2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03-11T04:36:51.376"/>
    </inkml:context>
    <inkml:brush xml:id="br0">
      <inkml:brushProperty name="width" value="0.05292" units="cm"/>
      <inkml:brushProperty name="height" value="0.05292" units="cm"/>
      <inkml:brushProperty name="color" value="#FF0000"/>
    </inkml:brush>
  </inkml:definitions>
  <inkml:trace contextRef="#ctx0" brushRef="#br0">21129 9708 11 0,'0'0'12'16,"0"0"0"-16,0 0 19 15,0 0-22-15,0 0-9 16,0 0 4-16,0 0 4 16,-15-59 12-16,14 54-4 15,-1 4-10-15,2 0-4 16,0 1-2-16,0 0-2 15,0 0 2-15,-1 0 0 16,1 0 1-16,0 0 1 16,0 0 2-16,0 0 2 0,0 0-3 15,0 0 8-15,0 0-11 16,0 0-1-16,0 0-3 16,0 0 0-16,0 2 0 15,0 4 4-15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4F205B-4BF3-43CB-90AE-91920DC45693}" type="datetimeFigureOut">
              <a:rPr lang="en-IN" smtClean="0"/>
              <a:t>10-03-2026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633B5C-92A2-47CF-BB2E-02DC61BBD1D7}" type="slidenum">
              <a:rPr lang="en-IN" smtClean="0"/>
              <a:t>‹#›</a:t>
            </a:fld>
            <a:endParaRPr lang="en-IN"/>
          </a:p>
        </p:txBody>
      </p:sp>
    </p:spTree>
    <p:extLst>
      <p:ext uri="{BB962C8B-B14F-4D97-AF65-F5344CB8AC3E}">
        <p14:creationId xmlns:p14="http://schemas.microsoft.com/office/powerpoint/2010/main" val="3432555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
        <p:nvSpPr>
          <p:cNvPr id="88" name="Shape 8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4250892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8EDD97C-042C-4822-B2AF-877F79842EC6}" type="slidenum">
              <a:rPr lang="en-IN" smtClean="0"/>
              <a:t>2</a:t>
            </a:fld>
            <a:endParaRPr lang="en-IN"/>
          </a:p>
        </p:txBody>
      </p:sp>
    </p:spTree>
    <p:extLst>
      <p:ext uri="{BB962C8B-B14F-4D97-AF65-F5344CB8AC3E}">
        <p14:creationId xmlns:p14="http://schemas.microsoft.com/office/powerpoint/2010/main" val="826783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C13246-0BA1-443D-8556-F1B6D4972C70}" type="slidenum">
              <a:rPr lang="en-IN" smtClean="0"/>
              <a:t>10</a:t>
            </a:fld>
            <a:endParaRPr lang="en-IN"/>
          </a:p>
        </p:txBody>
      </p:sp>
    </p:spTree>
    <p:extLst>
      <p:ext uri="{BB962C8B-B14F-4D97-AF65-F5344CB8AC3E}">
        <p14:creationId xmlns:p14="http://schemas.microsoft.com/office/powerpoint/2010/main" val="2274720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C13246-0BA1-443D-8556-F1B6D4972C70}" type="slidenum">
              <a:rPr lang="en-IN" smtClean="0"/>
              <a:t>12</a:t>
            </a:fld>
            <a:endParaRPr lang="en-IN"/>
          </a:p>
        </p:txBody>
      </p:sp>
    </p:spTree>
    <p:extLst>
      <p:ext uri="{BB962C8B-B14F-4D97-AF65-F5344CB8AC3E}">
        <p14:creationId xmlns:p14="http://schemas.microsoft.com/office/powerpoint/2010/main" val="1692363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48D94ECD-9FB5-49A9-A6E5-01DC418CE8AB}" type="slidenum">
              <a:rPr lang="en-IN" smtClean="0"/>
              <a:t>13</a:t>
            </a:fld>
            <a:endParaRPr lang="en-IN"/>
          </a:p>
        </p:txBody>
      </p:sp>
    </p:spTree>
    <p:extLst>
      <p:ext uri="{BB962C8B-B14F-4D97-AF65-F5344CB8AC3E}">
        <p14:creationId xmlns:p14="http://schemas.microsoft.com/office/powerpoint/2010/main" val="2085669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C13246-0BA1-443D-8556-F1B6D4972C70}" type="slidenum">
              <a:rPr lang="en-IN" smtClean="0"/>
              <a:t>27</a:t>
            </a:fld>
            <a:endParaRPr lang="en-IN"/>
          </a:p>
        </p:txBody>
      </p:sp>
    </p:spTree>
    <p:extLst>
      <p:ext uri="{BB962C8B-B14F-4D97-AF65-F5344CB8AC3E}">
        <p14:creationId xmlns:p14="http://schemas.microsoft.com/office/powerpoint/2010/main" val="3802048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C13246-0BA1-443D-8556-F1B6D4972C70}" type="slidenum">
              <a:rPr lang="en-IN" smtClean="0"/>
              <a:t>28</a:t>
            </a:fld>
            <a:endParaRPr lang="en-IN"/>
          </a:p>
        </p:txBody>
      </p:sp>
    </p:spTree>
    <p:extLst>
      <p:ext uri="{BB962C8B-B14F-4D97-AF65-F5344CB8AC3E}">
        <p14:creationId xmlns:p14="http://schemas.microsoft.com/office/powerpoint/2010/main" val="95303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C13246-0BA1-443D-8556-F1B6D4972C70}" type="slidenum">
              <a:rPr lang="en-IN" smtClean="0"/>
              <a:t>30</a:t>
            </a:fld>
            <a:endParaRPr lang="en-IN"/>
          </a:p>
        </p:txBody>
      </p:sp>
    </p:spTree>
    <p:extLst>
      <p:ext uri="{BB962C8B-B14F-4D97-AF65-F5344CB8AC3E}">
        <p14:creationId xmlns:p14="http://schemas.microsoft.com/office/powerpoint/2010/main" val="690466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C13246-0BA1-443D-8556-F1B6D4972C70}" type="slidenum">
              <a:rPr lang="en-IN" smtClean="0"/>
              <a:t>32</a:t>
            </a:fld>
            <a:endParaRPr lang="en-IN"/>
          </a:p>
        </p:txBody>
      </p:sp>
    </p:spTree>
    <p:extLst>
      <p:ext uri="{BB962C8B-B14F-4D97-AF65-F5344CB8AC3E}">
        <p14:creationId xmlns:p14="http://schemas.microsoft.com/office/powerpoint/2010/main" val="144344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C13246-0BA1-443D-8556-F1B6D4972C70}" type="slidenum">
              <a:rPr lang="en-IN" smtClean="0"/>
              <a:t>35</a:t>
            </a:fld>
            <a:endParaRPr lang="en-IN"/>
          </a:p>
        </p:txBody>
      </p:sp>
    </p:spTree>
    <p:extLst>
      <p:ext uri="{BB962C8B-B14F-4D97-AF65-F5344CB8AC3E}">
        <p14:creationId xmlns:p14="http://schemas.microsoft.com/office/powerpoint/2010/main" val="2708496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3A882-D3D1-8CCE-E0F2-6140049436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FF3E99-011F-F4F1-CFED-298CFE53BB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BF0D8F-CEF7-4010-97D6-59B5F099283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9EF89A3-5D9F-4ECD-631B-F241FB113DBC}"/>
              </a:ext>
            </a:extLst>
          </p:cNvPr>
          <p:cNvSpPr>
            <a:spLocks noGrp="1"/>
          </p:cNvSpPr>
          <p:nvPr>
            <p:ph type="sldNum" sz="quarter" idx="5"/>
          </p:nvPr>
        </p:nvSpPr>
        <p:spPr/>
        <p:txBody>
          <a:bodyPr/>
          <a:lstStyle/>
          <a:p>
            <a:fld id="{08C13246-0BA1-443D-8556-F1B6D4972C70}" type="slidenum">
              <a:rPr lang="en-IN" smtClean="0"/>
              <a:t>40</a:t>
            </a:fld>
            <a:endParaRPr lang="en-IN"/>
          </a:p>
        </p:txBody>
      </p:sp>
    </p:spTree>
    <p:extLst>
      <p:ext uri="{BB962C8B-B14F-4D97-AF65-F5344CB8AC3E}">
        <p14:creationId xmlns:p14="http://schemas.microsoft.com/office/powerpoint/2010/main" val="4168591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5555D-F8A5-D7B3-D2ED-135F222EAF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A74B94E-FB1B-3DFD-BD75-2C5ECFF2E9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7DCA6D2-61AC-4D61-1BF4-74DF46698F44}"/>
              </a:ext>
            </a:extLst>
          </p:cNvPr>
          <p:cNvSpPr>
            <a:spLocks noGrp="1"/>
          </p:cNvSpPr>
          <p:nvPr>
            <p:ph type="dt" sz="half" idx="10"/>
          </p:nvPr>
        </p:nvSpPr>
        <p:spPr/>
        <p:txBody>
          <a:bodyPr/>
          <a:lstStyle/>
          <a:p>
            <a:fld id="{50CA97CF-0946-4307-BF9D-979F3273B37A}" type="datetimeFigureOut">
              <a:rPr lang="en-IN" smtClean="0"/>
              <a:t>10-03-2026</a:t>
            </a:fld>
            <a:endParaRPr lang="en-IN"/>
          </a:p>
        </p:txBody>
      </p:sp>
      <p:sp>
        <p:nvSpPr>
          <p:cNvPr id="5" name="Footer Placeholder 4">
            <a:extLst>
              <a:ext uri="{FF2B5EF4-FFF2-40B4-BE49-F238E27FC236}">
                <a16:creationId xmlns:a16="http://schemas.microsoft.com/office/drawing/2014/main" id="{5361C318-1892-74FB-1802-74C524567E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048C30-3F11-5BE4-AC98-4DDEC22E7987}"/>
              </a:ext>
            </a:extLst>
          </p:cNvPr>
          <p:cNvSpPr>
            <a:spLocks noGrp="1"/>
          </p:cNvSpPr>
          <p:nvPr>
            <p:ph type="sldNum" sz="quarter" idx="12"/>
          </p:nvPr>
        </p:nvSpPr>
        <p:spPr/>
        <p:txBody>
          <a:bodyPr/>
          <a:lstStyle/>
          <a:p>
            <a:fld id="{911F9912-9141-4201-BC8A-0BEE315F9BC6}" type="slidenum">
              <a:rPr lang="en-IN" smtClean="0"/>
              <a:t>‹#›</a:t>
            </a:fld>
            <a:endParaRPr lang="en-IN"/>
          </a:p>
        </p:txBody>
      </p:sp>
    </p:spTree>
    <p:extLst>
      <p:ext uri="{BB962C8B-B14F-4D97-AF65-F5344CB8AC3E}">
        <p14:creationId xmlns:p14="http://schemas.microsoft.com/office/powerpoint/2010/main" val="2894905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1ADB3-F16F-1F3E-089F-5B6BADAAC9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6CE015-2423-19CD-332E-B42F758AA9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B6830D-C44F-E767-97BB-C00CCA5B37C7}"/>
              </a:ext>
            </a:extLst>
          </p:cNvPr>
          <p:cNvSpPr>
            <a:spLocks noGrp="1"/>
          </p:cNvSpPr>
          <p:nvPr>
            <p:ph type="dt" sz="half" idx="10"/>
          </p:nvPr>
        </p:nvSpPr>
        <p:spPr/>
        <p:txBody>
          <a:bodyPr/>
          <a:lstStyle/>
          <a:p>
            <a:fld id="{50CA97CF-0946-4307-BF9D-979F3273B37A}" type="datetimeFigureOut">
              <a:rPr lang="en-IN" smtClean="0"/>
              <a:t>10-03-2026</a:t>
            </a:fld>
            <a:endParaRPr lang="en-IN"/>
          </a:p>
        </p:txBody>
      </p:sp>
      <p:sp>
        <p:nvSpPr>
          <p:cNvPr id="5" name="Footer Placeholder 4">
            <a:extLst>
              <a:ext uri="{FF2B5EF4-FFF2-40B4-BE49-F238E27FC236}">
                <a16:creationId xmlns:a16="http://schemas.microsoft.com/office/drawing/2014/main" id="{BB64767B-892F-C2E5-1CD0-8D1F41C6C6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D4ADC0-4C32-1F1B-6EAF-44D5E0894E56}"/>
              </a:ext>
            </a:extLst>
          </p:cNvPr>
          <p:cNvSpPr>
            <a:spLocks noGrp="1"/>
          </p:cNvSpPr>
          <p:nvPr>
            <p:ph type="sldNum" sz="quarter" idx="12"/>
          </p:nvPr>
        </p:nvSpPr>
        <p:spPr/>
        <p:txBody>
          <a:bodyPr/>
          <a:lstStyle/>
          <a:p>
            <a:fld id="{911F9912-9141-4201-BC8A-0BEE315F9BC6}" type="slidenum">
              <a:rPr lang="en-IN" smtClean="0"/>
              <a:t>‹#›</a:t>
            </a:fld>
            <a:endParaRPr lang="en-IN"/>
          </a:p>
        </p:txBody>
      </p:sp>
    </p:spTree>
    <p:extLst>
      <p:ext uri="{BB962C8B-B14F-4D97-AF65-F5344CB8AC3E}">
        <p14:creationId xmlns:p14="http://schemas.microsoft.com/office/powerpoint/2010/main" val="3309016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6F506-F39B-4235-3D2B-30A49EDC15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9A19CC7-3691-CB12-842D-AA2445E323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7AF314-AFD5-0CD7-17A1-C5C60FC1C555}"/>
              </a:ext>
            </a:extLst>
          </p:cNvPr>
          <p:cNvSpPr>
            <a:spLocks noGrp="1"/>
          </p:cNvSpPr>
          <p:nvPr>
            <p:ph type="dt" sz="half" idx="10"/>
          </p:nvPr>
        </p:nvSpPr>
        <p:spPr/>
        <p:txBody>
          <a:bodyPr/>
          <a:lstStyle/>
          <a:p>
            <a:fld id="{50CA97CF-0946-4307-BF9D-979F3273B37A}" type="datetimeFigureOut">
              <a:rPr lang="en-IN" smtClean="0"/>
              <a:t>10-03-2026</a:t>
            </a:fld>
            <a:endParaRPr lang="en-IN"/>
          </a:p>
        </p:txBody>
      </p:sp>
      <p:sp>
        <p:nvSpPr>
          <p:cNvPr id="5" name="Footer Placeholder 4">
            <a:extLst>
              <a:ext uri="{FF2B5EF4-FFF2-40B4-BE49-F238E27FC236}">
                <a16:creationId xmlns:a16="http://schemas.microsoft.com/office/drawing/2014/main" id="{A8CC9196-ED8F-5F4A-437A-EC54370C14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8B1D92-9B9F-78DE-DB32-9DEBA5CFB4E5}"/>
              </a:ext>
            </a:extLst>
          </p:cNvPr>
          <p:cNvSpPr>
            <a:spLocks noGrp="1"/>
          </p:cNvSpPr>
          <p:nvPr>
            <p:ph type="sldNum" sz="quarter" idx="12"/>
          </p:nvPr>
        </p:nvSpPr>
        <p:spPr/>
        <p:txBody>
          <a:bodyPr/>
          <a:lstStyle/>
          <a:p>
            <a:fld id="{911F9912-9141-4201-BC8A-0BEE315F9BC6}" type="slidenum">
              <a:rPr lang="en-IN" smtClean="0"/>
              <a:t>‹#›</a:t>
            </a:fld>
            <a:endParaRPr lang="en-IN"/>
          </a:p>
        </p:txBody>
      </p:sp>
    </p:spTree>
    <p:extLst>
      <p:ext uri="{BB962C8B-B14F-4D97-AF65-F5344CB8AC3E}">
        <p14:creationId xmlns:p14="http://schemas.microsoft.com/office/powerpoint/2010/main" val="2946347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60E5E-B4CA-A4AC-7596-04A5AF8198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64AED6-BC0A-24CC-235C-291C2FF885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A996CE8-9309-4340-3554-E2032CA984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019AB5D-985A-4DE4-C230-3BEAB029F1ED}"/>
              </a:ext>
            </a:extLst>
          </p:cNvPr>
          <p:cNvSpPr>
            <a:spLocks noGrp="1"/>
          </p:cNvSpPr>
          <p:nvPr>
            <p:ph type="dt" sz="half" idx="10"/>
          </p:nvPr>
        </p:nvSpPr>
        <p:spPr/>
        <p:txBody>
          <a:bodyPr/>
          <a:lstStyle/>
          <a:p>
            <a:fld id="{50CA97CF-0946-4307-BF9D-979F3273B37A}" type="datetimeFigureOut">
              <a:rPr lang="en-IN" smtClean="0"/>
              <a:t>10-03-2026</a:t>
            </a:fld>
            <a:endParaRPr lang="en-IN"/>
          </a:p>
        </p:txBody>
      </p:sp>
      <p:sp>
        <p:nvSpPr>
          <p:cNvPr id="6" name="Footer Placeholder 5">
            <a:extLst>
              <a:ext uri="{FF2B5EF4-FFF2-40B4-BE49-F238E27FC236}">
                <a16:creationId xmlns:a16="http://schemas.microsoft.com/office/drawing/2014/main" id="{89B1AD87-D670-D91D-6497-266A99FF93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7E5DC3-C64B-A45C-D21C-80850A8C19B3}"/>
              </a:ext>
            </a:extLst>
          </p:cNvPr>
          <p:cNvSpPr>
            <a:spLocks noGrp="1"/>
          </p:cNvSpPr>
          <p:nvPr>
            <p:ph type="sldNum" sz="quarter" idx="12"/>
          </p:nvPr>
        </p:nvSpPr>
        <p:spPr/>
        <p:txBody>
          <a:bodyPr/>
          <a:lstStyle/>
          <a:p>
            <a:fld id="{911F9912-9141-4201-BC8A-0BEE315F9BC6}" type="slidenum">
              <a:rPr lang="en-IN" smtClean="0"/>
              <a:t>‹#›</a:t>
            </a:fld>
            <a:endParaRPr lang="en-IN"/>
          </a:p>
        </p:txBody>
      </p:sp>
    </p:spTree>
    <p:extLst>
      <p:ext uri="{BB962C8B-B14F-4D97-AF65-F5344CB8AC3E}">
        <p14:creationId xmlns:p14="http://schemas.microsoft.com/office/powerpoint/2010/main" val="2167382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68233-E230-C0FA-753E-049AF7C646C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76D2F1E-9587-E8F6-D4B6-64AD48B648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F1764C-1572-3576-A182-651357AE75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92AEB0F-DAE1-0E45-051D-C7532811E7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5E26FB-7217-3B62-B2C5-310F04356A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DC83D42-D439-CEDA-E1EB-20A7A57521FE}"/>
              </a:ext>
            </a:extLst>
          </p:cNvPr>
          <p:cNvSpPr>
            <a:spLocks noGrp="1"/>
          </p:cNvSpPr>
          <p:nvPr>
            <p:ph type="dt" sz="half" idx="10"/>
          </p:nvPr>
        </p:nvSpPr>
        <p:spPr/>
        <p:txBody>
          <a:bodyPr/>
          <a:lstStyle/>
          <a:p>
            <a:fld id="{50CA97CF-0946-4307-BF9D-979F3273B37A}" type="datetimeFigureOut">
              <a:rPr lang="en-IN" smtClean="0"/>
              <a:t>10-03-2026</a:t>
            </a:fld>
            <a:endParaRPr lang="en-IN"/>
          </a:p>
        </p:txBody>
      </p:sp>
      <p:sp>
        <p:nvSpPr>
          <p:cNvPr id="8" name="Footer Placeholder 7">
            <a:extLst>
              <a:ext uri="{FF2B5EF4-FFF2-40B4-BE49-F238E27FC236}">
                <a16:creationId xmlns:a16="http://schemas.microsoft.com/office/drawing/2014/main" id="{94BEB1E0-18F4-D00C-3A4E-D81B3CAC339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0D0762C-093E-5E29-6379-E08A80C9AED6}"/>
              </a:ext>
            </a:extLst>
          </p:cNvPr>
          <p:cNvSpPr>
            <a:spLocks noGrp="1"/>
          </p:cNvSpPr>
          <p:nvPr>
            <p:ph type="sldNum" sz="quarter" idx="12"/>
          </p:nvPr>
        </p:nvSpPr>
        <p:spPr/>
        <p:txBody>
          <a:bodyPr/>
          <a:lstStyle/>
          <a:p>
            <a:fld id="{911F9912-9141-4201-BC8A-0BEE315F9BC6}" type="slidenum">
              <a:rPr lang="en-IN" smtClean="0"/>
              <a:t>‹#›</a:t>
            </a:fld>
            <a:endParaRPr lang="en-IN"/>
          </a:p>
        </p:txBody>
      </p:sp>
    </p:spTree>
    <p:extLst>
      <p:ext uri="{BB962C8B-B14F-4D97-AF65-F5344CB8AC3E}">
        <p14:creationId xmlns:p14="http://schemas.microsoft.com/office/powerpoint/2010/main" val="3135908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BBE74-7E9C-E195-F92F-3CFF4C9AB6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C80D3F4-A069-843C-20BE-E9EBC732611F}"/>
              </a:ext>
            </a:extLst>
          </p:cNvPr>
          <p:cNvSpPr>
            <a:spLocks noGrp="1"/>
          </p:cNvSpPr>
          <p:nvPr>
            <p:ph type="dt" sz="half" idx="10"/>
          </p:nvPr>
        </p:nvSpPr>
        <p:spPr/>
        <p:txBody>
          <a:bodyPr/>
          <a:lstStyle/>
          <a:p>
            <a:fld id="{50CA97CF-0946-4307-BF9D-979F3273B37A}" type="datetimeFigureOut">
              <a:rPr lang="en-IN" smtClean="0"/>
              <a:t>10-03-2026</a:t>
            </a:fld>
            <a:endParaRPr lang="en-IN"/>
          </a:p>
        </p:txBody>
      </p:sp>
      <p:sp>
        <p:nvSpPr>
          <p:cNvPr id="4" name="Footer Placeholder 3">
            <a:extLst>
              <a:ext uri="{FF2B5EF4-FFF2-40B4-BE49-F238E27FC236}">
                <a16:creationId xmlns:a16="http://schemas.microsoft.com/office/drawing/2014/main" id="{D05CBBDA-92C0-ADB1-438F-AE1425D2146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2500259-00DF-A479-7131-B49272AC2AB1}"/>
              </a:ext>
            </a:extLst>
          </p:cNvPr>
          <p:cNvSpPr>
            <a:spLocks noGrp="1"/>
          </p:cNvSpPr>
          <p:nvPr>
            <p:ph type="sldNum" sz="quarter" idx="12"/>
          </p:nvPr>
        </p:nvSpPr>
        <p:spPr/>
        <p:txBody>
          <a:bodyPr/>
          <a:lstStyle/>
          <a:p>
            <a:fld id="{911F9912-9141-4201-BC8A-0BEE315F9BC6}" type="slidenum">
              <a:rPr lang="en-IN" smtClean="0"/>
              <a:t>‹#›</a:t>
            </a:fld>
            <a:endParaRPr lang="en-IN"/>
          </a:p>
        </p:txBody>
      </p:sp>
    </p:spTree>
    <p:extLst>
      <p:ext uri="{BB962C8B-B14F-4D97-AF65-F5344CB8AC3E}">
        <p14:creationId xmlns:p14="http://schemas.microsoft.com/office/powerpoint/2010/main" val="2263098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7B7339-FA40-E0FF-F701-DAD43FBBCAD2}"/>
              </a:ext>
            </a:extLst>
          </p:cNvPr>
          <p:cNvSpPr>
            <a:spLocks noGrp="1"/>
          </p:cNvSpPr>
          <p:nvPr>
            <p:ph type="dt" sz="half" idx="10"/>
          </p:nvPr>
        </p:nvSpPr>
        <p:spPr/>
        <p:txBody>
          <a:bodyPr/>
          <a:lstStyle/>
          <a:p>
            <a:fld id="{50CA97CF-0946-4307-BF9D-979F3273B37A}" type="datetimeFigureOut">
              <a:rPr lang="en-IN" smtClean="0"/>
              <a:t>10-03-2026</a:t>
            </a:fld>
            <a:endParaRPr lang="en-IN"/>
          </a:p>
        </p:txBody>
      </p:sp>
      <p:sp>
        <p:nvSpPr>
          <p:cNvPr id="3" name="Footer Placeholder 2">
            <a:extLst>
              <a:ext uri="{FF2B5EF4-FFF2-40B4-BE49-F238E27FC236}">
                <a16:creationId xmlns:a16="http://schemas.microsoft.com/office/drawing/2014/main" id="{67DC1727-5A42-009B-5570-0FDA1C5B125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ED23FC0-4E4B-862C-6BF7-68A4BAB1A1FD}"/>
              </a:ext>
            </a:extLst>
          </p:cNvPr>
          <p:cNvSpPr>
            <a:spLocks noGrp="1"/>
          </p:cNvSpPr>
          <p:nvPr>
            <p:ph type="sldNum" sz="quarter" idx="12"/>
          </p:nvPr>
        </p:nvSpPr>
        <p:spPr/>
        <p:txBody>
          <a:bodyPr/>
          <a:lstStyle/>
          <a:p>
            <a:fld id="{911F9912-9141-4201-BC8A-0BEE315F9BC6}" type="slidenum">
              <a:rPr lang="en-IN" smtClean="0"/>
              <a:t>‹#›</a:t>
            </a:fld>
            <a:endParaRPr lang="en-IN"/>
          </a:p>
        </p:txBody>
      </p:sp>
    </p:spTree>
    <p:extLst>
      <p:ext uri="{BB962C8B-B14F-4D97-AF65-F5344CB8AC3E}">
        <p14:creationId xmlns:p14="http://schemas.microsoft.com/office/powerpoint/2010/main" val="1747046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D4BF3-2088-E368-5547-3BEF0F917B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D63ECC1-C354-88FC-8B01-9C2B001778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C56B554-F3AD-5E22-CDFD-F14314049B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8CAD76-503E-AF8D-0B6A-CE10F1404594}"/>
              </a:ext>
            </a:extLst>
          </p:cNvPr>
          <p:cNvSpPr>
            <a:spLocks noGrp="1"/>
          </p:cNvSpPr>
          <p:nvPr>
            <p:ph type="dt" sz="half" idx="10"/>
          </p:nvPr>
        </p:nvSpPr>
        <p:spPr/>
        <p:txBody>
          <a:bodyPr/>
          <a:lstStyle/>
          <a:p>
            <a:fld id="{50CA97CF-0946-4307-BF9D-979F3273B37A}" type="datetimeFigureOut">
              <a:rPr lang="en-IN" smtClean="0"/>
              <a:t>10-03-2026</a:t>
            </a:fld>
            <a:endParaRPr lang="en-IN"/>
          </a:p>
        </p:txBody>
      </p:sp>
      <p:sp>
        <p:nvSpPr>
          <p:cNvPr id="6" name="Footer Placeholder 5">
            <a:extLst>
              <a:ext uri="{FF2B5EF4-FFF2-40B4-BE49-F238E27FC236}">
                <a16:creationId xmlns:a16="http://schemas.microsoft.com/office/drawing/2014/main" id="{3D561634-737F-AD71-0E81-F0B4E8A730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06072B-CD78-F90C-9CCA-02FE4155F84F}"/>
              </a:ext>
            </a:extLst>
          </p:cNvPr>
          <p:cNvSpPr>
            <a:spLocks noGrp="1"/>
          </p:cNvSpPr>
          <p:nvPr>
            <p:ph type="sldNum" sz="quarter" idx="12"/>
          </p:nvPr>
        </p:nvSpPr>
        <p:spPr/>
        <p:txBody>
          <a:bodyPr/>
          <a:lstStyle/>
          <a:p>
            <a:fld id="{911F9912-9141-4201-BC8A-0BEE315F9BC6}" type="slidenum">
              <a:rPr lang="en-IN" smtClean="0"/>
              <a:t>‹#›</a:t>
            </a:fld>
            <a:endParaRPr lang="en-IN"/>
          </a:p>
        </p:txBody>
      </p:sp>
    </p:spTree>
    <p:extLst>
      <p:ext uri="{BB962C8B-B14F-4D97-AF65-F5344CB8AC3E}">
        <p14:creationId xmlns:p14="http://schemas.microsoft.com/office/powerpoint/2010/main" val="3502565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E8B66-74F4-CFC8-244E-2B6AFB965C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A289727-0054-7B00-F82E-690EB1D370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084EFA7-4EF5-7450-50A1-C7BE1243B5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3DC34E-95D3-BC81-EEF0-9BD5E99FADE7}"/>
              </a:ext>
            </a:extLst>
          </p:cNvPr>
          <p:cNvSpPr>
            <a:spLocks noGrp="1"/>
          </p:cNvSpPr>
          <p:nvPr>
            <p:ph type="dt" sz="half" idx="10"/>
          </p:nvPr>
        </p:nvSpPr>
        <p:spPr/>
        <p:txBody>
          <a:bodyPr/>
          <a:lstStyle/>
          <a:p>
            <a:fld id="{50CA97CF-0946-4307-BF9D-979F3273B37A}" type="datetimeFigureOut">
              <a:rPr lang="en-IN" smtClean="0"/>
              <a:t>10-03-2026</a:t>
            </a:fld>
            <a:endParaRPr lang="en-IN"/>
          </a:p>
        </p:txBody>
      </p:sp>
      <p:sp>
        <p:nvSpPr>
          <p:cNvPr id="6" name="Footer Placeholder 5">
            <a:extLst>
              <a:ext uri="{FF2B5EF4-FFF2-40B4-BE49-F238E27FC236}">
                <a16:creationId xmlns:a16="http://schemas.microsoft.com/office/drawing/2014/main" id="{CEED2C01-5F9E-85D6-4B3E-F7076691BC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A6CD12-B535-D25B-93BA-C8CC4076D4C0}"/>
              </a:ext>
            </a:extLst>
          </p:cNvPr>
          <p:cNvSpPr>
            <a:spLocks noGrp="1"/>
          </p:cNvSpPr>
          <p:nvPr>
            <p:ph type="sldNum" sz="quarter" idx="12"/>
          </p:nvPr>
        </p:nvSpPr>
        <p:spPr/>
        <p:txBody>
          <a:bodyPr/>
          <a:lstStyle/>
          <a:p>
            <a:fld id="{911F9912-9141-4201-BC8A-0BEE315F9BC6}" type="slidenum">
              <a:rPr lang="en-IN" smtClean="0"/>
              <a:t>‹#›</a:t>
            </a:fld>
            <a:endParaRPr lang="en-IN"/>
          </a:p>
        </p:txBody>
      </p:sp>
    </p:spTree>
    <p:extLst>
      <p:ext uri="{BB962C8B-B14F-4D97-AF65-F5344CB8AC3E}">
        <p14:creationId xmlns:p14="http://schemas.microsoft.com/office/powerpoint/2010/main" val="3885018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A6CF6-B9D3-B672-157A-9B4E939644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45B01E-9A2A-8D95-159B-12FEB05F42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7EE2BC-FDFE-F88A-7131-D5819AE2D2D3}"/>
              </a:ext>
            </a:extLst>
          </p:cNvPr>
          <p:cNvSpPr>
            <a:spLocks noGrp="1"/>
          </p:cNvSpPr>
          <p:nvPr>
            <p:ph type="dt" sz="half" idx="10"/>
          </p:nvPr>
        </p:nvSpPr>
        <p:spPr/>
        <p:txBody>
          <a:bodyPr/>
          <a:lstStyle/>
          <a:p>
            <a:fld id="{50CA97CF-0946-4307-BF9D-979F3273B37A}" type="datetimeFigureOut">
              <a:rPr lang="en-IN" smtClean="0"/>
              <a:t>10-03-2026</a:t>
            </a:fld>
            <a:endParaRPr lang="en-IN"/>
          </a:p>
        </p:txBody>
      </p:sp>
      <p:sp>
        <p:nvSpPr>
          <p:cNvPr id="5" name="Footer Placeholder 4">
            <a:extLst>
              <a:ext uri="{FF2B5EF4-FFF2-40B4-BE49-F238E27FC236}">
                <a16:creationId xmlns:a16="http://schemas.microsoft.com/office/drawing/2014/main" id="{4911290D-7468-7DFD-AB75-1B97A6BB04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336BF8-25E5-D7BE-05BF-2784AFC0FAF0}"/>
              </a:ext>
            </a:extLst>
          </p:cNvPr>
          <p:cNvSpPr>
            <a:spLocks noGrp="1"/>
          </p:cNvSpPr>
          <p:nvPr>
            <p:ph type="sldNum" sz="quarter" idx="12"/>
          </p:nvPr>
        </p:nvSpPr>
        <p:spPr/>
        <p:txBody>
          <a:bodyPr/>
          <a:lstStyle/>
          <a:p>
            <a:fld id="{911F9912-9141-4201-BC8A-0BEE315F9BC6}" type="slidenum">
              <a:rPr lang="en-IN" smtClean="0"/>
              <a:t>‹#›</a:t>
            </a:fld>
            <a:endParaRPr lang="en-IN"/>
          </a:p>
        </p:txBody>
      </p:sp>
    </p:spTree>
    <p:extLst>
      <p:ext uri="{BB962C8B-B14F-4D97-AF65-F5344CB8AC3E}">
        <p14:creationId xmlns:p14="http://schemas.microsoft.com/office/powerpoint/2010/main" val="201544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F4452D-9E9C-1206-21C7-B29025A375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850410-CC4E-C7EE-2E19-47F015B38B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A75C18-61A0-89CE-9428-DD26F4AD7B0B}"/>
              </a:ext>
            </a:extLst>
          </p:cNvPr>
          <p:cNvSpPr>
            <a:spLocks noGrp="1"/>
          </p:cNvSpPr>
          <p:nvPr>
            <p:ph type="dt" sz="half" idx="10"/>
          </p:nvPr>
        </p:nvSpPr>
        <p:spPr/>
        <p:txBody>
          <a:bodyPr/>
          <a:lstStyle/>
          <a:p>
            <a:fld id="{50CA97CF-0946-4307-BF9D-979F3273B37A}" type="datetimeFigureOut">
              <a:rPr lang="en-IN" smtClean="0"/>
              <a:t>10-03-2026</a:t>
            </a:fld>
            <a:endParaRPr lang="en-IN"/>
          </a:p>
        </p:txBody>
      </p:sp>
      <p:sp>
        <p:nvSpPr>
          <p:cNvPr id="5" name="Footer Placeholder 4">
            <a:extLst>
              <a:ext uri="{FF2B5EF4-FFF2-40B4-BE49-F238E27FC236}">
                <a16:creationId xmlns:a16="http://schemas.microsoft.com/office/drawing/2014/main" id="{D4AEDBE0-FF8A-F169-999F-79E659D97C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C84907-2E79-0B13-7027-3DA7BF4BE9C8}"/>
              </a:ext>
            </a:extLst>
          </p:cNvPr>
          <p:cNvSpPr>
            <a:spLocks noGrp="1"/>
          </p:cNvSpPr>
          <p:nvPr>
            <p:ph type="sldNum" sz="quarter" idx="12"/>
          </p:nvPr>
        </p:nvSpPr>
        <p:spPr/>
        <p:txBody>
          <a:bodyPr/>
          <a:lstStyle/>
          <a:p>
            <a:fld id="{911F9912-9141-4201-BC8A-0BEE315F9BC6}" type="slidenum">
              <a:rPr lang="en-IN" smtClean="0"/>
              <a:t>‹#›</a:t>
            </a:fld>
            <a:endParaRPr lang="en-IN"/>
          </a:p>
        </p:txBody>
      </p:sp>
    </p:spTree>
    <p:extLst>
      <p:ext uri="{BB962C8B-B14F-4D97-AF65-F5344CB8AC3E}">
        <p14:creationId xmlns:p14="http://schemas.microsoft.com/office/powerpoint/2010/main" val="3507441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8FC093-6C90-A2C1-5F44-A7B9720EB1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A1AC94-FECE-40AF-C41A-0C85EA34A3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F4A36D-8709-A90C-87D9-23BE6830A3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CA97CF-0946-4307-BF9D-979F3273B37A}" type="datetimeFigureOut">
              <a:rPr lang="en-IN" smtClean="0"/>
              <a:t>10-03-2026</a:t>
            </a:fld>
            <a:endParaRPr lang="en-IN"/>
          </a:p>
        </p:txBody>
      </p:sp>
      <p:sp>
        <p:nvSpPr>
          <p:cNvPr id="5" name="Footer Placeholder 4">
            <a:extLst>
              <a:ext uri="{FF2B5EF4-FFF2-40B4-BE49-F238E27FC236}">
                <a16:creationId xmlns:a16="http://schemas.microsoft.com/office/drawing/2014/main" id="{44ACB1E6-DAE4-E337-CC51-4132A4EFE9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B74A278-1AF6-1708-754B-5E8FAC0403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1F9912-9141-4201-BC8A-0BEE315F9BC6}" type="slidenum">
              <a:rPr lang="en-IN" smtClean="0"/>
              <a:t>‹#›</a:t>
            </a:fld>
            <a:endParaRPr lang="en-IN"/>
          </a:p>
        </p:txBody>
      </p:sp>
    </p:spTree>
    <p:extLst>
      <p:ext uri="{BB962C8B-B14F-4D97-AF65-F5344CB8AC3E}">
        <p14:creationId xmlns:p14="http://schemas.microsoft.com/office/powerpoint/2010/main" val="300879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customXml" Target="../ink/ink1.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image" Target="../media/image39.emf"/><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5" name="Shape 85"/>
          <p:cNvSpPr txBox="1">
            <a:spLocks noGrp="1"/>
          </p:cNvSpPr>
          <p:nvPr>
            <p:ph type="sldNum" idx="12"/>
          </p:nvPr>
        </p:nvSpPr>
        <p:spPr>
          <a:xfrm>
            <a:off x="8077201" y="6356351"/>
            <a:ext cx="2133599" cy="365125"/>
          </a:xfrm>
          <a:prstGeom prst="rect">
            <a:avLst/>
          </a:prstGeom>
          <a:noFill/>
          <a:ln>
            <a:noFill/>
          </a:ln>
        </p:spPr>
        <p:txBody>
          <a:bodyPr vert="horz" lIns="91425" tIns="45700" rIns="91425" bIns="45700" rtlCol="0" anchor="ctr" anchorCtr="0">
            <a:noAutofit/>
          </a:bodyPr>
          <a:lstStyle/>
          <a:p>
            <a:pPr>
              <a:buSzPct val="25000"/>
            </a:pPr>
            <a:fld id="{00000000-1234-1234-1234-123412341234}" type="slidenum">
              <a:rPr lang="en-IN">
                <a:solidFill>
                  <a:srgbClr val="888888"/>
                </a:solidFill>
                <a:latin typeface="Calibri"/>
                <a:ea typeface="Calibri"/>
                <a:cs typeface="Calibri"/>
                <a:sym typeface="Calibri"/>
              </a:rPr>
              <a:pPr>
                <a:buSzPct val="25000"/>
              </a:pPr>
              <a:t>1</a:t>
            </a:fld>
            <a:endParaRPr lang="en-IN">
              <a:solidFill>
                <a:srgbClr val="888888"/>
              </a:solidFill>
              <a:latin typeface="Calibri"/>
              <a:ea typeface="Calibri"/>
              <a:cs typeface="Calibri"/>
              <a:sym typeface="Calibri"/>
            </a:endParaRPr>
          </a:p>
        </p:txBody>
      </p:sp>
      <p:sp>
        <p:nvSpPr>
          <p:cNvPr id="2" name="Rectangle 1"/>
          <p:cNvSpPr/>
          <p:nvPr/>
        </p:nvSpPr>
        <p:spPr>
          <a:xfrm>
            <a:off x="516078" y="1492835"/>
            <a:ext cx="10599774" cy="1077218"/>
          </a:xfrm>
          <a:prstGeom prst="rect">
            <a:avLst/>
          </a:prstGeom>
        </p:spPr>
        <p:txBody>
          <a:bodyPr wrap="square">
            <a:spAutoFit/>
          </a:bodyPr>
          <a:lstStyle/>
          <a:p>
            <a:endParaRPr lang="en-IN" sz="2400" b="1" dirty="0"/>
          </a:p>
          <a:p>
            <a:endParaRPr lang="en-IN" sz="2000" dirty="0"/>
          </a:p>
          <a:p>
            <a:endParaRPr lang="en-IN" sz="2000" dirty="0"/>
          </a:p>
        </p:txBody>
      </p:sp>
      <p:sp>
        <p:nvSpPr>
          <p:cNvPr id="5" name="Rectangle 4"/>
          <p:cNvSpPr/>
          <p:nvPr/>
        </p:nvSpPr>
        <p:spPr>
          <a:xfrm>
            <a:off x="721039" y="682986"/>
            <a:ext cx="8699500" cy="4262705"/>
          </a:xfrm>
          <a:prstGeom prst="rect">
            <a:avLst/>
          </a:prstGeom>
        </p:spPr>
        <p:txBody>
          <a:bodyPr wrap="square">
            <a:spAutoFit/>
          </a:bodyPr>
          <a:lstStyle/>
          <a:p>
            <a:endParaRPr lang="en-IN" sz="2000" b="1" dirty="0"/>
          </a:p>
          <a:p>
            <a:r>
              <a:rPr lang="en-US" sz="2400" b="1" dirty="0"/>
              <a:t>Recommended </a:t>
            </a:r>
            <a:r>
              <a:rPr lang="en-IN" sz="2400" b="1" dirty="0"/>
              <a:t>Books:</a:t>
            </a:r>
            <a:endParaRPr lang="en-IN" sz="2400" dirty="0"/>
          </a:p>
          <a:p>
            <a:pPr marL="285750" indent="-285750">
              <a:spcAft>
                <a:spcPts val="600"/>
              </a:spcAft>
              <a:buFont typeface="Arial" panose="020B0604020202020204" pitchFamily="34" charset="0"/>
              <a:buChar char="•"/>
            </a:pPr>
            <a:r>
              <a:rPr lang="en-IN" sz="2200" dirty="0"/>
              <a:t>Spectrometric Identification of Organic Compounds. </a:t>
            </a:r>
            <a:r>
              <a:rPr lang="en-IN" sz="2200" i="1" dirty="0"/>
              <a:t>Robert M. Silverstein, Francis X. Webster, David J. </a:t>
            </a:r>
            <a:r>
              <a:rPr lang="en-IN" sz="2200" i="1" dirty="0" err="1"/>
              <a:t>Kiemel</a:t>
            </a:r>
            <a:r>
              <a:rPr lang="en-IN" sz="2200" i="1" dirty="0"/>
              <a:t>, David L. Bryce</a:t>
            </a:r>
          </a:p>
          <a:p>
            <a:pPr marL="285750" indent="-285750">
              <a:spcAft>
                <a:spcPts val="600"/>
              </a:spcAft>
              <a:buFont typeface="Arial" panose="020B0604020202020204" pitchFamily="34" charset="0"/>
              <a:buChar char="•"/>
            </a:pPr>
            <a:r>
              <a:rPr lang="en-IN" sz="2200" dirty="0"/>
              <a:t>Introduction to Spectroscopy. </a:t>
            </a:r>
            <a:r>
              <a:rPr lang="en-IN" sz="2200" i="1" dirty="0"/>
              <a:t>Donald L. Pavia, Gary M. </a:t>
            </a:r>
            <a:r>
              <a:rPr lang="en-IN" sz="2200" i="1" dirty="0" err="1"/>
              <a:t>Lampman</a:t>
            </a:r>
            <a:r>
              <a:rPr lang="en-IN" sz="2200" i="1" dirty="0"/>
              <a:t>, George S. Kriz, James R. Vyvyan</a:t>
            </a:r>
          </a:p>
          <a:p>
            <a:pPr marL="285750" indent="-285750">
              <a:spcAft>
                <a:spcPts val="600"/>
              </a:spcAft>
              <a:buFont typeface="Arial" panose="020B0604020202020204" pitchFamily="34" charset="0"/>
              <a:buChar char="•"/>
            </a:pPr>
            <a:r>
              <a:rPr lang="en-US" sz="2400" b="1" dirty="0"/>
              <a:t>Fundamentals of Molecular Spectroscopy </a:t>
            </a:r>
            <a:r>
              <a:rPr lang="en-US" sz="2400" dirty="0"/>
              <a:t>by Colin N. Banwell and Elaine M. Mccash</a:t>
            </a:r>
          </a:p>
          <a:p>
            <a:pPr marL="285750" indent="-285750">
              <a:spcAft>
                <a:spcPts val="600"/>
              </a:spcAft>
              <a:buFont typeface="Arial" panose="020B0604020202020204" pitchFamily="34" charset="0"/>
              <a:buChar char="•"/>
            </a:pPr>
            <a:r>
              <a:rPr lang="en-IN" sz="2200" dirty="0"/>
              <a:t>Organic Spectroscopy. </a:t>
            </a:r>
            <a:r>
              <a:rPr lang="en-IN" sz="2200" i="1" dirty="0"/>
              <a:t>William Kemp</a:t>
            </a:r>
          </a:p>
          <a:p>
            <a:pPr marL="285750" indent="-285750">
              <a:spcAft>
                <a:spcPts val="600"/>
              </a:spcAft>
              <a:buFont typeface="Arial" panose="020B0604020202020204" pitchFamily="34" charset="0"/>
              <a:buChar char="•"/>
            </a:pPr>
            <a:r>
              <a:rPr lang="en-US" sz="2200" dirty="0"/>
              <a:t>Spectroscopy of Organic Compounds. </a:t>
            </a:r>
            <a:r>
              <a:rPr lang="en-US" sz="2200" i="1" dirty="0"/>
              <a:t>P. S. Kalsi</a:t>
            </a:r>
          </a:p>
          <a:p>
            <a:pPr marL="285750" indent="-285750">
              <a:spcAft>
                <a:spcPts val="600"/>
              </a:spcAft>
              <a:buFont typeface="Arial" panose="020B0604020202020204" pitchFamily="34" charset="0"/>
              <a:buChar char="•"/>
            </a:pPr>
            <a:endParaRPr lang="en-IN" sz="2200" i="1" dirty="0"/>
          </a:p>
        </p:txBody>
      </p:sp>
      <p:sp>
        <p:nvSpPr>
          <p:cNvPr id="11" name="Rectangle 10"/>
          <p:cNvSpPr/>
          <p:nvPr/>
        </p:nvSpPr>
        <p:spPr>
          <a:xfrm>
            <a:off x="5386920" y="128988"/>
            <a:ext cx="1412567" cy="553998"/>
          </a:xfrm>
          <a:prstGeom prst="rect">
            <a:avLst/>
          </a:prstGeom>
        </p:spPr>
        <p:txBody>
          <a:bodyPr wrap="none">
            <a:spAutoFit/>
          </a:bodyPr>
          <a:lstStyle/>
          <a:p>
            <a:pPr algn="ctr"/>
            <a:r>
              <a:rPr lang="en-IN" sz="3000" b="1" dirty="0">
                <a:solidFill>
                  <a:srgbClr val="000000"/>
                </a:solidFill>
              </a:rPr>
              <a:t>CH4206</a:t>
            </a:r>
          </a:p>
        </p:txBody>
      </p:sp>
    </p:spTree>
    <p:extLst>
      <p:ext uri="{BB962C8B-B14F-4D97-AF65-F5344CB8AC3E}">
        <p14:creationId xmlns:p14="http://schemas.microsoft.com/office/powerpoint/2010/main" val="37599802"/>
      </p:ext>
    </p:extLst>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121136D-F802-8686-B29F-69099311F4C9}"/>
              </a:ext>
            </a:extLst>
          </p:cNvPr>
          <p:cNvSpPr>
            <a:spLocks noChangeArrowheads="1"/>
          </p:cNvSpPr>
          <p:nvPr/>
        </p:nvSpPr>
        <p:spPr bwMode="auto">
          <a:xfrm>
            <a:off x="0" y="0"/>
            <a:ext cx="8514098"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000" b="1" i="0" u="none" strike="noStrike" cap="none" normalizeH="0" baseline="0" dirty="0">
                <a:ln>
                  <a:noFill/>
                </a:ln>
                <a:solidFill>
                  <a:schemeClr val="tx1"/>
                </a:solidFill>
                <a:effectLst/>
                <a:cs typeface="Arial" panose="020B0604020202020204" pitchFamily="34" charset="0"/>
              </a:rPr>
              <a:t>Challenge in </a:t>
            </a:r>
            <a:r>
              <a:rPr lang="en-US" altLang="en-US" sz="2000" b="1" dirty="0">
                <a:cs typeface="Arial" panose="020B0604020202020204" pitchFamily="34" charset="0"/>
              </a:rPr>
              <a:t>Synthetic Chemistry</a:t>
            </a:r>
            <a:endParaRPr kumimoji="0" lang="en-US" altLang="en-US" sz="2000" b="0" i="0" u="none" strike="noStrike" cap="none" normalizeH="0" baseline="0" dirty="0">
              <a:ln>
                <a:noFill/>
              </a:ln>
              <a:solidFill>
                <a:schemeClr val="tx1"/>
              </a:solidFill>
              <a:effectLst/>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cs typeface="Arial" panose="020B0604020202020204" pitchFamily="34" charset="0"/>
              </a:rPr>
              <a:t>Molecules are invisible to the naked eye.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cs typeface="Arial" panose="020B0604020202020204" pitchFamily="34" charset="0"/>
              </a:rPr>
              <a:t>Chemical reactions often confirmation of the product's structure.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cs typeface="Arial" panose="020B0604020202020204" pitchFamily="34" charset="0"/>
              </a:rPr>
              <a:t>Enables synthesis of organic and inorganic molecules.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cs typeface="Arial" panose="020B0604020202020204" pitchFamily="34" charset="0"/>
              </a:rPr>
              <a:t>Requires precise tools to determine: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cs typeface="Arial" panose="020B0604020202020204" pitchFamily="34" charset="0"/>
              </a:rPr>
              <a:t>Exact molecular structure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cs typeface="Arial" panose="020B0604020202020204" pitchFamily="34" charset="0"/>
              </a:rPr>
              <a:t>Atomic connectivity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cs typeface="Arial" panose="020B0604020202020204" pitchFamily="34" charset="0"/>
              </a:rPr>
              <a:t>Stereochemistry</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cs typeface="Arial" panose="020B0604020202020204" pitchFamily="34" charset="0"/>
              </a:rPr>
              <a:t>NMR Spectroscopy: A Powerful Solution</a:t>
            </a:r>
            <a:endParaRPr kumimoji="0" lang="en-US" altLang="en-US" sz="2000" b="0" i="0" u="none" strike="noStrike" cap="none" normalizeH="0" baseline="0" dirty="0">
              <a:ln>
                <a:noFill/>
              </a:ln>
              <a:solidFill>
                <a:schemeClr val="tx1"/>
              </a:solidFill>
              <a:effectLst/>
              <a:cs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cs typeface="Arial" panose="020B0604020202020204" pitchFamily="34" charset="0"/>
              </a:rPr>
              <a:t>Utilizes the nuclear spin of certain isotopes (e.g., ¹H, ¹³C).</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cs typeface="Arial" panose="020B0604020202020204" pitchFamily="34" charset="0"/>
              </a:rPr>
              <a:t>Molecules are placed in an external magnetic field and irradiated with RF light.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cs typeface="Arial" panose="020B0604020202020204" pitchFamily="34" charset="0"/>
              </a:rPr>
              <a:t>Yields NMR spectra that: Reveal chemical environments of nuclei,</a:t>
            </a:r>
            <a:r>
              <a:rPr kumimoji="0" lang="en-US" altLang="en-US" sz="2000" b="0" i="0" u="none" strike="noStrike" cap="none" normalizeH="0" dirty="0">
                <a:ln>
                  <a:noFill/>
                </a:ln>
                <a:solidFill>
                  <a:schemeClr val="tx1"/>
                </a:solidFill>
                <a:effectLst/>
                <a:cs typeface="Arial" panose="020B0604020202020204" pitchFamily="34" charset="0"/>
              </a:rPr>
              <a:t> </a:t>
            </a:r>
            <a:r>
              <a:rPr kumimoji="0" lang="en-US" altLang="en-US" sz="2000" b="0" i="0" u="none" strike="noStrike" cap="none" normalizeH="0" baseline="0" dirty="0">
                <a:ln>
                  <a:noFill/>
                </a:ln>
                <a:solidFill>
                  <a:schemeClr val="tx1"/>
                </a:solidFill>
                <a:effectLst/>
                <a:cs typeface="Arial" panose="020B0604020202020204" pitchFamily="34" charset="0"/>
              </a:rPr>
              <a:t>Help deduce the molecule's exact structure.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cs typeface="Arial" panose="020B0604020202020204" pitchFamily="34" charset="0"/>
            </a:endParaRPr>
          </a:p>
        </p:txBody>
      </p:sp>
      <p:sp>
        <p:nvSpPr>
          <p:cNvPr id="11" name="Slide Number Placeholder 10">
            <a:extLst>
              <a:ext uri="{FF2B5EF4-FFF2-40B4-BE49-F238E27FC236}">
                <a16:creationId xmlns:a16="http://schemas.microsoft.com/office/drawing/2014/main" id="{34D8F895-DE6B-837E-D830-237D38CB4AC0}"/>
              </a:ext>
            </a:extLst>
          </p:cNvPr>
          <p:cNvSpPr>
            <a:spLocks noGrp="1"/>
          </p:cNvSpPr>
          <p:nvPr>
            <p:ph type="sldNum" sz="quarter" idx="12"/>
          </p:nvPr>
        </p:nvSpPr>
        <p:spPr/>
        <p:txBody>
          <a:bodyPr/>
          <a:lstStyle/>
          <a:p>
            <a:r>
              <a:rPr lang="en-IN" dirty="0"/>
              <a:t>2</a:t>
            </a:r>
          </a:p>
        </p:txBody>
      </p:sp>
      <p:pic>
        <p:nvPicPr>
          <p:cNvPr id="1026" name="Picture 2">
            <a:extLst>
              <a:ext uri="{FF2B5EF4-FFF2-40B4-BE49-F238E27FC236}">
                <a16:creationId xmlns:a16="http://schemas.microsoft.com/office/drawing/2014/main" id="{790A6C8A-0ADE-260A-AED7-41BCD3173E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4900" y="0"/>
            <a:ext cx="476250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D6D519E-05CC-0BC6-2188-A506CC738B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225" y="3649369"/>
            <a:ext cx="3921775" cy="3137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9018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97036B-7805-EFE7-EB3D-9742C571EA09}"/>
              </a:ext>
            </a:extLst>
          </p:cNvPr>
          <p:cNvSpPr>
            <a:spLocks noGrp="1"/>
          </p:cNvSpPr>
          <p:nvPr>
            <p:ph type="sldNum" sz="quarter" idx="12"/>
          </p:nvPr>
        </p:nvSpPr>
        <p:spPr/>
        <p:txBody>
          <a:bodyPr/>
          <a:lstStyle/>
          <a:p>
            <a:fld id="{89849948-AC6C-46F7-840C-B23B7E202BA5}" type="slidenum">
              <a:rPr lang="en-US" smtClean="0"/>
              <a:pPr/>
              <a:t>3</a:t>
            </a:fld>
            <a:endParaRPr lang="en-US"/>
          </a:p>
        </p:txBody>
      </p:sp>
      <p:pic>
        <p:nvPicPr>
          <p:cNvPr id="1026" name="Picture 2" descr="Crystals | Free Full-Text | Synthesis and X-ray Crystal Structure of  N'-Cyano-N,N'-dimethyl-4-nitrobenzohydrazide">
            <a:extLst>
              <a:ext uri="{FF2B5EF4-FFF2-40B4-BE49-F238E27FC236}">
                <a16:creationId xmlns:a16="http://schemas.microsoft.com/office/drawing/2014/main" id="{D9ABFD45-8D48-423B-B24D-B9B6451EFD0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29000" y="1371600"/>
            <a:ext cx="4800600" cy="300537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2D6A985-02B8-02FF-BFE9-811042F50974}"/>
              </a:ext>
            </a:extLst>
          </p:cNvPr>
          <p:cNvSpPr txBox="1"/>
          <p:nvPr/>
        </p:nvSpPr>
        <p:spPr>
          <a:xfrm>
            <a:off x="4648200" y="362195"/>
            <a:ext cx="2894126" cy="461665"/>
          </a:xfrm>
          <a:prstGeom prst="rect">
            <a:avLst/>
          </a:prstGeom>
          <a:noFill/>
        </p:spPr>
        <p:txBody>
          <a:bodyPr wrap="none" rtlCol="0">
            <a:spAutoFit/>
          </a:bodyPr>
          <a:lstStyle/>
          <a:p>
            <a:r>
              <a:rPr lang="en-IN" sz="2400" b="1" dirty="0">
                <a:solidFill>
                  <a:srgbClr val="C00000"/>
                </a:solidFill>
              </a:rPr>
              <a:t>X-ray Crystallography</a:t>
            </a:r>
          </a:p>
        </p:txBody>
      </p:sp>
      <p:sp>
        <p:nvSpPr>
          <p:cNvPr id="4" name="TextBox 3">
            <a:extLst>
              <a:ext uri="{FF2B5EF4-FFF2-40B4-BE49-F238E27FC236}">
                <a16:creationId xmlns:a16="http://schemas.microsoft.com/office/drawing/2014/main" id="{7ADE5FA8-1BF4-D0DF-CF04-782FCC4F82C0}"/>
              </a:ext>
            </a:extLst>
          </p:cNvPr>
          <p:cNvSpPr txBox="1"/>
          <p:nvPr/>
        </p:nvSpPr>
        <p:spPr>
          <a:xfrm>
            <a:off x="1751863" y="4724401"/>
            <a:ext cx="8686800" cy="880369"/>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ü"/>
            </a:pPr>
            <a:r>
              <a:rPr lang="en-IN" dirty="0"/>
              <a:t>The best technique to elucidate the chemical structure of a compound including </a:t>
            </a:r>
          </a:p>
          <a:p>
            <a:pPr>
              <a:lnSpc>
                <a:spcPct val="150000"/>
              </a:lnSpc>
            </a:pPr>
            <a:r>
              <a:rPr lang="en-IN" dirty="0"/>
              <a:t>stereochemistry</a:t>
            </a:r>
          </a:p>
        </p:txBody>
      </p:sp>
      <p:sp>
        <p:nvSpPr>
          <p:cNvPr id="5" name="TextBox 4">
            <a:extLst>
              <a:ext uri="{FF2B5EF4-FFF2-40B4-BE49-F238E27FC236}">
                <a16:creationId xmlns:a16="http://schemas.microsoft.com/office/drawing/2014/main" id="{1BBA7243-6110-8A6D-2632-F443A346FA21}"/>
              </a:ext>
            </a:extLst>
          </p:cNvPr>
          <p:cNvSpPr txBox="1"/>
          <p:nvPr/>
        </p:nvSpPr>
        <p:spPr>
          <a:xfrm>
            <a:off x="1676400" y="5794189"/>
            <a:ext cx="8686800" cy="464871"/>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ü"/>
            </a:pPr>
            <a:r>
              <a:rPr lang="en-IN" dirty="0"/>
              <a:t>However, can be performed ONLY for solid state samples which are called single crystals</a:t>
            </a:r>
          </a:p>
        </p:txBody>
      </p:sp>
    </p:spTree>
    <p:extLst>
      <p:ext uri="{BB962C8B-B14F-4D97-AF65-F5344CB8AC3E}">
        <p14:creationId xmlns:p14="http://schemas.microsoft.com/office/powerpoint/2010/main" val="3268435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8BF243-D18C-C51F-C838-0E341DC06784}"/>
              </a:ext>
            </a:extLst>
          </p:cNvPr>
          <p:cNvSpPr>
            <a:spLocks noGrp="1"/>
          </p:cNvSpPr>
          <p:nvPr>
            <p:ph type="sldNum" sz="quarter" idx="12"/>
          </p:nvPr>
        </p:nvSpPr>
        <p:spPr/>
        <p:txBody>
          <a:bodyPr/>
          <a:lstStyle/>
          <a:p>
            <a:fld id="{89849948-AC6C-46F7-840C-B23B7E202BA5}" type="slidenum">
              <a:rPr lang="en-US" smtClean="0"/>
              <a:pPr/>
              <a:t>4</a:t>
            </a:fld>
            <a:endParaRPr lang="en-US"/>
          </a:p>
        </p:txBody>
      </p:sp>
      <p:sp>
        <p:nvSpPr>
          <p:cNvPr id="3" name="TextBox 2">
            <a:extLst>
              <a:ext uri="{FF2B5EF4-FFF2-40B4-BE49-F238E27FC236}">
                <a16:creationId xmlns:a16="http://schemas.microsoft.com/office/drawing/2014/main" id="{080266FE-FD62-B99E-F0E1-E122139EFE38}"/>
              </a:ext>
            </a:extLst>
          </p:cNvPr>
          <p:cNvSpPr txBox="1"/>
          <p:nvPr/>
        </p:nvSpPr>
        <p:spPr>
          <a:xfrm>
            <a:off x="4953001" y="89575"/>
            <a:ext cx="2595069" cy="461665"/>
          </a:xfrm>
          <a:prstGeom prst="rect">
            <a:avLst/>
          </a:prstGeom>
          <a:noFill/>
        </p:spPr>
        <p:txBody>
          <a:bodyPr wrap="none" rtlCol="0">
            <a:spAutoFit/>
          </a:bodyPr>
          <a:lstStyle/>
          <a:p>
            <a:r>
              <a:rPr lang="en-IN" sz="2400" b="1" dirty="0">
                <a:solidFill>
                  <a:srgbClr val="C00000"/>
                </a:solidFill>
              </a:rPr>
              <a:t>NMR Spectroscopy</a:t>
            </a:r>
          </a:p>
        </p:txBody>
      </p:sp>
      <p:grpSp>
        <p:nvGrpSpPr>
          <p:cNvPr id="5" name="Group 4">
            <a:extLst>
              <a:ext uri="{FF2B5EF4-FFF2-40B4-BE49-F238E27FC236}">
                <a16:creationId xmlns:a16="http://schemas.microsoft.com/office/drawing/2014/main" id="{77FA00A0-204D-BE1C-9A99-27E0E8EA95D7}"/>
              </a:ext>
            </a:extLst>
          </p:cNvPr>
          <p:cNvGrpSpPr/>
          <p:nvPr/>
        </p:nvGrpSpPr>
        <p:grpSpPr>
          <a:xfrm>
            <a:off x="3097282" y="551240"/>
            <a:ext cx="5924550" cy="4197607"/>
            <a:chOff x="1609725" y="1219200"/>
            <a:chExt cx="5924550" cy="4197607"/>
          </a:xfrm>
        </p:grpSpPr>
        <p:pic>
          <p:nvPicPr>
            <p:cNvPr id="2050" name="Picture 2" descr="Methamphetamine and MDMA - Structural Similarity in NMR Spectroscopy —  Nanalysis">
              <a:extLst>
                <a:ext uri="{FF2B5EF4-FFF2-40B4-BE49-F238E27FC236}">
                  <a16:creationId xmlns:a16="http://schemas.microsoft.com/office/drawing/2014/main" id="{04E9A3BF-7894-16B0-3C25-6CA28C2F5D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9725" y="1219200"/>
              <a:ext cx="5924550" cy="41976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8E4CABD-995B-BE3F-EF41-13886424B20F}"/>
                </a:ext>
              </a:extLst>
            </p:cNvPr>
            <p:cNvSpPr txBox="1"/>
            <p:nvPr/>
          </p:nvSpPr>
          <p:spPr>
            <a:xfrm>
              <a:off x="1752600" y="1371600"/>
              <a:ext cx="762000" cy="369332"/>
            </a:xfrm>
            <a:prstGeom prst="rect">
              <a:avLst/>
            </a:prstGeom>
            <a:solidFill>
              <a:schemeClr val="bg1"/>
            </a:solidFill>
          </p:spPr>
          <p:txBody>
            <a:bodyPr wrap="square" rtlCol="0">
              <a:spAutoFit/>
            </a:bodyPr>
            <a:lstStyle/>
            <a:p>
              <a:endParaRPr lang="en-IN" dirty="0"/>
            </a:p>
          </p:txBody>
        </p:sp>
      </p:grpSp>
      <p:sp>
        <p:nvSpPr>
          <p:cNvPr id="6" name="TextBox 5">
            <a:extLst>
              <a:ext uri="{FF2B5EF4-FFF2-40B4-BE49-F238E27FC236}">
                <a16:creationId xmlns:a16="http://schemas.microsoft.com/office/drawing/2014/main" id="{40D4465D-FD4A-DD57-7EAC-F10C047E65A6}"/>
              </a:ext>
            </a:extLst>
          </p:cNvPr>
          <p:cNvSpPr txBox="1"/>
          <p:nvPr/>
        </p:nvSpPr>
        <p:spPr>
          <a:xfrm>
            <a:off x="1981201" y="5080610"/>
            <a:ext cx="7092391" cy="1295868"/>
          </a:xfrm>
          <a:prstGeom prst="rect">
            <a:avLst/>
          </a:prstGeom>
          <a:noFill/>
        </p:spPr>
        <p:txBody>
          <a:bodyPr wrap="none" rtlCol="0">
            <a:spAutoFit/>
          </a:bodyPr>
          <a:lstStyle/>
          <a:p>
            <a:pPr marL="285750" indent="-285750">
              <a:lnSpc>
                <a:spcPct val="150000"/>
              </a:lnSpc>
              <a:buFont typeface="Wingdings" panose="05000000000000000000" pitchFamily="2" charset="2"/>
              <a:buChar char="ü"/>
            </a:pPr>
            <a:r>
              <a:rPr lang="en-IN" dirty="0"/>
              <a:t>We don’t get the structure directly</a:t>
            </a:r>
          </a:p>
          <a:p>
            <a:pPr marL="285750" indent="-285750">
              <a:lnSpc>
                <a:spcPct val="150000"/>
              </a:lnSpc>
              <a:buFont typeface="Wingdings" panose="05000000000000000000" pitchFamily="2" charset="2"/>
              <a:buChar char="ü"/>
            </a:pPr>
            <a:r>
              <a:rPr lang="en-IN" dirty="0"/>
              <a:t>Rather we get a kind of code from which we can arrive at the structure</a:t>
            </a:r>
          </a:p>
          <a:p>
            <a:pPr marL="285750" indent="-285750">
              <a:lnSpc>
                <a:spcPct val="150000"/>
              </a:lnSpc>
              <a:buFont typeface="Wingdings" panose="05000000000000000000" pitchFamily="2" charset="2"/>
              <a:buChar char="ü"/>
            </a:pPr>
            <a:r>
              <a:rPr lang="en-IN" dirty="0"/>
              <a:t>Can be performed in liquid, solid and gas phase</a:t>
            </a:r>
          </a:p>
        </p:txBody>
      </p:sp>
    </p:spTree>
    <p:extLst>
      <p:ext uri="{BB962C8B-B14F-4D97-AF65-F5344CB8AC3E}">
        <p14:creationId xmlns:p14="http://schemas.microsoft.com/office/powerpoint/2010/main" val="1038574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9849948-AC6C-46F7-840C-B23B7E202BA5}" type="slidenum">
              <a:rPr lang="en-US" smtClean="0"/>
              <a:pPr/>
              <a:t>5</a:t>
            </a:fld>
            <a:endParaRPr lang="en-US"/>
          </a:p>
        </p:txBody>
      </p:sp>
      <p:sp>
        <p:nvSpPr>
          <p:cNvPr id="1028" name="AutoShape 4" descr="Image result for NMR of organic molecule"/>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9" name="TextBox 8"/>
          <p:cNvSpPr txBox="1"/>
          <p:nvPr/>
        </p:nvSpPr>
        <p:spPr>
          <a:xfrm>
            <a:off x="4660230" y="381000"/>
            <a:ext cx="3157724" cy="400110"/>
          </a:xfrm>
          <a:prstGeom prst="rect">
            <a:avLst/>
          </a:prstGeom>
          <a:noFill/>
        </p:spPr>
        <p:txBody>
          <a:bodyPr wrap="none" rtlCol="0">
            <a:spAutoFit/>
          </a:bodyPr>
          <a:lstStyle/>
          <a:p>
            <a:r>
              <a:rPr lang="en-US" sz="2000" b="1" i="1" dirty="0">
                <a:solidFill>
                  <a:srgbClr val="FF0000"/>
                </a:solidFill>
              </a:rPr>
              <a:t>What is NMR Spectroscopy?</a:t>
            </a:r>
          </a:p>
        </p:txBody>
      </p:sp>
      <p:sp>
        <p:nvSpPr>
          <p:cNvPr id="10" name="TextBox 9"/>
          <p:cNvSpPr txBox="1"/>
          <p:nvPr/>
        </p:nvSpPr>
        <p:spPr>
          <a:xfrm>
            <a:off x="1818258" y="1295400"/>
            <a:ext cx="4561890" cy="369332"/>
          </a:xfrm>
          <a:prstGeom prst="rect">
            <a:avLst/>
          </a:prstGeom>
          <a:noFill/>
        </p:spPr>
        <p:txBody>
          <a:bodyPr wrap="none" rtlCol="0">
            <a:spAutoFit/>
          </a:bodyPr>
          <a:lstStyle/>
          <a:p>
            <a:pPr marL="285750" indent="-285750">
              <a:buFont typeface="Wingdings" panose="05000000000000000000" pitchFamily="2" charset="2"/>
              <a:buChar char="Ø"/>
            </a:pPr>
            <a:r>
              <a:rPr lang="en-US" b="1" dirty="0"/>
              <a:t>Nuclear Magnetic Resonance Spectroscopy</a:t>
            </a:r>
          </a:p>
        </p:txBody>
      </p:sp>
      <p:sp>
        <p:nvSpPr>
          <p:cNvPr id="6" name="TextBox 5">
            <a:extLst>
              <a:ext uri="{FF2B5EF4-FFF2-40B4-BE49-F238E27FC236}">
                <a16:creationId xmlns:a16="http://schemas.microsoft.com/office/drawing/2014/main" id="{C6A1F3FB-5B14-4F47-A7B2-B594A2712CA1}"/>
              </a:ext>
            </a:extLst>
          </p:cNvPr>
          <p:cNvSpPr txBox="1"/>
          <p:nvPr/>
        </p:nvSpPr>
        <p:spPr>
          <a:xfrm>
            <a:off x="1824551" y="1981201"/>
            <a:ext cx="5985549" cy="880369"/>
          </a:xfrm>
          <a:prstGeom prst="rect">
            <a:avLst/>
          </a:prstGeom>
          <a:noFill/>
        </p:spPr>
        <p:txBody>
          <a:bodyPr wrap="none" rtlCol="0">
            <a:spAutoFit/>
          </a:bodyPr>
          <a:lstStyle/>
          <a:p>
            <a:pPr marL="285750" indent="-285750">
              <a:lnSpc>
                <a:spcPct val="150000"/>
              </a:lnSpc>
              <a:buFont typeface="Wingdings" panose="05000000000000000000" pitchFamily="2" charset="2"/>
              <a:buChar char="Ø"/>
            </a:pPr>
            <a:r>
              <a:rPr lang="en-IN" dirty="0"/>
              <a:t>Something to do with the magnetic properties of the nuclei</a:t>
            </a:r>
          </a:p>
          <a:p>
            <a:pPr marL="285750" indent="-285750">
              <a:lnSpc>
                <a:spcPct val="150000"/>
              </a:lnSpc>
              <a:buFont typeface="Wingdings" panose="05000000000000000000" pitchFamily="2" charset="2"/>
              <a:buChar char="Ø"/>
            </a:pPr>
            <a:r>
              <a:rPr lang="en-IN" dirty="0"/>
              <a:t>We will see later what is meant by </a:t>
            </a:r>
            <a:r>
              <a:rPr lang="en-IN" i="1" dirty="0">
                <a:solidFill>
                  <a:srgbClr val="C00000"/>
                </a:solidFill>
              </a:rPr>
              <a:t>resonance</a:t>
            </a:r>
          </a:p>
        </p:txBody>
      </p:sp>
      <p:sp>
        <p:nvSpPr>
          <p:cNvPr id="12" name="TextBox 11">
            <a:extLst>
              <a:ext uri="{FF2B5EF4-FFF2-40B4-BE49-F238E27FC236}">
                <a16:creationId xmlns:a16="http://schemas.microsoft.com/office/drawing/2014/main" id="{F371C98D-2851-48C8-8F73-0C824E4FCE8F}"/>
              </a:ext>
            </a:extLst>
          </p:cNvPr>
          <p:cNvSpPr txBox="1"/>
          <p:nvPr/>
        </p:nvSpPr>
        <p:spPr>
          <a:xfrm>
            <a:off x="2000941" y="3429001"/>
            <a:ext cx="4492625" cy="2542363"/>
          </a:xfrm>
          <a:prstGeom prst="rect">
            <a:avLst/>
          </a:prstGeom>
          <a:noFill/>
        </p:spPr>
        <p:txBody>
          <a:bodyPr wrap="square" rtlCol="0">
            <a:spAutoFit/>
          </a:bodyPr>
          <a:lstStyle/>
          <a:p>
            <a:pPr>
              <a:lnSpc>
                <a:spcPct val="150000"/>
              </a:lnSpc>
            </a:pPr>
            <a:r>
              <a:rPr lang="en-US" dirty="0"/>
              <a:t>Each atomic nucleus has four important physical properties: </a:t>
            </a:r>
          </a:p>
          <a:p>
            <a:pPr>
              <a:lnSpc>
                <a:spcPct val="150000"/>
              </a:lnSpc>
            </a:pPr>
            <a:r>
              <a:rPr lang="en-US" i="1" dirty="0">
                <a:solidFill>
                  <a:schemeClr val="accent2">
                    <a:lumMod val="75000"/>
                  </a:schemeClr>
                </a:solidFill>
              </a:rPr>
              <a:t>1. Mass</a:t>
            </a:r>
          </a:p>
          <a:p>
            <a:pPr>
              <a:lnSpc>
                <a:spcPct val="150000"/>
              </a:lnSpc>
            </a:pPr>
            <a:r>
              <a:rPr lang="en-US" i="1" dirty="0">
                <a:solidFill>
                  <a:schemeClr val="accent2">
                    <a:lumMod val="75000"/>
                  </a:schemeClr>
                </a:solidFill>
              </a:rPr>
              <a:t>2.Electric charge</a:t>
            </a:r>
          </a:p>
          <a:p>
            <a:pPr>
              <a:lnSpc>
                <a:spcPct val="150000"/>
              </a:lnSpc>
            </a:pPr>
            <a:r>
              <a:rPr lang="en-US" i="1" dirty="0">
                <a:solidFill>
                  <a:schemeClr val="accent2">
                    <a:lumMod val="75000"/>
                  </a:schemeClr>
                </a:solidFill>
              </a:rPr>
              <a:t>3. Magnetism </a:t>
            </a:r>
          </a:p>
          <a:p>
            <a:pPr>
              <a:lnSpc>
                <a:spcPct val="150000"/>
              </a:lnSpc>
            </a:pPr>
            <a:r>
              <a:rPr lang="en-US" i="1" dirty="0">
                <a:solidFill>
                  <a:schemeClr val="accent2">
                    <a:lumMod val="75000"/>
                  </a:schemeClr>
                </a:solidFill>
              </a:rPr>
              <a:t>4. Spin</a:t>
            </a:r>
            <a:endParaRPr lang="en-US" dirty="0">
              <a:solidFill>
                <a:schemeClr val="accent2">
                  <a:lumMod val="75000"/>
                </a:schemeClr>
              </a:solidFill>
            </a:endParaRPr>
          </a:p>
        </p:txBody>
      </p:sp>
      <p:pic>
        <p:nvPicPr>
          <p:cNvPr id="5" name="Picture 4">
            <a:extLst>
              <a:ext uri="{FF2B5EF4-FFF2-40B4-BE49-F238E27FC236}">
                <a16:creationId xmlns:a16="http://schemas.microsoft.com/office/drawing/2014/main" id="{1EDE9548-8225-4CFB-AB9B-F0532CC2631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2820"/>
          <a:stretch/>
        </p:blipFill>
        <p:spPr>
          <a:xfrm>
            <a:off x="6705600" y="3886200"/>
            <a:ext cx="2971800" cy="2590800"/>
          </a:xfrm>
          <a:prstGeom prst="rect">
            <a:avLst/>
          </a:prstGeom>
        </p:spPr>
      </p:pic>
    </p:spTree>
    <p:extLst>
      <p:ext uri="{BB962C8B-B14F-4D97-AF65-F5344CB8AC3E}">
        <p14:creationId xmlns:p14="http://schemas.microsoft.com/office/powerpoint/2010/main" val="3611192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0E3D48-6FF6-444D-A5C1-0DD153F6DC2F}"/>
              </a:ext>
            </a:extLst>
          </p:cNvPr>
          <p:cNvSpPr>
            <a:spLocks noGrp="1"/>
          </p:cNvSpPr>
          <p:nvPr>
            <p:ph type="sldNum" sz="quarter" idx="12"/>
          </p:nvPr>
        </p:nvSpPr>
        <p:spPr/>
        <p:txBody>
          <a:bodyPr/>
          <a:lstStyle/>
          <a:p>
            <a:fld id="{89849948-AC6C-46F7-840C-B23B7E202BA5}" type="slidenum">
              <a:rPr lang="en-US" smtClean="0"/>
              <a:pPr/>
              <a:t>6</a:t>
            </a:fld>
            <a:endParaRPr lang="en-US"/>
          </a:p>
        </p:txBody>
      </p:sp>
      <p:sp>
        <p:nvSpPr>
          <p:cNvPr id="3" name="TextBox 2">
            <a:extLst>
              <a:ext uri="{FF2B5EF4-FFF2-40B4-BE49-F238E27FC236}">
                <a16:creationId xmlns:a16="http://schemas.microsoft.com/office/drawing/2014/main" id="{6457CE85-FB59-488E-A191-5EA93B67AAB7}"/>
              </a:ext>
            </a:extLst>
          </p:cNvPr>
          <p:cNvSpPr txBox="1"/>
          <p:nvPr/>
        </p:nvSpPr>
        <p:spPr>
          <a:xfrm>
            <a:off x="1676400" y="2545757"/>
            <a:ext cx="6245364" cy="880369"/>
          </a:xfrm>
          <a:prstGeom prst="rect">
            <a:avLst/>
          </a:prstGeom>
          <a:noFill/>
        </p:spPr>
        <p:txBody>
          <a:bodyPr wrap="none" rtlCol="0">
            <a:spAutoFit/>
          </a:bodyPr>
          <a:lstStyle/>
          <a:p>
            <a:pPr marL="285750" indent="-285750">
              <a:lnSpc>
                <a:spcPct val="150000"/>
              </a:lnSpc>
              <a:buFont typeface="Wingdings" panose="05000000000000000000" pitchFamily="2" charset="2"/>
              <a:buChar char="ü"/>
            </a:pPr>
            <a:r>
              <a:rPr lang="en-IN" dirty="0"/>
              <a:t>Magnetic properties of materials are dominated by electrons</a:t>
            </a:r>
          </a:p>
          <a:p>
            <a:pPr marL="285750" indent="-285750">
              <a:lnSpc>
                <a:spcPct val="150000"/>
              </a:lnSpc>
              <a:buFont typeface="Wingdings" panose="05000000000000000000" pitchFamily="2" charset="2"/>
              <a:buChar char="ü"/>
            </a:pPr>
            <a:r>
              <a:rPr lang="en-IN" dirty="0"/>
              <a:t>Essentially the electrons are much more magnetic than nuclei</a:t>
            </a:r>
          </a:p>
        </p:txBody>
      </p:sp>
      <p:sp>
        <p:nvSpPr>
          <p:cNvPr id="5" name="Rectangle 4">
            <a:extLst>
              <a:ext uri="{FF2B5EF4-FFF2-40B4-BE49-F238E27FC236}">
                <a16:creationId xmlns:a16="http://schemas.microsoft.com/office/drawing/2014/main" id="{EFFA4E2D-CF5E-455A-9351-583382FA72EE}"/>
              </a:ext>
            </a:extLst>
          </p:cNvPr>
          <p:cNvSpPr/>
          <p:nvPr/>
        </p:nvSpPr>
        <p:spPr>
          <a:xfrm>
            <a:off x="1676400" y="1132552"/>
            <a:ext cx="8077200" cy="464871"/>
          </a:xfrm>
          <a:prstGeom prst="rect">
            <a:avLst/>
          </a:prstGeom>
        </p:spPr>
        <p:txBody>
          <a:bodyPr wrap="square">
            <a:spAutoFit/>
          </a:bodyPr>
          <a:lstStyle/>
          <a:p>
            <a:pPr marL="285750" indent="-285750">
              <a:lnSpc>
                <a:spcPct val="150000"/>
              </a:lnSpc>
              <a:buFont typeface="Wingdings" panose="05000000000000000000" pitchFamily="2" charset="2"/>
              <a:buChar char="ü"/>
            </a:pPr>
            <a:r>
              <a:rPr lang="en-US" dirty="0"/>
              <a:t> </a:t>
            </a:r>
            <a:r>
              <a:rPr lang="en-US" dirty="0">
                <a:solidFill>
                  <a:schemeClr val="accent2">
                    <a:lumMod val="75000"/>
                  </a:schemeClr>
                </a:solidFill>
              </a:rPr>
              <a:t>Nuclear magnetism </a:t>
            </a:r>
            <a:r>
              <a:rPr lang="en-US" dirty="0"/>
              <a:t>and </a:t>
            </a:r>
            <a:r>
              <a:rPr lang="en-US" dirty="0">
                <a:solidFill>
                  <a:schemeClr val="accent2">
                    <a:lumMod val="75000"/>
                  </a:schemeClr>
                </a:solidFill>
              </a:rPr>
              <a:t>nuclear spin</a:t>
            </a:r>
            <a:r>
              <a:rPr lang="en-US" dirty="0"/>
              <a:t>, are much less evident</a:t>
            </a:r>
          </a:p>
        </p:txBody>
      </p:sp>
      <p:sp>
        <p:nvSpPr>
          <p:cNvPr id="6" name="Rectangle 5">
            <a:extLst>
              <a:ext uri="{FF2B5EF4-FFF2-40B4-BE49-F238E27FC236}">
                <a16:creationId xmlns:a16="http://schemas.microsoft.com/office/drawing/2014/main" id="{E85F4DB5-0FB4-448E-AC4E-0B002F08AC73}"/>
              </a:ext>
            </a:extLst>
          </p:cNvPr>
          <p:cNvSpPr/>
          <p:nvPr/>
        </p:nvSpPr>
        <p:spPr>
          <a:xfrm>
            <a:off x="1676400" y="1597423"/>
            <a:ext cx="8660286" cy="880369"/>
          </a:xfrm>
          <a:prstGeom prst="rect">
            <a:avLst/>
          </a:prstGeom>
        </p:spPr>
        <p:txBody>
          <a:bodyPr wrap="square">
            <a:spAutoFit/>
          </a:bodyPr>
          <a:lstStyle/>
          <a:p>
            <a:pPr marL="285750" indent="-285750" algn="just">
              <a:lnSpc>
                <a:spcPct val="150000"/>
              </a:lnSpc>
              <a:buFont typeface="Wingdings" panose="05000000000000000000" pitchFamily="2" charset="2"/>
              <a:buChar char="ü"/>
            </a:pPr>
            <a:r>
              <a:rPr lang="en-US" dirty="0"/>
              <a:t> The bulk magnetism of some materials, such as iron, is due to the electrons, not to the nuclei</a:t>
            </a:r>
          </a:p>
        </p:txBody>
      </p:sp>
      <p:sp>
        <p:nvSpPr>
          <p:cNvPr id="12" name="TextBox 11">
            <a:extLst>
              <a:ext uri="{FF2B5EF4-FFF2-40B4-BE49-F238E27FC236}">
                <a16:creationId xmlns:a16="http://schemas.microsoft.com/office/drawing/2014/main" id="{D2929B5E-2AE2-4B16-81DA-64332FB57446}"/>
              </a:ext>
            </a:extLst>
          </p:cNvPr>
          <p:cNvSpPr txBox="1"/>
          <p:nvPr/>
        </p:nvSpPr>
        <p:spPr>
          <a:xfrm>
            <a:off x="4191000" y="350463"/>
            <a:ext cx="4572000" cy="400110"/>
          </a:xfrm>
          <a:prstGeom prst="rect">
            <a:avLst/>
          </a:prstGeom>
          <a:noFill/>
        </p:spPr>
        <p:txBody>
          <a:bodyPr wrap="square">
            <a:spAutoFit/>
          </a:bodyPr>
          <a:lstStyle/>
          <a:p>
            <a:r>
              <a:rPr lang="en-US" dirty="0"/>
              <a:t> </a:t>
            </a:r>
            <a:r>
              <a:rPr lang="en-US" sz="2000" b="1" i="1" dirty="0">
                <a:solidFill>
                  <a:srgbClr val="FF0000"/>
                </a:solidFill>
              </a:rPr>
              <a:t>Nuclear Magnetism and Nuclear spin</a:t>
            </a:r>
            <a:endParaRPr lang="en-IN" b="1" i="1" dirty="0">
              <a:solidFill>
                <a:srgbClr val="FF0000"/>
              </a:solidFill>
            </a:endParaRPr>
          </a:p>
        </p:txBody>
      </p:sp>
      <p:grpSp>
        <p:nvGrpSpPr>
          <p:cNvPr id="4" name="Group 3">
            <a:extLst>
              <a:ext uri="{FF2B5EF4-FFF2-40B4-BE49-F238E27FC236}">
                <a16:creationId xmlns:a16="http://schemas.microsoft.com/office/drawing/2014/main" id="{D329C1F3-09D6-FE0D-893A-B210B378756E}"/>
              </a:ext>
            </a:extLst>
          </p:cNvPr>
          <p:cNvGrpSpPr/>
          <p:nvPr/>
        </p:nvGrpSpPr>
        <p:grpSpPr>
          <a:xfrm>
            <a:off x="1741100" y="4358644"/>
            <a:ext cx="8146461" cy="978932"/>
            <a:chOff x="378125" y="1447800"/>
            <a:chExt cx="8146461" cy="978932"/>
          </a:xfrm>
        </p:grpSpPr>
        <p:sp>
          <p:nvSpPr>
            <p:cNvPr id="7" name="TextBox 6">
              <a:extLst>
                <a:ext uri="{FF2B5EF4-FFF2-40B4-BE49-F238E27FC236}">
                  <a16:creationId xmlns:a16="http://schemas.microsoft.com/office/drawing/2014/main" id="{8E2B91B8-6A1D-5BCB-D02C-FB1B4B81D354}"/>
                </a:ext>
              </a:extLst>
            </p:cNvPr>
            <p:cNvSpPr txBox="1"/>
            <p:nvPr/>
          </p:nvSpPr>
          <p:spPr>
            <a:xfrm>
              <a:off x="381000" y="1447800"/>
              <a:ext cx="5402184" cy="369332"/>
            </a:xfrm>
            <a:prstGeom prst="rect">
              <a:avLst/>
            </a:prstGeom>
            <a:noFill/>
          </p:spPr>
          <p:txBody>
            <a:bodyPr wrap="none" rtlCol="0">
              <a:spAutoFit/>
            </a:bodyPr>
            <a:lstStyle/>
            <a:p>
              <a:pPr marL="285750" indent="-285750">
                <a:buFont typeface="Wingdings" panose="05000000000000000000" pitchFamily="2" charset="2"/>
                <a:buChar char="ü"/>
              </a:pPr>
              <a:r>
                <a:rPr lang="en-US" dirty="0"/>
                <a:t>  NMR  spectroscopy is related to nuclear magnetism</a:t>
              </a:r>
            </a:p>
          </p:txBody>
        </p:sp>
        <p:sp>
          <p:nvSpPr>
            <p:cNvPr id="8" name="TextBox 7">
              <a:extLst>
                <a:ext uri="{FF2B5EF4-FFF2-40B4-BE49-F238E27FC236}">
                  <a16:creationId xmlns:a16="http://schemas.microsoft.com/office/drawing/2014/main" id="{DE365B64-FC03-6FF0-53D1-322491EDC987}"/>
                </a:ext>
              </a:extLst>
            </p:cNvPr>
            <p:cNvSpPr txBox="1"/>
            <p:nvPr/>
          </p:nvSpPr>
          <p:spPr>
            <a:xfrm>
              <a:off x="378125" y="2057400"/>
              <a:ext cx="8146461" cy="369332"/>
            </a:xfrm>
            <a:prstGeom prst="rect">
              <a:avLst/>
            </a:prstGeom>
            <a:noFill/>
          </p:spPr>
          <p:txBody>
            <a:bodyPr wrap="none" rtlCol="0">
              <a:spAutoFit/>
            </a:bodyPr>
            <a:lstStyle/>
            <a:p>
              <a:pPr marL="285750" indent="-285750">
                <a:buFont typeface="Wingdings" panose="05000000000000000000" pitchFamily="2" charset="2"/>
                <a:buChar char="ü"/>
              </a:pPr>
              <a:r>
                <a:rPr lang="en-US" dirty="0"/>
                <a:t>  Nuclear magnetism arises from the magnetic properties of protons and neutrons</a:t>
              </a:r>
            </a:p>
          </p:txBody>
        </p:sp>
      </p:grpSp>
      <p:sp>
        <p:nvSpPr>
          <p:cNvPr id="9" name="Rectangle 8">
            <a:extLst>
              <a:ext uri="{FF2B5EF4-FFF2-40B4-BE49-F238E27FC236}">
                <a16:creationId xmlns:a16="http://schemas.microsoft.com/office/drawing/2014/main" id="{AECA86E9-F3D1-5AB1-641D-DBECE235EED3}"/>
              </a:ext>
            </a:extLst>
          </p:cNvPr>
          <p:cNvSpPr/>
          <p:nvPr/>
        </p:nvSpPr>
        <p:spPr>
          <a:xfrm>
            <a:off x="1743974" y="5654044"/>
            <a:ext cx="8584086" cy="369332"/>
          </a:xfrm>
          <a:prstGeom prst="rect">
            <a:avLst/>
          </a:prstGeom>
        </p:spPr>
        <p:txBody>
          <a:bodyPr wrap="square">
            <a:spAutoFit/>
          </a:bodyPr>
          <a:lstStyle/>
          <a:p>
            <a:pPr marL="285750" indent="-285750">
              <a:buFont typeface="Wingdings" panose="05000000000000000000" pitchFamily="2" charset="2"/>
              <a:buChar char="ü"/>
            </a:pPr>
            <a:r>
              <a:rPr lang="en-US" dirty="0"/>
              <a:t>The magnetic properties of proton and neutron are due to spin angular momentum (</a:t>
            </a:r>
            <a:r>
              <a:rPr lang="en-US" b="1" i="1" dirty="0"/>
              <a:t>I)</a:t>
            </a:r>
            <a:endParaRPr lang="en-IN" dirty="0"/>
          </a:p>
        </p:txBody>
      </p:sp>
    </p:spTree>
    <p:extLst>
      <p:ext uri="{BB962C8B-B14F-4D97-AF65-F5344CB8AC3E}">
        <p14:creationId xmlns:p14="http://schemas.microsoft.com/office/powerpoint/2010/main" val="1114949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1787554" y="1145158"/>
            <a:ext cx="8651847" cy="880369"/>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en-US" i="1" dirty="0">
                <a:solidFill>
                  <a:srgbClr val="0070C0"/>
                </a:solidFill>
              </a:rPr>
              <a:t>Conventional angular momentum:</a:t>
            </a:r>
            <a:r>
              <a:rPr lang="en-US" i="1" dirty="0">
                <a:solidFill>
                  <a:srgbClr val="C00000"/>
                </a:solidFill>
              </a:rPr>
              <a:t> </a:t>
            </a:r>
            <a:r>
              <a:rPr lang="en-US" dirty="0"/>
              <a:t>Arises from its motion; orbital angular momentum due to its circulating motion around the nucleus</a:t>
            </a:r>
          </a:p>
        </p:txBody>
      </p:sp>
      <p:sp>
        <p:nvSpPr>
          <p:cNvPr id="3" name="Slide Number Placeholder 2"/>
          <p:cNvSpPr>
            <a:spLocks noGrp="1"/>
          </p:cNvSpPr>
          <p:nvPr>
            <p:ph type="sldNum" sz="quarter" idx="12"/>
          </p:nvPr>
        </p:nvSpPr>
        <p:spPr/>
        <p:txBody>
          <a:bodyPr/>
          <a:lstStyle/>
          <a:p>
            <a:fld id="{89849948-AC6C-46F7-840C-B23B7E202BA5}" type="slidenum">
              <a:rPr lang="en-US" smtClean="0"/>
              <a:pPr/>
              <a:t>7</a:t>
            </a:fld>
            <a:endParaRPr lang="en-US" dirty="0"/>
          </a:p>
        </p:txBody>
      </p:sp>
      <p:sp>
        <p:nvSpPr>
          <p:cNvPr id="7" name="Rectangle 6">
            <a:extLst>
              <a:ext uri="{FF2B5EF4-FFF2-40B4-BE49-F238E27FC236}">
                <a16:creationId xmlns:a16="http://schemas.microsoft.com/office/drawing/2014/main" id="{12DC428E-7C8D-424D-B8CA-BBBE062A654E}"/>
              </a:ext>
            </a:extLst>
          </p:cNvPr>
          <p:cNvSpPr/>
          <p:nvPr/>
        </p:nvSpPr>
        <p:spPr>
          <a:xfrm>
            <a:off x="1771474" y="2436598"/>
            <a:ext cx="8667926" cy="1711366"/>
          </a:xfrm>
          <a:prstGeom prst="rect">
            <a:avLst/>
          </a:prstGeom>
        </p:spPr>
        <p:txBody>
          <a:bodyPr wrap="square">
            <a:spAutoFit/>
          </a:bodyPr>
          <a:lstStyle/>
          <a:p>
            <a:pPr marL="342900" indent="-342900" algn="just">
              <a:lnSpc>
                <a:spcPct val="150000"/>
              </a:lnSpc>
              <a:buFont typeface="Wingdings" panose="05000000000000000000" pitchFamily="2" charset="2"/>
              <a:buChar char="ü"/>
            </a:pPr>
            <a:r>
              <a:rPr lang="en-US" i="1" dirty="0">
                <a:solidFill>
                  <a:srgbClr val="0070C0"/>
                </a:solidFill>
              </a:rPr>
              <a:t>Intrinsic or spin angular momentum </a:t>
            </a:r>
            <a:r>
              <a:rPr lang="en-US" dirty="0"/>
              <a:t>which arises from nothing, being simply a feature of the electron's nature and which is always same for an electron namely ½</a:t>
            </a:r>
          </a:p>
          <a:p>
            <a:pPr marL="342900" indent="-342900" algn="just">
              <a:lnSpc>
                <a:spcPct val="150000"/>
              </a:lnSpc>
              <a:buFont typeface="Wingdings" panose="05000000000000000000" pitchFamily="2" charset="2"/>
              <a:buChar char="ü"/>
            </a:pPr>
            <a:r>
              <a:rPr lang="en-US" dirty="0"/>
              <a:t>There is no such concept as the rotation of electron around its own axis, its only spin</a:t>
            </a:r>
          </a:p>
          <a:p>
            <a:pPr marL="342900" indent="-342900">
              <a:lnSpc>
                <a:spcPct val="150000"/>
              </a:lnSpc>
              <a:buFont typeface="Wingdings" panose="05000000000000000000" pitchFamily="2" charset="2"/>
              <a:buChar char="ü"/>
            </a:pPr>
            <a:r>
              <a:rPr lang="en-US" i="1" dirty="0">
                <a:solidFill>
                  <a:srgbClr val="C00000"/>
                </a:solidFill>
              </a:rPr>
              <a:t>Spin is an abstract quantum-mechanical description</a:t>
            </a:r>
          </a:p>
        </p:txBody>
      </p:sp>
      <p:sp>
        <p:nvSpPr>
          <p:cNvPr id="4" name="TextBox 3">
            <a:extLst>
              <a:ext uri="{FF2B5EF4-FFF2-40B4-BE49-F238E27FC236}">
                <a16:creationId xmlns:a16="http://schemas.microsoft.com/office/drawing/2014/main" id="{3809D5AB-9F16-4ECA-A76E-E52C15A3751B}"/>
              </a:ext>
            </a:extLst>
          </p:cNvPr>
          <p:cNvSpPr txBox="1"/>
          <p:nvPr/>
        </p:nvSpPr>
        <p:spPr>
          <a:xfrm>
            <a:off x="1787553" y="457200"/>
            <a:ext cx="1907638" cy="369332"/>
          </a:xfrm>
          <a:prstGeom prst="rect">
            <a:avLst/>
          </a:prstGeom>
          <a:noFill/>
        </p:spPr>
        <p:txBody>
          <a:bodyPr wrap="none" rtlCol="0">
            <a:spAutoFit/>
          </a:bodyPr>
          <a:lstStyle/>
          <a:p>
            <a:r>
              <a:rPr lang="en-IN" i="1" dirty="0">
                <a:solidFill>
                  <a:srgbClr val="C00000"/>
                </a:solidFill>
              </a:rPr>
              <a:t>For an electron……</a:t>
            </a:r>
          </a:p>
        </p:txBody>
      </p:sp>
      <p:sp>
        <p:nvSpPr>
          <p:cNvPr id="5" name="Rectangle 4">
            <a:extLst>
              <a:ext uri="{FF2B5EF4-FFF2-40B4-BE49-F238E27FC236}">
                <a16:creationId xmlns:a16="http://schemas.microsoft.com/office/drawing/2014/main" id="{71A57139-EF84-4C28-BDD0-CBA7255933DD}"/>
              </a:ext>
            </a:extLst>
          </p:cNvPr>
          <p:cNvSpPr/>
          <p:nvPr/>
        </p:nvSpPr>
        <p:spPr>
          <a:xfrm>
            <a:off x="1771474" y="5247973"/>
            <a:ext cx="8237990" cy="464871"/>
          </a:xfrm>
          <a:prstGeom prst="rect">
            <a:avLst/>
          </a:prstGeom>
        </p:spPr>
        <p:txBody>
          <a:bodyPr wrap="square">
            <a:spAutoFit/>
          </a:bodyPr>
          <a:lstStyle/>
          <a:p>
            <a:pPr marL="342900" indent="-342900">
              <a:lnSpc>
                <a:spcPct val="150000"/>
              </a:lnSpc>
              <a:buFont typeface="Wingdings" panose="05000000000000000000" pitchFamily="2" charset="2"/>
              <a:buChar char="ü"/>
            </a:pPr>
            <a:r>
              <a:rPr lang="en-US" dirty="0">
                <a:solidFill>
                  <a:srgbClr val="00B050"/>
                </a:solidFill>
              </a:rPr>
              <a:t>In a similar way certain nuclei have spin angular momentum (spin)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9849948-AC6C-46F7-840C-B23B7E202BA5}" type="slidenum">
              <a:rPr lang="en-US" smtClean="0"/>
              <a:pPr/>
              <a:t>8</a:t>
            </a:fld>
            <a:endParaRPr lang="en-US"/>
          </a:p>
        </p:txBody>
      </p:sp>
      <p:grpSp>
        <p:nvGrpSpPr>
          <p:cNvPr id="7" name="Group 6">
            <a:extLst>
              <a:ext uri="{FF2B5EF4-FFF2-40B4-BE49-F238E27FC236}">
                <a16:creationId xmlns:a16="http://schemas.microsoft.com/office/drawing/2014/main" id="{E9757CDB-08B8-4763-B0A8-2E212E801758}"/>
              </a:ext>
            </a:extLst>
          </p:cNvPr>
          <p:cNvGrpSpPr/>
          <p:nvPr/>
        </p:nvGrpSpPr>
        <p:grpSpPr>
          <a:xfrm>
            <a:off x="1784609" y="556957"/>
            <a:ext cx="8608895" cy="1609130"/>
            <a:chOff x="304800" y="3124200"/>
            <a:chExt cx="8608895" cy="1609130"/>
          </a:xfrm>
        </p:grpSpPr>
        <p:sp>
          <p:nvSpPr>
            <p:cNvPr id="5" name="TextBox 4"/>
            <p:cNvSpPr txBox="1"/>
            <p:nvPr/>
          </p:nvSpPr>
          <p:spPr>
            <a:xfrm>
              <a:off x="304800" y="3124200"/>
              <a:ext cx="8608895" cy="369332"/>
            </a:xfrm>
            <a:prstGeom prst="rect">
              <a:avLst/>
            </a:prstGeom>
            <a:noFill/>
          </p:spPr>
          <p:txBody>
            <a:bodyPr wrap="none" rtlCol="0">
              <a:spAutoFit/>
            </a:bodyPr>
            <a:lstStyle/>
            <a:p>
              <a:pPr marL="285750" indent="-285750">
                <a:buFont typeface="Wingdings" panose="05000000000000000000" pitchFamily="2" charset="2"/>
                <a:buChar char="ü"/>
              </a:pPr>
              <a:r>
                <a:rPr lang="en-US" dirty="0"/>
                <a:t> The magnetic properties of proton and neutron are due to spin angular momentum (</a:t>
              </a:r>
              <a:r>
                <a:rPr lang="en-US" b="1" i="1" dirty="0"/>
                <a:t>I)</a:t>
              </a:r>
            </a:p>
          </p:txBody>
        </p:sp>
        <p:sp>
          <p:nvSpPr>
            <p:cNvPr id="10" name="TextBox 9"/>
            <p:cNvSpPr txBox="1"/>
            <p:nvPr/>
          </p:nvSpPr>
          <p:spPr>
            <a:xfrm>
              <a:off x="1752600" y="3810000"/>
              <a:ext cx="5476752" cy="923330"/>
            </a:xfrm>
            <a:prstGeom prst="rect">
              <a:avLst/>
            </a:prstGeom>
            <a:noFill/>
          </p:spPr>
          <p:txBody>
            <a:bodyPr wrap="square" rtlCol="0">
              <a:spAutoFit/>
            </a:bodyPr>
            <a:lstStyle/>
            <a:p>
              <a:r>
                <a:rPr lang="en-US" dirty="0"/>
                <a:t>                        Proton                     Neutron</a:t>
              </a:r>
            </a:p>
            <a:p>
              <a:endParaRPr lang="en-US" dirty="0"/>
            </a:p>
            <a:p>
              <a:r>
                <a:rPr lang="en-US" b="1" i="1" dirty="0"/>
                <a:t>I</a:t>
              </a:r>
              <a:r>
                <a:rPr lang="en-US" dirty="0"/>
                <a:t>                          1/2                             1/2</a:t>
              </a:r>
            </a:p>
          </p:txBody>
        </p:sp>
      </p:grpSp>
      <p:sp>
        <p:nvSpPr>
          <p:cNvPr id="11" name="TextBox 10"/>
          <p:cNvSpPr txBox="1"/>
          <p:nvPr/>
        </p:nvSpPr>
        <p:spPr>
          <a:xfrm>
            <a:off x="1862929" y="2618711"/>
            <a:ext cx="8215711" cy="369332"/>
          </a:xfrm>
          <a:prstGeom prst="rect">
            <a:avLst/>
          </a:prstGeom>
          <a:noFill/>
        </p:spPr>
        <p:txBody>
          <a:bodyPr wrap="none" rtlCol="0">
            <a:spAutoFit/>
          </a:bodyPr>
          <a:lstStyle/>
          <a:p>
            <a:pPr marL="285750" indent="-285750">
              <a:buFont typeface="Wingdings" panose="05000000000000000000" pitchFamily="2" charset="2"/>
              <a:buChar char="ü"/>
            </a:pPr>
            <a:r>
              <a:rPr lang="en-US" dirty="0"/>
              <a:t> Effective magnetic moment of a nucleus is a resultant of proton and neutron spins</a:t>
            </a:r>
          </a:p>
        </p:txBody>
      </p:sp>
      <p:sp>
        <p:nvSpPr>
          <p:cNvPr id="9" name="TextBox 8"/>
          <p:cNvSpPr txBox="1"/>
          <p:nvPr/>
        </p:nvSpPr>
        <p:spPr>
          <a:xfrm>
            <a:off x="1888808" y="4002527"/>
            <a:ext cx="3744295" cy="369332"/>
          </a:xfrm>
          <a:prstGeom prst="rect">
            <a:avLst/>
          </a:prstGeom>
          <a:noFill/>
        </p:spPr>
        <p:txBody>
          <a:bodyPr wrap="none" rtlCol="0">
            <a:spAutoFit/>
          </a:bodyPr>
          <a:lstStyle/>
          <a:p>
            <a:pPr marL="285750" indent="-285750">
              <a:buFont typeface="Wingdings" panose="05000000000000000000" pitchFamily="2" charset="2"/>
              <a:buChar char="ü"/>
            </a:pPr>
            <a:r>
              <a:rPr lang="en-US" dirty="0"/>
              <a:t> </a:t>
            </a:r>
            <a:r>
              <a:rPr lang="en-US" dirty="0">
                <a:solidFill>
                  <a:srgbClr val="00B050"/>
                </a:solidFill>
              </a:rPr>
              <a:t>NMR deals with nuclei having I ≠ 0</a:t>
            </a:r>
          </a:p>
        </p:txBody>
      </p:sp>
      <p:sp>
        <p:nvSpPr>
          <p:cNvPr id="12" name="TextBox 11">
            <a:extLst>
              <a:ext uri="{FF2B5EF4-FFF2-40B4-BE49-F238E27FC236}">
                <a16:creationId xmlns:a16="http://schemas.microsoft.com/office/drawing/2014/main" id="{F7C0B875-1A2B-4A65-94D0-67EA35F80ECF}"/>
              </a:ext>
            </a:extLst>
          </p:cNvPr>
          <p:cNvSpPr txBox="1"/>
          <p:nvPr/>
        </p:nvSpPr>
        <p:spPr>
          <a:xfrm>
            <a:off x="1874431" y="3310619"/>
            <a:ext cx="3590919" cy="369332"/>
          </a:xfrm>
          <a:prstGeom prst="rect">
            <a:avLst/>
          </a:prstGeom>
          <a:noFill/>
        </p:spPr>
        <p:txBody>
          <a:bodyPr wrap="none" rtlCol="0">
            <a:spAutoFit/>
          </a:bodyPr>
          <a:lstStyle/>
          <a:p>
            <a:pPr marL="285750" indent="-285750">
              <a:buFont typeface="Wingdings" panose="05000000000000000000" pitchFamily="2" charset="2"/>
              <a:buChar char="ü"/>
            </a:pPr>
            <a:r>
              <a:rPr lang="en-US" dirty="0"/>
              <a:t> </a:t>
            </a:r>
            <a:r>
              <a:rPr lang="en-US" dirty="0">
                <a:solidFill>
                  <a:srgbClr val="00B050"/>
                </a:solidFill>
              </a:rPr>
              <a:t>Nuclear magnetic moment </a:t>
            </a:r>
            <a:r>
              <a:rPr lang="en-US" dirty="0">
                <a:solidFill>
                  <a:srgbClr val="00B050"/>
                </a:solidFill>
                <a:latin typeface="Calibri" panose="020F0502020204030204" pitchFamily="34" charset="0"/>
                <a:cs typeface="Calibri" panose="020F0502020204030204" pitchFamily="34" charset="0"/>
              </a:rPr>
              <a:t>µ = </a:t>
            </a:r>
            <a:r>
              <a:rPr lang="el-GR" dirty="0">
                <a:solidFill>
                  <a:srgbClr val="00B050"/>
                </a:solidFill>
                <a:latin typeface="Calibri" panose="020F0502020204030204" pitchFamily="34" charset="0"/>
                <a:cs typeface="Calibri" panose="020F0502020204030204" pitchFamily="34" charset="0"/>
              </a:rPr>
              <a:t>γ</a:t>
            </a:r>
            <a:r>
              <a:rPr lang="en-IN" dirty="0">
                <a:solidFill>
                  <a:srgbClr val="00B050"/>
                </a:solidFill>
                <a:latin typeface="Calibri" panose="020F0502020204030204" pitchFamily="34" charset="0"/>
                <a:cs typeface="Calibri" panose="020F0502020204030204" pitchFamily="34" charset="0"/>
              </a:rPr>
              <a:t>I</a:t>
            </a:r>
            <a:endParaRPr lang="en-US" dirty="0">
              <a:solidFill>
                <a:srgbClr val="00B050"/>
              </a:solidFill>
            </a:endParaRPr>
          </a:p>
        </p:txBody>
      </p:sp>
    </p:spTree>
    <p:extLst>
      <p:ext uri="{BB962C8B-B14F-4D97-AF65-F5344CB8AC3E}">
        <p14:creationId xmlns:p14="http://schemas.microsoft.com/office/powerpoint/2010/main" val="661574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323E8B-53EE-4DF1-BE6F-FE41621CC554}"/>
              </a:ext>
            </a:extLst>
          </p:cNvPr>
          <p:cNvSpPr>
            <a:spLocks noGrp="1"/>
          </p:cNvSpPr>
          <p:nvPr>
            <p:ph type="sldNum" sz="quarter" idx="12"/>
          </p:nvPr>
        </p:nvSpPr>
        <p:spPr/>
        <p:txBody>
          <a:bodyPr/>
          <a:lstStyle/>
          <a:p>
            <a:fld id="{89849948-AC6C-46F7-840C-B23B7E202BA5}" type="slidenum">
              <a:rPr lang="en-US" smtClean="0"/>
              <a:pPr/>
              <a:t>9</a:t>
            </a:fld>
            <a:endParaRPr lang="en-US"/>
          </a:p>
        </p:txBody>
      </p:sp>
      <p:sp>
        <p:nvSpPr>
          <p:cNvPr id="3" name="TextBox 2">
            <a:extLst>
              <a:ext uri="{FF2B5EF4-FFF2-40B4-BE49-F238E27FC236}">
                <a16:creationId xmlns:a16="http://schemas.microsoft.com/office/drawing/2014/main" id="{81434E0E-E84F-41A2-93EB-9814358EBD44}"/>
              </a:ext>
            </a:extLst>
          </p:cNvPr>
          <p:cNvSpPr txBox="1"/>
          <p:nvPr/>
        </p:nvSpPr>
        <p:spPr>
          <a:xfrm>
            <a:off x="1828801" y="533401"/>
            <a:ext cx="8274829" cy="880369"/>
          </a:xfrm>
          <a:prstGeom prst="rect">
            <a:avLst/>
          </a:prstGeom>
          <a:noFill/>
        </p:spPr>
        <p:txBody>
          <a:bodyPr wrap="none" rtlCol="0">
            <a:spAutoFit/>
          </a:bodyPr>
          <a:lstStyle/>
          <a:p>
            <a:pPr marL="285750" indent="-285750">
              <a:lnSpc>
                <a:spcPct val="150000"/>
              </a:lnSpc>
              <a:buFont typeface="Wingdings" panose="05000000000000000000" pitchFamily="2" charset="2"/>
              <a:buChar char="ü"/>
            </a:pPr>
            <a:r>
              <a:rPr lang="en-IN" dirty="0"/>
              <a:t>NMR spectroscopy is the study of interaction of radiofrequency (R</a:t>
            </a:r>
            <a:r>
              <a:rPr lang="en-IN" baseline="-25000" dirty="0"/>
              <a:t>f</a:t>
            </a:r>
            <a:r>
              <a:rPr lang="en-IN" dirty="0"/>
              <a:t>) with the nuclei </a:t>
            </a:r>
          </a:p>
          <a:p>
            <a:pPr>
              <a:lnSpc>
                <a:spcPct val="150000"/>
              </a:lnSpc>
            </a:pPr>
            <a:r>
              <a:rPr lang="en-IN" dirty="0"/>
              <a:t>     of molecules placed in a strong magnetic field</a:t>
            </a:r>
          </a:p>
        </p:txBody>
      </p:sp>
      <p:pic>
        <p:nvPicPr>
          <p:cNvPr id="4" name="Picture 2" descr="Electromagnetic spectrum">
            <a:extLst>
              <a:ext uri="{FF2B5EF4-FFF2-40B4-BE49-F238E27FC236}">
                <a16:creationId xmlns:a16="http://schemas.microsoft.com/office/drawing/2014/main" id="{0895B6AA-A550-406F-A0CB-9EF870FD17E5}"/>
              </a:ext>
            </a:extLst>
          </p:cNvPr>
          <p:cNvPicPr>
            <a:picLocks noChangeAspect="1" noChangeArrowheads="1"/>
          </p:cNvPicPr>
          <p:nvPr/>
        </p:nvPicPr>
        <p:blipFill>
          <a:blip r:embed="rId2" cstate="print"/>
          <a:srcRect/>
          <a:stretch>
            <a:fillRect/>
          </a:stretch>
        </p:blipFill>
        <p:spPr bwMode="auto">
          <a:xfrm>
            <a:off x="2057400" y="2362200"/>
            <a:ext cx="7497064" cy="3476764"/>
          </a:xfrm>
          <a:prstGeom prst="rect">
            <a:avLst/>
          </a:prstGeom>
          <a:noFill/>
        </p:spPr>
      </p:pic>
    </p:spTree>
    <p:extLst>
      <p:ext uri="{BB962C8B-B14F-4D97-AF65-F5344CB8AC3E}">
        <p14:creationId xmlns:p14="http://schemas.microsoft.com/office/powerpoint/2010/main" val="2604067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9849948-AC6C-46F7-840C-B23B7E202BA5}" type="slidenum">
              <a:rPr lang="en-US" smtClean="0"/>
              <a:pPr/>
              <a:t>10</a:t>
            </a:fld>
            <a:endParaRPr lang="en-US"/>
          </a:p>
        </p:txBody>
      </p:sp>
      <p:grpSp>
        <p:nvGrpSpPr>
          <p:cNvPr id="4" name="Group 3">
            <a:extLst>
              <a:ext uri="{FF2B5EF4-FFF2-40B4-BE49-F238E27FC236}">
                <a16:creationId xmlns:a16="http://schemas.microsoft.com/office/drawing/2014/main" id="{1FF2763C-1008-4F2B-8144-4AFB8AD773CB}"/>
              </a:ext>
            </a:extLst>
          </p:cNvPr>
          <p:cNvGrpSpPr/>
          <p:nvPr/>
        </p:nvGrpSpPr>
        <p:grpSpPr>
          <a:xfrm>
            <a:off x="1654238" y="884914"/>
            <a:ext cx="8913978" cy="5695319"/>
            <a:chOff x="245249" y="845697"/>
            <a:chExt cx="8913978" cy="5695319"/>
          </a:xfrm>
        </p:grpSpPr>
        <p:pic>
          <p:nvPicPr>
            <p:cNvPr id="14" name="Picture 13">
              <a:extLst>
                <a:ext uri="{FF2B5EF4-FFF2-40B4-BE49-F238E27FC236}">
                  <a16:creationId xmlns:a16="http://schemas.microsoft.com/office/drawing/2014/main" id="{56516321-CA49-402E-8E79-E821A5CEBE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3200" y="3081931"/>
              <a:ext cx="1600200" cy="2241614"/>
            </a:xfrm>
            <a:prstGeom prst="rect">
              <a:avLst/>
            </a:prstGeom>
          </p:spPr>
        </p:pic>
        <p:sp>
          <p:nvSpPr>
            <p:cNvPr id="17" name="TextBox 16">
              <a:extLst>
                <a:ext uri="{FF2B5EF4-FFF2-40B4-BE49-F238E27FC236}">
                  <a16:creationId xmlns:a16="http://schemas.microsoft.com/office/drawing/2014/main" id="{157E8BAE-DB4C-4CC4-A3B0-9F58C7A34176}"/>
                </a:ext>
              </a:extLst>
            </p:cNvPr>
            <p:cNvSpPr txBox="1"/>
            <p:nvPr/>
          </p:nvSpPr>
          <p:spPr>
            <a:xfrm>
              <a:off x="6121805" y="5407853"/>
              <a:ext cx="2692981" cy="923330"/>
            </a:xfrm>
            <a:prstGeom prst="rect">
              <a:avLst/>
            </a:prstGeom>
            <a:noFill/>
          </p:spPr>
          <p:txBody>
            <a:bodyPr wrap="none" rtlCol="0">
              <a:spAutoFit/>
            </a:bodyPr>
            <a:lstStyle/>
            <a:p>
              <a:r>
                <a:rPr lang="en-IN" dirty="0"/>
                <a:t>       Pieter Zeeman</a:t>
              </a:r>
            </a:p>
            <a:p>
              <a:r>
                <a:rPr lang="en-IN" dirty="0"/>
                <a:t>          Netherlands</a:t>
              </a:r>
            </a:p>
            <a:p>
              <a:r>
                <a:rPr lang="en-IN" dirty="0"/>
                <a:t>Nobel Prize (1902, Physics)</a:t>
              </a:r>
            </a:p>
          </p:txBody>
        </p:sp>
        <p:pic>
          <p:nvPicPr>
            <p:cNvPr id="18" name="Picture 17">
              <a:extLst>
                <a:ext uri="{FF2B5EF4-FFF2-40B4-BE49-F238E27FC236}">
                  <a16:creationId xmlns:a16="http://schemas.microsoft.com/office/drawing/2014/main" id="{CEEAB78A-8B27-429A-B6CC-82C26346977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36296" y="4029834"/>
              <a:ext cx="2971800" cy="1981200"/>
            </a:xfrm>
            <a:prstGeom prst="rect">
              <a:avLst/>
            </a:prstGeom>
          </p:spPr>
        </p:pic>
        <p:sp>
          <p:nvSpPr>
            <p:cNvPr id="19" name="TextBox 18">
              <a:extLst>
                <a:ext uri="{FF2B5EF4-FFF2-40B4-BE49-F238E27FC236}">
                  <a16:creationId xmlns:a16="http://schemas.microsoft.com/office/drawing/2014/main" id="{F9A4C525-DC23-4F5F-924E-A9FCE4F077E0}"/>
                </a:ext>
              </a:extLst>
            </p:cNvPr>
            <p:cNvSpPr txBox="1"/>
            <p:nvPr/>
          </p:nvSpPr>
          <p:spPr>
            <a:xfrm>
              <a:off x="556820" y="845697"/>
              <a:ext cx="2854756" cy="400110"/>
            </a:xfrm>
            <a:prstGeom prst="rect">
              <a:avLst/>
            </a:prstGeom>
            <a:noFill/>
          </p:spPr>
          <p:txBody>
            <a:bodyPr wrap="none" rtlCol="0">
              <a:spAutoFit/>
            </a:bodyPr>
            <a:lstStyle/>
            <a:p>
              <a:r>
                <a:rPr lang="en-US" sz="2000" b="1" dirty="0">
                  <a:solidFill>
                    <a:srgbClr val="002060"/>
                  </a:solidFill>
                </a:rPr>
                <a:t>Nuclear Zeeman Splitting</a:t>
              </a:r>
            </a:p>
          </p:txBody>
        </p:sp>
        <p:sp>
          <p:nvSpPr>
            <p:cNvPr id="20" name="Rectangle 19">
              <a:extLst>
                <a:ext uri="{FF2B5EF4-FFF2-40B4-BE49-F238E27FC236}">
                  <a16:creationId xmlns:a16="http://schemas.microsoft.com/office/drawing/2014/main" id="{9ADB2822-B1EF-4738-BCF7-95218A89E770}"/>
                </a:ext>
              </a:extLst>
            </p:cNvPr>
            <p:cNvSpPr/>
            <p:nvPr/>
          </p:nvSpPr>
          <p:spPr>
            <a:xfrm>
              <a:off x="2283192" y="6171684"/>
              <a:ext cx="1619098" cy="369332"/>
            </a:xfrm>
            <a:prstGeom prst="rect">
              <a:avLst/>
            </a:prstGeom>
          </p:spPr>
          <p:txBody>
            <a:bodyPr wrap="none">
              <a:spAutoFit/>
            </a:bodyPr>
            <a:lstStyle/>
            <a:p>
              <a:r>
                <a:rPr lang="en-IN" dirty="0"/>
                <a:t>Aurora Borealis</a:t>
              </a:r>
            </a:p>
          </p:txBody>
        </p:sp>
        <p:sp>
          <p:nvSpPr>
            <p:cNvPr id="21" name="TextBox 20">
              <a:extLst>
                <a:ext uri="{FF2B5EF4-FFF2-40B4-BE49-F238E27FC236}">
                  <a16:creationId xmlns:a16="http://schemas.microsoft.com/office/drawing/2014/main" id="{F4FF0932-F19F-43F4-80E7-6B684C884660}"/>
                </a:ext>
              </a:extLst>
            </p:cNvPr>
            <p:cNvSpPr txBox="1"/>
            <p:nvPr/>
          </p:nvSpPr>
          <p:spPr>
            <a:xfrm>
              <a:off x="245249" y="2138150"/>
              <a:ext cx="8913978" cy="88036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IN" dirty="0"/>
                <a:t>Splitting of a spectral line in the presence of a static magnetic field into several components</a:t>
              </a:r>
            </a:p>
          </p:txBody>
        </p:sp>
      </p:grpSp>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9A1111D6-BDFE-45E3-A4A0-0462BA11B1C3}"/>
                  </a:ext>
                </a:extLst>
              </p14:cNvPr>
              <p14:cNvContentPartPr/>
              <p14:nvPr/>
            </p14:nvContentPartPr>
            <p14:xfrm>
              <a:off x="8627880" y="6456600"/>
              <a:ext cx="360" cy="13680"/>
            </p14:xfrm>
          </p:contentPart>
        </mc:Choice>
        <mc:Fallback xmlns="">
          <p:pic>
            <p:nvPicPr>
              <p:cNvPr id="3" name="Ink 2">
                <a:extLst>
                  <a:ext uri="{FF2B5EF4-FFF2-40B4-BE49-F238E27FC236}">
                    <a16:creationId xmlns:a16="http://schemas.microsoft.com/office/drawing/2014/main" id="{9A1111D6-BDFE-45E3-A4A0-0462BA11B1C3}"/>
                  </a:ext>
                </a:extLst>
              </p:cNvPr>
              <p:cNvPicPr/>
              <p:nvPr/>
            </p:nvPicPr>
            <p:blipFill>
              <a:blip r:embed="rId6"/>
              <a:stretch>
                <a:fillRect/>
              </a:stretch>
            </p:blipFill>
            <p:spPr>
              <a:xfrm>
                <a:off x="8618520" y="6447240"/>
                <a:ext cx="19080" cy="32400"/>
              </a:xfrm>
              <a:prstGeom prst="rect">
                <a:avLst/>
              </a:prstGeom>
            </p:spPr>
          </p:pic>
        </mc:Fallback>
      </mc:AlternateContent>
      <p:sp>
        <p:nvSpPr>
          <p:cNvPr id="5" name="TextBox 4">
            <a:extLst>
              <a:ext uri="{FF2B5EF4-FFF2-40B4-BE49-F238E27FC236}">
                <a16:creationId xmlns:a16="http://schemas.microsoft.com/office/drawing/2014/main" id="{E8E708A3-D59F-41E5-A0B4-A7A549AD1345}"/>
              </a:ext>
            </a:extLst>
          </p:cNvPr>
          <p:cNvSpPr txBox="1"/>
          <p:nvPr/>
        </p:nvSpPr>
        <p:spPr>
          <a:xfrm>
            <a:off x="1654238" y="1285024"/>
            <a:ext cx="8708962" cy="880369"/>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ü"/>
            </a:pPr>
            <a:r>
              <a:rPr lang="en-IN" dirty="0"/>
              <a:t>Zeeman first observed the strange behaviour of certain nuclei when subjected to strong magnetic field at the end of 19</a:t>
            </a:r>
            <a:r>
              <a:rPr lang="en-IN" baseline="30000" dirty="0"/>
              <a:t>th</a:t>
            </a:r>
            <a:r>
              <a:rPr lang="en-IN" dirty="0"/>
              <a:t> Century-</a:t>
            </a:r>
            <a:r>
              <a:rPr lang="en-IN" dirty="0">
                <a:solidFill>
                  <a:schemeClr val="tx2"/>
                </a:solidFill>
              </a:rPr>
              <a:t>Zeeman Effect</a:t>
            </a:r>
          </a:p>
        </p:txBody>
      </p:sp>
      <p:sp>
        <p:nvSpPr>
          <p:cNvPr id="6" name="TextBox 5">
            <a:extLst>
              <a:ext uri="{FF2B5EF4-FFF2-40B4-BE49-F238E27FC236}">
                <a16:creationId xmlns:a16="http://schemas.microsoft.com/office/drawing/2014/main" id="{B1339D9E-0564-4E29-9212-FF1D74FCB809}"/>
              </a:ext>
            </a:extLst>
          </p:cNvPr>
          <p:cNvSpPr txBox="1"/>
          <p:nvPr/>
        </p:nvSpPr>
        <p:spPr>
          <a:xfrm>
            <a:off x="1747407" y="3121148"/>
            <a:ext cx="6172199" cy="880369"/>
          </a:xfrm>
          <a:prstGeom prst="rect">
            <a:avLst/>
          </a:prstGeom>
          <a:noFill/>
        </p:spPr>
        <p:txBody>
          <a:bodyPr wrap="square" rtlCol="0">
            <a:spAutoFit/>
          </a:bodyPr>
          <a:lstStyle/>
          <a:p>
            <a:pPr marL="285750" indent="-285750">
              <a:lnSpc>
                <a:spcPct val="150000"/>
              </a:lnSpc>
              <a:buFont typeface="Wingdings" panose="05000000000000000000" pitchFamily="2" charset="2"/>
              <a:buChar char="ü"/>
            </a:pPr>
            <a:r>
              <a:rPr lang="en-IN" dirty="0"/>
              <a:t>NMR spectrometers were commercially available only in 1950s</a:t>
            </a:r>
          </a:p>
        </p:txBody>
      </p:sp>
      <p:sp>
        <p:nvSpPr>
          <p:cNvPr id="8" name="TextBox 7">
            <a:extLst>
              <a:ext uri="{FF2B5EF4-FFF2-40B4-BE49-F238E27FC236}">
                <a16:creationId xmlns:a16="http://schemas.microsoft.com/office/drawing/2014/main" id="{2B0B7772-F8DB-C621-3524-C1CDFCF716D3}"/>
              </a:ext>
            </a:extLst>
          </p:cNvPr>
          <p:cNvSpPr txBox="1"/>
          <p:nvPr/>
        </p:nvSpPr>
        <p:spPr>
          <a:xfrm>
            <a:off x="4869863" y="229884"/>
            <a:ext cx="2452274" cy="400110"/>
          </a:xfrm>
          <a:prstGeom prst="rect">
            <a:avLst/>
          </a:prstGeom>
          <a:noFill/>
        </p:spPr>
        <p:txBody>
          <a:bodyPr wrap="none" rtlCol="0">
            <a:spAutoFit/>
          </a:bodyPr>
          <a:lstStyle/>
          <a:p>
            <a:pPr algn="ctr"/>
            <a:r>
              <a:rPr lang="en-US" sz="2000" b="1" i="1" dirty="0">
                <a:solidFill>
                  <a:srgbClr val="FF0000"/>
                </a:solidFill>
              </a:rPr>
              <a:t>Historical Perspective</a:t>
            </a:r>
          </a:p>
        </p:txBody>
      </p:sp>
    </p:spTree>
    <p:extLst>
      <p:ext uri="{BB962C8B-B14F-4D97-AF65-F5344CB8AC3E}">
        <p14:creationId xmlns:p14="http://schemas.microsoft.com/office/powerpoint/2010/main" val="3236676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05605" y="2740630"/>
            <a:ext cx="6255116" cy="2031325"/>
          </a:xfrm>
          <a:prstGeom prst="rect">
            <a:avLst/>
          </a:prstGeom>
        </p:spPr>
        <p:txBody>
          <a:bodyPr wrap="square">
            <a:spAutoFit/>
          </a:bodyPr>
          <a:lstStyle/>
          <a:p>
            <a:pPr marL="285750" indent="-285750" algn="just">
              <a:lnSpc>
                <a:spcPct val="150000"/>
              </a:lnSpc>
              <a:buFont typeface="Wingdings" panose="05000000000000000000" pitchFamily="2" charset="2"/>
              <a:buChar char="ü"/>
            </a:pPr>
            <a:r>
              <a:rPr lang="en-US" dirty="0"/>
              <a:t> In December 1945, Edward Mills Purcell at Harvard University detected the first </a:t>
            </a:r>
            <a:r>
              <a:rPr lang="en-US" i="1" dirty="0">
                <a:solidFill>
                  <a:srgbClr val="C00000"/>
                </a:solidFill>
              </a:rPr>
              <a:t>solid-state</a:t>
            </a:r>
            <a:r>
              <a:rPr lang="en-US" dirty="0"/>
              <a:t> NMR signal in 1 kg of paraffin wax. Almost simultaneously Felix Bloch at Stanford University carried out the first </a:t>
            </a:r>
            <a:r>
              <a:rPr lang="en-US" i="1" dirty="0">
                <a:solidFill>
                  <a:srgbClr val="C00000"/>
                </a:solidFill>
              </a:rPr>
              <a:t>liquid-state</a:t>
            </a:r>
            <a:r>
              <a:rPr lang="en-US" dirty="0"/>
              <a:t> NMR experiment in water.</a:t>
            </a:r>
          </a:p>
          <a:p>
            <a:r>
              <a:rPr lang="en-US" dirty="0"/>
              <a:t> </a:t>
            </a:r>
          </a:p>
        </p:txBody>
      </p:sp>
      <p:sp>
        <p:nvSpPr>
          <p:cNvPr id="6" name="Rectangle 5"/>
          <p:cNvSpPr/>
          <p:nvPr/>
        </p:nvSpPr>
        <p:spPr>
          <a:xfrm>
            <a:off x="1747352" y="4686228"/>
            <a:ext cx="6593048" cy="1754326"/>
          </a:xfrm>
          <a:prstGeom prst="rect">
            <a:avLst/>
          </a:prstGeom>
        </p:spPr>
        <p:txBody>
          <a:bodyPr wrap="square">
            <a:spAutoFit/>
          </a:bodyPr>
          <a:lstStyle/>
          <a:p>
            <a:pPr marL="285750" indent="-285750" algn="just">
              <a:lnSpc>
                <a:spcPct val="150000"/>
              </a:lnSpc>
              <a:buFont typeface="Wingdings" panose="05000000000000000000" pitchFamily="2" charset="2"/>
              <a:buChar char="ü"/>
            </a:pPr>
            <a:r>
              <a:rPr lang="en-US" dirty="0"/>
              <a:t> </a:t>
            </a:r>
            <a:r>
              <a:rPr lang="en-US" dirty="0">
                <a:solidFill>
                  <a:schemeClr val="tx2"/>
                </a:solidFill>
              </a:rPr>
              <a:t>Purcell and Bloch shared the Nobel Prize in Physics in 1952</a:t>
            </a:r>
            <a:r>
              <a:rPr lang="en-US" dirty="0"/>
              <a:t>.</a:t>
            </a:r>
          </a:p>
          <a:p>
            <a:pPr marL="285750" indent="-285750" algn="just">
              <a:lnSpc>
                <a:spcPct val="150000"/>
              </a:lnSpc>
              <a:buFont typeface="Wingdings" panose="05000000000000000000" pitchFamily="2" charset="2"/>
              <a:buChar char="ü"/>
            </a:pPr>
            <a:r>
              <a:rPr lang="en-US" dirty="0"/>
              <a:t> </a:t>
            </a:r>
            <a:r>
              <a:rPr lang="en-US" i="1" dirty="0"/>
              <a:t>It is a remarkable fact that the discovery, development and applications of NMR have resulted in no less than 8 Nobel laureates in Physics, Chemistry and Medicine!</a:t>
            </a:r>
          </a:p>
        </p:txBody>
      </p:sp>
      <p:sp>
        <p:nvSpPr>
          <p:cNvPr id="7" name="Slide Number Placeholder 6"/>
          <p:cNvSpPr>
            <a:spLocks noGrp="1"/>
          </p:cNvSpPr>
          <p:nvPr>
            <p:ph type="sldNum" sz="quarter" idx="12"/>
          </p:nvPr>
        </p:nvSpPr>
        <p:spPr/>
        <p:txBody>
          <a:bodyPr/>
          <a:lstStyle/>
          <a:p>
            <a:fld id="{89849948-AC6C-46F7-840C-B23B7E202BA5}" type="slidenum">
              <a:rPr lang="en-US" smtClean="0"/>
              <a:pPr/>
              <a:t>11</a:t>
            </a:fld>
            <a:endParaRPr lang="en-US" dirty="0"/>
          </a:p>
        </p:txBody>
      </p:sp>
      <p:sp>
        <p:nvSpPr>
          <p:cNvPr id="3" name="TextBox 2">
            <a:extLst>
              <a:ext uri="{FF2B5EF4-FFF2-40B4-BE49-F238E27FC236}">
                <a16:creationId xmlns:a16="http://schemas.microsoft.com/office/drawing/2014/main" id="{3F6B7C16-272C-40DB-28D7-3BAEFB0D9837}"/>
              </a:ext>
            </a:extLst>
          </p:cNvPr>
          <p:cNvSpPr txBox="1"/>
          <p:nvPr/>
        </p:nvSpPr>
        <p:spPr>
          <a:xfrm>
            <a:off x="1805605" y="428960"/>
            <a:ext cx="6255116" cy="2126864"/>
          </a:xfrm>
          <a:prstGeom prst="rect">
            <a:avLst/>
          </a:prstGeom>
          <a:noFill/>
        </p:spPr>
        <p:txBody>
          <a:bodyPr wrap="square">
            <a:spAutoFit/>
          </a:bodyPr>
          <a:lstStyle/>
          <a:p>
            <a:pPr marL="285750" indent="-285750" algn="just">
              <a:lnSpc>
                <a:spcPct val="150000"/>
              </a:lnSpc>
              <a:buFont typeface="Wingdings" panose="05000000000000000000" pitchFamily="2" charset="2"/>
              <a:buChar char="ü"/>
            </a:pPr>
            <a:r>
              <a:rPr lang="en-IN" i="1" dirty="0">
                <a:solidFill>
                  <a:srgbClr val="C00000"/>
                </a:solidFill>
              </a:rPr>
              <a:t>The discovery of NMR goes to Isidor Isaac Rabi</a:t>
            </a:r>
            <a:r>
              <a:rPr lang="en-IN" dirty="0"/>
              <a:t>, who received the Nobel Prize in Physics in 1944. Rabi described how nuclei (</a:t>
            </a:r>
            <a:r>
              <a:rPr lang="en-IN" dirty="0">
                <a:solidFill>
                  <a:srgbClr val="000000"/>
                </a:solidFill>
              </a:rPr>
              <a:t>hydrogen, deuterium, and lithium) </a:t>
            </a:r>
            <a:r>
              <a:rPr lang="en-IN" dirty="0"/>
              <a:t>could be induced to flip their principal magnetic orientation by an oscillating magnetic field in vacuum. </a:t>
            </a:r>
          </a:p>
        </p:txBody>
      </p:sp>
      <p:grpSp>
        <p:nvGrpSpPr>
          <p:cNvPr id="15" name="Group 14">
            <a:extLst>
              <a:ext uri="{FF2B5EF4-FFF2-40B4-BE49-F238E27FC236}">
                <a16:creationId xmlns:a16="http://schemas.microsoft.com/office/drawing/2014/main" id="{49CC719E-3093-8784-A7F4-BC8213E3DC50}"/>
              </a:ext>
            </a:extLst>
          </p:cNvPr>
          <p:cNvGrpSpPr/>
          <p:nvPr/>
        </p:nvGrpSpPr>
        <p:grpSpPr>
          <a:xfrm>
            <a:off x="8627619" y="379134"/>
            <a:ext cx="1295962" cy="6061420"/>
            <a:chOff x="6937950" y="704639"/>
            <a:chExt cx="1295962" cy="6061420"/>
          </a:xfrm>
        </p:grpSpPr>
        <p:pic>
          <p:nvPicPr>
            <p:cNvPr id="8" name="Picture 2" descr="Image result for edward mills purcell"/>
            <p:cNvPicPr>
              <a:picLocks noChangeAspect="1" noChangeArrowheads="1"/>
            </p:cNvPicPr>
            <p:nvPr/>
          </p:nvPicPr>
          <p:blipFill>
            <a:blip r:embed="rId2" cstate="print"/>
            <a:srcRect l="19230"/>
            <a:stretch>
              <a:fillRect/>
            </a:stretch>
          </p:blipFill>
          <p:spPr bwMode="auto">
            <a:xfrm>
              <a:off x="6980145" y="2785213"/>
              <a:ext cx="1249454" cy="1546943"/>
            </a:xfrm>
            <a:prstGeom prst="rect">
              <a:avLst/>
            </a:prstGeom>
            <a:noFill/>
          </p:spPr>
        </p:pic>
        <p:pic>
          <p:nvPicPr>
            <p:cNvPr id="9" name="Picture 4" descr="Image result for Felix bloch"/>
            <p:cNvPicPr>
              <a:picLocks noChangeAspect="1" noChangeArrowheads="1"/>
            </p:cNvPicPr>
            <p:nvPr/>
          </p:nvPicPr>
          <p:blipFill>
            <a:blip r:embed="rId3" cstate="print"/>
            <a:srcRect/>
            <a:stretch>
              <a:fillRect/>
            </a:stretch>
          </p:blipFill>
          <p:spPr bwMode="auto">
            <a:xfrm>
              <a:off x="7090912" y="4869703"/>
              <a:ext cx="1143000" cy="1601612"/>
            </a:xfrm>
            <a:prstGeom prst="rect">
              <a:avLst/>
            </a:prstGeom>
            <a:noFill/>
          </p:spPr>
        </p:pic>
        <p:sp>
          <p:nvSpPr>
            <p:cNvPr id="10" name="TextBox 9"/>
            <p:cNvSpPr txBox="1"/>
            <p:nvPr/>
          </p:nvSpPr>
          <p:spPr>
            <a:xfrm>
              <a:off x="7248436" y="6427505"/>
              <a:ext cx="819327" cy="338554"/>
            </a:xfrm>
            <a:prstGeom prst="rect">
              <a:avLst/>
            </a:prstGeom>
            <a:noFill/>
          </p:spPr>
          <p:txBody>
            <a:bodyPr wrap="none" rtlCol="0">
              <a:spAutoFit/>
            </a:bodyPr>
            <a:lstStyle/>
            <a:p>
              <a:r>
                <a:rPr lang="en-US" sz="1600" dirty="0"/>
                <a:t>F. Bloch</a:t>
              </a:r>
            </a:p>
          </p:txBody>
        </p:sp>
        <p:sp>
          <p:nvSpPr>
            <p:cNvPr id="11" name="TextBox 10"/>
            <p:cNvSpPr txBox="1"/>
            <p:nvPr/>
          </p:nvSpPr>
          <p:spPr>
            <a:xfrm>
              <a:off x="7009800" y="4365290"/>
              <a:ext cx="1220399" cy="338554"/>
            </a:xfrm>
            <a:prstGeom prst="rect">
              <a:avLst/>
            </a:prstGeom>
            <a:noFill/>
          </p:spPr>
          <p:txBody>
            <a:bodyPr wrap="none" rtlCol="0">
              <a:spAutoFit/>
            </a:bodyPr>
            <a:lstStyle/>
            <a:p>
              <a:r>
                <a:rPr lang="en-US" sz="1600" dirty="0"/>
                <a:t>E. M. Purcell</a:t>
              </a:r>
            </a:p>
          </p:txBody>
        </p:sp>
        <p:pic>
          <p:nvPicPr>
            <p:cNvPr id="13" name="Picture 12">
              <a:extLst>
                <a:ext uri="{FF2B5EF4-FFF2-40B4-BE49-F238E27FC236}">
                  <a16:creationId xmlns:a16="http://schemas.microsoft.com/office/drawing/2014/main" id="{16F9266F-32F9-4370-48B5-3BA35E46439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37950" y="704639"/>
              <a:ext cx="1291649" cy="1617145"/>
            </a:xfrm>
            <a:prstGeom prst="rect">
              <a:avLst/>
            </a:prstGeom>
          </p:spPr>
        </p:pic>
        <p:sp>
          <p:nvSpPr>
            <p:cNvPr id="14" name="TextBox 13">
              <a:extLst>
                <a:ext uri="{FF2B5EF4-FFF2-40B4-BE49-F238E27FC236}">
                  <a16:creationId xmlns:a16="http://schemas.microsoft.com/office/drawing/2014/main" id="{F637A7E8-8150-132F-2CCA-42535318EC2F}"/>
                </a:ext>
              </a:extLst>
            </p:cNvPr>
            <p:cNvSpPr txBox="1"/>
            <p:nvPr/>
          </p:nvSpPr>
          <p:spPr>
            <a:xfrm>
              <a:off x="7181518" y="2344589"/>
              <a:ext cx="846707" cy="338554"/>
            </a:xfrm>
            <a:prstGeom prst="rect">
              <a:avLst/>
            </a:prstGeom>
            <a:noFill/>
          </p:spPr>
          <p:txBody>
            <a:bodyPr wrap="none" rtlCol="0">
              <a:spAutoFit/>
            </a:bodyPr>
            <a:lstStyle/>
            <a:p>
              <a:r>
                <a:rPr lang="en-US" sz="1600" dirty="0"/>
                <a:t>I. I. Rabi</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4DE0D2A-2D9B-4184-8669-3511CA7BE733}"/>
              </a:ext>
            </a:extLst>
          </p:cNvPr>
          <p:cNvSpPr txBox="1"/>
          <p:nvPr/>
        </p:nvSpPr>
        <p:spPr>
          <a:xfrm>
            <a:off x="196215" y="235987"/>
            <a:ext cx="11799570" cy="6355586"/>
          </a:xfrm>
          <a:prstGeom prst="rect">
            <a:avLst/>
          </a:prstGeom>
          <a:noFill/>
        </p:spPr>
        <p:txBody>
          <a:bodyPr wrap="square" rtlCol="0">
            <a:spAutoFit/>
          </a:bodyPr>
          <a:lstStyle/>
          <a:p>
            <a:pPr algn="ctr"/>
            <a:r>
              <a:rPr lang="en-US" sz="2000" b="1" dirty="0"/>
              <a:t>NMR spectroscopy</a:t>
            </a:r>
          </a:p>
          <a:p>
            <a:endParaRPr lang="en-US" dirty="0"/>
          </a:p>
          <a:p>
            <a:pPr marL="285750" indent="-285750">
              <a:lnSpc>
                <a:spcPct val="150000"/>
              </a:lnSpc>
              <a:buFont typeface="Arial" panose="020B0604020202020204" pitchFamily="34" charset="0"/>
              <a:buChar char="•"/>
            </a:pPr>
            <a:r>
              <a:rPr lang="en-US" dirty="0"/>
              <a:t>Lots of time we do chemistry, we face big challenge that is we can not see the molecules, we do some chemical reactions to get a product, and we need some way to make sure that what we obtained, because we can not see the structure of a molecule by naked eyes. To address this challenge, we have a number of techniques that fall under the umbrella, term of spectroscopy…</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By modern synthetic chemistry literally we can build or synthesize any molecule, that can be organic or inorganic molecules, that we can think of. And we need a way that precisely tells us what is molecule exactly, its total structure, all the connectivity, all the stereochemistry. This is done by NMR. </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Only certain atomic nuclei like proton </a:t>
            </a:r>
            <a:r>
              <a:rPr lang="en-US" baseline="30000" dirty="0"/>
              <a:t>1</a:t>
            </a:r>
            <a:r>
              <a:rPr lang="en-US" dirty="0"/>
              <a:t>H and </a:t>
            </a:r>
            <a:r>
              <a:rPr lang="en-US" baseline="30000" dirty="0"/>
              <a:t>13</a:t>
            </a:r>
            <a:r>
              <a:rPr lang="en-US" dirty="0"/>
              <a:t>C exhibit nuclear spin and we can take advantage of this spin… By placing a molecule to an external magnetic field, we irradiate the molecule with light of RF. We get interesting spectroscopic data, that generates NMR spectrum which tells us precise chemical environment of every single proton in the molecule and we can use this information to determine the exact structure of the molecule.</a:t>
            </a:r>
          </a:p>
          <a:p>
            <a:endParaRPr lang="en-US" dirty="0"/>
          </a:p>
        </p:txBody>
      </p:sp>
    </p:spTree>
    <p:extLst>
      <p:ext uri="{BB962C8B-B14F-4D97-AF65-F5344CB8AC3E}">
        <p14:creationId xmlns:p14="http://schemas.microsoft.com/office/powerpoint/2010/main" val="2197115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40114" t="52323" r="22046" b="17576"/>
          <a:stretch/>
        </p:blipFill>
        <p:spPr>
          <a:xfrm>
            <a:off x="263235" y="929506"/>
            <a:ext cx="10775298" cy="4821384"/>
          </a:xfrm>
          <a:prstGeom prst="rect">
            <a:avLst/>
          </a:prstGeom>
        </p:spPr>
      </p:pic>
      <p:sp>
        <p:nvSpPr>
          <p:cNvPr id="3" name="Rectangle 2"/>
          <p:cNvSpPr/>
          <p:nvPr/>
        </p:nvSpPr>
        <p:spPr>
          <a:xfrm>
            <a:off x="2382980" y="306948"/>
            <a:ext cx="6096000" cy="954107"/>
          </a:xfrm>
          <a:prstGeom prst="rect">
            <a:avLst/>
          </a:prstGeom>
        </p:spPr>
        <p:txBody>
          <a:bodyPr>
            <a:spAutoFit/>
          </a:bodyPr>
          <a:lstStyle/>
          <a:p>
            <a:pPr algn="ctr"/>
            <a:r>
              <a:rPr lang="en-US" sz="2800" dirty="0">
                <a:solidFill>
                  <a:srgbClr val="242021"/>
                </a:solidFill>
              </a:rPr>
              <a:t>Electromagnetic Spectrum</a:t>
            </a:r>
            <a:r>
              <a:rPr lang="en-US" sz="2800" dirty="0"/>
              <a:t> </a:t>
            </a:r>
            <a:br>
              <a:rPr lang="en-US" sz="2800" dirty="0"/>
            </a:br>
            <a:endParaRPr lang="en-IN" sz="2800" dirty="0"/>
          </a:p>
        </p:txBody>
      </p:sp>
      <p:pic>
        <p:nvPicPr>
          <p:cNvPr id="5" name="Picture 4"/>
          <p:cNvPicPr>
            <a:picLocks noChangeAspect="1"/>
          </p:cNvPicPr>
          <p:nvPr/>
        </p:nvPicPr>
        <p:blipFill rotWithShape="1">
          <a:blip r:embed="rId4"/>
          <a:srcRect l="32500" t="35757" r="23523" b="25051"/>
          <a:stretch/>
        </p:blipFill>
        <p:spPr>
          <a:xfrm>
            <a:off x="11238244" y="3063108"/>
            <a:ext cx="5361709" cy="2687782"/>
          </a:xfrm>
          <a:prstGeom prst="rect">
            <a:avLst/>
          </a:prstGeom>
        </p:spPr>
      </p:pic>
      <p:sp>
        <p:nvSpPr>
          <p:cNvPr id="6" name="TextBox 5"/>
          <p:cNvSpPr txBox="1"/>
          <p:nvPr/>
        </p:nvSpPr>
        <p:spPr>
          <a:xfrm>
            <a:off x="174335" y="6373448"/>
            <a:ext cx="10571933" cy="369332"/>
          </a:xfrm>
          <a:prstGeom prst="rect">
            <a:avLst/>
          </a:prstGeom>
          <a:noFill/>
        </p:spPr>
        <p:txBody>
          <a:bodyPr wrap="none" rtlCol="0">
            <a:spAutoFit/>
          </a:bodyPr>
          <a:lstStyle/>
          <a:p>
            <a:r>
              <a:rPr lang="en-IN" dirty="0"/>
              <a:t>Energy transitions: bond breaking, electronic, vibrational, rotational and </a:t>
            </a:r>
            <a:r>
              <a:rPr lang="en-US" dirty="0"/>
              <a:t>nuclear or electronic spin transitions </a:t>
            </a:r>
            <a:r>
              <a:rPr lang="en-IN" dirty="0"/>
              <a:t> </a:t>
            </a:r>
          </a:p>
        </p:txBody>
      </p:sp>
    </p:spTree>
    <p:extLst>
      <p:ext uri="{BB962C8B-B14F-4D97-AF65-F5344CB8AC3E}">
        <p14:creationId xmlns:p14="http://schemas.microsoft.com/office/powerpoint/2010/main" val="1361630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98C115-F7C4-FFC2-7435-CF8CF0D1AEBF}"/>
              </a:ext>
            </a:extLst>
          </p:cNvPr>
          <p:cNvPicPr>
            <a:picLocks noChangeAspect="1"/>
          </p:cNvPicPr>
          <p:nvPr/>
        </p:nvPicPr>
        <p:blipFill>
          <a:blip r:embed="rId2"/>
          <a:stretch>
            <a:fillRect/>
          </a:stretch>
        </p:blipFill>
        <p:spPr>
          <a:xfrm>
            <a:off x="80123" y="175758"/>
            <a:ext cx="12031754" cy="6506483"/>
          </a:xfrm>
          <a:prstGeom prst="rect">
            <a:avLst/>
          </a:prstGeom>
        </p:spPr>
      </p:pic>
    </p:spTree>
    <p:extLst>
      <p:ext uri="{BB962C8B-B14F-4D97-AF65-F5344CB8AC3E}">
        <p14:creationId xmlns:p14="http://schemas.microsoft.com/office/powerpoint/2010/main" val="3411821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61F015-7496-7EB1-8BCB-56E972A873A9}"/>
              </a:ext>
            </a:extLst>
          </p:cNvPr>
          <p:cNvPicPr>
            <a:picLocks noChangeAspect="1"/>
          </p:cNvPicPr>
          <p:nvPr/>
        </p:nvPicPr>
        <p:blipFill>
          <a:blip r:embed="rId2"/>
          <a:stretch>
            <a:fillRect/>
          </a:stretch>
        </p:blipFill>
        <p:spPr>
          <a:xfrm>
            <a:off x="245983" y="0"/>
            <a:ext cx="11946017" cy="3724795"/>
          </a:xfrm>
          <a:prstGeom prst="rect">
            <a:avLst/>
          </a:prstGeom>
        </p:spPr>
      </p:pic>
    </p:spTree>
    <p:extLst>
      <p:ext uri="{BB962C8B-B14F-4D97-AF65-F5344CB8AC3E}">
        <p14:creationId xmlns:p14="http://schemas.microsoft.com/office/powerpoint/2010/main" val="2329135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570DFA4-24F9-FD38-F8D1-424C71347689}"/>
              </a:ext>
            </a:extLst>
          </p:cNvPr>
          <p:cNvPicPr>
            <a:picLocks noChangeAspect="1"/>
          </p:cNvPicPr>
          <p:nvPr/>
        </p:nvPicPr>
        <p:blipFill>
          <a:blip r:embed="rId2"/>
          <a:stretch>
            <a:fillRect/>
          </a:stretch>
        </p:blipFill>
        <p:spPr>
          <a:xfrm>
            <a:off x="-70339" y="2120372"/>
            <a:ext cx="12192000" cy="4606827"/>
          </a:xfrm>
          <a:prstGeom prst="rect">
            <a:avLst/>
          </a:prstGeom>
        </p:spPr>
      </p:pic>
      <p:pic>
        <p:nvPicPr>
          <p:cNvPr id="9" name="Picture 8">
            <a:extLst>
              <a:ext uri="{FF2B5EF4-FFF2-40B4-BE49-F238E27FC236}">
                <a16:creationId xmlns:a16="http://schemas.microsoft.com/office/drawing/2014/main" id="{64D0B968-B680-6910-A9BF-7ADD315D879E}"/>
              </a:ext>
            </a:extLst>
          </p:cNvPr>
          <p:cNvPicPr>
            <a:picLocks noChangeAspect="1"/>
          </p:cNvPicPr>
          <p:nvPr/>
        </p:nvPicPr>
        <p:blipFill>
          <a:blip r:embed="rId3"/>
          <a:stretch>
            <a:fillRect/>
          </a:stretch>
        </p:blipFill>
        <p:spPr>
          <a:xfrm>
            <a:off x="0" y="-68060"/>
            <a:ext cx="12192000" cy="2188432"/>
          </a:xfrm>
          <a:prstGeom prst="rect">
            <a:avLst/>
          </a:prstGeom>
        </p:spPr>
      </p:pic>
    </p:spTree>
    <p:extLst>
      <p:ext uri="{BB962C8B-B14F-4D97-AF65-F5344CB8AC3E}">
        <p14:creationId xmlns:p14="http://schemas.microsoft.com/office/powerpoint/2010/main" val="657131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A5738A-D5E9-8FC6-1B36-D59E7B759194}"/>
              </a:ext>
            </a:extLst>
          </p:cNvPr>
          <p:cNvPicPr>
            <a:picLocks noChangeAspect="1"/>
          </p:cNvPicPr>
          <p:nvPr/>
        </p:nvPicPr>
        <p:blipFill>
          <a:blip r:embed="rId2"/>
          <a:stretch>
            <a:fillRect/>
          </a:stretch>
        </p:blipFill>
        <p:spPr>
          <a:xfrm>
            <a:off x="2738603" y="0"/>
            <a:ext cx="6714793" cy="6858000"/>
          </a:xfrm>
          <a:prstGeom prst="rect">
            <a:avLst/>
          </a:prstGeom>
        </p:spPr>
      </p:pic>
    </p:spTree>
    <p:extLst>
      <p:ext uri="{BB962C8B-B14F-4D97-AF65-F5344CB8AC3E}">
        <p14:creationId xmlns:p14="http://schemas.microsoft.com/office/powerpoint/2010/main" val="1221647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26B076-E889-B878-2DAD-D2987E9495FE}"/>
              </a:ext>
            </a:extLst>
          </p:cNvPr>
          <p:cNvPicPr>
            <a:picLocks noChangeAspect="1"/>
          </p:cNvPicPr>
          <p:nvPr/>
        </p:nvPicPr>
        <p:blipFill>
          <a:blip r:embed="rId2"/>
          <a:stretch>
            <a:fillRect/>
          </a:stretch>
        </p:blipFill>
        <p:spPr>
          <a:xfrm>
            <a:off x="0" y="363154"/>
            <a:ext cx="12192000" cy="6131691"/>
          </a:xfrm>
          <a:prstGeom prst="rect">
            <a:avLst/>
          </a:prstGeom>
        </p:spPr>
      </p:pic>
    </p:spTree>
    <p:extLst>
      <p:ext uri="{BB962C8B-B14F-4D97-AF65-F5344CB8AC3E}">
        <p14:creationId xmlns:p14="http://schemas.microsoft.com/office/powerpoint/2010/main" val="219483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58277D-83BC-3C9D-B066-11E4AA3DB411}"/>
              </a:ext>
            </a:extLst>
          </p:cNvPr>
          <p:cNvPicPr>
            <a:picLocks noChangeAspect="1"/>
          </p:cNvPicPr>
          <p:nvPr/>
        </p:nvPicPr>
        <p:blipFill>
          <a:blip r:embed="rId2"/>
          <a:stretch>
            <a:fillRect/>
          </a:stretch>
        </p:blipFill>
        <p:spPr>
          <a:xfrm>
            <a:off x="0" y="1105995"/>
            <a:ext cx="12192000" cy="4646010"/>
          </a:xfrm>
          <a:prstGeom prst="rect">
            <a:avLst/>
          </a:prstGeom>
        </p:spPr>
      </p:pic>
    </p:spTree>
    <p:extLst>
      <p:ext uri="{BB962C8B-B14F-4D97-AF65-F5344CB8AC3E}">
        <p14:creationId xmlns:p14="http://schemas.microsoft.com/office/powerpoint/2010/main" val="2774540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246FB1-1103-8CD7-DEBB-6238E5C01194}"/>
              </a:ext>
            </a:extLst>
          </p:cNvPr>
          <p:cNvPicPr>
            <a:picLocks noChangeAspect="1"/>
          </p:cNvPicPr>
          <p:nvPr/>
        </p:nvPicPr>
        <p:blipFill>
          <a:blip r:embed="rId2"/>
          <a:stretch>
            <a:fillRect/>
          </a:stretch>
        </p:blipFill>
        <p:spPr>
          <a:xfrm>
            <a:off x="0" y="137539"/>
            <a:ext cx="12192000" cy="6582921"/>
          </a:xfrm>
          <a:prstGeom prst="rect">
            <a:avLst/>
          </a:prstGeom>
        </p:spPr>
      </p:pic>
    </p:spTree>
    <p:extLst>
      <p:ext uri="{BB962C8B-B14F-4D97-AF65-F5344CB8AC3E}">
        <p14:creationId xmlns:p14="http://schemas.microsoft.com/office/powerpoint/2010/main" val="4895427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402BB6-92CD-7A0A-4296-ED06531F4DB8}"/>
              </a:ext>
            </a:extLst>
          </p:cNvPr>
          <p:cNvPicPr>
            <a:picLocks noChangeAspect="1"/>
          </p:cNvPicPr>
          <p:nvPr/>
        </p:nvPicPr>
        <p:blipFill>
          <a:blip r:embed="rId2"/>
          <a:stretch>
            <a:fillRect/>
          </a:stretch>
        </p:blipFill>
        <p:spPr>
          <a:xfrm>
            <a:off x="1400282" y="0"/>
            <a:ext cx="9391435" cy="6858000"/>
          </a:xfrm>
          <a:prstGeom prst="rect">
            <a:avLst/>
          </a:prstGeom>
        </p:spPr>
      </p:pic>
    </p:spTree>
    <p:extLst>
      <p:ext uri="{BB962C8B-B14F-4D97-AF65-F5344CB8AC3E}">
        <p14:creationId xmlns:p14="http://schemas.microsoft.com/office/powerpoint/2010/main" val="18797166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5DB0B8-4C1B-52A0-0335-247934FCC108}"/>
              </a:ext>
            </a:extLst>
          </p:cNvPr>
          <p:cNvPicPr>
            <a:picLocks noChangeAspect="1"/>
          </p:cNvPicPr>
          <p:nvPr/>
        </p:nvPicPr>
        <p:blipFill>
          <a:blip r:embed="rId2"/>
          <a:stretch>
            <a:fillRect/>
          </a:stretch>
        </p:blipFill>
        <p:spPr>
          <a:xfrm>
            <a:off x="2080009" y="587542"/>
            <a:ext cx="8862386" cy="6270458"/>
          </a:xfrm>
          <a:prstGeom prst="rect">
            <a:avLst/>
          </a:prstGeom>
        </p:spPr>
      </p:pic>
      <p:pic>
        <p:nvPicPr>
          <p:cNvPr id="5" name="Picture 4">
            <a:extLst>
              <a:ext uri="{FF2B5EF4-FFF2-40B4-BE49-F238E27FC236}">
                <a16:creationId xmlns:a16="http://schemas.microsoft.com/office/drawing/2014/main" id="{3630E68D-F77F-9BDE-CE8D-7A733049C0A8}"/>
              </a:ext>
            </a:extLst>
          </p:cNvPr>
          <p:cNvPicPr>
            <a:picLocks noChangeAspect="1"/>
          </p:cNvPicPr>
          <p:nvPr/>
        </p:nvPicPr>
        <p:blipFill>
          <a:blip r:embed="rId3"/>
          <a:stretch>
            <a:fillRect/>
          </a:stretch>
        </p:blipFill>
        <p:spPr>
          <a:xfrm>
            <a:off x="0" y="-24289"/>
            <a:ext cx="12192000" cy="611831"/>
          </a:xfrm>
          <a:prstGeom prst="rect">
            <a:avLst/>
          </a:prstGeom>
        </p:spPr>
      </p:pic>
    </p:spTree>
    <p:extLst>
      <p:ext uri="{BB962C8B-B14F-4D97-AF65-F5344CB8AC3E}">
        <p14:creationId xmlns:p14="http://schemas.microsoft.com/office/powerpoint/2010/main" val="4263557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E48D95-B463-A205-1503-0E3C0058B7A1}"/>
              </a:ext>
            </a:extLst>
          </p:cNvPr>
          <p:cNvPicPr>
            <a:picLocks noChangeAspect="1"/>
          </p:cNvPicPr>
          <p:nvPr/>
        </p:nvPicPr>
        <p:blipFill>
          <a:blip r:embed="rId2"/>
          <a:stretch>
            <a:fillRect/>
          </a:stretch>
        </p:blipFill>
        <p:spPr>
          <a:xfrm>
            <a:off x="301635" y="0"/>
            <a:ext cx="11588729" cy="6858000"/>
          </a:xfrm>
          <a:prstGeom prst="rect">
            <a:avLst/>
          </a:prstGeom>
        </p:spPr>
      </p:pic>
    </p:spTree>
    <p:extLst>
      <p:ext uri="{BB962C8B-B14F-4D97-AF65-F5344CB8AC3E}">
        <p14:creationId xmlns:p14="http://schemas.microsoft.com/office/powerpoint/2010/main" val="2198010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0AEAAF-3C08-D087-CDE1-05895E077FB6}"/>
              </a:ext>
            </a:extLst>
          </p:cNvPr>
          <p:cNvPicPr>
            <a:picLocks noChangeAspect="1"/>
          </p:cNvPicPr>
          <p:nvPr/>
        </p:nvPicPr>
        <p:blipFill>
          <a:blip r:embed="rId2"/>
          <a:stretch>
            <a:fillRect/>
          </a:stretch>
        </p:blipFill>
        <p:spPr>
          <a:xfrm>
            <a:off x="2455333" y="0"/>
            <a:ext cx="7281333" cy="6858000"/>
          </a:xfrm>
          <a:prstGeom prst="rect">
            <a:avLst/>
          </a:prstGeom>
        </p:spPr>
      </p:pic>
    </p:spTree>
    <p:extLst>
      <p:ext uri="{BB962C8B-B14F-4D97-AF65-F5344CB8AC3E}">
        <p14:creationId xmlns:p14="http://schemas.microsoft.com/office/powerpoint/2010/main" val="1422255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F75022-AFFB-A3A9-AD0C-29325D7E0003}"/>
              </a:ext>
            </a:extLst>
          </p:cNvPr>
          <p:cNvPicPr>
            <a:picLocks noChangeAspect="1"/>
          </p:cNvPicPr>
          <p:nvPr/>
        </p:nvPicPr>
        <p:blipFill>
          <a:blip r:embed="rId2"/>
          <a:stretch>
            <a:fillRect/>
          </a:stretch>
        </p:blipFill>
        <p:spPr>
          <a:xfrm>
            <a:off x="75360" y="423443"/>
            <a:ext cx="12041280" cy="6011114"/>
          </a:xfrm>
          <a:prstGeom prst="rect">
            <a:avLst/>
          </a:prstGeom>
        </p:spPr>
      </p:pic>
    </p:spTree>
    <p:extLst>
      <p:ext uri="{BB962C8B-B14F-4D97-AF65-F5344CB8AC3E}">
        <p14:creationId xmlns:p14="http://schemas.microsoft.com/office/powerpoint/2010/main" val="858439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77ABDD-DDC6-4B0C-3429-C28AB441D62A}"/>
              </a:ext>
            </a:extLst>
          </p:cNvPr>
          <p:cNvPicPr>
            <a:picLocks noChangeAspect="1"/>
          </p:cNvPicPr>
          <p:nvPr/>
        </p:nvPicPr>
        <p:blipFill>
          <a:blip r:embed="rId2"/>
          <a:stretch>
            <a:fillRect/>
          </a:stretch>
        </p:blipFill>
        <p:spPr>
          <a:xfrm>
            <a:off x="1142308" y="1023602"/>
            <a:ext cx="9907383" cy="4810796"/>
          </a:xfrm>
          <a:prstGeom prst="rect">
            <a:avLst/>
          </a:prstGeom>
        </p:spPr>
      </p:pic>
    </p:spTree>
    <p:extLst>
      <p:ext uri="{BB962C8B-B14F-4D97-AF65-F5344CB8AC3E}">
        <p14:creationId xmlns:p14="http://schemas.microsoft.com/office/powerpoint/2010/main" val="21438637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E43213-2CCD-49E3-A314-9F9412A72945}"/>
              </a:ext>
            </a:extLst>
          </p:cNvPr>
          <p:cNvSpPr txBox="1"/>
          <p:nvPr/>
        </p:nvSpPr>
        <p:spPr>
          <a:xfrm>
            <a:off x="281940" y="279596"/>
            <a:ext cx="11628120" cy="6109365"/>
          </a:xfrm>
          <a:prstGeom prst="rect">
            <a:avLst/>
          </a:prstGeom>
          <a:noFill/>
        </p:spPr>
        <p:txBody>
          <a:bodyPr wrap="square">
            <a:spAutoFit/>
          </a:bodyPr>
          <a:lstStyle/>
          <a:p>
            <a:pPr algn="just">
              <a:lnSpc>
                <a:spcPct val="115000"/>
              </a:lnSpc>
            </a:pPr>
            <a:r>
              <a:rPr lang="en-US" sz="2000" b="1" kern="1200" dirty="0">
                <a:solidFill>
                  <a:srgbClr val="000000"/>
                </a:solidFill>
                <a:effectLst/>
              </a:rPr>
              <a:t>NMR active nuclei: </a:t>
            </a:r>
            <a:r>
              <a:rPr lang="en-US" sz="2000" kern="1200" dirty="0">
                <a:solidFill>
                  <a:srgbClr val="000000"/>
                </a:solidFill>
                <a:effectLst/>
              </a:rPr>
              <a:t>The nuclei are built up of protons and neutrons each possessing an angular momentum due to its motion about the </a:t>
            </a:r>
            <a:r>
              <a:rPr lang="en-US" sz="2000" kern="1200" dirty="0" err="1">
                <a:solidFill>
                  <a:srgbClr val="000000"/>
                </a:solidFill>
                <a:effectLst/>
              </a:rPr>
              <a:t>centre</a:t>
            </a:r>
            <a:r>
              <a:rPr lang="en-US" sz="2000" kern="1200" dirty="0">
                <a:solidFill>
                  <a:srgbClr val="000000"/>
                </a:solidFill>
                <a:effectLst/>
              </a:rPr>
              <a:t> of the nucleus. The total angular momentum of a particular nucleus is the vector sum of the individual momentum of the constituent protons and neutrons. The total angular momentum of a nucleus in its ground state is called as nuclear spin. This is characterized by a spin quantum number I, which may be integral, half-integral or 0. Such spin number I is also related to the mass number and atomic number of an atom. There are some empirical rules which determine the net spin of a nucleus given as below. Only those nuclei which have non-zero spin number can absorb/emit radiofrequency (RF) radiation and hence are NMR active nuclei.</a:t>
            </a:r>
            <a:endParaRPr lang="en-IN" sz="2000" dirty="0">
              <a:effectLst/>
              <a:ea typeface="Times New Roman" panose="02020603050405020304" pitchFamily="18" charset="0"/>
            </a:endParaRPr>
          </a:p>
          <a:p>
            <a:pPr algn="just">
              <a:lnSpc>
                <a:spcPct val="115000"/>
              </a:lnSpc>
            </a:pPr>
            <a:r>
              <a:rPr lang="en-US" sz="2000" dirty="0">
                <a:effectLst/>
                <a:ea typeface="Times New Roman" panose="02020603050405020304" pitchFamily="18" charset="0"/>
              </a:rPr>
              <a:t> </a:t>
            </a:r>
            <a:endParaRPr lang="en-IN" sz="2000" dirty="0">
              <a:effectLst/>
              <a:ea typeface="Times New Roman" panose="02020603050405020304" pitchFamily="18" charset="0"/>
            </a:endParaRPr>
          </a:p>
          <a:p>
            <a:pPr algn="just">
              <a:lnSpc>
                <a:spcPct val="115000"/>
              </a:lnSpc>
            </a:pPr>
            <a:r>
              <a:rPr lang="en-US" sz="2000" kern="1200" dirty="0">
                <a:solidFill>
                  <a:srgbClr val="000000"/>
                </a:solidFill>
                <a:effectLst/>
              </a:rPr>
              <a:t>1) If the mass number is odd, then the nucleus has a half-integer spin (I = 1/2, 3/2, 5/2 and so on). Example: </a:t>
            </a:r>
            <a:r>
              <a:rPr lang="en-US" sz="2000" kern="1200" baseline="30000" dirty="0">
                <a:solidFill>
                  <a:srgbClr val="000000"/>
                </a:solidFill>
                <a:effectLst/>
              </a:rPr>
              <a:t>1</a:t>
            </a:r>
            <a:r>
              <a:rPr lang="en-US" sz="2000" kern="1200" dirty="0">
                <a:solidFill>
                  <a:srgbClr val="000000"/>
                </a:solidFill>
                <a:effectLst/>
              </a:rPr>
              <a:t>H, </a:t>
            </a:r>
            <a:r>
              <a:rPr lang="en-US" sz="2000" kern="1200" baseline="30000" dirty="0">
                <a:solidFill>
                  <a:srgbClr val="000000"/>
                </a:solidFill>
                <a:effectLst/>
              </a:rPr>
              <a:t>13</a:t>
            </a:r>
            <a:r>
              <a:rPr lang="en-US" sz="2000" kern="1200" dirty="0">
                <a:solidFill>
                  <a:srgbClr val="000000"/>
                </a:solidFill>
                <a:effectLst/>
              </a:rPr>
              <a:t>C, </a:t>
            </a:r>
            <a:r>
              <a:rPr lang="en-US" sz="2000" kern="1200" baseline="30000" dirty="0">
                <a:solidFill>
                  <a:srgbClr val="000000"/>
                </a:solidFill>
                <a:effectLst/>
              </a:rPr>
              <a:t>15</a:t>
            </a:r>
            <a:r>
              <a:rPr lang="en-US" sz="2000" kern="1200" dirty="0">
                <a:solidFill>
                  <a:srgbClr val="000000"/>
                </a:solidFill>
                <a:effectLst/>
              </a:rPr>
              <a:t>N, </a:t>
            </a:r>
            <a:r>
              <a:rPr lang="en-US" sz="2000" kern="1200" baseline="30000" dirty="0">
                <a:solidFill>
                  <a:srgbClr val="000000"/>
                </a:solidFill>
                <a:effectLst/>
              </a:rPr>
              <a:t>31</a:t>
            </a:r>
            <a:r>
              <a:rPr lang="en-US" sz="2000" kern="1200" dirty="0">
                <a:solidFill>
                  <a:srgbClr val="000000"/>
                </a:solidFill>
                <a:effectLst/>
              </a:rPr>
              <a:t>P are NMR active.</a:t>
            </a:r>
            <a:endParaRPr lang="en-IN" sz="2000" dirty="0">
              <a:effectLst/>
              <a:ea typeface="Times New Roman" panose="02020603050405020304" pitchFamily="18" charset="0"/>
            </a:endParaRPr>
          </a:p>
          <a:p>
            <a:pPr algn="just">
              <a:lnSpc>
                <a:spcPct val="115000"/>
              </a:lnSpc>
            </a:pPr>
            <a:r>
              <a:rPr lang="en-US" sz="2000" dirty="0">
                <a:effectLst/>
                <a:ea typeface="Times New Roman" panose="02020603050405020304" pitchFamily="18" charset="0"/>
              </a:rPr>
              <a:t> </a:t>
            </a:r>
            <a:endParaRPr lang="en-IN" sz="2000" dirty="0">
              <a:effectLst/>
              <a:ea typeface="Times New Roman" panose="02020603050405020304" pitchFamily="18" charset="0"/>
            </a:endParaRPr>
          </a:p>
          <a:p>
            <a:pPr algn="just">
              <a:lnSpc>
                <a:spcPct val="115000"/>
              </a:lnSpc>
            </a:pPr>
            <a:r>
              <a:rPr lang="en-US" sz="2000" kern="1200" dirty="0">
                <a:solidFill>
                  <a:srgbClr val="000000"/>
                </a:solidFill>
                <a:effectLst/>
              </a:rPr>
              <a:t>2) If the number of neutrons and the number of protons are both odd, then the nucleus has an integer spin (I = 1, 2, 3 and so on). Example: </a:t>
            </a:r>
            <a:r>
              <a:rPr lang="en-US" sz="2000" kern="1200" baseline="30000" dirty="0">
                <a:solidFill>
                  <a:srgbClr val="000000"/>
                </a:solidFill>
                <a:effectLst/>
              </a:rPr>
              <a:t>2</a:t>
            </a:r>
            <a:r>
              <a:rPr lang="en-US" sz="2000" kern="1200" dirty="0">
                <a:solidFill>
                  <a:srgbClr val="000000"/>
                </a:solidFill>
                <a:effectLst/>
              </a:rPr>
              <a:t>H, </a:t>
            </a:r>
            <a:r>
              <a:rPr lang="en-US" sz="2000" kern="1200" baseline="30000" dirty="0">
                <a:solidFill>
                  <a:srgbClr val="000000"/>
                </a:solidFill>
                <a:effectLst/>
              </a:rPr>
              <a:t>10</a:t>
            </a:r>
            <a:r>
              <a:rPr lang="en-US" sz="2000" kern="1200" dirty="0">
                <a:solidFill>
                  <a:srgbClr val="000000"/>
                </a:solidFill>
                <a:effectLst/>
              </a:rPr>
              <a:t>B, </a:t>
            </a:r>
            <a:r>
              <a:rPr lang="en-US" sz="2000" kern="1200" baseline="30000" dirty="0">
                <a:solidFill>
                  <a:srgbClr val="000000"/>
                </a:solidFill>
                <a:effectLst/>
              </a:rPr>
              <a:t>14</a:t>
            </a:r>
            <a:r>
              <a:rPr lang="en-US" sz="2000" kern="1200" dirty="0">
                <a:solidFill>
                  <a:srgbClr val="000000"/>
                </a:solidFill>
                <a:effectLst/>
              </a:rPr>
              <a:t>N are NMR active.</a:t>
            </a:r>
            <a:endParaRPr lang="en-IN" sz="2000" dirty="0">
              <a:effectLst/>
              <a:ea typeface="Times New Roman" panose="02020603050405020304" pitchFamily="18" charset="0"/>
            </a:endParaRPr>
          </a:p>
          <a:p>
            <a:pPr algn="just">
              <a:lnSpc>
                <a:spcPct val="115000"/>
              </a:lnSpc>
            </a:pPr>
            <a:r>
              <a:rPr lang="en-US" sz="2000" dirty="0">
                <a:effectLst/>
                <a:ea typeface="Times New Roman" panose="02020603050405020304" pitchFamily="18" charset="0"/>
              </a:rPr>
              <a:t> </a:t>
            </a:r>
            <a:endParaRPr lang="en-IN" sz="2000" dirty="0">
              <a:effectLst/>
              <a:ea typeface="Times New Roman" panose="02020603050405020304" pitchFamily="18" charset="0"/>
            </a:endParaRPr>
          </a:p>
          <a:p>
            <a:pPr algn="just">
              <a:lnSpc>
                <a:spcPct val="115000"/>
              </a:lnSpc>
            </a:pPr>
            <a:r>
              <a:rPr lang="en-US" sz="2000" kern="1200" dirty="0">
                <a:solidFill>
                  <a:srgbClr val="000000"/>
                </a:solidFill>
                <a:effectLst/>
              </a:rPr>
              <a:t>3) If the number of neutrons and the number of protons are both even, then the nucleus has NO spin (I = 0). Example: For </a:t>
            </a:r>
            <a:r>
              <a:rPr lang="en-US" sz="2000" kern="1200" baseline="30000" dirty="0">
                <a:solidFill>
                  <a:srgbClr val="000000"/>
                </a:solidFill>
                <a:effectLst/>
              </a:rPr>
              <a:t>12</a:t>
            </a:r>
            <a:r>
              <a:rPr lang="en-US" sz="2000" kern="1200" dirty="0">
                <a:solidFill>
                  <a:srgbClr val="000000"/>
                </a:solidFill>
                <a:effectLst/>
              </a:rPr>
              <a:t>C, </a:t>
            </a:r>
            <a:r>
              <a:rPr lang="en-US" sz="2000" kern="1200" baseline="30000" dirty="0">
                <a:solidFill>
                  <a:srgbClr val="000000"/>
                </a:solidFill>
                <a:effectLst/>
              </a:rPr>
              <a:t>16</a:t>
            </a:r>
            <a:r>
              <a:rPr lang="en-US" sz="2000" kern="1200" dirty="0">
                <a:solidFill>
                  <a:srgbClr val="000000"/>
                </a:solidFill>
                <a:effectLst/>
              </a:rPr>
              <a:t>O, </a:t>
            </a:r>
            <a:r>
              <a:rPr lang="en-US" sz="2000" kern="1200" baseline="30000" dirty="0">
                <a:solidFill>
                  <a:srgbClr val="000000"/>
                </a:solidFill>
                <a:effectLst/>
              </a:rPr>
              <a:t>32</a:t>
            </a:r>
            <a:r>
              <a:rPr lang="en-US" sz="2000" kern="1200" dirty="0">
                <a:solidFill>
                  <a:srgbClr val="000000"/>
                </a:solidFill>
                <a:effectLst/>
              </a:rPr>
              <a:t>S No NMR signal will be obtained.</a:t>
            </a:r>
            <a:endParaRPr lang="en-IN" sz="2000" dirty="0">
              <a:effectLst/>
              <a:ea typeface="Times New Roman" panose="02020603050405020304" pitchFamily="18" charset="0"/>
            </a:endParaRPr>
          </a:p>
        </p:txBody>
      </p:sp>
    </p:spTree>
    <p:extLst>
      <p:ext uri="{BB962C8B-B14F-4D97-AF65-F5344CB8AC3E}">
        <p14:creationId xmlns:p14="http://schemas.microsoft.com/office/powerpoint/2010/main" val="24402203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D0A01F-0927-4F6D-B99D-E91DB7FD4E53}"/>
              </a:ext>
            </a:extLst>
          </p:cNvPr>
          <p:cNvSpPr txBox="1"/>
          <p:nvPr/>
        </p:nvSpPr>
        <p:spPr>
          <a:xfrm>
            <a:off x="289560" y="180208"/>
            <a:ext cx="11597640" cy="3355599"/>
          </a:xfrm>
          <a:prstGeom prst="rect">
            <a:avLst/>
          </a:prstGeom>
          <a:noFill/>
        </p:spPr>
        <p:txBody>
          <a:bodyPr wrap="square">
            <a:spAutoFit/>
          </a:bodyPr>
          <a:lstStyle/>
          <a:p>
            <a:pPr algn="just">
              <a:lnSpc>
                <a:spcPct val="115000"/>
              </a:lnSpc>
            </a:pPr>
            <a:r>
              <a:rPr lang="en-US" b="1" dirty="0">
                <a:latin typeface="Times New Roman" panose="02020603050405020304" pitchFamily="18" charset="0"/>
              </a:rPr>
              <a:t>T</a:t>
            </a:r>
            <a:r>
              <a:rPr lang="en-US" sz="1800" b="1" kern="1200" dirty="0">
                <a:effectLst/>
                <a:latin typeface="Times New Roman" panose="02020603050405020304" pitchFamily="18" charset="0"/>
                <a:ea typeface="+mn-ea"/>
              </a:rPr>
              <a:t>he spinning nuclei behave like a tiny bar magnet</a:t>
            </a:r>
            <a:endParaRPr lang="en-IN" sz="1800" dirty="0">
              <a:effectLst/>
              <a:latin typeface="Times New Roman" panose="02020603050405020304" pitchFamily="18" charset="0"/>
              <a:ea typeface="Times New Roman" panose="02020603050405020304" pitchFamily="18" charset="0"/>
            </a:endParaRPr>
          </a:p>
          <a:p>
            <a:pPr algn="just">
              <a:lnSpc>
                <a:spcPct val="115000"/>
              </a:lnSpc>
            </a:pPr>
            <a:r>
              <a:rPr lang="en-US" dirty="0">
                <a:solidFill>
                  <a:srgbClr val="000000"/>
                </a:solidFill>
                <a:latin typeface="Times New Roman" panose="02020603050405020304" pitchFamily="18" charset="0"/>
              </a:rPr>
              <a:t>T</a:t>
            </a:r>
            <a:r>
              <a:rPr lang="en-US" sz="1800" kern="1200" dirty="0">
                <a:solidFill>
                  <a:srgbClr val="000000"/>
                </a:solidFill>
                <a:effectLst/>
                <a:latin typeface="Times New Roman" panose="02020603050405020304" pitchFamily="18" charset="0"/>
                <a:ea typeface="+mn-ea"/>
              </a:rPr>
              <a:t>he moving</a:t>
            </a:r>
            <a:r>
              <a:rPr lang="en-US" sz="1800" kern="1200" dirty="0">
                <a:solidFill>
                  <a:srgbClr val="7F7F7F"/>
                </a:solidFill>
                <a:effectLst/>
                <a:latin typeface="Times New Roman" panose="02020603050405020304" pitchFamily="18" charset="0"/>
                <a:ea typeface="+mn-ea"/>
              </a:rPr>
              <a:t> </a:t>
            </a:r>
            <a:r>
              <a:rPr lang="en-US" sz="1800" kern="1200" dirty="0">
                <a:solidFill>
                  <a:srgbClr val="000000"/>
                </a:solidFill>
                <a:effectLst/>
                <a:latin typeface="Times New Roman" panose="02020603050405020304" pitchFamily="18" charset="0"/>
                <a:ea typeface="+mn-ea"/>
              </a:rPr>
              <a:t>charged particle generates a magnetic field. Since all the atomic nuclei are charged particles and hence spinning nuclei will generate a magnetic field along the axis of rotation. Isotopes with nuclear spin therefore have small magnetic fields, whose magnitude and direction can be determined by a vector called a magnetic moment. Thus, the spinning nuclei (non-zero spin number) behave like a tiny bar magnet with a magnetic moment μ.  </a:t>
            </a:r>
            <a:endParaRPr lang="en-IN" sz="2000" dirty="0">
              <a:effectLst/>
              <a:latin typeface="Times New Roman" panose="02020603050405020304" pitchFamily="18" charset="0"/>
              <a:ea typeface="Times New Roman" panose="02020603050405020304" pitchFamily="18" charset="0"/>
            </a:endParaRPr>
          </a:p>
          <a:p>
            <a:pPr algn="just">
              <a:lnSpc>
                <a:spcPct val="115000"/>
              </a:lnSpc>
            </a:pPr>
            <a:r>
              <a:rPr lang="en-US" sz="1800" kern="1200" dirty="0">
                <a:solidFill>
                  <a:srgbClr val="000000"/>
                </a:solidFill>
                <a:effectLst/>
                <a:latin typeface="Times New Roman" panose="02020603050405020304" pitchFamily="18" charset="0"/>
                <a:ea typeface="+mn-ea"/>
              </a:rPr>
              <a:t> </a:t>
            </a:r>
          </a:p>
          <a:p>
            <a:pPr algn="just">
              <a:lnSpc>
                <a:spcPct val="115000"/>
              </a:lnSpc>
            </a:pPr>
            <a:endParaRPr lang="en-US" dirty="0">
              <a:solidFill>
                <a:srgbClr val="000000"/>
              </a:solidFill>
              <a:latin typeface="Times New Roman" panose="02020603050405020304" pitchFamily="18" charset="0"/>
            </a:endParaRPr>
          </a:p>
          <a:p>
            <a:pPr algn="just">
              <a:lnSpc>
                <a:spcPct val="115000"/>
              </a:lnSpc>
            </a:pPr>
            <a:endParaRPr lang="en-US" sz="2000" dirty="0">
              <a:solidFill>
                <a:srgbClr val="000000"/>
              </a:solidFill>
              <a:effectLst/>
              <a:latin typeface="Times New Roman" panose="02020603050405020304" pitchFamily="18" charset="0"/>
              <a:ea typeface="Times New Roman" panose="02020603050405020304" pitchFamily="18" charset="0"/>
            </a:endParaRPr>
          </a:p>
          <a:p>
            <a:pPr algn="just">
              <a:lnSpc>
                <a:spcPct val="115000"/>
              </a:lnSpc>
            </a:pPr>
            <a:endParaRPr lang="en-US" sz="2000" dirty="0">
              <a:solidFill>
                <a:srgbClr val="000000"/>
              </a:solidFill>
              <a:latin typeface="Times New Roman" panose="02020603050405020304" pitchFamily="18" charset="0"/>
              <a:ea typeface="Times New Roman" panose="02020603050405020304" pitchFamily="18" charset="0"/>
            </a:endParaRPr>
          </a:p>
          <a:p>
            <a:pPr algn="just">
              <a:lnSpc>
                <a:spcPct val="115000"/>
              </a:lnSpc>
            </a:pPr>
            <a:endParaRPr lang="en-IN" sz="2000"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6711A599-D213-455A-BC6D-58846A7CC4CE}"/>
              </a:ext>
            </a:extLst>
          </p:cNvPr>
          <p:cNvPicPr>
            <a:picLocks noChangeAspect="1"/>
          </p:cNvPicPr>
          <p:nvPr/>
        </p:nvPicPr>
        <p:blipFill rotWithShape="1">
          <a:blip r:embed="rId3"/>
          <a:srcRect l="18813" t="40662" r="45208" b="24894"/>
          <a:stretch/>
        </p:blipFill>
        <p:spPr>
          <a:xfrm>
            <a:off x="2146298" y="2397921"/>
            <a:ext cx="6565901" cy="3535777"/>
          </a:xfrm>
          <a:prstGeom prst="rect">
            <a:avLst/>
          </a:prstGeom>
        </p:spPr>
      </p:pic>
    </p:spTree>
    <p:extLst>
      <p:ext uri="{BB962C8B-B14F-4D97-AF65-F5344CB8AC3E}">
        <p14:creationId xmlns:p14="http://schemas.microsoft.com/office/powerpoint/2010/main" val="18575107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B9F30FD-34CF-4848-9C97-5D2A1B9A5340}"/>
              </a:ext>
            </a:extLst>
          </p:cNvPr>
          <p:cNvSpPr txBox="1"/>
          <p:nvPr/>
        </p:nvSpPr>
        <p:spPr>
          <a:xfrm>
            <a:off x="261620" y="345440"/>
            <a:ext cx="11338560" cy="369332"/>
          </a:xfrm>
          <a:prstGeom prst="rect">
            <a:avLst/>
          </a:prstGeom>
          <a:noFill/>
        </p:spPr>
        <p:txBody>
          <a:bodyPr wrap="square">
            <a:spAutoFit/>
          </a:bodyPr>
          <a:lstStyle/>
          <a:p>
            <a:r>
              <a:rPr lang="en-IN" b="1" dirty="0"/>
              <a:t>A spinning spherical nucleus has an associated angular momentum (I) and magnetic moment (</a:t>
            </a:r>
            <a:r>
              <a:rPr lang="en-IN" b="1" dirty="0">
                <a:sym typeface="Symbol" panose="05050102010706020507" pitchFamily="18" charset="2"/>
              </a:rPr>
              <a:t></a:t>
            </a:r>
            <a:r>
              <a:rPr lang="en-IN" b="1" dirty="0"/>
              <a:t>).</a:t>
            </a:r>
          </a:p>
        </p:txBody>
      </p:sp>
      <p:pic>
        <p:nvPicPr>
          <p:cNvPr id="10" name="Picture 9">
            <a:extLst>
              <a:ext uri="{FF2B5EF4-FFF2-40B4-BE49-F238E27FC236}">
                <a16:creationId xmlns:a16="http://schemas.microsoft.com/office/drawing/2014/main" id="{90E4B756-930C-4AE2-AA5A-214F4E7F04BA}"/>
              </a:ext>
            </a:extLst>
          </p:cNvPr>
          <p:cNvPicPr>
            <a:picLocks noChangeAspect="1"/>
          </p:cNvPicPr>
          <p:nvPr/>
        </p:nvPicPr>
        <p:blipFill rotWithShape="1">
          <a:blip r:embed="rId2"/>
          <a:srcRect l="31126" t="34166" r="56874" b="44835"/>
          <a:stretch/>
        </p:blipFill>
        <p:spPr>
          <a:xfrm>
            <a:off x="716280" y="1138952"/>
            <a:ext cx="2967500" cy="2921000"/>
          </a:xfrm>
          <a:prstGeom prst="rect">
            <a:avLst/>
          </a:prstGeom>
        </p:spPr>
      </p:pic>
      <p:grpSp>
        <p:nvGrpSpPr>
          <p:cNvPr id="3" name="Group 2"/>
          <p:cNvGrpSpPr/>
          <p:nvPr/>
        </p:nvGrpSpPr>
        <p:grpSpPr>
          <a:xfrm>
            <a:off x="261620" y="4222650"/>
            <a:ext cx="5638800" cy="1778000"/>
            <a:chOff x="261620" y="4222650"/>
            <a:chExt cx="5638800" cy="1778000"/>
          </a:xfrm>
        </p:grpSpPr>
        <p:pic>
          <p:nvPicPr>
            <p:cNvPr id="5" name="Picture 4">
              <a:extLst>
                <a:ext uri="{FF2B5EF4-FFF2-40B4-BE49-F238E27FC236}">
                  <a16:creationId xmlns:a16="http://schemas.microsoft.com/office/drawing/2014/main" id="{BF6436F1-BE67-45E2-A6C7-79058B42E631}"/>
                </a:ext>
              </a:extLst>
            </p:cNvPr>
            <p:cNvPicPr>
              <a:picLocks noChangeAspect="1"/>
            </p:cNvPicPr>
            <p:nvPr/>
          </p:nvPicPr>
          <p:blipFill rotWithShape="1">
            <a:blip r:embed="rId3"/>
            <a:srcRect l="14687" t="47963" r="39062" b="26111"/>
            <a:stretch/>
          </p:blipFill>
          <p:spPr>
            <a:xfrm>
              <a:off x="261620" y="4222650"/>
              <a:ext cx="5638800" cy="1778000"/>
            </a:xfrm>
            <a:prstGeom prst="rect">
              <a:avLst/>
            </a:prstGeom>
          </p:spPr>
        </p:pic>
        <p:sp>
          <p:nvSpPr>
            <p:cNvPr id="2" name="TextBox 1"/>
            <p:cNvSpPr txBox="1"/>
            <p:nvPr/>
          </p:nvSpPr>
          <p:spPr>
            <a:xfrm>
              <a:off x="2590800" y="4586347"/>
              <a:ext cx="381000" cy="108000"/>
            </a:xfrm>
            <a:prstGeom prst="rect">
              <a:avLst/>
            </a:prstGeom>
            <a:solidFill>
              <a:schemeClr val="tx1"/>
            </a:solidFill>
          </p:spPr>
          <p:txBody>
            <a:bodyPr wrap="square" rtlCol="0">
              <a:spAutoFit/>
            </a:bodyPr>
            <a:lstStyle/>
            <a:p>
              <a:endParaRPr lang="en-IN" dirty="0"/>
            </a:p>
          </p:txBody>
        </p:sp>
      </p:grpSp>
      <p:grpSp>
        <p:nvGrpSpPr>
          <p:cNvPr id="6" name="Group 5"/>
          <p:cNvGrpSpPr/>
          <p:nvPr/>
        </p:nvGrpSpPr>
        <p:grpSpPr>
          <a:xfrm>
            <a:off x="6291582" y="1918116"/>
            <a:ext cx="5334000" cy="4082534"/>
            <a:chOff x="6291582" y="1918116"/>
            <a:chExt cx="5334000" cy="4082534"/>
          </a:xfrm>
        </p:grpSpPr>
        <p:pic>
          <p:nvPicPr>
            <p:cNvPr id="9" name="Picture 8">
              <a:extLst>
                <a:ext uri="{FF2B5EF4-FFF2-40B4-BE49-F238E27FC236}">
                  <a16:creationId xmlns:a16="http://schemas.microsoft.com/office/drawing/2014/main" id="{CDA94383-0F23-4F86-AFCB-314FBE0A7AE7}"/>
                </a:ext>
              </a:extLst>
            </p:cNvPr>
            <p:cNvPicPr>
              <a:picLocks noChangeAspect="1"/>
            </p:cNvPicPr>
            <p:nvPr/>
          </p:nvPicPr>
          <p:blipFill rotWithShape="1">
            <a:blip r:embed="rId4"/>
            <a:srcRect l="15833" t="16852" r="40417" b="23618"/>
            <a:stretch/>
          </p:blipFill>
          <p:spPr>
            <a:xfrm>
              <a:off x="6291582" y="1918116"/>
              <a:ext cx="5334000" cy="4082534"/>
            </a:xfrm>
            <a:prstGeom prst="rect">
              <a:avLst/>
            </a:prstGeom>
          </p:spPr>
        </p:pic>
        <p:sp>
          <p:nvSpPr>
            <p:cNvPr id="14" name="TextBox 13"/>
            <p:cNvSpPr txBox="1"/>
            <p:nvPr/>
          </p:nvSpPr>
          <p:spPr>
            <a:xfrm>
              <a:off x="7726680" y="5347920"/>
              <a:ext cx="180000" cy="180000"/>
            </a:xfrm>
            <a:prstGeom prst="rect">
              <a:avLst/>
            </a:prstGeom>
            <a:solidFill>
              <a:schemeClr val="bg1"/>
            </a:solidFill>
          </p:spPr>
          <p:txBody>
            <a:bodyPr wrap="square" rtlCol="0">
              <a:spAutoFit/>
            </a:bodyPr>
            <a:lstStyle/>
            <a:p>
              <a:endParaRPr lang="en-IN" dirty="0"/>
            </a:p>
          </p:txBody>
        </p:sp>
      </p:grpSp>
      <p:sp>
        <p:nvSpPr>
          <p:cNvPr id="11" name="TextBox 10"/>
          <p:cNvSpPr txBox="1"/>
          <p:nvPr/>
        </p:nvSpPr>
        <p:spPr>
          <a:xfrm>
            <a:off x="12466320" y="2517081"/>
            <a:ext cx="1935480" cy="646331"/>
          </a:xfrm>
          <a:prstGeom prst="rect">
            <a:avLst/>
          </a:prstGeom>
          <a:noFill/>
        </p:spPr>
        <p:txBody>
          <a:bodyPr wrap="square" rtlCol="0">
            <a:spAutoFit/>
          </a:bodyPr>
          <a:lstStyle/>
          <a:p>
            <a:r>
              <a:rPr lang="en-IN" dirty="0"/>
              <a:t>This is not italic, it should be bold</a:t>
            </a:r>
            <a:r>
              <a:rPr lang="en-IN" b="1" dirty="0"/>
              <a:t> I.</a:t>
            </a:r>
          </a:p>
        </p:txBody>
      </p:sp>
    </p:spTree>
    <p:extLst>
      <p:ext uri="{BB962C8B-B14F-4D97-AF65-F5344CB8AC3E}">
        <p14:creationId xmlns:p14="http://schemas.microsoft.com/office/powerpoint/2010/main" val="4197476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5BCA6C-BA52-4F55-BB6C-C55C2E6D5534}"/>
              </a:ext>
            </a:extLst>
          </p:cNvPr>
          <p:cNvSpPr txBox="1"/>
          <p:nvPr/>
        </p:nvSpPr>
        <p:spPr>
          <a:xfrm>
            <a:off x="292100" y="128045"/>
            <a:ext cx="11607800" cy="3889398"/>
          </a:xfrm>
          <a:prstGeom prst="rect">
            <a:avLst/>
          </a:prstGeom>
          <a:noFill/>
        </p:spPr>
        <p:txBody>
          <a:bodyPr wrap="square">
            <a:spAutoFit/>
          </a:bodyPr>
          <a:lstStyle/>
          <a:p>
            <a:pPr algn="just">
              <a:lnSpc>
                <a:spcPct val="115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Effect of external magnetic field: </a:t>
            </a:r>
            <a:r>
              <a:rPr lang="en-US" sz="1800" kern="1200" dirty="0">
                <a:solidFill>
                  <a:srgbClr val="000000"/>
                </a:solidFill>
                <a:effectLst/>
                <a:latin typeface="Times New Roman" panose="02020603050405020304" pitchFamily="18" charset="0"/>
                <a:ea typeface="+mn-ea"/>
                <a:cs typeface="Times New Roman" panose="02020603050405020304" pitchFamily="18" charset="0"/>
              </a:rPr>
              <a:t>In the absence of external magnetic field, all the magnetic nuclei (nuclear magnetic dipoles) are randomly oriented. But, when an external magnetic field is applied, the nuclei align themselves either “with” or “against” the field of the external magnet. Quantum mechanics explains when a magnetic active nucleus with nuclear spin I is placed in a uniform magnetic field, its magnetic dipole will align in only 2I+1 ways. In the presence of an external magnetic field, some of the nuclei arrange themselves in the direction of the external magnetic field while others in the opposite direction. More energy is needed for a nucleus to align against the external magnetic field than to align it with the external magnetic field. Therefore, nuclei which align with the field are in the lower energy state called as α-spin state and those which align against the field are in the higher energy state called as β-spin state. The total number of nuclei in the α-spin state is always higher than in the β-spin state. The difference in the populations is very small (≈ 10 out of a million), but is sufficient to form the basis of NMR spectroscopy. The difference in energy (</a:t>
            </a:r>
            <a:r>
              <a:rPr lang="en-US" sz="1800" kern="1200" dirty="0">
                <a:solidFill>
                  <a:srgbClr val="000000"/>
                </a:solidFill>
                <a:effectLst/>
                <a:latin typeface="Times New Roman" panose="02020603050405020304" pitchFamily="18" charset="0"/>
                <a:ea typeface="+mn-ea"/>
                <a:cs typeface="Times New Roman" panose="02020603050405020304" pitchFamily="18" charset="0"/>
                <a:sym typeface="Symbol" panose="05050102010706020507" pitchFamily="18" charset="2"/>
              </a:rPr>
              <a:t></a:t>
            </a:r>
            <a:r>
              <a:rPr lang="en-US" sz="1800" kern="1200" dirty="0">
                <a:solidFill>
                  <a:srgbClr val="000000"/>
                </a:solidFill>
                <a:effectLst/>
                <a:latin typeface="Times New Roman" panose="02020603050405020304" pitchFamily="18" charset="0"/>
                <a:ea typeface="+mn-ea"/>
                <a:cs typeface="Times New Roman" panose="02020603050405020304" pitchFamily="18" charset="0"/>
              </a:rPr>
              <a:t>E) between the two spin states depends upon the external magnetic field strength. The greater the strength of the external magnetic field, greater is the difference in energy between the α- and β-spin states. </a:t>
            </a:r>
          </a:p>
        </p:txBody>
      </p:sp>
      <p:grpSp>
        <p:nvGrpSpPr>
          <p:cNvPr id="4" name="Group 3">
            <a:extLst>
              <a:ext uri="{FF2B5EF4-FFF2-40B4-BE49-F238E27FC236}">
                <a16:creationId xmlns:a16="http://schemas.microsoft.com/office/drawing/2014/main" id="{6D2C9440-1BE5-4DE2-BFF7-0325452270A3}"/>
              </a:ext>
            </a:extLst>
          </p:cNvPr>
          <p:cNvGrpSpPr/>
          <p:nvPr/>
        </p:nvGrpSpPr>
        <p:grpSpPr>
          <a:xfrm>
            <a:off x="1484630" y="4124008"/>
            <a:ext cx="6855460" cy="2733992"/>
            <a:chOff x="0" y="0"/>
            <a:chExt cx="7066285" cy="2210159"/>
          </a:xfrm>
        </p:grpSpPr>
        <p:pic>
          <p:nvPicPr>
            <p:cNvPr id="5" name="Picture 4">
              <a:extLst>
                <a:ext uri="{FF2B5EF4-FFF2-40B4-BE49-F238E27FC236}">
                  <a16:creationId xmlns:a16="http://schemas.microsoft.com/office/drawing/2014/main" id="{63CAAE21-FBB6-4B3F-BA6A-9BDCA3246601}"/>
                </a:ext>
              </a:extLst>
            </p:cNvPr>
            <p:cNvPicPr>
              <a:picLocks noChangeAspect="1"/>
            </p:cNvPicPr>
            <p:nvPr/>
          </p:nvPicPr>
          <p:blipFill>
            <a:blip r:embed="rId3"/>
            <a:stretch>
              <a:fillRect/>
            </a:stretch>
          </p:blipFill>
          <p:spPr>
            <a:xfrm>
              <a:off x="0" y="0"/>
              <a:ext cx="6393185" cy="2210159"/>
            </a:xfrm>
            <a:prstGeom prst="rect">
              <a:avLst/>
            </a:prstGeom>
          </p:spPr>
        </p:pic>
        <p:sp>
          <p:nvSpPr>
            <p:cNvPr id="6" name="TextBox 5">
              <a:extLst>
                <a:ext uri="{FF2B5EF4-FFF2-40B4-BE49-F238E27FC236}">
                  <a16:creationId xmlns:a16="http://schemas.microsoft.com/office/drawing/2014/main" id="{0CA417B3-562D-4531-ADEA-229136A805E7}"/>
                </a:ext>
              </a:extLst>
            </p:cNvPr>
            <p:cNvSpPr txBox="1"/>
            <p:nvPr/>
          </p:nvSpPr>
          <p:spPr>
            <a:xfrm>
              <a:off x="5351785" y="1840827"/>
              <a:ext cx="1714500" cy="369332"/>
            </a:xfrm>
            <a:prstGeom prst="rect">
              <a:avLst/>
            </a:prstGeom>
            <a:noFill/>
          </p:spPr>
          <p:txBody>
            <a:bodyPr wrap="square" rtlCol="0">
              <a:noAutofit/>
            </a:bodyPr>
            <a:lstStyle/>
            <a:p>
              <a:endParaRPr lang="en-IN" sz="1200" dirty="0">
                <a:effectLst/>
                <a:latin typeface="Times New Roman" panose="02020603050405020304" pitchFamily="18" charset="0"/>
                <a:ea typeface="Times New Roman" panose="02020603050405020304" pitchFamily="18" charset="0"/>
              </a:endParaRPr>
            </a:p>
          </p:txBody>
        </p:sp>
      </p:grpSp>
    </p:spTree>
    <p:extLst>
      <p:ext uri="{BB962C8B-B14F-4D97-AF65-F5344CB8AC3E}">
        <p14:creationId xmlns:p14="http://schemas.microsoft.com/office/powerpoint/2010/main" val="27768849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4FD6A1-5AA9-4713-8B93-A8FC7F4B64B0}"/>
              </a:ext>
            </a:extLst>
          </p:cNvPr>
          <p:cNvPicPr>
            <a:picLocks noChangeAspect="1"/>
          </p:cNvPicPr>
          <p:nvPr/>
        </p:nvPicPr>
        <p:blipFill rotWithShape="1">
          <a:blip r:embed="rId2"/>
          <a:srcRect l="33875" t="59165" r="31250" b="28444"/>
          <a:stretch/>
        </p:blipFill>
        <p:spPr>
          <a:xfrm>
            <a:off x="330200" y="165099"/>
            <a:ext cx="8686800" cy="1736064"/>
          </a:xfrm>
          <a:prstGeom prst="rect">
            <a:avLst/>
          </a:prstGeom>
        </p:spPr>
      </p:pic>
      <p:pic>
        <p:nvPicPr>
          <p:cNvPr id="5" name="Picture 4">
            <a:extLst>
              <a:ext uri="{FF2B5EF4-FFF2-40B4-BE49-F238E27FC236}">
                <a16:creationId xmlns:a16="http://schemas.microsoft.com/office/drawing/2014/main" id="{158BC545-F4E8-4281-A632-24B3C37D1886}"/>
              </a:ext>
            </a:extLst>
          </p:cNvPr>
          <p:cNvPicPr>
            <a:picLocks noChangeAspect="1"/>
          </p:cNvPicPr>
          <p:nvPr/>
        </p:nvPicPr>
        <p:blipFill rotWithShape="1">
          <a:blip r:embed="rId3"/>
          <a:srcRect l="33854" t="53367" r="31771" b="12222"/>
          <a:stretch/>
        </p:blipFill>
        <p:spPr>
          <a:xfrm rot="10800000">
            <a:off x="330200" y="1901163"/>
            <a:ext cx="8686800" cy="4891261"/>
          </a:xfrm>
          <a:prstGeom prst="rect">
            <a:avLst/>
          </a:prstGeom>
        </p:spPr>
      </p:pic>
    </p:spTree>
    <p:extLst>
      <p:ext uri="{BB962C8B-B14F-4D97-AF65-F5344CB8AC3E}">
        <p14:creationId xmlns:p14="http://schemas.microsoft.com/office/powerpoint/2010/main" val="3335174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C1C1641-BC30-4C94-852F-C99E07F884B4}"/>
              </a:ext>
            </a:extLst>
          </p:cNvPr>
          <p:cNvSpPr txBox="1"/>
          <p:nvPr/>
        </p:nvSpPr>
        <p:spPr>
          <a:xfrm>
            <a:off x="368300" y="279401"/>
            <a:ext cx="11417300" cy="1346331"/>
          </a:xfrm>
          <a:prstGeom prst="rect">
            <a:avLst/>
          </a:prstGeom>
          <a:noFill/>
        </p:spPr>
        <p:txBody>
          <a:bodyPr wrap="square">
            <a:spAutoFit/>
          </a:bodyPr>
          <a:lstStyle/>
          <a:p>
            <a:pPr algn="just">
              <a:lnSpc>
                <a:spcPct val="115000"/>
              </a:lnSpc>
              <a:spcAft>
                <a:spcPts val="800"/>
              </a:spcAft>
            </a:pPr>
            <a:r>
              <a:rPr lang="en-US" sz="1800" kern="1200" dirty="0">
                <a:solidFill>
                  <a:srgbClr val="000000"/>
                </a:solidFill>
                <a:effectLst/>
                <a:latin typeface="Times New Roman" panose="02020603050405020304" pitchFamily="18" charset="0"/>
                <a:ea typeface="+mn-ea"/>
                <a:cs typeface="Times New Roman" panose="02020603050405020304" pitchFamily="18" charset="0"/>
              </a:rPr>
              <a:t>The energy difference between two spin states is given by  </a:t>
            </a:r>
            <a:r>
              <a:rPr lang="en-US" sz="1800" kern="1200" dirty="0">
                <a:solidFill>
                  <a:srgbClr val="000000"/>
                </a:solidFill>
                <a:effectLst/>
                <a:latin typeface="Times New Roman" panose="02020603050405020304" pitchFamily="18" charset="0"/>
                <a:ea typeface="+mn-ea"/>
                <a:cs typeface="Times New Roman" panose="02020603050405020304" pitchFamily="18" charset="0"/>
                <a:sym typeface="Symbol" panose="05050102010706020507" pitchFamily="18" charset="2"/>
              </a:rPr>
              <a:t></a:t>
            </a:r>
            <a:r>
              <a:rPr lang="en-US" sz="1800" kern="1200" dirty="0">
                <a:solidFill>
                  <a:srgbClr val="000000"/>
                </a:solidFill>
                <a:effectLst/>
                <a:latin typeface="Times New Roman" panose="02020603050405020304" pitchFamily="18" charset="0"/>
                <a:ea typeface="+mn-ea"/>
                <a:cs typeface="Times New Roman" panose="02020603050405020304" pitchFamily="18" charset="0"/>
              </a:rPr>
              <a:t>E = h(</a:t>
            </a:r>
            <a:r>
              <a:rPr lang="en-US" sz="1800" kern="1200" dirty="0">
                <a:solidFill>
                  <a:srgbClr val="000000"/>
                </a:solidFill>
                <a:effectLst/>
                <a:latin typeface="Times New Roman" panose="02020603050405020304" pitchFamily="18" charset="0"/>
                <a:ea typeface="+mn-ea"/>
                <a:cs typeface="Times New Roman" panose="02020603050405020304" pitchFamily="18" charset="0"/>
                <a:sym typeface="Symbol" panose="05050102010706020507" pitchFamily="18" charset="2"/>
              </a:rPr>
              <a:t></a:t>
            </a:r>
            <a:r>
              <a:rPr lang="en-US" sz="1800" kern="1200" dirty="0">
                <a:solidFill>
                  <a:srgbClr val="000000"/>
                </a:solidFill>
                <a:effectLst/>
                <a:latin typeface="Times New Roman" panose="02020603050405020304" pitchFamily="18" charset="0"/>
                <a:ea typeface="+mn-ea"/>
                <a:cs typeface="Times New Roman" panose="02020603050405020304" pitchFamily="18" charset="0"/>
              </a:rPr>
              <a:t>/2</a:t>
            </a:r>
            <a:r>
              <a:rPr lang="en-US" sz="1800" kern="1200" dirty="0">
                <a:solidFill>
                  <a:srgbClr val="000000"/>
                </a:solidFill>
                <a:effectLst/>
                <a:latin typeface="Times New Roman" panose="02020603050405020304" pitchFamily="18" charset="0"/>
                <a:ea typeface="+mn-ea"/>
                <a:cs typeface="Times New Roman" panose="02020603050405020304" pitchFamily="18" charset="0"/>
                <a:sym typeface="Symbol" panose="05050102010706020507" pitchFamily="18" charset="2"/>
              </a:rPr>
              <a:t></a:t>
            </a:r>
            <a:r>
              <a:rPr lang="en-US" sz="1800" kern="1200" dirty="0">
                <a:solidFill>
                  <a:srgbClr val="000000"/>
                </a:solidFill>
                <a:effectLst/>
                <a:latin typeface="Times New Roman" panose="02020603050405020304" pitchFamily="18" charset="0"/>
                <a:ea typeface="+mn-ea"/>
                <a:cs typeface="Times New Roman" panose="02020603050405020304" pitchFamily="18" charset="0"/>
              </a:rPr>
              <a:t>)</a:t>
            </a:r>
            <a:r>
              <a:rPr lang="en-US" sz="1800" i="1" kern="1200" dirty="0">
                <a:solidFill>
                  <a:srgbClr val="000000"/>
                </a:solidFill>
                <a:effectLst/>
                <a:latin typeface="Times New Roman" panose="02020603050405020304" pitchFamily="18" charset="0"/>
                <a:ea typeface="+mn-ea"/>
                <a:cs typeface="Times New Roman" panose="02020603050405020304" pitchFamily="18" charset="0"/>
              </a:rPr>
              <a:t>B</a:t>
            </a:r>
            <a:r>
              <a:rPr lang="en-US" sz="1800" i="1" kern="1200" baseline="-25000" dirty="0">
                <a:solidFill>
                  <a:srgbClr val="000000"/>
                </a:solidFill>
                <a:effectLst/>
                <a:latin typeface="Times New Roman" panose="02020603050405020304" pitchFamily="18" charset="0"/>
                <a:ea typeface="+mn-ea"/>
                <a:cs typeface="Times New Roman" panose="02020603050405020304" pitchFamily="18" charset="0"/>
              </a:rPr>
              <a:t>0 </a:t>
            </a:r>
            <a:r>
              <a:rPr lang="en-US" sz="1800" kern="1200" dirty="0">
                <a:solidFill>
                  <a:srgbClr val="000000"/>
                </a:solidFill>
                <a:effectLst/>
                <a:latin typeface="Times New Roman" panose="02020603050405020304" pitchFamily="18" charset="0"/>
                <a:ea typeface="+mn-ea"/>
                <a:cs typeface="Times New Roman" panose="02020603050405020304" pitchFamily="18" charset="0"/>
              </a:rPr>
              <a:t>where h is the Planck’s constant, γ is the gyromagnetic ratio. It is a constant that depends on the particular type of nucleus. For proton the value of 2.675×10</a:t>
            </a:r>
            <a:r>
              <a:rPr lang="en-US" sz="1800" kern="1200" baseline="30000" dirty="0">
                <a:solidFill>
                  <a:srgbClr val="000000"/>
                </a:solidFill>
                <a:effectLst/>
                <a:latin typeface="Times New Roman" panose="02020603050405020304" pitchFamily="18" charset="0"/>
                <a:ea typeface="+mn-ea"/>
                <a:cs typeface="Times New Roman" panose="02020603050405020304" pitchFamily="18" charset="0"/>
              </a:rPr>
              <a:t>8</a:t>
            </a:r>
            <a:r>
              <a:rPr lang="en-US" sz="1800" kern="1200" dirty="0">
                <a:solidFill>
                  <a:srgbClr val="000000"/>
                </a:solidFill>
                <a:effectLst/>
                <a:latin typeface="Times New Roman" panose="02020603050405020304" pitchFamily="18" charset="0"/>
                <a:ea typeface="+mn-ea"/>
                <a:cs typeface="Times New Roman" panose="02020603050405020304" pitchFamily="18" charset="0"/>
              </a:rPr>
              <a:t> T</a:t>
            </a:r>
            <a:r>
              <a:rPr lang="en-US" sz="1800" kern="1200" baseline="30000" dirty="0">
                <a:solidFill>
                  <a:srgbClr val="000000"/>
                </a:solidFill>
                <a:effectLst/>
                <a:latin typeface="Times New Roman" panose="02020603050405020304" pitchFamily="18" charset="0"/>
                <a:ea typeface="+mn-ea"/>
                <a:cs typeface="Times New Roman" panose="02020603050405020304" pitchFamily="18" charset="0"/>
              </a:rPr>
              <a:t>-1</a:t>
            </a:r>
            <a:r>
              <a:rPr lang="en-US" sz="1800" kern="1200" dirty="0">
                <a:solidFill>
                  <a:srgbClr val="000000"/>
                </a:solidFill>
                <a:effectLst/>
                <a:latin typeface="Times New Roman" panose="02020603050405020304" pitchFamily="18" charset="0"/>
                <a:ea typeface="+mn-ea"/>
                <a:cs typeface="Times New Roman" panose="02020603050405020304" pitchFamily="18" charset="0"/>
              </a:rPr>
              <a:t>s</a:t>
            </a:r>
            <a:r>
              <a:rPr lang="en-US" sz="1800" kern="1200" baseline="30000" dirty="0">
                <a:solidFill>
                  <a:srgbClr val="000000"/>
                </a:solidFill>
                <a:effectLst/>
                <a:latin typeface="Times New Roman" panose="02020603050405020304" pitchFamily="18" charset="0"/>
                <a:ea typeface="+mn-ea"/>
                <a:cs typeface="Times New Roman" panose="02020603050405020304" pitchFamily="18" charset="0"/>
              </a:rPr>
              <a:t>-1 </a:t>
            </a:r>
            <a:r>
              <a:rPr lang="en-US" sz="1800" kern="1200" dirty="0">
                <a:solidFill>
                  <a:srgbClr val="000000"/>
                </a:solidFill>
                <a:effectLst/>
                <a:latin typeface="Times New Roman" panose="02020603050405020304" pitchFamily="18" charset="0"/>
                <a:ea typeface="+mn-ea"/>
                <a:cs typeface="Times New Roman" panose="02020603050405020304" pitchFamily="18" charset="0"/>
              </a:rPr>
              <a:t>whereas and in the case of </a:t>
            </a:r>
            <a:r>
              <a:rPr lang="en-US" sz="1800" kern="1200" baseline="30000" dirty="0">
                <a:solidFill>
                  <a:srgbClr val="000000"/>
                </a:solidFill>
                <a:effectLst/>
                <a:latin typeface="Times New Roman" panose="02020603050405020304" pitchFamily="18" charset="0"/>
                <a:ea typeface="+mn-ea"/>
                <a:cs typeface="Times New Roman" panose="02020603050405020304" pitchFamily="18" charset="0"/>
              </a:rPr>
              <a:t>13</a:t>
            </a:r>
            <a:r>
              <a:rPr lang="en-US" sz="1800" kern="1200" dirty="0">
                <a:solidFill>
                  <a:srgbClr val="000000"/>
                </a:solidFill>
                <a:effectLst/>
                <a:latin typeface="Times New Roman" panose="02020603050405020304" pitchFamily="18" charset="0"/>
                <a:ea typeface="+mn-ea"/>
                <a:cs typeface="Times New Roman" panose="02020603050405020304" pitchFamily="18" charset="0"/>
              </a:rPr>
              <a:t>C nucleus, it is 6.688×10</a:t>
            </a:r>
            <a:r>
              <a:rPr lang="en-US" sz="1800" kern="1200" baseline="30000" dirty="0">
                <a:solidFill>
                  <a:srgbClr val="000000"/>
                </a:solidFill>
                <a:effectLst/>
                <a:latin typeface="Times New Roman" panose="02020603050405020304" pitchFamily="18" charset="0"/>
                <a:ea typeface="+mn-ea"/>
                <a:cs typeface="Times New Roman" panose="02020603050405020304" pitchFamily="18" charset="0"/>
              </a:rPr>
              <a:t>7</a:t>
            </a:r>
            <a:r>
              <a:rPr lang="en-US" sz="1800" kern="1200" dirty="0">
                <a:solidFill>
                  <a:srgbClr val="000000"/>
                </a:solidFill>
                <a:effectLst/>
                <a:latin typeface="Times New Roman" panose="02020603050405020304" pitchFamily="18" charset="0"/>
                <a:ea typeface="+mn-ea"/>
                <a:cs typeface="Times New Roman" panose="02020603050405020304" pitchFamily="18" charset="0"/>
              </a:rPr>
              <a:t> T</a:t>
            </a:r>
            <a:r>
              <a:rPr lang="en-US" sz="1800" kern="1200" baseline="30000" dirty="0">
                <a:solidFill>
                  <a:srgbClr val="000000"/>
                </a:solidFill>
                <a:effectLst/>
                <a:latin typeface="Times New Roman" panose="02020603050405020304" pitchFamily="18" charset="0"/>
                <a:ea typeface="+mn-ea"/>
                <a:cs typeface="Times New Roman" panose="02020603050405020304" pitchFamily="18" charset="0"/>
              </a:rPr>
              <a:t>-1</a:t>
            </a:r>
            <a:r>
              <a:rPr lang="en-US" sz="1800" kern="1200" dirty="0">
                <a:solidFill>
                  <a:srgbClr val="000000"/>
                </a:solidFill>
                <a:effectLst/>
                <a:latin typeface="Times New Roman" panose="02020603050405020304" pitchFamily="18" charset="0"/>
                <a:ea typeface="+mn-ea"/>
                <a:cs typeface="Times New Roman" panose="02020603050405020304" pitchFamily="18" charset="0"/>
              </a:rPr>
              <a:t>s</a:t>
            </a:r>
            <a:r>
              <a:rPr lang="en-US" sz="1800" kern="1200" baseline="30000" dirty="0">
                <a:solidFill>
                  <a:srgbClr val="000000"/>
                </a:solidFill>
                <a:effectLst/>
                <a:latin typeface="Times New Roman" panose="02020603050405020304" pitchFamily="18" charset="0"/>
                <a:ea typeface="+mn-ea"/>
                <a:cs typeface="Times New Roman" panose="02020603050405020304" pitchFamily="18" charset="0"/>
              </a:rPr>
              <a:t>-1</a:t>
            </a:r>
            <a:r>
              <a:rPr lang="en-US" sz="1800" kern="1200" dirty="0">
                <a:solidFill>
                  <a:srgbClr val="000000"/>
                </a:solidFill>
                <a:effectLst/>
                <a:latin typeface="Times New Roman" panose="02020603050405020304" pitchFamily="18" charset="0"/>
                <a:ea typeface="+mn-ea"/>
                <a:cs typeface="Times New Roman" panose="02020603050405020304" pitchFamily="18" charset="0"/>
              </a:rPr>
              <a:t>. Thus, it is clear that for a given nucleus the value of ΔE depends on the applied magnetic field strength B</a:t>
            </a:r>
            <a:r>
              <a:rPr lang="en-US" sz="1800" kern="1200" baseline="-25000" dirty="0">
                <a:solidFill>
                  <a:srgbClr val="000000"/>
                </a:solidFill>
                <a:effectLst/>
                <a:latin typeface="Times New Roman" panose="02020603050405020304" pitchFamily="18" charset="0"/>
                <a:ea typeface="+mn-ea"/>
                <a:cs typeface="Times New Roman" panose="02020603050405020304" pitchFamily="18" charset="0"/>
              </a:rPr>
              <a:t>0</a:t>
            </a:r>
            <a:r>
              <a:rPr lang="en-US" sz="1800" kern="1200" dirty="0">
                <a:solidFill>
                  <a:srgbClr val="000000"/>
                </a:solidFill>
                <a:effectLst/>
                <a:latin typeface="Times New Roman" panose="02020603050405020304" pitchFamily="18" charset="0"/>
                <a:ea typeface="+mn-ea"/>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9D30F3E4-AC00-4B54-949D-E1B619F0BF28}"/>
              </a:ext>
            </a:extLst>
          </p:cNvPr>
          <p:cNvPicPr>
            <a:picLocks noChangeAspect="1"/>
          </p:cNvPicPr>
          <p:nvPr/>
        </p:nvPicPr>
        <p:blipFill rotWithShape="1">
          <a:blip r:embed="rId3"/>
          <a:srcRect l="17853" t="43171" r="42817" b="25000"/>
          <a:stretch/>
        </p:blipFill>
        <p:spPr>
          <a:xfrm>
            <a:off x="2304993" y="2100637"/>
            <a:ext cx="6896214" cy="3139321"/>
          </a:xfrm>
          <a:prstGeom prst="rect">
            <a:avLst/>
          </a:prstGeom>
        </p:spPr>
      </p:pic>
    </p:spTree>
    <p:extLst>
      <p:ext uri="{BB962C8B-B14F-4D97-AF65-F5344CB8AC3E}">
        <p14:creationId xmlns:p14="http://schemas.microsoft.com/office/powerpoint/2010/main" val="38848947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F97F74F-6BF0-4C8F-9BB7-3B5519559901}"/>
              </a:ext>
            </a:extLst>
          </p:cNvPr>
          <p:cNvSpPr txBox="1"/>
          <p:nvPr/>
        </p:nvSpPr>
        <p:spPr>
          <a:xfrm>
            <a:off x="215900" y="107610"/>
            <a:ext cx="11620500" cy="3889398"/>
          </a:xfrm>
          <a:prstGeom prst="rect">
            <a:avLst/>
          </a:prstGeom>
          <a:noFill/>
        </p:spPr>
        <p:txBody>
          <a:bodyPr wrap="square">
            <a:spAutoFit/>
          </a:bodyPr>
          <a:lstStyle/>
          <a:p>
            <a:pPr algn="just">
              <a:lnSpc>
                <a:spcPct val="115000"/>
              </a:lnSpc>
            </a:pPr>
            <a:r>
              <a:rPr lang="en-US" sz="1800" kern="1200" dirty="0">
                <a:solidFill>
                  <a:srgbClr val="000000"/>
                </a:solidFill>
                <a:effectLst/>
                <a:latin typeface="Times New Roman" panose="02020603050405020304" pitchFamily="18" charset="0"/>
                <a:ea typeface="+mn-ea"/>
              </a:rPr>
              <a:t>When such nuclei are placed in a strong magnetic field and irradiated with electromagnetic energy of radiofrequency (RF), the nuclei may absorb energy and the process in knows as nuclear magnetic resonance. Absorption of energy is quantized and does not occur until the strength of the magnetic field and the frequency of electromagnetic radiation are at specific values. On absorption of such energy by a nucleus, the signal produced are knows as nuclear magnetic resonance spectroscopy…</a:t>
            </a:r>
            <a:endParaRPr lang="en-IN" sz="2000" dirty="0">
              <a:effectLst/>
              <a:latin typeface="Times New Roman" panose="02020603050405020304" pitchFamily="18" charset="0"/>
              <a:ea typeface="Times New Roman" panose="02020603050405020304" pitchFamily="18" charset="0"/>
            </a:endParaRPr>
          </a:p>
          <a:p>
            <a:pPr algn="just">
              <a:lnSpc>
                <a:spcPct val="115000"/>
              </a:lnSpc>
            </a:pPr>
            <a:r>
              <a:rPr lang="en-US" sz="1800" kern="1200" dirty="0">
                <a:solidFill>
                  <a:srgbClr val="000000"/>
                </a:solidFill>
                <a:effectLst/>
                <a:latin typeface="Times New Roman" panose="02020603050405020304" pitchFamily="18" charset="0"/>
                <a:ea typeface="+mn-ea"/>
              </a:rPr>
              <a:t>Since organic compounds are primarily composed of carbon (C) and hydrogen (H), NMR identifies the various types of H and C atoms in organic molecules. The </a:t>
            </a:r>
            <a:r>
              <a:rPr lang="en-US" sz="1800" kern="1200" baseline="30000" dirty="0">
                <a:solidFill>
                  <a:srgbClr val="000000"/>
                </a:solidFill>
                <a:effectLst/>
                <a:latin typeface="Times New Roman" panose="02020603050405020304" pitchFamily="18" charset="0"/>
                <a:ea typeface="+mn-ea"/>
              </a:rPr>
              <a:t>1</a:t>
            </a:r>
            <a:r>
              <a:rPr lang="en-US" sz="1800" kern="1200" dirty="0">
                <a:solidFill>
                  <a:srgbClr val="000000"/>
                </a:solidFill>
                <a:effectLst/>
                <a:latin typeface="Times New Roman" panose="02020603050405020304" pitchFamily="18" charset="0"/>
                <a:ea typeface="+mn-ea"/>
              </a:rPr>
              <a:t>H-nucleus is the most commonly studied by NMR spectroscopy because of its high natural abundance of 99.985% and its presence in the majority of organic compounds. NMR studying </a:t>
            </a:r>
            <a:r>
              <a:rPr lang="en-US" sz="1800" kern="1200" baseline="30000" dirty="0">
                <a:solidFill>
                  <a:srgbClr val="000000"/>
                </a:solidFill>
                <a:effectLst/>
                <a:latin typeface="Times New Roman" panose="02020603050405020304" pitchFamily="18" charset="0"/>
                <a:ea typeface="+mn-ea"/>
              </a:rPr>
              <a:t>1</a:t>
            </a:r>
            <a:r>
              <a:rPr lang="en-US" sz="1800" kern="1200" dirty="0">
                <a:solidFill>
                  <a:srgbClr val="000000"/>
                </a:solidFill>
                <a:effectLst/>
                <a:latin typeface="Times New Roman" panose="02020603050405020304" pitchFamily="18" charset="0"/>
                <a:ea typeface="+mn-ea"/>
              </a:rPr>
              <a:t>H atom is called hydrogen or proton NMR spectrum. The proton NMR spectrum gives the information about the number of different types of protons and also the chemical environment around it, whereas </a:t>
            </a:r>
            <a:r>
              <a:rPr lang="en-US" sz="1800" kern="1200" baseline="30000" dirty="0">
                <a:solidFill>
                  <a:srgbClr val="000000"/>
                </a:solidFill>
                <a:effectLst/>
                <a:latin typeface="Times New Roman" panose="02020603050405020304" pitchFamily="18" charset="0"/>
                <a:ea typeface="+mn-ea"/>
              </a:rPr>
              <a:t>13</a:t>
            </a:r>
            <a:r>
              <a:rPr lang="en-US" sz="1800" kern="1200" dirty="0">
                <a:solidFill>
                  <a:srgbClr val="000000"/>
                </a:solidFill>
                <a:effectLst/>
                <a:latin typeface="Times New Roman" panose="02020603050405020304" pitchFamily="18" charset="0"/>
                <a:ea typeface="+mn-ea"/>
              </a:rPr>
              <a:t>C NMR is used to determine the carbon framework of the molecule. </a:t>
            </a:r>
            <a:r>
              <a:rPr lang="en-US" sz="1800" kern="1200" baseline="30000" dirty="0">
                <a:solidFill>
                  <a:srgbClr val="000000"/>
                </a:solidFill>
                <a:effectLst/>
                <a:latin typeface="Times New Roman" panose="02020603050405020304" pitchFamily="18" charset="0"/>
                <a:ea typeface="+mn-ea"/>
              </a:rPr>
              <a:t>13</a:t>
            </a:r>
            <a:r>
              <a:rPr lang="en-US" sz="1800" kern="1200" dirty="0">
                <a:solidFill>
                  <a:srgbClr val="000000"/>
                </a:solidFill>
                <a:effectLst/>
                <a:latin typeface="Times New Roman" panose="02020603050405020304" pitchFamily="18" charset="0"/>
                <a:ea typeface="+mn-ea"/>
              </a:rPr>
              <a:t>C has a natural abundance of only about 1% and hence the sensitivity of </a:t>
            </a:r>
            <a:r>
              <a:rPr lang="en-US" sz="1800" kern="1200" baseline="30000" dirty="0">
                <a:solidFill>
                  <a:srgbClr val="000000"/>
                </a:solidFill>
                <a:effectLst/>
                <a:latin typeface="Times New Roman" panose="02020603050405020304" pitchFamily="18" charset="0"/>
                <a:ea typeface="+mn-ea"/>
              </a:rPr>
              <a:t>13</a:t>
            </a:r>
            <a:r>
              <a:rPr lang="en-US" sz="1800" kern="1200" dirty="0">
                <a:solidFill>
                  <a:srgbClr val="000000"/>
                </a:solidFill>
                <a:effectLst/>
                <a:latin typeface="Times New Roman" panose="02020603050405020304" pitchFamily="18" charset="0"/>
                <a:ea typeface="+mn-ea"/>
              </a:rPr>
              <a:t>C is less than the </a:t>
            </a:r>
            <a:r>
              <a:rPr lang="en-US" sz="1800" kern="1200" baseline="30000" dirty="0">
                <a:solidFill>
                  <a:srgbClr val="000000"/>
                </a:solidFill>
                <a:effectLst/>
                <a:latin typeface="Times New Roman" panose="02020603050405020304" pitchFamily="18" charset="0"/>
                <a:ea typeface="+mn-ea"/>
              </a:rPr>
              <a:t>1</a:t>
            </a:r>
            <a:r>
              <a:rPr lang="en-US" sz="1800" kern="1200" dirty="0">
                <a:solidFill>
                  <a:srgbClr val="000000"/>
                </a:solidFill>
                <a:effectLst/>
                <a:latin typeface="Times New Roman" panose="02020603050405020304" pitchFamily="18" charset="0"/>
                <a:ea typeface="+mn-ea"/>
              </a:rPr>
              <a:t>H NMR and requires longer time to record.</a:t>
            </a:r>
            <a:endParaRPr lang="en-IN" sz="2000" dirty="0">
              <a:effectLst/>
              <a:latin typeface="Times New Roman" panose="02020603050405020304" pitchFamily="18" charset="0"/>
              <a:ea typeface="Times New Roman" panose="02020603050405020304" pitchFamily="18" charset="0"/>
            </a:endParaRPr>
          </a:p>
        </p:txBody>
      </p:sp>
      <p:pic>
        <p:nvPicPr>
          <p:cNvPr id="8" name="Picture 7">
            <a:extLst>
              <a:ext uri="{FF2B5EF4-FFF2-40B4-BE49-F238E27FC236}">
                <a16:creationId xmlns:a16="http://schemas.microsoft.com/office/drawing/2014/main" id="{ABCB7CFF-9A9B-449D-AAC9-67D673F091E6}"/>
              </a:ext>
            </a:extLst>
          </p:cNvPr>
          <p:cNvPicPr>
            <a:picLocks noChangeAspect="1"/>
          </p:cNvPicPr>
          <p:nvPr/>
        </p:nvPicPr>
        <p:blipFill rotWithShape="1">
          <a:blip r:embed="rId2"/>
          <a:srcRect l="61375" t="56222" r="13875" b="19778"/>
          <a:stretch/>
        </p:blipFill>
        <p:spPr>
          <a:xfrm>
            <a:off x="3955664" y="3840935"/>
            <a:ext cx="5334000" cy="2909455"/>
          </a:xfrm>
          <a:prstGeom prst="rect">
            <a:avLst/>
          </a:prstGeom>
        </p:spPr>
      </p:pic>
    </p:spTree>
    <p:extLst>
      <p:ext uri="{BB962C8B-B14F-4D97-AF65-F5344CB8AC3E}">
        <p14:creationId xmlns:p14="http://schemas.microsoft.com/office/powerpoint/2010/main" val="22604880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7EC278-0D89-4955-AF5F-8C98FDE82ACD}"/>
              </a:ext>
            </a:extLst>
          </p:cNvPr>
          <p:cNvSpPr txBox="1"/>
          <p:nvPr/>
        </p:nvSpPr>
        <p:spPr>
          <a:xfrm>
            <a:off x="381000" y="166687"/>
            <a:ext cx="11430000" cy="4522520"/>
          </a:xfrm>
          <a:prstGeom prst="rect">
            <a:avLst/>
          </a:prstGeom>
          <a:noFill/>
        </p:spPr>
        <p:txBody>
          <a:bodyPr wrap="square">
            <a:spAutoFit/>
          </a:bodyPr>
          <a:lstStyle/>
          <a:p>
            <a:pPr algn="just">
              <a:lnSpc>
                <a:spcPct val="115000"/>
              </a:lnSpc>
              <a:spcAft>
                <a:spcPts val="800"/>
              </a:spcAft>
            </a:pPr>
            <a:r>
              <a:rPr lang="en-US" sz="1800" b="1" kern="1200" dirty="0">
                <a:solidFill>
                  <a:srgbClr val="000000"/>
                </a:solidFill>
                <a:effectLst/>
                <a:ea typeface="+mn-ea"/>
                <a:cs typeface="Times New Roman" panose="02020603050405020304" pitchFamily="18" charset="0"/>
              </a:rPr>
              <a:t>Flipping the spin: </a:t>
            </a:r>
            <a:r>
              <a:rPr lang="en-US" sz="1800" kern="1200" dirty="0">
                <a:solidFill>
                  <a:srgbClr val="000000"/>
                </a:solidFill>
                <a:effectLst/>
                <a:ea typeface="+mn-ea"/>
                <a:cs typeface="Times New Roman" panose="02020603050405020304" pitchFamily="18" charset="0"/>
              </a:rPr>
              <a:t>When an appropriate energy in the form of RF radiation is supplied to a nucleus occupying in the α-spin state, a transition takes place between the two spin states (called flipping the spin) and the nucleus is said to be in resonance</a:t>
            </a:r>
            <a:r>
              <a:rPr lang="en-US" sz="1800" b="1" kern="1200" dirty="0">
                <a:solidFill>
                  <a:srgbClr val="000000"/>
                </a:solidFill>
                <a:effectLst/>
                <a:ea typeface="+mn-ea"/>
                <a:cs typeface="Times New Roman" panose="02020603050405020304" pitchFamily="18" charset="0"/>
              </a:rPr>
              <a:t> </a:t>
            </a:r>
            <a:r>
              <a:rPr lang="en-US" sz="1800" kern="1200" dirty="0">
                <a:solidFill>
                  <a:srgbClr val="000000"/>
                </a:solidFill>
                <a:effectLst/>
                <a:ea typeface="+mn-ea"/>
                <a:cs typeface="Times New Roman" panose="02020603050405020304" pitchFamily="18" charset="0"/>
              </a:rPr>
              <a:t>with the external magnetic field. The following fundamental equation correlates the applied radiofrequency with the magnetic field strength B</a:t>
            </a:r>
            <a:r>
              <a:rPr lang="en-US" sz="1800" kern="1200" baseline="-25000" dirty="0">
                <a:solidFill>
                  <a:srgbClr val="000000"/>
                </a:solidFill>
                <a:effectLst/>
                <a:ea typeface="+mn-ea"/>
                <a:cs typeface="Times New Roman" panose="02020603050405020304" pitchFamily="18" charset="0"/>
              </a:rPr>
              <a:t>0</a:t>
            </a:r>
            <a:r>
              <a:rPr lang="en-US" sz="1800" kern="1200" dirty="0">
                <a:solidFill>
                  <a:srgbClr val="000000"/>
                </a:solidFill>
                <a:effectLst/>
                <a:ea typeface="+mn-ea"/>
                <a:cs typeface="Times New Roman" panose="02020603050405020304" pitchFamily="18" charset="0"/>
              </a:rPr>
              <a:t>:</a:t>
            </a:r>
            <a:r>
              <a:rPr lang="en-US" sz="1800" kern="1200" baseline="-25000" dirty="0">
                <a:solidFill>
                  <a:srgbClr val="000000"/>
                </a:solidFill>
                <a:effectLst/>
                <a:ea typeface="+mn-ea"/>
                <a:cs typeface="Times New Roman" panose="02020603050405020304" pitchFamily="18" charset="0"/>
              </a:rPr>
              <a:t> </a:t>
            </a:r>
            <a:r>
              <a:rPr lang="en-US" sz="1800" kern="1200" dirty="0">
                <a:solidFill>
                  <a:srgbClr val="000000"/>
                </a:solidFill>
                <a:effectLst/>
                <a:ea typeface="+mn-ea"/>
                <a:cs typeface="Times New Roman" panose="02020603050405020304" pitchFamily="18" charset="0"/>
              </a:rPr>
              <a:t> </a:t>
            </a:r>
            <a:r>
              <a:rPr lang="en-US" sz="1800" kern="1200" dirty="0">
                <a:solidFill>
                  <a:srgbClr val="000000"/>
                </a:solidFill>
                <a:effectLst/>
                <a:ea typeface="+mn-ea"/>
                <a:cs typeface="Times New Roman" panose="02020603050405020304" pitchFamily="18" charset="0"/>
                <a:sym typeface="Symbol" panose="05050102010706020507" pitchFamily="18" charset="2"/>
              </a:rPr>
              <a:t></a:t>
            </a:r>
            <a:r>
              <a:rPr lang="en-US" sz="1800" kern="1200" dirty="0">
                <a:solidFill>
                  <a:srgbClr val="000000"/>
                </a:solidFill>
                <a:effectLst/>
                <a:ea typeface="+mn-ea"/>
                <a:cs typeface="Times New Roman" panose="02020603050405020304" pitchFamily="18" charset="0"/>
              </a:rPr>
              <a:t> = (</a:t>
            </a:r>
            <a:r>
              <a:rPr lang="en-US" sz="1800" kern="1200" dirty="0">
                <a:solidFill>
                  <a:srgbClr val="000000"/>
                </a:solidFill>
                <a:effectLst/>
                <a:ea typeface="+mn-ea"/>
                <a:cs typeface="Times New Roman" panose="02020603050405020304" pitchFamily="18" charset="0"/>
                <a:sym typeface="Symbol" panose="05050102010706020507" pitchFamily="18" charset="2"/>
              </a:rPr>
              <a:t></a:t>
            </a:r>
            <a:r>
              <a:rPr lang="en-US" sz="1800" kern="1200" dirty="0">
                <a:solidFill>
                  <a:srgbClr val="000000"/>
                </a:solidFill>
                <a:effectLst/>
                <a:ea typeface="+mn-ea"/>
                <a:cs typeface="Times New Roman" panose="02020603050405020304" pitchFamily="18" charset="0"/>
              </a:rPr>
              <a:t>/2</a:t>
            </a:r>
            <a:r>
              <a:rPr lang="en-US" sz="1800" kern="1200" dirty="0">
                <a:solidFill>
                  <a:srgbClr val="000000"/>
                </a:solidFill>
                <a:effectLst/>
                <a:ea typeface="+mn-ea"/>
                <a:cs typeface="Times New Roman" panose="02020603050405020304" pitchFamily="18" charset="0"/>
                <a:sym typeface="Symbol" panose="05050102010706020507" pitchFamily="18" charset="2"/>
              </a:rPr>
              <a:t></a:t>
            </a:r>
            <a:r>
              <a:rPr lang="en-US" sz="1800" kern="1200" dirty="0">
                <a:solidFill>
                  <a:srgbClr val="000000"/>
                </a:solidFill>
                <a:effectLst/>
                <a:ea typeface="+mn-ea"/>
                <a:cs typeface="Times New Roman" panose="02020603050405020304" pitchFamily="18" charset="0"/>
              </a:rPr>
              <a:t>)</a:t>
            </a:r>
            <a:r>
              <a:rPr lang="en-US" sz="1800" i="1" kern="1200" dirty="0">
                <a:solidFill>
                  <a:srgbClr val="000000"/>
                </a:solidFill>
                <a:effectLst/>
                <a:ea typeface="+mn-ea"/>
                <a:cs typeface="Times New Roman" panose="02020603050405020304" pitchFamily="18" charset="0"/>
              </a:rPr>
              <a:t>B</a:t>
            </a:r>
            <a:r>
              <a:rPr lang="en-US" sz="1800" i="1" kern="1200" baseline="-25000" dirty="0">
                <a:solidFill>
                  <a:srgbClr val="000000"/>
                </a:solidFill>
                <a:effectLst/>
                <a:ea typeface="+mn-ea"/>
                <a:cs typeface="Times New Roman" panose="02020603050405020304" pitchFamily="18" charset="0"/>
              </a:rPr>
              <a:t>0</a:t>
            </a:r>
            <a:endParaRPr lang="en-IN" sz="1800" dirty="0">
              <a:effectLst/>
              <a:ea typeface="Calibri" panose="020F0502020204030204" pitchFamily="34" charset="0"/>
              <a:cs typeface="Times New Roman" panose="02020603050405020304" pitchFamily="18" charset="0"/>
            </a:endParaRPr>
          </a:p>
          <a:p>
            <a:pPr algn="just">
              <a:lnSpc>
                <a:spcPct val="115000"/>
              </a:lnSpc>
              <a:spcAft>
                <a:spcPts val="800"/>
              </a:spcAft>
            </a:pPr>
            <a:r>
              <a:rPr lang="en-US" sz="1800" kern="1200" dirty="0">
                <a:solidFill>
                  <a:srgbClr val="000000"/>
                </a:solidFill>
                <a:effectLst/>
                <a:ea typeface="+mn-ea"/>
                <a:cs typeface="Times New Roman" panose="02020603050405020304" pitchFamily="18" charset="0"/>
              </a:rPr>
              <a:t>The introduced radiofrequency is given in megahertz (MHz). A frequency of 300 MHz is required at a magnetic field strength B</a:t>
            </a:r>
            <a:r>
              <a:rPr lang="en-US" sz="1800" kern="1200" baseline="-25000" dirty="0">
                <a:solidFill>
                  <a:srgbClr val="000000"/>
                </a:solidFill>
                <a:effectLst/>
                <a:ea typeface="+mn-ea"/>
                <a:cs typeface="Times New Roman" panose="02020603050405020304" pitchFamily="18" charset="0"/>
              </a:rPr>
              <a:t>0</a:t>
            </a:r>
            <a:r>
              <a:rPr lang="en-US" sz="1800" kern="1200" dirty="0">
                <a:solidFill>
                  <a:srgbClr val="000000"/>
                </a:solidFill>
                <a:effectLst/>
                <a:ea typeface="+mn-ea"/>
                <a:cs typeface="Times New Roman" panose="02020603050405020304" pitchFamily="18" charset="0"/>
              </a:rPr>
              <a:t> of 7.046 Tesla</a:t>
            </a:r>
            <a:r>
              <a:rPr lang="en-US" dirty="0">
                <a:solidFill>
                  <a:srgbClr val="000000"/>
                </a:solidFill>
                <a:cs typeface="Times New Roman" panose="02020603050405020304" pitchFamily="18" charset="0"/>
              </a:rPr>
              <a:t>.</a:t>
            </a:r>
            <a:r>
              <a:rPr lang="en-US" sz="1800" kern="1200" dirty="0">
                <a:solidFill>
                  <a:srgbClr val="000000"/>
                </a:solidFill>
                <a:effectLst/>
                <a:ea typeface="+mn-ea"/>
                <a:cs typeface="Times New Roman" panose="02020603050405020304" pitchFamily="18" charset="0"/>
              </a:rPr>
              <a:t> NMR spectrometers operate at frequencies between 60 and 950 </a:t>
            </a:r>
            <a:r>
              <a:rPr lang="en-US" sz="1800" kern="1200" dirty="0" err="1">
                <a:solidFill>
                  <a:srgbClr val="000000"/>
                </a:solidFill>
                <a:effectLst/>
                <a:ea typeface="+mn-ea"/>
                <a:cs typeface="Times New Roman" panose="02020603050405020304" pitchFamily="18" charset="0"/>
              </a:rPr>
              <a:t>MHz.</a:t>
            </a:r>
            <a:r>
              <a:rPr lang="en-US" sz="1800" kern="1200" dirty="0">
                <a:solidFill>
                  <a:srgbClr val="000000"/>
                </a:solidFill>
                <a:effectLst/>
                <a:ea typeface="+mn-ea"/>
                <a:cs typeface="Times New Roman" panose="02020603050405020304" pitchFamily="18" charset="0"/>
              </a:rPr>
              <a:t> The greater the operating frequency of the instrument and the stronger the </a:t>
            </a:r>
            <a:r>
              <a:rPr lang="en-US" sz="1800" kern="1200" dirty="0" err="1">
                <a:solidFill>
                  <a:srgbClr val="000000"/>
                </a:solidFill>
                <a:effectLst/>
                <a:ea typeface="+mn-ea"/>
                <a:cs typeface="Times New Roman" panose="02020603050405020304" pitchFamily="18" charset="0"/>
              </a:rPr>
              <a:t>magnet</a:t>
            </a:r>
            <a:r>
              <a:rPr lang="en-US" sz="1800" kern="1200" dirty="0" err="1">
                <a:solidFill>
                  <a:srgbClr val="000000"/>
                </a:solidFill>
                <a:effectLst/>
                <a:ea typeface="+mn-ea"/>
                <a:cs typeface="Times New Roman" panose="02020603050405020304" pitchFamily="18" charset="0"/>
                <a:sym typeface="Symbol" panose="05050102010706020507" pitchFamily="18" charset="2"/>
              </a:rPr>
              <a:t></a:t>
            </a:r>
            <a:r>
              <a:rPr lang="en-US" sz="1800" kern="1200" dirty="0" err="1">
                <a:solidFill>
                  <a:srgbClr val="000000"/>
                </a:solidFill>
                <a:effectLst/>
                <a:ea typeface="+mn-ea"/>
                <a:cs typeface="Times New Roman" panose="02020603050405020304" pitchFamily="18" charset="0"/>
              </a:rPr>
              <a:t>the</a:t>
            </a:r>
            <a:r>
              <a:rPr lang="en-US" sz="1800" kern="1200" dirty="0">
                <a:solidFill>
                  <a:srgbClr val="000000"/>
                </a:solidFill>
                <a:effectLst/>
                <a:ea typeface="+mn-ea"/>
                <a:cs typeface="Times New Roman" panose="02020603050405020304" pitchFamily="18" charset="0"/>
              </a:rPr>
              <a:t> better is the resolution of the NMR spectrum. </a:t>
            </a:r>
            <a:endParaRPr lang="en-IN" sz="1800" dirty="0">
              <a:effectLst/>
              <a:ea typeface="Calibri" panose="020F0502020204030204" pitchFamily="34" charset="0"/>
              <a:cs typeface="Times New Roman" panose="02020603050405020304" pitchFamily="18" charset="0"/>
            </a:endParaRPr>
          </a:p>
          <a:p>
            <a:pPr algn="just">
              <a:lnSpc>
                <a:spcPct val="115000"/>
              </a:lnSpc>
              <a:spcAft>
                <a:spcPts val="800"/>
              </a:spcAft>
            </a:pPr>
            <a:r>
              <a:rPr lang="en-US" sz="1800" kern="1200" dirty="0">
                <a:solidFill>
                  <a:srgbClr val="000000"/>
                </a:solidFill>
                <a:effectLst/>
                <a:ea typeface="+mn-ea"/>
                <a:cs typeface="Times New Roman" panose="02020603050405020304" pitchFamily="18" charset="0"/>
              </a:rPr>
              <a:t>Now because each kind of nucleus has its own gyromagnetic ratio, different energies are required to bring different kinds of nuclei into resonance. For example, an NMR spectrometer with a magnet requiring a frequency of 300 MHz to flip the spin of a </a:t>
            </a:r>
            <a:r>
              <a:rPr lang="en-US" sz="1800" kern="1200" baseline="30000" dirty="0">
                <a:solidFill>
                  <a:srgbClr val="000000"/>
                </a:solidFill>
                <a:effectLst/>
                <a:ea typeface="+mn-ea"/>
                <a:cs typeface="Times New Roman" panose="02020603050405020304" pitchFamily="18" charset="0"/>
              </a:rPr>
              <a:t>1</a:t>
            </a:r>
            <a:r>
              <a:rPr lang="en-US" sz="1800" kern="1200" dirty="0">
                <a:solidFill>
                  <a:srgbClr val="000000"/>
                </a:solidFill>
                <a:effectLst/>
                <a:ea typeface="+mn-ea"/>
                <a:cs typeface="Times New Roman" panose="02020603050405020304" pitchFamily="18" charset="0"/>
              </a:rPr>
              <a:t>H nucleus requires a frequency of 75 MHz to flip the spin of a </a:t>
            </a:r>
            <a:r>
              <a:rPr lang="en-US" sz="1800" kern="1200" baseline="30000" dirty="0">
                <a:solidFill>
                  <a:srgbClr val="000000"/>
                </a:solidFill>
                <a:effectLst/>
                <a:ea typeface="+mn-ea"/>
                <a:cs typeface="Times New Roman" panose="02020603050405020304" pitchFamily="18" charset="0"/>
              </a:rPr>
              <a:t>13</a:t>
            </a:r>
            <a:r>
              <a:rPr lang="en-US" sz="1800" kern="1200" dirty="0">
                <a:solidFill>
                  <a:srgbClr val="000000"/>
                </a:solidFill>
                <a:effectLst/>
                <a:ea typeface="+mn-ea"/>
                <a:cs typeface="Times New Roman" panose="02020603050405020304" pitchFamily="18" charset="0"/>
              </a:rPr>
              <a:t>C nucleus (The value of gyromagnetic ratio, γ for </a:t>
            </a:r>
            <a:r>
              <a:rPr lang="en-US" sz="1800" kern="1200" baseline="30000" dirty="0">
                <a:solidFill>
                  <a:srgbClr val="000000"/>
                </a:solidFill>
                <a:effectLst/>
                <a:ea typeface="+mn-ea"/>
                <a:cs typeface="Times New Roman" panose="02020603050405020304" pitchFamily="18" charset="0"/>
              </a:rPr>
              <a:t>13</a:t>
            </a:r>
            <a:r>
              <a:rPr lang="en-US" sz="1800" kern="1200" dirty="0">
                <a:solidFill>
                  <a:srgbClr val="000000"/>
                </a:solidFill>
                <a:effectLst/>
                <a:ea typeface="+mn-ea"/>
                <a:cs typeface="Times New Roman" panose="02020603050405020304" pitchFamily="18" charset="0"/>
              </a:rPr>
              <a:t>C is ≈ 1/4th of the value for 1H nucleus). NMR spectrometers are equipped with radiation sources that can be tuned to different frequencies so that they can be used to obtain NMR spectra of different kinds of nuclei.</a:t>
            </a:r>
          </a:p>
          <a:p>
            <a:pPr algn="just">
              <a:lnSpc>
                <a:spcPct val="115000"/>
              </a:lnSpc>
              <a:spcAft>
                <a:spcPts val="800"/>
              </a:spcAft>
            </a:pPr>
            <a:endParaRPr lang="en-IN" sz="1800" dirty="0">
              <a:effectLst/>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E57D5178-21C2-432D-A550-B17D89A1E299}"/>
              </a:ext>
            </a:extLst>
          </p:cNvPr>
          <p:cNvPicPr/>
          <p:nvPr/>
        </p:nvPicPr>
        <p:blipFill>
          <a:blip r:embed="rId2"/>
          <a:stretch>
            <a:fillRect/>
          </a:stretch>
        </p:blipFill>
        <p:spPr>
          <a:xfrm>
            <a:off x="3712844" y="4492942"/>
            <a:ext cx="3513456" cy="2187258"/>
          </a:xfrm>
          <a:prstGeom prst="rect">
            <a:avLst/>
          </a:prstGeom>
        </p:spPr>
      </p:pic>
      <p:sp>
        <p:nvSpPr>
          <p:cNvPr id="6" name="Rectangle 2">
            <a:extLst>
              <a:ext uri="{FF2B5EF4-FFF2-40B4-BE49-F238E27FC236}">
                <a16:creationId xmlns:a16="http://schemas.microsoft.com/office/drawing/2014/main" id="{74086238-17CB-41D7-B21B-AEA9D2EA160B}"/>
              </a:ext>
            </a:extLst>
          </p:cNvPr>
          <p:cNvSpPr>
            <a:spLocks noChangeArrowheads="1"/>
          </p:cNvSpPr>
          <p:nvPr/>
        </p:nvSpPr>
        <p:spPr bwMode="auto">
          <a:xfrm>
            <a:off x="-5928360" y="443005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Rectangle 3">
            <a:extLst>
              <a:ext uri="{FF2B5EF4-FFF2-40B4-BE49-F238E27FC236}">
                <a16:creationId xmlns:a16="http://schemas.microsoft.com/office/drawing/2014/main" id="{434A9EA9-4A4C-4767-B1D9-997A72C697DB}"/>
              </a:ext>
            </a:extLst>
          </p:cNvPr>
          <p:cNvSpPr>
            <a:spLocks noChangeArrowheads="1"/>
          </p:cNvSpPr>
          <p:nvPr/>
        </p:nvSpPr>
        <p:spPr bwMode="auto">
          <a:xfrm>
            <a:off x="-6558652" y="5533629"/>
            <a:ext cx="6037952"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eaLnBrk="0" fontAlgn="base" hangingPunct="0">
              <a:spcBef>
                <a:spcPct val="0"/>
              </a:spcBef>
              <a:spcAft>
                <a:spcPct val="0"/>
              </a:spcAf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774213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A912AB-3A5F-468B-A218-84E6A2083ADA}"/>
              </a:ext>
            </a:extLst>
          </p:cNvPr>
          <p:cNvSpPr txBox="1"/>
          <p:nvPr/>
        </p:nvSpPr>
        <p:spPr>
          <a:xfrm>
            <a:off x="335280" y="253554"/>
            <a:ext cx="11582400" cy="5229317"/>
          </a:xfrm>
          <a:prstGeom prst="rect">
            <a:avLst/>
          </a:prstGeom>
          <a:noFill/>
        </p:spPr>
        <p:txBody>
          <a:bodyPr wrap="square">
            <a:spAutoFit/>
          </a:bodyPr>
          <a:lstStyle/>
          <a:p>
            <a:pPr algn="just">
              <a:lnSpc>
                <a:spcPct val="115000"/>
              </a:lnSpc>
              <a:spcAft>
                <a:spcPts val="800"/>
              </a:spcAft>
            </a:pPr>
            <a:r>
              <a:rPr lang="en-US" sz="2000" b="1" kern="1200" dirty="0">
                <a:solidFill>
                  <a:srgbClr val="000000"/>
                </a:solidFill>
                <a:effectLst/>
                <a:ea typeface="+mn-ea"/>
                <a:cs typeface="Times New Roman" panose="02020603050405020304" pitchFamily="18" charset="0"/>
              </a:rPr>
              <a:t>Precessional motion </a:t>
            </a:r>
          </a:p>
          <a:p>
            <a:pPr algn="just">
              <a:lnSpc>
                <a:spcPct val="115000"/>
              </a:lnSpc>
              <a:spcAft>
                <a:spcPts val="800"/>
              </a:spcAft>
            </a:pPr>
            <a:r>
              <a:rPr lang="en-US" sz="2000" kern="1200" dirty="0">
                <a:solidFill>
                  <a:srgbClr val="000000"/>
                </a:solidFill>
                <a:effectLst/>
                <a:ea typeface="+mn-ea"/>
                <a:cs typeface="Times New Roman" panose="02020603050405020304" pitchFamily="18" charset="0"/>
              </a:rPr>
              <a:t>In the presence of external magnetic field, the nucleus, besides its spin motion, also precesses about its own axis of rotation in a similar manner as the spinning top. To understand the precession motion let us consider the behavior of a spinning top. In addition to the spinning motion, top also perform a slower waltz-like motion (unless absolutely vertical) in which the spinning axis of the top moves slowly around the vertical. This type of motion is called as </a:t>
            </a:r>
            <a:r>
              <a:rPr lang="en-US" sz="2000" kern="1200" dirty="0" err="1">
                <a:solidFill>
                  <a:srgbClr val="000000"/>
                </a:solidFill>
                <a:effectLst/>
                <a:ea typeface="+mn-ea"/>
                <a:cs typeface="Times New Roman" panose="02020603050405020304" pitchFamily="18" charset="0"/>
              </a:rPr>
              <a:t>precessional</a:t>
            </a:r>
            <a:r>
              <a:rPr lang="en-US" sz="2000" kern="1200" dirty="0">
                <a:solidFill>
                  <a:srgbClr val="000000"/>
                </a:solidFill>
                <a:effectLst/>
                <a:ea typeface="+mn-ea"/>
                <a:cs typeface="Times New Roman" panose="02020603050405020304" pitchFamily="18" charset="0"/>
              </a:rPr>
              <a:t> motion and it arises due to the interaction of spin with the earth’s gravitational field acting vertically downward.</a:t>
            </a:r>
            <a:endParaRPr lang="en-IN" sz="2000" dirty="0">
              <a:effectLst/>
              <a:ea typeface="Calibri" panose="020F0502020204030204" pitchFamily="34" charset="0"/>
              <a:cs typeface="Times New Roman" panose="02020603050405020304" pitchFamily="18" charset="0"/>
            </a:endParaRPr>
          </a:p>
          <a:p>
            <a:pPr algn="just">
              <a:lnSpc>
                <a:spcPct val="115000"/>
              </a:lnSpc>
              <a:spcAft>
                <a:spcPts val="800"/>
              </a:spcAft>
            </a:pPr>
            <a:r>
              <a:rPr lang="en-US" sz="2000" kern="1200" dirty="0">
                <a:solidFill>
                  <a:srgbClr val="000000"/>
                </a:solidFill>
                <a:effectLst/>
                <a:ea typeface="+mn-ea"/>
                <a:cs typeface="Times New Roman" panose="02020603050405020304" pitchFamily="18" charset="0"/>
              </a:rPr>
              <a:t>It is important to note that the spinning frequency of the nucleus does not change, but the precessional frequency (</a:t>
            </a:r>
            <a:r>
              <a:rPr lang="en-US" sz="2000" kern="1200" dirty="0">
                <a:solidFill>
                  <a:srgbClr val="000000"/>
                </a:solidFill>
                <a:effectLst/>
                <a:ea typeface="+mn-ea"/>
                <a:cs typeface="Times New Roman" panose="02020603050405020304" pitchFamily="18" charset="0"/>
                <a:sym typeface="Symbol" panose="05050102010706020507" pitchFamily="18" charset="2"/>
              </a:rPr>
              <a:t></a:t>
            </a:r>
            <a:r>
              <a:rPr lang="en-US" sz="2000" kern="1200" baseline="-25000" dirty="0">
                <a:solidFill>
                  <a:srgbClr val="000000"/>
                </a:solidFill>
                <a:effectLst/>
                <a:ea typeface="+mn-ea"/>
                <a:cs typeface="Times New Roman" panose="02020603050405020304" pitchFamily="18" charset="0"/>
              </a:rPr>
              <a:t>L</a:t>
            </a:r>
            <a:r>
              <a:rPr lang="en-US" sz="2000" kern="1200" dirty="0">
                <a:solidFill>
                  <a:srgbClr val="000000"/>
                </a:solidFill>
                <a:effectLst/>
                <a:ea typeface="+mn-ea"/>
                <a:cs typeface="Times New Roman" panose="02020603050405020304" pitchFamily="18" charset="0"/>
              </a:rPr>
              <a:t>) does. The </a:t>
            </a:r>
            <a:r>
              <a:rPr lang="en-US" sz="2000" kern="1200" dirty="0" err="1">
                <a:solidFill>
                  <a:srgbClr val="000000"/>
                </a:solidFill>
                <a:effectLst/>
                <a:ea typeface="+mn-ea"/>
                <a:cs typeface="Times New Roman" panose="02020603050405020304" pitchFamily="18" charset="0"/>
              </a:rPr>
              <a:t>precessional</a:t>
            </a:r>
            <a:r>
              <a:rPr lang="en-US" sz="2000" kern="1200" dirty="0">
                <a:solidFill>
                  <a:srgbClr val="000000"/>
                </a:solidFill>
                <a:effectLst/>
                <a:ea typeface="+mn-ea"/>
                <a:cs typeface="Times New Roman" panose="02020603050405020304" pitchFamily="18" charset="0"/>
              </a:rPr>
              <a:t> frequency is directly proportional to the applied magnetic field. Stronger the applied magnetic field, higher is the precession rate. If the RF radiation of frequency (</a:t>
            </a:r>
            <a:r>
              <a:rPr lang="en-US" sz="2000" kern="1200" dirty="0">
                <a:solidFill>
                  <a:srgbClr val="000000"/>
                </a:solidFill>
                <a:effectLst/>
                <a:ea typeface="+mn-ea"/>
                <a:cs typeface="Times New Roman" panose="02020603050405020304" pitchFamily="18" charset="0"/>
                <a:sym typeface="Symbol" panose="05050102010706020507" pitchFamily="18" charset="2"/>
              </a:rPr>
              <a:t></a:t>
            </a:r>
            <a:r>
              <a:rPr lang="en-US" sz="2000" kern="1200" baseline="-25000" dirty="0">
                <a:solidFill>
                  <a:srgbClr val="000000"/>
                </a:solidFill>
                <a:effectLst/>
                <a:ea typeface="+mn-ea"/>
                <a:cs typeface="Times New Roman" panose="02020603050405020304" pitchFamily="18" charset="0"/>
              </a:rPr>
              <a:t>1</a:t>
            </a:r>
            <a:r>
              <a:rPr lang="en-US" sz="2000" kern="1200" dirty="0">
                <a:solidFill>
                  <a:srgbClr val="000000"/>
                </a:solidFill>
                <a:effectLst/>
                <a:ea typeface="+mn-ea"/>
                <a:cs typeface="Times New Roman" panose="02020603050405020304" pitchFamily="18" charset="0"/>
              </a:rPr>
              <a:t>) equal to the precessional frequency of the equivalent protons (Larmor frequency </a:t>
            </a:r>
            <a:r>
              <a:rPr lang="en-US" sz="2000" kern="1200" dirty="0">
                <a:solidFill>
                  <a:srgbClr val="000000"/>
                </a:solidFill>
                <a:effectLst/>
                <a:ea typeface="+mn-ea"/>
                <a:cs typeface="Times New Roman" panose="02020603050405020304" pitchFamily="18" charset="0"/>
                <a:sym typeface="Symbol" panose="05050102010706020507" pitchFamily="18" charset="2"/>
              </a:rPr>
              <a:t></a:t>
            </a:r>
            <a:r>
              <a:rPr lang="en-US" sz="2000" kern="1200" baseline="-25000" dirty="0">
                <a:solidFill>
                  <a:srgbClr val="000000"/>
                </a:solidFill>
                <a:effectLst/>
                <a:ea typeface="+mn-ea"/>
                <a:cs typeface="Times New Roman" panose="02020603050405020304" pitchFamily="18" charset="0"/>
              </a:rPr>
              <a:t>L</a:t>
            </a:r>
            <a:r>
              <a:rPr lang="en-US" sz="2000" kern="1200" dirty="0">
                <a:solidFill>
                  <a:srgbClr val="000000"/>
                </a:solidFill>
                <a:effectLst/>
                <a:ea typeface="+mn-ea"/>
                <a:cs typeface="Times New Roman" panose="02020603050405020304" pitchFamily="18" charset="0"/>
              </a:rPr>
              <a:t> in MHz), the energy can be absorbed and the nucleus can be promoted to the higher energy state. This energy absorption is called resonance because the frequency of the applied radiation and the precession coincide or resonate. Hence the basic NMR relationship can be written as: </a:t>
            </a:r>
            <a:r>
              <a:rPr lang="en-US" sz="2000" kern="1200" dirty="0">
                <a:solidFill>
                  <a:srgbClr val="000000"/>
                </a:solidFill>
                <a:effectLst/>
                <a:ea typeface="+mn-ea"/>
                <a:cs typeface="Times New Roman" panose="02020603050405020304" pitchFamily="18" charset="0"/>
                <a:sym typeface="Symbol" panose="05050102010706020507" pitchFamily="18" charset="2"/>
              </a:rPr>
              <a:t></a:t>
            </a:r>
            <a:r>
              <a:rPr lang="en-US" sz="2000" kern="1200" baseline="-25000" dirty="0">
                <a:solidFill>
                  <a:srgbClr val="000000"/>
                </a:solidFill>
                <a:effectLst/>
                <a:ea typeface="+mn-ea"/>
                <a:cs typeface="Times New Roman" panose="02020603050405020304" pitchFamily="18" charset="0"/>
              </a:rPr>
              <a:t>L</a:t>
            </a:r>
            <a:r>
              <a:rPr lang="en-US" sz="2000" kern="1200" dirty="0">
                <a:solidFill>
                  <a:srgbClr val="000000"/>
                </a:solidFill>
                <a:effectLst/>
                <a:ea typeface="+mn-ea"/>
                <a:cs typeface="Times New Roman" panose="02020603050405020304" pitchFamily="18" charset="0"/>
              </a:rPr>
              <a:t>=</a:t>
            </a:r>
            <a:r>
              <a:rPr lang="en-US" sz="2000" i="1" kern="1200" dirty="0">
                <a:solidFill>
                  <a:srgbClr val="000000"/>
                </a:solidFill>
                <a:effectLst/>
                <a:ea typeface="+mn-ea"/>
                <a:cs typeface="Times New Roman" panose="02020603050405020304" pitchFamily="18" charset="0"/>
              </a:rPr>
              <a:t> </a:t>
            </a:r>
            <a:r>
              <a:rPr lang="en-US" sz="2000" kern="1200" dirty="0">
                <a:solidFill>
                  <a:srgbClr val="000000"/>
                </a:solidFill>
                <a:effectLst/>
                <a:ea typeface="+mn-ea"/>
                <a:cs typeface="Times New Roman" panose="02020603050405020304" pitchFamily="18" charset="0"/>
                <a:sym typeface="Symbol" panose="05050102010706020507" pitchFamily="18" charset="2"/>
              </a:rPr>
              <a:t></a:t>
            </a:r>
            <a:r>
              <a:rPr lang="en-US" sz="2000" kern="1200" baseline="-25000" dirty="0">
                <a:solidFill>
                  <a:srgbClr val="000000"/>
                </a:solidFill>
                <a:effectLst/>
                <a:ea typeface="+mn-ea"/>
                <a:cs typeface="Times New Roman" panose="02020603050405020304" pitchFamily="18" charset="0"/>
              </a:rPr>
              <a:t>1</a:t>
            </a:r>
            <a:r>
              <a:rPr lang="en-US" sz="2000" kern="1200" dirty="0">
                <a:solidFill>
                  <a:srgbClr val="000000"/>
                </a:solidFill>
                <a:effectLst/>
                <a:ea typeface="+mn-ea"/>
                <a:cs typeface="Times New Roman" panose="02020603050405020304" pitchFamily="18" charset="0"/>
              </a:rPr>
              <a:t> = </a:t>
            </a:r>
            <a:r>
              <a:rPr lang="en-US" sz="2000" i="1" kern="1200" dirty="0">
                <a:solidFill>
                  <a:srgbClr val="000000"/>
                </a:solidFill>
                <a:effectLst/>
                <a:ea typeface="+mn-ea"/>
                <a:cs typeface="Times New Roman" panose="02020603050405020304" pitchFamily="18" charset="0"/>
              </a:rPr>
              <a:t>(</a:t>
            </a:r>
            <a:r>
              <a:rPr lang="en-US" sz="2000" kern="1200" dirty="0">
                <a:solidFill>
                  <a:srgbClr val="000000"/>
                </a:solidFill>
                <a:effectLst/>
                <a:ea typeface="+mn-ea"/>
                <a:cs typeface="Times New Roman" panose="02020603050405020304" pitchFamily="18" charset="0"/>
                <a:sym typeface="Symbol" panose="05050102010706020507" pitchFamily="18" charset="2"/>
              </a:rPr>
              <a:t></a:t>
            </a:r>
            <a:r>
              <a:rPr lang="en-US" sz="2000" kern="1200" dirty="0">
                <a:solidFill>
                  <a:srgbClr val="000000"/>
                </a:solidFill>
                <a:effectLst/>
                <a:ea typeface="+mn-ea"/>
                <a:cs typeface="Times New Roman" panose="02020603050405020304" pitchFamily="18" charset="0"/>
              </a:rPr>
              <a:t>/2</a:t>
            </a:r>
            <a:r>
              <a:rPr lang="en-US" sz="2000" kern="1200" dirty="0">
                <a:solidFill>
                  <a:srgbClr val="000000"/>
                </a:solidFill>
                <a:effectLst/>
                <a:ea typeface="+mn-ea"/>
                <a:cs typeface="Times New Roman" panose="02020603050405020304" pitchFamily="18" charset="0"/>
                <a:sym typeface="Symbol" panose="05050102010706020507" pitchFamily="18" charset="2"/>
              </a:rPr>
              <a:t></a:t>
            </a:r>
            <a:r>
              <a:rPr lang="en-US" sz="2000" i="1" kern="1200" dirty="0">
                <a:solidFill>
                  <a:srgbClr val="000000"/>
                </a:solidFill>
                <a:effectLst/>
                <a:ea typeface="+mn-ea"/>
                <a:cs typeface="Times New Roman" panose="02020603050405020304" pitchFamily="18" charset="0"/>
              </a:rPr>
              <a:t>)B</a:t>
            </a:r>
            <a:r>
              <a:rPr lang="en-US" sz="2000" i="1" kern="1200" baseline="-25000" dirty="0">
                <a:solidFill>
                  <a:srgbClr val="000000"/>
                </a:solidFill>
                <a:effectLst/>
                <a:ea typeface="+mn-ea"/>
                <a:cs typeface="Times New Roman" panose="02020603050405020304" pitchFamily="18" charset="0"/>
              </a:rPr>
              <a:t>o</a:t>
            </a:r>
            <a:endParaRPr lang="en-IN" sz="20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184191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19FBAA-B9A1-4D0C-9415-9414B3C53B63}"/>
              </a:ext>
            </a:extLst>
          </p:cNvPr>
          <p:cNvPicPr/>
          <p:nvPr/>
        </p:nvPicPr>
        <p:blipFill>
          <a:blip r:embed="rId2">
            <a:lum bright="-20000" contrast="40000"/>
          </a:blip>
          <a:stretch>
            <a:fillRect/>
          </a:stretch>
        </p:blipFill>
        <p:spPr>
          <a:xfrm>
            <a:off x="119062" y="3583519"/>
            <a:ext cx="4615498" cy="3122613"/>
          </a:xfrm>
          <a:prstGeom prst="rect">
            <a:avLst/>
          </a:prstGeom>
        </p:spPr>
      </p:pic>
      <p:sp>
        <p:nvSpPr>
          <p:cNvPr id="6" name="TextBox 5">
            <a:extLst>
              <a:ext uri="{FF2B5EF4-FFF2-40B4-BE49-F238E27FC236}">
                <a16:creationId xmlns:a16="http://schemas.microsoft.com/office/drawing/2014/main" id="{82B3D302-0CC0-4A09-BDD9-4A7DFF4C5DE6}"/>
              </a:ext>
            </a:extLst>
          </p:cNvPr>
          <p:cNvSpPr txBox="1"/>
          <p:nvPr/>
        </p:nvSpPr>
        <p:spPr>
          <a:xfrm>
            <a:off x="425450" y="151868"/>
            <a:ext cx="11341100" cy="2939074"/>
          </a:xfrm>
          <a:prstGeom prst="rect">
            <a:avLst/>
          </a:prstGeom>
          <a:noFill/>
        </p:spPr>
        <p:txBody>
          <a:bodyPr wrap="square">
            <a:spAutoFit/>
          </a:bodyPr>
          <a:lstStyle/>
          <a:p>
            <a:pPr algn="just">
              <a:lnSpc>
                <a:spcPct val="115000"/>
              </a:lnSpc>
              <a:spcAft>
                <a:spcPts val="800"/>
              </a:spcAft>
            </a:pPr>
            <a:r>
              <a:rPr lang="en-US" sz="1800" kern="1200" dirty="0">
                <a:solidFill>
                  <a:srgbClr val="000000"/>
                </a:solidFill>
                <a:effectLst/>
                <a:latin typeface="Times New Roman" panose="02020603050405020304" pitchFamily="18" charset="0"/>
                <a:ea typeface="+mn-ea"/>
                <a:cs typeface="Times New Roman" panose="02020603050405020304" pitchFamily="18" charset="0"/>
              </a:rPr>
              <a:t>It is important to note here that the energy difference between the two energy states is very small even with very large external magnetic field. Because the energy difference is so small that the population of nuclei in the two energy states are nearly equal. However, the lower energy state has slight excess population than the higher energy state. The relative populations of the two spin states will change if energy of correct frequency is supplied to induce transitions. Nuclei in the lower energy state absorb RF radiation and undergo transitions to the higher energy state. If this process keeps on going continuously, the excess nuclei in the lower state may diminish and hence no further absorption of energy will occur and so the observed signals may fade out or diminish entirely. This situation when the populations of the two energy states become equal is known as saturation. However, the populations of the two spin states do not become equal because nuclei in the higher energy state are constantly returning to the lower energy state.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26" name="Picture 2" descr="Precession of Top">
            <a:extLst>
              <a:ext uri="{FF2B5EF4-FFF2-40B4-BE49-F238E27FC236}">
                <a16:creationId xmlns:a16="http://schemas.microsoft.com/office/drawing/2014/main" id="{43AE2E12-390C-4C24-ADD8-7526B48AB9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54160" y="3306827"/>
            <a:ext cx="3037840" cy="339930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2AECD9CD-EA80-4B86-9CD6-0188831A29A1}"/>
              </a:ext>
            </a:extLst>
          </p:cNvPr>
          <p:cNvPicPr>
            <a:picLocks noChangeAspect="1"/>
          </p:cNvPicPr>
          <p:nvPr/>
        </p:nvPicPr>
        <p:blipFill rotWithShape="1">
          <a:blip r:embed="rId4"/>
          <a:srcRect l="27973" t="27593" r="53527" b="31963"/>
          <a:stretch/>
        </p:blipFill>
        <p:spPr>
          <a:xfrm>
            <a:off x="5541012" y="3090942"/>
            <a:ext cx="2799165" cy="3442216"/>
          </a:xfrm>
          <a:prstGeom prst="rect">
            <a:avLst/>
          </a:prstGeom>
        </p:spPr>
      </p:pic>
    </p:spTree>
    <p:extLst>
      <p:ext uri="{BB962C8B-B14F-4D97-AF65-F5344CB8AC3E}">
        <p14:creationId xmlns:p14="http://schemas.microsoft.com/office/powerpoint/2010/main" val="34769021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11C32A7-9F23-4761-BE98-239FDB638C10}"/>
              </a:ext>
            </a:extLst>
          </p:cNvPr>
          <p:cNvPicPr>
            <a:picLocks noChangeAspect="1"/>
          </p:cNvPicPr>
          <p:nvPr/>
        </p:nvPicPr>
        <p:blipFill rotWithShape="1">
          <a:blip r:embed="rId2"/>
          <a:srcRect l="28156" t="32826" r="54094" b="36419"/>
          <a:stretch/>
        </p:blipFill>
        <p:spPr>
          <a:xfrm>
            <a:off x="7158990" y="747742"/>
            <a:ext cx="4099560" cy="3995708"/>
          </a:xfrm>
          <a:prstGeom prst="rect">
            <a:avLst/>
          </a:prstGeom>
        </p:spPr>
      </p:pic>
      <p:sp>
        <p:nvSpPr>
          <p:cNvPr id="10" name="TextBox 9">
            <a:extLst>
              <a:ext uri="{FF2B5EF4-FFF2-40B4-BE49-F238E27FC236}">
                <a16:creationId xmlns:a16="http://schemas.microsoft.com/office/drawing/2014/main" id="{D1272C0C-3ACD-49E5-B959-8DB01B5B13DF}"/>
              </a:ext>
            </a:extLst>
          </p:cNvPr>
          <p:cNvSpPr txBox="1"/>
          <p:nvPr/>
        </p:nvSpPr>
        <p:spPr>
          <a:xfrm>
            <a:off x="4487146" y="4607679"/>
            <a:ext cx="5914154" cy="1754326"/>
          </a:xfrm>
          <a:prstGeom prst="rect">
            <a:avLst/>
          </a:prstGeom>
          <a:noFill/>
        </p:spPr>
        <p:txBody>
          <a:bodyPr wrap="square" rtlCol="0">
            <a:spAutoFit/>
          </a:bodyPr>
          <a:lstStyle/>
          <a:p>
            <a:r>
              <a:rPr lang="en-IN" dirty="0"/>
              <a:t>Two things are important:</a:t>
            </a:r>
          </a:p>
          <a:p>
            <a:pPr marL="342900" indent="-342900">
              <a:buAutoNum type="arabicPeriod"/>
            </a:pPr>
            <a:r>
              <a:rPr lang="en-IN" dirty="0"/>
              <a:t>We need RF to cause a transition from alpha to beta.</a:t>
            </a:r>
          </a:p>
          <a:p>
            <a:pPr marL="342900" indent="-342900">
              <a:buAutoNum type="arabicPeriod"/>
            </a:pPr>
            <a:r>
              <a:rPr lang="en-IN" dirty="0"/>
              <a:t>We got nuclear precessional motion having frequency in its expression which is proportional to B0.</a:t>
            </a:r>
          </a:p>
          <a:p>
            <a:pPr marL="342900" indent="-342900">
              <a:buAutoNum type="arabicPeriod"/>
            </a:pPr>
            <a:r>
              <a:rPr lang="en-IN" dirty="0"/>
              <a:t>These two things being equal is responsible to cause resonance.</a:t>
            </a:r>
          </a:p>
        </p:txBody>
      </p:sp>
      <p:pic>
        <p:nvPicPr>
          <p:cNvPr id="11" name="Picture 10">
            <a:extLst>
              <a:ext uri="{FF2B5EF4-FFF2-40B4-BE49-F238E27FC236}">
                <a16:creationId xmlns:a16="http://schemas.microsoft.com/office/drawing/2014/main" id="{D5021252-3ADA-4C48-B7B4-CD216A7B9EE2}"/>
              </a:ext>
            </a:extLst>
          </p:cNvPr>
          <p:cNvPicPr>
            <a:picLocks noChangeAspect="1"/>
          </p:cNvPicPr>
          <p:nvPr/>
        </p:nvPicPr>
        <p:blipFill rotWithShape="1">
          <a:blip r:embed="rId3"/>
          <a:srcRect l="15209" t="17407" r="43333" b="25185"/>
          <a:stretch/>
        </p:blipFill>
        <p:spPr>
          <a:xfrm>
            <a:off x="12473777" y="191944"/>
            <a:ext cx="5054600" cy="3937000"/>
          </a:xfrm>
          <a:prstGeom prst="rect">
            <a:avLst/>
          </a:prstGeom>
        </p:spPr>
      </p:pic>
      <p:sp>
        <p:nvSpPr>
          <p:cNvPr id="5" name="TextBox 4">
            <a:extLst>
              <a:ext uri="{FF2B5EF4-FFF2-40B4-BE49-F238E27FC236}">
                <a16:creationId xmlns:a16="http://schemas.microsoft.com/office/drawing/2014/main" id="{669C0123-487D-45D9-9D75-C4A67393728F}"/>
              </a:ext>
            </a:extLst>
          </p:cNvPr>
          <p:cNvSpPr txBox="1"/>
          <p:nvPr/>
        </p:nvSpPr>
        <p:spPr>
          <a:xfrm>
            <a:off x="-138430" y="5381555"/>
            <a:ext cx="4286250" cy="646331"/>
          </a:xfrm>
          <a:prstGeom prst="rect">
            <a:avLst/>
          </a:prstGeom>
          <a:noFill/>
        </p:spPr>
        <p:txBody>
          <a:bodyPr wrap="square" rtlCol="0">
            <a:spAutoFit/>
          </a:bodyPr>
          <a:lstStyle/>
          <a:p>
            <a:r>
              <a:rPr lang="en-IN" dirty="0"/>
              <a:t>This provides for mechanism for the transition (spin flip)</a:t>
            </a:r>
          </a:p>
        </p:txBody>
      </p:sp>
      <p:pic>
        <p:nvPicPr>
          <p:cNvPr id="12" name="Picture 11">
            <a:extLst>
              <a:ext uri="{FF2B5EF4-FFF2-40B4-BE49-F238E27FC236}">
                <a16:creationId xmlns:a16="http://schemas.microsoft.com/office/drawing/2014/main" id="{86BB664E-1194-4C5B-A742-5332333B7597}"/>
              </a:ext>
            </a:extLst>
          </p:cNvPr>
          <p:cNvPicPr>
            <a:picLocks noChangeAspect="1"/>
          </p:cNvPicPr>
          <p:nvPr/>
        </p:nvPicPr>
        <p:blipFill rotWithShape="1">
          <a:blip r:embed="rId4"/>
          <a:srcRect l="25719" t="42301" r="51436" b="32944"/>
          <a:stretch/>
        </p:blipFill>
        <p:spPr>
          <a:xfrm>
            <a:off x="559616" y="767078"/>
            <a:ext cx="6555396" cy="3995707"/>
          </a:xfrm>
          <a:prstGeom prst="rect">
            <a:avLst/>
          </a:prstGeom>
        </p:spPr>
      </p:pic>
    </p:spTree>
    <p:extLst>
      <p:ext uri="{BB962C8B-B14F-4D97-AF65-F5344CB8AC3E}">
        <p14:creationId xmlns:p14="http://schemas.microsoft.com/office/powerpoint/2010/main" val="26337683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9849948-AC6C-46F7-840C-B23B7E202BA5}" type="slidenum">
              <a:rPr lang="en-US" smtClean="0"/>
              <a:pPr/>
              <a:t>38</a:t>
            </a:fld>
            <a:endParaRPr lang="en-US"/>
          </a:p>
        </p:txBody>
      </p:sp>
      <p:pic>
        <p:nvPicPr>
          <p:cNvPr id="11266" name="Picture 2"/>
          <p:cNvPicPr>
            <a:picLocks noChangeAspect="1" noChangeArrowheads="1"/>
          </p:cNvPicPr>
          <p:nvPr/>
        </p:nvPicPr>
        <p:blipFill>
          <a:blip r:embed="rId2" cstate="print"/>
          <a:srcRect/>
          <a:stretch>
            <a:fillRect/>
          </a:stretch>
        </p:blipFill>
        <p:spPr bwMode="auto">
          <a:xfrm>
            <a:off x="3276600" y="762000"/>
            <a:ext cx="4210050" cy="3842894"/>
          </a:xfrm>
          <a:prstGeom prst="rect">
            <a:avLst/>
          </a:prstGeom>
          <a:noFill/>
          <a:ln w="9525">
            <a:noFill/>
            <a:miter lim="800000"/>
            <a:headEnd/>
            <a:tailEnd/>
          </a:ln>
        </p:spPr>
      </p:pic>
      <p:sp>
        <p:nvSpPr>
          <p:cNvPr id="4" name="TextBox 3"/>
          <p:cNvSpPr txBox="1"/>
          <p:nvPr/>
        </p:nvSpPr>
        <p:spPr>
          <a:xfrm>
            <a:off x="2975957" y="994143"/>
            <a:ext cx="415498" cy="400110"/>
          </a:xfrm>
          <a:prstGeom prst="rect">
            <a:avLst/>
          </a:prstGeom>
          <a:noFill/>
        </p:spPr>
        <p:txBody>
          <a:bodyPr wrap="none" rtlCol="0">
            <a:spAutoFit/>
          </a:bodyPr>
          <a:lstStyle/>
          <a:p>
            <a:r>
              <a:rPr lang="en-US" sz="2000" b="1" dirty="0"/>
              <a:t>B</a:t>
            </a:r>
            <a:r>
              <a:rPr lang="en-US" sz="2000" b="1" baseline="-25000" dirty="0"/>
              <a:t>0</a:t>
            </a:r>
          </a:p>
        </p:txBody>
      </p:sp>
      <p:sp>
        <p:nvSpPr>
          <p:cNvPr id="6" name="TextBox 5"/>
          <p:cNvSpPr txBox="1"/>
          <p:nvPr/>
        </p:nvSpPr>
        <p:spPr>
          <a:xfrm>
            <a:off x="1613887" y="5750222"/>
            <a:ext cx="8964227" cy="88036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dirty="0"/>
              <a:t>Net magnetization (M</a:t>
            </a:r>
            <a:r>
              <a:rPr lang="en-US" baseline="-25000" dirty="0"/>
              <a:t>0</a:t>
            </a:r>
            <a:r>
              <a:rPr lang="en-US" dirty="0"/>
              <a:t>) in the z direction as there are slightly more number of </a:t>
            </a:r>
            <a:r>
              <a:rPr lang="en-US" dirty="0">
                <a:solidFill>
                  <a:srgbClr val="C00000"/>
                </a:solidFill>
              </a:rPr>
              <a:t>up</a:t>
            </a:r>
            <a:r>
              <a:rPr lang="en-US" dirty="0"/>
              <a:t> spins than </a:t>
            </a:r>
            <a:r>
              <a:rPr lang="en-US" dirty="0">
                <a:solidFill>
                  <a:srgbClr val="C00000"/>
                </a:solidFill>
              </a:rPr>
              <a:t>down</a:t>
            </a:r>
            <a:r>
              <a:rPr lang="en-US" dirty="0"/>
              <a:t> spins </a:t>
            </a:r>
          </a:p>
        </p:txBody>
      </p:sp>
      <p:sp>
        <p:nvSpPr>
          <p:cNvPr id="3" name="TextBox 2">
            <a:extLst>
              <a:ext uri="{FF2B5EF4-FFF2-40B4-BE49-F238E27FC236}">
                <a16:creationId xmlns:a16="http://schemas.microsoft.com/office/drawing/2014/main" id="{4A91B2C5-C116-4943-8959-523E13C7BC6C}"/>
              </a:ext>
            </a:extLst>
          </p:cNvPr>
          <p:cNvSpPr txBox="1"/>
          <p:nvPr/>
        </p:nvSpPr>
        <p:spPr>
          <a:xfrm>
            <a:off x="1835494" y="206245"/>
            <a:ext cx="8375306" cy="369332"/>
          </a:xfrm>
          <a:prstGeom prst="rect">
            <a:avLst/>
          </a:prstGeom>
          <a:noFill/>
        </p:spPr>
        <p:txBody>
          <a:bodyPr wrap="none" rtlCol="0">
            <a:spAutoFit/>
          </a:bodyPr>
          <a:lstStyle/>
          <a:p>
            <a:r>
              <a:rPr lang="en-IN" dirty="0">
                <a:solidFill>
                  <a:srgbClr val="00B050"/>
                </a:solidFill>
              </a:rPr>
              <a:t>In NMR, we will always consider that the magnetic field to be applied along Z direction</a:t>
            </a:r>
          </a:p>
        </p:txBody>
      </p:sp>
      <p:sp>
        <p:nvSpPr>
          <p:cNvPr id="5" name="TextBox 4">
            <a:extLst>
              <a:ext uri="{FF2B5EF4-FFF2-40B4-BE49-F238E27FC236}">
                <a16:creationId xmlns:a16="http://schemas.microsoft.com/office/drawing/2014/main" id="{5A58F1EC-F90D-4EA9-B58D-AAF25F0E85DA}"/>
              </a:ext>
            </a:extLst>
          </p:cNvPr>
          <p:cNvSpPr txBox="1"/>
          <p:nvPr/>
        </p:nvSpPr>
        <p:spPr>
          <a:xfrm>
            <a:off x="6730989" y="1209586"/>
            <a:ext cx="2444772" cy="369332"/>
          </a:xfrm>
          <a:prstGeom prst="rect">
            <a:avLst/>
          </a:prstGeom>
          <a:noFill/>
        </p:spPr>
        <p:txBody>
          <a:bodyPr wrap="none" rtlCol="0">
            <a:spAutoFit/>
          </a:bodyPr>
          <a:lstStyle/>
          <a:p>
            <a:r>
              <a:rPr lang="en-IN" b="1" dirty="0">
                <a:solidFill>
                  <a:srgbClr val="0070C0"/>
                </a:solidFill>
              </a:rPr>
              <a:t>Up spins (lower energy)</a:t>
            </a:r>
          </a:p>
        </p:txBody>
      </p:sp>
      <p:sp>
        <p:nvSpPr>
          <p:cNvPr id="8" name="TextBox 7">
            <a:extLst>
              <a:ext uri="{FF2B5EF4-FFF2-40B4-BE49-F238E27FC236}">
                <a16:creationId xmlns:a16="http://schemas.microsoft.com/office/drawing/2014/main" id="{A87F830C-A350-4913-B881-B86C58AA6A16}"/>
              </a:ext>
            </a:extLst>
          </p:cNvPr>
          <p:cNvSpPr txBox="1"/>
          <p:nvPr/>
        </p:nvSpPr>
        <p:spPr>
          <a:xfrm>
            <a:off x="6674476" y="4141903"/>
            <a:ext cx="2797625" cy="369332"/>
          </a:xfrm>
          <a:prstGeom prst="rect">
            <a:avLst/>
          </a:prstGeom>
          <a:noFill/>
        </p:spPr>
        <p:txBody>
          <a:bodyPr wrap="none" rtlCol="0">
            <a:spAutoFit/>
          </a:bodyPr>
          <a:lstStyle/>
          <a:p>
            <a:r>
              <a:rPr lang="en-IN" b="1" dirty="0">
                <a:solidFill>
                  <a:srgbClr val="0070C0"/>
                </a:solidFill>
              </a:rPr>
              <a:t>Down spins (higher energy)</a:t>
            </a:r>
          </a:p>
        </p:txBody>
      </p:sp>
      <p:sp>
        <p:nvSpPr>
          <p:cNvPr id="7" name="Arrow: Curved Left 6">
            <a:extLst>
              <a:ext uri="{FF2B5EF4-FFF2-40B4-BE49-F238E27FC236}">
                <a16:creationId xmlns:a16="http://schemas.microsoft.com/office/drawing/2014/main" id="{0B767D20-9266-4577-A1EC-A2AC653E6C9D}"/>
              </a:ext>
            </a:extLst>
          </p:cNvPr>
          <p:cNvSpPr/>
          <p:nvPr/>
        </p:nvSpPr>
        <p:spPr>
          <a:xfrm>
            <a:off x="6400800" y="3628211"/>
            <a:ext cx="304800" cy="572947"/>
          </a:xfrm>
          <a:prstGeom prst="curvedLeftArrow">
            <a:avLst/>
          </a:prstGeom>
          <a:solidFill>
            <a:schemeClr val="accent2">
              <a:lumMod val="75000"/>
            </a:schemeClr>
          </a:solidFill>
          <a:ln>
            <a:solidFill>
              <a:schemeClr val="tx1"/>
            </a:solidFill>
          </a:ln>
          <a:scene3d>
            <a:camera prst="orthographicFront">
              <a:rot lat="47338" lon="19855445" rev="362816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Arrow: Curved Left 9">
            <a:extLst>
              <a:ext uri="{FF2B5EF4-FFF2-40B4-BE49-F238E27FC236}">
                <a16:creationId xmlns:a16="http://schemas.microsoft.com/office/drawing/2014/main" id="{64372E36-173C-4D9D-ACAC-A5252AF693A1}"/>
              </a:ext>
            </a:extLst>
          </p:cNvPr>
          <p:cNvSpPr/>
          <p:nvPr/>
        </p:nvSpPr>
        <p:spPr>
          <a:xfrm>
            <a:off x="6248400" y="1107780"/>
            <a:ext cx="304800" cy="572947"/>
          </a:xfrm>
          <a:prstGeom prst="curvedLeftArrow">
            <a:avLst/>
          </a:prstGeom>
          <a:solidFill>
            <a:schemeClr val="accent2">
              <a:lumMod val="75000"/>
            </a:schemeClr>
          </a:solidFill>
          <a:ln>
            <a:solidFill>
              <a:schemeClr val="tx1"/>
            </a:solidFill>
          </a:ln>
          <a:scene3d>
            <a:camera prst="orthographicFront">
              <a:rot lat="21358187" lon="19775312" rev="6330426"/>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 name="Arrow: Down 8">
            <a:extLst>
              <a:ext uri="{FF2B5EF4-FFF2-40B4-BE49-F238E27FC236}">
                <a16:creationId xmlns:a16="http://schemas.microsoft.com/office/drawing/2014/main" id="{2D37BB92-44DE-4E97-9F3B-B14669CE9A9B}"/>
              </a:ext>
            </a:extLst>
          </p:cNvPr>
          <p:cNvSpPr/>
          <p:nvPr/>
        </p:nvSpPr>
        <p:spPr>
          <a:xfrm>
            <a:off x="5410200" y="4552625"/>
            <a:ext cx="152400" cy="333391"/>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0000"/>
              </a:solidFill>
            </a:endParaRPr>
          </a:p>
        </p:txBody>
      </p:sp>
      <p:sp>
        <p:nvSpPr>
          <p:cNvPr id="11" name="TextBox 10">
            <a:extLst>
              <a:ext uri="{FF2B5EF4-FFF2-40B4-BE49-F238E27FC236}">
                <a16:creationId xmlns:a16="http://schemas.microsoft.com/office/drawing/2014/main" id="{7B84C00D-CB8B-4594-AB52-67902382D75F}"/>
              </a:ext>
            </a:extLst>
          </p:cNvPr>
          <p:cNvSpPr txBox="1"/>
          <p:nvPr/>
        </p:nvSpPr>
        <p:spPr>
          <a:xfrm>
            <a:off x="4679714" y="5043558"/>
            <a:ext cx="1856470" cy="369332"/>
          </a:xfrm>
          <a:prstGeom prst="rect">
            <a:avLst/>
          </a:prstGeom>
          <a:noFill/>
        </p:spPr>
        <p:txBody>
          <a:bodyPr wrap="none" rtlCol="0">
            <a:spAutoFit/>
          </a:bodyPr>
          <a:lstStyle/>
          <a:p>
            <a:r>
              <a:rPr lang="en-IN" dirty="0" err="1"/>
              <a:t>Precessional</a:t>
            </a:r>
            <a:r>
              <a:rPr lang="en-IN" dirty="0"/>
              <a:t> cone</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22A66612-F3B7-4567-BA03-623B4CB6AF98}"/>
                  </a:ext>
                </a:extLst>
              </p14:cNvPr>
              <p14:cNvContentPartPr/>
              <p14:nvPr/>
            </p14:nvContentPartPr>
            <p14:xfrm>
              <a:off x="9123600" y="3471120"/>
              <a:ext cx="7200" cy="24120"/>
            </p14:xfrm>
          </p:contentPart>
        </mc:Choice>
        <mc:Fallback xmlns="">
          <p:pic>
            <p:nvPicPr>
              <p:cNvPr id="12" name="Ink 11">
                <a:extLst>
                  <a:ext uri="{FF2B5EF4-FFF2-40B4-BE49-F238E27FC236}">
                    <a16:creationId xmlns:a16="http://schemas.microsoft.com/office/drawing/2014/main" id="{22A66612-F3B7-4567-BA03-623B4CB6AF98}"/>
                  </a:ext>
                </a:extLst>
              </p:cNvPr>
              <p:cNvPicPr/>
              <p:nvPr/>
            </p:nvPicPr>
            <p:blipFill>
              <a:blip r:embed="rId4"/>
              <a:stretch>
                <a:fillRect/>
              </a:stretch>
            </p:blipFill>
            <p:spPr>
              <a:xfrm>
                <a:off x="9114240" y="3461760"/>
                <a:ext cx="25920" cy="42840"/>
              </a:xfrm>
              <a:prstGeom prst="rect">
                <a:avLst/>
              </a:prstGeom>
            </p:spPr>
          </p:pic>
        </mc:Fallback>
      </mc:AlternateContent>
    </p:spTree>
    <p:extLst>
      <p:ext uri="{BB962C8B-B14F-4D97-AF65-F5344CB8AC3E}">
        <p14:creationId xmlns:p14="http://schemas.microsoft.com/office/powerpoint/2010/main" val="22700062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9849948-AC6C-46F7-840C-B23B7E202BA5}" type="slidenum">
              <a:rPr lang="en-US" smtClean="0"/>
              <a:pPr/>
              <a:t>39</a:t>
            </a:fld>
            <a:endParaRPr lang="en-US"/>
          </a:p>
        </p:txBody>
      </p:sp>
      <p:pic>
        <p:nvPicPr>
          <p:cNvPr id="11266" name="Picture 2"/>
          <p:cNvPicPr>
            <a:picLocks noChangeAspect="1" noChangeArrowheads="1"/>
          </p:cNvPicPr>
          <p:nvPr/>
        </p:nvPicPr>
        <p:blipFill>
          <a:blip r:embed="rId2" cstate="print"/>
          <a:srcRect/>
          <a:stretch>
            <a:fillRect/>
          </a:stretch>
        </p:blipFill>
        <p:spPr bwMode="auto">
          <a:xfrm>
            <a:off x="2328169" y="898816"/>
            <a:ext cx="3200400" cy="2921295"/>
          </a:xfrm>
          <a:prstGeom prst="rect">
            <a:avLst/>
          </a:prstGeom>
          <a:noFill/>
          <a:ln w="9525">
            <a:noFill/>
            <a:miter lim="800000"/>
            <a:headEnd/>
            <a:tailEnd/>
          </a:ln>
        </p:spPr>
      </p:pic>
      <p:sp>
        <p:nvSpPr>
          <p:cNvPr id="4" name="TextBox 3"/>
          <p:cNvSpPr txBox="1"/>
          <p:nvPr/>
        </p:nvSpPr>
        <p:spPr>
          <a:xfrm>
            <a:off x="1870969" y="898815"/>
            <a:ext cx="415498" cy="400110"/>
          </a:xfrm>
          <a:prstGeom prst="rect">
            <a:avLst/>
          </a:prstGeom>
          <a:noFill/>
        </p:spPr>
        <p:txBody>
          <a:bodyPr wrap="none" rtlCol="0">
            <a:spAutoFit/>
          </a:bodyPr>
          <a:lstStyle/>
          <a:p>
            <a:r>
              <a:rPr lang="en-US" sz="2000" b="1" dirty="0"/>
              <a:t>B</a:t>
            </a:r>
            <a:r>
              <a:rPr lang="en-US" sz="2000" b="1" baseline="-25000" dirty="0"/>
              <a:t>0</a:t>
            </a:r>
          </a:p>
        </p:txBody>
      </p:sp>
      <p:sp>
        <p:nvSpPr>
          <p:cNvPr id="7" name="TextBox 6"/>
          <p:cNvSpPr txBox="1"/>
          <p:nvPr/>
        </p:nvSpPr>
        <p:spPr>
          <a:xfrm>
            <a:off x="5939854" y="1066801"/>
            <a:ext cx="4499547" cy="2169825"/>
          </a:xfrm>
          <a:prstGeom prst="rect">
            <a:avLst/>
          </a:prstGeom>
          <a:noFill/>
        </p:spPr>
        <p:txBody>
          <a:bodyPr wrap="square" rtlCol="0">
            <a:spAutoFit/>
          </a:bodyPr>
          <a:lstStyle/>
          <a:p>
            <a:pPr>
              <a:lnSpc>
                <a:spcPct val="150000"/>
              </a:lnSpc>
              <a:buFont typeface="Wingdings" pitchFamily="2" charset="2"/>
              <a:buChar char="Ø"/>
            </a:pPr>
            <a:r>
              <a:rPr lang="en-US" dirty="0"/>
              <a:t> The spins are distributed homogenously</a:t>
            </a:r>
          </a:p>
          <a:p>
            <a:pPr>
              <a:lnSpc>
                <a:spcPct val="150000"/>
              </a:lnSpc>
            </a:pPr>
            <a:r>
              <a:rPr lang="en-US" dirty="0"/>
              <a:t>around the </a:t>
            </a:r>
            <a:r>
              <a:rPr lang="en-US" dirty="0" err="1"/>
              <a:t>precessional</a:t>
            </a:r>
            <a:r>
              <a:rPr lang="en-US" dirty="0"/>
              <a:t> cone</a:t>
            </a:r>
          </a:p>
          <a:p>
            <a:pPr algn="just">
              <a:lnSpc>
                <a:spcPct val="150000"/>
              </a:lnSpc>
              <a:buFont typeface="Wingdings" pitchFamily="2" charset="2"/>
              <a:buChar char="Ø"/>
            </a:pPr>
            <a:r>
              <a:rPr lang="en-US" dirty="0"/>
              <a:t> There are a slightly more number of nuclear spins along the magnetic field</a:t>
            </a:r>
          </a:p>
          <a:p>
            <a:pPr>
              <a:lnSpc>
                <a:spcPct val="150000"/>
              </a:lnSpc>
              <a:buFont typeface="Wingdings" pitchFamily="2" charset="2"/>
              <a:buChar char="Ø"/>
            </a:pPr>
            <a:r>
              <a:rPr lang="en-US" dirty="0"/>
              <a:t> A net magnetization along the z axis</a:t>
            </a:r>
          </a:p>
        </p:txBody>
      </p:sp>
      <p:sp>
        <p:nvSpPr>
          <p:cNvPr id="3" name="TextBox 2">
            <a:extLst>
              <a:ext uri="{FF2B5EF4-FFF2-40B4-BE49-F238E27FC236}">
                <a16:creationId xmlns:a16="http://schemas.microsoft.com/office/drawing/2014/main" id="{0D560E3E-934D-4ECD-A3CD-88E55DDC7ED5}"/>
              </a:ext>
            </a:extLst>
          </p:cNvPr>
          <p:cNvSpPr txBox="1"/>
          <p:nvPr/>
        </p:nvSpPr>
        <p:spPr>
          <a:xfrm>
            <a:off x="4525185" y="275062"/>
            <a:ext cx="3243580" cy="369332"/>
          </a:xfrm>
          <a:prstGeom prst="rect">
            <a:avLst/>
          </a:prstGeom>
          <a:noFill/>
        </p:spPr>
        <p:txBody>
          <a:bodyPr wrap="none" rtlCol="0">
            <a:spAutoFit/>
          </a:bodyPr>
          <a:lstStyle/>
          <a:p>
            <a:r>
              <a:rPr lang="en-IN" b="1" i="1" dirty="0">
                <a:solidFill>
                  <a:srgbClr val="FF0000"/>
                </a:solidFill>
              </a:rPr>
              <a:t>Magnetization Along z Direction</a:t>
            </a:r>
          </a:p>
        </p:txBody>
      </p:sp>
      <p:grpSp>
        <p:nvGrpSpPr>
          <p:cNvPr id="6" name="Group 5">
            <a:extLst>
              <a:ext uri="{FF2B5EF4-FFF2-40B4-BE49-F238E27FC236}">
                <a16:creationId xmlns:a16="http://schemas.microsoft.com/office/drawing/2014/main" id="{23FEB2E7-D90E-4789-9FAB-7253E22EA6D7}"/>
              </a:ext>
            </a:extLst>
          </p:cNvPr>
          <p:cNvGrpSpPr/>
          <p:nvPr/>
        </p:nvGrpSpPr>
        <p:grpSpPr>
          <a:xfrm>
            <a:off x="1905000" y="4114801"/>
            <a:ext cx="8284954" cy="2384893"/>
            <a:chOff x="381000" y="4114800"/>
            <a:chExt cx="8284954" cy="2384893"/>
          </a:xfrm>
        </p:grpSpPr>
        <p:sp>
          <p:nvSpPr>
            <p:cNvPr id="9" name="Rectangle 8"/>
            <p:cNvSpPr/>
            <p:nvPr/>
          </p:nvSpPr>
          <p:spPr>
            <a:xfrm>
              <a:off x="6150006" y="4782467"/>
              <a:ext cx="2438400" cy="880369"/>
            </a:xfrm>
            <a:prstGeom prst="rect">
              <a:avLst/>
            </a:prstGeom>
          </p:spPr>
          <p:txBody>
            <a:bodyPr wrap="square">
              <a:spAutoFit/>
            </a:bodyPr>
            <a:lstStyle/>
            <a:p>
              <a:pPr>
                <a:lnSpc>
                  <a:spcPct val="150000"/>
                </a:lnSpc>
              </a:pPr>
              <a:r>
                <a:rPr lang="en-US" i="1" dirty="0">
                  <a:solidFill>
                    <a:srgbClr val="C00000"/>
                  </a:solidFill>
                </a:rPr>
                <a:t>M</a:t>
              </a:r>
              <a:r>
                <a:rPr lang="en-US" i="1" baseline="-25000" dirty="0">
                  <a:solidFill>
                    <a:srgbClr val="C00000"/>
                  </a:solidFill>
                </a:rPr>
                <a:t>o</a:t>
              </a:r>
              <a:r>
                <a:rPr lang="en-US" i="1" dirty="0">
                  <a:solidFill>
                    <a:srgbClr val="C00000"/>
                  </a:solidFill>
                </a:rPr>
                <a:t>: Longitudinal/Bulk</a:t>
              </a:r>
            </a:p>
            <a:p>
              <a:pPr>
                <a:lnSpc>
                  <a:spcPct val="150000"/>
                </a:lnSpc>
              </a:pPr>
              <a:r>
                <a:rPr lang="en-US" i="1" dirty="0">
                  <a:solidFill>
                    <a:srgbClr val="C00000"/>
                  </a:solidFill>
                </a:rPr>
                <a:t>        magnetization</a:t>
              </a:r>
              <a:endParaRPr lang="en-US" baseline="-25000" dirty="0">
                <a:solidFill>
                  <a:srgbClr val="C00000"/>
                </a:solidFill>
              </a:endParaRPr>
            </a:p>
          </p:txBody>
        </p:sp>
        <p:pic>
          <p:nvPicPr>
            <p:cNvPr id="1026" name="Picture 2"/>
            <p:cNvPicPr>
              <a:picLocks noChangeAspect="1" noChangeArrowheads="1"/>
            </p:cNvPicPr>
            <p:nvPr/>
          </p:nvPicPr>
          <p:blipFill>
            <a:blip r:embed="rId3" cstate="print"/>
            <a:srcRect/>
            <a:stretch>
              <a:fillRect/>
            </a:stretch>
          </p:blipFill>
          <p:spPr bwMode="auto">
            <a:xfrm>
              <a:off x="838200" y="4114800"/>
              <a:ext cx="4876800" cy="2384893"/>
            </a:xfrm>
            <a:prstGeom prst="rect">
              <a:avLst/>
            </a:prstGeom>
            <a:noFill/>
            <a:ln w="9525">
              <a:noFill/>
              <a:miter lim="800000"/>
              <a:headEnd/>
              <a:tailEnd/>
            </a:ln>
          </p:spPr>
        </p:pic>
        <p:sp>
          <p:nvSpPr>
            <p:cNvPr id="11" name="TextBox 10"/>
            <p:cNvSpPr txBox="1"/>
            <p:nvPr/>
          </p:nvSpPr>
          <p:spPr>
            <a:xfrm>
              <a:off x="381000" y="4191000"/>
              <a:ext cx="415498" cy="400110"/>
            </a:xfrm>
            <a:prstGeom prst="rect">
              <a:avLst/>
            </a:prstGeom>
            <a:noFill/>
          </p:spPr>
          <p:txBody>
            <a:bodyPr wrap="none" rtlCol="0">
              <a:spAutoFit/>
            </a:bodyPr>
            <a:lstStyle/>
            <a:p>
              <a:r>
                <a:rPr lang="en-US" sz="2000" b="1" dirty="0"/>
                <a:t>B</a:t>
              </a:r>
              <a:r>
                <a:rPr lang="en-US" sz="2000" b="1" baseline="-25000" dirty="0"/>
                <a:t>0</a:t>
              </a:r>
            </a:p>
          </p:txBody>
        </p:sp>
        <p:sp>
          <p:nvSpPr>
            <p:cNvPr id="5" name="TextBox 4">
              <a:extLst>
                <a:ext uri="{FF2B5EF4-FFF2-40B4-BE49-F238E27FC236}">
                  <a16:creationId xmlns:a16="http://schemas.microsoft.com/office/drawing/2014/main" id="{0347BAA4-C127-4E34-94E3-380F27431316}"/>
                </a:ext>
              </a:extLst>
            </p:cNvPr>
            <p:cNvSpPr txBox="1"/>
            <p:nvPr/>
          </p:nvSpPr>
          <p:spPr>
            <a:xfrm>
              <a:off x="6437652" y="5846407"/>
              <a:ext cx="2228302" cy="369332"/>
            </a:xfrm>
            <a:prstGeom prst="rect">
              <a:avLst/>
            </a:prstGeom>
            <a:noFill/>
          </p:spPr>
          <p:txBody>
            <a:bodyPr wrap="none" rtlCol="0">
              <a:spAutoFit/>
            </a:bodyPr>
            <a:lstStyle/>
            <a:p>
              <a:r>
                <a:rPr lang="en-IN" dirty="0"/>
                <a:t>(</a:t>
              </a:r>
              <a:r>
                <a:rPr lang="en-IN" dirty="0">
                  <a:solidFill>
                    <a:srgbClr val="0070C0"/>
                  </a:solidFill>
                </a:rPr>
                <a:t>Thermal Equilibrium</a:t>
              </a:r>
              <a:r>
                <a:rPr lang="en-IN" dirty="0"/>
                <a:t>)</a:t>
              </a:r>
            </a:p>
          </p:txBody>
        </p:sp>
      </p:grpSp>
    </p:spTree>
    <p:extLst>
      <p:ext uri="{BB962C8B-B14F-4D97-AF65-F5344CB8AC3E}">
        <p14:creationId xmlns:p14="http://schemas.microsoft.com/office/powerpoint/2010/main" val="2067360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4CA5C-08DB-F09D-09C2-0BF12380BCC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B346B70-D984-D6B2-B6B1-4229B72E8920}"/>
              </a:ext>
            </a:extLst>
          </p:cNvPr>
          <p:cNvPicPr/>
          <p:nvPr/>
        </p:nvPicPr>
        <p:blipFill rotWithShape="1">
          <a:blip r:embed="rId3" cstate="print">
            <a:extLst>
              <a:ext uri="{28A0092B-C50C-407E-A947-70E740481C1C}">
                <a14:useLocalDpi xmlns:a14="http://schemas.microsoft.com/office/drawing/2010/main" val="0"/>
              </a:ext>
            </a:extLst>
          </a:blip>
          <a:srcRect b="58949"/>
          <a:stretch/>
        </p:blipFill>
        <p:spPr bwMode="auto">
          <a:xfrm>
            <a:off x="498172" y="3429000"/>
            <a:ext cx="5232400" cy="2550396"/>
          </a:xfrm>
          <a:prstGeom prst="rect">
            <a:avLst/>
          </a:prstGeom>
          <a:noFill/>
        </p:spPr>
      </p:pic>
      <p:pic>
        <p:nvPicPr>
          <p:cNvPr id="3" name="Picture 2">
            <a:extLst>
              <a:ext uri="{FF2B5EF4-FFF2-40B4-BE49-F238E27FC236}">
                <a16:creationId xmlns:a16="http://schemas.microsoft.com/office/drawing/2014/main" id="{CA2BBDF3-20AC-6C08-99C8-041BD1D73080}"/>
              </a:ext>
            </a:extLst>
          </p:cNvPr>
          <p:cNvPicPr/>
          <p:nvPr/>
        </p:nvPicPr>
        <p:blipFill rotWithShape="1">
          <a:blip r:embed="rId4">
            <a:extLst>
              <a:ext uri="{28A0092B-C50C-407E-A947-70E740481C1C}">
                <a14:useLocalDpi xmlns:a14="http://schemas.microsoft.com/office/drawing/2010/main" val="0"/>
              </a:ext>
            </a:extLst>
          </a:blip>
          <a:srcRect r="3981" b="48868"/>
          <a:stretch/>
        </p:blipFill>
        <p:spPr bwMode="auto">
          <a:xfrm>
            <a:off x="498172" y="382752"/>
            <a:ext cx="5095240" cy="2550396"/>
          </a:xfrm>
          <a:prstGeom prst="rect">
            <a:avLst/>
          </a:prstGeom>
          <a:noFill/>
          <a:ln>
            <a:noFill/>
          </a:ln>
          <a:extLst>
            <a:ext uri="{53640926-AAD7-44D8-BBD7-CCE9431645EC}">
              <a14:shadowObscured xmlns:a14="http://schemas.microsoft.com/office/drawing/2010/main"/>
            </a:ext>
          </a:extLst>
        </p:spPr>
      </p:pic>
      <p:pic>
        <p:nvPicPr>
          <p:cNvPr id="4" name="Picture 3">
            <a:extLst>
              <a:ext uri="{FF2B5EF4-FFF2-40B4-BE49-F238E27FC236}">
                <a16:creationId xmlns:a16="http://schemas.microsoft.com/office/drawing/2014/main" id="{6B5E94AE-E8F9-3D1E-805A-2999C5797F49}"/>
              </a:ext>
            </a:extLst>
          </p:cNvPr>
          <p:cNvPicPr>
            <a:picLocks noChangeAspect="1"/>
          </p:cNvPicPr>
          <p:nvPr/>
        </p:nvPicPr>
        <p:blipFill rotWithShape="1">
          <a:blip r:embed="rId5"/>
          <a:srcRect l="15833" t="16852" r="40417" b="23618"/>
          <a:stretch/>
        </p:blipFill>
        <p:spPr>
          <a:xfrm>
            <a:off x="6359828" y="1657950"/>
            <a:ext cx="5334000" cy="4082534"/>
          </a:xfrm>
          <a:prstGeom prst="rect">
            <a:avLst/>
          </a:prstGeom>
        </p:spPr>
      </p:pic>
    </p:spTree>
    <p:extLst>
      <p:ext uri="{BB962C8B-B14F-4D97-AF65-F5344CB8AC3E}">
        <p14:creationId xmlns:p14="http://schemas.microsoft.com/office/powerpoint/2010/main" val="274683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2839</Words>
  <Application>Microsoft Office PowerPoint</Application>
  <PresentationFormat>Widescreen</PresentationFormat>
  <Paragraphs>159</Paragraphs>
  <Slides>40</Slides>
  <Notes>11</Notes>
  <HiddenSlides>6</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Calibri Light</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Dibyendu Das</dc:creator>
  <cp:lastModifiedBy>Dibyendu Das</cp:lastModifiedBy>
  <cp:revision>1</cp:revision>
  <dcterms:created xsi:type="dcterms:W3CDTF">2026-03-10T01:28:56Z</dcterms:created>
  <dcterms:modified xsi:type="dcterms:W3CDTF">2026-03-10T01:29:16Z</dcterms:modified>
</cp:coreProperties>
</file>