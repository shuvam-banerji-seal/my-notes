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1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AF31-7E78-46B3-C809-A8EC9FC15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5AF18-90FC-6E96-F7DE-65544AFB4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E5911-74E4-D412-0769-60CA3A06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E6657-B52E-A4AA-31B0-0D6B5DD2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A9213-FC57-4899-325D-D8717F7E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71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91CF-E515-145B-52F0-64B0415C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4E0B1-EDEE-D67C-5801-886DA5C6D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85D50-3DD8-A7DF-FF52-73956D01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E599D-4BC1-E2AB-E656-AB0EFFD6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2A4C0-211D-3C9B-EAD4-FB400E1D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22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E1F9-05E5-746A-E39A-53EAD19D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6DDC2-5BC2-6854-84FD-58A041BD5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3967-3DD0-B859-CB0E-B84393DE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C32C5-1F91-D6D5-8596-EF721D95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436B8-0DC9-EC2C-F8AA-36D3AD56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6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6A27-A70A-9BDC-9EB8-347CB717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DC46-E959-D602-5D76-CCA73F301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9B2A9-3EF0-C348-928E-9607291C3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89165-C959-3F02-3666-CACF7905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463B9-DBE4-5E0A-B67A-5EA31B5A8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A162A-443D-59A7-A7ED-BFA76406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00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216C-2501-F101-C8C1-A991EBA2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751DC-6A96-C6DC-089F-72C1AFC27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C195-6C1D-FAE4-5617-B2B85F30A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C6FAF-8729-E657-94D0-36ED09595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627B4-EF97-112F-50BF-244A14B35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B69A2-923E-64C2-5710-23A819F0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13ED7-81AF-FDA2-7E43-858A57F8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A549D-1F78-6468-AA86-71AEC3BD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9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1BA6-2391-C1F7-4C3A-AF931674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FEC81-2AD5-6BD1-ABDA-95AE6F9B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D4347-F067-0581-D514-1A540ACF8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F277A-3C8C-5310-9259-BACADE4F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7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ADB78-6D89-D7FC-3B03-257FD47A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15838-3526-A97B-A0D5-840CA8BE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2682E-61A1-9974-BB83-3D8308F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48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E5194-E470-24FD-27C6-EB33892C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93FBD-2211-7081-7BBB-E551E621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B0A0C-D19C-0014-3B6B-F053DC92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9E447-7CAE-5702-7328-7FA795BC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673CB-2AAB-0A53-AED8-CEFEDBB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1130D-181A-8402-D753-D15AF136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C2E0-A32E-F38C-074F-8310D72F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9F0A4-D260-077A-CC44-46CAF168A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D6AFC-6ECE-6FCD-89A2-F0EEE68D2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3730F-418A-30E0-44B3-17E3AA435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2C690-5849-3C98-18B8-96CC3262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147B6-8391-4437-9003-0BB8A488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45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842A-BE65-4B13-BA5F-ABB2921B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37CFB-844E-EF25-7DCD-63BA8E7B6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5EA2B-8CFE-23B3-CFA1-DB2E04A7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4D398-DE47-A44B-AD3A-0EE1DF3D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CD25B-2405-1AA0-F5F2-41C080DF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3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DB930-9E70-2036-50F4-13ED91FDB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5D946-D58A-48D8-BD2B-D867C2D4A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9C8E6-27E5-E33D-F1D1-689D90FF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8D054-C98D-7A0B-4A57-627251B5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8518C-C014-D331-F8C1-B433EEAF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68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2E4B5-DEBB-0348-38AD-475F784B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BB19F-5B58-BD4F-3484-865552719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B7234-A7C5-37C4-7DA9-D0B0FD358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6B5D9-15AC-4D07-B4F9-A31BF2E2CF3E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07A5E-6F3A-9F12-54B4-AD4CAD8AA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DA6E5-9583-89A1-77E9-9320C086F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F7B07-0E44-47E4-8508-7EC2C84D9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11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DE9CDD5-1B3E-3830-406E-19CB4A44B072}"/>
              </a:ext>
            </a:extLst>
          </p:cNvPr>
          <p:cNvSpPr txBox="1"/>
          <p:nvPr/>
        </p:nvSpPr>
        <p:spPr>
          <a:xfrm>
            <a:off x="141402" y="94268"/>
            <a:ext cx="10589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 Mass spectrum of a non polar organic molecule shows M</a:t>
            </a:r>
            <a:r>
              <a:rPr lang="en-IN" baseline="30000" dirty="0"/>
              <a:t>+</a:t>
            </a:r>
            <a:r>
              <a:rPr lang="en-IN" dirty="0"/>
              <a:t>, M</a:t>
            </a:r>
            <a:r>
              <a:rPr lang="en-IN" baseline="30000" dirty="0"/>
              <a:t>+</a:t>
            </a:r>
            <a:r>
              <a:rPr lang="en-IN" dirty="0"/>
              <a:t>+2 M</a:t>
            </a:r>
            <a:r>
              <a:rPr lang="en-IN" baseline="30000" dirty="0"/>
              <a:t>+</a:t>
            </a:r>
            <a:r>
              <a:rPr lang="en-IN" dirty="0"/>
              <a:t>+4 at the ratio of 9:6:1. The compound is </a:t>
            </a:r>
          </a:p>
          <a:p>
            <a:pPr marL="342900" indent="-342900">
              <a:buAutoNum type="alphaLcParenR"/>
            </a:pPr>
            <a:r>
              <a:rPr lang="en-IN" dirty="0"/>
              <a:t>1,3 dichlorobenzene    b)1,4 </a:t>
            </a:r>
            <a:r>
              <a:rPr lang="en-IN" dirty="0" err="1"/>
              <a:t>dibromobenzene</a:t>
            </a:r>
            <a:r>
              <a:rPr lang="en-IN" dirty="0"/>
              <a:t>     c)1,4 dichlorobenzene    d)1,4 </a:t>
            </a:r>
            <a:r>
              <a:rPr lang="en-IN" dirty="0" err="1"/>
              <a:t>difluorobenzene</a:t>
            </a:r>
            <a:r>
              <a:rPr lang="en-IN" dirty="0"/>
              <a:t>   </a:t>
            </a:r>
          </a:p>
          <a:p>
            <a:endParaRPr lang="en-IN" dirty="0"/>
          </a:p>
          <a:p>
            <a:r>
              <a:rPr lang="en-IN" dirty="0"/>
              <a:t>Ans: c) (9:6:1 ratio means two chlorine and the compound is non polar)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65586-5B80-771F-77F6-B1E851510130}"/>
              </a:ext>
            </a:extLst>
          </p:cNvPr>
          <p:cNvSpPr txBox="1"/>
          <p:nvPr/>
        </p:nvSpPr>
        <p:spPr>
          <a:xfrm>
            <a:off x="110419" y="3634530"/>
            <a:ext cx="119711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 Predict the structure of compound C</a:t>
            </a:r>
            <a:r>
              <a:rPr lang="en-IN" baseline="-25000" dirty="0"/>
              <a:t>10</a:t>
            </a:r>
            <a:r>
              <a:rPr lang="en-IN" dirty="0"/>
              <a:t>H</a:t>
            </a:r>
            <a:r>
              <a:rPr lang="en-IN" baseline="-25000" dirty="0"/>
              <a:t>12</a:t>
            </a:r>
            <a:r>
              <a:rPr lang="en-IN" dirty="0"/>
              <a:t>O whose mass spectrum shown m/z values 15, 43, 57, 91, 105 and 148 (base peak)</a:t>
            </a:r>
          </a:p>
          <a:p>
            <a:endParaRPr lang="en-IN" dirty="0"/>
          </a:p>
          <a:p>
            <a:r>
              <a:rPr lang="en-IN" dirty="0"/>
              <a:t>Ans : CH</a:t>
            </a:r>
            <a:r>
              <a:rPr lang="en-IN" baseline="-25000" dirty="0"/>
              <a:t>3</a:t>
            </a:r>
            <a:r>
              <a:rPr lang="en-IN" dirty="0"/>
              <a:t>COCH</a:t>
            </a:r>
            <a:r>
              <a:rPr lang="en-IN" baseline="-25000" dirty="0"/>
              <a:t>2</a:t>
            </a:r>
            <a:r>
              <a:rPr lang="en-IN" dirty="0"/>
              <a:t>CH</a:t>
            </a:r>
            <a:r>
              <a:rPr lang="en-IN" baseline="-25000" dirty="0"/>
              <a:t>2</a:t>
            </a:r>
            <a:r>
              <a:rPr lang="en-IN" dirty="0"/>
              <a:t>C</a:t>
            </a:r>
            <a:r>
              <a:rPr lang="en-IN" baseline="-25000" dirty="0"/>
              <a:t>6</a:t>
            </a:r>
            <a:r>
              <a:rPr lang="en-IN" dirty="0"/>
              <a:t>H</a:t>
            </a:r>
            <a:r>
              <a:rPr lang="en-IN" baseline="-25000" dirty="0"/>
              <a:t>5 </a:t>
            </a:r>
            <a:r>
              <a:rPr lang="en-IN" dirty="0"/>
              <a:t> (91 for C</a:t>
            </a:r>
            <a:r>
              <a:rPr lang="en-IN" baseline="-25000" dirty="0"/>
              <a:t>6</a:t>
            </a:r>
            <a:r>
              <a:rPr lang="en-IN" dirty="0"/>
              <a:t>H</a:t>
            </a:r>
            <a:r>
              <a:rPr lang="en-IN" baseline="-25000" dirty="0"/>
              <a:t>5</a:t>
            </a:r>
            <a:r>
              <a:rPr lang="en-IN" dirty="0"/>
              <a:t>CH</a:t>
            </a:r>
            <a:r>
              <a:rPr lang="en-IN" baseline="-25000" dirty="0"/>
              <a:t>2</a:t>
            </a:r>
            <a:r>
              <a:rPr lang="en-IN" baseline="30000" dirty="0"/>
              <a:t>+</a:t>
            </a:r>
            <a:r>
              <a:rPr lang="en-IN" dirty="0"/>
              <a:t>, 43 for CH</a:t>
            </a:r>
            <a:r>
              <a:rPr lang="en-IN" baseline="-25000" dirty="0"/>
              <a:t>3</a:t>
            </a:r>
            <a:r>
              <a:rPr lang="en-IN" dirty="0"/>
              <a:t>CO</a:t>
            </a:r>
            <a:r>
              <a:rPr lang="en-IN" baseline="30000" dirty="0"/>
              <a:t>+ </a:t>
            </a:r>
            <a:r>
              <a:rPr lang="en-IN" dirty="0"/>
              <a:t>) </a:t>
            </a:r>
            <a:endParaRPr lang="en-IN" baseline="30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C92BAC-9DBC-4725-8DF9-D72667019E79}"/>
              </a:ext>
            </a:extLst>
          </p:cNvPr>
          <p:cNvSpPr txBox="1"/>
          <p:nvPr/>
        </p:nvSpPr>
        <p:spPr>
          <a:xfrm>
            <a:off x="110419" y="5286404"/>
            <a:ext cx="120505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In the electron ionization (EI) mass spectra, methyl hexanoate, methyl heptanoate and methyl octanoate give the same base peak. The m/z value of the base peak is ______</a:t>
            </a:r>
          </a:p>
          <a:p>
            <a:endParaRPr lang="en-US" dirty="0"/>
          </a:p>
          <a:p>
            <a:r>
              <a:rPr lang="en-US" dirty="0"/>
              <a:t>Ans 74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949C6F-648F-78A6-4488-D33E158FAC3F}"/>
              </a:ext>
            </a:extLst>
          </p:cNvPr>
          <p:cNvSpPr txBox="1"/>
          <p:nvPr/>
        </p:nvSpPr>
        <p:spPr>
          <a:xfrm>
            <a:off x="97411" y="1900247"/>
            <a:ext cx="12094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Which of the following carbonyl compounds will give a fragment ion at m/z = 58 in their mass spectrum: </a:t>
            </a:r>
          </a:p>
          <a:p>
            <a:r>
              <a:rPr lang="en-US" dirty="0"/>
              <a:t>     (a) C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5</a:t>
            </a:r>
            <a:r>
              <a:rPr lang="en-US" dirty="0"/>
              <a:t>CH(CH</a:t>
            </a:r>
            <a:r>
              <a:rPr lang="en-US" baseline="-25000" dirty="0"/>
              <a:t>3</a:t>
            </a:r>
            <a:r>
              <a:rPr lang="en-US" dirty="0"/>
              <a:t>)CHO        (b) CH</a:t>
            </a:r>
            <a:r>
              <a:rPr lang="en-US" baseline="-25000" dirty="0"/>
              <a:t>3</a:t>
            </a:r>
            <a:r>
              <a:rPr lang="en-US" dirty="0"/>
              <a:t>CH</a:t>
            </a:r>
            <a:r>
              <a:rPr lang="en-US" baseline="-25000" dirty="0"/>
              <a:t>2</a:t>
            </a:r>
            <a:r>
              <a:rPr lang="en-US" dirty="0"/>
              <a:t>CH</a:t>
            </a:r>
            <a:r>
              <a:rPr lang="en-US" baseline="-25000" dirty="0"/>
              <a:t>2</a:t>
            </a:r>
            <a:r>
              <a:rPr lang="en-US" dirty="0"/>
              <a:t>COCH</a:t>
            </a:r>
            <a:r>
              <a:rPr lang="en-US" baseline="-25000" dirty="0"/>
              <a:t>3</a:t>
            </a:r>
            <a:r>
              <a:rPr lang="en-US" dirty="0"/>
              <a:t>           (c) CH</a:t>
            </a:r>
            <a:r>
              <a:rPr lang="en-US" baseline="-25000" dirty="0"/>
              <a:t>3</a:t>
            </a:r>
            <a:r>
              <a:rPr lang="en-US" dirty="0"/>
              <a:t>CH</a:t>
            </a:r>
            <a:r>
              <a:rPr lang="en-US" baseline="-25000" dirty="0"/>
              <a:t>2</a:t>
            </a:r>
            <a:r>
              <a:rPr lang="en-US" dirty="0"/>
              <a:t>CH</a:t>
            </a:r>
            <a:r>
              <a:rPr lang="en-US" baseline="-25000" dirty="0"/>
              <a:t>2</a:t>
            </a:r>
            <a:r>
              <a:rPr lang="en-US" dirty="0"/>
              <a:t>COCD</a:t>
            </a:r>
            <a:r>
              <a:rPr lang="en-US" baseline="-25000" dirty="0"/>
              <a:t>3               </a:t>
            </a:r>
            <a:r>
              <a:rPr lang="en-US" dirty="0"/>
              <a:t> (d) (CH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US" baseline="-25000" dirty="0"/>
              <a:t>2</a:t>
            </a:r>
            <a:r>
              <a:rPr lang="en-US" dirty="0"/>
              <a:t>CHCH</a:t>
            </a:r>
            <a:r>
              <a:rPr lang="en-US" baseline="-25000" dirty="0"/>
              <a:t>2</a:t>
            </a:r>
            <a:r>
              <a:rPr lang="en-US" dirty="0"/>
              <a:t>CHO</a:t>
            </a:r>
          </a:p>
          <a:p>
            <a:endParaRPr lang="en-US" dirty="0"/>
          </a:p>
          <a:p>
            <a:r>
              <a:rPr lang="en-US" dirty="0"/>
              <a:t>Ans b)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7A7EEB-0ADE-0C81-8188-EF6530F9850F}"/>
              </a:ext>
            </a:extLst>
          </p:cNvPr>
          <p:cNvSpPr txBox="1"/>
          <p:nvPr/>
        </p:nvSpPr>
        <p:spPr>
          <a:xfrm>
            <a:off x="10341204" y="5967167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NET</a:t>
            </a:r>
          </a:p>
        </p:txBody>
      </p:sp>
    </p:spTree>
    <p:extLst>
      <p:ext uri="{BB962C8B-B14F-4D97-AF65-F5344CB8AC3E}">
        <p14:creationId xmlns:p14="http://schemas.microsoft.com/office/powerpoint/2010/main" val="418551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580CF6-F08C-C3C0-EE7D-65B96DDB017E}"/>
              </a:ext>
            </a:extLst>
          </p:cNvPr>
          <p:cNvSpPr txBox="1"/>
          <p:nvPr/>
        </p:nvSpPr>
        <p:spPr>
          <a:xfrm>
            <a:off x="160256" y="97078"/>
            <a:ext cx="11717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Identify the compound whose molecular ion appears as a pair of equal intensity peaks at m/z = 122 and m/z = 124. Large </a:t>
            </a:r>
          </a:p>
          <a:p>
            <a:r>
              <a:rPr lang="en-US" dirty="0"/>
              <a:t>fragment ions are seen at m/z = 43 (base peak). </a:t>
            </a:r>
          </a:p>
          <a:p>
            <a:pPr marL="342900" indent="-342900">
              <a:buAutoNum type="alphaLcParenBoth"/>
            </a:pPr>
            <a:r>
              <a:rPr lang="en-US" dirty="0"/>
              <a:t>1-bromopropane        (b) 2-bromopropane         (c) Both A and B        (d) None of these</a:t>
            </a:r>
          </a:p>
          <a:p>
            <a:pPr marL="342900" indent="-342900">
              <a:buAutoNum type="alphaLcParenBoth"/>
            </a:pPr>
            <a:endParaRPr lang="en-US" dirty="0"/>
          </a:p>
          <a:p>
            <a:r>
              <a:rPr lang="en-US" dirty="0"/>
              <a:t>Ans: b)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93515-165E-1B59-DB2D-75C4C5EF9031}"/>
              </a:ext>
            </a:extLst>
          </p:cNvPr>
          <p:cNvSpPr txBox="1"/>
          <p:nvPr/>
        </p:nvSpPr>
        <p:spPr>
          <a:xfrm>
            <a:off x="160256" y="1951672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6. Mass fragment of [</a:t>
            </a:r>
            <a:r>
              <a:rPr lang="en-US" dirty="0" err="1"/>
              <a:t>IrCl</a:t>
            </a:r>
            <a:r>
              <a:rPr lang="en-US" dirty="0"/>
              <a:t>]</a:t>
            </a:r>
            <a:r>
              <a:rPr lang="en-US" baseline="30000" dirty="0"/>
              <a:t>+</a:t>
            </a:r>
            <a:r>
              <a:rPr lang="en-US" dirty="0"/>
              <a:t> in mass spectrometry shows three mass peaks at m/z = 226, 228, and 230. Given that natural abundances of </a:t>
            </a:r>
            <a:r>
              <a:rPr lang="en-US" baseline="30000" dirty="0"/>
              <a:t>191</a:t>
            </a:r>
            <a:r>
              <a:rPr lang="en-US" dirty="0"/>
              <a:t>Ir,</a:t>
            </a:r>
            <a:r>
              <a:rPr lang="en-US" baseline="30000" dirty="0"/>
              <a:t> 193</a:t>
            </a:r>
            <a:r>
              <a:rPr lang="en-US" dirty="0"/>
              <a:t>Ir, </a:t>
            </a:r>
            <a:r>
              <a:rPr lang="en-US" baseline="30000" dirty="0"/>
              <a:t>35</a:t>
            </a:r>
            <a:r>
              <a:rPr lang="en-US" dirty="0"/>
              <a:t>Cl and</a:t>
            </a:r>
            <a:r>
              <a:rPr lang="en-US" baseline="30000" dirty="0"/>
              <a:t> 37</a:t>
            </a:r>
            <a:r>
              <a:rPr lang="en-US" dirty="0"/>
              <a:t>Cl and 37%, 63%, 76% and 24% respectively, the intensities of the mass peaks are in the order</a:t>
            </a:r>
          </a:p>
          <a:p>
            <a:r>
              <a:rPr lang="en-US" dirty="0"/>
              <a:t> (a) 49.5:100:26.6                  (b) 100:49.5:26.6           (c) 26.6 : 100: 49.5              (d) 26.6:49.5:100</a:t>
            </a:r>
          </a:p>
          <a:p>
            <a:endParaRPr lang="en-US" dirty="0"/>
          </a:p>
          <a:p>
            <a:r>
              <a:rPr lang="en-US" dirty="0"/>
              <a:t>Ans. a)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13534-A699-EABC-5C74-0D0B9BEBA314}"/>
              </a:ext>
            </a:extLst>
          </p:cNvPr>
          <p:cNvSpPr txBox="1"/>
          <p:nvPr/>
        </p:nvSpPr>
        <p:spPr>
          <a:xfrm>
            <a:off x="160256" y="3804671"/>
            <a:ext cx="1018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7.In the mass spectrum of dodecahedrane (C</a:t>
            </a:r>
            <a:r>
              <a:rPr lang="en-US" baseline="-25000" dirty="0"/>
              <a:t>20</a:t>
            </a:r>
            <a:r>
              <a:rPr lang="en-US" dirty="0"/>
              <a:t>H</a:t>
            </a:r>
            <a:r>
              <a:rPr lang="en-US" baseline="-25000" dirty="0"/>
              <a:t>20</a:t>
            </a:r>
            <a:r>
              <a:rPr lang="en-US" dirty="0"/>
              <a:t>), approximate ratio of the peaks at m/z 260 and 261 is: </a:t>
            </a:r>
          </a:p>
          <a:p>
            <a:r>
              <a:rPr lang="en-US" dirty="0"/>
              <a:t>      (a) 1: 1              (b) 5 : 1              (c) 10: 1             (d) 20 : 1 </a:t>
            </a:r>
          </a:p>
          <a:p>
            <a:endParaRPr lang="en-US" dirty="0"/>
          </a:p>
          <a:p>
            <a:r>
              <a:rPr lang="en-US" dirty="0"/>
              <a:t>Ans: b)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D67B0-374F-3E8F-FCC5-A73A36D02690}"/>
              </a:ext>
            </a:extLst>
          </p:cNvPr>
          <p:cNvSpPr txBox="1"/>
          <p:nvPr/>
        </p:nvSpPr>
        <p:spPr>
          <a:xfrm>
            <a:off x="11010507" y="2505670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NET</a:t>
            </a:r>
          </a:p>
        </p:txBody>
      </p:sp>
    </p:spTree>
    <p:extLst>
      <p:ext uri="{BB962C8B-B14F-4D97-AF65-F5344CB8AC3E}">
        <p14:creationId xmlns:p14="http://schemas.microsoft.com/office/powerpoint/2010/main" val="207466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9E61E-866B-CF64-8E31-37481AD0A5F9}"/>
              </a:ext>
            </a:extLst>
          </p:cNvPr>
          <p:cNvSpPr txBox="1"/>
          <p:nvPr/>
        </p:nvSpPr>
        <p:spPr>
          <a:xfrm>
            <a:off x="0" y="67326"/>
            <a:ext cx="123044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9.A compound shows M</a:t>
            </a:r>
            <a:r>
              <a:rPr lang="en-IN" baseline="30000" dirty="0"/>
              <a:t>+</a:t>
            </a:r>
            <a:r>
              <a:rPr lang="en-IN" dirty="0"/>
              <a:t> at 84 and a base peak at 56. In </a:t>
            </a:r>
            <a:r>
              <a:rPr lang="en-IN" baseline="30000" dirty="0"/>
              <a:t>1</a:t>
            </a:r>
            <a:r>
              <a:rPr lang="en-IN" dirty="0"/>
              <a:t>H NMR it shows a single peak at 1.4 ppm and in </a:t>
            </a:r>
            <a:r>
              <a:rPr lang="en-IN" baseline="30000" dirty="0"/>
              <a:t>13</a:t>
            </a:r>
            <a:r>
              <a:rPr lang="en-IN" dirty="0"/>
              <a:t>C NMR also at 35 ppm</a:t>
            </a:r>
          </a:p>
          <a:p>
            <a:r>
              <a:rPr lang="en-IN" dirty="0"/>
              <a:t>The compound –</a:t>
            </a:r>
          </a:p>
          <a:p>
            <a:r>
              <a:rPr lang="en-IN" dirty="0"/>
              <a:t>a)Cyclobutane-1,3-dione  b) Cyclohexane  c) dichloromethane  d)1,2,3-trimethyl cyclopropane</a:t>
            </a:r>
          </a:p>
          <a:p>
            <a:endParaRPr lang="en-IN" dirty="0"/>
          </a:p>
          <a:p>
            <a:r>
              <a:rPr lang="en-IN" dirty="0"/>
              <a:t>Ans: 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DF352-E0CD-8431-89CC-AA8932734E3C}"/>
              </a:ext>
            </a:extLst>
          </p:cNvPr>
          <p:cNvSpPr txBox="1"/>
          <p:nvPr/>
        </p:nvSpPr>
        <p:spPr>
          <a:xfrm>
            <a:off x="11113391" y="88833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CADD5-935D-30F4-389F-549D327D476A}"/>
              </a:ext>
            </a:extLst>
          </p:cNvPr>
          <p:cNvSpPr txBox="1"/>
          <p:nvPr/>
        </p:nvSpPr>
        <p:spPr>
          <a:xfrm>
            <a:off x="208099" y="4510313"/>
            <a:ext cx="8865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11. Follow the reaction below. The product A shows M</a:t>
            </a:r>
            <a:r>
              <a:rPr lang="en-IN" baseline="30000" dirty="0"/>
              <a:t>+</a:t>
            </a:r>
            <a:r>
              <a:rPr lang="en-IN" dirty="0"/>
              <a:t>, M</a:t>
            </a:r>
            <a:r>
              <a:rPr lang="en-IN" baseline="30000" dirty="0"/>
              <a:t>+</a:t>
            </a:r>
            <a:r>
              <a:rPr lang="en-IN" dirty="0"/>
              <a:t>+2 M</a:t>
            </a:r>
            <a:r>
              <a:rPr lang="en-IN" baseline="30000" dirty="0"/>
              <a:t>+</a:t>
            </a:r>
            <a:r>
              <a:rPr lang="en-IN" dirty="0"/>
              <a:t>+4 at the ratio of 1:2:1. So- </a:t>
            </a:r>
          </a:p>
          <a:p>
            <a:r>
              <a:rPr lang="en-IN" dirty="0"/>
              <a:t> 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4BEAB3-C6AD-74FA-804B-294F6F4DA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40613"/>
              </p:ext>
            </p:extLst>
          </p:nvPr>
        </p:nvGraphicFramePr>
        <p:xfrm>
          <a:off x="2779389" y="4904269"/>
          <a:ext cx="183673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836455" imgH="700789" progId="ChemDraw.Document.6.0">
                  <p:embed/>
                </p:oleObj>
              </mc:Choice>
              <mc:Fallback>
                <p:oleObj name="CS ChemDraw Drawing" r:id="rId2" imgW="1836455" imgH="700789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93AA09B-FC74-4513-1E7E-D6E333A60F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9389" y="4904269"/>
                        <a:ext cx="1836737" cy="70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8614DED-A927-0F52-917C-7B004C924D40}"/>
              </a:ext>
            </a:extLst>
          </p:cNvPr>
          <p:cNvSpPr txBox="1"/>
          <p:nvPr/>
        </p:nvSpPr>
        <p:spPr>
          <a:xfrm>
            <a:off x="296590" y="5975320"/>
            <a:ext cx="75060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R"/>
            </a:pPr>
            <a:r>
              <a:rPr lang="en-IN" dirty="0"/>
              <a:t>HX = HCl, Y = Cl    b) HX = HCl, Y = Br  c) HX = HBr, Y = Cl,  d) HX = HBr, Y = Br</a:t>
            </a:r>
          </a:p>
          <a:p>
            <a:pPr marL="342900" indent="-342900">
              <a:buAutoNum type="alphaLcParenR"/>
            </a:pPr>
            <a:endParaRPr lang="en-IN" dirty="0"/>
          </a:p>
          <a:p>
            <a:r>
              <a:rPr lang="en-IN" dirty="0"/>
              <a:t>Ans: d)</a:t>
            </a:r>
          </a:p>
        </p:txBody>
      </p:sp>
    </p:spTree>
    <p:extLst>
      <p:ext uri="{BB962C8B-B14F-4D97-AF65-F5344CB8AC3E}">
        <p14:creationId xmlns:p14="http://schemas.microsoft.com/office/powerpoint/2010/main" val="315926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8E5F8F-3CDB-4774-6246-10BE42C79D5B}"/>
              </a:ext>
            </a:extLst>
          </p:cNvPr>
          <p:cNvSpPr txBox="1"/>
          <p:nvPr/>
        </p:nvSpPr>
        <p:spPr>
          <a:xfrm>
            <a:off x="428566" y="2932141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Ans: 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2DD38-D4BF-FCE7-0D64-51023607995F}"/>
              </a:ext>
            </a:extLst>
          </p:cNvPr>
          <p:cNvSpPr txBox="1"/>
          <p:nvPr/>
        </p:nvSpPr>
        <p:spPr>
          <a:xfrm>
            <a:off x="5837017" y="355419"/>
            <a:ext cx="66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9729F1-44A3-CA4C-270B-15276EB15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2" y="120815"/>
            <a:ext cx="4093375" cy="16796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207CD0-915B-8FD5-C2EB-8576092A684E}"/>
              </a:ext>
            </a:extLst>
          </p:cNvPr>
          <p:cNvSpPr txBox="1"/>
          <p:nvPr/>
        </p:nvSpPr>
        <p:spPr>
          <a:xfrm>
            <a:off x="241751" y="1853985"/>
            <a:ext cx="10019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isomer that can be identified uniquely by mass spectrometry alone is: </a:t>
            </a:r>
          </a:p>
          <a:p>
            <a:r>
              <a:rPr lang="en-US" dirty="0"/>
              <a:t>          (a) P            (b) Q            (c) R             (d) 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11B3A7-69EB-E2F1-5A4C-58ED1AAF9BB1}"/>
              </a:ext>
            </a:extLst>
          </p:cNvPr>
          <p:cNvSpPr txBox="1"/>
          <p:nvPr/>
        </p:nvSpPr>
        <p:spPr>
          <a:xfrm>
            <a:off x="0" y="1119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12.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C3F9BA-C1DB-1B39-2F81-DDA32EF8A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173"/>
          <a:stretch>
            <a:fillRect/>
          </a:stretch>
        </p:blipFill>
        <p:spPr>
          <a:xfrm>
            <a:off x="560438" y="3868195"/>
            <a:ext cx="7992590" cy="8356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349D4E-2BE6-AB1A-E344-C61F599BFED1}"/>
              </a:ext>
            </a:extLst>
          </p:cNvPr>
          <p:cNvSpPr txBox="1"/>
          <p:nvPr/>
        </p:nvSpPr>
        <p:spPr>
          <a:xfrm>
            <a:off x="597032" y="4510951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Ans: 41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90A6FB-59A7-0611-7B21-62DC0268922F}"/>
              </a:ext>
            </a:extLst>
          </p:cNvPr>
          <p:cNvSpPr txBox="1"/>
          <p:nvPr/>
        </p:nvSpPr>
        <p:spPr>
          <a:xfrm>
            <a:off x="8731045" y="2800973"/>
            <a:ext cx="66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80E3A-1AD3-5F4E-31DB-401D26F05DAE}"/>
              </a:ext>
            </a:extLst>
          </p:cNvPr>
          <p:cNvSpPr txBox="1"/>
          <p:nvPr/>
        </p:nvSpPr>
        <p:spPr>
          <a:xfrm>
            <a:off x="153917" y="3545030"/>
            <a:ext cx="11763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13. The m/z value of the detectable fragments formed by </a:t>
            </a:r>
            <a:r>
              <a:rPr lang="en-US" dirty="0" err="1"/>
              <a:t>Melafferty</a:t>
            </a:r>
            <a:r>
              <a:rPr lang="en-US" dirty="0"/>
              <a:t> like rearrangement of the following compound in mass spectrometer: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50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586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PRATIP BHATTACHARYYA</dc:creator>
  <cp:lastModifiedBy>Dibyendu Das</cp:lastModifiedBy>
  <cp:revision>5</cp:revision>
  <dcterms:created xsi:type="dcterms:W3CDTF">2026-04-08T06:06:43Z</dcterms:created>
  <dcterms:modified xsi:type="dcterms:W3CDTF">2026-04-15T06:40:05Z</dcterms:modified>
</cp:coreProperties>
</file>