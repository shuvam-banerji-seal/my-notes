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activeX/activeX1.xml" ContentType="application/vnd.ms-office.activeX+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ppt/activeX/activeX1.bin" ContentType="application/vnd.ms-office.activeX"/>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3" r:id="rId1"/>
  </p:sldMasterIdLst>
  <p:notesMasterIdLst>
    <p:notesMasterId r:id="rId100"/>
  </p:notesMasterIdLst>
  <p:handoutMasterIdLst>
    <p:handoutMasterId r:id="rId101"/>
  </p:handoutMasterIdLst>
  <p:sldIdLst>
    <p:sldId id="367" r:id="rId2"/>
    <p:sldId id="851" r:id="rId3"/>
    <p:sldId id="852" r:id="rId4"/>
    <p:sldId id="853" r:id="rId5"/>
    <p:sldId id="854" r:id="rId6"/>
    <p:sldId id="855" r:id="rId7"/>
    <p:sldId id="856" r:id="rId8"/>
    <p:sldId id="857" r:id="rId9"/>
    <p:sldId id="858" r:id="rId10"/>
    <p:sldId id="859" r:id="rId11"/>
    <p:sldId id="860" r:id="rId12"/>
    <p:sldId id="861" r:id="rId13"/>
    <p:sldId id="791" r:id="rId14"/>
    <p:sldId id="846" r:id="rId15"/>
    <p:sldId id="847" r:id="rId16"/>
    <p:sldId id="848" r:id="rId17"/>
    <p:sldId id="794" r:id="rId18"/>
    <p:sldId id="795" r:id="rId19"/>
    <p:sldId id="796" r:id="rId20"/>
    <p:sldId id="798" r:id="rId21"/>
    <p:sldId id="810" r:id="rId22"/>
    <p:sldId id="811" r:id="rId23"/>
    <p:sldId id="812" r:id="rId24"/>
    <p:sldId id="813" r:id="rId25"/>
    <p:sldId id="814" r:id="rId26"/>
    <p:sldId id="815" r:id="rId27"/>
    <p:sldId id="816" r:id="rId28"/>
    <p:sldId id="817" r:id="rId29"/>
    <p:sldId id="818" r:id="rId30"/>
    <p:sldId id="819" r:id="rId31"/>
    <p:sldId id="820" r:id="rId32"/>
    <p:sldId id="821" r:id="rId33"/>
    <p:sldId id="822" r:id="rId34"/>
    <p:sldId id="823" r:id="rId35"/>
    <p:sldId id="824" r:id="rId36"/>
    <p:sldId id="825" r:id="rId37"/>
    <p:sldId id="826" r:id="rId38"/>
    <p:sldId id="827" r:id="rId39"/>
    <p:sldId id="828" r:id="rId40"/>
    <p:sldId id="829" r:id="rId41"/>
    <p:sldId id="830" r:id="rId42"/>
    <p:sldId id="831" r:id="rId43"/>
    <p:sldId id="832" r:id="rId44"/>
    <p:sldId id="833" r:id="rId45"/>
    <p:sldId id="834" r:id="rId46"/>
    <p:sldId id="835" r:id="rId47"/>
    <p:sldId id="836" r:id="rId48"/>
    <p:sldId id="837" r:id="rId49"/>
    <p:sldId id="838" r:id="rId50"/>
    <p:sldId id="839" r:id="rId51"/>
    <p:sldId id="840" r:id="rId52"/>
    <p:sldId id="841" r:id="rId53"/>
    <p:sldId id="842" r:id="rId54"/>
    <p:sldId id="843" r:id="rId55"/>
    <p:sldId id="844" r:id="rId56"/>
    <p:sldId id="845" r:id="rId57"/>
    <p:sldId id="799" r:id="rId58"/>
    <p:sldId id="806" r:id="rId59"/>
    <p:sldId id="506" r:id="rId60"/>
    <p:sldId id="589" r:id="rId61"/>
    <p:sldId id="590" r:id="rId62"/>
    <p:sldId id="591" r:id="rId63"/>
    <p:sldId id="593" r:id="rId64"/>
    <p:sldId id="603" r:id="rId65"/>
    <p:sldId id="632" r:id="rId66"/>
    <p:sldId id="864" r:id="rId67"/>
    <p:sldId id="633" r:id="rId68"/>
    <p:sldId id="849" r:id="rId69"/>
    <p:sldId id="850" r:id="rId70"/>
    <p:sldId id="865" r:id="rId71"/>
    <p:sldId id="634" r:id="rId72"/>
    <p:sldId id="639" r:id="rId73"/>
    <p:sldId id="643" r:id="rId74"/>
    <p:sldId id="644" r:id="rId75"/>
    <p:sldId id="646" r:id="rId76"/>
    <p:sldId id="647" r:id="rId77"/>
    <p:sldId id="648" r:id="rId78"/>
    <p:sldId id="649" r:id="rId79"/>
    <p:sldId id="650" r:id="rId80"/>
    <p:sldId id="656" r:id="rId81"/>
    <p:sldId id="657" r:id="rId82"/>
    <p:sldId id="658" r:id="rId83"/>
    <p:sldId id="659" r:id="rId84"/>
    <p:sldId id="660" r:id="rId85"/>
    <p:sldId id="866" r:id="rId86"/>
    <p:sldId id="665" r:id="rId87"/>
    <p:sldId id="666" r:id="rId88"/>
    <p:sldId id="667" r:id="rId89"/>
    <p:sldId id="668" r:id="rId90"/>
    <p:sldId id="669" r:id="rId91"/>
    <p:sldId id="671" r:id="rId92"/>
    <p:sldId id="672" r:id="rId93"/>
    <p:sldId id="673" r:id="rId94"/>
    <p:sldId id="674" r:id="rId95"/>
    <p:sldId id="675" r:id="rId96"/>
    <p:sldId id="676" r:id="rId97"/>
    <p:sldId id="862" r:id="rId98"/>
    <p:sldId id="863" r:id="rId99"/>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900"/>
    <a:srgbClr val="FF0000"/>
    <a:srgbClr val="0066FF"/>
    <a:srgbClr val="00CCFF"/>
    <a:srgbClr val="CCFF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3398" autoAdjust="0"/>
    <p:restoredTop sz="94646" autoAdjust="0"/>
  </p:normalViewPr>
  <p:slideViewPr>
    <p:cSldViewPr snapToGrid="0">
      <p:cViewPr>
        <p:scale>
          <a:sx n="64" d="100"/>
          <a:sy n="64" d="100"/>
        </p:scale>
        <p:origin x="-2262" y="-69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4578"/>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96.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image" Target="../media/image30.wmf"/><Relationship Id="rId7" Type="http://schemas.openxmlformats.org/officeDocument/2006/relationships/image" Target="../media/image34.w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image" Target="../media/image30.wmf"/><Relationship Id="rId7" Type="http://schemas.openxmlformats.org/officeDocument/2006/relationships/image" Target="../media/image34.wmf"/><Relationship Id="rId2" Type="http://schemas.openxmlformats.org/officeDocument/2006/relationships/image" Target="../media/image28.wmf"/><Relationship Id="rId1" Type="http://schemas.openxmlformats.org/officeDocument/2006/relationships/image" Target="../media/image29.w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1.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1.wmf"/><Relationship Id="rId1" Type="http://schemas.openxmlformats.org/officeDocument/2006/relationships/image" Target="../media/image28.wmf"/><Relationship Id="rId4" Type="http://schemas.openxmlformats.org/officeDocument/2006/relationships/image" Target="../media/image4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1.wmf"/><Relationship Id="rId1" Type="http://schemas.openxmlformats.org/officeDocument/2006/relationships/image" Target="../media/image28.wmf"/><Relationship Id="rId5" Type="http://schemas.openxmlformats.org/officeDocument/2006/relationships/image" Target="../media/image48.wmf"/><Relationship Id="rId4"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1.wmf"/><Relationship Id="rId1" Type="http://schemas.openxmlformats.org/officeDocument/2006/relationships/image" Target="../media/image28.wmf"/><Relationship Id="rId6" Type="http://schemas.openxmlformats.org/officeDocument/2006/relationships/image" Target="../media/image50.wmf"/><Relationship Id="rId5" Type="http://schemas.openxmlformats.org/officeDocument/2006/relationships/image" Target="../media/image48.wmf"/><Relationship Id="rId4"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1.wmf"/><Relationship Id="rId1" Type="http://schemas.openxmlformats.org/officeDocument/2006/relationships/image" Target="../media/image28.wmf"/><Relationship Id="rId6" Type="http://schemas.openxmlformats.org/officeDocument/2006/relationships/image" Target="../media/image50.wmf"/><Relationship Id="rId5" Type="http://schemas.openxmlformats.org/officeDocument/2006/relationships/image" Target="../media/image48.wmf"/><Relationship Id="rId4"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53.wmf"/><Relationship Id="rId2" Type="http://schemas.openxmlformats.org/officeDocument/2006/relationships/image" Target="../media/image41.wmf"/><Relationship Id="rId1" Type="http://schemas.openxmlformats.org/officeDocument/2006/relationships/image" Target="../media/image28.wmf"/><Relationship Id="rId6" Type="http://schemas.openxmlformats.org/officeDocument/2006/relationships/image" Target="../media/image50.wmf"/><Relationship Id="rId5" Type="http://schemas.openxmlformats.org/officeDocument/2006/relationships/image" Target="../media/image48.wmf"/><Relationship Id="rId4" Type="http://schemas.openxmlformats.org/officeDocument/2006/relationships/image" Target="../media/image4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55.wmf"/><Relationship Id="rId2" Type="http://schemas.openxmlformats.org/officeDocument/2006/relationships/image" Target="../media/image41.wmf"/><Relationship Id="rId1" Type="http://schemas.openxmlformats.org/officeDocument/2006/relationships/image" Target="../media/image28.wmf"/><Relationship Id="rId6" Type="http://schemas.openxmlformats.org/officeDocument/2006/relationships/image" Target="../media/image50.wmf"/><Relationship Id="rId5" Type="http://schemas.openxmlformats.org/officeDocument/2006/relationships/image" Target="../media/image48.wmf"/><Relationship Id="rId4" Type="http://schemas.openxmlformats.org/officeDocument/2006/relationships/image" Target="../media/image4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60.wmf"/><Relationship Id="rId1"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60.wmf"/><Relationship Id="rId1" Type="http://schemas.openxmlformats.org/officeDocument/2006/relationships/image" Target="../media/image6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0.wmf"/><Relationship Id="rId1" Type="http://schemas.openxmlformats.org/officeDocument/2006/relationships/image" Target="../media/image62.wmf"/><Relationship Id="rId4" Type="http://schemas.openxmlformats.org/officeDocument/2006/relationships/image" Target="../media/image2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28.wmf"/><Relationship Id="rId1" Type="http://schemas.openxmlformats.org/officeDocument/2006/relationships/image" Target="../media/image62.wmf"/><Relationship Id="rId5" Type="http://schemas.openxmlformats.org/officeDocument/2006/relationships/image" Target="../media/image66.wmf"/><Relationship Id="rId4" Type="http://schemas.openxmlformats.org/officeDocument/2006/relationships/image" Target="../media/image6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28.wmf"/><Relationship Id="rId1" Type="http://schemas.openxmlformats.org/officeDocument/2006/relationships/image" Target="../media/image62.wmf"/><Relationship Id="rId5" Type="http://schemas.openxmlformats.org/officeDocument/2006/relationships/image" Target="../media/image66.wmf"/><Relationship Id="rId4" Type="http://schemas.openxmlformats.org/officeDocument/2006/relationships/image" Target="../media/image6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28.wmf"/><Relationship Id="rId1" Type="http://schemas.openxmlformats.org/officeDocument/2006/relationships/image" Target="../media/image62.wmf"/><Relationship Id="rId5" Type="http://schemas.openxmlformats.org/officeDocument/2006/relationships/image" Target="../media/image66.wmf"/><Relationship Id="rId4" Type="http://schemas.openxmlformats.org/officeDocument/2006/relationships/image" Target="../media/image64.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28.wmf"/><Relationship Id="rId1" Type="http://schemas.openxmlformats.org/officeDocument/2006/relationships/image" Target="../media/image62.wmf"/><Relationship Id="rId5" Type="http://schemas.openxmlformats.org/officeDocument/2006/relationships/image" Target="../media/image66.wmf"/><Relationship Id="rId4" Type="http://schemas.openxmlformats.org/officeDocument/2006/relationships/image" Target="../media/image6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28.wmf"/><Relationship Id="rId1" Type="http://schemas.openxmlformats.org/officeDocument/2006/relationships/image" Target="../media/image62.wmf"/><Relationship Id="rId6" Type="http://schemas.openxmlformats.org/officeDocument/2006/relationships/image" Target="../media/image69.emf"/><Relationship Id="rId5" Type="http://schemas.openxmlformats.org/officeDocument/2006/relationships/image" Target="../media/image66.wmf"/><Relationship Id="rId4" Type="http://schemas.openxmlformats.org/officeDocument/2006/relationships/image" Target="../media/image6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28.wmf"/><Relationship Id="rId1" Type="http://schemas.openxmlformats.org/officeDocument/2006/relationships/image" Target="../media/image62.wmf"/><Relationship Id="rId6" Type="http://schemas.openxmlformats.org/officeDocument/2006/relationships/image" Target="../media/image71.emf"/><Relationship Id="rId5" Type="http://schemas.openxmlformats.org/officeDocument/2006/relationships/image" Target="../media/image66.wmf"/><Relationship Id="rId4" Type="http://schemas.openxmlformats.org/officeDocument/2006/relationships/image" Target="../media/image6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28.wmf"/><Relationship Id="rId1" Type="http://schemas.openxmlformats.org/officeDocument/2006/relationships/image" Target="../media/image62.wmf"/><Relationship Id="rId6" Type="http://schemas.openxmlformats.org/officeDocument/2006/relationships/image" Target="../media/image72.emf"/><Relationship Id="rId5" Type="http://schemas.openxmlformats.org/officeDocument/2006/relationships/image" Target="../media/image66.wmf"/><Relationship Id="rId4" Type="http://schemas.openxmlformats.org/officeDocument/2006/relationships/image" Target="../media/image64.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74.emf"/><Relationship Id="rId2" Type="http://schemas.openxmlformats.org/officeDocument/2006/relationships/image" Target="../media/image28.wmf"/><Relationship Id="rId1" Type="http://schemas.openxmlformats.org/officeDocument/2006/relationships/image" Target="../media/image62.wmf"/><Relationship Id="rId6" Type="http://schemas.openxmlformats.org/officeDocument/2006/relationships/image" Target="../media/image73.emf"/><Relationship Id="rId5" Type="http://schemas.openxmlformats.org/officeDocument/2006/relationships/image" Target="../media/image66.wmf"/><Relationship Id="rId4" Type="http://schemas.openxmlformats.org/officeDocument/2006/relationships/image" Target="../media/image6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77.emf"/><Relationship Id="rId2" Type="http://schemas.openxmlformats.org/officeDocument/2006/relationships/image" Target="../media/image28.wmf"/><Relationship Id="rId1" Type="http://schemas.openxmlformats.org/officeDocument/2006/relationships/image" Target="../media/image62.wmf"/><Relationship Id="rId6" Type="http://schemas.openxmlformats.org/officeDocument/2006/relationships/image" Target="../media/image76.emf"/><Relationship Id="rId5" Type="http://schemas.openxmlformats.org/officeDocument/2006/relationships/image" Target="../media/image66.wmf"/><Relationship Id="rId4" Type="http://schemas.openxmlformats.org/officeDocument/2006/relationships/image" Target="../media/image6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79.emf"/><Relationship Id="rId2" Type="http://schemas.openxmlformats.org/officeDocument/2006/relationships/image" Target="../media/image28.wmf"/><Relationship Id="rId1" Type="http://schemas.openxmlformats.org/officeDocument/2006/relationships/image" Target="../media/image62.wmf"/><Relationship Id="rId6" Type="http://schemas.openxmlformats.org/officeDocument/2006/relationships/image" Target="../media/image78.emf"/><Relationship Id="rId5" Type="http://schemas.openxmlformats.org/officeDocument/2006/relationships/image" Target="../media/image66.wmf"/><Relationship Id="rId4" Type="http://schemas.openxmlformats.org/officeDocument/2006/relationships/image" Target="../media/image6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81.emf"/><Relationship Id="rId2" Type="http://schemas.openxmlformats.org/officeDocument/2006/relationships/image" Target="../media/image28.wmf"/><Relationship Id="rId1" Type="http://schemas.openxmlformats.org/officeDocument/2006/relationships/image" Target="../media/image62.wmf"/><Relationship Id="rId6" Type="http://schemas.openxmlformats.org/officeDocument/2006/relationships/image" Target="../media/image80.emf"/><Relationship Id="rId5" Type="http://schemas.openxmlformats.org/officeDocument/2006/relationships/image" Target="../media/image66.wmf"/><Relationship Id="rId4" Type="http://schemas.openxmlformats.org/officeDocument/2006/relationships/image" Target="../media/image64.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png"/><Relationship Id="rId4" Type="http://schemas.openxmlformats.org/officeDocument/2006/relationships/image" Target="../media/image8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86.wmf"/><Relationship Id="rId1" Type="http://schemas.openxmlformats.org/officeDocument/2006/relationships/image" Target="../media/image92.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5" Type="http://schemas.openxmlformats.org/officeDocument/2006/relationships/image" Target="../media/image110.wmf"/><Relationship Id="rId4" Type="http://schemas.openxmlformats.org/officeDocument/2006/relationships/image" Target="../media/image109.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5" Type="http://schemas.openxmlformats.org/officeDocument/2006/relationships/image" Target="../media/image110.wmf"/><Relationship Id="rId4" Type="http://schemas.openxmlformats.org/officeDocument/2006/relationships/image" Target="../media/image109.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5" Type="http://schemas.openxmlformats.org/officeDocument/2006/relationships/image" Target="../media/image110.wmf"/><Relationship Id="rId4" Type="http://schemas.openxmlformats.org/officeDocument/2006/relationships/image" Target="../media/image109.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 Id="rId4" Type="http://schemas.openxmlformats.org/officeDocument/2006/relationships/image" Target="../media/image109.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4.wmf"/><Relationship Id="rId1" Type="http://schemas.openxmlformats.org/officeDocument/2006/relationships/image" Target="../media/image111.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09.wmf"/><Relationship Id="rId1" Type="http://schemas.openxmlformats.org/officeDocument/2006/relationships/image" Target="../media/image112.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17.wmf"/><Relationship Id="rId5" Type="http://schemas.openxmlformats.org/officeDocument/2006/relationships/image" Target="../media/image120.wmf"/><Relationship Id="rId4" Type="http://schemas.openxmlformats.org/officeDocument/2006/relationships/image" Target="../media/image109.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17.wmf"/><Relationship Id="rId5" Type="http://schemas.openxmlformats.org/officeDocument/2006/relationships/image" Target="../media/image120.wmf"/><Relationship Id="rId4" Type="http://schemas.openxmlformats.org/officeDocument/2006/relationships/image" Target="../media/image109.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20.wmf"/><Relationship Id="rId1" Type="http://schemas.openxmlformats.org/officeDocument/2006/relationships/image" Target="../media/image109.wmf"/><Relationship Id="rId5" Type="http://schemas.openxmlformats.org/officeDocument/2006/relationships/image" Target="../media/image118.png"/><Relationship Id="rId4" Type="http://schemas.openxmlformats.org/officeDocument/2006/relationships/image" Target="../media/image119.png"/></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20.wmf"/><Relationship Id="rId1" Type="http://schemas.openxmlformats.org/officeDocument/2006/relationships/image" Target="../media/image109.wmf"/><Relationship Id="rId5" Type="http://schemas.openxmlformats.org/officeDocument/2006/relationships/image" Target="../media/image118.png"/><Relationship Id="rId4" Type="http://schemas.openxmlformats.org/officeDocument/2006/relationships/image" Target="../media/image119.png"/></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20.wmf"/><Relationship Id="rId1" Type="http://schemas.openxmlformats.org/officeDocument/2006/relationships/image" Target="../media/image109.wmf"/><Relationship Id="rId5" Type="http://schemas.openxmlformats.org/officeDocument/2006/relationships/image" Target="../media/image118.png"/><Relationship Id="rId4" Type="http://schemas.openxmlformats.org/officeDocument/2006/relationships/image" Target="../media/image119.png"/></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9.png"/><Relationship Id="rId1" Type="http://schemas.openxmlformats.org/officeDocument/2006/relationships/image" Target="../media/image117.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3.wmf"/><Relationship Id="rId1" Type="http://schemas.openxmlformats.org/officeDocument/2006/relationships/image" Target="../media/image121.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image" Target="../media/image127.wmf"/><Relationship Id="rId7" Type="http://schemas.openxmlformats.org/officeDocument/2006/relationships/image" Target="../media/image109.wmf"/><Relationship Id="rId2" Type="http://schemas.openxmlformats.org/officeDocument/2006/relationships/image" Target="../media/image119.png"/><Relationship Id="rId1" Type="http://schemas.openxmlformats.org/officeDocument/2006/relationships/image" Target="../media/image126.w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image" Target="../media/image129.wmf"/><Relationship Id="rId7" Type="http://schemas.openxmlformats.org/officeDocument/2006/relationships/image" Target="../media/image109.wmf"/><Relationship Id="rId2" Type="http://schemas.openxmlformats.org/officeDocument/2006/relationships/image" Target="../media/image119.png"/><Relationship Id="rId1" Type="http://schemas.openxmlformats.org/officeDocument/2006/relationships/image" Target="../media/image126.wmf"/><Relationship Id="rId6" Type="http://schemas.openxmlformats.org/officeDocument/2006/relationships/image" Target="../media/image130.wmf"/><Relationship Id="rId5" Type="http://schemas.openxmlformats.org/officeDocument/2006/relationships/image" Target="../media/image128.wmf"/><Relationship Id="rId4" Type="http://schemas.openxmlformats.org/officeDocument/2006/relationships/image" Target="../media/image1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643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146435"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146436"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146437"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41504479-D042-4130-8BEC-330E4C8A3282}"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8089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12083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8090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090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8090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4E5E71A8-7718-4E56-9974-E56DA8B08BD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ounded Rectangle 3"/>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6" name="Rounded Rectangle 5"/>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lang="en-US" smtClean="0"/>
              <a:t>Click to edit Master title style</a:t>
            </a:r>
            <a:endParaRPr lang="en-US"/>
          </a:p>
        </p:txBody>
      </p:sp>
      <p:sp>
        <p:nvSpPr>
          <p:cNvPr id="20" name="Subtitle 19"/>
          <p:cNvSpPr>
            <a:spLocks noGrp="1"/>
          </p:cNvSpPr>
          <p:nvPr>
            <p:ph type="subTitle" idx="1"/>
          </p:nvPr>
        </p:nvSpPr>
        <p:spPr>
          <a:xfrm>
            <a:off x="722376" y="3685032"/>
            <a:ext cx="7772400" cy="914400"/>
          </a:xfrm>
        </p:spPr>
        <p:txBody>
          <a:bodyPr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7" name="Date Placeholder 18"/>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10"/>
          <p:cNvSpPr>
            <a:spLocks noGrp="1"/>
          </p:cNvSpPr>
          <p:nvPr>
            <p:ph type="sldNum" sz="quarter" idx="12"/>
          </p:nvPr>
        </p:nvSpPr>
        <p:spPr/>
        <p:txBody>
          <a:bodyPr/>
          <a:lstStyle>
            <a:lvl1pPr>
              <a:defRPr/>
            </a:lvl1pPr>
            <a:extLst/>
          </a:lstStyle>
          <a:p>
            <a:pPr>
              <a:defRPr/>
            </a:pPr>
            <a:fld id="{363F07E7-1E29-43FC-A14A-A6F815807D6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lang="en-US" smtClean="0"/>
              <a:t>Click to edit Master title style</a:t>
            </a:r>
            <a:endParaRPr lang="en-US"/>
          </a:p>
        </p:txBody>
      </p:sp>
      <p:sp>
        <p:nvSpPr>
          <p:cNvPr id="3" name="Content Placeholder 2"/>
          <p:cNvSpPr>
            <a:spLocks noGrp="1"/>
          </p:cNvSpPr>
          <p:nvPr>
            <p:ph idx="1"/>
          </p:nvPr>
        </p:nvSpPr>
        <p:spPr>
          <a:xfrm>
            <a:off x="502920" y="530352"/>
            <a:ext cx="8183880" cy="4187952"/>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endParaRPr lang="en-US"/>
          </a:p>
        </p:txBody>
      </p:sp>
      <p:sp>
        <p:nvSpPr>
          <p:cNvPr id="5" name="Footer Placeholder 1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ACC71DD8-5456-4BEA-B2B9-2DAB0D70CE9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ounded Rectangle 3"/>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5" name="Rounded Rectangle 4"/>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2" name="Title 1"/>
          <p:cNvSpPr>
            <a:spLocks noGrp="1"/>
          </p:cNvSpPr>
          <p:nvPr>
            <p:ph type="title"/>
          </p:nvPr>
        </p:nvSpPr>
        <p:spPr>
          <a:xfrm>
            <a:off x="468344" y="4928616"/>
            <a:ext cx="8183880" cy="676656"/>
          </a:xfrm>
        </p:spPr>
        <p:txBody>
          <a:bodyPr lIns="91440" bIns="0"/>
          <a:lstStyle>
            <a:lvl1pPr algn="l">
              <a:buNone/>
              <a:defRPr sz="3600" b="0" cap="none" baseline="0">
                <a:solidFill>
                  <a:schemeClr val="bg2">
                    <a:shade val="25000"/>
                  </a:schemeClr>
                </a:solidFill>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468344" y="5624484"/>
            <a:ext cx="8183880" cy="420624"/>
          </a:xfrm>
        </p:spPr>
        <p:txBody>
          <a:bodyPr lIns="118872" tIns="0"/>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extLst/>
          </a:lstStyle>
          <a:p>
            <a:pPr>
              <a:defRPr/>
            </a:pPr>
            <a:fld id="{5AF5B0B8-AC73-4CC7-BBD1-FCA5CAD974F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4"/>
          <p:cNvSpPr>
            <a:spLocks noGrp="1"/>
          </p:cNvSpPr>
          <p:nvPr>
            <p:ph type="dt" sz="half" idx="10"/>
          </p:nvPr>
        </p:nvSpPr>
        <p:spPr/>
        <p:txBody>
          <a:bodyPr/>
          <a:lstStyle>
            <a:lvl1pPr>
              <a:defRPr/>
            </a:lvl1pPr>
          </a:lstStyle>
          <a:p>
            <a:pPr>
              <a:defRPr/>
            </a:pPr>
            <a:endParaRPr lang="en-US"/>
          </a:p>
        </p:txBody>
      </p:sp>
      <p:sp>
        <p:nvSpPr>
          <p:cNvPr id="6" name="Footer Placeholder 17"/>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DE9C2C86-4A7F-44D3-8A9E-7813A745AD0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lvl1pPr>
              <a:defRPr b="1"/>
            </a:lvl1pPr>
            <a:extLst/>
          </a:lstStyle>
          <a:p>
            <a:r>
              <a:rPr lang="en-US" smtClean="0"/>
              <a:t>Click to edit Master title style</a:t>
            </a:r>
            <a:endParaRPr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lstStyle>
            <a:lvl1pPr algn="l">
              <a:defRPr sz="2400"/>
            </a:lvl1pPr>
            <a:lvl2pPr algn="l">
              <a:defRPr sz="2000"/>
            </a:lvl2pPr>
            <a:lvl3pPr algn="l">
              <a:defRPr sz="1800"/>
            </a:lvl3pPr>
            <a:lvl4pPr algn="l">
              <a:defRPr sz="1600"/>
            </a:lvl4pPr>
            <a:lvl5pPr algn="l">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52169" y="1447800"/>
            <a:ext cx="3931920" cy="3489960"/>
          </a:xfrm>
        </p:spPr>
        <p:txBody>
          <a:bodyPr/>
          <a:lstStyle>
            <a:lvl1pPr algn="l">
              <a:defRPr sz="2400"/>
            </a:lvl1pPr>
            <a:lvl2pPr algn="l">
              <a:defRPr sz="2000"/>
            </a:lvl2pPr>
            <a:lvl3pPr algn="l">
              <a:defRPr sz="1800"/>
            </a:lvl3pPr>
            <a:lvl4pPr algn="l">
              <a:defRPr sz="1600"/>
            </a:lvl4pPr>
            <a:lvl5pPr algn="l">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4"/>
          <p:cNvSpPr>
            <a:spLocks noGrp="1"/>
          </p:cNvSpPr>
          <p:nvPr>
            <p:ph type="dt" sz="half" idx="10"/>
          </p:nvPr>
        </p:nvSpPr>
        <p:spPr/>
        <p:txBody>
          <a:bodyPr/>
          <a:lstStyle>
            <a:lvl1pPr>
              <a:defRPr/>
            </a:lvl1pPr>
          </a:lstStyle>
          <a:p>
            <a:pPr>
              <a:defRPr/>
            </a:pPr>
            <a:endParaRPr lang="en-US"/>
          </a:p>
        </p:txBody>
      </p:sp>
      <p:sp>
        <p:nvSpPr>
          <p:cNvPr id="8" name="Footer Placeholder 17"/>
          <p:cNvSpPr>
            <a:spLocks noGrp="1"/>
          </p:cNvSpPr>
          <p:nvPr>
            <p:ph type="ftr" sz="quarter" idx="11"/>
          </p:nvPr>
        </p:nvSpPr>
        <p:spPr/>
        <p:txBody>
          <a:bodyPr/>
          <a:lstStyle>
            <a:lvl1pPr>
              <a:defRPr/>
            </a:lvl1pPr>
          </a:lstStyle>
          <a:p>
            <a:pPr>
              <a:defRPr/>
            </a:pPr>
            <a:endParaRPr lang="en-US"/>
          </a:p>
        </p:txBody>
      </p:sp>
      <p:sp>
        <p:nvSpPr>
          <p:cNvPr id="9" name="Slide Number Placeholder 4"/>
          <p:cNvSpPr>
            <a:spLocks noGrp="1"/>
          </p:cNvSpPr>
          <p:nvPr>
            <p:ph type="sldNum" sz="quarter" idx="12"/>
          </p:nvPr>
        </p:nvSpPr>
        <p:spPr/>
        <p:txBody>
          <a:bodyPr/>
          <a:lstStyle>
            <a:lvl1pPr>
              <a:defRPr/>
            </a:lvl1pPr>
          </a:lstStyle>
          <a:p>
            <a:pPr>
              <a:defRPr/>
            </a:pPr>
            <a:fld id="{FE9779FE-DB98-4A33-8992-3162551015D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Date Placeholder 24"/>
          <p:cNvSpPr>
            <a:spLocks noGrp="1"/>
          </p:cNvSpPr>
          <p:nvPr>
            <p:ph type="dt" sz="half" idx="10"/>
          </p:nvPr>
        </p:nvSpPr>
        <p:spPr/>
        <p:txBody>
          <a:bodyPr/>
          <a:lstStyle>
            <a:lvl1pPr>
              <a:defRPr/>
            </a:lvl1pPr>
          </a:lstStyle>
          <a:p>
            <a:pPr>
              <a:defRPr/>
            </a:pPr>
            <a:endParaRPr lang="en-US"/>
          </a:p>
        </p:txBody>
      </p:sp>
      <p:sp>
        <p:nvSpPr>
          <p:cNvPr id="4" name="Footer Placeholder 17"/>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AF6FF9CB-D3AB-451F-AB3A-6CB306D01FA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ounded Rectangle 1"/>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3" name="Date Placeholder 1"/>
          <p:cNvSpPr>
            <a:spLocks noGrp="1"/>
          </p:cNvSpPr>
          <p:nvPr>
            <p:ph type="dt" sz="half" idx="10"/>
          </p:nvPr>
        </p:nvSpPr>
        <p:spPr/>
        <p:txBody>
          <a:bodyPr/>
          <a:lstStyle>
            <a:lvl1pPr>
              <a:defRPr/>
            </a:lvl1pPr>
            <a:extLst/>
          </a:lstStyle>
          <a:p>
            <a:pPr>
              <a:defRPr/>
            </a:pPr>
            <a:endParaRPr lang="en-US"/>
          </a:p>
        </p:txBody>
      </p:sp>
      <p:sp>
        <p:nvSpPr>
          <p:cNvPr id="4" name="Footer Placeholder 2"/>
          <p:cNvSpPr>
            <a:spLocks noGrp="1"/>
          </p:cNvSpPr>
          <p:nvPr>
            <p:ph type="ftr" sz="quarter" idx="11"/>
          </p:nvPr>
        </p:nvSpPr>
        <p:spPr/>
        <p:txBody>
          <a:bodyPr/>
          <a:lstStyle>
            <a:lvl1pPr>
              <a:defRPr/>
            </a:lvl1pPr>
            <a:extLst/>
          </a:lstStyle>
          <a:p>
            <a:pPr>
              <a:defRPr/>
            </a:pPr>
            <a:endParaRPr lang="en-US"/>
          </a:p>
        </p:txBody>
      </p:sp>
      <p:sp>
        <p:nvSpPr>
          <p:cNvPr id="5" name="Slide Number Placeholder 3"/>
          <p:cNvSpPr>
            <a:spLocks noGrp="1"/>
          </p:cNvSpPr>
          <p:nvPr>
            <p:ph type="sldNum" sz="quarter" idx="12"/>
          </p:nvPr>
        </p:nvSpPr>
        <p:spPr/>
        <p:txBody>
          <a:bodyPr/>
          <a:lstStyle>
            <a:lvl1pPr>
              <a:defRPr/>
            </a:lvl1pPr>
            <a:extLst/>
          </a:lstStyle>
          <a:p>
            <a:pPr>
              <a:defRPr/>
            </a:pPr>
            <a:fld id="{73F58827-2654-4B63-AA70-509C4E0EA20E}"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lstStyle>
            <a:lvl1pPr algn="l">
              <a:buNone/>
              <a:defRPr sz="2200" b="1">
                <a:solidFill>
                  <a:schemeClr val="accent1"/>
                </a:solidFill>
              </a:defRPr>
            </a:lvl1pPr>
            <a:extLst/>
          </a:lstStyle>
          <a:p>
            <a:r>
              <a:rPr lang="en-US" smtClean="0"/>
              <a:t>Click to edit Master title style</a:t>
            </a:r>
            <a:endParaRPr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4"/>
          <p:cNvSpPr>
            <a:spLocks noGrp="1"/>
          </p:cNvSpPr>
          <p:nvPr>
            <p:ph type="dt" sz="half" idx="10"/>
          </p:nvPr>
        </p:nvSpPr>
        <p:spPr/>
        <p:txBody>
          <a:bodyPr/>
          <a:lstStyle>
            <a:lvl1pPr>
              <a:defRPr/>
            </a:lvl1pPr>
          </a:lstStyle>
          <a:p>
            <a:pPr>
              <a:defRPr/>
            </a:pPr>
            <a:endParaRPr lang="en-US"/>
          </a:p>
        </p:txBody>
      </p:sp>
      <p:sp>
        <p:nvSpPr>
          <p:cNvPr id="6" name="Footer Placeholder 17"/>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30AC5054-FE72-4009-B650-60828B5B162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ounded Rectangle 4"/>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6" name="Round Single Corner Rectangle 5"/>
          <p:cNvSpPr/>
          <p:nvPr/>
        </p:nvSpPr>
        <p:spPr>
          <a:xfrm>
            <a:off x="6400800" y="433388"/>
            <a:ext cx="2324100"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lang="en-US" smtClean="0"/>
              <a:t>Click to edit Master title style</a:t>
            </a:r>
            <a:endParaRPr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normAutofit/>
          </a:bodyPr>
          <a:lstStyle>
            <a:lvl1pPr marL="0" indent="0">
              <a:buNone/>
              <a:defRPr sz="3200"/>
            </a:lvl1pPr>
            <a:extLst/>
          </a:lstStyle>
          <a:p>
            <a:pPr lvl="0"/>
            <a:r>
              <a:rPr lang="en-US" noProof="0" smtClean="0"/>
              <a:t>Click icon to add picture</a:t>
            </a:r>
            <a:endParaRPr lang="en-US" noProof="0"/>
          </a:p>
        </p:txBody>
      </p:sp>
      <p:sp>
        <p:nvSpPr>
          <p:cNvPr id="7" name="Date Placeholder 4"/>
          <p:cNvSpPr>
            <a:spLocks noGrp="1"/>
          </p:cNvSpPr>
          <p:nvPr>
            <p:ph type="dt" sz="half" idx="10"/>
          </p:nvPr>
        </p:nvSpPr>
        <p:spPr/>
        <p:txBody>
          <a:bodyPr/>
          <a:lstStyle>
            <a:lvl1pPr>
              <a:defRPr/>
            </a:lvl1pPr>
            <a:extLst/>
          </a:lstStyle>
          <a:p>
            <a:pPr>
              <a:defRPr/>
            </a:pPr>
            <a:endParaRPr lang="en-US"/>
          </a:p>
        </p:txBody>
      </p:sp>
      <p:sp>
        <p:nvSpPr>
          <p:cNvPr id="8" name="Footer Placeholder 5"/>
          <p:cNvSpPr>
            <a:spLocks noGrp="1"/>
          </p:cNvSpPr>
          <p:nvPr>
            <p:ph type="ftr" sz="quarter" idx="11"/>
          </p:nvPr>
        </p:nvSpPr>
        <p:spPr/>
        <p:txBody>
          <a:bodyPr/>
          <a:lstStyle>
            <a:lvl1pPr>
              <a:defRPr/>
            </a:lvl1pPr>
            <a:extLst/>
          </a:lstStyle>
          <a:p>
            <a:pPr>
              <a:defRPr/>
            </a:pPr>
            <a:endParaRPr lang="en-US"/>
          </a:p>
        </p:txBody>
      </p:sp>
      <p:sp>
        <p:nvSpPr>
          <p:cNvPr id="9" name="Slide Number Placeholder 6"/>
          <p:cNvSpPr>
            <a:spLocks noGrp="1"/>
          </p:cNvSpPr>
          <p:nvPr>
            <p:ph type="sldNum" sz="quarter" idx="12"/>
          </p:nvPr>
        </p:nvSpPr>
        <p:spPr/>
        <p:txBody>
          <a:bodyPr/>
          <a:lstStyle>
            <a:lvl1pPr>
              <a:defRPr/>
            </a:lvl1pPr>
            <a:extLst/>
          </a:lstStyle>
          <a:p>
            <a:pPr>
              <a:defRPr/>
            </a:pPr>
            <a:fld id="{D2EF4753-D23A-4E9D-9E72-02E5C0F3B0D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endParaRPr lang="en-US"/>
          </a:p>
        </p:txBody>
      </p:sp>
      <p:sp>
        <p:nvSpPr>
          <p:cNvPr id="5" name="Footer Placeholder 1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17CF5A17-1F34-4E8E-8152-A3BF8201800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endParaRPr lang="en-US"/>
          </a:p>
        </p:txBody>
      </p:sp>
      <p:sp>
        <p:nvSpPr>
          <p:cNvPr id="5" name="Footer Placeholder 1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18BACDAA-F57C-4942-BA8E-E8C7F6C12D7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13" name="Title Placeholder 12"/>
          <p:cNvSpPr>
            <a:spLocks noGrp="1"/>
          </p:cNvSpPr>
          <p:nvPr>
            <p:ph type="title"/>
          </p:nvPr>
        </p:nvSpPr>
        <p:spPr>
          <a:xfrm>
            <a:off x="503238" y="4986338"/>
            <a:ext cx="8183562" cy="1050925"/>
          </a:xfrm>
          <a:prstGeom prst="rect">
            <a:avLst/>
          </a:prstGeom>
        </p:spPr>
        <p:txBody>
          <a:bodyPr vert="horz" anchor="b">
            <a:normAutofit/>
          </a:bodyPr>
          <a:lstStyle>
            <a:extLst/>
          </a:lstStyle>
          <a:p>
            <a:r>
              <a:rPr lang="en-US" smtClean="0"/>
              <a:t>Click to edit Master title style</a:t>
            </a:r>
            <a:endParaRPr lang="en-US"/>
          </a:p>
        </p:txBody>
      </p:sp>
      <p:sp>
        <p:nvSpPr>
          <p:cNvPr id="7175" name="Text Placeholder 3"/>
          <p:cNvSpPr>
            <a:spLocks noGrp="1"/>
          </p:cNvSpPr>
          <p:nvPr>
            <p:ph type="body" idx="1"/>
          </p:nvPr>
        </p:nvSpPr>
        <p:spPr bwMode="auto">
          <a:xfrm>
            <a:off x="503238" y="530225"/>
            <a:ext cx="8183562" cy="4187825"/>
          </a:xfrm>
          <a:prstGeom prst="rect">
            <a:avLst/>
          </a:prstGeom>
          <a:noFill/>
          <a:ln w="9525">
            <a:noFill/>
            <a:miter lim="800000"/>
            <a:headEnd/>
            <a:tailEnd/>
          </a:ln>
        </p:spPr>
        <p:txBody>
          <a:bodyPr vert="horz" wrap="square" lIns="182880" tIns="9144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5" name="Date Placeholder 24"/>
          <p:cNvSpPr>
            <a:spLocks noGrp="1"/>
          </p:cNvSpPr>
          <p:nvPr>
            <p:ph type="dt" sz="half" idx="2"/>
          </p:nvPr>
        </p:nvSpPr>
        <p:spPr>
          <a:xfrm>
            <a:off x="3776663"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endParaRPr lang="en-US"/>
          </a:p>
        </p:txBody>
      </p:sp>
      <p:sp>
        <p:nvSpPr>
          <p:cNvPr id="18" name="Footer Placeholder 17"/>
          <p:cNvSpPr>
            <a:spLocks noGrp="1"/>
          </p:cNvSpPr>
          <p:nvPr>
            <p:ph type="ftr" sz="quarter" idx="3"/>
          </p:nvPr>
        </p:nvSpPr>
        <p:spPr>
          <a:xfrm>
            <a:off x="6062663"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pPr>
              <a:defRPr/>
            </a:pPr>
            <a:endParaRPr lang="en-US"/>
          </a:p>
        </p:txBody>
      </p:sp>
      <p:sp>
        <p:nvSpPr>
          <p:cNvPr id="5" name="Slide Number Placeholder 4"/>
          <p:cNvSpPr>
            <a:spLocks noGrp="1"/>
          </p:cNvSpPr>
          <p:nvPr>
            <p:ph type="sldNum" sz="quarter" idx="4"/>
          </p:nvPr>
        </p:nvSpPr>
        <p:spPr>
          <a:xfrm>
            <a:off x="8348663"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fld id="{55FCAD79-F08E-4346-A222-EF781CF2E26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273" r:id="rId1"/>
    <p:sldLayoutId id="2147484233" r:id="rId2"/>
    <p:sldLayoutId id="2147484274" r:id="rId3"/>
    <p:sldLayoutId id="2147484234" r:id="rId4"/>
    <p:sldLayoutId id="2147484235" r:id="rId5"/>
    <p:sldLayoutId id="2147484236" r:id="rId6"/>
    <p:sldLayoutId id="2147484275" r:id="rId7"/>
    <p:sldLayoutId id="2147484237" r:id="rId8"/>
    <p:sldLayoutId id="2147484276" r:id="rId9"/>
    <p:sldLayoutId id="2147484238" r:id="rId10"/>
    <p:sldLayoutId id="2147484239" r:id="rId11"/>
  </p:sldLayoutIdLst>
  <p:txStyles>
    <p:title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p:titleStyle>
    <p:bodyStyle>
      <a:lvl1pPr marL="265113" indent="-265113" algn="l" rtl="0" eaLnBrk="0" fontAlgn="base" hangingPunct="0">
        <a:spcBef>
          <a:spcPts val="250"/>
        </a:spcBef>
        <a:spcAft>
          <a:spcPct val="0"/>
        </a:spcAft>
        <a:buClr>
          <a:schemeClr val="accent1"/>
        </a:buClr>
        <a:buSzPct val="80000"/>
        <a:buFont typeface="Wingdings 2"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bin"/><Relationship Id="rId7"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oleObject" Target="../embeddings/oleObject2.bin"/><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7.xml"/><Relationship Id="rId1" Type="http://schemas.openxmlformats.org/officeDocument/2006/relationships/video" Target="file:///D:\Documents%20and%20Settings\rajesh_g\Desktop\swf\spacegp\sym3drotation%5b1%5d.wmv" TargetMode="External"/><Relationship Id="rId5" Type="http://schemas.openxmlformats.org/officeDocument/2006/relationships/image" Target="../media/image23.jpe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4.jpeg"/><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7.xml"/><Relationship Id="rId1" Type="http://schemas.openxmlformats.org/officeDocument/2006/relationships/video" Target="file:///D:\Documents%20and%20Settings\rajesh_g\Desktop\swf\spacegp\symtwofoldscrew%5b1%5d.wmv" TargetMode="External"/><Relationship Id="rId5" Type="http://schemas.openxmlformats.org/officeDocument/2006/relationships/image" Target="../media/image21.jpeg"/><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oleObject" Target="../embeddings/oleObject10.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oleObject" Target="../embeddings/oleObject9.bin"/><Relationship Id="rId2" Type="http://schemas.openxmlformats.org/officeDocument/2006/relationships/slideLayout" Target="../slideLayouts/slideLayout7.xml"/><Relationship Id="rId16" Type="http://schemas.openxmlformats.org/officeDocument/2006/relationships/oleObject" Target="../embeddings/oleObject13.bin"/><Relationship Id="rId1" Type="http://schemas.openxmlformats.org/officeDocument/2006/relationships/vmlDrawing" Target="../drawings/vmlDrawing2.vml"/><Relationship Id="rId6" Type="http://schemas.openxmlformats.org/officeDocument/2006/relationships/image" Target="../media/image37.png"/><Relationship Id="rId11" Type="http://schemas.openxmlformats.org/officeDocument/2006/relationships/image" Target="../media/image38.png"/><Relationship Id="rId5" Type="http://schemas.openxmlformats.org/officeDocument/2006/relationships/image" Target="../media/image36.png"/><Relationship Id="rId15" Type="http://schemas.openxmlformats.org/officeDocument/2006/relationships/oleObject" Target="../embeddings/oleObject12.bin"/><Relationship Id="rId10" Type="http://schemas.openxmlformats.org/officeDocument/2006/relationships/oleObject" Target="../embeddings/oleObject8.bin"/><Relationship Id="rId4" Type="http://schemas.openxmlformats.org/officeDocument/2006/relationships/oleObject" Target="../embeddings/oleObject4.bin"/><Relationship Id="rId9" Type="http://schemas.openxmlformats.org/officeDocument/2006/relationships/oleObject" Target="../embeddings/oleObject7.bin"/><Relationship Id="rId14" Type="http://schemas.openxmlformats.org/officeDocument/2006/relationships/oleObject" Target="../embeddings/oleObject11.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oleObject" Target="../embeddings/oleObject21.bin"/><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oleObject" Target="../embeddings/oleObject20.bin"/><Relationship Id="rId2" Type="http://schemas.openxmlformats.org/officeDocument/2006/relationships/slideLayout" Target="../slideLayouts/slideLayout7.xml"/><Relationship Id="rId16" Type="http://schemas.openxmlformats.org/officeDocument/2006/relationships/oleObject" Target="../embeddings/oleObject24.bin"/><Relationship Id="rId1" Type="http://schemas.openxmlformats.org/officeDocument/2006/relationships/vmlDrawing" Target="../drawings/vmlDrawing3.vml"/><Relationship Id="rId6" Type="http://schemas.openxmlformats.org/officeDocument/2006/relationships/image" Target="../media/image37.png"/><Relationship Id="rId11" Type="http://schemas.openxmlformats.org/officeDocument/2006/relationships/image" Target="../media/image38.png"/><Relationship Id="rId5" Type="http://schemas.openxmlformats.org/officeDocument/2006/relationships/image" Target="../media/image36.png"/><Relationship Id="rId15" Type="http://schemas.openxmlformats.org/officeDocument/2006/relationships/oleObject" Target="../embeddings/oleObject23.bin"/><Relationship Id="rId10" Type="http://schemas.openxmlformats.org/officeDocument/2006/relationships/oleObject" Target="../embeddings/oleObject19.bin"/><Relationship Id="rId4" Type="http://schemas.openxmlformats.org/officeDocument/2006/relationships/oleObject" Target="../embeddings/oleObject15.bin"/><Relationship Id="rId9" Type="http://schemas.openxmlformats.org/officeDocument/2006/relationships/oleObject" Target="../embeddings/oleObject18.bin"/><Relationship Id="rId14" Type="http://schemas.openxmlformats.org/officeDocument/2006/relationships/oleObject" Target="../embeddings/oleObject22.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oleObject" Target="../embeddings/oleObject25.bin"/></Relationships>
</file>

<file path=ppt/slides/_rels/slide2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oleObject" Target="../embeddings/oleObject27.bin"/><Relationship Id="rId4" Type="http://schemas.openxmlformats.org/officeDocument/2006/relationships/oleObject" Target="../embeddings/oleObject26.bin"/></Relationships>
</file>

<file path=ppt/slides/_rels/slide3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30.bin"/><Relationship Id="rId5" Type="http://schemas.openxmlformats.org/officeDocument/2006/relationships/oleObject" Target="../embeddings/oleObject29.bin"/><Relationship Id="rId4" Type="http://schemas.openxmlformats.org/officeDocument/2006/relationships/oleObject" Target="../embeddings/oleObject28.bin"/></Relationships>
</file>

<file path=ppt/slides/_rels/slide31.xml.rels><?xml version="1.0" encoding="UTF-8" standalone="yes"?>
<Relationships xmlns="http://schemas.openxmlformats.org/package/2006/relationships"><Relationship Id="rId3" Type="http://schemas.openxmlformats.org/officeDocument/2006/relationships/image" Target="../media/image46.jpeg"/><Relationship Id="rId7"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33.bin"/><Relationship Id="rId5" Type="http://schemas.openxmlformats.org/officeDocument/2006/relationships/oleObject" Target="../embeddings/oleObject32.bin"/><Relationship Id="rId4" Type="http://schemas.openxmlformats.org/officeDocument/2006/relationships/oleObject" Target="../embeddings/oleObject3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image" Target="../media/image49.jpeg"/><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7.bin"/><Relationship Id="rId5" Type="http://schemas.openxmlformats.org/officeDocument/2006/relationships/oleObject" Target="../embeddings/oleObject36.bin"/><Relationship Id="rId4" Type="http://schemas.openxmlformats.org/officeDocument/2006/relationships/oleObject" Target="../embeddings/oleObject35.bin"/><Relationship Id="rId9" Type="http://schemas.openxmlformats.org/officeDocument/2006/relationships/oleObject" Target="../embeddings/oleObject40.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51.jpeg"/><Relationship Id="rId7"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43.bin"/><Relationship Id="rId5" Type="http://schemas.openxmlformats.org/officeDocument/2006/relationships/oleObject" Target="../embeddings/oleObject42.bin"/><Relationship Id="rId10" Type="http://schemas.openxmlformats.org/officeDocument/2006/relationships/oleObject" Target="../embeddings/oleObject47.bin"/><Relationship Id="rId4" Type="http://schemas.openxmlformats.org/officeDocument/2006/relationships/oleObject" Target="../embeddings/oleObject41.bin"/><Relationship Id="rId9" Type="http://schemas.openxmlformats.org/officeDocument/2006/relationships/oleObject" Target="../embeddings/oleObject46.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image" Target="../media/image52.jpeg"/><Relationship Id="rId7" Type="http://schemas.openxmlformats.org/officeDocument/2006/relationships/oleObject" Target="../embeddings/oleObject51.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50.bin"/><Relationship Id="rId11" Type="http://schemas.openxmlformats.org/officeDocument/2006/relationships/oleObject" Target="../embeddings/oleObject55.bin"/><Relationship Id="rId5" Type="http://schemas.openxmlformats.org/officeDocument/2006/relationships/oleObject" Target="../embeddings/oleObject49.bin"/><Relationship Id="rId10" Type="http://schemas.openxmlformats.org/officeDocument/2006/relationships/oleObject" Target="../embeddings/oleObject54.bin"/><Relationship Id="rId4" Type="http://schemas.openxmlformats.org/officeDocument/2006/relationships/oleObject" Target="../embeddings/oleObject48.bin"/><Relationship Id="rId9" Type="http://schemas.openxmlformats.org/officeDocument/2006/relationships/oleObject" Target="../embeddings/oleObject53.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image" Target="../media/image54.jpeg"/><Relationship Id="rId7" Type="http://schemas.openxmlformats.org/officeDocument/2006/relationships/oleObject" Target="../embeddings/oleObject59.bin"/><Relationship Id="rId12"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58.bin"/><Relationship Id="rId11" Type="http://schemas.openxmlformats.org/officeDocument/2006/relationships/oleObject" Target="../embeddings/oleObject63.bin"/><Relationship Id="rId5" Type="http://schemas.openxmlformats.org/officeDocument/2006/relationships/oleObject" Target="../embeddings/oleObject57.bin"/><Relationship Id="rId10" Type="http://schemas.openxmlformats.org/officeDocument/2006/relationships/oleObject" Target="../embeddings/oleObject62.bin"/><Relationship Id="rId4" Type="http://schemas.openxmlformats.org/officeDocument/2006/relationships/oleObject" Target="../embeddings/oleObject56.bin"/><Relationship Id="rId9" Type="http://schemas.openxmlformats.org/officeDocument/2006/relationships/oleObject" Target="../embeddings/oleObject61.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oleObject" Target="../embeddings/oleObject74.bin"/><Relationship Id="rId3" Type="http://schemas.openxmlformats.org/officeDocument/2006/relationships/image" Target="../media/image47.jpeg"/><Relationship Id="rId7" Type="http://schemas.openxmlformats.org/officeDocument/2006/relationships/oleObject" Target="../embeddings/oleObject68.bin"/><Relationship Id="rId12"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67.bin"/><Relationship Id="rId11" Type="http://schemas.openxmlformats.org/officeDocument/2006/relationships/oleObject" Target="../embeddings/oleObject72.bin"/><Relationship Id="rId5" Type="http://schemas.openxmlformats.org/officeDocument/2006/relationships/oleObject" Target="../embeddings/oleObject66.bin"/><Relationship Id="rId10" Type="http://schemas.openxmlformats.org/officeDocument/2006/relationships/oleObject" Target="../embeddings/oleObject71.bin"/><Relationship Id="rId4" Type="http://schemas.openxmlformats.org/officeDocument/2006/relationships/oleObject" Target="../embeddings/oleObject65.bin"/><Relationship Id="rId9" Type="http://schemas.openxmlformats.org/officeDocument/2006/relationships/oleObject" Target="../embeddings/oleObject70.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oleObject" Target="../embeddings/oleObject75.bin"/><Relationship Id="rId4" Type="http://schemas.openxmlformats.org/officeDocument/2006/relationships/image" Target="../media/image57.jpeg"/></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image61.jpeg"/><Relationship Id="rId7"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77.bin"/><Relationship Id="rId5" Type="http://schemas.openxmlformats.org/officeDocument/2006/relationships/oleObject" Target="../embeddings/oleObject76.bin"/><Relationship Id="rId4" Type="http://schemas.openxmlformats.org/officeDocument/2006/relationships/image" Target="../media/image57.jpeg"/></Relationships>
</file>

<file path=ppt/slides/_rels/slide43.xml.rels><?xml version="1.0" encoding="UTF-8" standalone="yes"?>
<Relationships xmlns="http://schemas.openxmlformats.org/package/2006/relationships"><Relationship Id="rId3" Type="http://schemas.openxmlformats.org/officeDocument/2006/relationships/image" Target="../media/image63.jpeg"/><Relationship Id="rId7"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81.bin"/><Relationship Id="rId5" Type="http://schemas.openxmlformats.org/officeDocument/2006/relationships/oleObject" Target="../embeddings/oleObject80.bin"/><Relationship Id="rId4" Type="http://schemas.openxmlformats.org/officeDocument/2006/relationships/image" Target="../media/image57.jpeg"/></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image" Target="../media/image65.jpeg"/><Relationship Id="rId7"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84.bin"/><Relationship Id="rId5" Type="http://schemas.openxmlformats.org/officeDocument/2006/relationships/oleObject" Target="../embeddings/oleObject83.bin"/><Relationship Id="rId4" Type="http://schemas.openxmlformats.org/officeDocument/2006/relationships/image" Target="../media/image57.jpeg"/></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image" Target="../media/image67.jpeg"/><Relationship Id="rId7"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88.bin"/><Relationship Id="rId5" Type="http://schemas.openxmlformats.org/officeDocument/2006/relationships/oleObject" Target="../embeddings/oleObject87.bin"/><Relationship Id="rId4" Type="http://schemas.openxmlformats.org/officeDocument/2006/relationships/image" Target="../media/image57.jpeg"/><Relationship Id="rId9" Type="http://schemas.openxmlformats.org/officeDocument/2006/relationships/oleObject" Target="../embeddings/oleObject91.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95.bin"/><Relationship Id="rId3" Type="http://schemas.openxmlformats.org/officeDocument/2006/relationships/image" Target="../media/image67.jpeg"/><Relationship Id="rId7" Type="http://schemas.openxmlformats.org/officeDocument/2006/relationships/oleObject" Target="../embeddings/oleObject94.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93.bin"/><Relationship Id="rId5" Type="http://schemas.openxmlformats.org/officeDocument/2006/relationships/oleObject" Target="../embeddings/oleObject92.bin"/><Relationship Id="rId4" Type="http://schemas.openxmlformats.org/officeDocument/2006/relationships/image" Target="../media/image57.jpeg"/><Relationship Id="rId9" Type="http://schemas.openxmlformats.org/officeDocument/2006/relationships/oleObject" Target="../embeddings/oleObject96.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00.bin"/><Relationship Id="rId3" Type="http://schemas.openxmlformats.org/officeDocument/2006/relationships/image" Target="../media/image68.jpeg"/><Relationship Id="rId7" Type="http://schemas.openxmlformats.org/officeDocument/2006/relationships/oleObject" Target="../embeddings/oleObject99.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98.bin"/><Relationship Id="rId5" Type="http://schemas.openxmlformats.org/officeDocument/2006/relationships/oleObject" Target="../embeddings/oleObject97.bin"/><Relationship Id="rId4" Type="http://schemas.openxmlformats.org/officeDocument/2006/relationships/image" Target="../media/image57.jpeg"/><Relationship Id="rId9" Type="http://schemas.openxmlformats.org/officeDocument/2006/relationships/oleObject" Target="../embeddings/oleObject101.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05.bin"/><Relationship Id="rId3" Type="http://schemas.openxmlformats.org/officeDocument/2006/relationships/image" Target="../media/image68.jpeg"/><Relationship Id="rId7" Type="http://schemas.openxmlformats.org/officeDocument/2006/relationships/oleObject" Target="../embeddings/oleObject104.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03.bin"/><Relationship Id="rId5" Type="http://schemas.openxmlformats.org/officeDocument/2006/relationships/oleObject" Target="../embeddings/oleObject102.bin"/><Relationship Id="rId4" Type="http://schemas.openxmlformats.org/officeDocument/2006/relationships/image" Target="../media/image57.jpeg"/><Relationship Id="rId9" Type="http://schemas.openxmlformats.org/officeDocument/2006/relationships/oleObject" Target="../embeddings/oleObject106.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10.bin"/><Relationship Id="rId3" Type="http://schemas.openxmlformats.org/officeDocument/2006/relationships/image" Target="../media/image70.jpeg"/><Relationship Id="rId7"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08.bin"/><Relationship Id="rId5" Type="http://schemas.openxmlformats.org/officeDocument/2006/relationships/oleObject" Target="../embeddings/oleObject107.bin"/><Relationship Id="rId10" Type="http://schemas.openxmlformats.org/officeDocument/2006/relationships/oleObject" Target="../embeddings/oleObject112.bin"/><Relationship Id="rId4" Type="http://schemas.openxmlformats.org/officeDocument/2006/relationships/image" Target="../media/image57.jpeg"/><Relationship Id="rId9" Type="http://schemas.openxmlformats.org/officeDocument/2006/relationships/oleObject" Target="../embeddings/oleObject111.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116.bin"/><Relationship Id="rId3" Type="http://schemas.openxmlformats.org/officeDocument/2006/relationships/image" Target="../media/image70.jpeg"/><Relationship Id="rId7" Type="http://schemas.openxmlformats.org/officeDocument/2006/relationships/oleObject" Target="../embeddings/oleObject115.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114.bin"/><Relationship Id="rId5" Type="http://schemas.openxmlformats.org/officeDocument/2006/relationships/oleObject" Target="../embeddings/oleObject113.bin"/><Relationship Id="rId10" Type="http://schemas.openxmlformats.org/officeDocument/2006/relationships/oleObject" Target="../embeddings/oleObject118.bin"/><Relationship Id="rId4" Type="http://schemas.openxmlformats.org/officeDocument/2006/relationships/image" Target="../media/image57.jpeg"/><Relationship Id="rId9" Type="http://schemas.openxmlformats.org/officeDocument/2006/relationships/oleObject" Target="../embeddings/oleObject117.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22.bin"/><Relationship Id="rId3" Type="http://schemas.openxmlformats.org/officeDocument/2006/relationships/image" Target="../media/image70.jpeg"/><Relationship Id="rId7" Type="http://schemas.openxmlformats.org/officeDocument/2006/relationships/oleObject" Target="../embeddings/oleObject121.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120.bin"/><Relationship Id="rId5" Type="http://schemas.openxmlformats.org/officeDocument/2006/relationships/oleObject" Target="../embeddings/oleObject119.bin"/><Relationship Id="rId10" Type="http://schemas.openxmlformats.org/officeDocument/2006/relationships/oleObject" Target="../embeddings/oleObject124.bin"/><Relationship Id="rId4" Type="http://schemas.openxmlformats.org/officeDocument/2006/relationships/image" Target="../media/image57.jpeg"/><Relationship Id="rId9" Type="http://schemas.openxmlformats.org/officeDocument/2006/relationships/oleObject" Target="../embeddings/oleObject123.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28.bin"/><Relationship Id="rId3" Type="http://schemas.openxmlformats.org/officeDocument/2006/relationships/image" Target="../media/image75.jpeg"/><Relationship Id="rId7" Type="http://schemas.openxmlformats.org/officeDocument/2006/relationships/oleObject" Target="../embeddings/oleObject127.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126.bin"/><Relationship Id="rId11" Type="http://schemas.openxmlformats.org/officeDocument/2006/relationships/oleObject" Target="../embeddings/oleObject131.bin"/><Relationship Id="rId5" Type="http://schemas.openxmlformats.org/officeDocument/2006/relationships/oleObject" Target="../embeddings/oleObject125.bin"/><Relationship Id="rId10" Type="http://schemas.openxmlformats.org/officeDocument/2006/relationships/oleObject" Target="../embeddings/oleObject130.bin"/><Relationship Id="rId4" Type="http://schemas.openxmlformats.org/officeDocument/2006/relationships/image" Target="../media/image57.jpeg"/><Relationship Id="rId9" Type="http://schemas.openxmlformats.org/officeDocument/2006/relationships/oleObject" Target="../embeddings/oleObject129.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35.bin"/><Relationship Id="rId3" Type="http://schemas.openxmlformats.org/officeDocument/2006/relationships/image" Target="../media/image75.jpeg"/><Relationship Id="rId7" Type="http://schemas.openxmlformats.org/officeDocument/2006/relationships/oleObject" Target="../embeddings/oleObject134.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33.bin"/><Relationship Id="rId11" Type="http://schemas.openxmlformats.org/officeDocument/2006/relationships/oleObject" Target="../embeddings/oleObject138.bin"/><Relationship Id="rId5" Type="http://schemas.openxmlformats.org/officeDocument/2006/relationships/oleObject" Target="../embeddings/oleObject132.bin"/><Relationship Id="rId10" Type="http://schemas.openxmlformats.org/officeDocument/2006/relationships/oleObject" Target="../embeddings/oleObject137.bin"/><Relationship Id="rId4" Type="http://schemas.openxmlformats.org/officeDocument/2006/relationships/image" Target="../media/image57.jpeg"/><Relationship Id="rId9" Type="http://schemas.openxmlformats.org/officeDocument/2006/relationships/oleObject" Target="../embeddings/oleObject136.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42.bin"/><Relationship Id="rId3" Type="http://schemas.openxmlformats.org/officeDocument/2006/relationships/image" Target="../media/image56.jpeg"/><Relationship Id="rId7" Type="http://schemas.openxmlformats.org/officeDocument/2006/relationships/oleObject" Target="../embeddings/oleObject141.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140.bin"/><Relationship Id="rId11" Type="http://schemas.openxmlformats.org/officeDocument/2006/relationships/oleObject" Target="../embeddings/oleObject145.bin"/><Relationship Id="rId5" Type="http://schemas.openxmlformats.org/officeDocument/2006/relationships/oleObject" Target="../embeddings/oleObject139.bin"/><Relationship Id="rId10" Type="http://schemas.openxmlformats.org/officeDocument/2006/relationships/oleObject" Target="../embeddings/oleObject144.bin"/><Relationship Id="rId4" Type="http://schemas.openxmlformats.org/officeDocument/2006/relationships/image" Target="../media/image57.jpeg"/><Relationship Id="rId9" Type="http://schemas.openxmlformats.org/officeDocument/2006/relationships/oleObject" Target="../embeddings/oleObject143.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49.bin"/><Relationship Id="rId3" Type="http://schemas.openxmlformats.org/officeDocument/2006/relationships/image" Target="../media/image56.jpeg"/><Relationship Id="rId7" Type="http://schemas.openxmlformats.org/officeDocument/2006/relationships/oleObject" Target="../embeddings/oleObject148.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147.bin"/><Relationship Id="rId11" Type="http://schemas.openxmlformats.org/officeDocument/2006/relationships/oleObject" Target="../embeddings/oleObject152.bin"/><Relationship Id="rId5" Type="http://schemas.openxmlformats.org/officeDocument/2006/relationships/oleObject" Target="../embeddings/oleObject146.bin"/><Relationship Id="rId10" Type="http://schemas.openxmlformats.org/officeDocument/2006/relationships/oleObject" Target="../embeddings/oleObject151.bin"/><Relationship Id="rId4" Type="http://schemas.openxmlformats.org/officeDocument/2006/relationships/image" Target="../media/image57.jpeg"/><Relationship Id="rId9" Type="http://schemas.openxmlformats.org/officeDocument/2006/relationships/oleObject" Target="../embeddings/oleObject150.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w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53.bin"/><Relationship Id="rId3" Type="http://schemas.openxmlformats.org/officeDocument/2006/relationships/control" Target="../activeX/activeX1.xml"/><Relationship Id="rId7" Type="http://schemas.openxmlformats.org/officeDocument/2006/relationships/image" Target="../media/image27.jpeg"/><Relationship Id="rId2" Type="http://schemas.openxmlformats.org/officeDocument/2006/relationships/video" Target="file:///D:\Documents%20and%20Settings\rajesh_g\Desktop\swf\spacegp\symtwofoldscrew%5b1%5d.wmv" TargetMode="External"/><Relationship Id="rId1" Type="http://schemas.openxmlformats.org/officeDocument/2006/relationships/vmlDrawing" Target="../drawings/vmlDrawing28.vml"/><Relationship Id="rId6" Type="http://schemas.openxmlformats.org/officeDocument/2006/relationships/image" Target="../media/image26.png"/><Relationship Id="rId11" Type="http://schemas.openxmlformats.org/officeDocument/2006/relationships/oleObject" Target="../embeddings/oleObject156.bin"/><Relationship Id="rId5" Type="http://schemas.openxmlformats.org/officeDocument/2006/relationships/image" Target="../media/image88.jpeg"/><Relationship Id="rId10" Type="http://schemas.openxmlformats.org/officeDocument/2006/relationships/oleObject" Target="../embeddings/oleObject155.bin"/><Relationship Id="rId4" Type="http://schemas.openxmlformats.org/officeDocument/2006/relationships/slideLayout" Target="../slideLayouts/slideLayout7.xml"/><Relationship Id="rId9" Type="http://schemas.openxmlformats.org/officeDocument/2006/relationships/oleObject" Target="../embeddings/oleObject154.bin"/></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D:\Documents%20and%20Settings\rajesh_g\Desktop\swf\spacegp\symcglide2%5b1%5d.wmv" TargetMode="External"/><Relationship Id="rId1" Type="http://schemas.openxmlformats.org/officeDocument/2006/relationships/vmlDrawing" Target="../drawings/vmlDrawing29.vml"/><Relationship Id="rId6" Type="http://schemas.openxmlformats.org/officeDocument/2006/relationships/oleObject" Target="../embeddings/oleObject157.bin"/><Relationship Id="rId5" Type="http://schemas.openxmlformats.org/officeDocument/2006/relationships/image" Target="../media/image91.png"/><Relationship Id="rId4" Type="http://schemas.openxmlformats.org/officeDocument/2006/relationships/image" Target="../media/image90.jpeg"/></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60.bin"/><Relationship Id="rId3" Type="http://schemas.openxmlformats.org/officeDocument/2006/relationships/slideLayout" Target="../slideLayouts/slideLayout7.xml"/><Relationship Id="rId7" Type="http://schemas.openxmlformats.org/officeDocument/2006/relationships/oleObject" Target="../embeddings/oleObject159.bin"/><Relationship Id="rId2" Type="http://schemas.openxmlformats.org/officeDocument/2006/relationships/video" Target="file:///D:\Documents%20and%20Settings\rajesh_g\Desktop\swf\spacegp\symcglide1%5b1%5d.wmv" TargetMode="External"/><Relationship Id="rId1" Type="http://schemas.openxmlformats.org/officeDocument/2006/relationships/vmlDrawing" Target="../drawings/vmlDrawing30.vml"/><Relationship Id="rId6" Type="http://schemas.openxmlformats.org/officeDocument/2006/relationships/oleObject" Target="../embeddings/oleObject158.bin"/><Relationship Id="rId5" Type="http://schemas.openxmlformats.org/officeDocument/2006/relationships/image" Target="../media/image95.png"/><Relationship Id="rId4" Type="http://schemas.openxmlformats.org/officeDocument/2006/relationships/image" Target="../media/image94.jpe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D:\Documents%20and%20Settings\rajesh_g\Desktop\swf\spacegp\symnglide1%5b1%5d.wmv" TargetMode="External"/><Relationship Id="rId1" Type="http://schemas.openxmlformats.org/officeDocument/2006/relationships/vmlDrawing" Target="../drawings/vmlDrawing31.vml"/><Relationship Id="rId6" Type="http://schemas.openxmlformats.org/officeDocument/2006/relationships/oleObject" Target="../embeddings/oleObject161.bin"/><Relationship Id="rId5" Type="http://schemas.openxmlformats.org/officeDocument/2006/relationships/image" Target="../media/image98.png"/><Relationship Id="rId4" Type="http://schemas.openxmlformats.org/officeDocument/2006/relationships/image" Target="../media/image97.jpeg"/></Relationships>
</file>

<file path=ppt/slides/_rels/slide63.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slideLayout" Target="../slideLayouts/slideLayout7.xml"/><Relationship Id="rId1" Type="http://schemas.openxmlformats.org/officeDocument/2006/relationships/video" Target="file:///D:\Documents%20and%20Settings\rajesh_g\Desktop\swf\spacegp\syminversion%5b1%5d.wmv" TargetMode="External"/><Relationship Id="rId5" Type="http://schemas.openxmlformats.org/officeDocument/2006/relationships/image" Target="../media/image21.jpeg"/><Relationship Id="rId4" Type="http://schemas.openxmlformats.org/officeDocument/2006/relationships/image" Target="../media/image100.png"/></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62.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105.gi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168.bin"/><Relationship Id="rId3" Type="http://schemas.openxmlformats.org/officeDocument/2006/relationships/oleObject" Target="../embeddings/oleObject163.bin"/><Relationship Id="rId7" Type="http://schemas.openxmlformats.org/officeDocument/2006/relationships/oleObject" Target="../embeddings/oleObject167.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oleObject" Target="../embeddings/oleObject166.bin"/><Relationship Id="rId5" Type="http://schemas.openxmlformats.org/officeDocument/2006/relationships/oleObject" Target="../embeddings/oleObject165.bin"/><Relationship Id="rId4" Type="http://schemas.openxmlformats.org/officeDocument/2006/relationships/oleObject" Target="../embeddings/oleObject164.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174.bin"/><Relationship Id="rId3" Type="http://schemas.openxmlformats.org/officeDocument/2006/relationships/oleObject" Target="../embeddings/oleObject169.bin"/><Relationship Id="rId7" Type="http://schemas.openxmlformats.org/officeDocument/2006/relationships/oleObject" Target="../embeddings/oleObject173.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172.bin"/><Relationship Id="rId5" Type="http://schemas.openxmlformats.org/officeDocument/2006/relationships/oleObject" Target="../embeddings/oleObject171.bin"/><Relationship Id="rId4" Type="http://schemas.openxmlformats.org/officeDocument/2006/relationships/oleObject" Target="../embeddings/oleObject170.bin"/></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180.bin"/><Relationship Id="rId3" Type="http://schemas.openxmlformats.org/officeDocument/2006/relationships/oleObject" Target="../embeddings/oleObject175.bin"/><Relationship Id="rId7" Type="http://schemas.openxmlformats.org/officeDocument/2006/relationships/oleObject" Target="../embeddings/oleObject179.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178.bin"/><Relationship Id="rId5" Type="http://schemas.openxmlformats.org/officeDocument/2006/relationships/oleObject" Target="../embeddings/oleObject177.bin"/><Relationship Id="rId4" Type="http://schemas.openxmlformats.org/officeDocument/2006/relationships/oleObject" Target="../embeddings/oleObject176.bin"/></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81.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184.bin"/><Relationship Id="rId5" Type="http://schemas.openxmlformats.org/officeDocument/2006/relationships/oleObject" Target="../embeddings/oleObject183.bin"/><Relationship Id="rId4" Type="http://schemas.openxmlformats.org/officeDocument/2006/relationships/oleObject" Target="../embeddings/oleObject182.bin"/></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85.bin"/><Relationship Id="rId2" Type="http://schemas.openxmlformats.org/officeDocument/2006/relationships/slideLayout" Target="../slideLayouts/slideLayout7.xml"/><Relationship Id="rId1" Type="http://schemas.openxmlformats.org/officeDocument/2006/relationships/vmlDrawing" Target="../drawings/vmlDrawing37.vml"/><Relationship Id="rId5" Type="http://schemas.openxmlformats.org/officeDocument/2006/relationships/oleObject" Target="../embeddings/oleObject187.bin"/><Relationship Id="rId4" Type="http://schemas.openxmlformats.org/officeDocument/2006/relationships/oleObject" Target="../embeddings/oleObject186.bin"/></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88.bin"/><Relationship Id="rId2" Type="http://schemas.openxmlformats.org/officeDocument/2006/relationships/slideLayout" Target="../slideLayouts/slideLayout7.xml"/><Relationship Id="rId1" Type="http://schemas.openxmlformats.org/officeDocument/2006/relationships/vmlDrawing" Target="../drawings/vmlDrawing38.vml"/><Relationship Id="rId5" Type="http://schemas.openxmlformats.org/officeDocument/2006/relationships/oleObject" Target="../embeddings/oleObject190.bin"/><Relationship Id="rId4" Type="http://schemas.openxmlformats.org/officeDocument/2006/relationships/oleObject" Target="../embeddings/oleObject189.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196.bin"/><Relationship Id="rId13" Type="http://schemas.openxmlformats.org/officeDocument/2006/relationships/oleObject" Target="../embeddings/oleObject201.bin"/><Relationship Id="rId3" Type="http://schemas.openxmlformats.org/officeDocument/2006/relationships/oleObject" Target="../embeddings/oleObject191.bin"/><Relationship Id="rId7" Type="http://schemas.openxmlformats.org/officeDocument/2006/relationships/oleObject" Target="../embeddings/oleObject195.bin"/><Relationship Id="rId12" Type="http://schemas.openxmlformats.org/officeDocument/2006/relationships/oleObject" Target="../embeddings/oleObject200.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194.bin"/><Relationship Id="rId11" Type="http://schemas.openxmlformats.org/officeDocument/2006/relationships/oleObject" Target="../embeddings/oleObject199.bin"/><Relationship Id="rId5" Type="http://schemas.openxmlformats.org/officeDocument/2006/relationships/oleObject" Target="../embeddings/oleObject193.bin"/><Relationship Id="rId10" Type="http://schemas.openxmlformats.org/officeDocument/2006/relationships/oleObject" Target="../embeddings/oleObject198.bin"/><Relationship Id="rId4" Type="http://schemas.openxmlformats.org/officeDocument/2006/relationships/oleObject" Target="../embeddings/oleObject192.bin"/><Relationship Id="rId9" Type="http://schemas.openxmlformats.org/officeDocument/2006/relationships/oleObject" Target="../embeddings/oleObject197.bin"/><Relationship Id="rId14" Type="http://schemas.openxmlformats.org/officeDocument/2006/relationships/oleObject" Target="../embeddings/oleObject202.bin"/></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208.bin"/><Relationship Id="rId13" Type="http://schemas.openxmlformats.org/officeDocument/2006/relationships/oleObject" Target="../embeddings/oleObject213.bin"/><Relationship Id="rId3" Type="http://schemas.openxmlformats.org/officeDocument/2006/relationships/oleObject" Target="../embeddings/oleObject203.bin"/><Relationship Id="rId7" Type="http://schemas.openxmlformats.org/officeDocument/2006/relationships/oleObject" Target="../embeddings/oleObject207.bin"/><Relationship Id="rId12" Type="http://schemas.openxmlformats.org/officeDocument/2006/relationships/oleObject" Target="../embeddings/oleObject212.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206.bin"/><Relationship Id="rId11" Type="http://schemas.openxmlformats.org/officeDocument/2006/relationships/oleObject" Target="../embeddings/oleObject211.bin"/><Relationship Id="rId5" Type="http://schemas.openxmlformats.org/officeDocument/2006/relationships/oleObject" Target="../embeddings/oleObject205.bin"/><Relationship Id="rId10" Type="http://schemas.openxmlformats.org/officeDocument/2006/relationships/oleObject" Target="../embeddings/oleObject210.bin"/><Relationship Id="rId4" Type="http://schemas.openxmlformats.org/officeDocument/2006/relationships/oleObject" Target="../embeddings/oleObject204.bin"/><Relationship Id="rId9" Type="http://schemas.openxmlformats.org/officeDocument/2006/relationships/oleObject" Target="../embeddings/oleObject209.bin"/><Relationship Id="rId14" Type="http://schemas.openxmlformats.org/officeDocument/2006/relationships/oleObject" Target="../embeddings/oleObject214.bin"/></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220.bin"/><Relationship Id="rId13" Type="http://schemas.openxmlformats.org/officeDocument/2006/relationships/oleObject" Target="../embeddings/oleObject225.bin"/><Relationship Id="rId3" Type="http://schemas.openxmlformats.org/officeDocument/2006/relationships/oleObject" Target="../embeddings/oleObject215.bin"/><Relationship Id="rId7" Type="http://schemas.openxmlformats.org/officeDocument/2006/relationships/oleObject" Target="../embeddings/oleObject219.bin"/><Relationship Id="rId12" Type="http://schemas.openxmlformats.org/officeDocument/2006/relationships/oleObject" Target="../embeddings/oleObject224.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218.bin"/><Relationship Id="rId11" Type="http://schemas.openxmlformats.org/officeDocument/2006/relationships/oleObject" Target="../embeddings/oleObject223.bin"/><Relationship Id="rId5" Type="http://schemas.openxmlformats.org/officeDocument/2006/relationships/oleObject" Target="../embeddings/oleObject217.bin"/><Relationship Id="rId10" Type="http://schemas.openxmlformats.org/officeDocument/2006/relationships/oleObject" Target="../embeddings/oleObject222.bin"/><Relationship Id="rId4" Type="http://schemas.openxmlformats.org/officeDocument/2006/relationships/oleObject" Target="../embeddings/oleObject216.bin"/><Relationship Id="rId9" Type="http://schemas.openxmlformats.org/officeDocument/2006/relationships/oleObject" Target="../embeddings/oleObject221.bin"/><Relationship Id="rId14" Type="http://schemas.openxmlformats.org/officeDocument/2006/relationships/oleObject" Target="../embeddings/oleObject226.bin"/></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232.bin"/><Relationship Id="rId13" Type="http://schemas.openxmlformats.org/officeDocument/2006/relationships/oleObject" Target="../embeddings/oleObject237.bin"/><Relationship Id="rId3" Type="http://schemas.openxmlformats.org/officeDocument/2006/relationships/oleObject" Target="../embeddings/oleObject227.bin"/><Relationship Id="rId7" Type="http://schemas.openxmlformats.org/officeDocument/2006/relationships/oleObject" Target="../embeddings/oleObject231.bin"/><Relationship Id="rId12" Type="http://schemas.openxmlformats.org/officeDocument/2006/relationships/oleObject" Target="../embeddings/oleObject236.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oleObject" Target="../embeddings/oleObject230.bin"/><Relationship Id="rId11" Type="http://schemas.openxmlformats.org/officeDocument/2006/relationships/oleObject" Target="../embeddings/oleObject235.bin"/><Relationship Id="rId5" Type="http://schemas.openxmlformats.org/officeDocument/2006/relationships/oleObject" Target="../embeddings/oleObject229.bin"/><Relationship Id="rId10" Type="http://schemas.openxmlformats.org/officeDocument/2006/relationships/oleObject" Target="../embeddings/oleObject234.bin"/><Relationship Id="rId4" Type="http://schemas.openxmlformats.org/officeDocument/2006/relationships/oleObject" Target="../embeddings/oleObject228.bin"/><Relationship Id="rId9" Type="http://schemas.openxmlformats.org/officeDocument/2006/relationships/oleObject" Target="../embeddings/oleObject233.bin"/><Relationship Id="rId14" Type="http://schemas.openxmlformats.org/officeDocument/2006/relationships/oleObject" Target="../embeddings/oleObject238.bin"/></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244.bin"/><Relationship Id="rId13" Type="http://schemas.openxmlformats.org/officeDocument/2006/relationships/oleObject" Target="../embeddings/oleObject249.bin"/><Relationship Id="rId3" Type="http://schemas.openxmlformats.org/officeDocument/2006/relationships/oleObject" Target="../embeddings/oleObject239.bin"/><Relationship Id="rId7" Type="http://schemas.openxmlformats.org/officeDocument/2006/relationships/oleObject" Target="../embeddings/oleObject243.bin"/><Relationship Id="rId12" Type="http://schemas.openxmlformats.org/officeDocument/2006/relationships/oleObject" Target="../embeddings/oleObject248.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oleObject" Target="../embeddings/oleObject242.bin"/><Relationship Id="rId11" Type="http://schemas.openxmlformats.org/officeDocument/2006/relationships/oleObject" Target="../embeddings/oleObject247.bin"/><Relationship Id="rId5" Type="http://schemas.openxmlformats.org/officeDocument/2006/relationships/oleObject" Target="../embeddings/oleObject241.bin"/><Relationship Id="rId10" Type="http://schemas.openxmlformats.org/officeDocument/2006/relationships/oleObject" Target="../embeddings/oleObject246.bin"/><Relationship Id="rId4" Type="http://schemas.openxmlformats.org/officeDocument/2006/relationships/oleObject" Target="../embeddings/oleObject240.bin"/><Relationship Id="rId9" Type="http://schemas.openxmlformats.org/officeDocument/2006/relationships/oleObject" Target="../embeddings/oleObject245.bin"/><Relationship Id="rId14" Type="http://schemas.openxmlformats.org/officeDocument/2006/relationships/oleObject" Target="../embeddings/oleObject250.bin"/></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256.bin"/><Relationship Id="rId3" Type="http://schemas.openxmlformats.org/officeDocument/2006/relationships/oleObject" Target="../embeddings/oleObject251.bin"/><Relationship Id="rId7" Type="http://schemas.openxmlformats.org/officeDocument/2006/relationships/oleObject" Target="../embeddings/oleObject255.bin"/><Relationship Id="rId12" Type="http://schemas.openxmlformats.org/officeDocument/2006/relationships/oleObject" Target="../embeddings/oleObject260.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254.bin"/><Relationship Id="rId11" Type="http://schemas.openxmlformats.org/officeDocument/2006/relationships/oleObject" Target="../embeddings/oleObject259.bin"/><Relationship Id="rId5" Type="http://schemas.openxmlformats.org/officeDocument/2006/relationships/oleObject" Target="../embeddings/oleObject253.bin"/><Relationship Id="rId10" Type="http://schemas.openxmlformats.org/officeDocument/2006/relationships/oleObject" Target="../embeddings/oleObject258.bin"/><Relationship Id="rId4" Type="http://schemas.openxmlformats.org/officeDocument/2006/relationships/oleObject" Target="../embeddings/oleObject252.bin"/><Relationship Id="rId9" Type="http://schemas.openxmlformats.org/officeDocument/2006/relationships/oleObject" Target="../embeddings/oleObject257.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261.bin"/><Relationship Id="rId7" Type="http://schemas.openxmlformats.org/officeDocument/2006/relationships/image" Target="../media/image124.png"/><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oleObject" Target="../embeddings/oleObject263.bin"/><Relationship Id="rId5" Type="http://schemas.openxmlformats.org/officeDocument/2006/relationships/image" Target="../media/image38.png"/><Relationship Id="rId4" Type="http://schemas.openxmlformats.org/officeDocument/2006/relationships/oleObject" Target="../embeddings/oleObject262.bin"/></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264.bin"/><Relationship Id="rId7" Type="http://schemas.openxmlformats.org/officeDocument/2006/relationships/image" Target="../media/image124.png"/><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38.png"/><Relationship Id="rId5" Type="http://schemas.openxmlformats.org/officeDocument/2006/relationships/oleObject" Target="../embeddings/oleObject266.bin"/><Relationship Id="rId4" Type="http://schemas.openxmlformats.org/officeDocument/2006/relationships/oleObject" Target="../embeddings/oleObject265.bin"/></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267.bin"/><Relationship Id="rId2" Type="http://schemas.openxmlformats.org/officeDocument/2006/relationships/slideLayout" Target="../slideLayouts/slideLayout7.xml"/><Relationship Id="rId1" Type="http://schemas.openxmlformats.org/officeDocument/2006/relationships/vmlDrawing" Target="../drawings/vmlDrawing47.vml"/></Relationships>
</file>

<file path=ppt/slides/_rels/slide95.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oleObject" Target="../embeddings/oleObject277.bin"/><Relationship Id="rId18" Type="http://schemas.openxmlformats.org/officeDocument/2006/relationships/oleObject" Target="../embeddings/oleObject282.bin"/><Relationship Id="rId3" Type="http://schemas.openxmlformats.org/officeDocument/2006/relationships/oleObject" Target="../embeddings/oleObject268.bin"/><Relationship Id="rId7" Type="http://schemas.openxmlformats.org/officeDocument/2006/relationships/oleObject" Target="../embeddings/oleObject272.bin"/><Relationship Id="rId12" Type="http://schemas.openxmlformats.org/officeDocument/2006/relationships/oleObject" Target="../embeddings/oleObject276.bin"/><Relationship Id="rId17" Type="http://schemas.openxmlformats.org/officeDocument/2006/relationships/oleObject" Target="../embeddings/oleObject281.bin"/><Relationship Id="rId2" Type="http://schemas.openxmlformats.org/officeDocument/2006/relationships/slideLayout" Target="../slideLayouts/slideLayout7.xml"/><Relationship Id="rId16" Type="http://schemas.openxmlformats.org/officeDocument/2006/relationships/oleObject" Target="../embeddings/oleObject280.bin"/><Relationship Id="rId1" Type="http://schemas.openxmlformats.org/officeDocument/2006/relationships/vmlDrawing" Target="../drawings/vmlDrawing48.vml"/><Relationship Id="rId6" Type="http://schemas.openxmlformats.org/officeDocument/2006/relationships/oleObject" Target="../embeddings/oleObject271.bin"/><Relationship Id="rId11" Type="http://schemas.openxmlformats.org/officeDocument/2006/relationships/oleObject" Target="../embeddings/oleObject275.bin"/><Relationship Id="rId5" Type="http://schemas.openxmlformats.org/officeDocument/2006/relationships/oleObject" Target="../embeddings/oleObject270.bin"/><Relationship Id="rId15" Type="http://schemas.openxmlformats.org/officeDocument/2006/relationships/oleObject" Target="../embeddings/oleObject279.bin"/><Relationship Id="rId10" Type="http://schemas.openxmlformats.org/officeDocument/2006/relationships/oleObject" Target="../embeddings/oleObject274.bin"/><Relationship Id="rId19" Type="http://schemas.openxmlformats.org/officeDocument/2006/relationships/oleObject" Target="../embeddings/oleObject283.bin"/><Relationship Id="rId4" Type="http://schemas.openxmlformats.org/officeDocument/2006/relationships/oleObject" Target="../embeddings/oleObject269.bin"/><Relationship Id="rId9" Type="http://schemas.openxmlformats.org/officeDocument/2006/relationships/oleObject" Target="../embeddings/oleObject273.bin"/><Relationship Id="rId14" Type="http://schemas.openxmlformats.org/officeDocument/2006/relationships/oleObject" Target="../embeddings/oleObject278.bin"/></Relationships>
</file>

<file path=ppt/slides/_rels/slide96.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oleObject" Target="../embeddings/oleObject293.bin"/><Relationship Id="rId18" Type="http://schemas.openxmlformats.org/officeDocument/2006/relationships/oleObject" Target="../embeddings/oleObject298.bin"/><Relationship Id="rId3" Type="http://schemas.openxmlformats.org/officeDocument/2006/relationships/oleObject" Target="../embeddings/oleObject284.bin"/><Relationship Id="rId7" Type="http://schemas.openxmlformats.org/officeDocument/2006/relationships/oleObject" Target="../embeddings/oleObject288.bin"/><Relationship Id="rId12" Type="http://schemas.openxmlformats.org/officeDocument/2006/relationships/oleObject" Target="../embeddings/oleObject292.bin"/><Relationship Id="rId17" Type="http://schemas.openxmlformats.org/officeDocument/2006/relationships/oleObject" Target="../embeddings/oleObject297.bin"/><Relationship Id="rId2" Type="http://schemas.openxmlformats.org/officeDocument/2006/relationships/slideLayout" Target="../slideLayouts/slideLayout7.xml"/><Relationship Id="rId16" Type="http://schemas.openxmlformats.org/officeDocument/2006/relationships/oleObject" Target="../embeddings/oleObject296.bin"/><Relationship Id="rId1" Type="http://schemas.openxmlformats.org/officeDocument/2006/relationships/vmlDrawing" Target="../drawings/vmlDrawing49.vml"/><Relationship Id="rId6" Type="http://schemas.openxmlformats.org/officeDocument/2006/relationships/oleObject" Target="../embeddings/oleObject287.bin"/><Relationship Id="rId11" Type="http://schemas.openxmlformats.org/officeDocument/2006/relationships/oleObject" Target="../embeddings/oleObject291.bin"/><Relationship Id="rId5" Type="http://schemas.openxmlformats.org/officeDocument/2006/relationships/oleObject" Target="../embeddings/oleObject286.bin"/><Relationship Id="rId15" Type="http://schemas.openxmlformats.org/officeDocument/2006/relationships/oleObject" Target="../embeddings/oleObject295.bin"/><Relationship Id="rId10" Type="http://schemas.openxmlformats.org/officeDocument/2006/relationships/oleObject" Target="../embeddings/oleObject290.bin"/><Relationship Id="rId19" Type="http://schemas.openxmlformats.org/officeDocument/2006/relationships/oleObject" Target="../embeddings/oleObject299.bin"/><Relationship Id="rId4" Type="http://schemas.openxmlformats.org/officeDocument/2006/relationships/oleObject" Target="../embeddings/oleObject285.bin"/><Relationship Id="rId9" Type="http://schemas.openxmlformats.org/officeDocument/2006/relationships/oleObject" Target="../embeddings/oleObject289.bin"/><Relationship Id="rId14" Type="http://schemas.openxmlformats.org/officeDocument/2006/relationships/oleObject" Target="../embeddings/oleObject294.bin"/></Relationships>
</file>

<file path=ppt/slides/_rels/slide97.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050"/>
          <p:cNvSpPr>
            <a:spLocks noChangeArrowheads="1"/>
          </p:cNvSpPr>
          <p:nvPr/>
        </p:nvSpPr>
        <p:spPr bwMode="auto">
          <a:xfrm>
            <a:off x="609600" y="685800"/>
            <a:ext cx="8229600" cy="1143000"/>
          </a:xfrm>
          <a:prstGeom prst="rect">
            <a:avLst/>
          </a:prstGeom>
          <a:noFill/>
          <a:ln w="9525">
            <a:noFill/>
            <a:miter lim="800000"/>
            <a:headEnd/>
            <a:tailEnd/>
          </a:ln>
          <a:effectLst/>
        </p:spPr>
        <p:txBody>
          <a:bodyPr anchor="ctr"/>
          <a:lstStyle/>
          <a:p>
            <a:pPr algn="ctr">
              <a:defRPr/>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X-ray Diffraction and Structure of Solids </a:t>
            </a:r>
            <a:endPar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31069" y="408811"/>
            <a:ext cx="8229600" cy="348802"/>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Plane Groups</a:t>
            </a:r>
          </a:p>
        </p:txBody>
      </p:sp>
      <p:sp>
        <p:nvSpPr>
          <p:cNvPr id="66" name="Rectangle 65"/>
          <p:cNvSpPr/>
          <p:nvPr/>
        </p:nvSpPr>
        <p:spPr>
          <a:xfrm>
            <a:off x="965915" y="2468264"/>
            <a:ext cx="2846231" cy="1738648"/>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Connector 66"/>
          <p:cNvCxnSpPr>
            <a:stCxn id="66" idx="0"/>
            <a:endCxn id="66" idx="2"/>
          </p:cNvCxnSpPr>
          <p:nvPr/>
        </p:nvCxnSpPr>
        <p:spPr>
          <a:xfrm>
            <a:off x="2389031" y="2468264"/>
            <a:ext cx="0" cy="1738648"/>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a:stCxn id="66" idx="1"/>
            <a:endCxn id="66" idx="3"/>
          </p:cNvCxnSpPr>
          <p:nvPr/>
        </p:nvCxnSpPr>
        <p:spPr>
          <a:xfrm>
            <a:off x="965915" y="3337588"/>
            <a:ext cx="2846231"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2102112" y="4434540"/>
            <a:ext cx="526106" cy="461665"/>
          </a:xfrm>
          <a:prstGeom prst="rect">
            <a:avLst/>
          </a:prstGeom>
        </p:spPr>
        <p:txBody>
          <a:bodyPr wrap="none">
            <a:spAutoFit/>
          </a:bodyPr>
          <a:lstStyle/>
          <a:p>
            <a:r>
              <a:rPr lang="en-US" i="1" dirty="0" smtClean="0"/>
              <a:t>P4</a:t>
            </a:r>
            <a:endParaRPr lang="en-US" dirty="0"/>
          </a:p>
        </p:txBody>
      </p:sp>
      <p:grpSp>
        <p:nvGrpSpPr>
          <p:cNvPr id="2" name="Group 62"/>
          <p:cNvGrpSpPr/>
          <p:nvPr/>
        </p:nvGrpSpPr>
        <p:grpSpPr>
          <a:xfrm>
            <a:off x="5554142" y="1990439"/>
            <a:ext cx="2936365" cy="2328276"/>
            <a:chOff x="5605658" y="1732862"/>
            <a:chExt cx="2936365" cy="2328276"/>
          </a:xfrm>
        </p:grpSpPr>
        <p:grpSp>
          <p:nvGrpSpPr>
            <p:cNvPr id="4" name="Group 53"/>
            <p:cNvGrpSpPr/>
            <p:nvPr/>
          </p:nvGrpSpPr>
          <p:grpSpPr>
            <a:xfrm>
              <a:off x="5716540" y="1732862"/>
              <a:ext cx="2825483" cy="1859596"/>
              <a:chOff x="5896844" y="2376806"/>
              <a:chExt cx="2825483" cy="1859596"/>
            </a:xfrm>
          </p:grpSpPr>
          <p:grpSp>
            <p:nvGrpSpPr>
              <p:cNvPr id="5" name="Group 46"/>
              <p:cNvGrpSpPr/>
              <p:nvPr/>
            </p:nvGrpSpPr>
            <p:grpSpPr>
              <a:xfrm>
                <a:off x="5896844" y="2376806"/>
                <a:ext cx="2239291" cy="1859596"/>
                <a:chOff x="6426558" y="3072077"/>
                <a:chExt cx="2239291" cy="1859596"/>
              </a:xfrm>
            </p:grpSpPr>
            <p:sp>
              <p:nvSpPr>
                <p:cNvPr id="52" name="Parallelogram 51"/>
                <p:cNvSpPr/>
                <p:nvPr/>
              </p:nvSpPr>
              <p:spPr>
                <a:xfrm>
                  <a:off x="6514562" y="3230458"/>
                  <a:ext cx="2034862" cy="1545464"/>
                </a:xfrm>
                <a:prstGeom prst="parallelogram">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6426558" y="3129566"/>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8420636" y="3127419"/>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439062" y="4622768"/>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8446393" y="4620621"/>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7450522" y="3072077"/>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6463235" y="3820824"/>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7490278" y="4622580"/>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8490816" y="3820823"/>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rot="2700000">
                  <a:off x="7440350" y="3865061"/>
                  <a:ext cx="219456" cy="218941"/>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Rectangle 50"/>
              <p:cNvSpPr/>
              <p:nvPr/>
            </p:nvSpPr>
            <p:spPr>
              <a:xfrm>
                <a:off x="8196221" y="3092991"/>
                <a:ext cx="526106" cy="461665"/>
              </a:xfrm>
              <a:prstGeom prst="rect">
                <a:avLst/>
              </a:prstGeom>
            </p:spPr>
            <p:txBody>
              <a:bodyPr wrap="none">
                <a:spAutoFit/>
              </a:bodyPr>
              <a:lstStyle/>
              <a:p>
                <a:r>
                  <a:rPr lang="en-US" b="1" i="1" dirty="0" smtClean="0">
                    <a:solidFill>
                      <a:srgbClr val="002060"/>
                    </a:solidFill>
                  </a:rPr>
                  <a:t>P</a:t>
                </a:r>
                <a:r>
                  <a:rPr lang="en-US" b="1" dirty="0" smtClean="0">
                    <a:solidFill>
                      <a:srgbClr val="002060"/>
                    </a:solidFill>
                  </a:rPr>
                  <a:t>4</a:t>
                </a:r>
                <a:endParaRPr lang="en-US" dirty="0"/>
              </a:p>
            </p:txBody>
          </p:sp>
        </p:grpSp>
        <p:sp>
          <p:nvSpPr>
            <p:cNvPr id="62" name="Rectangle 61"/>
            <p:cNvSpPr/>
            <p:nvPr/>
          </p:nvSpPr>
          <p:spPr>
            <a:xfrm>
              <a:off x="5605658" y="3599473"/>
              <a:ext cx="2550698" cy="461665"/>
            </a:xfrm>
            <a:prstGeom prst="rect">
              <a:avLst/>
            </a:prstGeom>
          </p:spPr>
          <p:txBody>
            <a:bodyPr wrap="none">
              <a:spAutoFit/>
            </a:bodyPr>
            <a:lstStyle/>
            <a:p>
              <a:r>
                <a:rPr lang="en-US" i="1" dirty="0" smtClean="0"/>
                <a:t>Symmetry elements</a:t>
              </a:r>
              <a:endParaRPr lang="en-US" dirty="0"/>
            </a:p>
          </p:txBody>
        </p:sp>
      </p:grpSp>
      <p:grpSp>
        <p:nvGrpSpPr>
          <p:cNvPr id="6" name="Group 83"/>
          <p:cNvGrpSpPr/>
          <p:nvPr/>
        </p:nvGrpSpPr>
        <p:grpSpPr>
          <a:xfrm>
            <a:off x="328704" y="1961611"/>
            <a:ext cx="1276133" cy="1105573"/>
            <a:chOff x="328704" y="1961611"/>
            <a:chExt cx="1276133" cy="1105573"/>
          </a:xfrm>
        </p:grpSpPr>
        <p:grpSp>
          <p:nvGrpSpPr>
            <p:cNvPr id="7" name="Group 72"/>
            <p:cNvGrpSpPr/>
            <p:nvPr/>
          </p:nvGrpSpPr>
          <p:grpSpPr>
            <a:xfrm>
              <a:off x="1054057" y="2545158"/>
              <a:ext cx="544341" cy="449045"/>
              <a:chOff x="1015420" y="3992071"/>
              <a:chExt cx="544341" cy="449045"/>
            </a:xfrm>
          </p:grpSpPr>
          <p:pic>
            <p:nvPicPr>
              <p:cNvPr id="74"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75" name="Rectangle 74"/>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8" name="Group 72"/>
            <p:cNvGrpSpPr/>
            <p:nvPr/>
          </p:nvGrpSpPr>
          <p:grpSpPr>
            <a:xfrm>
              <a:off x="328704" y="1965902"/>
              <a:ext cx="544914" cy="466054"/>
              <a:chOff x="794490" y="3827085"/>
              <a:chExt cx="544914" cy="466054"/>
            </a:xfrm>
          </p:grpSpPr>
          <p:pic>
            <p:nvPicPr>
              <p:cNvPr id="70" name="Picture 3"/>
              <p:cNvPicPr>
                <a:picLocks noChangeAspect="1" noChangeArrowheads="1"/>
              </p:cNvPicPr>
              <p:nvPr/>
            </p:nvPicPr>
            <p:blipFill>
              <a:blip r:embed="rId2" cstate="print"/>
              <a:srcRect/>
              <a:stretch>
                <a:fillRect/>
              </a:stretch>
            </p:blipFill>
            <p:spPr bwMode="auto">
              <a:xfrm>
                <a:off x="1015420" y="3966313"/>
                <a:ext cx="323984" cy="326826"/>
              </a:xfrm>
              <a:prstGeom prst="rect">
                <a:avLst/>
              </a:prstGeom>
              <a:noFill/>
              <a:ln w="9525">
                <a:noFill/>
                <a:miter lim="800000"/>
                <a:headEnd/>
                <a:tailEnd/>
              </a:ln>
              <a:effectLst/>
            </p:spPr>
          </p:pic>
          <p:sp>
            <p:nvSpPr>
              <p:cNvPr id="71" name="Rectangle 70"/>
              <p:cNvSpPr/>
              <p:nvPr/>
            </p:nvSpPr>
            <p:spPr>
              <a:xfrm>
                <a:off x="794490" y="3827085"/>
                <a:ext cx="314510" cy="369332"/>
              </a:xfrm>
              <a:prstGeom prst="rect">
                <a:avLst/>
              </a:prstGeom>
            </p:spPr>
            <p:txBody>
              <a:bodyPr wrap="none">
                <a:spAutoFit/>
              </a:bodyPr>
              <a:lstStyle/>
              <a:p>
                <a:r>
                  <a:rPr lang="en-US" sz="1800" dirty="0" smtClean="0"/>
                  <a:t>+</a:t>
                </a:r>
                <a:endParaRPr lang="en-US" sz="1800" dirty="0"/>
              </a:p>
            </p:txBody>
          </p:sp>
        </p:grpSp>
        <p:grpSp>
          <p:nvGrpSpPr>
            <p:cNvPr id="9" name="Group 72"/>
            <p:cNvGrpSpPr/>
            <p:nvPr/>
          </p:nvGrpSpPr>
          <p:grpSpPr>
            <a:xfrm>
              <a:off x="403832" y="2553745"/>
              <a:ext cx="493398" cy="513439"/>
              <a:chOff x="846006" y="3992071"/>
              <a:chExt cx="493398" cy="513439"/>
            </a:xfrm>
          </p:grpSpPr>
          <p:pic>
            <p:nvPicPr>
              <p:cNvPr id="76"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77" name="Rectangle 76"/>
              <p:cNvSpPr/>
              <p:nvPr/>
            </p:nvSpPr>
            <p:spPr>
              <a:xfrm>
                <a:off x="846006" y="4136178"/>
                <a:ext cx="314510" cy="369332"/>
              </a:xfrm>
              <a:prstGeom prst="rect">
                <a:avLst/>
              </a:prstGeom>
            </p:spPr>
            <p:txBody>
              <a:bodyPr wrap="none">
                <a:spAutoFit/>
              </a:bodyPr>
              <a:lstStyle/>
              <a:p>
                <a:r>
                  <a:rPr lang="en-US" sz="1800" dirty="0" smtClean="0"/>
                  <a:t>+</a:t>
                </a:r>
                <a:endParaRPr lang="en-US" sz="1800" dirty="0"/>
              </a:p>
            </p:txBody>
          </p:sp>
        </p:grpSp>
        <p:grpSp>
          <p:nvGrpSpPr>
            <p:cNvPr id="10" name="Group 77"/>
            <p:cNvGrpSpPr/>
            <p:nvPr/>
          </p:nvGrpSpPr>
          <p:grpSpPr>
            <a:xfrm>
              <a:off x="1034738" y="1961611"/>
              <a:ext cx="570099" cy="453175"/>
              <a:chOff x="1015420" y="3865722"/>
              <a:chExt cx="570099" cy="453175"/>
            </a:xfrm>
          </p:grpSpPr>
          <p:pic>
            <p:nvPicPr>
              <p:cNvPr id="79"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80" name="Rectangle 79"/>
              <p:cNvSpPr/>
              <p:nvPr/>
            </p:nvSpPr>
            <p:spPr>
              <a:xfrm>
                <a:off x="1271009" y="3865722"/>
                <a:ext cx="314510" cy="369332"/>
              </a:xfrm>
              <a:prstGeom prst="rect">
                <a:avLst/>
              </a:prstGeom>
            </p:spPr>
            <p:txBody>
              <a:bodyPr wrap="none">
                <a:spAutoFit/>
              </a:bodyPr>
              <a:lstStyle/>
              <a:p>
                <a:r>
                  <a:rPr lang="en-US" sz="1800" dirty="0" smtClean="0"/>
                  <a:t>+</a:t>
                </a:r>
                <a:endParaRPr lang="en-US" sz="1800" dirty="0"/>
              </a:p>
            </p:txBody>
          </p:sp>
        </p:grpSp>
      </p:grpSp>
      <p:grpSp>
        <p:nvGrpSpPr>
          <p:cNvPr id="11" name="Group 84"/>
          <p:cNvGrpSpPr/>
          <p:nvPr/>
        </p:nvGrpSpPr>
        <p:grpSpPr>
          <a:xfrm>
            <a:off x="3172788" y="1933707"/>
            <a:ext cx="1276133" cy="1118452"/>
            <a:chOff x="328704" y="1961611"/>
            <a:chExt cx="1276133" cy="1118452"/>
          </a:xfrm>
        </p:grpSpPr>
        <p:grpSp>
          <p:nvGrpSpPr>
            <p:cNvPr id="12" name="Group 72"/>
            <p:cNvGrpSpPr/>
            <p:nvPr/>
          </p:nvGrpSpPr>
          <p:grpSpPr>
            <a:xfrm>
              <a:off x="1054057" y="2545158"/>
              <a:ext cx="544341" cy="449045"/>
              <a:chOff x="1015420" y="3992071"/>
              <a:chExt cx="544341" cy="449045"/>
            </a:xfrm>
          </p:grpSpPr>
          <p:pic>
            <p:nvPicPr>
              <p:cNvPr id="98"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99" name="Rectangle 98"/>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13" name="Group 72"/>
            <p:cNvGrpSpPr/>
            <p:nvPr/>
          </p:nvGrpSpPr>
          <p:grpSpPr>
            <a:xfrm>
              <a:off x="328704" y="1965902"/>
              <a:ext cx="544914" cy="466054"/>
              <a:chOff x="794490" y="3827085"/>
              <a:chExt cx="544914" cy="466054"/>
            </a:xfrm>
          </p:grpSpPr>
          <p:pic>
            <p:nvPicPr>
              <p:cNvPr id="96" name="Picture 3"/>
              <p:cNvPicPr>
                <a:picLocks noChangeAspect="1" noChangeArrowheads="1"/>
              </p:cNvPicPr>
              <p:nvPr/>
            </p:nvPicPr>
            <p:blipFill>
              <a:blip r:embed="rId2" cstate="print"/>
              <a:srcRect/>
              <a:stretch>
                <a:fillRect/>
              </a:stretch>
            </p:blipFill>
            <p:spPr bwMode="auto">
              <a:xfrm>
                <a:off x="1015420" y="3966313"/>
                <a:ext cx="323984" cy="326826"/>
              </a:xfrm>
              <a:prstGeom prst="rect">
                <a:avLst/>
              </a:prstGeom>
              <a:noFill/>
              <a:ln w="9525">
                <a:noFill/>
                <a:miter lim="800000"/>
                <a:headEnd/>
                <a:tailEnd/>
              </a:ln>
              <a:effectLst/>
            </p:spPr>
          </p:pic>
          <p:sp>
            <p:nvSpPr>
              <p:cNvPr id="97" name="Rectangle 96"/>
              <p:cNvSpPr/>
              <p:nvPr/>
            </p:nvSpPr>
            <p:spPr>
              <a:xfrm>
                <a:off x="794490" y="3827085"/>
                <a:ext cx="314510" cy="369332"/>
              </a:xfrm>
              <a:prstGeom prst="rect">
                <a:avLst/>
              </a:prstGeom>
            </p:spPr>
            <p:txBody>
              <a:bodyPr wrap="none">
                <a:spAutoFit/>
              </a:bodyPr>
              <a:lstStyle/>
              <a:p>
                <a:r>
                  <a:rPr lang="en-US" sz="1800" dirty="0" smtClean="0"/>
                  <a:t>+</a:t>
                </a:r>
                <a:endParaRPr lang="en-US" sz="1800" dirty="0"/>
              </a:p>
            </p:txBody>
          </p:sp>
        </p:grpSp>
        <p:grpSp>
          <p:nvGrpSpPr>
            <p:cNvPr id="14" name="Group 88"/>
            <p:cNvGrpSpPr/>
            <p:nvPr/>
          </p:nvGrpSpPr>
          <p:grpSpPr>
            <a:xfrm>
              <a:off x="403832" y="2566624"/>
              <a:ext cx="493398" cy="513439"/>
              <a:chOff x="846006" y="4004950"/>
              <a:chExt cx="493398" cy="513439"/>
            </a:xfrm>
          </p:grpSpPr>
          <p:pic>
            <p:nvPicPr>
              <p:cNvPr id="93" name="Picture 3"/>
              <p:cNvPicPr>
                <a:picLocks noChangeAspect="1" noChangeArrowheads="1"/>
              </p:cNvPicPr>
              <p:nvPr/>
            </p:nvPicPr>
            <p:blipFill>
              <a:blip r:embed="rId2" cstate="print"/>
              <a:srcRect/>
              <a:stretch>
                <a:fillRect/>
              </a:stretch>
            </p:blipFill>
            <p:spPr bwMode="auto">
              <a:xfrm>
                <a:off x="1015420" y="4004950"/>
                <a:ext cx="323984" cy="326826"/>
              </a:xfrm>
              <a:prstGeom prst="rect">
                <a:avLst/>
              </a:prstGeom>
              <a:noFill/>
              <a:ln w="9525">
                <a:noFill/>
                <a:miter lim="800000"/>
                <a:headEnd/>
                <a:tailEnd/>
              </a:ln>
              <a:effectLst/>
            </p:spPr>
          </p:pic>
          <p:sp>
            <p:nvSpPr>
              <p:cNvPr id="95" name="Rectangle 94"/>
              <p:cNvSpPr/>
              <p:nvPr/>
            </p:nvSpPr>
            <p:spPr>
              <a:xfrm>
                <a:off x="846006" y="4149057"/>
                <a:ext cx="314510" cy="369332"/>
              </a:xfrm>
              <a:prstGeom prst="rect">
                <a:avLst/>
              </a:prstGeom>
            </p:spPr>
            <p:txBody>
              <a:bodyPr wrap="none">
                <a:spAutoFit/>
              </a:bodyPr>
              <a:lstStyle/>
              <a:p>
                <a:r>
                  <a:rPr lang="en-US" sz="1800" dirty="0" smtClean="0"/>
                  <a:t>+</a:t>
                </a:r>
                <a:endParaRPr lang="en-US" sz="1800" dirty="0"/>
              </a:p>
            </p:txBody>
          </p:sp>
        </p:grpSp>
        <p:grpSp>
          <p:nvGrpSpPr>
            <p:cNvPr id="15" name="Group 89"/>
            <p:cNvGrpSpPr/>
            <p:nvPr/>
          </p:nvGrpSpPr>
          <p:grpSpPr>
            <a:xfrm>
              <a:off x="1034738" y="1961611"/>
              <a:ext cx="570099" cy="453175"/>
              <a:chOff x="1015420" y="3865722"/>
              <a:chExt cx="570099" cy="453175"/>
            </a:xfrm>
          </p:grpSpPr>
          <p:pic>
            <p:nvPicPr>
              <p:cNvPr id="91"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92" name="Rectangle 91"/>
              <p:cNvSpPr/>
              <p:nvPr/>
            </p:nvSpPr>
            <p:spPr>
              <a:xfrm>
                <a:off x="1271009" y="3865722"/>
                <a:ext cx="314510" cy="369332"/>
              </a:xfrm>
              <a:prstGeom prst="rect">
                <a:avLst/>
              </a:prstGeom>
            </p:spPr>
            <p:txBody>
              <a:bodyPr wrap="none">
                <a:spAutoFit/>
              </a:bodyPr>
              <a:lstStyle/>
              <a:p>
                <a:r>
                  <a:rPr lang="en-US" sz="1800" dirty="0" smtClean="0"/>
                  <a:t>+</a:t>
                </a:r>
                <a:endParaRPr lang="en-US" sz="1800" dirty="0"/>
              </a:p>
            </p:txBody>
          </p:sp>
        </p:grpSp>
      </p:grpSp>
      <p:grpSp>
        <p:nvGrpSpPr>
          <p:cNvPr id="16" name="Group 99"/>
          <p:cNvGrpSpPr/>
          <p:nvPr/>
        </p:nvGrpSpPr>
        <p:grpSpPr>
          <a:xfrm>
            <a:off x="3157762" y="3683088"/>
            <a:ext cx="1276133" cy="1118452"/>
            <a:chOff x="328704" y="1961611"/>
            <a:chExt cx="1276133" cy="1118452"/>
          </a:xfrm>
        </p:grpSpPr>
        <p:grpSp>
          <p:nvGrpSpPr>
            <p:cNvPr id="17" name="Group 72"/>
            <p:cNvGrpSpPr/>
            <p:nvPr/>
          </p:nvGrpSpPr>
          <p:grpSpPr>
            <a:xfrm>
              <a:off x="1054057" y="2545158"/>
              <a:ext cx="544341" cy="449045"/>
              <a:chOff x="1015420" y="3992071"/>
              <a:chExt cx="544341" cy="449045"/>
            </a:xfrm>
          </p:grpSpPr>
          <p:pic>
            <p:nvPicPr>
              <p:cNvPr id="112"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14" name="Rectangle 113"/>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18" name="Group 72"/>
            <p:cNvGrpSpPr/>
            <p:nvPr/>
          </p:nvGrpSpPr>
          <p:grpSpPr>
            <a:xfrm>
              <a:off x="328704" y="1965902"/>
              <a:ext cx="544914" cy="466054"/>
              <a:chOff x="794490" y="3827085"/>
              <a:chExt cx="544914" cy="466054"/>
            </a:xfrm>
          </p:grpSpPr>
          <p:pic>
            <p:nvPicPr>
              <p:cNvPr id="109" name="Picture 3"/>
              <p:cNvPicPr>
                <a:picLocks noChangeAspect="1" noChangeArrowheads="1"/>
              </p:cNvPicPr>
              <p:nvPr/>
            </p:nvPicPr>
            <p:blipFill>
              <a:blip r:embed="rId2" cstate="print"/>
              <a:srcRect/>
              <a:stretch>
                <a:fillRect/>
              </a:stretch>
            </p:blipFill>
            <p:spPr bwMode="auto">
              <a:xfrm>
                <a:off x="1015420" y="3966313"/>
                <a:ext cx="323984" cy="326826"/>
              </a:xfrm>
              <a:prstGeom prst="rect">
                <a:avLst/>
              </a:prstGeom>
              <a:noFill/>
              <a:ln w="9525">
                <a:noFill/>
                <a:miter lim="800000"/>
                <a:headEnd/>
                <a:tailEnd/>
              </a:ln>
              <a:effectLst/>
            </p:spPr>
          </p:pic>
          <p:sp>
            <p:nvSpPr>
              <p:cNvPr id="111" name="Rectangle 110"/>
              <p:cNvSpPr/>
              <p:nvPr/>
            </p:nvSpPr>
            <p:spPr>
              <a:xfrm>
                <a:off x="794490" y="3827085"/>
                <a:ext cx="314510" cy="369332"/>
              </a:xfrm>
              <a:prstGeom prst="rect">
                <a:avLst/>
              </a:prstGeom>
            </p:spPr>
            <p:txBody>
              <a:bodyPr wrap="none">
                <a:spAutoFit/>
              </a:bodyPr>
              <a:lstStyle/>
              <a:p>
                <a:r>
                  <a:rPr lang="en-US" sz="1800" dirty="0" smtClean="0"/>
                  <a:t>+</a:t>
                </a:r>
                <a:endParaRPr lang="en-US" sz="1800" dirty="0"/>
              </a:p>
            </p:txBody>
          </p:sp>
        </p:grpSp>
        <p:grpSp>
          <p:nvGrpSpPr>
            <p:cNvPr id="19" name="Group 102"/>
            <p:cNvGrpSpPr/>
            <p:nvPr/>
          </p:nvGrpSpPr>
          <p:grpSpPr>
            <a:xfrm>
              <a:off x="403832" y="2566624"/>
              <a:ext cx="493398" cy="513439"/>
              <a:chOff x="846006" y="4004950"/>
              <a:chExt cx="493398" cy="513439"/>
            </a:xfrm>
          </p:grpSpPr>
          <p:pic>
            <p:nvPicPr>
              <p:cNvPr id="107" name="Picture 3"/>
              <p:cNvPicPr>
                <a:picLocks noChangeAspect="1" noChangeArrowheads="1"/>
              </p:cNvPicPr>
              <p:nvPr/>
            </p:nvPicPr>
            <p:blipFill>
              <a:blip r:embed="rId2" cstate="print"/>
              <a:srcRect/>
              <a:stretch>
                <a:fillRect/>
              </a:stretch>
            </p:blipFill>
            <p:spPr bwMode="auto">
              <a:xfrm>
                <a:off x="1015420" y="4004950"/>
                <a:ext cx="323984" cy="326826"/>
              </a:xfrm>
              <a:prstGeom prst="rect">
                <a:avLst/>
              </a:prstGeom>
              <a:noFill/>
              <a:ln w="9525">
                <a:noFill/>
                <a:miter lim="800000"/>
                <a:headEnd/>
                <a:tailEnd/>
              </a:ln>
              <a:effectLst/>
            </p:spPr>
          </p:pic>
          <p:sp>
            <p:nvSpPr>
              <p:cNvPr id="108" name="Rectangle 107"/>
              <p:cNvSpPr/>
              <p:nvPr/>
            </p:nvSpPr>
            <p:spPr>
              <a:xfrm>
                <a:off x="846006" y="4149057"/>
                <a:ext cx="314510" cy="369332"/>
              </a:xfrm>
              <a:prstGeom prst="rect">
                <a:avLst/>
              </a:prstGeom>
            </p:spPr>
            <p:txBody>
              <a:bodyPr wrap="none">
                <a:spAutoFit/>
              </a:bodyPr>
              <a:lstStyle/>
              <a:p>
                <a:r>
                  <a:rPr lang="en-US" sz="1800" dirty="0" smtClean="0"/>
                  <a:t>+</a:t>
                </a:r>
                <a:endParaRPr lang="en-US" sz="1800" dirty="0"/>
              </a:p>
            </p:txBody>
          </p:sp>
        </p:grpSp>
        <p:grpSp>
          <p:nvGrpSpPr>
            <p:cNvPr id="20" name="Group 103"/>
            <p:cNvGrpSpPr/>
            <p:nvPr/>
          </p:nvGrpSpPr>
          <p:grpSpPr>
            <a:xfrm>
              <a:off x="1034738" y="1961611"/>
              <a:ext cx="570099" cy="453175"/>
              <a:chOff x="1015420" y="3865722"/>
              <a:chExt cx="570099" cy="453175"/>
            </a:xfrm>
          </p:grpSpPr>
          <p:pic>
            <p:nvPicPr>
              <p:cNvPr id="105"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06" name="Rectangle 105"/>
              <p:cNvSpPr/>
              <p:nvPr/>
            </p:nvSpPr>
            <p:spPr>
              <a:xfrm>
                <a:off x="1271009" y="3865722"/>
                <a:ext cx="314510" cy="369332"/>
              </a:xfrm>
              <a:prstGeom prst="rect">
                <a:avLst/>
              </a:prstGeom>
            </p:spPr>
            <p:txBody>
              <a:bodyPr wrap="none">
                <a:spAutoFit/>
              </a:bodyPr>
              <a:lstStyle/>
              <a:p>
                <a:r>
                  <a:rPr lang="en-US" sz="1800" dirty="0" smtClean="0"/>
                  <a:t>+</a:t>
                </a:r>
                <a:endParaRPr lang="en-US" sz="1800" dirty="0"/>
              </a:p>
            </p:txBody>
          </p:sp>
        </p:grpSp>
      </p:grpSp>
      <p:grpSp>
        <p:nvGrpSpPr>
          <p:cNvPr id="21" name="Group 114"/>
          <p:cNvGrpSpPr/>
          <p:nvPr/>
        </p:nvGrpSpPr>
        <p:grpSpPr>
          <a:xfrm>
            <a:off x="348020" y="3680942"/>
            <a:ext cx="1276133" cy="1118452"/>
            <a:chOff x="328704" y="1961611"/>
            <a:chExt cx="1276133" cy="1118452"/>
          </a:xfrm>
        </p:grpSpPr>
        <p:grpSp>
          <p:nvGrpSpPr>
            <p:cNvPr id="22" name="Group 72"/>
            <p:cNvGrpSpPr/>
            <p:nvPr/>
          </p:nvGrpSpPr>
          <p:grpSpPr>
            <a:xfrm>
              <a:off x="1054057" y="2545158"/>
              <a:ext cx="544341" cy="449045"/>
              <a:chOff x="1015420" y="3992071"/>
              <a:chExt cx="544341" cy="449045"/>
            </a:xfrm>
          </p:grpSpPr>
          <p:pic>
            <p:nvPicPr>
              <p:cNvPr id="138"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39" name="Rectangle 138"/>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23" name="Group 72"/>
            <p:cNvGrpSpPr/>
            <p:nvPr/>
          </p:nvGrpSpPr>
          <p:grpSpPr>
            <a:xfrm>
              <a:off x="328704" y="1965902"/>
              <a:ext cx="544914" cy="466054"/>
              <a:chOff x="794490" y="3827085"/>
              <a:chExt cx="544914" cy="466054"/>
            </a:xfrm>
          </p:grpSpPr>
          <p:pic>
            <p:nvPicPr>
              <p:cNvPr id="136" name="Picture 3"/>
              <p:cNvPicPr>
                <a:picLocks noChangeAspect="1" noChangeArrowheads="1"/>
              </p:cNvPicPr>
              <p:nvPr/>
            </p:nvPicPr>
            <p:blipFill>
              <a:blip r:embed="rId2" cstate="print"/>
              <a:srcRect/>
              <a:stretch>
                <a:fillRect/>
              </a:stretch>
            </p:blipFill>
            <p:spPr bwMode="auto">
              <a:xfrm>
                <a:off x="1015420" y="3966313"/>
                <a:ext cx="323984" cy="326826"/>
              </a:xfrm>
              <a:prstGeom prst="rect">
                <a:avLst/>
              </a:prstGeom>
              <a:noFill/>
              <a:ln w="9525">
                <a:noFill/>
                <a:miter lim="800000"/>
                <a:headEnd/>
                <a:tailEnd/>
              </a:ln>
              <a:effectLst/>
            </p:spPr>
          </p:pic>
          <p:sp>
            <p:nvSpPr>
              <p:cNvPr id="137" name="Rectangle 136"/>
              <p:cNvSpPr/>
              <p:nvPr/>
            </p:nvSpPr>
            <p:spPr>
              <a:xfrm>
                <a:off x="794490" y="3827085"/>
                <a:ext cx="314510" cy="369332"/>
              </a:xfrm>
              <a:prstGeom prst="rect">
                <a:avLst/>
              </a:prstGeom>
            </p:spPr>
            <p:txBody>
              <a:bodyPr wrap="none">
                <a:spAutoFit/>
              </a:bodyPr>
              <a:lstStyle/>
              <a:p>
                <a:r>
                  <a:rPr lang="en-US" sz="1800" dirty="0" smtClean="0"/>
                  <a:t>+</a:t>
                </a:r>
                <a:endParaRPr lang="en-US" sz="1800" dirty="0"/>
              </a:p>
            </p:txBody>
          </p:sp>
        </p:grpSp>
        <p:grpSp>
          <p:nvGrpSpPr>
            <p:cNvPr id="24" name="Group 125"/>
            <p:cNvGrpSpPr/>
            <p:nvPr/>
          </p:nvGrpSpPr>
          <p:grpSpPr>
            <a:xfrm>
              <a:off x="403832" y="2566624"/>
              <a:ext cx="493398" cy="513439"/>
              <a:chOff x="846006" y="4004950"/>
              <a:chExt cx="493398" cy="513439"/>
            </a:xfrm>
          </p:grpSpPr>
          <p:pic>
            <p:nvPicPr>
              <p:cNvPr id="134" name="Picture 3"/>
              <p:cNvPicPr>
                <a:picLocks noChangeAspect="1" noChangeArrowheads="1"/>
              </p:cNvPicPr>
              <p:nvPr/>
            </p:nvPicPr>
            <p:blipFill>
              <a:blip r:embed="rId2" cstate="print"/>
              <a:srcRect/>
              <a:stretch>
                <a:fillRect/>
              </a:stretch>
            </p:blipFill>
            <p:spPr bwMode="auto">
              <a:xfrm>
                <a:off x="1015420" y="4004950"/>
                <a:ext cx="323984" cy="326826"/>
              </a:xfrm>
              <a:prstGeom prst="rect">
                <a:avLst/>
              </a:prstGeom>
              <a:noFill/>
              <a:ln w="9525">
                <a:noFill/>
                <a:miter lim="800000"/>
                <a:headEnd/>
                <a:tailEnd/>
              </a:ln>
              <a:effectLst/>
            </p:spPr>
          </p:pic>
          <p:sp>
            <p:nvSpPr>
              <p:cNvPr id="135" name="Rectangle 134"/>
              <p:cNvSpPr/>
              <p:nvPr/>
            </p:nvSpPr>
            <p:spPr>
              <a:xfrm>
                <a:off x="846006" y="4149057"/>
                <a:ext cx="314510" cy="369332"/>
              </a:xfrm>
              <a:prstGeom prst="rect">
                <a:avLst/>
              </a:prstGeom>
            </p:spPr>
            <p:txBody>
              <a:bodyPr wrap="none">
                <a:spAutoFit/>
              </a:bodyPr>
              <a:lstStyle/>
              <a:p>
                <a:r>
                  <a:rPr lang="en-US" sz="1800" dirty="0" smtClean="0"/>
                  <a:t>+</a:t>
                </a:r>
                <a:endParaRPr lang="en-US" sz="1800" dirty="0"/>
              </a:p>
            </p:txBody>
          </p:sp>
        </p:grpSp>
        <p:grpSp>
          <p:nvGrpSpPr>
            <p:cNvPr id="25" name="Group 128"/>
            <p:cNvGrpSpPr/>
            <p:nvPr/>
          </p:nvGrpSpPr>
          <p:grpSpPr>
            <a:xfrm>
              <a:off x="1034738" y="1961611"/>
              <a:ext cx="570099" cy="453175"/>
              <a:chOff x="1015420" y="3865722"/>
              <a:chExt cx="570099" cy="453175"/>
            </a:xfrm>
          </p:grpSpPr>
          <p:pic>
            <p:nvPicPr>
              <p:cNvPr id="131"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32" name="Rectangle 131"/>
              <p:cNvSpPr/>
              <p:nvPr/>
            </p:nvSpPr>
            <p:spPr>
              <a:xfrm>
                <a:off x="1271009" y="3865722"/>
                <a:ext cx="314510" cy="369332"/>
              </a:xfrm>
              <a:prstGeom prst="rect">
                <a:avLst/>
              </a:prstGeom>
            </p:spPr>
            <p:txBody>
              <a:bodyPr wrap="none">
                <a:spAutoFit/>
              </a:bodyPr>
              <a:lstStyle/>
              <a:p>
                <a:r>
                  <a:rPr lang="en-US" sz="1800" dirty="0" smtClean="0"/>
                  <a:t>+</a:t>
                </a:r>
                <a:endParaRPr lang="en-US" sz="1800" dirty="0"/>
              </a:p>
            </p:txBody>
          </p:sp>
        </p:grpSp>
      </p:grpSp>
      <p:sp>
        <p:nvSpPr>
          <p:cNvPr id="78" name="Rectangle 77"/>
          <p:cNvSpPr/>
          <p:nvPr/>
        </p:nvSpPr>
        <p:spPr>
          <a:xfrm>
            <a:off x="489397" y="957337"/>
            <a:ext cx="7804597" cy="369332"/>
          </a:xfrm>
          <a:prstGeom prst="rect">
            <a:avLst/>
          </a:prstGeom>
        </p:spPr>
        <p:txBody>
          <a:bodyPr wrap="square">
            <a:spAutoFit/>
          </a:bodyPr>
          <a:lstStyle/>
          <a:p>
            <a:pPr marL="342900" indent="-342900">
              <a:buFont typeface="Wingdings" pitchFamily="2" charset="2"/>
              <a:buChar char="v"/>
            </a:pPr>
            <a:r>
              <a:rPr lang="en-US" sz="1800" dirty="0" smtClean="0"/>
              <a:t>The plane group arising from the square lattice are, </a:t>
            </a:r>
            <a:r>
              <a:rPr lang="en-US" sz="1800" i="1" dirty="0" smtClean="0">
                <a:solidFill>
                  <a:srgbClr val="FF0000"/>
                </a:solidFill>
              </a:rPr>
              <a:t>P</a:t>
            </a:r>
            <a:r>
              <a:rPr lang="en-US" sz="1800" dirty="0" smtClean="0">
                <a:solidFill>
                  <a:srgbClr val="FF0000"/>
                </a:solidFill>
              </a:rPr>
              <a:t>4</a:t>
            </a:r>
            <a:r>
              <a:rPr lang="en-US" sz="1800" dirty="0" smtClean="0"/>
              <a:t>, </a:t>
            </a:r>
            <a:r>
              <a:rPr lang="en-US" sz="1800" i="1" dirty="0" smtClean="0">
                <a:solidFill>
                  <a:srgbClr val="FF0000"/>
                </a:solidFill>
              </a:rPr>
              <a:t>P</a:t>
            </a:r>
            <a:r>
              <a:rPr lang="en-US" sz="1800" dirty="0" smtClean="0">
                <a:solidFill>
                  <a:srgbClr val="FF0000"/>
                </a:solidFill>
              </a:rPr>
              <a:t>4</a:t>
            </a:r>
            <a:r>
              <a:rPr lang="en-US" sz="1800" i="1" dirty="0" smtClean="0">
                <a:solidFill>
                  <a:srgbClr val="FF0000"/>
                </a:solidFill>
              </a:rPr>
              <a:t>mm</a:t>
            </a:r>
            <a:r>
              <a:rPr lang="en-US" sz="1800" dirty="0" smtClean="0"/>
              <a:t> and </a:t>
            </a:r>
            <a:r>
              <a:rPr lang="en-US" sz="1800" i="1" dirty="0" smtClean="0">
                <a:solidFill>
                  <a:srgbClr val="FF0000"/>
                </a:solidFill>
              </a:rPr>
              <a:t>P</a:t>
            </a:r>
            <a:r>
              <a:rPr lang="en-US" sz="1800" dirty="0" smtClean="0">
                <a:solidFill>
                  <a:srgbClr val="FF0000"/>
                </a:solidFill>
              </a:rPr>
              <a:t>4</a:t>
            </a:r>
            <a:r>
              <a:rPr lang="en-US" sz="1800" i="1" dirty="0" smtClean="0">
                <a:solidFill>
                  <a:srgbClr val="FF0000"/>
                </a:solidFill>
              </a:rPr>
              <a:t>gm</a:t>
            </a:r>
            <a:r>
              <a:rPr lang="en-US" sz="1800" dirty="0" smtClean="0"/>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65"/>
          <p:cNvGrpSpPr/>
          <p:nvPr/>
        </p:nvGrpSpPr>
        <p:grpSpPr>
          <a:xfrm>
            <a:off x="3218338" y="4024849"/>
            <a:ext cx="1699362" cy="1554833"/>
            <a:chOff x="395624" y="1573197"/>
            <a:chExt cx="1699362" cy="1554833"/>
          </a:xfrm>
        </p:grpSpPr>
        <p:grpSp>
          <p:nvGrpSpPr>
            <p:cNvPr id="5" name="Group 29"/>
            <p:cNvGrpSpPr/>
            <p:nvPr/>
          </p:nvGrpSpPr>
          <p:grpSpPr>
            <a:xfrm>
              <a:off x="1265724" y="2678985"/>
              <a:ext cx="544341" cy="449045"/>
              <a:chOff x="1015420" y="3992071"/>
              <a:chExt cx="544341" cy="449045"/>
            </a:xfrm>
          </p:grpSpPr>
          <p:pic>
            <p:nvPicPr>
              <p:cNvPr id="289"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90" name="Rectangle 289"/>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6" name="Group 28"/>
            <p:cNvGrpSpPr/>
            <p:nvPr/>
          </p:nvGrpSpPr>
          <p:grpSpPr>
            <a:xfrm>
              <a:off x="1520133" y="2370818"/>
              <a:ext cx="554604" cy="439725"/>
              <a:chOff x="1033062" y="3539901"/>
              <a:chExt cx="554604" cy="439725"/>
            </a:xfrm>
          </p:grpSpPr>
          <p:pic>
            <p:nvPicPr>
              <p:cNvPr id="287"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88" name="Rectangle 287"/>
              <p:cNvSpPr/>
              <p:nvPr/>
            </p:nvSpPr>
            <p:spPr>
              <a:xfrm>
                <a:off x="1273156" y="3610294"/>
                <a:ext cx="314510" cy="369332"/>
              </a:xfrm>
              <a:prstGeom prst="rect">
                <a:avLst/>
              </a:prstGeom>
            </p:spPr>
            <p:txBody>
              <a:bodyPr wrap="none">
                <a:spAutoFit/>
              </a:bodyPr>
              <a:lstStyle/>
              <a:p>
                <a:r>
                  <a:rPr lang="en-US" sz="1800" dirty="0" smtClean="0"/>
                  <a:t>+</a:t>
                </a:r>
                <a:endParaRPr lang="en-US" sz="1800" dirty="0"/>
              </a:p>
            </p:txBody>
          </p:sp>
        </p:grpSp>
        <p:grpSp>
          <p:nvGrpSpPr>
            <p:cNvPr id="7" name="Group 28"/>
            <p:cNvGrpSpPr/>
            <p:nvPr/>
          </p:nvGrpSpPr>
          <p:grpSpPr>
            <a:xfrm>
              <a:off x="552877" y="2686539"/>
              <a:ext cx="596208" cy="439725"/>
              <a:chOff x="757996" y="3539901"/>
              <a:chExt cx="596208" cy="439725"/>
            </a:xfrm>
          </p:grpSpPr>
          <p:pic>
            <p:nvPicPr>
              <p:cNvPr id="285"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86" name="Rectangle 285"/>
              <p:cNvSpPr/>
              <p:nvPr/>
            </p:nvSpPr>
            <p:spPr>
              <a:xfrm>
                <a:off x="757996" y="3610294"/>
                <a:ext cx="314510" cy="369332"/>
              </a:xfrm>
              <a:prstGeom prst="rect">
                <a:avLst/>
              </a:prstGeom>
            </p:spPr>
            <p:txBody>
              <a:bodyPr wrap="none">
                <a:spAutoFit/>
              </a:bodyPr>
              <a:lstStyle/>
              <a:p>
                <a:r>
                  <a:rPr lang="en-US" sz="1800" dirty="0" smtClean="0"/>
                  <a:t>+</a:t>
                </a:r>
                <a:endParaRPr lang="en-US" sz="1800" dirty="0"/>
              </a:p>
            </p:txBody>
          </p:sp>
        </p:grpSp>
        <p:grpSp>
          <p:nvGrpSpPr>
            <p:cNvPr id="8" name="Group 29"/>
            <p:cNvGrpSpPr/>
            <p:nvPr/>
          </p:nvGrpSpPr>
          <p:grpSpPr>
            <a:xfrm>
              <a:off x="596347" y="1616483"/>
              <a:ext cx="543426" cy="383531"/>
              <a:chOff x="783099" y="4017829"/>
              <a:chExt cx="543426" cy="383531"/>
            </a:xfrm>
          </p:grpSpPr>
          <p:pic>
            <p:nvPicPr>
              <p:cNvPr id="283" name="Picture 3"/>
              <p:cNvPicPr>
                <a:picLocks noChangeAspect="1" noChangeArrowheads="1"/>
              </p:cNvPicPr>
              <p:nvPr/>
            </p:nvPicPr>
            <p:blipFill>
              <a:blip r:embed="rId2" cstate="print"/>
              <a:srcRect/>
              <a:stretch>
                <a:fillRect/>
              </a:stretch>
            </p:blipFill>
            <p:spPr bwMode="auto">
              <a:xfrm>
                <a:off x="1002541" y="4017829"/>
                <a:ext cx="323984" cy="326826"/>
              </a:xfrm>
              <a:prstGeom prst="rect">
                <a:avLst/>
              </a:prstGeom>
              <a:noFill/>
              <a:ln w="9525">
                <a:noFill/>
                <a:miter lim="800000"/>
                <a:headEnd/>
                <a:tailEnd/>
              </a:ln>
              <a:effectLst/>
            </p:spPr>
          </p:pic>
          <p:sp>
            <p:nvSpPr>
              <p:cNvPr id="284" name="Rectangle 283"/>
              <p:cNvSpPr/>
              <p:nvPr/>
            </p:nvSpPr>
            <p:spPr>
              <a:xfrm>
                <a:off x="783099" y="4032028"/>
                <a:ext cx="314510" cy="369332"/>
              </a:xfrm>
              <a:prstGeom prst="rect">
                <a:avLst/>
              </a:prstGeom>
            </p:spPr>
            <p:txBody>
              <a:bodyPr wrap="none">
                <a:spAutoFit/>
              </a:bodyPr>
              <a:lstStyle/>
              <a:p>
                <a:r>
                  <a:rPr lang="en-US" sz="1800" dirty="0" smtClean="0"/>
                  <a:t>+</a:t>
                </a:r>
                <a:endParaRPr lang="en-US" sz="1800" dirty="0"/>
              </a:p>
            </p:txBody>
          </p:sp>
        </p:grpSp>
        <p:grpSp>
          <p:nvGrpSpPr>
            <p:cNvPr id="9" name="Group 29"/>
            <p:cNvGrpSpPr/>
            <p:nvPr/>
          </p:nvGrpSpPr>
          <p:grpSpPr>
            <a:xfrm>
              <a:off x="1524141" y="1877431"/>
              <a:ext cx="570845" cy="432641"/>
              <a:chOff x="1015420" y="3886256"/>
              <a:chExt cx="570845" cy="432641"/>
            </a:xfrm>
          </p:grpSpPr>
          <p:pic>
            <p:nvPicPr>
              <p:cNvPr id="281"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82" name="Rectangle 281"/>
              <p:cNvSpPr/>
              <p:nvPr/>
            </p:nvSpPr>
            <p:spPr>
              <a:xfrm>
                <a:off x="1271755" y="3886256"/>
                <a:ext cx="314510" cy="369332"/>
              </a:xfrm>
              <a:prstGeom prst="rect">
                <a:avLst/>
              </a:prstGeom>
            </p:spPr>
            <p:txBody>
              <a:bodyPr wrap="none">
                <a:spAutoFit/>
              </a:bodyPr>
              <a:lstStyle/>
              <a:p>
                <a:r>
                  <a:rPr lang="en-US" sz="1800" dirty="0" smtClean="0"/>
                  <a:t>+</a:t>
                </a:r>
                <a:endParaRPr lang="en-US" sz="1800" dirty="0"/>
              </a:p>
            </p:txBody>
          </p:sp>
        </p:grpSp>
        <p:grpSp>
          <p:nvGrpSpPr>
            <p:cNvPr id="10" name="Group 28"/>
            <p:cNvGrpSpPr/>
            <p:nvPr/>
          </p:nvGrpSpPr>
          <p:grpSpPr>
            <a:xfrm>
              <a:off x="1274969" y="1573197"/>
              <a:ext cx="554604" cy="397479"/>
              <a:chOff x="1033062" y="3477774"/>
              <a:chExt cx="554604" cy="397479"/>
            </a:xfrm>
          </p:grpSpPr>
          <p:pic>
            <p:nvPicPr>
              <p:cNvPr id="279"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80" name="Rectangle 279"/>
              <p:cNvSpPr/>
              <p:nvPr/>
            </p:nvSpPr>
            <p:spPr>
              <a:xfrm>
                <a:off x="1273156" y="3477774"/>
                <a:ext cx="314510" cy="369332"/>
              </a:xfrm>
              <a:prstGeom prst="rect">
                <a:avLst/>
              </a:prstGeom>
            </p:spPr>
            <p:txBody>
              <a:bodyPr wrap="none">
                <a:spAutoFit/>
              </a:bodyPr>
              <a:lstStyle/>
              <a:p>
                <a:r>
                  <a:rPr lang="en-US" sz="1800" dirty="0" smtClean="0"/>
                  <a:t>+</a:t>
                </a:r>
                <a:endParaRPr lang="en-US" sz="1800" dirty="0"/>
              </a:p>
            </p:txBody>
          </p:sp>
        </p:grpSp>
        <p:grpSp>
          <p:nvGrpSpPr>
            <p:cNvPr id="11" name="Group 28"/>
            <p:cNvGrpSpPr/>
            <p:nvPr/>
          </p:nvGrpSpPr>
          <p:grpSpPr>
            <a:xfrm>
              <a:off x="493242" y="1769646"/>
              <a:ext cx="344417" cy="569758"/>
              <a:chOff x="1009787" y="3305495"/>
              <a:chExt cx="344417" cy="569758"/>
            </a:xfrm>
          </p:grpSpPr>
          <p:pic>
            <p:nvPicPr>
              <p:cNvPr id="277"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78" name="Rectangle 277"/>
              <p:cNvSpPr/>
              <p:nvPr/>
            </p:nvSpPr>
            <p:spPr>
              <a:xfrm>
                <a:off x="1009787" y="3305495"/>
                <a:ext cx="314510" cy="369332"/>
              </a:xfrm>
              <a:prstGeom prst="rect">
                <a:avLst/>
              </a:prstGeom>
            </p:spPr>
            <p:txBody>
              <a:bodyPr wrap="none">
                <a:spAutoFit/>
              </a:bodyPr>
              <a:lstStyle/>
              <a:p>
                <a:r>
                  <a:rPr lang="en-US" sz="1800" dirty="0" smtClean="0"/>
                  <a:t>+</a:t>
                </a:r>
                <a:endParaRPr lang="en-US" sz="1800" dirty="0"/>
              </a:p>
            </p:txBody>
          </p:sp>
        </p:grpSp>
        <p:grpSp>
          <p:nvGrpSpPr>
            <p:cNvPr id="12" name="Group 29"/>
            <p:cNvGrpSpPr/>
            <p:nvPr/>
          </p:nvGrpSpPr>
          <p:grpSpPr>
            <a:xfrm>
              <a:off x="395624" y="2400689"/>
              <a:ext cx="438710" cy="541812"/>
              <a:chOff x="900694" y="3992071"/>
              <a:chExt cx="438710" cy="541812"/>
            </a:xfrm>
          </p:grpSpPr>
          <p:pic>
            <p:nvPicPr>
              <p:cNvPr id="275"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76" name="Rectangle 275"/>
              <p:cNvSpPr/>
              <p:nvPr/>
            </p:nvSpPr>
            <p:spPr>
              <a:xfrm>
                <a:off x="900694" y="4164551"/>
                <a:ext cx="314510" cy="369332"/>
              </a:xfrm>
              <a:prstGeom prst="rect">
                <a:avLst/>
              </a:prstGeom>
            </p:spPr>
            <p:txBody>
              <a:bodyPr wrap="none">
                <a:spAutoFit/>
              </a:bodyPr>
              <a:lstStyle/>
              <a:p>
                <a:r>
                  <a:rPr lang="en-US" sz="1800" dirty="0" smtClean="0"/>
                  <a:t>+</a:t>
                </a:r>
                <a:endParaRPr lang="en-US" sz="1800" dirty="0"/>
              </a:p>
            </p:txBody>
          </p:sp>
        </p:grpSp>
      </p:grpSp>
      <p:grpSp>
        <p:nvGrpSpPr>
          <p:cNvPr id="13" name="Group 238"/>
          <p:cNvGrpSpPr/>
          <p:nvPr/>
        </p:nvGrpSpPr>
        <p:grpSpPr>
          <a:xfrm>
            <a:off x="402251" y="4071232"/>
            <a:ext cx="1699362" cy="1554833"/>
            <a:chOff x="395624" y="1573197"/>
            <a:chExt cx="1699362" cy="1554833"/>
          </a:xfrm>
        </p:grpSpPr>
        <p:grpSp>
          <p:nvGrpSpPr>
            <p:cNvPr id="14" name="Group 29"/>
            <p:cNvGrpSpPr/>
            <p:nvPr/>
          </p:nvGrpSpPr>
          <p:grpSpPr>
            <a:xfrm>
              <a:off x="1265724" y="2678985"/>
              <a:ext cx="544341" cy="449045"/>
              <a:chOff x="1015420" y="3992071"/>
              <a:chExt cx="544341" cy="449045"/>
            </a:xfrm>
          </p:grpSpPr>
          <p:pic>
            <p:nvPicPr>
              <p:cNvPr id="262"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63" name="Rectangle 262"/>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15" name="Group 28"/>
            <p:cNvGrpSpPr/>
            <p:nvPr/>
          </p:nvGrpSpPr>
          <p:grpSpPr>
            <a:xfrm>
              <a:off x="1520133" y="2370818"/>
              <a:ext cx="554604" cy="439725"/>
              <a:chOff x="1033062" y="3539901"/>
              <a:chExt cx="554604" cy="439725"/>
            </a:xfrm>
          </p:grpSpPr>
          <p:pic>
            <p:nvPicPr>
              <p:cNvPr id="260"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61" name="Rectangle 260"/>
              <p:cNvSpPr/>
              <p:nvPr/>
            </p:nvSpPr>
            <p:spPr>
              <a:xfrm>
                <a:off x="1273156" y="3610294"/>
                <a:ext cx="314510" cy="369332"/>
              </a:xfrm>
              <a:prstGeom prst="rect">
                <a:avLst/>
              </a:prstGeom>
            </p:spPr>
            <p:txBody>
              <a:bodyPr wrap="none">
                <a:spAutoFit/>
              </a:bodyPr>
              <a:lstStyle/>
              <a:p>
                <a:r>
                  <a:rPr lang="en-US" sz="1800" dirty="0" smtClean="0"/>
                  <a:t>+</a:t>
                </a:r>
                <a:endParaRPr lang="en-US" sz="1800" dirty="0"/>
              </a:p>
            </p:txBody>
          </p:sp>
        </p:grpSp>
        <p:grpSp>
          <p:nvGrpSpPr>
            <p:cNvPr id="16" name="Group 28"/>
            <p:cNvGrpSpPr/>
            <p:nvPr/>
          </p:nvGrpSpPr>
          <p:grpSpPr>
            <a:xfrm>
              <a:off x="552877" y="2686539"/>
              <a:ext cx="596208" cy="439725"/>
              <a:chOff x="757996" y="3539901"/>
              <a:chExt cx="596208" cy="439725"/>
            </a:xfrm>
          </p:grpSpPr>
          <p:pic>
            <p:nvPicPr>
              <p:cNvPr id="258"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59" name="Rectangle 258"/>
              <p:cNvSpPr/>
              <p:nvPr/>
            </p:nvSpPr>
            <p:spPr>
              <a:xfrm>
                <a:off x="757996" y="3610294"/>
                <a:ext cx="314510" cy="369332"/>
              </a:xfrm>
              <a:prstGeom prst="rect">
                <a:avLst/>
              </a:prstGeom>
            </p:spPr>
            <p:txBody>
              <a:bodyPr wrap="none">
                <a:spAutoFit/>
              </a:bodyPr>
              <a:lstStyle/>
              <a:p>
                <a:r>
                  <a:rPr lang="en-US" sz="1800" dirty="0" smtClean="0"/>
                  <a:t>+</a:t>
                </a:r>
                <a:endParaRPr lang="en-US" sz="1800" dirty="0"/>
              </a:p>
            </p:txBody>
          </p:sp>
        </p:grpSp>
        <p:grpSp>
          <p:nvGrpSpPr>
            <p:cNvPr id="17" name="Group 29"/>
            <p:cNvGrpSpPr/>
            <p:nvPr/>
          </p:nvGrpSpPr>
          <p:grpSpPr>
            <a:xfrm>
              <a:off x="596347" y="1616483"/>
              <a:ext cx="543426" cy="383531"/>
              <a:chOff x="783099" y="4017829"/>
              <a:chExt cx="543426" cy="383531"/>
            </a:xfrm>
          </p:grpSpPr>
          <p:pic>
            <p:nvPicPr>
              <p:cNvPr id="256" name="Picture 3"/>
              <p:cNvPicPr>
                <a:picLocks noChangeAspect="1" noChangeArrowheads="1"/>
              </p:cNvPicPr>
              <p:nvPr/>
            </p:nvPicPr>
            <p:blipFill>
              <a:blip r:embed="rId2" cstate="print"/>
              <a:srcRect/>
              <a:stretch>
                <a:fillRect/>
              </a:stretch>
            </p:blipFill>
            <p:spPr bwMode="auto">
              <a:xfrm>
                <a:off x="1002541" y="4017829"/>
                <a:ext cx="323984" cy="326826"/>
              </a:xfrm>
              <a:prstGeom prst="rect">
                <a:avLst/>
              </a:prstGeom>
              <a:noFill/>
              <a:ln w="9525">
                <a:noFill/>
                <a:miter lim="800000"/>
                <a:headEnd/>
                <a:tailEnd/>
              </a:ln>
              <a:effectLst/>
            </p:spPr>
          </p:pic>
          <p:sp>
            <p:nvSpPr>
              <p:cNvPr id="257" name="Rectangle 256"/>
              <p:cNvSpPr/>
              <p:nvPr/>
            </p:nvSpPr>
            <p:spPr>
              <a:xfrm>
                <a:off x="783099" y="4032028"/>
                <a:ext cx="314510" cy="369332"/>
              </a:xfrm>
              <a:prstGeom prst="rect">
                <a:avLst/>
              </a:prstGeom>
            </p:spPr>
            <p:txBody>
              <a:bodyPr wrap="none">
                <a:spAutoFit/>
              </a:bodyPr>
              <a:lstStyle/>
              <a:p>
                <a:r>
                  <a:rPr lang="en-US" sz="1800" dirty="0" smtClean="0"/>
                  <a:t>+</a:t>
                </a:r>
                <a:endParaRPr lang="en-US" sz="1800" dirty="0"/>
              </a:p>
            </p:txBody>
          </p:sp>
        </p:grpSp>
        <p:grpSp>
          <p:nvGrpSpPr>
            <p:cNvPr id="18" name="Group 29"/>
            <p:cNvGrpSpPr/>
            <p:nvPr/>
          </p:nvGrpSpPr>
          <p:grpSpPr>
            <a:xfrm>
              <a:off x="1524141" y="1877431"/>
              <a:ext cx="570845" cy="432641"/>
              <a:chOff x="1015420" y="3886256"/>
              <a:chExt cx="570845" cy="432641"/>
            </a:xfrm>
          </p:grpSpPr>
          <p:pic>
            <p:nvPicPr>
              <p:cNvPr id="254"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55" name="Rectangle 254"/>
              <p:cNvSpPr/>
              <p:nvPr/>
            </p:nvSpPr>
            <p:spPr>
              <a:xfrm>
                <a:off x="1271755" y="3886256"/>
                <a:ext cx="314510" cy="369332"/>
              </a:xfrm>
              <a:prstGeom prst="rect">
                <a:avLst/>
              </a:prstGeom>
            </p:spPr>
            <p:txBody>
              <a:bodyPr wrap="none">
                <a:spAutoFit/>
              </a:bodyPr>
              <a:lstStyle/>
              <a:p>
                <a:r>
                  <a:rPr lang="en-US" sz="1800" dirty="0" smtClean="0"/>
                  <a:t>+</a:t>
                </a:r>
                <a:endParaRPr lang="en-US" sz="1800" dirty="0"/>
              </a:p>
            </p:txBody>
          </p:sp>
        </p:grpSp>
        <p:grpSp>
          <p:nvGrpSpPr>
            <p:cNvPr id="19" name="Group 28"/>
            <p:cNvGrpSpPr/>
            <p:nvPr/>
          </p:nvGrpSpPr>
          <p:grpSpPr>
            <a:xfrm>
              <a:off x="1274969" y="1573197"/>
              <a:ext cx="554604" cy="397479"/>
              <a:chOff x="1033062" y="3477774"/>
              <a:chExt cx="554604" cy="397479"/>
            </a:xfrm>
          </p:grpSpPr>
          <p:pic>
            <p:nvPicPr>
              <p:cNvPr id="252"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53" name="Rectangle 252"/>
              <p:cNvSpPr/>
              <p:nvPr/>
            </p:nvSpPr>
            <p:spPr>
              <a:xfrm>
                <a:off x="1273156" y="3477774"/>
                <a:ext cx="314510" cy="369332"/>
              </a:xfrm>
              <a:prstGeom prst="rect">
                <a:avLst/>
              </a:prstGeom>
            </p:spPr>
            <p:txBody>
              <a:bodyPr wrap="none">
                <a:spAutoFit/>
              </a:bodyPr>
              <a:lstStyle/>
              <a:p>
                <a:r>
                  <a:rPr lang="en-US" sz="1800" dirty="0" smtClean="0"/>
                  <a:t>+</a:t>
                </a:r>
                <a:endParaRPr lang="en-US" sz="1800" dirty="0"/>
              </a:p>
            </p:txBody>
          </p:sp>
        </p:grpSp>
        <p:grpSp>
          <p:nvGrpSpPr>
            <p:cNvPr id="20" name="Group 28"/>
            <p:cNvGrpSpPr/>
            <p:nvPr/>
          </p:nvGrpSpPr>
          <p:grpSpPr>
            <a:xfrm>
              <a:off x="493242" y="1769646"/>
              <a:ext cx="344417" cy="569758"/>
              <a:chOff x="1009787" y="3305495"/>
              <a:chExt cx="344417" cy="569758"/>
            </a:xfrm>
          </p:grpSpPr>
          <p:pic>
            <p:nvPicPr>
              <p:cNvPr id="250"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51" name="Rectangle 250"/>
              <p:cNvSpPr/>
              <p:nvPr/>
            </p:nvSpPr>
            <p:spPr>
              <a:xfrm>
                <a:off x="1009787" y="3305495"/>
                <a:ext cx="314510" cy="369332"/>
              </a:xfrm>
              <a:prstGeom prst="rect">
                <a:avLst/>
              </a:prstGeom>
            </p:spPr>
            <p:txBody>
              <a:bodyPr wrap="none">
                <a:spAutoFit/>
              </a:bodyPr>
              <a:lstStyle/>
              <a:p>
                <a:r>
                  <a:rPr lang="en-US" sz="1800" dirty="0" smtClean="0"/>
                  <a:t>+</a:t>
                </a:r>
                <a:endParaRPr lang="en-US" sz="1800" dirty="0"/>
              </a:p>
            </p:txBody>
          </p:sp>
        </p:grpSp>
        <p:grpSp>
          <p:nvGrpSpPr>
            <p:cNvPr id="21" name="Group 29"/>
            <p:cNvGrpSpPr/>
            <p:nvPr/>
          </p:nvGrpSpPr>
          <p:grpSpPr>
            <a:xfrm>
              <a:off x="395624" y="2400689"/>
              <a:ext cx="438710" cy="541812"/>
              <a:chOff x="900694" y="3992071"/>
              <a:chExt cx="438710" cy="541812"/>
            </a:xfrm>
          </p:grpSpPr>
          <p:pic>
            <p:nvPicPr>
              <p:cNvPr id="248"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49" name="Rectangle 248"/>
              <p:cNvSpPr/>
              <p:nvPr/>
            </p:nvSpPr>
            <p:spPr>
              <a:xfrm>
                <a:off x="900694" y="4164551"/>
                <a:ext cx="314510" cy="369332"/>
              </a:xfrm>
              <a:prstGeom prst="rect">
                <a:avLst/>
              </a:prstGeom>
            </p:spPr>
            <p:txBody>
              <a:bodyPr wrap="none">
                <a:spAutoFit/>
              </a:bodyPr>
              <a:lstStyle/>
              <a:p>
                <a:r>
                  <a:rPr lang="en-US" sz="1800" dirty="0" smtClean="0"/>
                  <a:t>+</a:t>
                </a:r>
                <a:endParaRPr lang="en-US" sz="1800" dirty="0"/>
              </a:p>
            </p:txBody>
          </p:sp>
        </p:grpSp>
      </p:grpSp>
      <p:grpSp>
        <p:nvGrpSpPr>
          <p:cNvPr id="22" name="Group 237"/>
          <p:cNvGrpSpPr/>
          <p:nvPr/>
        </p:nvGrpSpPr>
        <p:grpSpPr>
          <a:xfrm>
            <a:off x="395624" y="1616483"/>
            <a:ext cx="1699362" cy="1511547"/>
            <a:chOff x="395624" y="1616483"/>
            <a:chExt cx="1699362" cy="1511547"/>
          </a:xfrm>
        </p:grpSpPr>
        <p:grpSp>
          <p:nvGrpSpPr>
            <p:cNvPr id="23" name="Group 29"/>
            <p:cNvGrpSpPr/>
            <p:nvPr/>
          </p:nvGrpSpPr>
          <p:grpSpPr>
            <a:xfrm>
              <a:off x="1265724" y="2678985"/>
              <a:ext cx="544341" cy="449045"/>
              <a:chOff x="1015420" y="3992071"/>
              <a:chExt cx="544341" cy="449045"/>
            </a:xfrm>
          </p:grpSpPr>
          <p:pic>
            <p:nvPicPr>
              <p:cNvPr id="196"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97" name="Rectangle 196"/>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24" name="Group 28"/>
            <p:cNvGrpSpPr/>
            <p:nvPr/>
          </p:nvGrpSpPr>
          <p:grpSpPr>
            <a:xfrm>
              <a:off x="1520133" y="2370818"/>
              <a:ext cx="554604" cy="439725"/>
              <a:chOff x="1033062" y="3539901"/>
              <a:chExt cx="554604" cy="439725"/>
            </a:xfrm>
          </p:grpSpPr>
          <p:pic>
            <p:nvPicPr>
              <p:cNvPr id="194"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195" name="Rectangle 194"/>
              <p:cNvSpPr/>
              <p:nvPr/>
            </p:nvSpPr>
            <p:spPr>
              <a:xfrm>
                <a:off x="1273156" y="3610294"/>
                <a:ext cx="314510" cy="369332"/>
              </a:xfrm>
              <a:prstGeom prst="rect">
                <a:avLst/>
              </a:prstGeom>
            </p:spPr>
            <p:txBody>
              <a:bodyPr wrap="none">
                <a:spAutoFit/>
              </a:bodyPr>
              <a:lstStyle/>
              <a:p>
                <a:r>
                  <a:rPr lang="en-US" sz="1800" dirty="0" smtClean="0"/>
                  <a:t>+</a:t>
                </a:r>
                <a:endParaRPr lang="en-US" sz="1800" dirty="0"/>
              </a:p>
            </p:txBody>
          </p:sp>
        </p:grpSp>
        <p:grpSp>
          <p:nvGrpSpPr>
            <p:cNvPr id="25" name="Group 28"/>
            <p:cNvGrpSpPr/>
            <p:nvPr/>
          </p:nvGrpSpPr>
          <p:grpSpPr>
            <a:xfrm>
              <a:off x="552877" y="2686539"/>
              <a:ext cx="596208" cy="439725"/>
              <a:chOff x="757996" y="3539901"/>
              <a:chExt cx="596208" cy="439725"/>
            </a:xfrm>
          </p:grpSpPr>
          <p:pic>
            <p:nvPicPr>
              <p:cNvPr id="192"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193" name="Rectangle 192"/>
              <p:cNvSpPr/>
              <p:nvPr/>
            </p:nvSpPr>
            <p:spPr>
              <a:xfrm>
                <a:off x="757996" y="3610294"/>
                <a:ext cx="314510" cy="369332"/>
              </a:xfrm>
              <a:prstGeom prst="rect">
                <a:avLst/>
              </a:prstGeom>
            </p:spPr>
            <p:txBody>
              <a:bodyPr wrap="none">
                <a:spAutoFit/>
              </a:bodyPr>
              <a:lstStyle/>
              <a:p>
                <a:r>
                  <a:rPr lang="en-US" sz="1800" dirty="0" smtClean="0"/>
                  <a:t>+</a:t>
                </a:r>
                <a:endParaRPr lang="en-US" sz="1800" dirty="0"/>
              </a:p>
            </p:txBody>
          </p:sp>
        </p:grpSp>
        <p:grpSp>
          <p:nvGrpSpPr>
            <p:cNvPr id="26" name="Group 29"/>
            <p:cNvGrpSpPr/>
            <p:nvPr/>
          </p:nvGrpSpPr>
          <p:grpSpPr>
            <a:xfrm>
              <a:off x="596347" y="1616483"/>
              <a:ext cx="543426" cy="383531"/>
              <a:chOff x="783099" y="4017829"/>
              <a:chExt cx="543426" cy="383531"/>
            </a:xfrm>
          </p:grpSpPr>
          <p:pic>
            <p:nvPicPr>
              <p:cNvPr id="190" name="Picture 3"/>
              <p:cNvPicPr>
                <a:picLocks noChangeAspect="1" noChangeArrowheads="1"/>
              </p:cNvPicPr>
              <p:nvPr/>
            </p:nvPicPr>
            <p:blipFill>
              <a:blip r:embed="rId2" cstate="print"/>
              <a:srcRect/>
              <a:stretch>
                <a:fillRect/>
              </a:stretch>
            </p:blipFill>
            <p:spPr bwMode="auto">
              <a:xfrm>
                <a:off x="1002541" y="4017829"/>
                <a:ext cx="323984" cy="326826"/>
              </a:xfrm>
              <a:prstGeom prst="rect">
                <a:avLst/>
              </a:prstGeom>
              <a:noFill/>
              <a:ln w="9525">
                <a:noFill/>
                <a:miter lim="800000"/>
                <a:headEnd/>
                <a:tailEnd/>
              </a:ln>
              <a:effectLst/>
            </p:spPr>
          </p:pic>
          <p:sp>
            <p:nvSpPr>
              <p:cNvPr id="191" name="Rectangle 190"/>
              <p:cNvSpPr/>
              <p:nvPr/>
            </p:nvSpPr>
            <p:spPr>
              <a:xfrm>
                <a:off x="783099" y="4032028"/>
                <a:ext cx="314510" cy="369332"/>
              </a:xfrm>
              <a:prstGeom prst="rect">
                <a:avLst/>
              </a:prstGeom>
            </p:spPr>
            <p:txBody>
              <a:bodyPr wrap="none">
                <a:spAutoFit/>
              </a:bodyPr>
              <a:lstStyle/>
              <a:p>
                <a:r>
                  <a:rPr lang="en-US" sz="1800" dirty="0" smtClean="0"/>
                  <a:t>+</a:t>
                </a:r>
                <a:endParaRPr lang="en-US" sz="1800" dirty="0"/>
              </a:p>
            </p:txBody>
          </p:sp>
        </p:grpSp>
        <p:grpSp>
          <p:nvGrpSpPr>
            <p:cNvPr id="27" name="Group 29"/>
            <p:cNvGrpSpPr/>
            <p:nvPr/>
          </p:nvGrpSpPr>
          <p:grpSpPr>
            <a:xfrm>
              <a:off x="1524141" y="1877431"/>
              <a:ext cx="570845" cy="432641"/>
              <a:chOff x="1015420" y="3886256"/>
              <a:chExt cx="570845" cy="432641"/>
            </a:xfrm>
          </p:grpSpPr>
          <p:pic>
            <p:nvPicPr>
              <p:cNvPr id="203"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04" name="Rectangle 203"/>
              <p:cNvSpPr/>
              <p:nvPr/>
            </p:nvSpPr>
            <p:spPr>
              <a:xfrm>
                <a:off x="1271755" y="3886256"/>
                <a:ext cx="314510" cy="369332"/>
              </a:xfrm>
              <a:prstGeom prst="rect">
                <a:avLst/>
              </a:prstGeom>
            </p:spPr>
            <p:txBody>
              <a:bodyPr wrap="none">
                <a:spAutoFit/>
              </a:bodyPr>
              <a:lstStyle/>
              <a:p>
                <a:r>
                  <a:rPr lang="en-US" sz="1800" dirty="0" smtClean="0"/>
                  <a:t>+</a:t>
                </a:r>
                <a:endParaRPr lang="en-US" sz="1800" dirty="0"/>
              </a:p>
            </p:txBody>
          </p:sp>
        </p:grpSp>
        <p:grpSp>
          <p:nvGrpSpPr>
            <p:cNvPr id="28" name="Group 28"/>
            <p:cNvGrpSpPr/>
            <p:nvPr/>
          </p:nvGrpSpPr>
          <p:grpSpPr>
            <a:xfrm>
              <a:off x="1274969" y="1635324"/>
              <a:ext cx="554604" cy="439725"/>
              <a:chOff x="1033062" y="3539901"/>
              <a:chExt cx="554604" cy="439725"/>
            </a:xfrm>
          </p:grpSpPr>
          <p:pic>
            <p:nvPicPr>
              <p:cNvPr id="219"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20" name="Rectangle 219"/>
              <p:cNvSpPr/>
              <p:nvPr/>
            </p:nvSpPr>
            <p:spPr>
              <a:xfrm>
                <a:off x="1273156" y="3610294"/>
                <a:ext cx="314510" cy="369332"/>
              </a:xfrm>
              <a:prstGeom prst="rect">
                <a:avLst/>
              </a:prstGeom>
            </p:spPr>
            <p:txBody>
              <a:bodyPr wrap="none">
                <a:spAutoFit/>
              </a:bodyPr>
              <a:lstStyle/>
              <a:p>
                <a:r>
                  <a:rPr lang="en-US" sz="1800" dirty="0" smtClean="0"/>
                  <a:t>+</a:t>
                </a:r>
                <a:endParaRPr lang="en-US" sz="1800" dirty="0"/>
              </a:p>
            </p:txBody>
          </p:sp>
        </p:grpSp>
        <p:grpSp>
          <p:nvGrpSpPr>
            <p:cNvPr id="29" name="Group 28"/>
            <p:cNvGrpSpPr/>
            <p:nvPr/>
          </p:nvGrpSpPr>
          <p:grpSpPr>
            <a:xfrm>
              <a:off x="493242" y="1769646"/>
              <a:ext cx="344417" cy="569758"/>
              <a:chOff x="1009787" y="3305495"/>
              <a:chExt cx="344417" cy="569758"/>
            </a:xfrm>
          </p:grpSpPr>
          <p:pic>
            <p:nvPicPr>
              <p:cNvPr id="233"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34" name="Rectangle 233"/>
              <p:cNvSpPr/>
              <p:nvPr/>
            </p:nvSpPr>
            <p:spPr>
              <a:xfrm>
                <a:off x="1009787" y="3305495"/>
                <a:ext cx="314510" cy="369332"/>
              </a:xfrm>
              <a:prstGeom prst="rect">
                <a:avLst/>
              </a:prstGeom>
            </p:spPr>
            <p:txBody>
              <a:bodyPr wrap="none">
                <a:spAutoFit/>
              </a:bodyPr>
              <a:lstStyle/>
              <a:p>
                <a:r>
                  <a:rPr lang="en-US" sz="1800" dirty="0" smtClean="0"/>
                  <a:t>+</a:t>
                </a:r>
                <a:endParaRPr lang="en-US" sz="1800" dirty="0"/>
              </a:p>
            </p:txBody>
          </p:sp>
        </p:grpSp>
        <p:grpSp>
          <p:nvGrpSpPr>
            <p:cNvPr id="30" name="Group 29"/>
            <p:cNvGrpSpPr/>
            <p:nvPr/>
          </p:nvGrpSpPr>
          <p:grpSpPr>
            <a:xfrm>
              <a:off x="395624" y="2400689"/>
              <a:ext cx="438710" cy="541812"/>
              <a:chOff x="900694" y="3992071"/>
              <a:chExt cx="438710" cy="541812"/>
            </a:xfrm>
          </p:grpSpPr>
          <p:pic>
            <p:nvPicPr>
              <p:cNvPr id="236"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37" name="Rectangle 236"/>
              <p:cNvSpPr/>
              <p:nvPr/>
            </p:nvSpPr>
            <p:spPr>
              <a:xfrm>
                <a:off x="900694" y="4164551"/>
                <a:ext cx="314510" cy="369332"/>
              </a:xfrm>
              <a:prstGeom prst="rect">
                <a:avLst/>
              </a:prstGeom>
            </p:spPr>
            <p:txBody>
              <a:bodyPr wrap="none">
                <a:spAutoFit/>
              </a:bodyPr>
              <a:lstStyle/>
              <a:p>
                <a:r>
                  <a:rPr lang="en-US" sz="1800" dirty="0" smtClean="0"/>
                  <a:t>+</a:t>
                </a:r>
                <a:endParaRPr lang="en-US" sz="1800" dirty="0"/>
              </a:p>
            </p:txBody>
          </p:sp>
        </p:grpSp>
      </p:grpSp>
      <p:grpSp>
        <p:nvGrpSpPr>
          <p:cNvPr id="31" name="Group 290"/>
          <p:cNvGrpSpPr/>
          <p:nvPr/>
        </p:nvGrpSpPr>
        <p:grpSpPr>
          <a:xfrm>
            <a:off x="3211713" y="1566569"/>
            <a:ext cx="1699362" cy="1554833"/>
            <a:chOff x="395624" y="1573197"/>
            <a:chExt cx="1699362" cy="1554833"/>
          </a:xfrm>
        </p:grpSpPr>
        <p:grpSp>
          <p:nvGrpSpPr>
            <p:cNvPr id="32" name="Group 29"/>
            <p:cNvGrpSpPr/>
            <p:nvPr/>
          </p:nvGrpSpPr>
          <p:grpSpPr>
            <a:xfrm>
              <a:off x="1265724" y="2678985"/>
              <a:ext cx="544341" cy="449045"/>
              <a:chOff x="1015420" y="3992071"/>
              <a:chExt cx="544341" cy="449045"/>
            </a:xfrm>
          </p:grpSpPr>
          <p:pic>
            <p:nvPicPr>
              <p:cNvPr id="314"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315" name="Rectangle 314"/>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33" name="Group 28"/>
            <p:cNvGrpSpPr/>
            <p:nvPr/>
          </p:nvGrpSpPr>
          <p:grpSpPr>
            <a:xfrm>
              <a:off x="1520133" y="2370818"/>
              <a:ext cx="554604" cy="439725"/>
              <a:chOff x="1033062" y="3539901"/>
              <a:chExt cx="554604" cy="439725"/>
            </a:xfrm>
          </p:grpSpPr>
          <p:pic>
            <p:nvPicPr>
              <p:cNvPr id="312"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313" name="Rectangle 312"/>
              <p:cNvSpPr/>
              <p:nvPr/>
            </p:nvSpPr>
            <p:spPr>
              <a:xfrm>
                <a:off x="1273156" y="3610294"/>
                <a:ext cx="314510" cy="369332"/>
              </a:xfrm>
              <a:prstGeom prst="rect">
                <a:avLst/>
              </a:prstGeom>
            </p:spPr>
            <p:txBody>
              <a:bodyPr wrap="none">
                <a:spAutoFit/>
              </a:bodyPr>
              <a:lstStyle/>
              <a:p>
                <a:r>
                  <a:rPr lang="en-US" sz="1800" dirty="0" smtClean="0"/>
                  <a:t>+</a:t>
                </a:r>
                <a:endParaRPr lang="en-US" sz="1800" dirty="0"/>
              </a:p>
            </p:txBody>
          </p:sp>
        </p:grpSp>
        <p:grpSp>
          <p:nvGrpSpPr>
            <p:cNvPr id="34" name="Group 28"/>
            <p:cNvGrpSpPr/>
            <p:nvPr/>
          </p:nvGrpSpPr>
          <p:grpSpPr>
            <a:xfrm>
              <a:off x="552877" y="2686539"/>
              <a:ext cx="596208" cy="439725"/>
              <a:chOff x="757996" y="3539901"/>
              <a:chExt cx="596208" cy="439725"/>
            </a:xfrm>
          </p:grpSpPr>
          <p:pic>
            <p:nvPicPr>
              <p:cNvPr id="310"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311" name="Rectangle 310"/>
              <p:cNvSpPr/>
              <p:nvPr/>
            </p:nvSpPr>
            <p:spPr>
              <a:xfrm>
                <a:off x="757996" y="3610294"/>
                <a:ext cx="314510" cy="369332"/>
              </a:xfrm>
              <a:prstGeom prst="rect">
                <a:avLst/>
              </a:prstGeom>
            </p:spPr>
            <p:txBody>
              <a:bodyPr wrap="none">
                <a:spAutoFit/>
              </a:bodyPr>
              <a:lstStyle/>
              <a:p>
                <a:r>
                  <a:rPr lang="en-US" sz="1800" dirty="0" smtClean="0"/>
                  <a:t>+</a:t>
                </a:r>
                <a:endParaRPr lang="en-US" sz="1800" dirty="0"/>
              </a:p>
            </p:txBody>
          </p:sp>
        </p:grpSp>
        <p:grpSp>
          <p:nvGrpSpPr>
            <p:cNvPr id="35" name="Group 29"/>
            <p:cNvGrpSpPr/>
            <p:nvPr/>
          </p:nvGrpSpPr>
          <p:grpSpPr>
            <a:xfrm>
              <a:off x="596347" y="1616483"/>
              <a:ext cx="543426" cy="383531"/>
              <a:chOff x="783099" y="4017829"/>
              <a:chExt cx="543426" cy="383531"/>
            </a:xfrm>
          </p:grpSpPr>
          <p:pic>
            <p:nvPicPr>
              <p:cNvPr id="308" name="Picture 3"/>
              <p:cNvPicPr>
                <a:picLocks noChangeAspect="1" noChangeArrowheads="1"/>
              </p:cNvPicPr>
              <p:nvPr/>
            </p:nvPicPr>
            <p:blipFill>
              <a:blip r:embed="rId2" cstate="print"/>
              <a:srcRect/>
              <a:stretch>
                <a:fillRect/>
              </a:stretch>
            </p:blipFill>
            <p:spPr bwMode="auto">
              <a:xfrm>
                <a:off x="1002541" y="4017829"/>
                <a:ext cx="323984" cy="326826"/>
              </a:xfrm>
              <a:prstGeom prst="rect">
                <a:avLst/>
              </a:prstGeom>
              <a:noFill/>
              <a:ln w="9525">
                <a:noFill/>
                <a:miter lim="800000"/>
                <a:headEnd/>
                <a:tailEnd/>
              </a:ln>
              <a:effectLst/>
            </p:spPr>
          </p:pic>
          <p:sp>
            <p:nvSpPr>
              <p:cNvPr id="309" name="Rectangle 308"/>
              <p:cNvSpPr/>
              <p:nvPr/>
            </p:nvSpPr>
            <p:spPr>
              <a:xfrm>
                <a:off x="783099" y="4032028"/>
                <a:ext cx="314510" cy="369332"/>
              </a:xfrm>
              <a:prstGeom prst="rect">
                <a:avLst/>
              </a:prstGeom>
            </p:spPr>
            <p:txBody>
              <a:bodyPr wrap="none">
                <a:spAutoFit/>
              </a:bodyPr>
              <a:lstStyle/>
              <a:p>
                <a:r>
                  <a:rPr lang="en-US" sz="1800" dirty="0" smtClean="0"/>
                  <a:t>+</a:t>
                </a:r>
                <a:endParaRPr lang="en-US" sz="1800" dirty="0"/>
              </a:p>
            </p:txBody>
          </p:sp>
        </p:grpSp>
        <p:grpSp>
          <p:nvGrpSpPr>
            <p:cNvPr id="36" name="Group 29"/>
            <p:cNvGrpSpPr/>
            <p:nvPr/>
          </p:nvGrpSpPr>
          <p:grpSpPr>
            <a:xfrm>
              <a:off x="1524141" y="1877431"/>
              <a:ext cx="570845" cy="432641"/>
              <a:chOff x="1015420" y="3886256"/>
              <a:chExt cx="570845" cy="432641"/>
            </a:xfrm>
          </p:grpSpPr>
          <p:pic>
            <p:nvPicPr>
              <p:cNvPr id="306"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307" name="Rectangle 306"/>
              <p:cNvSpPr/>
              <p:nvPr/>
            </p:nvSpPr>
            <p:spPr>
              <a:xfrm>
                <a:off x="1271755" y="3886256"/>
                <a:ext cx="314510" cy="369332"/>
              </a:xfrm>
              <a:prstGeom prst="rect">
                <a:avLst/>
              </a:prstGeom>
            </p:spPr>
            <p:txBody>
              <a:bodyPr wrap="none">
                <a:spAutoFit/>
              </a:bodyPr>
              <a:lstStyle/>
              <a:p>
                <a:r>
                  <a:rPr lang="en-US" sz="1800" dirty="0" smtClean="0"/>
                  <a:t>+</a:t>
                </a:r>
                <a:endParaRPr lang="en-US" sz="1800" dirty="0"/>
              </a:p>
            </p:txBody>
          </p:sp>
        </p:grpSp>
        <p:grpSp>
          <p:nvGrpSpPr>
            <p:cNvPr id="37" name="Group 28"/>
            <p:cNvGrpSpPr/>
            <p:nvPr/>
          </p:nvGrpSpPr>
          <p:grpSpPr>
            <a:xfrm>
              <a:off x="1274969" y="1573197"/>
              <a:ext cx="554604" cy="397479"/>
              <a:chOff x="1033062" y="3477774"/>
              <a:chExt cx="554604" cy="397479"/>
            </a:xfrm>
          </p:grpSpPr>
          <p:pic>
            <p:nvPicPr>
              <p:cNvPr id="304"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305" name="Rectangle 304"/>
              <p:cNvSpPr/>
              <p:nvPr/>
            </p:nvSpPr>
            <p:spPr>
              <a:xfrm>
                <a:off x="1273156" y="3477774"/>
                <a:ext cx="314510" cy="369332"/>
              </a:xfrm>
              <a:prstGeom prst="rect">
                <a:avLst/>
              </a:prstGeom>
            </p:spPr>
            <p:txBody>
              <a:bodyPr wrap="none">
                <a:spAutoFit/>
              </a:bodyPr>
              <a:lstStyle/>
              <a:p>
                <a:r>
                  <a:rPr lang="en-US" sz="1800" dirty="0" smtClean="0"/>
                  <a:t>+</a:t>
                </a:r>
                <a:endParaRPr lang="en-US" sz="1800" dirty="0"/>
              </a:p>
            </p:txBody>
          </p:sp>
        </p:grpSp>
        <p:grpSp>
          <p:nvGrpSpPr>
            <p:cNvPr id="38" name="Group 28"/>
            <p:cNvGrpSpPr/>
            <p:nvPr/>
          </p:nvGrpSpPr>
          <p:grpSpPr>
            <a:xfrm>
              <a:off x="493242" y="1769646"/>
              <a:ext cx="344417" cy="569758"/>
              <a:chOff x="1009787" y="3305495"/>
              <a:chExt cx="344417" cy="569758"/>
            </a:xfrm>
          </p:grpSpPr>
          <p:pic>
            <p:nvPicPr>
              <p:cNvPr id="302"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303" name="Rectangle 302"/>
              <p:cNvSpPr/>
              <p:nvPr/>
            </p:nvSpPr>
            <p:spPr>
              <a:xfrm>
                <a:off x="1009787" y="3305495"/>
                <a:ext cx="314510" cy="369332"/>
              </a:xfrm>
              <a:prstGeom prst="rect">
                <a:avLst/>
              </a:prstGeom>
            </p:spPr>
            <p:txBody>
              <a:bodyPr wrap="none">
                <a:spAutoFit/>
              </a:bodyPr>
              <a:lstStyle/>
              <a:p>
                <a:r>
                  <a:rPr lang="en-US" sz="1800" dirty="0" smtClean="0"/>
                  <a:t>+</a:t>
                </a:r>
                <a:endParaRPr lang="en-US" sz="1800" dirty="0"/>
              </a:p>
            </p:txBody>
          </p:sp>
        </p:grpSp>
        <p:grpSp>
          <p:nvGrpSpPr>
            <p:cNvPr id="39" name="Group 29"/>
            <p:cNvGrpSpPr/>
            <p:nvPr/>
          </p:nvGrpSpPr>
          <p:grpSpPr>
            <a:xfrm>
              <a:off x="395624" y="2400689"/>
              <a:ext cx="438710" cy="541812"/>
              <a:chOff x="900694" y="3992071"/>
              <a:chExt cx="438710" cy="541812"/>
            </a:xfrm>
          </p:grpSpPr>
          <p:pic>
            <p:nvPicPr>
              <p:cNvPr id="300"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301" name="Rectangle 300"/>
              <p:cNvSpPr/>
              <p:nvPr/>
            </p:nvSpPr>
            <p:spPr>
              <a:xfrm>
                <a:off x="900694" y="4164551"/>
                <a:ext cx="314510" cy="369332"/>
              </a:xfrm>
              <a:prstGeom prst="rect">
                <a:avLst/>
              </a:prstGeom>
            </p:spPr>
            <p:txBody>
              <a:bodyPr wrap="none">
                <a:spAutoFit/>
              </a:bodyPr>
              <a:lstStyle/>
              <a:p>
                <a:r>
                  <a:rPr lang="en-US" sz="1800" dirty="0" smtClean="0"/>
                  <a:t>+</a:t>
                </a:r>
                <a:endParaRPr lang="en-US" sz="1800" dirty="0"/>
              </a:p>
            </p:txBody>
          </p:sp>
        </p:grpSp>
      </p:grpSp>
      <p:cxnSp>
        <p:nvCxnSpPr>
          <p:cNvPr id="198" name="Straight Connector 197"/>
          <p:cNvCxnSpPr/>
          <p:nvPr/>
        </p:nvCxnSpPr>
        <p:spPr>
          <a:xfrm flipV="1">
            <a:off x="5830862" y="2803579"/>
            <a:ext cx="2027581" cy="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52" idx="0"/>
            <a:endCxn id="52" idx="3"/>
          </p:cNvCxnSpPr>
          <p:nvPr/>
        </p:nvCxnSpPr>
        <p:spPr>
          <a:xfrm>
            <a:off x="6783711" y="2058667"/>
            <a:ext cx="0" cy="154546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53" idx="3"/>
            <a:endCxn id="56" idx="1"/>
          </p:cNvCxnSpPr>
          <p:nvPr/>
        </p:nvCxnSpPr>
        <p:spPr>
          <a:xfrm>
            <a:off x="5852341" y="2144835"/>
            <a:ext cx="1877908" cy="1335876"/>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4" idx="2"/>
            <a:endCxn id="55" idx="0"/>
          </p:cNvCxnSpPr>
          <p:nvPr/>
        </p:nvCxnSpPr>
        <p:spPr>
          <a:xfrm flipH="1">
            <a:off x="5851411" y="2142506"/>
            <a:ext cx="1879768" cy="134053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57" idx="2"/>
            <a:endCxn id="58" idx="2"/>
          </p:cNvCxnSpPr>
          <p:nvPr/>
        </p:nvCxnSpPr>
        <p:spPr>
          <a:xfrm flipH="1">
            <a:off x="5714953" y="2054833"/>
            <a:ext cx="1013791" cy="748747"/>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58" idx="6"/>
            <a:endCxn id="59" idx="2"/>
          </p:cNvCxnSpPr>
          <p:nvPr/>
        </p:nvCxnSpPr>
        <p:spPr>
          <a:xfrm>
            <a:off x="5830862" y="2803580"/>
            <a:ext cx="897882" cy="801756"/>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59" idx="6"/>
            <a:endCxn id="60" idx="6"/>
          </p:cNvCxnSpPr>
          <p:nvPr/>
        </p:nvCxnSpPr>
        <p:spPr>
          <a:xfrm flipV="1">
            <a:off x="6844653" y="2803579"/>
            <a:ext cx="1013790" cy="801757"/>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60" idx="6"/>
            <a:endCxn id="57" idx="6"/>
          </p:cNvCxnSpPr>
          <p:nvPr/>
        </p:nvCxnSpPr>
        <p:spPr>
          <a:xfrm flipH="1" flipV="1">
            <a:off x="6844653" y="2054833"/>
            <a:ext cx="1013790" cy="748746"/>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9397" y="957337"/>
            <a:ext cx="7804597" cy="369332"/>
          </a:xfrm>
          <a:prstGeom prst="rect">
            <a:avLst/>
          </a:prstGeom>
        </p:spPr>
        <p:txBody>
          <a:bodyPr wrap="square">
            <a:spAutoFit/>
          </a:bodyPr>
          <a:lstStyle/>
          <a:p>
            <a:pPr marL="342900" indent="-342900">
              <a:buFont typeface="Wingdings" pitchFamily="2" charset="2"/>
              <a:buChar char="v"/>
            </a:pPr>
            <a:r>
              <a:rPr lang="en-US" sz="1800" dirty="0" smtClean="0"/>
              <a:t>The plane group arising from the square lattice are, </a:t>
            </a:r>
            <a:r>
              <a:rPr lang="en-US" sz="1800" i="1" dirty="0" smtClean="0">
                <a:solidFill>
                  <a:srgbClr val="FF0000"/>
                </a:solidFill>
              </a:rPr>
              <a:t>P</a:t>
            </a:r>
            <a:r>
              <a:rPr lang="en-US" sz="1800" dirty="0" smtClean="0">
                <a:solidFill>
                  <a:srgbClr val="FF0000"/>
                </a:solidFill>
              </a:rPr>
              <a:t>4</a:t>
            </a:r>
            <a:r>
              <a:rPr lang="en-US" sz="1800" dirty="0" smtClean="0"/>
              <a:t>, </a:t>
            </a:r>
            <a:r>
              <a:rPr lang="en-US" sz="1800" i="1" dirty="0" smtClean="0">
                <a:solidFill>
                  <a:srgbClr val="FF0000"/>
                </a:solidFill>
              </a:rPr>
              <a:t>P</a:t>
            </a:r>
            <a:r>
              <a:rPr lang="en-US" sz="1800" dirty="0" smtClean="0">
                <a:solidFill>
                  <a:srgbClr val="FF0000"/>
                </a:solidFill>
              </a:rPr>
              <a:t>4</a:t>
            </a:r>
            <a:r>
              <a:rPr lang="en-US" sz="1800" i="1" dirty="0" smtClean="0">
                <a:solidFill>
                  <a:srgbClr val="FF0000"/>
                </a:solidFill>
              </a:rPr>
              <a:t>mm</a:t>
            </a:r>
            <a:r>
              <a:rPr lang="en-US" sz="1800" dirty="0" smtClean="0"/>
              <a:t> and </a:t>
            </a:r>
            <a:r>
              <a:rPr lang="en-US" sz="1800" i="1" dirty="0" smtClean="0">
                <a:solidFill>
                  <a:srgbClr val="FF0000"/>
                </a:solidFill>
              </a:rPr>
              <a:t>P</a:t>
            </a:r>
            <a:r>
              <a:rPr lang="en-US" sz="1800" dirty="0" smtClean="0">
                <a:solidFill>
                  <a:srgbClr val="FF0000"/>
                </a:solidFill>
              </a:rPr>
              <a:t>4</a:t>
            </a:r>
            <a:r>
              <a:rPr lang="en-US" sz="1800" i="1" dirty="0" smtClean="0">
                <a:solidFill>
                  <a:srgbClr val="FF0000"/>
                </a:solidFill>
              </a:rPr>
              <a:t>gm</a:t>
            </a:r>
            <a:r>
              <a:rPr lang="en-US" sz="1800" dirty="0" smtClean="0"/>
              <a:t>.</a:t>
            </a:r>
          </a:p>
        </p:txBody>
      </p:sp>
      <p:sp>
        <p:nvSpPr>
          <p:cNvPr id="3" name="Rectangle 2"/>
          <p:cNvSpPr txBox="1">
            <a:spLocks noChangeArrowheads="1"/>
          </p:cNvSpPr>
          <p:nvPr/>
        </p:nvSpPr>
        <p:spPr>
          <a:xfrm>
            <a:off x="431069" y="408811"/>
            <a:ext cx="8229600" cy="348802"/>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Plane Groups</a:t>
            </a:r>
          </a:p>
        </p:txBody>
      </p:sp>
      <p:grpSp>
        <p:nvGrpSpPr>
          <p:cNvPr id="40" name="Group 62"/>
          <p:cNvGrpSpPr/>
          <p:nvPr/>
        </p:nvGrpSpPr>
        <p:grpSpPr>
          <a:xfrm>
            <a:off x="5567394" y="1900286"/>
            <a:ext cx="2550698" cy="2328276"/>
            <a:chOff x="5605658" y="1732862"/>
            <a:chExt cx="2550698" cy="2328276"/>
          </a:xfrm>
        </p:grpSpPr>
        <p:grpSp>
          <p:nvGrpSpPr>
            <p:cNvPr id="41" name="Group 46"/>
            <p:cNvGrpSpPr/>
            <p:nvPr/>
          </p:nvGrpSpPr>
          <p:grpSpPr>
            <a:xfrm>
              <a:off x="5702797" y="1732862"/>
              <a:ext cx="2253523" cy="1859596"/>
              <a:chOff x="6412815" y="3072077"/>
              <a:chExt cx="2253523" cy="1859596"/>
            </a:xfrm>
          </p:grpSpPr>
          <p:sp>
            <p:nvSpPr>
              <p:cNvPr id="52" name="Parallelogram 51"/>
              <p:cNvSpPr/>
              <p:nvPr/>
            </p:nvSpPr>
            <p:spPr>
              <a:xfrm>
                <a:off x="6514562" y="3230458"/>
                <a:ext cx="2034862" cy="1545464"/>
              </a:xfrm>
              <a:prstGeom prst="parallelogram">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rot="2700000">
                <a:off x="6413306" y="3129566"/>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rot="2700000">
                <a:off x="8447140" y="3127419"/>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rot="2700000">
                <a:off x="6412558" y="4622768"/>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rot="2700000">
                <a:off x="8446393" y="4620621"/>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7477026" y="3072077"/>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6463235" y="3820824"/>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7477026" y="4622580"/>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8490816" y="3820823"/>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rot="2700000">
                <a:off x="7427098" y="3865061"/>
                <a:ext cx="219456" cy="218941"/>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Rectangle 61"/>
            <p:cNvSpPr/>
            <p:nvPr/>
          </p:nvSpPr>
          <p:spPr>
            <a:xfrm>
              <a:off x="5605658" y="3599473"/>
              <a:ext cx="2550698" cy="461665"/>
            </a:xfrm>
            <a:prstGeom prst="rect">
              <a:avLst/>
            </a:prstGeom>
          </p:spPr>
          <p:txBody>
            <a:bodyPr wrap="none">
              <a:spAutoFit/>
            </a:bodyPr>
            <a:lstStyle/>
            <a:p>
              <a:r>
                <a:rPr lang="en-US" i="1" dirty="0" smtClean="0"/>
                <a:t>Symmetry elements</a:t>
              </a:r>
              <a:endParaRPr lang="en-US" dirty="0"/>
            </a:p>
          </p:txBody>
        </p:sp>
      </p:grpSp>
      <p:sp>
        <p:nvSpPr>
          <p:cNvPr id="118" name="Rectangle 117"/>
          <p:cNvSpPr/>
          <p:nvPr/>
        </p:nvSpPr>
        <p:spPr>
          <a:xfrm>
            <a:off x="1189717" y="2350302"/>
            <a:ext cx="2846231" cy="246888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9" name="Straight Connector 118"/>
          <p:cNvCxnSpPr>
            <a:stCxn id="118" idx="0"/>
            <a:endCxn id="118" idx="2"/>
          </p:cNvCxnSpPr>
          <p:nvPr/>
        </p:nvCxnSpPr>
        <p:spPr>
          <a:xfrm>
            <a:off x="2612833" y="2350302"/>
            <a:ext cx="0" cy="246888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a:stCxn id="118" idx="1"/>
            <a:endCxn id="118" idx="3"/>
          </p:cNvCxnSpPr>
          <p:nvPr/>
        </p:nvCxnSpPr>
        <p:spPr>
          <a:xfrm>
            <a:off x="1189717" y="3584742"/>
            <a:ext cx="2846231"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121" name="Rectangle 120"/>
          <p:cNvSpPr/>
          <p:nvPr/>
        </p:nvSpPr>
        <p:spPr>
          <a:xfrm>
            <a:off x="2230274" y="4975454"/>
            <a:ext cx="1066318" cy="461665"/>
          </a:xfrm>
          <a:prstGeom prst="rect">
            <a:avLst/>
          </a:prstGeom>
        </p:spPr>
        <p:txBody>
          <a:bodyPr wrap="none">
            <a:spAutoFit/>
          </a:bodyPr>
          <a:lstStyle/>
          <a:p>
            <a:r>
              <a:rPr lang="en-US" i="1" dirty="0" smtClean="0"/>
              <a:t>P</a:t>
            </a:r>
            <a:r>
              <a:rPr lang="en-US" dirty="0" smtClean="0"/>
              <a:t>4</a:t>
            </a:r>
            <a:r>
              <a:rPr lang="en-US" i="1" dirty="0" smtClean="0"/>
              <a:t>mm</a:t>
            </a:r>
            <a:r>
              <a:rPr lang="en-US" dirty="0" smtClean="0"/>
              <a:t> </a:t>
            </a:r>
            <a:endParaRPr lang="en-US" dirty="0"/>
          </a:p>
        </p:txBody>
      </p:sp>
      <p:cxnSp>
        <p:nvCxnSpPr>
          <p:cNvPr id="199" name="Straight Connector 198"/>
          <p:cNvCxnSpPr/>
          <p:nvPr/>
        </p:nvCxnSpPr>
        <p:spPr>
          <a:xfrm>
            <a:off x="1194202" y="2360884"/>
            <a:ext cx="2807955" cy="243640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flipV="1">
            <a:off x="1187576" y="2332383"/>
            <a:ext cx="2854337" cy="247352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70"/>
          <p:cNvGrpSpPr/>
          <p:nvPr/>
        </p:nvGrpSpPr>
        <p:grpSpPr>
          <a:xfrm>
            <a:off x="3277970" y="1662866"/>
            <a:ext cx="1659606" cy="1432034"/>
            <a:chOff x="435380" y="1695996"/>
            <a:chExt cx="1659606" cy="1432034"/>
          </a:xfrm>
        </p:grpSpPr>
        <p:grpSp>
          <p:nvGrpSpPr>
            <p:cNvPr id="5" name="Group 29"/>
            <p:cNvGrpSpPr/>
            <p:nvPr/>
          </p:nvGrpSpPr>
          <p:grpSpPr>
            <a:xfrm>
              <a:off x="1265724" y="2678985"/>
              <a:ext cx="544341" cy="449045"/>
              <a:chOff x="1015420" y="3992071"/>
              <a:chExt cx="544341" cy="449045"/>
            </a:xfrm>
          </p:grpSpPr>
          <p:pic>
            <p:nvPicPr>
              <p:cNvPr id="182"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83" name="Rectangle 182"/>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6" name="Group 29"/>
            <p:cNvGrpSpPr/>
            <p:nvPr/>
          </p:nvGrpSpPr>
          <p:grpSpPr>
            <a:xfrm>
              <a:off x="596347" y="1695996"/>
              <a:ext cx="543426" cy="383531"/>
              <a:chOff x="783099" y="4017829"/>
              <a:chExt cx="543426" cy="383531"/>
            </a:xfrm>
          </p:grpSpPr>
          <p:pic>
            <p:nvPicPr>
              <p:cNvPr id="180" name="Picture 3"/>
              <p:cNvPicPr>
                <a:picLocks noChangeAspect="1" noChangeArrowheads="1"/>
              </p:cNvPicPr>
              <p:nvPr/>
            </p:nvPicPr>
            <p:blipFill>
              <a:blip r:embed="rId2" cstate="print"/>
              <a:srcRect/>
              <a:stretch>
                <a:fillRect/>
              </a:stretch>
            </p:blipFill>
            <p:spPr bwMode="auto">
              <a:xfrm>
                <a:off x="1002541" y="4017829"/>
                <a:ext cx="323984" cy="326826"/>
              </a:xfrm>
              <a:prstGeom prst="rect">
                <a:avLst/>
              </a:prstGeom>
              <a:noFill/>
              <a:ln w="9525">
                <a:noFill/>
                <a:miter lim="800000"/>
                <a:headEnd/>
                <a:tailEnd/>
              </a:ln>
              <a:effectLst/>
            </p:spPr>
          </p:pic>
          <p:sp>
            <p:nvSpPr>
              <p:cNvPr id="181" name="Rectangle 180"/>
              <p:cNvSpPr/>
              <p:nvPr/>
            </p:nvSpPr>
            <p:spPr>
              <a:xfrm>
                <a:off x="783099" y="4032028"/>
                <a:ext cx="314510" cy="369332"/>
              </a:xfrm>
              <a:prstGeom prst="rect">
                <a:avLst/>
              </a:prstGeom>
            </p:spPr>
            <p:txBody>
              <a:bodyPr wrap="none">
                <a:spAutoFit/>
              </a:bodyPr>
              <a:lstStyle/>
              <a:p>
                <a:r>
                  <a:rPr lang="en-US" sz="1800" dirty="0" smtClean="0"/>
                  <a:t>+</a:t>
                </a:r>
                <a:endParaRPr lang="en-US" sz="1800" dirty="0"/>
              </a:p>
            </p:txBody>
          </p:sp>
        </p:grpSp>
        <p:grpSp>
          <p:nvGrpSpPr>
            <p:cNvPr id="7" name="Group 29"/>
            <p:cNvGrpSpPr/>
            <p:nvPr/>
          </p:nvGrpSpPr>
          <p:grpSpPr>
            <a:xfrm>
              <a:off x="1524141" y="1877431"/>
              <a:ext cx="570845" cy="432641"/>
              <a:chOff x="1015420" y="3886256"/>
              <a:chExt cx="570845" cy="432641"/>
            </a:xfrm>
          </p:grpSpPr>
          <p:pic>
            <p:nvPicPr>
              <p:cNvPr id="178"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79" name="Rectangle 178"/>
              <p:cNvSpPr/>
              <p:nvPr/>
            </p:nvSpPr>
            <p:spPr>
              <a:xfrm>
                <a:off x="1271755" y="3886256"/>
                <a:ext cx="314510" cy="369332"/>
              </a:xfrm>
              <a:prstGeom prst="rect">
                <a:avLst/>
              </a:prstGeom>
            </p:spPr>
            <p:txBody>
              <a:bodyPr wrap="none">
                <a:spAutoFit/>
              </a:bodyPr>
              <a:lstStyle/>
              <a:p>
                <a:r>
                  <a:rPr lang="en-US" sz="1800" dirty="0" smtClean="0"/>
                  <a:t>+</a:t>
                </a:r>
                <a:endParaRPr lang="en-US" sz="1800" dirty="0"/>
              </a:p>
            </p:txBody>
          </p:sp>
        </p:grpSp>
        <p:grpSp>
          <p:nvGrpSpPr>
            <p:cNvPr id="8" name="Group 174"/>
            <p:cNvGrpSpPr/>
            <p:nvPr/>
          </p:nvGrpSpPr>
          <p:grpSpPr>
            <a:xfrm>
              <a:off x="435380" y="2400689"/>
              <a:ext cx="438710" cy="541812"/>
              <a:chOff x="900694" y="3992071"/>
              <a:chExt cx="438710" cy="541812"/>
            </a:xfrm>
          </p:grpSpPr>
          <p:pic>
            <p:nvPicPr>
              <p:cNvPr id="176"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77" name="Rectangle 176"/>
              <p:cNvSpPr/>
              <p:nvPr/>
            </p:nvSpPr>
            <p:spPr>
              <a:xfrm>
                <a:off x="900694" y="4164551"/>
                <a:ext cx="314510" cy="369332"/>
              </a:xfrm>
              <a:prstGeom prst="rect">
                <a:avLst/>
              </a:prstGeom>
            </p:spPr>
            <p:txBody>
              <a:bodyPr wrap="none">
                <a:spAutoFit/>
              </a:bodyPr>
              <a:lstStyle/>
              <a:p>
                <a:r>
                  <a:rPr lang="en-US" sz="1800" dirty="0" smtClean="0"/>
                  <a:t>+</a:t>
                </a:r>
                <a:endParaRPr lang="en-US" sz="1800" dirty="0"/>
              </a:p>
            </p:txBody>
          </p:sp>
        </p:grpSp>
      </p:grpSp>
      <p:grpSp>
        <p:nvGrpSpPr>
          <p:cNvPr id="9" name="Group 157"/>
          <p:cNvGrpSpPr/>
          <p:nvPr/>
        </p:nvGrpSpPr>
        <p:grpSpPr>
          <a:xfrm>
            <a:off x="3311101" y="4187405"/>
            <a:ext cx="1659606" cy="1432034"/>
            <a:chOff x="435380" y="1695996"/>
            <a:chExt cx="1659606" cy="1432034"/>
          </a:xfrm>
        </p:grpSpPr>
        <p:grpSp>
          <p:nvGrpSpPr>
            <p:cNvPr id="10" name="Group 29"/>
            <p:cNvGrpSpPr/>
            <p:nvPr/>
          </p:nvGrpSpPr>
          <p:grpSpPr>
            <a:xfrm>
              <a:off x="1265724" y="2678985"/>
              <a:ext cx="544341" cy="449045"/>
              <a:chOff x="1015420" y="3992071"/>
              <a:chExt cx="544341" cy="449045"/>
            </a:xfrm>
          </p:grpSpPr>
          <p:pic>
            <p:nvPicPr>
              <p:cNvPr id="169"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70" name="Rectangle 169"/>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11" name="Group 29"/>
            <p:cNvGrpSpPr/>
            <p:nvPr/>
          </p:nvGrpSpPr>
          <p:grpSpPr>
            <a:xfrm>
              <a:off x="596347" y="1695996"/>
              <a:ext cx="543426" cy="383531"/>
              <a:chOff x="783099" y="4017829"/>
              <a:chExt cx="543426" cy="383531"/>
            </a:xfrm>
          </p:grpSpPr>
          <p:pic>
            <p:nvPicPr>
              <p:cNvPr id="167" name="Picture 3"/>
              <p:cNvPicPr>
                <a:picLocks noChangeAspect="1" noChangeArrowheads="1"/>
              </p:cNvPicPr>
              <p:nvPr/>
            </p:nvPicPr>
            <p:blipFill>
              <a:blip r:embed="rId2" cstate="print"/>
              <a:srcRect/>
              <a:stretch>
                <a:fillRect/>
              </a:stretch>
            </p:blipFill>
            <p:spPr bwMode="auto">
              <a:xfrm>
                <a:off x="1002541" y="4017829"/>
                <a:ext cx="323984" cy="326826"/>
              </a:xfrm>
              <a:prstGeom prst="rect">
                <a:avLst/>
              </a:prstGeom>
              <a:noFill/>
              <a:ln w="9525">
                <a:noFill/>
                <a:miter lim="800000"/>
                <a:headEnd/>
                <a:tailEnd/>
              </a:ln>
              <a:effectLst/>
            </p:spPr>
          </p:pic>
          <p:sp>
            <p:nvSpPr>
              <p:cNvPr id="168" name="Rectangle 167"/>
              <p:cNvSpPr/>
              <p:nvPr/>
            </p:nvSpPr>
            <p:spPr>
              <a:xfrm>
                <a:off x="783099" y="4032028"/>
                <a:ext cx="314510" cy="369332"/>
              </a:xfrm>
              <a:prstGeom prst="rect">
                <a:avLst/>
              </a:prstGeom>
            </p:spPr>
            <p:txBody>
              <a:bodyPr wrap="none">
                <a:spAutoFit/>
              </a:bodyPr>
              <a:lstStyle/>
              <a:p>
                <a:r>
                  <a:rPr lang="en-US" sz="1800" dirty="0" smtClean="0"/>
                  <a:t>+</a:t>
                </a:r>
                <a:endParaRPr lang="en-US" sz="1800" dirty="0"/>
              </a:p>
            </p:txBody>
          </p:sp>
        </p:grpSp>
        <p:grpSp>
          <p:nvGrpSpPr>
            <p:cNvPr id="12" name="Group 29"/>
            <p:cNvGrpSpPr/>
            <p:nvPr/>
          </p:nvGrpSpPr>
          <p:grpSpPr>
            <a:xfrm>
              <a:off x="1524141" y="1877431"/>
              <a:ext cx="570845" cy="432641"/>
              <a:chOff x="1015420" y="3886256"/>
              <a:chExt cx="570845" cy="432641"/>
            </a:xfrm>
          </p:grpSpPr>
          <p:pic>
            <p:nvPicPr>
              <p:cNvPr id="165"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66" name="Rectangle 165"/>
              <p:cNvSpPr/>
              <p:nvPr/>
            </p:nvSpPr>
            <p:spPr>
              <a:xfrm>
                <a:off x="1271755" y="3886256"/>
                <a:ext cx="314510" cy="369332"/>
              </a:xfrm>
              <a:prstGeom prst="rect">
                <a:avLst/>
              </a:prstGeom>
            </p:spPr>
            <p:txBody>
              <a:bodyPr wrap="none">
                <a:spAutoFit/>
              </a:bodyPr>
              <a:lstStyle/>
              <a:p>
                <a:r>
                  <a:rPr lang="en-US" sz="1800" dirty="0" smtClean="0"/>
                  <a:t>+</a:t>
                </a:r>
                <a:endParaRPr lang="en-US" sz="1800" dirty="0"/>
              </a:p>
            </p:txBody>
          </p:sp>
        </p:grpSp>
        <p:grpSp>
          <p:nvGrpSpPr>
            <p:cNvPr id="13" name="Group 161"/>
            <p:cNvGrpSpPr/>
            <p:nvPr/>
          </p:nvGrpSpPr>
          <p:grpSpPr>
            <a:xfrm>
              <a:off x="435380" y="2400689"/>
              <a:ext cx="438710" cy="541812"/>
              <a:chOff x="900694" y="3992071"/>
              <a:chExt cx="438710" cy="541812"/>
            </a:xfrm>
          </p:grpSpPr>
          <p:pic>
            <p:nvPicPr>
              <p:cNvPr id="163"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64" name="Rectangle 163"/>
              <p:cNvSpPr/>
              <p:nvPr/>
            </p:nvSpPr>
            <p:spPr>
              <a:xfrm>
                <a:off x="900694" y="4164551"/>
                <a:ext cx="314510" cy="369332"/>
              </a:xfrm>
              <a:prstGeom prst="rect">
                <a:avLst/>
              </a:prstGeom>
            </p:spPr>
            <p:txBody>
              <a:bodyPr wrap="none">
                <a:spAutoFit/>
              </a:bodyPr>
              <a:lstStyle/>
              <a:p>
                <a:r>
                  <a:rPr lang="en-US" sz="1800" dirty="0" smtClean="0"/>
                  <a:t>+</a:t>
                </a:r>
                <a:endParaRPr lang="en-US" sz="1800" dirty="0"/>
              </a:p>
            </p:txBody>
          </p:sp>
        </p:grpSp>
      </p:grpSp>
      <p:grpSp>
        <p:nvGrpSpPr>
          <p:cNvPr id="14" name="Group 144"/>
          <p:cNvGrpSpPr/>
          <p:nvPr/>
        </p:nvGrpSpPr>
        <p:grpSpPr>
          <a:xfrm>
            <a:off x="442006" y="4180779"/>
            <a:ext cx="1659606" cy="1432034"/>
            <a:chOff x="435380" y="1695996"/>
            <a:chExt cx="1659606" cy="1432034"/>
          </a:xfrm>
        </p:grpSpPr>
        <p:grpSp>
          <p:nvGrpSpPr>
            <p:cNvPr id="15" name="Group 29"/>
            <p:cNvGrpSpPr/>
            <p:nvPr/>
          </p:nvGrpSpPr>
          <p:grpSpPr>
            <a:xfrm>
              <a:off x="1265724" y="2678985"/>
              <a:ext cx="544341" cy="449045"/>
              <a:chOff x="1015420" y="3992071"/>
              <a:chExt cx="544341" cy="449045"/>
            </a:xfrm>
          </p:grpSpPr>
          <p:pic>
            <p:nvPicPr>
              <p:cNvPr id="156"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57" name="Rectangle 156"/>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16" name="Group 29"/>
            <p:cNvGrpSpPr/>
            <p:nvPr/>
          </p:nvGrpSpPr>
          <p:grpSpPr>
            <a:xfrm>
              <a:off x="596347" y="1695996"/>
              <a:ext cx="543426" cy="383531"/>
              <a:chOff x="783099" y="4017829"/>
              <a:chExt cx="543426" cy="383531"/>
            </a:xfrm>
          </p:grpSpPr>
          <p:pic>
            <p:nvPicPr>
              <p:cNvPr id="154" name="Picture 3"/>
              <p:cNvPicPr>
                <a:picLocks noChangeAspect="1" noChangeArrowheads="1"/>
              </p:cNvPicPr>
              <p:nvPr/>
            </p:nvPicPr>
            <p:blipFill>
              <a:blip r:embed="rId2" cstate="print"/>
              <a:srcRect/>
              <a:stretch>
                <a:fillRect/>
              </a:stretch>
            </p:blipFill>
            <p:spPr bwMode="auto">
              <a:xfrm>
                <a:off x="1002541" y="4017829"/>
                <a:ext cx="323984" cy="326826"/>
              </a:xfrm>
              <a:prstGeom prst="rect">
                <a:avLst/>
              </a:prstGeom>
              <a:noFill/>
              <a:ln w="9525">
                <a:noFill/>
                <a:miter lim="800000"/>
                <a:headEnd/>
                <a:tailEnd/>
              </a:ln>
              <a:effectLst/>
            </p:spPr>
          </p:pic>
          <p:sp>
            <p:nvSpPr>
              <p:cNvPr id="155" name="Rectangle 154"/>
              <p:cNvSpPr/>
              <p:nvPr/>
            </p:nvSpPr>
            <p:spPr>
              <a:xfrm>
                <a:off x="783099" y="4032028"/>
                <a:ext cx="314510" cy="369332"/>
              </a:xfrm>
              <a:prstGeom prst="rect">
                <a:avLst/>
              </a:prstGeom>
            </p:spPr>
            <p:txBody>
              <a:bodyPr wrap="none">
                <a:spAutoFit/>
              </a:bodyPr>
              <a:lstStyle/>
              <a:p>
                <a:r>
                  <a:rPr lang="en-US" sz="1800" dirty="0" smtClean="0"/>
                  <a:t>+</a:t>
                </a:r>
                <a:endParaRPr lang="en-US" sz="1800" dirty="0"/>
              </a:p>
            </p:txBody>
          </p:sp>
        </p:grpSp>
        <p:grpSp>
          <p:nvGrpSpPr>
            <p:cNvPr id="17" name="Group 29"/>
            <p:cNvGrpSpPr/>
            <p:nvPr/>
          </p:nvGrpSpPr>
          <p:grpSpPr>
            <a:xfrm>
              <a:off x="1524141" y="1877431"/>
              <a:ext cx="570845" cy="432641"/>
              <a:chOff x="1015420" y="3886256"/>
              <a:chExt cx="570845" cy="432641"/>
            </a:xfrm>
          </p:grpSpPr>
          <p:pic>
            <p:nvPicPr>
              <p:cNvPr id="152"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53" name="Rectangle 152"/>
              <p:cNvSpPr/>
              <p:nvPr/>
            </p:nvSpPr>
            <p:spPr>
              <a:xfrm>
                <a:off x="1271755" y="3886256"/>
                <a:ext cx="314510" cy="369332"/>
              </a:xfrm>
              <a:prstGeom prst="rect">
                <a:avLst/>
              </a:prstGeom>
            </p:spPr>
            <p:txBody>
              <a:bodyPr wrap="none">
                <a:spAutoFit/>
              </a:bodyPr>
              <a:lstStyle/>
              <a:p>
                <a:r>
                  <a:rPr lang="en-US" sz="1800" dirty="0" smtClean="0"/>
                  <a:t>+</a:t>
                </a:r>
                <a:endParaRPr lang="en-US" sz="1800" dirty="0"/>
              </a:p>
            </p:txBody>
          </p:sp>
        </p:grpSp>
        <p:grpSp>
          <p:nvGrpSpPr>
            <p:cNvPr id="18" name="Group 148"/>
            <p:cNvGrpSpPr/>
            <p:nvPr/>
          </p:nvGrpSpPr>
          <p:grpSpPr>
            <a:xfrm>
              <a:off x="435380" y="2400689"/>
              <a:ext cx="438710" cy="541812"/>
              <a:chOff x="900694" y="3992071"/>
              <a:chExt cx="438710" cy="541812"/>
            </a:xfrm>
          </p:grpSpPr>
          <p:pic>
            <p:nvPicPr>
              <p:cNvPr id="150"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51" name="Rectangle 150"/>
              <p:cNvSpPr/>
              <p:nvPr/>
            </p:nvSpPr>
            <p:spPr>
              <a:xfrm>
                <a:off x="900694" y="4164551"/>
                <a:ext cx="314510" cy="369332"/>
              </a:xfrm>
              <a:prstGeom prst="rect">
                <a:avLst/>
              </a:prstGeom>
            </p:spPr>
            <p:txBody>
              <a:bodyPr wrap="none">
                <a:spAutoFit/>
              </a:bodyPr>
              <a:lstStyle/>
              <a:p>
                <a:r>
                  <a:rPr lang="en-US" sz="1800" dirty="0" smtClean="0"/>
                  <a:t>+</a:t>
                </a:r>
                <a:endParaRPr lang="en-US" sz="1800" dirty="0"/>
              </a:p>
            </p:txBody>
          </p:sp>
        </p:grpSp>
      </p:grpSp>
      <p:grpSp>
        <p:nvGrpSpPr>
          <p:cNvPr id="19" name="Group 28"/>
          <p:cNvGrpSpPr/>
          <p:nvPr/>
        </p:nvGrpSpPr>
        <p:grpSpPr>
          <a:xfrm>
            <a:off x="2964619" y="3616522"/>
            <a:ext cx="554604" cy="439725"/>
            <a:chOff x="1033062" y="3539901"/>
            <a:chExt cx="554604" cy="439725"/>
          </a:xfrm>
        </p:grpSpPr>
        <p:pic>
          <p:nvPicPr>
            <p:cNvPr id="194"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195" name="Rectangle 194"/>
            <p:cNvSpPr/>
            <p:nvPr/>
          </p:nvSpPr>
          <p:spPr>
            <a:xfrm>
              <a:off x="1273156" y="3610294"/>
              <a:ext cx="314510" cy="369332"/>
            </a:xfrm>
            <a:prstGeom prst="rect">
              <a:avLst/>
            </a:prstGeom>
          </p:spPr>
          <p:txBody>
            <a:bodyPr wrap="none">
              <a:spAutoFit/>
            </a:bodyPr>
            <a:lstStyle/>
            <a:p>
              <a:r>
                <a:rPr lang="en-US" sz="1800" dirty="0" smtClean="0"/>
                <a:t>+</a:t>
              </a:r>
              <a:endParaRPr lang="en-US" sz="1800" dirty="0"/>
            </a:p>
          </p:txBody>
        </p:sp>
      </p:grpSp>
      <p:grpSp>
        <p:nvGrpSpPr>
          <p:cNvPr id="20" name="Group 28"/>
          <p:cNvGrpSpPr/>
          <p:nvPr/>
        </p:nvGrpSpPr>
        <p:grpSpPr>
          <a:xfrm>
            <a:off x="1917851" y="3932243"/>
            <a:ext cx="596208" cy="439725"/>
            <a:chOff x="757996" y="3539901"/>
            <a:chExt cx="596208" cy="439725"/>
          </a:xfrm>
        </p:grpSpPr>
        <p:pic>
          <p:nvPicPr>
            <p:cNvPr id="192"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193" name="Rectangle 192"/>
            <p:cNvSpPr/>
            <p:nvPr/>
          </p:nvSpPr>
          <p:spPr>
            <a:xfrm>
              <a:off x="757996" y="3610294"/>
              <a:ext cx="314510" cy="369332"/>
            </a:xfrm>
            <a:prstGeom prst="rect">
              <a:avLst/>
            </a:prstGeom>
          </p:spPr>
          <p:txBody>
            <a:bodyPr wrap="none">
              <a:spAutoFit/>
            </a:bodyPr>
            <a:lstStyle/>
            <a:p>
              <a:r>
                <a:rPr lang="en-US" sz="1800" dirty="0" smtClean="0"/>
                <a:t>+</a:t>
              </a:r>
              <a:endParaRPr lang="en-US" sz="1800" dirty="0"/>
            </a:p>
          </p:txBody>
        </p:sp>
      </p:grpSp>
      <p:grpSp>
        <p:nvGrpSpPr>
          <p:cNvPr id="21" name="Group 28"/>
          <p:cNvGrpSpPr/>
          <p:nvPr/>
        </p:nvGrpSpPr>
        <p:grpSpPr>
          <a:xfrm>
            <a:off x="2639942" y="2854524"/>
            <a:ext cx="554604" cy="439725"/>
            <a:chOff x="1033062" y="3539901"/>
            <a:chExt cx="554604" cy="439725"/>
          </a:xfrm>
        </p:grpSpPr>
        <p:pic>
          <p:nvPicPr>
            <p:cNvPr id="219"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20" name="Rectangle 219"/>
            <p:cNvSpPr/>
            <p:nvPr/>
          </p:nvSpPr>
          <p:spPr>
            <a:xfrm>
              <a:off x="1273156" y="3610294"/>
              <a:ext cx="314510" cy="369332"/>
            </a:xfrm>
            <a:prstGeom prst="rect">
              <a:avLst/>
            </a:prstGeom>
          </p:spPr>
          <p:txBody>
            <a:bodyPr wrap="none">
              <a:spAutoFit/>
            </a:bodyPr>
            <a:lstStyle/>
            <a:p>
              <a:r>
                <a:rPr lang="en-US" sz="1800" dirty="0" smtClean="0"/>
                <a:t>+</a:t>
              </a:r>
              <a:endParaRPr lang="en-US" sz="1800" dirty="0"/>
            </a:p>
          </p:txBody>
        </p:sp>
      </p:grpSp>
      <p:grpSp>
        <p:nvGrpSpPr>
          <p:cNvPr id="22" name="Group 28"/>
          <p:cNvGrpSpPr/>
          <p:nvPr/>
        </p:nvGrpSpPr>
        <p:grpSpPr>
          <a:xfrm>
            <a:off x="1897972" y="3015350"/>
            <a:ext cx="344417" cy="569758"/>
            <a:chOff x="1009787" y="3305495"/>
            <a:chExt cx="344417" cy="569758"/>
          </a:xfrm>
        </p:grpSpPr>
        <p:pic>
          <p:nvPicPr>
            <p:cNvPr id="233" name="Picture 2"/>
            <p:cNvPicPr>
              <a:picLocks noChangeAspect="1" noChangeArrowheads="1"/>
            </p:cNvPicPr>
            <p:nvPr/>
          </p:nvPicPr>
          <p:blipFill>
            <a:blip r:embed="rId3" cstate="print"/>
            <a:srcRect/>
            <a:stretch>
              <a:fillRect/>
            </a:stretch>
          </p:blipFill>
          <p:spPr bwMode="auto">
            <a:xfrm>
              <a:off x="1033062" y="3539901"/>
              <a:ext cx="321142" cy="335352"/>
            </a:xfrm>
            <a:prstGeom prst="rect">
              <a:avLst/>
            </a:prstGeom>
            <a:noFill/>
            <a:ln w="9525">
              <a:noFill/>
              <a:miter lim="800000"/>
              <a:headEnd/>
              <a:tailEnd/>
            </a:ln>
            <a:effectLst/>
          </p:spPr>
        </p:pic>
        <p:sp>
          <p:nvSpPr>
            <p:cNvPr id="234" name="Rectangle 233"/>
            <p:cNvSpPr/>
            <p:nvPr/>
          </p:nvSpPr>
          <p:spPr>
            <a:xfrm>
              <a:off x="1009787" y="3305495"/>
              <a:ext cx="314510" cy="369332"/>
            </a:xfrm>
            <a:prstGeom prst="rect">
              <a:avLst/>
            </a:prstGeom>
          </p:spPr>
          <p:txBody>
            <a:bodyPr wrap="none">
              <a:spAutoFit/>
            </a:bodyPr>
            <a:lstStyle/>
            <a:p>
              <a:r>
                <a:rPr lang="en-US" sz="1800" dirty="0" smtClean="0"/>
                <a:t>+</a:t>
              </a:r>
              <a:endParaRPr lang="en-US" sz="1800" dirty="0"/>
            </a:p>
          </p:txBody>
        </p:sp>
      </p:grpSp>
      <p:grpSp>
        <p:nvGrpSpPr>
          <p:cNvPr id="23" name="Group 143"/>
          <p:cNvGrpSpPr/>
          <p:nvPr/>
        </p:nvGrpSpPr>
        <p:grpSpPr>
          <a:xfrm>
            <a:off x="435380" y="1695996"/>
            <a:ext cx="1659606" cy="1432034"/>
            <a:chOff x="435380" y="1695996"/>
            <a:chExt cx="1659606" cy="1432034"/>
          </a:xfrm>
        </p:grpSpPr>
        <p:grpSp>
          <p:nvGrpSpPr>
            <p:cNvPr id="24" name="Group 29"/>
            <p:cNvGrpSpPr/>
            <p:nvPr/>
          </p:nvGrpSpPr>
          <p:grpSpPr>
            <a:xfrm>
              <a:off x="1265724" y="2678985"/>
              <a:ext cx="544341" cy="449045"/>
              <a:chOff x="1015420" y="3992071"/>
              <a:chExt cx="544341" cy="449045"/>
            </a:xfrm>
          </p:grpSpPr>
          <p:pic>
            <p:nvPicPr>
              <p:cNvPr id="196"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197" name="Rectangle 196"/>
              <p:cNvSpPr/>
              <p:nvPr/>
            </p:nvSpPr>
            <p:spPr>
              <a:xfrm>
                <a:off x="1245251" y="4071784"/>
                <a:ext cx="314510" cy="369332"/>
              </a:xfrm>
              <a:prstGeom prst="rect">
                <a:avLst/>
              </a:prstGeom>
            </p:spPr>
            <p:txBody>
              <a:bodyPr wrap="none">
                <a:spAutoFit/>
              </a:bodyPr>
              <a:lstStyle/>
              <a:p>
                <a:r>
                  <a:rPr lang="en-US" sz="1800" dirty="0" smtClean="0"/>
                  <a:t>+</a:t>
                </a:r>
                <a:endParaRPr lang="en-US" sz="1800" dirty="0"/>
              </a:p>
            </p:txBody>
          </p:sp>
        </p:grpSp>
        <p:grpSp>
          <p:nvGrpSpPr>
            <p:cNvPr id="25" name="Group 29"/>
            <p:cNvGrpSpPr/>
            <p:nvPr/>
          </p:nvGrpSpPr>
          <p:grpSpPr>
            <a:xfrm>
              <a:off x="596347" y="1695996"/>
              <a:ext cx="543426" cy="383531"/>
              <a:chOff x="783099" y="4017829"/>
              <a:chExt cx="543426" cy="383531"/>
            </a:xfrm>
          </p:grpSpPr>
          <p:pic>
            <p:nvPicPr>
              <p:cNvPr id="190" name="Picture 3"/>
              <p:cNvPicPr>
                <a:picLocks noChangeAspect="1" noChangeArrowheads="1"/>
              </p:cNvPicPr>
              <p:nvPr/>
            </p:nvPicPr>
            <p:blipFill>
              <a:blip r:embed="rId2" cstate="print"/>
              <a:srcRect/>
              <a:stretch>
                <a:fillRect/>
              </a:stretch>
            </p:blipFill>
            <p:spPr bwMode="auto">
              <a:xfrm>
                <a:off x="1002541" y="4017829"/>
                <a:ext cx="323984" cy="326826"/>
              </a:xfrm>
              <a:prstGeom prst="rect">
                <a:avLst/>
              </a:prstGeom>
              <a:noFill/>
              <a:ln w="9525">
                <a:noFill/>
                <a:miter lim="800000"/>
                <a:headEnd/>
                <a:tailEnd/>
              </a:ln>
              <a:effectLst/>
            </p:spPr>
          </p:pic>
          <p:sp>
            <p:nvSpPr>
              <p:cNvPr id="191" name="Rectangle 190"/>
              <p:cNvSpPr/>
              <p:nvPr/>
            </p:nvSpPr>
            <p:spPr>
              <a:xfrm>
                <a:off x="783099" y="4032028"/>
                <a:ext cx="314510" cy="369332"/>
              </a:xfrm>
              <a:prstGeom prst="rect">
                <a:avLst/>
              </a:prstGeom>
            </p:spPr>
            <p:txBody>
              <a:bodyPr wrap="none">
                <a:spAutoFit/>
              </a:bodyPr>
              <a:lstStyle/>
              <a:p>
                <a:r>
                  <a:rPr lang="en-US" sz="1800" dirty="0" smtClean="0"/>
                  <a:t>+</a:t>
                </a:r>
                <a:endParaRPr lang="en-US" sz="1800" dirty="0"/>
              </a:p>
            </p:txBody>
          </p:sp>
        </p:grpSp>
        <p:grpSp>
          <p:nvGrpSpPr>
            <p:cNvPr id="26" name="Group 29"/>
            <p:cNvGrpSpPr/>
            <p:nvPr/>
          </p:nvGrpSpPr>
          <p:grpSpPr>
            <a:xfrm>
              <a:off x="1524141" y="1877431"/>
              <a:ext cx="570845" cy="432641"/>
              <a:chOff x="1015420" y="3886256"/>
              <a:chExt cx="570845" cy="432641"/>
            </a:xfrm>
          </p:grpSpPr>
          <p:pic>
            <p:nvPicPr>
              <p:cNvPr id="203"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04" name="Rectangle 203"/>
              <p:cNvSpPr/>
              <p:nvPr/>
            </p:nvSpPr>
            <p:spPr>
              <a:xfrm>
                <a:off x="1271755" y="3886256"/>
                <a:ext cx="314510" cy="369332"/>
              </a:xfrm>
              <a:prstGeom prst="rect">
                <a:avLst/>
              </a:prstGeom>
            </p:spPr>
            <p:txBody>
              <a:bodyPr wrap="none">
                <a:spAutoFit/>
              </a:bodyPr>
              <a:lstStyle/>
              <a:p>
                <a:r>
                  <a:rPr lang="en-US" sz="1800" dirty="0" smtClean="0"/>
                  <a:t>+</a:t>
                </a:r>
                <a:endParaRPr lang="en-US" sz="1800" dirty="0"/>
              </a:p>
            </p:txBody>
          </p:sp>
        </p:grpSp>
        <p:grpSp>
          <p:nvGrpSpPr>
            <p:cNvPr id="27" name="Group 29"/>
            <p:cNvGrpSpPr/>
            <p:nvPr/>
          </p:nvGrpSpPr>
          <p:grpSpPr>
            <a:xfrm>
              <a:off x="435380" y="2400689"/>
              <a:ext cx="438710" cy="541812"/>
              <a:chOff x="900694" y="3992071"/>
              <a:chExt cx="438710" cy="541812"/>
            </a:xfrm>
          </p:grpSpPr>
          <p:pic>
            <p:nvPicPr>
              <p:cNvPr id="236" name="Picture 3"/>
              <p:cNvPicPr>
                <a:picLocks noChangeAspect="1" noChangeArrowheads="1"/>
              </p:cNvPicPr>
              <p:nvPr/>
            </p:nvPicPr>
            <p:blipFill>
              <a:blip r:embed="rId2" cstate="print"/>
              <a:srcRect/>
              <a:stretch>
                <a:fillRect/>
              </a:stretch>
            </p:blipFill>
            <p:spPr bwMode="auto">
              <a:xfrm>
                <a:off x="1015420" y="3992071"/>
                <a:ext cx="323984" cy="326826"/>
              </a:xfrm>
              <a:prstGeom prst="rect">
                <a:avLst/>
              </a:prstGeom>
              <a:noFill/>
              <a:ln w="9525">
                <a:noFill/>
                <a:miter lim="800000"/>
                <a:headEnd/>
                <a:tailEnd/>
              </a:ln>
              <a:effectLst/>
            </p:spPr>
          </p:pic>
          <p:sp>
            <p:nvSpPr>
              <p:cNvPr id="237" name="Rectangle 236"/>
              <p:cNvSpPr/>
              <p:nvPr/>
            </p:nvSpPr>
            <p:spPr>
              <a:xfrm>
                <a:off x="900694" y="4164551"/>
                <a:ext cx="314510" cy="369332"/>
              </a:xfrm>
              <a:prstGeom prst="rect">
                <a:avLst/>
              </a:prstGeom>
            </p:spPr>
            <p:txBody>
              <a:bodyPr wrap="none">
                <a:spAutoFit/>
              </a:bodyPr>
              <a:lstStyle/>
              <a:p>
                <a:r>
                  <a:rPr lang="en-US" sz="1800" dirty="0" smtClean="0"/>
                  <a:t>+</a:t>
                </a:r>
                <a:endParaRPr lang="en-US" sz="1800" dirty="0"/>
              </a:p>
            </p:txBody>
          </p:sp>
        </p:grpSp>
      </p:grpSp>
      <p:cxnSp>
        <p:nvCxnSpPr>
          <p:cNvPr id="198" name="Straight Connector 197"/>
          <p:cNvCxnSpPr/>
          <p:nvPr/>
        </p:nvCxnSpPr>
        <p:spPr>
          <a:xfrm>
            <a:off x="7354957" y="2040835"/>
            <a:ext cx="13252" cy="1577008"/>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6240372" y="2085171"/>
            <a:ext cx="0" cy="154546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53" idx="3"/>
            <a:endCxn id="56" idx="1"/>
          </p:cNvCxnSpPr>
          <p:nvPr/>
        </p:nvCxnSpPr>
        <p:spPr>
          <a:xfrm>
            <a:off x="5852341" y="2144835"/>
            <a:ext cx="1877908" cy="1335876"/>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4" idx="2"/>
            <a:endCxn id="55" idx="0"/>
          </p:cNvCxnSpPr>
          <p:nvPr/>
        </p:nvCxnSpPr>
        <p:spPr>
          <a:xfrm flipH="1">
            <a:off x="5851411" y="2142506"/>
            <a:ext cx="1879768" cy="1340534"/>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57" idx="2"/>
            <a:endCxn id="58" idx="2"/>
          </p:cNvCxnSpPr>
          <p:nvPr/>
        </p:nvCxnSpPr>
        <p:spPr>
          <a:xfrm flipH="1">
            <a:off x="5714953" y="2054833"/>
            <a:ext cx="1013791" cy="748747"/>
          </a:xfrm>
          <a:prstGeom prst="line">
            <a:avLst/>
          </a:prstGeom>
          <a:ln w="3810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58" idx="6"/>
            <a:endCxn id="59" idx="2"/>
          </p:cNvCxnSpPr>
          <p:nvPr/>
        </p:nvCxnSpPr>
        <p:spPr>
          <a:xfrm>
            <a:off x="5830862" y="2803580"/>
            <a:ext cx="897882" cy="801756"/>
          </a:xfrm>
          <a:prstGeom prst="line">
            <a:avLst/>
          </a:prstGeom>
          <a:ln w="3810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59" idx="6"/>
            <a:endCxn id="60" idx="6"/>
          </p:cNvCxnSpPr>
          <p:nvPr/>
        </p:nvCxnSpPr>
        <p:spPr>
          <a:xfrm flipV="1">
            <a:off x="6844653" y="2803579"/>
            <a:ext cx="1013790" cy="801757"/>
          </a:xfrm>
          <a:prstGeom prst="line">
            <a:avLst/>
          </a:prstGeom>
          <a:ln w="3810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60" idx="6"/>
            <a:endCxn id="57" idx="6"/>
          </p:cNvCxnSpPr>
          <p:nvPr/>
        </p:nvCxnSpPr>
        <p:spPr>
          <a:xfrm flipH="1" flipV="1">
            <a:off x="6844653" y="2054833"/>
            <a:ext cx="1013790" cy="748746"/>
          </a:xfrm>
          <a:prstGeom prst="line">
            <a:avLst/>
          </a:prstGeom>
          <a:ln w="38100">
            <a:solidFill>
              <a:srgbClr val="002060"/>
            </a:solidFill>
            <a:prstDash val="solid"/>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89397" y="957337"/>
            <a:ext cx="7804597" cy="369332"/>
          </a:xfrm>
          <a:prstGeom prst="rect">
            <a:avLst/>
          </a:prstGeom>
        </p:spPr>
        <p:txBody>
          <a:bodyPr wrap="square">
            <a:spAutoFit/>
          </a:bodyPr>
          <a:lstStyle/>
          <a:p>
            <a:pPr marL="342900" indent="-342900">
              <a:buFont typeface="Wingdings" pitchFamily="2" charset="2"/>
              <a:buChar char="v"/>
            </a:pPr>
            <a:r>
              <a:rPr lang="en-US" sz="1800" dirty="0" smtClean="0"/>
              <a:t>The plane group arising from the square lattice are, </a:t>
            </a:r>
            <a:r>
              <a:rPr lang="en-US" sz="1800" i="1" dirty="0" smtClean="0">
                <a:solidFill>
                  <a:srgbClr val="FF0000"/>
                </a:solidFill>
              </a:rPr>
              <a:t>P</a:t>
            </a:r>
            <a:r>
              <a:rPr lang="en-US" sz="1800" dirty="0" smtClean="0">
                <a:solidFill>
                  <a:srgbClr val="FF0000"/>
                </a:solidFill>
              </a:rPr>
              <a:t>4</a:t>
            </a:r>
            <a:r>
              <a:rPr lang="en-US" sz="1800" dirty="0" smtClean="0"/>
              <a:t>, </a:t>
            </a:r>
            <a:r>
              <a:rPr lang="en-US" sz="1800" i="1" dirty="0" smtClean="0">
                <a:solidFill>
                  <a:srgbClr val="FF0000"/>
                </a:solidFill>
              </a:rPr>
              <a:t>P</a:t>
            </a:r>
            <a:r>
              <a:rPr lang="en-US" sz="1800" dirty="0" smtClean="0">
                <a:solidFill>
                  <a:srgbClr val="FF0000"/>
                </a:solidFill>
              </a:rPr>
              <a:t>4</a:t>
            </a:r>
            <a:r>
              <a:rPr lang="en-US" sz="1800" i="1" dirty="0" smtClean="0">
                <a:solidFill>
                  <a:srgbClr val="FF0000"/>
                </a:solidFill>
              </a:rPr>
              <a:t>mm</a:t>
            </a:r>
            <a:r>
              <a:rPr lang="en-US" sz="1800" dirty="0" smtClean="0"/>
              <a:t> and </a:t>
            </a:r>
            <a:r>
              <a:rPr lang="en-US" sz="1800" i="1" dirty="0" smtClean="0">
                <a:solidFill>
                  <a:srgbClr val="FF0000"/>
                </a:solidFill>
              </a:rPr>
              <a:t>P</a:t>
            </a:r>
            <a:r>
              <a:rPr lang="en-US" sz="1800" dirty="0" smtClean="0">
                <a:solidFill>
                  <a:srgbClr val="FF0000"/>
                </a:solidFill>
              </a:rPr>
              <a:t>4</a:t>
            </a:r>
            <a:r>
              <a:rPr lang="en-US" sz="1800" i="1" dirty="0" smtClean="0">
                <a:solidFill>
                  <a:srgbClr val="FF0000"/>
                </a:solidFill>
              </a:rPr>
              <a:t>gm</a:t>
            </a:r>
            <a:r>
              <a:rPr lang="en-US" sz="1800" dirty="0" smtClean="0"/>
              <a:t>.</a:t>
            </a:r>
          </a:p>
        </p:txBody>
      </p:sp>
      <p:sp>
        <p:nvSpPr>
          <p:cNvPr id="3" name="Rectangle 2"/>
          <p:cNvSpPr txBox="1">
            <a:spLocks noChangeArrowheads="1"/>
          </p:cNvSpPr>
          <p:nvPr/>
        </p:nvSpPr>
        <p:spPr>
          <a:xfrm>
            <a:off x="431069" y="408811"/>
            <a:ext cx="8229600" cy="348802"/>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Plane Groups</a:t>
            </a:r>
          </a:p>
        </p:txBody>
      </p:sp>
      <p:grpSp>
        <p:nvGrpSpPr>
          <p:cNvPr id="28" name="Group 62"/>
          <p:cNvGrpSpPr/>
          <p:nvPr/>
        </p:nvGrpSpPr>
        <p:grpSpPr>
          <a:xfrm>
            <a:off x="5567394" y="1900286"/>
            <a:ext cx="2550698" cy="2328276"/>
            <a:chOff x="5605658" y="1732862"/>
            <a:chExt cx="2550698" cy="2328276"/>
          </a:xfrm>
        </p:grpSpPr>
        <p:grpSp>
          <p:nvGrpSpPr>
            <p:cNvPr id="29" name="Group 46"/>
            <p:cNvGrpSpPr/>
            <p:nvPr/>
          </p:nvGrpSpPr>
          <p:grpSpPr>
            <a:xfrm>
              <a:off x="5702797" y="1732862"/>
              <a:ext cx="2253523" cy="1859596"/>
              <a:chOff x="6412815" y="3072077"/>
              <a:chExt cx="2253523" cy="1859596"/>
            </a:xfrm>
          </p:grpSpPr>
          <p:sp>
            <p:nvSpPr>
              <p:cNvPr id="52" name="Parallelogram 51"/>
              <p:cNvSpPr/>
              <p:nvPr/>
            </p:nvSpPr>
            <p:spPr>
              <a:xfrm>
                <a:off x="6514562" y="3230458"/>
                <a:ext cx="2034862" cy="1545464"/>
              </a:xfrm>
              <a:prstGeom prst="parallelogram">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rot="2700000">
                <a:off x="6413306" y="3129566"/>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rot="2700000">
                <a:off x="8447140" y="3127419"/>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rot="2700000">
                <a:off x="6412558" y="4622768"/>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rot="2700000">
                <a:off x="8446393" y="4620621"/>
                <a:ext cx="219456" cy="21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7477026" y="3072077"/>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6463235" y="3820824"/>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7477026" y="4622580"/>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8490816" y="3820823"/>
                <a:ext cx="115909" cy="30909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rot="2700000">
                <a:off x="7427098" y="3865061"/>
                <a:ext cx="219456" cy="218941"/>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Rectangle 61"/>
            <p:cNvSpPr/>
            <p:nvPr/>
          </p:nvSpPr>
          <p:spPr>
            <a:xfrm>
              <a:off x="5605658" y="3599473"/>
              <a:ext cx="2550698" cy="461665"/>
            </a:xfrm>
            <a:prstGeom prst="rect">
              <a:avLst/>
            </a:prstGeom>
          </p:spPr>
          <p:txBody>
            <a:bodyPr wrap="none">
              <a:spAutoFit/>
            </a:bodyPr>
            <a:lstStyle/>
            <a:p>
              <a:r>
                <a:rPr lang="en-US" i="1" dirty="0" smtClean="0"/>
                <a:t>Symmetry elements</a:t>
              </a:r>
              <a:endParaRPr lang="en-US" dirty="0"/>
            </a:p>
          </p:txBody>
        </p:sp>
      </p:grpSp>
      <p:sp>
        <p:nvSpPr>
          <p:cNvPr id="118" name="Rectangle 117"/>
          <p:cNvSpPr/>
          <p:nvPr/>
        </p:nvSpPr>
        <p:spPr>
          <a:xfrm>
            <a:off x="1189717" y="2350302"/>
            <a:ext cx="2846231" cy="246888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9" name="Straight Connector 118"/>
          <p:cNvCxnSpPr>
            <a:stCxn id="118" idx="0"/>
            <a:endCxn id="118" idx="2"/>
          </p:cNvCxnSpPr>
          <p:nvPr/>
        </p:nvCxnSpPr>
        <p:spPr>
          <a:xfrm>
            <a:off x="2612833" y="2350302"/>
            <a:ext cx="0" cy="246888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a:stCxn id="118" idx="1"/>
            <a:endCxn id="118" idx="3"/>
          </p:cNvCxnSpPr>
          <p:nvPr/>
        </p:nvCxnSpPr>
        <p:spPr>
          <a:xfrm>
            <a:off x="1189717" y="3584742"/>
            <a:ext cx="2846231"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121" name="Rectangle 120"/>
          <p:cNvSpPr/>
          <p:nvPr/>
        </p:nvSpPr>
        <p:spPr>
          <a:xfrm>
            <a:off x="2217021" y="5267002"/>
            <a:ext cx="979755" cy="461665"/>
          </a:xfrm>
          <a:prstGeom prst="rect">
            <a:avLst/>
          </a:prstGeom>
        </p:spPr>
        <p:txBody>
          <a:bodyPr wrap="none">
            <a:spAutoFit/>
          </a:bodyPr>
          <a:lstStyle/>
          <a:p>
            <a:r>
              <a:rPr lang="en-US" i="1" dirty="0" smtClean="0"/>
              <a:t>P</a:t>
            </a:r>
            <a:r>
              <a:rPr lang="en-US" dirty="0" smtClean="0"/>
              <a:t>4</a:t>
            </a:r>
            <a:r>
              <a:rPr lang="en-US" i="1" dirty="0" smtClean="0"/>
              <a:t>gm</a:t>
            </a:r>
            <a:r>
              <a:rPr lang="en-US" dirty="0" smtClean="0"/>
              <a:t> </a:t>
            </a:r>
            <a:endParaRPr lang="en-US" dirty="0"/>
          </a:p>
        </p:txBody>
      </p:sp>
      <p:cxnSp>
        <p:nvCxnSpPr>
          <p:cNvPr id="199" name="Straight Connector 198"/>
          <p:cNvCxnSpPr/>
          <p:nvPr/>
        </p:nvCxnSpPr>
        <p:spPr>
          <a:xfrm>
            <a:off x="1194202" y="2360884"/>
            <a:ext cx="2807955" cy="243640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flipV="1">
            <a:off x="1187576" y="2332383"/>
            <a:ext cx="2854337" cy="247352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flipH="1">
            <a:off x="5764696" y="2425148"/>
            <a:ext cx="2067339" cy="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flipH="1">
            <a:off x="5731565" y="3226905"/>
            <a:ext cx="2067339" cy="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0"/>
          <p:cNvGrpSpPr/>
          <p:nvPr/>
        </p:nvGrpSpPr>
        <p:grpSpPr>
          <a:xfrm>
            <a:off x="3438660" y="1066800"/>
            <a:ext cx="5256469" cy="3348336"/>
            <a:chOff x="457200" y="1295400"/>
            <a:chExt cx="8305800" cy="4156075"/>
          </a:xfrm>
        </p:grpSpPr>
        <p:sp>
          <p:nvSpPr>
            <p:cNvPr id="162" name="Oval 161"/>
            <p:cNvSpPr/>
            <p:nvPr/>
          </p:nvSpPr>
          <p:spPr>
            <a:xfrm>
              <a:off x="457200" y="129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p:cNvSpPr/>
            <p:nvPr/>
          </p:nvSpPr>
          <p:spPr>
            <a:xfrm>
              <a:off x="1447800" y="129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2514600" y="129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p:cNvSpPr/>
            <p:nvPr/>
          </p:nvSpPr>
          <p:spPr>
            <a:xfrm>
              <a:off x="3581400" y="129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4648200" y="129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p:cNvSpPr/>
            <p:nvPr/>
          </p:nvSpPr>
          <p:spPr>
            <a:xfrm>
              <a:off x="5715000" y="129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p:cNvSpPr/>
            <p:nvPr/>
          </p:nvSpPr>
          <p:spPr>
            <a:xfrm>
              <a:off x="6781800" y="1295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p:cNvSpPr/>
            <p:nvPr/>
          </p:nvSpPr>
          <p:spPr>
            <a:xfrm>
              <a:off x="914400" y="2209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p:cNvSpPr/>
            <p:nvPr/>
          </p:nvSpPr>
          <p:spPr>
            <a:xfrm>
              <a:off x="1905000" y="2209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p:cNvSpPr/>
            <p:nvPr/>
          </p:nvSpPr>
          <p:spPr>
            <a:xfrm>
              <a:off x="2971800" y="2209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4038600" y="2209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p:cNvSpPr/>
            <p:nvPr/>
          </p:nvSpPr>
          <p:spPr>
            <a:xfrm>
              <a:off x="5105400" y="2209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6172200" y="2209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p:cNvSpPr/>
            <p:nvPr/>
          </p:nvSpPr>
          <p:spPr>
            <a:xfrm>
              <a:off x="7239000" y="22098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p:cNvSpPr/>
            <p:nvPr/>
          </p:nvSpPr>
          <p:spPr>
            <a:xfrm>
              <a:off x="1447800" y="3124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p:cNvSpPr/>
            <p:nvPr/>
          </p:nvSpPr>
          <p:spPr>
            <a:xfrm>
              <a:off x="2438400" y="3124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p:cNvSpPr/>
            <p:nvPr/>
          </p:nvSpPr>
          <p:spPr>
            <a:xfrm>
              <a:off x="3505200" y="3124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p:cNvSpPr/>
            <p:nvPr/>
          </p:nvSpPr>
          <p:spPr>
            <a:xfrm>
              <a:off x="4572000" y="3124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p:cNvSpPr/>
            <p:nvPr/>
          </p:nvSpPr>
          <p:spPr>
            <a:xfrm>
              <a:off x="5638800" y="3124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p:cNvSpPr/>
            <p:nvPr/>
          </p:nvSpPr>
          <p:spPr>
            <a:xfrm>
              <a:off x="6705600" y="3124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p:cNvSpPr/>
            <p:nvPr/>
          </p:nvSpPr>
          <p:spPr>
            <a:xfrm>
              <a:off x="7772400" y="31242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p:cNvSpPr/>
            <p:nvPr/>
          </p:nvSpPr>
          <p:spPr>
            <a:xfrm>
              <a:off x="19050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p:cNvSpPr/>
            <p:nvPr/>
          </p:nvSpPr>
          <p:spPr>
            <a:xfrm>
              <a:off x="28956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p:cNvSpPr/>
            <p:nvPr/>
          </p:nvSpPr>
          <p:spPr>
            <a:xfrm>
              <a:off x="39624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a:off x="50292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p:cNvSpPr/>
            <p:nvPr/>
          </p:nvSpPr>
          <p:spPr>
            <a:xfrm>
              <a:off x="60960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p:cNvSpPr/>
            <p:nvPr/>
          </p:nvSpPr>
          <p:spPr>
            <a:xfrm>
              <a:off x="71628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p:cNvSpPr/>
            <p:nvPr/>
          </p:nvSpPr>
          <p:spPr>
            <a:xfrm>
              <a:off x="8229600" y="40386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p:cNvSpPr/>
            <p:nvPr/>
          </p:nvSpPr>
          <p:spPr>
            <a:xfrm>
              <a:off x="23622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p:cNvSpPr/>
            <p:nvPr/>
          </p:nvSpPr>
          <p:spPr>
            <a:xfrm>
              <a:off x="33528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p:cNvSpPr/>
            <p:nvPr/>
          </p:nvSpPr>
          <p:spPr>
            <a:xfrm>
              <a:off x="44196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p:cNvSpPr/>
            <p:nvPr/>
          </p:nvSpPr>
          <p:spPr>
            <a:xfrm>
              <a:off x="54864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65532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p:cNvSpPr/>
            <p:nvPr/>
          </p:nvSpPr>
          <p:spPr>
            <a:xfrm>
              <a:off x="76200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8686800"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7" name="Straight Arrow Connector 196"/>
            <p:cNvCxnSpPr/>
            <p:nvPr/>
          </p:nvCxnSpPr>
          <p:spPr>
            <a:xfrm flipH="1" flipV="1">
              <a:off x="1956816" y="4038600"/>
              <a:ext cx="405384" cy="91440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a:stCxn id="190" idx="6"/>
              <a:endCxn id="191" idx="6"/>
            </p:cNvCxnSpPr>
            <p:nvPr/>
          </p:nvCxnSpPr>
          <p:spPr>
            <a:xfrm>
              <a:off x="2438400" y="4991100"/>
              <a:ext cx="990600" cy="0"/>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99" name="Object 7"/>
            <p:cNvGraphicFramePr>
              <a:graphicFrameLocks noChangeAspect="1"/>
            </p:cNvGraphicFramePr>
            <p:nvPr/>
          </p:nvGraphicFramePr>
          <p:xfrm>
            <a:off x="2667000" y="5029200"/>
            <a:ext cx="303213" cy="422275"/>
          </p:xfrm>
          <a:graphic>
            <a:graphicData uri="http://schemas.openxmlformats.org/presentationml/2006/ole">
              <p:oleObj spid="_x0000_s739330" name="Equation" r:id="rId3" imgW="126720" imgH="177480" progId="">
                <p:embed/>
              </p:oleObj>
            </a:graphicData>
          </a:graphic>
        </p:graphicFrame>
        <p:graphicFrame>
          <p:nvGraphicFramePr>
            <p:cNvPr id="200" name="Object 8"/>
            <p:cNvGraphicFramePr>
              <a:graphicFrameLocks noChangeAspect="1"/>
            </p:cNvGraphicFramePr>
            <p:nvPr/>
          </p:nvGraphicFramePr>
          <p:xfrm>
            <a:off x="1798638" y="4440237"/>
            <a:ext cx="334962" cy="512763"/>
          </p:xfrm>
          <a:graphic>
            <a:graphicData uri="http://schemas.openxmlformats.org/presentationml/2006/ole">
              <p:oleObj spid="_x0000_s739331" name="Equation" r:id="rId4" imgW="139680" imgH="215640" progId="">
                <p:embed/>
              </p:oleObj>
            </a:graphicData>
          </a:graphic>
        </p:graphicFrame>
        <p:cxnSp>
          <p:nvCxnSpPr>
            <p:cNvPr id="201" name="Straight Connector 200"/>
            <p:cNvCxnSpPr>
              <a:stCxn id="183" idx="7"/>
              <a:endCxn id="184" idx="7"/>
            </p:cNvCxnSpPr>
            <p:nvPr/>
          </p:nvCxnSpPr>
          <p:spPr>
            <a:xfrm>
              <a:off x="1970041" y="4049759"/>
              <a:ext cx="9906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a:stCxn id="184" idx="7"/>
              <a:endCxn id="191" idx="6"/>
            </p:cNvCxnSpPr>
            <p:nvPr/>
          </p:nvCxnSpPr>
          <p:spPr>
            <a:xfrm>
              <a:off x="2960641" y="4049759"/>
              <a:ext cx="468359" cy="94134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3" name="Group 97"/>
            <p:cNvGrpSpPr/>
            <p:nvPr/>
          </p:nvGrpSpPr>
          <p:grpSpPr>
            <a:xfrm>
              <a:off x="2208756" y="3408115"/>
              <a:ext cx="737702" cy="620385"/>
              <a:chOff x="2208756" y="3560515"/>
              <a:chExt cx="737702" cy="620385"/>
            </a:xfrm>
          </p:grpSpPr>
          <p:cxnSp>
            <p:nvCxnSpPr>
              <p:cNvPr id="206" name="Straight Arrow Connector 205"/>
              <p:cNvCxnSpPr/>
              <p:nvPr/>
            </p:nvCxnSpPr>
            <p:spPr>
              <a:xfrm flipV="1">
                <a:off x="2387833" y="3799900"/>
                <a:ext cx="152401" cy="381000"/>
              </a:xfrm>
              <a:prstGeom prst="straightConnector1">
                <a:avLst/>
              </a:prstGeom>
              <a:ln w="19050">
                <a:headEnd type="stealth"/>
                <a:tailEnd type="none"/>
              </a:ln>
            </p:spPr>
            <p:style>
              <a:lnRef idx="1">
                <a:schemeClr val="accent1"/>
              </a:lnRef>
              <a:fillRef idx="0">
                <a:schemeClr val="accent1"/>
              </a:fillRef>
              <a:effectRef idx="0">
                <a:schemeClr val="accent1"/>
              </a:effectRef>
              <a:fontRef idx="minor">
                <a:schemeClr val="tx1"/>
              </a:fontRef>
            </p:style>
          </p:cxnSp>
          <p:sp>
            <p:nvSpPr>
              <p:cNvPr id="207" name="TextBox 206"/>
              <p:cNvSpPr txBox="1"/>
              <p:nvPr/>
            </p:nvSpPr>
            <p:spPr>
              <a:xfrm>
                <a:off x="2208756" y="3560515"/>
                <a:ext cx="737702" cy="276999"/>
              </a:xfrm>
              <a:prstGeom prst="rect">
                <a:avLst/>
              </a:prstGeom>
              <a:noFill/>
            </p:spPr>
            <p:txBody>
              <a:bodyPr wrap="none" rtlCol="0">
                <a:spAutoFit/>
              </a:bodyPr>
              <a:lstStyle/>
              <a:p>
                <a:r>
                  <a:rPr lang="en-US" sz="1200" b="1" dirty="0" smtClean="0"/>
                  <a:t>Unit cell</a:t>
                </a:r>
                <a:endParaRPr lang="en-US" sz="1200" b="1" dirty="0"/>
              </a:p>
            </p:txBody>
          </p:sp>
        </p:grpSp>
        <p:sp>
          <p:nvSpPr>
            <p:cNvPr id="204" name="Freeform 203"/>
            <p:cNvSpPr/>
            <p:nvPr/>
          </p:nvSpPr>
          <p:spPr>
            <a:xfrm>
              <a:off x="2258291" y="4689763"/>
              <a:ext cx="360218" cy="284019"/>
            </a:xfrm>
            <a:custGeom>
              <a:avLst/>
              <a:gdLst>
                <a:gd name="connsiteX0" fmla="*/ 0 w 360218"/>
                <a:gd name="connsiteY0" fmla="*/ 20782 h 284019"/>
                <a:gd name="connsiteX1" fmla="*/ 193964 w 360218"/>
                <a:gd name="connsiteY1" fmla="*/ 20782 h 284019"/>
                <a:gd name="connsiteX2" fmla="*/ 318654 w 360218"/>
                <a:gd name="connsiteY2" fmla="*/ 145473 h 284019"/>
                <a:gd name="connsiteX3" fmla="*/ 360218 w 360218"/>
                <a:gd name="connsiteY3" fmla="*/ 284019 h 284019"/>
              </a:gdLst>
              <a:ahLst/>
              <a:cxnLst>
                <a:cxn ang="0">
                  <a:pos x="connsiteX0" y="connsiteY0"/>
                </a:cxn>
                <a:cxn ang="0">
                  <a:pos x="connsiteX1" y="connsiteY1"/>
                </a:cxn>
                <a:cxn ang="0">
                  <a:pos x="connsiteX2" y="connsiteY2"/>
                </a:cxn>
                <a:cxn ang="0">
                  <a:pos x="connsiteX3" y="connsiteY3"/>
                </a:cxn>
              </a:cxnLst>
              <a:rect l="l" t="t" r="r" b="b"/>
              <a:pathLst>
                <a:path w="360218" h="284019">
                  <a:moveTo>
                    <a:pt x="0" y="20782"/>
                  </a:moveTo>
                  <a:cubicBezTo>
                    <a:pt x="70427" y="10391"/>
                    <a:pt x="140855" y="0"/>
                    <a:pt x="193964" y="20782"/>
                  </a:cubicBezTo>
                  <a:cubicBezTo>
                    <a:pt x="247073" y="41564"/>
                    <a:pt x="290945" y="101600"/>
                    <a:pt x="318654" y="145473"/>
                  </a:cubicBezTo>
                  <a:cubicBezTo>
                    <a:pt x="346363" y="189346"/>
                    <a:pt x="360218" y="284019"/>
                    <a:pt x="360218" y="284019"/>
                  </a:cubicBezTo>
                </a:path>
              </a:pathLst>
            </a:custGeom>
            <a:ln w="12700">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5" name="Rectangle 204"/>
            <p:cNvSpPr/>
            <p:nvPr/>
          </p:nvSpPr>
          <p:spPr>
            <a:xfrm rot="1396293">
              <a:off x="2447903" y="4495072"/>
              <a:ext cx="476413" cy="277000"/>
            </a:xfrm>
            <a:prstGeom prst="rect">
              <a:avLst/>
            </a:prstGeom>
          </p:spPr>
          <p:txBody>
            <a:bodyPr wrap="none">
              <a:spAutoFit/>
            </a:bodyPr>
            <a:lstStyle/>
            <a:p>
              <a:r>
                <a:rPr lang="en-US" sz="1200" b="1" dirty="0" smtClean="0">
                  <a:solidFill>
                    <a:srgbClr val="0070C0"/>
                  </a:solidFill>
                  <a:sym typeface="Symbol" pitchFamily="18" charset="2"/>
                </a:rPr>
                <a:t>120</a:t>
              </a:r>
              <a:endParaRPr lang="en-US" sz="1200" dirty="0"/>
            </a:p>
          </p:txBody>
        </p:sp>
      </p:grpSp>
      <p:sp>
        <p:nvSpPr>
          <p:cNvPr id="212" name="Rectangle 5"/>
          <p:cNvSpPr>
            <a:spLocks noChangeArrowheads="1"/>
          </p:cNvSpPr>
          <p:nvPr/>
        </p:nvSpPr>
        <p:spPr bwMode="auto">
          <a:xfrm>
            <a:off x="415880" y="3705672"/>
            <a:ext cx="2438400" cy="822325"/>
          </a:xfrm>
          <a:prstGeom prst="rect">
            <a:avLst/>
          </a:prstGeom>
          <a:noFill/>
          <a:ln w="9525">
            <a:noFill/>
            <a:miter lim="800000"/>
            <a:headEnd/>
            <a:tailEnd/>
          </a:ln>
        </p:spPr>
        <p:txBody>
          <a:bodyPr wrap="none" anchor="ctr">
            <a:spAutoFit/>
          </a:bodyPr>
          <a:lstStyle/>
          <a:p>
            <a:pPr algn="ctr"/>
            <a:r>
              <a:rPr lang="en-US" dirty="0"/>
              <a:t>2D Point Groups</a:t>
            </a:r>
          </a:p>
          <a:p>
            <a:pPr algn="ctr"/>
            <a:r>
              <a:rPr lang="en-US" dirty="0"/>
              <a:t>3, 3m, 6 , 6mm</a:t>
            </a:r>
          </a:p>
        </p:txBody>
      </p:sp>
      <p:sp>
        <p:nvSpPr>
          <p:cNvPr id="213" name="Rectangle 6"/>
          <p:cNvSpPr>
            <a:spLocks noChangeArrowheads="1"/>
          </p:cNvSpPr>
          <p:nvPr/>
        </p:nvSpPr>
        <p:spPr bwMode="auto">
          <a:xfrm>
            <a:off x="838200" y="4495800"/>
            <a:ext cx="2146300" cy="822325"/>
          </a:xfrm>
          <a:prstGeom prst="rect">
            <a:avLst/>
          </a:prstGeom>
          <a:noFill/>
          <a:ln w="9525">
            <a:noFill/>
            <a:miter lim="800000"/>
            <a:headEnd/>
            <a:tailEnd/>
          </a:ln>
        </p:spPr>
        <p:txBody>
          <a:bodyPr wrap="none" anchor="ctr">
            <a:spAutoFit/>
          </a:bodyPr>
          <a:lstStyle/>
          <a:p>
            <a:pPr algn="ctr"/>
            <a:r>
              <a:rPr lang="en-US" dirty="0"/>
              <a:t>Unit Cell</a:t>
            </a:r>
          </a:p>
          <a:p>
            <a:pPr algn="ctr"/>
            <a:r>
              <a:rPr lang="en-US" dirty="0"/>
              <a:t>a = b , </a:t>
            </a:r>
            <a:r>
              <a:rPr lang="en-US" dirty="0">
                <a:latin typeface="Symbol" pitchFamily="18" charset="2"/>
              </a:rPr>
              <a:t>g = 120</a:t>
            </a:r>
            <a:r>
              <a:rPr lang="en-US" dirty="0">
                <a:cs typeface="Arial" pitchFamily="34" charset="0"/>
              </a:rPr>
              <a:t>°</a:t>
            </a:r>
          </a:p>
        </p:txBody>
      </p:sp>
      <p:pic>
        <p:nvPicPr>
          <p:cNvPr id="214" name="Picture 8" descr="hexagon"/>
          <p:cNvPicPr>
            <a:picLocks noChangeAspect="1" noChangeArrowheads="1"/>
          </p:cNvPicPr>
          <p:nvPr/>
        </p:nvPicPr>
        <p:blipFill>
          <a:blip r:embed="rId5" cstate="print"/>
          <a:srcRect/>
          <a:stretch>
            <a:fillRect/>
          </a:stretch>
        </p:blipFill>
        <p:spPr bwMode="auto">
          <a:xfrm>
            <a:off x="297556" y="1783926"/>
            <a:ext cx="2754737" cy="1679754"/>
          </a:xfrm>
          <a:prstGeom prst="rect">
            <a:avLst/>
          </a:prstGeom>
          <a:noFill/>
          <a:ln w="9525">
            <a:noFill/>
            <a:miter lim="800000"/>
            <a:headEnd/>
            <a:tailEnd/>
          </a:ln>
        </p:spPr>
      </p:pic>
      <p:sp>
        <p:nvSpPr>
          <p:cNvPr id="215" name="Rectangle 4"/>
          <p:cNvSpPr txBox="1">
            <a:spLocks noChangeArrowheads="1"/>
          </p:cNvSpPr>
          <p:nvPr/>
        </p:nvSpPr>
        <p:spPr>
          <a:xfrm>
            <a:off x="405685" y="359535"/>
            <a:ext cx="8229600" cy="11430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Hexagonal lattice p</a:t>
            </a:r>
          </a:p>
        </p:txBody>
      </p:sp>
      <p:sp>
        <p:nvSpPr>
          <p:cNvPr id="216" name="Rectangle 7"/>
          <p:cNvSpPr>
            <a:spLocks noChangeArrowheads="1"/>
          </p:cNvSpPr>
          <p:nvPr/>
        </p:nvSpPr>
        <p:spPr bwMode="auto">
          <a:xfrm>
            <a:off x="6112313" y="4495800"/>
            <a:ext cx="1461422" cy="313350"/>
          </a:xfrm>
          <a:prstGeom prst="rect">
            <a:avLst/>
          </a:prstGeom>
          <a:noFill/>
          <a:ln w="6350" algn="ctr">
            <a:noFill/>
            <a:miter lim="800000"/>
            <a:headEnd/>
            <a:tailEnd/>
          </a:ln>
        </p:spPr>
        <p:txBody>
          <a:bodyPr wrap="none" lIns="18000" tIns="18000" rIns="18000" bIns="18000">
            <a:spAutoFit/>
          </a:bodyPr>
          <a:lstStyle/>
          <a:p>
            <a:pPr marL="271463" indent="-271463">
              <a:spcBef>
                <a:spcPct val="20000"/>
              </a:spcBef>
              <a:buFont typeface="Wingdings" pitchFamily="2" charset="2"/>
              <a:buNone/>
            </a:pPr>
            <a:r>
              <a:rPr lang="en-US" sz="1800" b="1" i="1" dirty="0" smtClean="0">
                <a:solidFill>
                  <a:srgbClr val="0070C0"/>
                </a:solidFill>
                <a:sym typeface="Wingdings" pitchFamily="2" charset="2"/>
              </a:rPr>
              <a:t>a</a:t>
            </a:r>
            <a:r>
              <a:rPr lang="en-US" sz="1800" b="1" dirty="0" smtClean="0">
                <a:solidFill>
                  <a:srgbClr val="0070C0"/>
                </a:solidFill>
                <a:sym typeface="Wingdings" pitchFamily="2" charset="2"/>
              </a:rPr>
              <a:t> </a:t>
            </a:r>
            <a:r>
              <a:rPr lang="en-US" sz="1800" b="1" dirty="0">
                <a:solidFill>
                  <a:srgbClr val="0070C0"/>
                </a:solidFill>
                <a:sym typeface="Wingdings" pitchFamily="2" charset="2"/>
              </a:rPr>
              <a:t>= </a:t>
            </a:r>
            <a:r>
              <a:rPr lang="en-US" sz="1800" b="1" i="1" dirty="0">
                <a:solidFill>
                  <a:srgbClr val="0070C0"/>
                </a:solidFill>
                <a:sym typeface="Wingdings" pitchFamily="2" charset="2"/>
              </a:rPr>
              <a:t>b</a:t>
            </a:r>
            <a:r>
              <a:rPr lang="en-US" sz="1800" b="1" dirty="0">
                <a:solidFill>
                  <a:srgbClr val="0070C0"/>
                </a:solidFill>
                <a:sym typeface="Wingdings" pitchFamily="2" charset="2"/>
              </a:rPr>
              <a:t>, </a:t>
            </a:r>
            <a:r>
              <a:rPr lang="en-US" sz="1800" b="1" i="1" dirty="0" smtClean="0">
                <a:solidFill>
                  <a:srgbClr val="0070C0"/>
                </a:solidFill>
                <a:sym typeface="Symbol" pitchFamily="18" charset="2"/>
              </a:rPr>
              <a:t></a:t>
            </a:r>
            <a:r>
              <a:rPr lang="en-US" sz="1800" b="1" dirty="0" smtClean="0">
                <a:solidFill>
                  <a:srgbClr val="0070C0"/>
                </a:solidFill>
                <a:sym typeface="Symbol" pitchFamily="18" charset="2"/>
              </a:rPr>
              <a:t> </a:t>
            </a:r>
            <a:r>
              <a:rPr lang="en-US" sz="1800" b="1" dirty="0">
                <a:solidFill>
                  <a:srgbClr val="0070C0"/>
                </a:solidFill>
                <a:sym typeface="Symbol" pitchFamily="18" charset="2"/>
              </a:rPr>
              <a:t>= </a:t>
            </a:r>
            <a:r>
              <a:rPr lang="en-US" sz="1800" b="1" dirty="0" smtClean="0">
                <a:solidFill>
                  <a:srgbClr val="0070C0"/>
                </a:solidFill>
                <a:sym typeface="Symbol" pitchFamily="18" charset="2"/>
              </a:rPr>
              <a:t>120</a:t>
            </a:r>
            <a:endParaRPr lang="en-US" sz="1800" b="1" dirty="0">
              <a:solidFill>
                <a:srgbClr val="0070C0"/>
              </a:solidFill>
              <a:sym typeface="Symbol" pitchFamily="18" charset="2"/>
            </a:endParaRPr>
          </a:p>
        </p:txBody>
      </p:sp>
      <p:sp>
        <p:nvSpPr>
          <p:cNvPr id="54" name="Rectangle 4"/>
          <p:cNvSpPr txBox="1">
            <a:spLocks noChangeArrowheads="1"/>
          </p:cNvSpPr>
          <p:nvPr/>
        </p:nvSpPr>
        <p:spPr>
          <a:xfrm>
            <a:off x="-457200" y="5486400"/>
            <a:ext cx="3200502" cy="411005"/>
          </a:xfrm>
          <a:prstGeom prst="rect">
            <a:avLst/>
          </a:prstGeom>
        </p:spPr>
        <p:txBody>
          <a:bodyPr vert="horz" lIns="91440" tIns="45720" rIns="91440" bIns="45720" rtlCol="0" anchor="ctr">
            <a:normAutofit fontScale="55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3</a:t>
            </a:r>
          </a:p>
        </p:txBody>
      </p:sp>
      <p:pic>
        <p:nvPicPr>
          <p:cNvPr id="55" name="Picture 5" descr="pp3"/>
          <p:cNvPicPr>
            <a:picLocks noChangeAspect="1" noChangeArrowheads="1"/>
          </p:cNvPicPr>
          <p:nvPr/>
        </p:nvPicPr>
        <p:blipFill>
          <a:blip r:embed="rId6" cstate="print"/>
          <a:srcRect/>
          <a:stretch>
            <a:fillRect/>
          </a:stretch>
        </p:blipFill>
        <p:spPr bwMode="auto">
          <a:xfrm>
            <a:off x="-152400" y="5690103"/>
            <a:ext cx="2438400" cy="1167897"/>
          </a:xfrm>
          <a:prstGeom prst="rect">
            <a:avLst/>
          </a:prstGeom>
          <a:noFill/>
          <a:ln w="9525">
            <a:noFill/>
            <a:miter lim="800000"/>
            <a:headEnd/>
            <a:tailEnd/>
          </a:ln>
        </p:spPr>
      </p:pic>
      <p:sp>
        <p:nvSpPr>
          <p:cNvPr id="56" name="Rectangle 2"/>
          <p:cNvSpPr txBox="1">
            <a:spLocks noChangeArrowheads="1"/>
          </p:cNvSpPr>
          <p:nvPr/>
        </p:nvSpPr>
        <p:spPr>
          <a:xfrm>
            <a:off x="2362200" y="5562600"/>
            <a:ext cx="1371601" cy="479800"/>
          </a:xfrm>
          <a:prstGeom prst="rect">
            <a:avLst/>
          </a:prstGeom>
        </p:spPr>
        <p:txBody>
          <a:bodyPr vert="horz" lIns="91440" tIns="45720" rIns="91440" bIns="45720" rtlCol="0" anchor="ctr">
            <a:normAutofit fontScale="7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6</a:t>
            </a:r>
          </a:p>
        </p:txBody>
      </p:sp>
      <p:pic>
        <p:nvPicPr>
          <p:cNvPr id="57" name="Picture 4" descr="pp6"/>
          <p:cNvPicPr>
            <a:picLocks noChangeAspect="1" noChangeArrowheads="1"/>
          </p:cNvPicPr>
          <p:nvPr/>
        </p:nvPicPr>
        <p:blipFill>
          <a:blip r:embed="rId7" cstate="print"/>
          <a:srcRect/>
          <a:stretch>
            <a:fillRect/>
          </a:stretch>
        </p:blipFill>
        <p:spPr bwMode="auto">
          <a:xfrm>
            <a:off x="2133600" y="5828559"/>
            <a:ext cx="2133600" cy="1029441"/>
          </a:xfrm>
          <a:prstGeom prst="rect">
            <a:avLst/>
          </a:prstGeom>
          <a:noFill/>
          <a:ln w="9525">
            <a:noFill/>
            <a:miter lim="800000"/>
            <a:headEnd/>
            <a:tailEnd/>
          </a:ln>
        </p:spPr>
      </p:pic>
      <p:sp>
        <p:nvSpPr>
          <p:cNvPr id="58" name="Rectangle 4"/>
          <p:cNvSpPr txBox="1">
            <a:spLocks noChangeArrowheads="1"/>
          </p:cNvSpPr>
          <p:nvPr/>
        </p:nvSpPr>
        <p:spPr>
          <a:xfrm>
            <a:off x="3886200" y="5334000"/>
            <a:ext cx="3276600" cy="6858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smtClean="0">
                <a:ln>
                  <a:noFill/>
                </a:ln>
                <a:solidFill>
                  <a:schemeClr val="tx1"/>
                </a:solidFill>
                <a:effectLst/>
                <a:uLnTx/>
                <a:uFillTx/>
                <a:latin typeface="+mj-lt"/>
                <a:ea typeface="+mj-ea"/>
                <a:cs typeface="+mj-cs"/>
              </a:rPr>
              <a:t>3 + m = 3m</a:t>
            </a:r>
          </a:p>
        </p:txBody>
      </p:sp>
      <p:pic>
        <p:nvPicPr>
          <p:cNvPr id="59" name="Picture 5" descr="pp31m"/>
          <p:cNvPicPr>
            <a:picLocks noChangeAspect="1" noChangeArrowheads="1"/>
          </p:cNvPicPr>
          <p:nvPr/>
        </p:nvPicPr>
        <p:blipFill>
          <a:blip r:embed="rId8" cstate="print"/>
          <a:srcRect/>
          <a:stretch>
            <a:fillRect/>
          </a:stretch>
        </p:blipFill>
        <p:spPr bwMode="auto">
          <a:xfrm>
            <a:off x="4419600" y="5760253"/>
            <a:ext cx="2286000" cy="1097747"/>
          </a:xfrm>
          <a:prstGeom prst="rect">
            <a:avLst/>
          </a:prstGeom>
          <a:noFill/>
          <a:ln w="9525">
            <a:noFill/>
            <a:miter lim="800000"/>
            <a:headEnd/>
            <a:tailEnd/>
          </a:ln>
        </p:spPr>
      </p:pic>
      <p:sp>
        <p:nvSpPr>
          <p:cNvPr id="60" name="Rectangle 4"/>
          <p:cNvSpPr txBox="1">
            <a:spLocks noChangeArrowheads="1"/>
          </p:cNvSpPr>
          <p:nvPr/>
        </p:nvSpPr>
        <p:spPr>
          <a:xfrm>
            <a:off x="6629400" y="5317610"/>
            <a:ext cx="2667000" cy="77839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1"/>
                </a:solidFill>
                <a:effectLst/>
                <a:uLnTx/>
                <a:uFillTx/>
                <a:latin typeface="+mj-lt"/>
                <a:ea typeface="+mj-ea"/>
                <a:cs typeface="+mj-cs"/>
              </a:rPr>
              <a:t>6mm</a:t>
            </a:r>
          </a:p>
        </p:txBody>
      </p:sp>
      <p:pic>
        <p:nvPicPr>
          <p:cNvPr id="61" name="Picture 5" descr="pp6m"/>
          <p:cNvPicPr>
            <a:picLocks noChangeAspect="1" noChangeArrowheads="1"/>
          </p:cNvPicPr>
          <p:nvPr/>
        </p:nvPicPr>
        <p:blipFill>
          <a:blip r:embed="rId9" cstate="print"/>
          <a:srcRect/>
          <a:stretch>
            <a:fillRect/>
          </a:stretch>
        </p:blipFill>
        <p:spPr bwMode="auto">
          <a:xfrm>
            <a:off x="6705600" y="5800132"/>
            <a:ext cx="2438400" cy="11340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31069" y="408811"/>
            <a:ext cx="8229600" cy="348802"/>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Plane Groups</a:t>
            </a:r>
          </a:p>
        </p:txBody>
      </p:sp>
      <p:grpSp>
        <p:nvGrpSpPr>
          <p:cNvPr id="2" name="Group 157"/>
          <p:cNvGrpSpPr/>
          <p:nvPr/>
        </p:nvGrpSpPr>
        <p:grpSpPr>
          <a:xfrm>
            <a:off x="1687133" y="1114021"/>
            <a:ext cx="4585629" cy="4166316"/>
            <a:chOff x="360609" y="1590540"/>
            <a:chExt cx="4585629" cy="4166316"/>
          </a:xfrm>
        </p:grpSpPr>
        <p:pic>
          <p:nvPicPr>
            <p:cNvPr id="89" name="Picture 4" descr="pgp3"/>
            <p:cNvPicPr>
              <a:picLocks noChangeAspect="1" noChangeArrowheads="1"/>
            </p:cNvPicPr>
            <p:nvPr/>
          </p:nvPicPr>
          <p:blipFill>
            <a:blip r:embed="rId2" cstate="print"/>
            <a:srcRect/>
            <a:stretch>
              <a:fillRect/>
            </a:stretch>
          </p:blipFill>
          <p:spPr bwMode="auto">
            <a:xfrm>
              <a:off x="360609" y="1590540"/>
              <a:ext cx="4535208" cy="4166316"/>
            </a:xfrm>
            <a:prstGeom prst="rect">
              <a:avLst/>
            </a:prstGeom>
            <a:noFill/>
            <a:ln w="9525">
              <a:noFill/>
              <a:miter lim="800000"/>
              <a:headEnd/>
              <a:tailEnd/>
            </a:ln>
          </p:spPr>
        </p:pic>
        <p:grpSp>
          <p:nvGrpSpPr>
            <p:cNvPr id="4" name="Group 102"/>
            <p:cNvGrpSpPr/>
            <p:nvPr/>
          </p:nvGrpSpPr>
          <p:grpSpPr>
            <a:xfrm>
              <a:off x="1021851" y="3201905"/>
              <a:ext cx="520071" cy="441416"/>
              <a:chOff x="815789" y="1501893"/>
              <a:chExt cx="520071" cy="441416"/>
            </a:xfrm>
          </p:grpSpPr>
          <p:pic>
            <p:nvPicPr>
              <p:cNvPr id="101"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02" name="Rectangle 101"/>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5" name="Group 109"/>
            <p:cNvGrpSpPr/>
            <p:nvPr/>
          </p:nvGrpSpPr>
          <p:grpSpPr>
            <a:xfrm>
              <a:off x="1740921" y="2452783"/>
              <a:ext cx="520071" cy="441416"/>
              <a:chOff x="815789" y="1501893"/>
              <a:chExt cx="520071" cy="441416"/>
            </a:xfrm>
          </p:grpSpPr>
          <p:pic>
            <p:nvPicPr>
              <p:cNvPr id="115"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16" name="Rectangle 115"/>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6" name="Group 116"/>
            <p:cNvGrpSpPr/>
            <p:nvPr/>
          </p:nvGrpSpPr>
          <p:grpSpPr>
            <a:xfrm>
              <a:off x="695586" y="2167300"/>
              <a:ext cx="520071" cy="441416"/>
              <a:chOff x="815789" y="1501893"/>
              <a:chExt cx="520071" cy="441416"/>
            </a:xfrm>
          </p:grpSpPr>
          <p:pic>
            <p:nvPicPr>
              <p:cNvPr id="118"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19" name="Rectangle 118"/>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7" name="Group 119"/>
            <p:cNvGrpSpPr/>
            <p:nvPr/>
          </p:nvGrpSpPr>
          <p:grpSpPr>
            <a:xfrm>
              <a:off x="1586375" y="3727793"/>
              <a:ext cx="520071" cy="441416"/>
              <a:chOff x="815789" y="1501893"/>
              <a:chExt cx="520071" cy="441416"/>
            </a:xfrm>
          </p:grpSpPr>
          <p:pic>
            <p:nvPicPr>
              <p:cNvPr id="121"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23" name="Rectangle 122"/>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8" name="Group 123"/>
            <p:cNvGrpSpPr/>
            <p:nvPr/>
          </p:nvGrpSpPr>
          <p:grpSpPr>
            <a:xfrm>
              <a:off x="1906201" y="4755957"/>
              <a:ext cx="520071" cy="441416"/>
              <a:chOff x="815789" y="1501893"/>
              <a:chExt cx="520071" cy="441416"/>
            </a:xfrm>
          </p:grpSpPr>
          <p:pic>
            <p:nvPicPr>
              <p:cNvPr id="125"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26" name="Rectangle 125"/>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9" name="Group 126"/>
            <p:cNvGrpSpPr/>
            <p:nvPr/>
          </p:nvGrpSpPr>
          <p:grpSpPr>
            <a:xfrm>
              <a:off x="3694218" y="4766690"/>
              <a:ext cx="520071" cy="441416"/>
              <a:chOff x="815789" y="1501893"/>
              <a:chExt cx="520071" cy="441416"/>
            </a:xfrm>
          </p:grpSpPr>
          <p:pic>
            <p:nvPicPr>
              <p:cNvPr id="128"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29" name="Rectangle 128"/>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10" name="Group 129"/>
            <p:cNvGrpSpPr/>
            <p:nvPr/>
          </p:nvGrpSpPr>
          <p:grpSpPr>
            <a:xfrm>
              <a:off x="4426167" y="3966054"/>
              <a:ext cx="520071" cy="441416"/>
              <a:chOff x="815789" y="1501893"/>
              <a:chExt cx="520071" cy="441416"/>
            </a:xfrm>
          </p:grpSpPr>
          <p:pic>
            <p:nvPicPr>
              <p:cNvPr id="141"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42" name="Rectangle 141"/>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11" name="Group 142"/>
            <p:cNvGrpSpPr/>
            <p:nvPr/>
          </p:nvGrpSpPr>
          <p:grpSpPr>
            <a:xfrm>
              <a:off x="3561135" y="2431322"/>
              <a:ext cx="520071" cy="441416"/>
              <a:chOff x="815789" y="1501893"/>
              <a:chExt cx="520071" cy="441416"/>
            </a:xfrm>
          </p:grpSpPr>
          <p:pic>
            <p:nvPicPr>
              <p:cNvPr id="144"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45" name="Rectangle 144"/>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12" name="Group 145"/>
            <p:cNvGrpSpPr/>
            <p:nvPr/>
          </p:nvGrpSpPr>
          <p:grpSpPr>
            <a:xfrm>
              <a:off x="2515799" y="2158720"/>
              <a:ext cx="520071" cy="441416"/>
              <a:chOff x="815789" y="1501893"/>
              <a:chExt cx="520071" cy="441416"/>
            </a:xfrm>
          </p:grpSpPr>
          <p:pic>
            <p:nvPicPr>
              <p:cNvPr id="147"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48" name="Rectangle 147"/>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13" name="Group 148"/>
            <p:cNvGrpSpPr/>
            <p:nvPr/>
          </p:nvGrpSpPr>
          <p:grpSpPr>
            <a:xfrm>
              <a:off x="2822745" y="3225520"/>
              <a:ext cx="520071" cy="441416"/>
              <a:chOff x="815789" y="1501893"/>
              <a:chExt cx="520071" cy="441416"/>
            </a:xfrm>
          </p:grpSpPr>
          <p:pic>
            <p:nvPicPr>
              <p:cNvPr id="150"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51" name="Rectangle 150"/>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14" name="Group 151"/>
            <p:cNvGrpSpPr/>
            <p:nvPr/>
          </p:nvGrpSpPr>
          <p:grpSpPr>
            <a:xfrm>
              <a:off x="2666052" y="4008984"/>
              <a:ext cx="520071" cy="441416"/>
              <a:chOff x="815789" y="1501893"/>
              <a:chExt cx="520071" cy="441416"/>
            </a:xfrm>
          </p:grpSpPr>
          <p:pic>
            <p:nvPicPr>
              <p:cNvPr id="153"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54" name="Rectangle 153"/>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nvGrpSpPr>
            <p:cNvPr id="15" name="Group 154"/>
            <p:cNvGrpSpPr/>
            <p:nvPr/>
          </p:nvGrpSpPr>
          <p:grpSpPr>
            <a:xfrm>
              <a:off x="3359365" y="3723502"/>
              <a:ext cx="520071" cy="441416"/>
              <a:chOff x="815789" y="1501893"/>
              <a:chExt cx="520071" cy="441416"/>
            </a:xfrm>
          </p:grpSpPr>
          <p:pic>
            <p:nvPicPr>
              <p:cNvPr id="156" name="Picture 3"/>
              <p:cNvPicPr>
                <a:picLocks noChangeAspect="1" noChangeArrowheads="1"/>
              </p:cNvPicPr>
              <p:nvPr/>
            </p:nvPicPr>
            <p:blipFill>
              <a:blip r:embed="rId3" cstate="print"/>
              <a:srcRect/>
              <a:stretch>
                <a:fillRect/>
              </a:stretch>
            </p:blipFill>
            <p:spPr bwMode="auto">
              <a:xfrm>
                <a:off x="815789" y="1616483"/>
                <a:ext cx="323984" cy="326826"/>
              </a:xfrm>
              <a:prstGeom prst="rect">
                <a:avLst/>
              </a:prstGeom>
              <a:noFill/>
              <a:ln w="9525">
                <a:noFill/>
                <a:miter lim="800000"/>
                <a:headEnd/>
                <a:tailEnd/>
              </a:ln>
              <a:effectLst/>
            </p:spPr>
          </p:pic>
          <p:sp>
            <p:nvSpPr>
              <p:cNvPr id="157" name="Rectangle 156"/>
              <p:cNvSpPr/>
              <p:nvPr/>
            </p:nvSpPr>
            <p:spPr>
              <a:xfrm>
                <a:off x="1021350" y="1501893"/>
                <a:ext cx="314510" cy="369332"/>
              </a:xfrm>
              <a:prstGeom prst="rect">
                <a:avLst/>
              </a:prstGeom>
            </p:spPr>
            <p:txBody>
              <a:bodyPr wrap="none">
                <a:spAutoFit/>
              </a:bodyPr>
              <a:lstStyle/>
              <a:p>
                <a:r>
                  <a:rPr lang="en-US" sz="1800" dirty="0" smtClean="0"/>
                  <a:t>+</a:t>
                </a:r>
                <a:endParaRPr lang="en-US" sz="1800" dirty="0"/>
              </a:p>
            </p:txBody>
          </p:sp>
        </p:gr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31069" y="408811"/>
            <a:ext cx="8229600" cy="348802"/>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Plane Groups</a:t>
            </a:r>
          </a:p>
        </p:txBody>
      </p:sp>
      <p:pic>
        <p:nvPicPr>
          <p:cNvPr id="42" name="Picture 4" descr="pgp3m1"/>
          <p:cNvPicPr>
            <a:picLocks noChangeAspect="1" noChangeArrowheads="1"/>
          </p:cNvPicPr>
          <p:nvPr/>
        </p:nvPicPr>
        <p:blipFill>
          <a:blip r:embed="rId2" cstate="print"/>
          <a:srcRect/>
          <a:stretch>
            <a:fillRect/>
          </a:stretch>
        </p:blipFill>
        <p:spPr bwMode="auto">
          <a:xfrm>
            <a:off x="976648" y="781319"/>
            <a:ext cx="6000750"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pgp31m"/>
          <p:cNvPicPr>
            <a:picLocks noChangeAspect="1" noChangeArrowheads="1"/>
          </p:cNvPicPr>
          <p:nvPr/>
        </p:nvPicPr>
        <p:blipFill>
          <a:blip r:embed="rId2" cstate="print"/>
          <a:srcRect/>
          <a:stretch>
            <a:fillRect/>
          </a:stretch>
        </p:blipFill>
        <p:spPr bwMode="auto">
          <a:xfrm>
            <a:off x="757707" y="472226"/>
            <a:ext cx="597217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pgp6"/>
          <p:cNvPicPr>
            <a:picLocks noChangeAspect="1" noChangeArrowheads="1"/>
          </p:cNvPicPr>
          <p:nvPr/>
        </p:nvPicPr>
        <p:blipFill>
          <a:blip r:embed="rId2" cstate="print"/>
          <a:srcRect/>
          <a:stretch>
            <a:fillRect/>
          </a:stretch>
        </p:blipFill>
        <p:spPr bwMode="auto">
          <a:xfrm>
            <a:off x="797417" y="588135"/>
            <a:ext cx="59531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pgp6mm"/>
          <p:cNvPicPr>
            <a:picLocks noChangeAspect="1" noChangeArrowheads="1"/>
          </p:cNvPicPr>
          <p:nvPr/>
        </p:nvPicPr>
        <p:blipFill>
          <a:blip r:embed="rId2" cstate="print"/>
          <a:srcRect/>
          <a:stretch>
            <a:fillRect/>
          </a:stretch>
        </p:blipFill>
        <p:spPr bwMode="auto">
          <a:xfrm>
            <a:off x="409977" y="536619"/>
            <a:ext cx="6029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p:cNvPicPr>
            <a:picLocks noChangeAspect="1" noChangeArrowheads="1"/>
          </p:cNvPicPr>
          <p:nvPr/>
        </p:nvPicPr>
        <p:blipFill>
          <a:blip r:embed="rId2" cstate="print"/>
          <a:srcRect/>
          <a:stretch>
            <a:fillRect/>
          </a:stretch>
        </p:blipFill>
        <p:spPr bwMode="auto">
          <a:xfrm>
            <a:off x="0" y="0"/>
            <a:ext cx="4402138" cy="6858000"/>
          </a:xfrm>
          <a:prstGeom prst="rect">
            <a:avLst/>
          </a:prstGeom>
          <a:noFill/>
          <a:ln w="9525">
            <a:noFill/>
            <a:miter lim="800000"/>
            <a:headEnd/>
            <a:tailEnd/>
          </a:ln>
        </p:spPr>
      </p:pic>
      <p:pic>
        <p:nvPicPr>
          <p:cNvPr id="55299" name="Picture 3"/>
          <p:cNvPicPr>
            <a:picLocks noChangeAspect="1" noChangeArrowheads="1"/>
          </p:cNvPicPr>
          <p:nvPr/>
        </p:nvPicPr>
        <p:blipFill>
          <a:blip r:embed="rId3" cstate="print"/>
          <a:srcRect/>
          <a:stretch>
            <a:fillRect/>
          </a:stretch>
        </p:blipFill>
        <p:spPr bwMode="auto">
          <a:xfrm>
            <a:off x="4352925" y="0"/>
            <a:ext cx="4791075" cy="1558925"/>
          </a:xfrm>
          <a:prstGeom prst="rect">
            <a:avLst/>
          </a:prstGeom>
          <a:noFill/>
          <a:ln w="9525">
            <a:noFill/>
            <a:miter lim="800000"/>
            <a:headEnd/>
            <a:tailEnd/>
          </a:ln>
        </p:spPr>
      </p:pic>
      <p:pic>
        <p:nvPicPr>
          <p:cNvPr id="55300" name="Picture 4"/>
          <p:cNvPicPr>
            <a:picLocks noChangeAspect="1" noChangeArrowheads="1"/>
          </p:cNvPicPr>
          <p:nvPr/>
        </p:nvPicPr>
        <p:blipFill>
          <a:blip r:embed="rId4" cstate="print"/>
          <a:srcRect/>
          <a:stretch>
            <a:fillRect/>
          </a:stretch>
        </p:blipFill>
        <p:spPr bwMode="auto">
          <a:xfrm>
            <a:off x="4724400" y="1752600"/>
            <a:ext cx="1746250" cy="4781550"/>
          </a:xfrm>
          <a:prstGeom prst="rect">
            <a:avLst/>
          </a:prstGeom>
          <a:noFill/>
          <a:ln w="9525">
            <a:noFill/>
            <a:miter lim="800000"/>
            <a:headEnd/>
            <a:tailEnd/>
          </a:ln>
        </p:spPr>
      </p:pic>
      <p:pic>
        <p:nvPicPr>
          <p:cNvPr id="55301" name="Picture 5"/>
          <p:cNvPicPr>
            <a:picLocks noChangeAspect="1" noChangeArrowheads="1"/>
          </p:cNvPicPr>
          <p:nvPr/>
        </p:nvPicPr>
        <p:blipFill>
          <a:blip r:embed="rId5" cstate="print"/>
          <a:srcRect t="3699"/>
          <a:stretch>
            <a:fillRect/>
          </a:stretch>
        </p:blipFill>
        <p:spPr bwMode="auto">
          <a:xfrm>
            <a:off x="6705600" y="2565400"/>
            <a:ext cx="2071688" cy="33067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914400" y="-193185"/>
            <a:ext cx="8229600" cy="1143000"/>
          </a:xfrm>
          <a:prstGeom prst="rect">
            <a:avLst/>
          </a:prstGeo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Plane Group Identification</a:t>
            </a:r>
          </a:p>
        </p:txBody>
      </p:sp>
      <p:pic>
        <p:nvPicPr>
          <p:cNvPr id="4" name="Picture 6" descr="pgflow1"/>
          <p:cNvPicPr>
            <a:picLocks noChangeAspect="1" noChangeArrowheads="1"/>
          </p:cNvPicPr>
          <p:nvPr/>
        </p:nvPicPr>
        <p:blipFill>
          <a:blip r:embed="rId2" cstate="print"/>
          <a:srcRect/>
          <a:stretch>
            <a:fillRect/>
          </a:stretch>
        </p:blipFill>
        <p:spPr bwMode="auto">
          <a:xfrm>
            <a:off x="258762" y="922986"/>
            <a:ext cx="8885238" cy="54213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xt Box 4"/>
          <p:cNvSpPr txBox="1">
            <a:spLocks noChangeArrowheads="1"/>
          </p:cNvSpPr>
          <p:nvPr/>
        </p:nvSpPr>
        <p:spPr bwMode="auto">
          <a:xfrm>
            <a:off x="381000" y="1905000"/>
            <a:ext cx="7898005" cy="738664"/>
          </a:xfrm>
          <a:prstGeom prst="rect">
            <a:avLst/>
          </a:prstGeom>
          <a:noFill/>
          <a:ln w="9525">
            <a:noFill/>
            <a:miter lim="800000"/>
            <a:headEnd/>
            <a:tailEnd/>
          </a:ln>
        </p:spPr>
        <p:txBody>
          <a:bodyPr wrap="square">
            <a:spAutoFit/>
          </a:bodyPr>
          <a:lstStyle/>
          <a:p>
            <a:pPr marL="457200" indent="-457200" algn="just">
              <a:spcBef>
                <a:spcPts val="600"/>
              </a:spcBef>
              <a:spcAft>
                <a:spcPts val="600"/>
              </a:spcAft>
            </a:pPr>
            <a:r>
              <a:rPr lang="en-US" sz="2100" dirty="0" smtClean="0"/>
              <a:t>       The translation component of the screw axis cannot be arbitrary. They can take only definite values related to lattice periodicity. </a:t>
            </a:r>
            <a:endParaRPr lang="en-US" sz="2100" dirty="0"/>
          </a:p>
        </p:txBody>
      </p:sp>
      <p:sp>
        <p:nvSpPr>
          <p:cNvPr id="149" name="Text Box 4"/>
          <p:cNvSpPr txBox="1">
            <a:spLocks noChangeArrowheads="1"/>
          </p:cNvSpPr>
          <p:nvPr/>
        </p:nvSpPr>
        <p:spPr bwMode="auto">
          <a:xfrm>
            <a:off x="341360" y="3237627"/>
            <a:ext cx="8501189" cy="3194721"/>
          </a:xfrm>
          <a:prstGeom prst="rect">
            <a:avLst/>
          </a:prstGeom>
          <a:noFill/>
          <a:ln w="9525">
            <a:noFill/>
            <a:miter lim="800000"/>
            <a:headEnd/>
            <a:tailEnd/>
          </a:ln>
        </p:spPr>
        <p:txBody>
          <a:bodyPr wrap="square">
            <a:spAutoFit/>
          </a:bodyPr>
          <a:lstStyle/>
          <a:p>
            <a:pPr marL="457200" indent="-457200">
              <a:lnSpc>
                <a:spcPct val="120000"/>
              </a:lnSpc>
              <a:buFont typeface="Wingdings" pitchFamily="2" charset="2"/>
              <a:buChar char="Ø"/>
            </a:pPr>
            <a:r>
              <a:rPr lang="en-US" sz="2100" dirty="0" smtClean="0"/>
              <a:t>For an </a:t>
            </a:r>
            <a:r>
              <a:rPr lang="en-US" sz="2100" dirty="0" smtClean="0">
                <a:solidFill>
                  <a:srgbClr val="FF0000"/>
                </a:solidFill>
              </a:rPr>
              <a:t>n</a:t>
            </a:r>
            <a:r>
              <a:rPr lang="en-US" sz="2100" dirty="0" smtClean="0"/>
              <a:t>-fold rotation axis, </a:t>
            </a:r>
            <a:r>
              <a:rPr lang="en-US" sz="2100" dirty="0" smtClean="0">
                <a:solidFill>
                  <a:srgbClr val="FF0000"/>
                </a:solidFill>
              </a:rPr>
              <a:t>n</a:t>
            </a:r>
            <a:r>
              <a:rPr lang="en-US" sz="2100" dirty="0" smtClean="0"/>
              <a:t> rotations of </a:t>
            </a:r>
            <a:r>
              <a:rPr lang="en-US" sz="2100" dirty="0" smtClean="0">
                <a:solidFill>
                  <a:srgbClr val="FF0000"/>
                </a:solidFill>
              </a:rPr>
              <a:t>2</a:t>
            </a:r>
            <a:r>
              <a:rPr lang="en-US" sz="2100" i="1" dirty="0" smtClean="0">
                <a:solidFill>
                  <a:srgbClr val="FF0000"/>
                </a:solidFill>
                <a:sym typeface="Symbol"/>
              </a:rPr>
              <a:t></a:t>
            </a:r>
            <a:r>
              <a:rPr lang="en-US" sz="2100" dirty="0" smtClean="0">
                <a:solidFill>
                  <a:srgbClr val="FF0000"/>
                </a:solidFill>
                <a:sym typeface="Symbol"/>
              </a:rPr>
              <a:t>/</a:t>
            </a:r>
            <a:r>
              <a:rPr lang="en-US" sz="2100" i="1" dirty="0" smtClean="0">
                <a:solidFill>
                  <a:srgbClr val="FF0000"/>
                </a:solidFill>
                <a:sym typeface="Symbol"/>
              </a:rPr>
              <a:t>n</a:t>
            </a:r>
            <a:r>
              <a:rPr lang="en-US" sz="2100" dirty="0" smtClean="0">
                <a:sym typeface="Symbol"/>
              </a:rPr>
              <a:t> are required to bring the object back to its original position.</a:t>
            </a:r>
          </a:p>
          <a:p>
            <a:pPr marL="457200" indent="-457200">
              <a:lnSpc>
                <a:spcPct val="120000"/>
              </a:lnSpc>
              <a:buFont typeface="Wingdings" pitchFamily="2" charset="2"/>
              <a:buChar char="Ø"/>
            </a:pPr>
            <a:r>
              <a:rPr lang="en-US" sz="2100" dirty="0" smtClean="0">
                <a:sym typeface="Symbol"/>
              </a:rPr>
              <a:t>In case of </a:t>
            </a:r>
            <a:r>
              <a:rPr lang="en-US" sz="2100" i="1" dirty="0" smtClean="0">
                <a:solidFill>
                  <a:srgbClr val="FF0000"/>
                </a:solidFill>
                <a:sym typeface="Symbol"/>
              </a:rPr>
              <a:t>n</a:t>
            </a:r>
            <a:r>
              <a:rPr lang="en-US" sz="2100" dirty="0" smtClean="0">
                <a:sym typeface="Symbol"/>
              </a:rPr>
              <a:t>-fold screw axis each rotation of </a:t>
            </a:r>
            <a:r>
              <a:rPr lang="en-US" sz="2100" dirty="0" smtClean="0">
                <a:solidFill>
                  <a:srgbClr val="FF0000"/>
                </a:solidFill>
              </a:rPr>
              <a:t>2</a:t>
            </a:r>
            <a:r>
              <a:rPr lang="en-US" sz="2100" i="1" dirty="0" smtClean="0">
                <a:solidFill>
                  <a:srgbClr val="FF0000"/>
                </a:solidFill>
                <a:sym typeface="Symbol"/>
              </a:rPr>
              <a:t></a:t>
            </a:r>
            <a:r>
              <a:rPr lang="en-US" sz="2100" dirty="0" smtClean="0">
                <a:solidFill>
                  <a:srgbClr val="FF0000"/>
                </a:solidFill>
                <a:sym typeface="Symbol"/>
              </a:rPr>
              <a:t>/</a:t>
            </a:r>
            <a:r>
              <a:rPr lang="en-US" sz="2100" i="1" dirty="0" smtClean="0">
                <a:solidFill>
                  <a:srgbClr val="FF0000"/>
                </a:solidFill>
                <a:sym typeface="Symbol"/>
              </a:rPr>
              <a:t>n</a:t>
            </a:r>
            <a:r>
              <a:rPr lang="en-US" sz="2100" dirty="0" smtClean="0">
                <a:sym typeface="Symbol"/>
              </a:rPr>
              <a:t> is accompanied by translation.</a:t>
            </a:r>
          </a:p>
          <a:p>
            <a:pPr marL="457200" indent="-457200">
              <a:lnSpc>
                <a:spcPct val="120000"/>
              </a:lnSpc>
              <a:buFont typeface="Wingdings" pitchFamily="2" charset="2"/>
              <a:buChar char="Ø"/>
            </a:pPr>
            <a:r>
              <a:rPr lang="en-US" sz="2100" dirty="0" smtClean="0">
                <a:sym typeface="Symbol"/>
              </a:rPr>
              <a:t>If after each rotation an object is translated along the axis by</a:t>
            </a:r>
            <a:r>
              <a:rPr lang="en-US" sz="2100" dirty="0" smtClean="0">
                <a:solidFill>
                  <a:srgbClr val="FF0000"/>
                </a:solidFill>
                <a:sym typeface="Symbol"/>
              </a:rPr>
              <a:t> </a:t>
            </a:r>
            <a:r>
              <a:rPr lang="en-US" sz="2100" i="1" dirty="0" smtClean="0">
                <a:solidFill>
                  <a:srgbClr val="FF0000"/>
                </a:solidFill>
                <a:sym typeface="Symbol"/>
              </a:rPr>
              <a:t>T</a:t>
            </a:r>
            <a:r>
              <a:rPr lang="en-US" sz="2100" dirty="0" smtClean="0">
                <a:sym typeface="Symbol"/>
              </a:rPr>
              <a:t>, at the end of </a:t>
            </a:r>
            <a:r>
              <a:rPr lang="en-US" sz="2100" i="1" dirty="0" smtClean="0">
                <a:solidFill>
                  <a:srgbClr val="FF0000"/>
                </a:solidFill>
                <a:sym typeface="Symbol"/>
              </a:rPr>
              <a:t>n</a:t>
            </a:r>
            <a:r>
              <a:rPr lang="en-US" sz="2100" dirty="0" smtClean="0">
                <a:sym typeface="Symbol"/>
              </a:rPr>
              <a:t>-screw operations the object will have been translated by </a:t>
            </a:r>
            <a:r>
              <a:rPr lang="en-US" sz="2100" i="1" dirty="0" err="1" smtClean="0">
                <a:solidFill>
                  <a:srgbClr val="FF0000"/>
                </a:solidFill>
                <a:sym typeface="Symbol"/>
              </a:rPr>
              <a:t>nT</a:t>
            </a:r>
            <a:r>
              <a:rPr lang="en-US" sz="2100" dirty="0" err="1" smtClean="0">
                <a:sym typeface="Symbol"/>
              </a:rPr>
              <a:t>.</a:t>
            </a:r>
            <a:r>
              <a:rPr lang="en-US" sz="2100" dirty="0" smtClean="0">
                <a:sym typeface="Symbol"/>
              </a:rPr>
              <a:t> </a:t>
            </a:r>
          </a:p>
          <a:p>
            <a:pPr marL="457200" indent="-457200">
              <a:lnSpc>
                <a:spcPct val="120000"/>
              </a:lnSpc>
              <a:buFont typeface="Wingdings" pitchFamily="2" charset="2"/>
              <a:buChar char="Ø"/>
            </a:pPr>
            <a:r>
              <a:rPr lang="en-US" sz="2100" dirty="0" smtClean="0">
                <a:sym typeface="Symbol"/>
              </a:rPr>
              <a:t>After every </a:t>
            </a:r>
            <a:r>
              <a:rPr lang="en-US" sz="2100" i="1" dirty="0" smtClean="0">
                <a:solidFill>
                  <a:srgbClr val="FF0000"/>
                </a:solidFill>
                <a:sym typeface="Symbol"/>
              </a:rPr>
              <a:t>n</a:t>
            </a:r>
            <a:r>
              <a:rPr lang="en-US" sz="2100" dirty="0" smtClean="0">
                <a:sym typeface="Symbol"/>
              </a:rPr>
              <a:t>-screw operation an object should reach the position corresponding to some other lattice point in direction.</a:t>
            </a:r>
            <a:endParaRPr lang="en-US" sz="2100" dirty="0"/>
          </a:p>
        </p:txBody>
      </p:sp>
      <p:sp>
        <p:nvSpPr>
          <p:cNvPr id="5" name="Rectangle 4"/>
          <p:cNvSpPr/>
          <p:nvPr/>
        </p:nvSpPr>
        <p:spPr>
          <a:xfrm>
            <a:off x="609600" y="838200"/>
            <a:ext cx="7848600" cy="707886"/>
          </a:xfrm>
          <a:prstGeom prst="rect">
            <a:avLst/>
          </a:prstGeom>
        </p:spPr>
        <p:txBody>
          <a:bodyPr wrap="square">
            <a:spAutoFit/>
          </a:bodyPr>
          <a:lstStyle/>
          <a:p>
            <a:pPr algn="ctr"/>
            <a:r>
              <a:rPr lang="en-US" sz="2000" dirty="0" smtClean="0"/>
              <a:t>A </a:t>
            </a:r>
            <a:r>
              <a:rPr lang="en-US" sz="2000" b="1" dirty="0" smtClean="0"/>
              <a:t>screw axis</a:t>
            </a:r>
            <a:r>
              <a:rPr lang="en-US" sz="2000" dirty="0" smtClean="0"/>
              <a:t> (helical </a:t>
            </a:r>
            <a:r>
              <a:rPr lang="en-US" sz="2000" b="1" dirty="0" smtClean="0"/>
              <a:t>axis</a:t>
            </a:r>
            <a:r>
              <a:rPr lang="en-US" sz="2000" dirty="0" smtClean="0"/>
              <a:t> or twist </a:t>
            </a:r>
            <a:r>
              <a:rPr lang="en-US" sz="2000" b="1" dirty="0" smtClean="0"/>
              <a:t>axis</a:t>
            </a:r>
            <a:r>
              <a:rPr lang="en-US" sz="2000" dirty="0" smtClean="0"/>
              <a:t>) is a line that is </a:t>
            </a:r>
            <a:r>
              <a:rPr lang="en-US" sz="2000" b="1" dirty="0" smtClean="0">
                <a:solidFill>
                  <a:srgbClr val="FF0000"/>
                </a:solidFill>
              </a:rPr>
              <a:t>simultaneously </a:t>
            </a:r>
            <a:r>
              <a:rPr lang="en-US" sz="2000" dirty="0" smtClean="0"/>
              <a:t>the </a:t>
            </a:r>
            <a:r>
              <a:rPr lang="en-US" sz="2000" b="1" dirty="0" smtClean="0"/>
              <a:t>axis</a:t>
            </a:r>
            <a:r>
              <a:rPr lang="en-US" sz="2000" dirty="0" smtClean="0"/>
              <a:t> of rotation and the line along which translation of a body occurs.</a:t>
            </a:r>
            <a:endParaRPr lang="en-US" sz="2000" dirty="0"/>
          </a:p>
        </p:txBody>
      </p:sp>
      <p:sp>
        <p:nvSpPr>
          <p:cNvPr id="6" name="Rectangle 6"/>
          <p:cNvSpPr txBox="1">
            <a:spLocks noChangeArrowheads="1"/>
          </p:cNvSpPr>
          <p:nvPr/>
        </p:nvSpPr>
        <p:spPr>
          <a:xfrm>
            <a:off x="3147934" y="29979"/>
            <a:ext cx="3377785" cy="644577"/>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0" u="sng"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Screw axis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8032" y="440990"/>
            <a:ext cx="6979920" cy="461665"/>
          </a:xfrm>
          <a:prstGeom prst="rect">
            <a:avLst/>
          </a:prstGeom>
        </p:spPr>
        <p:txBody>
          <a:bodyPr wrap="square">
            <a:spAutoFit/>
          </a:bodyPr>
          <a:lstStyle/>
          <a:p>
            <a:r>
              <a:rPr lang="en-US" b="1" i="1" dirty="0"/>
              <a:t>2-fold rotation with axis in the plane of the screen</a:t>
            </a:r>
            <a:endParaRPr lang="en-US" dirty="0"/>
          </a:p>
        </p:txBody>
      </p:sp>
      <p:sp>
        <p:nvSpPr>
          <p:cNvPr id="270337" name="Rectangle 1"/>
          <p:cNvSpPr>
            <a:spLocks noChangeArrowheads="1"/>
          </p:cNvSpPr>
          <p:nvPr/>
        </p:nvSpPr>
        <p:spPr bwMode="auto">
          <a:xfrm>
            <a:off x="4230624" y="1304636"/>
            <a:ext cx="4474464"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18182"/>
                </a:solidFill>
                <a:effectLst/>
                <a:latin typeface="Times New Roman" pitchFamily="18" charset="0"/>
              </a:rPr>
              <a:t>Here the rotation axis lies in the page.</a:t>
            </a:r>
            <a:endParaRPr kumimoji="0" lang="en-US" sz="900" b="0" i="0" u="none" strike="noStrike" cap="none" normalizeH="0" baseline="0" dirty="0" smtClean="0">
              <a:ln>
                <a:noFill/>
              </a:ln>
              <a:solidFill>
                <a:schemeClr val="tx1"/>
              </a:solidFill>
              <a:effectLst/>
              <a:latin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18182"/>
                </a:solidFill>
                <a:effectLst/>
                <a:latin typeface="Times New Roman" pitchFamily="18" charset="0"/>
              </a:rPr>
              <a:t>Rotation about the axis by 180 degrees gives the same hand pattern.</a:t>
            </a:r>
            <a:endParaRPr kumimoji="0" lang="en-US" sz="900" b="0" i="0" u="none" strike="noStrike" cap="none" normalizeH="0" baseline="0" dirty="0" smtClean="0">
              <a:ln>
                <a:noFill/>
              </a:ln>
              <a:solidFill>
                <a:schemeClr val="tx1"/>
              </a:solidFill>
              <a:effectLst/>
              <a:latin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  </a:t>
            </a:r>
            <a:endParaRPr kumimoji="0" lang="en-US" sz="7800" b="0" i="0" u="none" strike="noStrike" cap="none" normalizeH="0" baseline="0" dirty="0" smtClean="0">
              <a:ln>
                <a:noFill/>
              </a:ln>
              <a:solidFill>
                <a:schemeClr val="tx1"/>
              </a:solidFill>
              <a:effectLst/>
              <a:latin typeface="Times New Roman" pitchFamily="18" charset="0"/>
            </a:endParaRPr>
          </a:p>
        </p:txBody>
      </p:sp>
      <p:pic>
        <p:nvPicPr>
          <p:cNvPr id="270338" name="Picture 2" descr="http://www.students.bucknell.edu/projects/xray/betatest/SpaceGroupSymmetry/inserts/3daxis.JPG"/>
          <p:cNvPicPr>
            <a:picLocks noChangeAspect="1" noChangeArrowheads="1"/>
          </p:cNvPicPr>
          <p:nvPr/>
        </p:nvPicPr>
        <p:blipFill>
          <a:blip r:embed="rId3" cstate="print"/>
          <a:srcRect/>
          <a:stretch>
            <a:fillRect/>
          </a:stretch>
        </p:blipFill>
        <p:spPr bwMode="auto">
          <a:xfrm>
            <a:off x="6925056" y="4571683"/>
            <a:ext cx="1314450" cy="1238250"/>
          </a:xfrm>
          <a:prstGeom prst="rect">
            <a:avLst/>
          </a:prstGeom>
          <a:noFill/>
        </p:spPr>
      </p:pic>
      <p:pic>
        <p:nvPicPr>
          <p:cNvPr id="6" name="sym3drotation[1].wmv">
            <a:hlinkClick r:id="" action="ppaction://media"/>
          </p:cNvPr>
          <p:cNvPicPr>
            <a:picLocks noRot="1" noChangeAspect="1"/>
          </p:cNvPicPr>
          <p:nvPr>
            <a:videoFile r:link="rId1"/>
          </p:nvPr>
        </p:nvPicPr>
        <p:blipFill>
          <a:blip r:embed="rId4" cstate="print"/>
          <a:stretch>
            <a:fillRect/>
          </a:stretch>
        </p:blipFill>
        <p:spPr>
          <a:xfrm>
            <a:off x="569976" y="1152525"/>
            <a:ext cx="3810000" cy="3333750"/>
          </a:xfrm>
          <a:prstGeom prst="rect">
            <a:avLst/>
          </a:prstGeom>
        </p:spPr>
      </p:pic>
      <p:pic>
        <p:nvPicPr>
          <p:cNvPr id="270340" name="Picture 4" descr="http://www.students.bucknell.edu/projects/xray/betatest/SpaceGroupSymmetry/Inserts/circle3drotation.JPG"/>
          <p:cNvPicPr>
            <a:picLocks noChangeAspect="1" noChangeArrowheads="1"/>
          </p:cNvPicPr>
          <p:nvPr/>
        </p:nvPicPr>
        <p:blipFill>
          <a:blip r:embed="rId5" cstate="print"/>
          <a:srcRect/>
          <a:stretch>
            <a:fillRect/>
          </a:stretch>
        </p:blipFill>
        <p:spPr bwMode="auto">
          <a:xfrm>
            <a:off x="607188" y="4500974"/>
            <a:ext cx="1090984" cy="2006240"/>
          </a:xfrm>
          <a:prstGeom prst="rect">
            <a:avLst/>
          </a:prstGeom>
          <a:noFill/>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3219" y="425180"/>
            <a:ext cx="5962223" cy="461665"/>
          </a:xfrm>
          <a:prstGeom prst="rect">
            <a:avLst/>
          </a:prstGeom>
        </p:spPr>
        <p:txBody>
          <a:bodyPr wrap="square">
            <a:spAutoFit/>
          </a:bodyPr>
          <a:lstStyle/>
          <a:p>
            <a:r>
              <a:rPr lang="en-US" b="1" i="1" dirty="0"/>
              <a:t>2-fold screw perpendicular to plane of screen.</a:t>
            </a:r>
            <a:endParaRPr lang="en-US" dirty="0"/>
          </a:p>
        </p:txBody>
      </p:sp>
      <p:pic>
        <p:nvPicPr>
          <p:cNvPr id="268290" name="Picture 2" descr="http://www.students.bucknell.edu/projects/xray/betatest/SpaceGroupSymmetry/inserts/circlescrew2.JPG"/>
          <p:cNvPicPr>
            <a:picLocks noChangeAspect="1" noChangeArrowheads="1"/>
          </p:cNvPicPr>
          <p:nvPr/>
        </p:nvPicPr>
        <p:blipFill>
          <a:blip r:embed="rId2" cstate="print"/>
          <a:srcRect/>
          <a:stretch>
            <a:fillRect/>
          </a:stretch>
        </p:blipFill>
        <p:spPr bwMode="auto">
          <a:xfrm>
            <a:off x="825437" y="3919257"/>
            <a:ext cx="1743075" cy="1743076"/>
          </a:xfrm>
          <a:prstGeom prst="rect">
            <a:avLst/>
          </a:prstGeom>
          <a:noFill/>
        </p:spPr>
      </p:pic>
      <p:sp>
        <p:nvSpPr>
          <p:cNvPr id="268291" name="Rectangle 3"/>
          <p:cNvSpPr>
            <a:spLocks noChangeArrowheads="1"/>
          </p:cNvSpPr>
          <p:nvPr/>
        </p:nvSpPr>
        <p:spPr bwMode="auto">
          <a:xfrm>
            <a:off x="4360986" y="2258264"/>
            <a:ext cx="4355625" cy="28161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066FF"/>
                </a:solidFill>
                <a:effectLst/>
                <a:latin typeface="Times New Roman" pitchFamily="18" charset="0"/>
              </a:rPr>
              <a:t>Here the screw axis is perpendicular to the page.</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900" b="0" i="0" u="none" strike="noStrike" cap="none" normalizeH="0" baseline="0" dirty="0" smtClean="0">
              <a:ln>
                <a:noFill/>
              </a:ln>
              <a:solidFill>
                <a:srgbClr val="0066FF"/>
              </a:solidFill>
              <a:effectLst/>
              <a:latin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0000"/>
                </a:solidFill>
                <a:effectLst/>
                <a:latin typeface="Times New Roman" pitchFamily="18" charset="0"/>
              </a:rPr>
              <a:t>The bottom hand rotates while translating out of the page to become the top hand.</a:t>
            </a:r>
          </a:p>
          <a:p>
            <a:pPr marL="0" marR="0" lvl="0" indent="0" algn="ctr" defTabSz="914400" rtl="0" eaLnBrk="0" fontAlgn="base" latinLnBrk="0" hangingPunct="0">
              <a:lnSpc>
                <a:spcPct val="100000"/>
              </a:lnSpc>
              <a:spcBef>
                <a:spcPct val="0"/>
              </a:spcBef>
              <a:spcAft>
                <a:spcPct val="0"/>
              </a:spcAft>
              <a:buClrTx/>
              <a:buSzTx/>
              <a:buFontTx/>
              <a:buNone/>
              <a:tabLst/>
            </a:pPr>
            <a:endParaRPr lang="en-US" b="1" dirty="0" smtClean="0">
              <a:solidFill>
                <a:srgbClr val="00B050"/>
              </a:solidFill>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  </a:t>
            </a:r>
            <a:endParaRPr kumimoji="0" lang="en-US" sz="7800" b="0" i="0" u="none" strike="noStrike" cap="none" normalizeH="0" baseline="0" dirty="0" smtClean="0">
              <a:ln>
                <a:noFill/>
              </a:ln>
              <a:solidFill>
                <a:schemeClr val="tx1"/>
              </a:solidFill>
              <a:effectLst/>
              <a:latin typeface="Times New Roman" pitchFamily="18" charset="0"/>
            </a:endParaRPr>
          </a:p>
        </p:txBody>
      </p:sp>
      <p:pic>
        <p:nvPicPr>
          <p:cNvPr id="268292" name="Picture 4" descr="http://www.students.bucknell.edu/projects/xray/betatest/SpaceGroupSymmetry/inserts/3daxis.JPG"/>
          <p:cNvPicPr>
            <a:picLocks noChangeAspect="1" noChangeArrowheads="1"/>
          </p:cNvPicPr>
          <p:nvPr/>
        </p:nvPicPr>
        <p:blipFill>
          <a:blip r:embed="rId3" cstate="print"/>
          <a:srcRect/>
          <a:stretch>
            <a:fillRect/>
          </a:stretch>
        </p:blipFill>
        <p:spPr bwMode="auto">
          <a:xfrm>
            <a:off x="2928091" y="4228297"/>
            <a:ext cx="1314450" cy="1238250"/>
          </a:xfrm>
          <a:prstGeom prst="rect">
            <a:avLst/>
          </a:prstGeom>
          <a:noFill/>
        </p:spPr>
      </p:pic>
      <p:pic>
        <p:nvPicPr>
          <p:cNvPr id="268294" name="Picture 6" descr="http://www.students.bucknell.edu/projects/xray/betatest/SpaceGroupSymmetry/inserts/3dtwofoldscrew.JPG"/>
          <p:cNvPicPr>
            <a:picLocks noChangeAspect="1" noChangeArrowheads="1"/>
          </p:cNvPicPr>
          <p:nvPr/>
        </p:nvPicPr>
        <p:blipFill>
          <a:blip r:embed="rId4" cstate="print"/>
          <a:srcRect/>
          <a:stretch>
            <a:fillRect/>
          </a:stretch>
        </p:blipFill>
        <p:spPr bwMode="auto">
          <a:xfrm>
            <a:off x="479640" y="1100260"/>
            <a:ext cx="2438400" cy="2524126"/>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ymtwofoldscrew[1].wmv">
            <a:hlinkClick r:id="" action="ppaction://media"/>
          </p:cNvPr>
          <p:cNvPicPr>
            <a:picLocks noRot="1" noChangeAspect="1"/>
          </p:cNvPicPr>
          <p:nvPr>
            <a:videoFile r:link="rId1"/>
          </p:nvPr>
        </p:nvPicPr>
        <p:blipFill>
          <a:blip r:embed="rId3" cstate="print"/>
          <a:stretch>
            <a:fillRect/>
          </a:stretch>
        </p:blipFill>
        <p:spPr>
          <a:xfrm>
            <a:off x="526161" y="999744"/>
            <a:ext cx="4660392" cy="3389376"/>
          </a:xfrm>
          <a:prstGeom prst="rect">
            <a:avLst/>
          </a:prstGeom>
        </p:spPr>
      </p:pic>
      <p:sp>
        <p:nvSpPr>
          <p:cNvPr id="4" name="Rectangle 3"/>
          <p:cNvSpPr/>
          <p:nvPr/>
        </p:nvSpPr>
        <p:spPr>
          <a:xfrm>
            <a:off x="1267164" y="380030"/>
            <a:ext cx="7363968" cy="461665"/>
          </a:xfrm>
          <a:prstGeom prst="rect">
            <a:avLst/>
          </a:prstGeom>
        </p:spPr>
        <p:txBody>
          <a:bodyPr wrap="square">
            <a:spAutoFit/>
          </a:bodyPr>
          <a:lstStyle/>
          <a:p>
            <a:r>
              <a:rPr lang="en-US" b="1" i="1" dirty="0"/>
              <a:t>2-fold screw with axis in the plane of the screen.</a:t>
            </a:r>
          </a:p>
        </p:txBody>
      </p:sp>
      <p:sp>
        <p:nvSpPr>
          <p:cNvPr id="269314" name="Rectangle 2"/>
          <p:cNvSpPr>
            <a:spLocks noChangeArrowheads="1"/>
          </p:cNvSpPr>
          <p:nvPr/>
        </p:nvSpPr>
        <p:spPr bwMode="auto">
          <a:xfrm>
            <a:off x="4823208" y="1006214"/>
            <a:ext cx="3892598"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0066FF"/>
                </a:solidFill>
                <a:effectLst/>
                <a:latin typeface="Times New Roman" pitchFamily="18" charset="0"/>
              </a:rPr>
              <a:t>Here the screw axis lies in the page.</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Times New Roman" pitchFamily="18" charset="0"/>
            </a:endParaRPr>
          </a:p>
          <a:p>
            <a:pPr lvl="0" algn="ctr"/>
            <a:r>
              <a:rPr kumimoji="0" lang="en-US" b="1" i="0" u="none" strike="noStrike" cap="none" normalizeH="0" baseline="0" dirty="0" smtClean="0">
                <a:ln>
                  <a:noFill/>
                </a:ln>
                <a:solidFill>
                  <a:srgbClr val="FF0000"/>
                </a:solidFill>
                <a:effectLst/>
                <a:latin typeface="Times New Roman" pitchFamily="18" charset="0"/>
              </a:rPr>
              <a:t>The bottom left hand rotates and translates to become the hand on the right.</a:t>
            </a:r>
            <a:r>
              <a:rPr lang="en-US" b="1" dirty="0" smtClean="0">
                <a:solidFill>
                  <a:srgbClr val="00B050"/>
                </a:solidFill>
              </a:rPr>
              <a:t> </a:t>
            </a:r>
          </a:p>
        </p:txBody>
      </p:sp>
      <p:pic>
        <p:nvPicPr>
          <p:cNvPr id="269315" name="Picture 3" descr="http://www.students.bucknell.edu/projects/xray/betatest/SpaceGroupSymmetry/Inserts/screwcircles.JPG"/>
          <p:cNvPicPr>
            <a:picLocks noChangeAspect="1" noChangeArrowheads="1"/>
          </p:cNvPicPr>
          <p:nvPr/>
        </p:nvPicPr>
        <p:blipFill>
          <a:blip r:embed="rId4" cstate="print"/>
          <a:srcRect/>
          <a:stretch>
            <a:fillRect/>
          </a:stretch>
        </p:blipFill>
        <p:spPr bwMode="auto">
          <a:xfrm>
            <a:off x="848093" y="4501659"/>
            <a:ext cx="870175" cy="1998453"/>
          </a:xfrm>
          <a:prstGeom prst="rect">
            <a:avLst/>
          </a:prstGeom>
          <a:noFill/>
        </p:spPr>
      </p:pic>
      <p:pic>
        <p:nvPicPr>
          <p:cNvPr id="269316" name="Picture 4" descr="http://www.students.bucknell.edu/projects/xray/betatest/SpaceGroupSymmetry/inserts/3daxis.JPG"/>
          <p:cNvPicPr>
            <a:picLocks noChangeAspect="1" noChangeArrowheads="1"/>
          </p:cNvPicPr>
          <p:nvPr/>
        </p:nvPicPr>
        <p:blipFill>
          <a:blip r:embed="rId5" cstate="print"/>
          <a:srcRect/>
          <a:stretch>
            <a:fillRect/>
          </a:stretch>
        </p:blipFill>
        <p:spPr bwMode="auto">
          <a:xfrm>
            <a:off x="2830943" y="4839905"/>
            <a:ext cx="1314450" cy="1238251"/>
          </a:xfrm>
          <a:prstGeom prst="rect">
            <a:avLst/>
          </a:prstGeom>
          <a:noFill/>
        </p:spPr>
      </p:pic>
      <p:sp>
        <p:nvSpPr>
          <p:cNvPr id="8" name="Rectangle 7"/>
          <p:cNvSpPr/>
          <p:nvPr/>
        </p:nvSpPr>
        <p:spPr>
          <a:xfrm>
            <a:off x="4305718" y="3908924"/>
            <a:ext cx="4572000" cy="2677656"/>
          </a:xfrm>
          <a:prstGeom prst="rect">
            <a:avLst/>
          </a:prstGeom>
        </p:spPr>
        <p:txBody>
          <a:bodyPr>
            <a:spAutoFit/>
          </a:bodyPr>
          <a:lstStyle/>
          <a:p>
            <a:pPr lvl="0" algn="ctr"/>
            <a:r>
              <a:rPr lang="en-US" b="1" dirty="0" smtClean="0">
                <a:solidFill>
                  <a:srgbClr val="00B050"/>
                </a:solidFill>
              </a:rPr>
              <a:t>The </a:t>
            </a:r>
            <a:r>
              <a:rPr lang="en-US" b="1" dirty="0" err="1" smtClean="0">
                <a:solidFill>
                  <a:srgbClr val="00B050"/>
                </a:solidFill>
              </a:rPr>
              <a:t>diad</a:t>
            </a:r>
            <a:r>
              <a:rPr lang="en-US" b="1" dirty="0" smtClean="0">
                <a:solidFill>
                  <a:srgbClr val="00B050"/>
                </a:solidFill>
              </a:rPr>
              <a:t> screw is symbolically represented by </a:t>
            </a:r>
            <a:r>
              <a:rPr lang="en-US" b="1" dirty="0" smtClean="0">
                <a:solidFill>
                  <a:srgbClr val="FF0000"/>
                </a:solidFill>
              </a:rPr>
              <a:t>2</a:t>
            </a:r>
            <a:r>
              <a:rPr lang="en-US" b="1" baseline="-25000" dirty="0" smtClean="0">
                <a:solidFill>
                  <a:srgbClr val="FF0000"/>
                </a:solidFill>
              </a:rPr>
              <a:t>1</a:t>
            </a:r>
            <a:r>
              <a:rPr lang="en-US" b="1" dirty="0" smtClean="0">
                <a:solidFill>
                  <a:srgbClr val="00B050"/>
                </a:solidFill>
              </a:rPr>
              <a:t> and is a combined operation of </a:t>
            </a:r>
            <a:r>
              <a:rPr lang="en-US" b="1" dirty="0" smtClean="0">
                <a:solidFill>
                  <a:srgbClr val="FF0000"/>
                </a:solidFill>
              </a:rPr>
              <a:t>180º </a:t>
            </a:r>
            <a:r>
              <a:rPr lang="en-US" b="1" dirty="0" smtClean="0">
                <a:solidFill>
                  <a:srgbClr val="00B050"/>
                </a:solidFill>
              </a:rPr>
              <a:t>rotation accompanied by a translation along the axis by </a:t>
            </a:r>
            <a:r>
              <a:rPr lang="en-US" b="1" dirty="0" smtClean="0">
                <a:solidFill>
                  <a:srgbClr val="FF0000"/>
                </a:solidFill>
              </a:rPr>
              <a:t>half the repeat distance</a:t>
            </a:r>
            <a:r>
              <a:rPr lang="en-US" b="1" dirty="0" smtClean="0">
                <a:solidFill>
                  <a:srgbClr val="00B050"/>
                </a:solidFill>
              </a:rPr>
              <a:t>.</a:t>
            </a:r>
            <a:endParaRPr lang="en-US" dirty="0" smtClean="0">
              <a:solidFill>
                <a:srgbClr val="00B050"/>
              </a:solidFill>
            </a:endParaRPr>
          </a:p>
          <a:p>
            <a:pPr lvl="0" algn="ct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p:cTn id="12" fill="hold" display="0">
                  <p:stCondLst>
                    <p:cond delay="indefinite"/>
                  </p:stCondLst>
                  <p:endCondLst>
                    <p:cond evt="onNext" delay="0">
                      <p:tgtEl>
                        <p:sldTgt/>
                      </p:tgtEl>
                    </p:cond>
                    <p:cond evt="onPrev" delay="0">
                      <p:tgtEl>
                        <p:sldTgt/>
                      </p:tgtEl>
                    </p:cond>
                  </p:endCondLst>
                </p:cTn>
                <p:tgtEl>
                  <p:spTgt spid="2"/>
                </p:tgtEl>
              </p:cMediaNode>
            </p:video>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6"/>
          <p:cNvSpPr txBox="1">
            <a:spLocks noChangeArrowheads="1"/>
          </p:cNvSpPr>
          <p:nvPr/>
        </p:nvSpPr>
        <p:spPr>
          <a:xfrm>
            <a:off x="604741" y="362901"/>
            <a:ext cx="3886871" cy="632138"/>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Two fold screw axis</a:t>
            </a:r>
          </a:p>
        </p:txBody>
      </p:sp>
      <p:graphicFrame>
        <p:nvGraphicFramePr>
          <p:cNvPr id="15" name="Object 17"/>
          <p:cNvGraphicFramePr>
            <a:graphicFrameLocks noChangeAspect="1"/>
          </p:cNvGraphicFramePr>
          <p:nvPr/>
        </p:nvGraphicFramePr>
        <p:xfrm>
          <a:off x="2793442" y="3426488"/>
          <a:ext cx="979237" cy="451217"/>
        </p:xfrm>
        <a:graphic>
          <a:graphicData uri="http://schemas.openxmlformats.org/presentationml/2006/ole">
            <p:oleObj spid="_x0000_s677891" name="Equation" r:id="rId3" imgW="609480" imgH="279360" progId="">
              <p:embed/>
            </p:oleObj>
          </a:graphicData>
        </a:graphic>
      </p:graphicFrame>
      <p:graphicFrame>
        <p:nvGraphicFramePr>
          <p:cNvPr id="5" name="Object 4"/>
          <p:cNvGraphicFramePr>
            <a:graphicFrameLocks noChangeAspect="1"/>
          </p:cNvGraphicFramePr>
          <p:nvPr/>
        </p:nvGraphicFramePr>
        <p:xfrm>
          <a:off x="357555" y="4844981"/>
          <a:ext cx="942975" cy="344488"/>
        </p:xfrm>
        <a:graphic>
          <a:graphicData uri="http://schemas.openxmlformats.org/presentationml/2006/ole">
            <p:oleObj spid="_x0000_s677890" name="Equation" r:id="rId4" imgW="799920" imgH="291960" progId="">
              <p:embed/>
            </p:oleObj>
          </a:graphicData>
        </a:graphic>
      </p:graphicFrame>
      <p:grpSp>
        <p:nvGrpSpPr>
          <p:cNvPr id="2" name="Group 36"/>
          <p:cNvGrpSpPr/>
          <p:nvPr/>
        </p:nvGrpSpPr>
        <p:grpSpPr>
          <a:xfrm>
            <a:off x="817433" y="806222"/>
            <a:ext cx="2005963" cy="4278243"/>
            <a:chOff x="3560633" y="1047383"/>
            <a:chExt cx="2005963" cy="4278243"/>
          </a:xfrm>
        </p:grpSpPr>
        <p:cxnSp>
          <p:nvCxnSpPr>
            <p:cNvPr id="19" name="Straight Connector 18"/>
            <p:cNvCxnSpPr/>
            <p:nvPr/>
          </p:nvCxnSpPr>
          <p:spPr>
            <a:xfrm>
              <a:off x="4521758" y="1698171"/>
              <a:ext cx="10049" cy="362745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3" name="Group 25"/>
            <p:cNvGrpSpPr/>
            <p:nvPr/>
          </p:nvGrpSpPr>
          <p:grpSpPr>
            <a:xfrm>
              <a:off x="3560633" y="1047383"/>
              <a:ext cx="1923902" cy="1866639"/>
              <a:chOff x="3560633" y="1047383"/>
              <a:chExt cx="1923902" cy="1866639"/>
            </a:xfrm>
          </p:grpSpPr>
          <p:cxnSp>
            <p:nvCxnSpPr>
              <p:cNvPr id="21" name="Straight Connector 20"/>
              <p:cNvCxnSpPr/>
              <p:nvPr/>
            </p:nvCxnSpPr>
            <p:spPr>
              <a:xfrm flipV="1">
                <a:off x="3808325" y="1798655"/>
                <a:ext cx="1467060" cy="82396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22" name="Picture 5"/>
              <p:cNvPicPr>
                <a:picLocks noChangeAspect="1" noChangeArrowheads="1"/>
              </p:cNvPicPr>
              <p:nvPr/>
            </p:nvPicPr>
            <p:blipFill>
              <a:blip r:embed="rId5" cstate="print"/>
              <a:srcRect/>
              <a:stretch>
                <a:fillRect/>
              </a:stretch>
            </p:blipFill>
            <p:spPr bwMode="auto">
              <a:xfrm>
                <a:off x="5265460" y="1047383"/>
                <a:ext cx="219075" cy="927100"/>
              </a:xfrm>
              <a:prstGeom prst="rect">
                <a:avLst/>
              </a:prstGeom>
              <a:noFill/>
              <a:ln w="9525">
                <a:noFill/>
                <a:miter lim="800000"/>
                <a:headEnd/>
                <a:tailEnd/>
              </a:ln>
              <a:effectLst/>
            </p:spPr>
          </p:pic>
          <p:pic>
            <p:nvPicPr>
              <p:cNvPr id="24" name="Picture 4"/>
              <p:cNvPicPr>
                <a:picLocks noChangeAspect="1" noChangeArrowheads="1"/>
              </p:cNvPicPr>
              <p:nvPr/>
            </p:nvPicPr>
            <p:blipFill>
              <a:blip r:embed="rId6" cstate="print"/>
              <a:srcRect/>
              <a:stretch>
                <a:fillRect/>
              </a:stretch>
            </p:blipFill>
            <p:spPr bwMode="auto">
              <a:xfrm>
                <a:off x="3560633" y="1983012"/>
                <a:ext cx="219999" cy="931010"/>
              </a:xfrm>
              <a:prstGeom prst="rect">
                <a:avLst/>
              </a:prstGeom>
              <a:noFill/>
              <a:ln w="9525">
                <a:noFill/>
                <a:miter lim="800000"/>
                <a:headEnd/>
                <a:tailEnd/>
              </a:ln>
              <a:effectLst/>
            </p:spPr>
          </p:pic>
        </p:grpSp>
        <p:sp>
          <p:nvSpPr>
            <p:cNvPr id="25" name="Oval 24"/>
            <p:cNvSpPr/>
            <p:nvPr/>
          </p:nvSpPr>
          <p:spPr>
            <a:xfrm>
              <a:off x="4411226" y="1597688"/>
              <a:ext cx="200967" cy="80386"/>
            </a:xfrm>
            <a:prstGeom prst="ellipse">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26"/>
            <p:cNvGrpSpPr/>
            <p:nvPr/>
          </p:nvGrpSpPr>
          <p:grpSpPr>
            <a:xfrm>
              <a:off x="3642694" y="2094087"/>
              <a:ext cx="1923902" cy="1866639"/>
              <a:chOff x="3560633" y="1047383"/>
              <a:chExt cx="1923902" cy="1866639"/>
            </a:xfrm>
          </p:grpSpPr>
          <p:cxnSp>
            <p:nvCxnSpPr>
              <p:cNvPr id="28" name="Straight Connector 27"/>
              <p:cNvCxnSpPr/>
              <p:nvPr/>
            </p:nvCxnSpPr>
            <p:spPr>
              <a:xfrm flipV="1">
                <a:off x="3808325" y="1798655"/>
                <a:ext cx="1467060" cy="82396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29" name="Picture 5"/>
              <p:cNvPicPr>
                <a:picLocks noChangeAspect="1" noChangeArrowheads="1"/>
              </p:cNvPicPr>
              <p:nvPr/>
            </p:nvPicPr>
            <p:blipFill>
              <a:blip r:embed="rId5" cstate="print"/>
              <a:srcRect/>
              <a:stretch>
                <a:fillRect/>
              </a:stretch>
            </p:blipFill>
            <p:spPr bwMode="auto">
              <a:xfrm>
                <a:off x="5265460" y="1047383"/>
                <a:ext cx="219075" cy="927100"/>
              </a:xfrm>
              <a:prstGeom prst="rect">
                <a:avLst/>
              </a:prstGeom>
              <a:noFill/>
              <a:ln w="9525">
                <a:noFill/>
                <a:miter lim="800000"/>
                <a:headEnd/>
                <a:tailEnd/>
              </a:ln>
              <a:effectLst/>
            </p:spPr>
          </p:pic>
          <p:pic>
            <p:nvPicPr>
              <p:cNvPr id="30" name="Picture 4"/>
              <p:cNvPicPr>
                <a:picLocks noChangeAspect="1" noChangeArrowheads="1"/>
              </p:cNvPicPr>
              <p:nvPr/>
            </p:nvPicPr>
            <p:blipFill>
              <a:blip r:embed="rId6" cstate="print"/>
              <a:srcRect/>
              <a:stretch>
                <a:fillRect/>
              </a:stretch>
            </p:blipFill>
            <p:spPr bwMode="auto">
              <a:xfrm>
                <a:off x="3560633" y="1983012"/>
                <a:ext cx="219999" cy="931010"/>
              </a:xfrm>
              <a:prstGeom prst="rect">
                <a:avLst/>
              </a:prstGeom>
              <a:noFill/>
              <a:ln w="9525">
                <a:noFill/>
                <a:miter lim="800000"/>
                <a:headEnd/>
                <a:tailEnd/>
              </a:ln>
              <a:effectLst/>
            </p:spPr>
          </p:pic>
        </p:grpSp>
        <p:grpSp>
          <p:nvGrpSpPr>
            <p:cNvPr id="6" name="Group 32"/>
            <p:cNvGrpSpPr/>
            <p:nvPr/>
          </p:nvGrpSpPr>
          <p:grpSpPr>
            <a:xfrm>
              <a:off x="3624272" y="3231225"/>
              <a:ext cx="1923902" cy="1866639"/>
              <a:chOff x="3560633" y="1047383"/>
              <a:chExt cx="1923902" cy="1866639"/>
            </a:xfrm>
          </p:grpSpPr>
          <p:cxnSp>
            <p:nvCxnSpPr>
              <p:cNvPr id="34" name="Straight Connector 33"/>
              <p:cNvCxnSpPr/>
              <p:nvPr/>
            </p:nvCxnSpPr>
            <p:spPr>
              <a:xfrm flipV="1">
                <a:off x="3808325" y="1798655"/>
                <a:ext cx="1467060" cy="82396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35" name="Picture 5"/>
              <p:cNvPicPr>
                <a:picLocks noChangeAspect="1" noChangeArrowheads="1"/>
              </p:cNvPicPr>
              <p:nvPr/>
            </p:nvPicPr>
            <p:blipFill>
              <a:blip r:embed="rId5" cstate="print"/>
              <a:srcRect/>
              <a:stretch>
                <a:fillRect/>
              </a:stretch>
            </p:blipFill>
            <p:spPr bwMode="auto">
              <a:xfrm>
                <a:off x="5265460" y="1047383"/>
                <a:ext cx="219075" cy="927100"/>
              </a:xfrm>
              <a:prstGeom prst="rect">
                <a:avLst/>
              </a:prstGeom>
              <a:noFill/>
              <a:ln w="9525">
                <a:noFill/>
                <a:miter lim="800000"/>
                <a:headEnd/>
                <a:tailEnd/>
              </a:ln>
              <a:effectLst/>
            </p:spPr>
          </p:pic>
          <p:pic>
            <p:nvPicPr>
              <p:cNvPr id="36" name="Picture 4"/>
              <p:cNvPicPr>
                <a:picLocks noChangeAspect="1" noChangeArrowheads="1"/>
              </p:cNvPicPr>
              <p:nvPr/>
            </p:nvPicPr>
            <p:blipFill>
              <a:blip r:embed="rId6" cstate="print"/>
              <a:srcRect/>
              <a:stretch>
                <a:fillRect/>
              </a:stretch>
            </p:blipFill>
            <p:spPr bwMode="auto">
              <a:xfrm>
                <a:off x="3560633" y="1983012"/>
                <a:ext cx="219999" cy="931010"/>
              </a:xfrm>
              <a:prstGeom prst="rect">
                <a:avLst/>
              </a:prstGeom>
              <a:noFill/>
              <a:ln w="9525">
                <a:noFill/>
                <a:miter lim="800000"/>
                <a:headEnd/>
                <a:tailEnd/>
              </a:ln>
              <a:effectLst/>
            </p:spPr>
          </p:pic>
        </p:grpSp>
      </p:grpSp>
      <p:graphicFrame>
        <p:nvGraphicFramePr>
          <p:cNvPr id="307205" name="Object 5"/>
          <p:cNvGraphicFramePr>
            <a:graphicFrameLocks noChangeAspect="1"/>
          </p:cNvGraphicFramePr>
          <p:nvPr/>
        </p:nvGraphicFramePr>
        <p:xfrm>
          <a:off x="222791" y="3667614"/>
          <a:ext cx="1324655" cy="370262"/>
        </p:xfrm>
        <a:graphic>
          <a:graphicData uri="http://schemas.openxmlformats.org/presentationml/2006/ole">
            <p:oleObj spid="_x0000_s677892" name="Equation" r:id="rId7" imgW="863280" imgH="241200" progId="">
              <p:embed/>
            </p:oleObj>
          </a:graphicData>
        </a:graphic>
      </p:graphicFrame>
      <p:graphicFrame>
        <p:nvGraphicFramePr>
          <p:cNvPr id="38" name="Object 17"/>
          <p:cNvGraphicFramePr>
            <a:graphicFrameLocks noChangeAspect="1"/>
          </p:cNvGraphicFramePr>
          <p:nvPr/>
        </p:nvGraphicFramePr>
        <p:xfrm>
          <a:off x="2803525" y="2332038"/>
          <a:ext cx="1387475" cy="450850"/>
        </p:xfrm>
        <a:graphic>
          <a:graphicData uri="http://schemas.openxmlformats.org/presentationml/2006/ole">
            <p:oleObj spid="_x0000_s677893" name="Equation" r:id="rId8" imgW="863280" imgH="279360" progId="">
              <p:embed/>
            </p:oleObj>
          </a:graphicData>
        </a:graphic>
      </p:graphicFrame>
      <p:graphicFrame>
        <p:nvGraphicFramePr>
          <p:cNvPr id="39" name="Object 5"/>
          <p:cNvGraphicFramePr>
            <a:graphicFrameLocks noChangeAspect="1"/>
          </p:cNvGraphicFramePr>
          <p:nvPr/>
        </p:nvGraphicFramePr>
        <p:xfrm>
          <a:off x="90489" y="2581286"/>
          <a:ext cx="1386620" cy="371464"/>
        </p:xfrm>
        <a:graphic>
          <a:graphicData uri="http://schemas.openxmlformats.org/presentationml/2006/ole">
            <p:oleObj spid="_x0000_s677894" name="Equation" r:id="rId9" imgW="901440" imgH="241200" progId="">
              <p:embed/>
            </p:oleObj>
          </a:graphicData>
        </a:graphic>
      </p:graphicFrame>
      <p:graphicFrame>
        <p:nvGraphicFramePr>
          <p:cNvPr id="40" name="Object 17"/>
          <p:cNvGraphicFramePr>
            <a:graphicFrameLocks noChangeAspect="1"/>
          </p:cNvGraphicFramePr>
          <p:nvPr/>
        </p:nvGraphicFramePr>
        <p:xfrm>
          <a:off x="2624138" y="1249363"/>
          <a:ext cx="1508125" cy="450850"/>
        </p:xfrm>
        <a:graphic>
          <a:graphicData uri="http://schemas.openxmlformats.org/presentationml/2006/ole">
            <p:oleObj spid="_x0000_s677895" name="Equation" r:id="rId10" imgW="939600" imgH="279360" progId="">
              <p:embed/>
            </p:oleObj>
          </a:graphicData>
        </a:graphic>
      </p:graphicFrame>
      <p:cxnSp>
        <p:nvCxnSpPr>
          <p:cNvPr id="42" name="Straight Connector 41"/>
          <p:cNvCxnSpPr/>
          <p:nvPr/>
        </p:nvCxnSpPr>
        <p:spPr>
          <a:xfrm>
            <a:off x="6281894" y="1197428"/>
            <a:ext cx="10049" cy="362745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7" name="Group 73"/>
          <p:cNvGrpSpPr/>
          <p:nvPr/>
        </p:nvGrpSpPr>
        <p:grpSpPr>
          <a:xfrm>
            <a:off x="6300316" y="2266560"/>
            <a:ext cx="1026416" cy="1200098"/>
            <a:chOff x="6300316" y="2266560"/>
            <a:chExt cx="1026416" cy="1200098"/>
          </a:xfrm>
        </p:grpSpPr>
        <p:cxnSp>
          <p:nvCxnSpPr>
            <p:cNvPr id="50" name="Straight Connector 49"/>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51"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cxnSp>
        <p:nvCxnSpPr>
          <p:cNvPr id="47" name="Straight Connector 46"/>
          <p:cNvCxnSpPr/>
          <p:nvPr/>
        </p:nvCxnSpPr>
        <p:spPr>
          <a:xfrm flipV="1">
            <a:off x="5632100" y="3918857"/>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49" name="Picture 4"/>
          <p:cNvPicPr>
            <a:picLocks noChangeAspect="1" noChangeArrowheads="1"/>
          </p:cNvPicPr>
          <p:nvPr/>
        </p:nvPicPr>
        <p:blipFill>
          <a:blip r:embed="rId6" cstate="print"/>
          <a:srcRect/>
          <a:stretch>
            <a:fillRect/>
          </a:stretch>
        </p:blipFill>
        <p:spPr bwMode="auto">
          <a:xfrm>
            <a:off x="5384408" y="3666111"/>
            <a:ext cx="219999" cy="931010"/>
          </a:xfrm>
          <a:prstGeom prst="rect">
            <a:avLst/>
          </a:prstGeom>
          <a:noFill/>
          <a:ln w="9525">
            <a:noFill/>
            <a:miter lim="800000"/>
            <a:headEnd/>
            <a:tailEnd/>
          </a:ln>
          <a:effectLst/>
        </p:spPr>
      </p:pic>
      <p:grpSp>
        <p:nvGrpSpPr>
          <p:cNvPr id="8" name="Group 69"/>
          <p:cNvGrpSpPr/>
          <p:nvPr/>
        </p:nvGrpSpPr>
        <p:grpSpPr>
          <a:xfrm>
            <a:off x="5355938" y="3215609"/>
            <a:ext cx="936005" cy="931010"/>
            <a:chOff x="5355938" y="2713192"/>
            <a:chExt cx="936005" cy="931010"/>
          </a:xfrm>
        </p:grpSpPr>
        <p:cxnSp>
          <p:nvCxnSpPr>
            <p:cNvPr id="68" name="Straight Connector 67"/>
            <p:cNvCxnSpPr/>
            <p:nvPr/>
          </p:nvCxnSpPr>
          <p:spPr>
            <a:xfrm flipV="1">
              <a:off x="5603630" y="2965938"/>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69" name="Picture 4"/>
            <p:cNvPicPr>
              <a:picLocks noChangeAspect="1" noChangeArrowheads="1"/>
            </p:cNvPicPr>
            <p:nvPr/>
          </p:nvPicPr>
          <p:blipFill>
            <a:blip r:embed="rId6" cstate="print"/>
            <a:srcRect/>
            <a:stretch>
              <a:fillRect/>
            </a:stretch>
          </p:blipFill>
          <p:spPr bwMode="auto">
            <a:xfrm>
              <a:off x="5355938" y="2713192"/>
              <a:ext cx="219999" cy="931010"/>
            </a:xfrm>
            <a:prstGeom prst="rect">
              <a:avLst/>
            </a:prstGeom>
            <a:noFill/>
            <a:ln w="9525">
              <a:noFill/>
              <a:miter lim="800000"/>
              <a:headEnd/>
              <a:tailEnd/>
            </a:ln>
            <a:effectLst/>
          </p:spPr>
        </p:pic>
      </p:grpSp>
      <p:pic>
        <p:nvPicPr>
          <p:cNvPr id="56" name="Picture 44"/>
          <p:cNvPicPr>
            <a:picLocks noChangeAspect="1" noChangeArrowheads="1"/>
          </p:cNvPicPr>
          <p:nvPr/>
        </p:nvPicPr>
        <p:blipFill>
          <a:blip r:embed="rId11" cstate="print"/>
          <a:srcRect/>
          <a:stretch>
            <a:fillRect/>
          </a:stretch>
        </p:blipFill>
        <p:spPr bwMode="auto">
          <a:xfrm rot="5400000">
            <a:off x="6204858" y="965479"/>
            <a:ext cx="150813" cy="304800"/>
          </a:xfrm>
          <a:prstGeom prst="rect">
            <a:avLst/>
          </a:prstGeom>
          <a:noFill/>
          <a:ln w="9525">
            <a:noFill/>
            <a:miter lim="800000"/>
            <a:headEnd/>
            <a:tailEnd/>
          </a:ln>
        </p:spPr>
      </p:pic>
      <p:sp>
        <p:nvSpPr>
          <p:cNvPr id="58" name="Block Arc 57"/>
          <p:cNvSpPr/>
          <p:nvPr/>
        </p:nvSpPr>
        <p:spPr>
          <a:xfrm rot="8841064">
            <a:off x="5550634" y="2903721"/>
            <a:ext cx="1639193" cy="1999745"/>
          </a:xfrm>
          <a:prstGeom prst="blockArc">
            <a:avLst>
              <a:gd name="adj1" fmla="val 11080797"/>
              <a:gd name="adj2" fmla="val 21515741"/>
              <a:gd name="adj3" fmla="val 1363"/>
            </a:avLst>
          </a:prstGeom>
          <a:ln>
            <a:solidFill>
              <a:srgbClr val="00CC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1" name="Straight Arrow Connector 60"/>
          <p:cNvCxnSpPr/>
          <p:nvPr/>
        </p:nvCxnSpPr>
        <p:spPr>
          <a:xfrm flipV="1">
            <a:off x="7095070" y="2984363"/>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V="1">
            <a:off x="5609590" y="3327679"/>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grpSp>
        <p:nvGrpSpPr>
          <p:cNvPr id="9" name="Group 70"/>
          <p:cNvGrpSpPr/>
          <p:nvPr/>
        </p:nvGrpSpPr>
        <p:grpSpPr>
          <a:xfrm>
            <a:off x="5357613" y="2704818"/>
            <a:ext cx="936005" cy="931010"/>
            <a:chOff x="5355938" y="2713192"/>
            <a:chExt cx="936005" cy="931010"/>
          </a:xfrm>
        </p:grpSpPr>
        <p:cxnSp>
          <p:nvCxnSpPr>
            <p:cNvPr id="72" name="Straight Connector 71"/>
            <p:cNvCxnSpPr/>
            <p:nvPr/>
          </p:nvCxnSpPr>
          <p:spPr>
            <a:xfrm flipV="1">
              <a:off x="5603630" y="2965938"/>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3" name="Picture 4"/>
            <p:cNvPicPr>
              <a:picLocks noChangeAspect="1" noChangeArrowheads="1"/>
            </p:cNvPicPr>
            <p:nvPr/>
          </p:nvPicPr>
          <p:blipFill>
            <a:blip r:embed="rId6" cstate="print"/>
            <a:srcRect/>
            <a:stretch>
              <a:fillRect/>
            </a:stretch>
          </p:blipFill>
          <p:spPr bwMode="auto">
            <a:xfrm>
              <a:off x="5355938" y="2713192"/>
              <a:ext cx="219999" cy="931010"/>
            </a:xfrm>
            <a:prstGeom prst="rect">
              <a:avLst/>
            </a:prstGeom>
            <a:noFill/>
            <a:ln w="9525">
              <a:noFill/>
              <a:miter lim="800000"/>
              <a:headEnd/>
              <a:tailEnd/>
            </a:ln>
            <a:effectLst/>
          </p:spPr>
        </p:pic>
      </p:grpSp>
      <p:grpSp>
        <p:nvGrpSpPr>
          <p:cNvPr id="10" name="Group 74"/>
          <p:cNvGrpSpPr/>
          <p:nvPr/>
        </p:nvGrpSpPr>
        <p:grpSpPr>
          <a:xfrm>
            <a:off x="6301990" y="1755768"/>
            <a:ext cx="1026416" cy="1200098"/>
            <a:chOff x="6300316" y="2266560"/>
            <a:chExt cx="1026416" cy="1200098"/>
          </a:xfrm>
        </p:grpSpPr>
        <p:cxnSp>
          <p:nvCxnSpPr>
            <p:cNvPr id="76" name="Straight Connector 75"/>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7"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cxnSp>
        <p:nvCxnSpPr>
          <p:cNvPr id="78" name="Straight Arrow Connector 77"/>
          <p:cNvCxnSpPr/>
          <p:nvPr/>
        </p:nvCxnSpPr>
        <p:spPr>
          <a:xfrm flipV="1">
            <a:off x="7098421" y="1992923"/>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grpSp>
        <p:nvGrpSpPr>
          <p:cNvPr id="11" name="Group 78"/>
          <p:cNvGrpSpPr/>
          <p:nvPr/>
        </p:nvGrpSpPr>
        <p:grpSpPr>
          <a:xfrm>
            <a:off x="6283567" y="1255024"/>
            <a:ext cx="1026416" cy="1200098"/>
            <a:chOff x="6300316" y="2266560"/>
            <a:chExt cx="1026416" cy="1200098"/>
          </a:xfrm>
        </p:grpSpPr>
        <p:cxnSp>
          <p:nvCxnSpPr>
            <p:cNvPr id="80" name="Straight Connector 79"/>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81"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grpSp>
        <p:nvGrpSpPr>
          <p:cNvPr id="12" name="Group 81"/>
          <p:cNvGrpSpPr/>
          <p:nvPr/>
        </p:nvGrpSpPr>
        <p:grpSpPr>
          <a:xfrm>
            <a:off x="5369336" y="2194026"/>
            <a:ext cx="936005" cy="931010"/>
            <a:chOff x="5355938" y="2713192"/>
            <a:chExt cx="936005" cy="931010"/>
          </a:xfrm>
        </p:grpSpPr>
        <p:cxnSp>
          <p:nvCxnSpPr>
            <p:cNvPr id="83" name="Straight Connector 82"/>
            <p:cNvCxnSpPr/>
            <p:nvPr/>
          </p:nvCxnSpPr>
          <p:spPr>
            <a:xfrm flipV="1">
              <a:off x="5603630" y="2965938"/>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84" name="Picture 4"/>
            <p:cNvPicPr>
              <a:picLocks noChangeAspect="1" noChangeArrowheads="1"/>
            </p:cNvPicPr>
            <p:nvPr/>
          </p:nvPicPr>
          <p:blipFill>
            <a:blip r:embed="rId6" cstate="print"/>
            <a:srcRect/>
            <a:stretch>
              <a:fillRect/>
            </a:stretch>
          </p:blipFill>
          <p:spPr bwMode="auto">
            <a:xfrm>
              <a:off x="5355938" y="2713192"/>
              <a:ext cx="219999" cy="931010"/>
            </a:xfrm>
            <a:prstGeom prst="rect">
              <a:avLst/>
            </a:prstGeom>
            <a:noFill/>
            <a:ln w="9525">
              <a:noFill/>
              <a:miter lim="800000"/>
              <a:headEnd/>
              <a:tailEnd/>
            </a:ln>
            <a:effectLst/>
          </p:spPr>
        </p:pic>
      </p:grpSp>
      <p:cxnSp>
        <p:nvCxnSpPr>
          <p:cNvPr id="85" name="Straight Arrow Connector 84"/>
          <p:cNvCxnSpPr/>
          <p:nvPr/>
        </p:nvCxnSpPr>
        <p:spPr>
          <a:xfrm flipV="1">
            <a:off x="5612940" y="2296049"/>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grpSp>
        <p:nvGrpSpPr>
          <p:cNvPr id="13" name="Group 85"/>
          <p:cNvGrpSpPr/>
          <p:nvPr/>
        </p:nvGrpSpPr>
        <p:grpSpPr>
          <a:xfrm>
            <a:off x="5371011" y="1663138"/>
            <a:ext cx="936005" cy="931010"/>
            <a:chOff x="5355938" y="2713192"/>
            <a:chExt cx="936005" cy="931010"/>
          </a:xfrm>
        </p:grpSpPr>
        <p:cxnSp>
          <p:nvCxnSpPr>
            <p:cNvPr id="87" name="Straight Connector 86"/>
            <p:cNvCxnSpPr/>
            <p:nvPr/>
          </p:nvCxnSpPr>
          <p:spPr>
            <a:xfrm flipV="1">
              <a:off x="5603630" y="2965938"/>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88" name="Picture 4"/>
            <p:cNvPicPr>
              <a:picLocks noChangeAspect="1" noChangeArrowheads="1"/>
            </p:cNvPicPr>
            <p:nvPr/>
          </p:nvPicPr>
          <p:blipFill>
            <a:blip r:embed="rId6" cstate="print"/>
            <a:srcRect/>
            <a:stretch>
              <a:fillRect/>
            </a:stretch>
          </p:blipFill>
          <p:spPr bwMode="auto">
            <a:xfrm>
              <a:off x="5355938" y="2713192"/>
              <a:ext cx="219999" cy="931010"/>
            </a:xfrm>
            <a:prstGeom prst="rect">
              <a:avLst/>
            </a:prstGeom>
            <a:noFill/>
            <a:ln w="9525">
              <a:noFill/>
              <a:miter lim="800000"/>
              <a:headEnd/>
              <a:tailEnd/>
            </a:ln>
            <a:effectLst/>
          </p:spPr>
        </p:pic>
      </p:grpSp>
      <p:grpSp>
        <p:nvGrpSpPr>
          <p:cNvPr id="14" name="Group 88"/>
          <p:cNvGrpSpPr/>
          <p:nvPr/>
        </p:nvGrpSpPr>
        <p:grpSpPr>
          <a:xfrm>
            <a:off x="6255097" y="754282"/>
            <a:ext cx="1026416" cy="1200098"/>
            <a:chOff x="6300316" y="2266560"/>
            <a:chExt cx="1026416" cy="1200098"/>
          </a:xfrm>
        </p:grpSpPr>
        <p:cxnSp>
          <p:nvCxnSpPr>
            <p:cNvPr id="90" name="Straight Connector 89"/>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91"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cxnSp>
        <p:nvCxnSpPr>
          <p:cNvPr id="92" name="Straight Arrow Connector 91"/>
          <p:cNvCxnSpPr/>
          <p:nvPr/>
        </p:nvCxnSpPr>
        <p:spPr>
          <a:xfrm flipV="1">
            <a:off x="7059903" y="999811"/>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grpSp>
        <p:nvGrpSpPr>
          <p:cNvPr id="16" name="Group 92"/>
          <p:cNvGrpSpPr/>
          <p:nvPr/>
        </p:nvGrpSpPr>
        <p:grpSpPr>
          <a:xfrm>
            <a:off x="6256772" y="263587"/>
            <a:ext cx="1026416" cy="1200098"/>
            <a:chOff x="6300316" y="2266560"/>
            <a:chExt cx="1026416" cy="1200098"/>
          </a:xfrm>
        </p:grpSpPr>
        <p:cxnSp>
          <p:nvCxnSpPr>
            <p:cNvPr id="94" name="Straight Connector 93"/>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95"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grpSp>
        <p:nvGrpSpPr>
          <p:cNvPr id="17" name="Group 95"/>
          <p:cNvGrpSpPr/>
          <p:nvPr/>
        </p:nvGrpSpPr>
        <p:grpSpPr>
          <a:xfrm>
            <a:off x="6281894" y="2740507"/>
            <a:ext cx="1026416" cy="1200098"/>
            <a:chOff x="6300316" y="2266560"/>
            <a:chExt cx="1026416" cy="1200098"/>
          </a:xfrm>
        </p:grpSpPr>
        <p:cxnSp>
          <p:nvCxnSpPr>
            <p:cNvPr id="97" name="Straight Connector 96"/>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99" name="Picture 5"/>
            <p:cNvPicPr>
              <a:picLocks noChangeAspect="1" noChangeArrowheads="1"/>
            </p:cNvPicPr>
            <p:nvPr/>
          </p:nvPicPr>
          <p:blipFill>
            <a:blip r:embed="rId5" cstate="print"/>
            <a:srcRect/>
            <a:stretch>
              <a:fillRect/>
            </a:stretch>
          </p:blipFill>
          <p:spPr bwMode="auto">
            <a:xfrm>
              <a:off x="7122607" y="2266560"/>
              <a:ext cx="204125" cy="927100"/>
            </a:xfrm>
            <a:prstGeom prst="rect">
              <a:avLst/>
            </a:prstGeom>
            <a:noFill/>
            <a:ln w="9525">
              <a:noFill/>
              <a:miter lim="800000"/>
              <a:headEnd/>
              <a:tailEnd/>
            </a:ln>
            <a:effectLst/>
          </p:spPr>
        </p:pic>
      </p:grpSp>
      <p:graphicFrame>
        <p:nvGraphicFramePr>
          <p:cNvPr id="100" name="Object 99"/>
          <p:cNvGraphicFramePr>
            <a:graphicFrameLocks noChangeAspect="1"/>
          </p:cNvGraphicFramePr>
          <p:nvPr/>
        </p:nvGraphicFramePr>
        <p:xfrm>
          <a:off x="4469006" y="4344238"/>
          <a:ext cx="942975" cy="344488"/>
        </p:xfrm>
        <a:graphic>
          <a:graphicData uri="http://schemas.openxmlformats.org/presentationml/2006/ole">
            <p:oleObj spid="_x0000_s677896" name="Equation" r:id="rId12" imgW="799920" imgH="291960" progId="">
              <p:embed/>
            </p:oleObj>
          </a:graphicData>
        </a:graphic>
      </p:graphicFrame>
      <p:graphicFrame>
        <p:nvGraphicFramePr>
          <p:cNvPr id="307210" name="Object 4"/>
          <p:cNvGraphicFramePr>
            <a:graphicFrameLocks noChangeAspect="1"/>
          </p:cNvGraphicFramePr>
          <p:nvPr/>
        </p:nvGraphicFramePr>
        <p:xfrm>
          <a:off x="7293952" y="2776015"/>
          <a:ext cx="1673225" cy="450850"/>
        </p:xfrm>
        <a:graphic>
          <a:graphicData uri="http://schemas.openxmlformats.org/presentationml/2006/ole">
            <p:oleObj spid="_x0000_s677897" name="Equation" r:id="rId13" imgW="1041120" imgH="279360" progId="">
              <p:embed/>
            </p:oleObj>
          </a:graphicData>
        </a:graphic>
      </p:graphicFrame>
      <p:graphicFrame>
        <p:nvGraphicFramePr>
          <p:cNvPr id="101" name="Object 5"/>
          <p:cNvGraphicFramePr>
            <a:graphicFrameLocks noChangeAspect="1"/>
          </p:cNvGraphicFramePr>
          <p:nvPr/>
        </p:nvGraphicFramePr>
        <p:xfrm>
          <a:off x="4083033" y="3357789"/>
          <a:ext cx="1324655" cy="370262"/>
        </p:xfrm>
        <a:graphic>
          <a:graphicData uri="http://schemas.openxmlformats.org/presentationml/2006/ole">
            <p:oleObj spid="_x0000_s677898" name="Equation" r:id="rId14" imgW="863280" imgH="241200" progId="">
              <p:embed/>
            </p:oleObj>
          </a:graphicData>
        </a:graphic>
      </p:graphicFrame>
      <p:graphicFrame>
        <p:nvGraphicFramePr>
          <p:cNvPr id="307212" name="Object 4"/>
          <p:cNvGraphicFramePr>
            <a:graphicFrameLocks noChangeAspect="1"/>
          </p:cNvGraphicFramePr>
          <p:nvPr/>
        </p:nvGraphicFramePr>
        <p:xfrm>
          <a:off x="7246938" y="2205038"/>
          <a:ext cx="1693862" cy="450850"/>
        </p:xfrm>
        <a:graphic>
          <a:graphicData uri="http://schemas.openxmlformats.org/presentationml/2006/ole">
            <p:oleObj spid="_x0000_s677899" name="Equation" r:id="rId15" imgW="1054080" imgH="279360" progId="">
              <p:embed/>
            </p:oleObj>
          </a:graphicData>
        </a:graphic>
      </p:graphicFrame>
      <p:graphicFrame>
        <p:nvGraphicFramePr>
          <p:cNvPr id="307213" name="Object 5"/>
          <p:cNvGraphicFramePr>
            <a:graphicFrameLocks noChangeAspect="1"/>
          </p:cNvGraphicFramePr>
          <p:nvPr/>
        </p:nvGraphicFramePr>
        <p:xfrm>
          <a:off x="3920584" y="2733675"/>
          <a:ext cx="1385887" cy="371475"/>
        </p:xfrm>
        <a:graphic>
          <a:graphicData uri="http://schemas.openxmlformats.org/presentationml/2006/ole">
            <p:oleObj spid="_x0000_s677900" name="Equation" r:id="rId16" imgW="901440" imgH="241200" progId="">
              <p:embed/>
            </p:oleObj>
          </a:graphicData>
        </a:graphic>
      </p:graphicFrame>
      <p:sp>
        <p:nvSpPr>
          <p:cNvPr id="104" name="Rectangle 6"/>
          <p:cNvSpPr txBox="1">
            <a:spLocks noChangeArrowheads="1"/>
          </p:cNvSpPr>
          <p:nvPr/>
        </p:nvSpPr>
        <p:spPr>
          <a:xfrm>
            <a:off x="777238" y="5459090"/>
            <a:ext cx="2568861" cy="632138"/>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smtClean="0">
                <a:ln>
                  <a:noFill/>
                </a:ln>
                <a:solidFill>
                  <a:srgbClr val="FF0000"/>
                </a:solidFill>
                <a:effectLst>
                  <a:outerShdw blurRad="53975" dist="22860" dir="5400000" algn="tl" rotWithShape="0">
                    <a:srgbClr val="000000">
                      <a:alpha val="55000"/>
                    </a:srgbClr>
                  </a:outerShdw>
                </a:effectLst>
                <a:uLnTx/>
                <a:uFillTx/>
                <a:latin typeface="+mj-lt"/>
                <a:ea typeface="+mj-ea"/>
                <a:cs typeface="+mj-cs"/>
              </a:rPr>
              <a:t>2 fold Axis</a:t>
            </a:r>
          </a:p>
        </p:txBody>
      </p:sp>
      <p:sp>
        <p:nvSpPr>
          <p:cNvPr id="105" name="Rectangle 6"/>
          <p:cNvSpPr txBox="1">
            <a:spLocks noChangeArrowheads="1"/>
          </p:cNvSpPr>
          <p:nvPr/>
        </p:nvSpPr>
        <p:spPr>
          <a:xfrm>
            <a:off x="5159994" y="5259798"/>
            <a:ext cx="2568861" cy="632138"/>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smtClean="0">
                <a:ln>
                  <a:noFill/>
                </a:ln>
                <a:solidFill>
                  <a:srgbClr val="FF0000"/>
                </a:solidFill>
                <a:effectLst>
                  <a:outerShdw blurRad="53975" dist="22860" dir="5400000" algn="tl" rotWithShape="0">
                    <a:srgbClr val="000000">
                      <a:alpha val="55000"/>
                    </a:srgbClr>
                  </a:outerShdw>
                </a:effectLst>
                <a:uLnTx/>
                <a:uFillTx/>
                <a:latin typeface="+mj-lt"/>
                <a:ea typeface="+mj-ea"/>
                <a:cs typeface="+mj-cs"/>
              </a:rPr>
              <a:t>2</a:t>
            </a:r>
            <a:r>
              <a:rPr kumimoji="0" lang="en-US" sz="1800" b="1" i="0" u="none" strike="noStrike" kern="1200" cap="none" spc="0" normalizeH="0" baseline="-2500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1 </a:t>
            </a:r>
            <a:r>
              <a:rPr kumimoji="0" lang="en-US" sz="1800" b="1" i="0" u="none" strike="noStrike" kern="1200" cap="none" spc="0" normalizeH="0" baseline="0" noProof="0" dirty="0" smtClean="0">
                <a:ln>
                  <a:noFill/>
                </a:ln>
                <a:solidFill>
                  <a:srgbClr val="FF0000"/>
                </a:solidFill>
                <a:effectLst>
                  <a:outerShdw blurRad="53975" dist="22860" dir="5400000" algn="tl" rotWithShape="0">
                    <a:srgbClr val="000000">
                      <a:alpha val="55000"/>
                    </a:srgbClr>
                  </a:outerShdw>
                </a:effectLst>
                <a:uLnTx/>
                <a:uFillTx/>
                <a:latin typeface="+mj-lt"/>
                <a:ea typeface="+mj-ea"/>
                <a:cs typeface="+mj-cs"/>
              </a:rPr>
              <a:t>fold Screw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wipe(down)">
                                      <p:cBhvr>
                                        <p:cTn id="16" dur="500"/>
                                        <p:tgtEl>
                                          <p:spTgt spid="61"/>
                                        </p:tgtEl>
                                      </p:cBhvr>
                                    </p:animEffect>
                                  </p:childTnLst>
                                  <p:subTnLst>
                                    <p:set>
                                      <p:cBhvr override="childStyle">
                                        <p:cTn dur="1" fill="hold" display="0" masterRel="nextClick" afterEffect="1"/>
                                        <p:tgtEl>
                                          <p:spTgt spid="61"/>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wipe(down)">
                                      <p:cBhvr>
                                        <p:cTn id="29" dur="500"/>
                                        <p:tgtEl>
                                          <p:spTgt spid="67"/>
                                        </p:tgtEl>
                                      </p:cBhvr>
                                    </p:animEffect>
                                  </p:childTnLst>
                                  <p:subTnLst>
                                    <p:set>
                                      <p:cBhvr override="childStyle">
                                        <p:cTn dur="1" fill="hold" display="0" masterRel="nextClick" afterEffect="1"/>
                                        <p:tgtEl>
                                          <p:spTgt spid="67"/>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wipe(down)">
                                      <p:cBhvr>
                                        <p:cTn id="42" dur="500"/>
                                        <p:tgtEl>
                                          <p:spTgt spid="78"/>
                                        </p:tgtEl>
                                      </p:cBhvr>
                                    </p:animEffect>
                                  </p:childTnLst>
                                  <p:subTnLst>
                                    <p:set>
                                      <p:cBhvr override="childStyle">
                                        <p:cTn dur="1" fill="hold" display="0" masterRel="nextClick" afterEffect="1"/>
                                        <p:tgtEl>
                                          <p:spTgt spid="78"/>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85"/>
                                        </p:tgtEl>
                                        <p:attrNameLst>
                                          <p:attrName>style.visibility</p:attrName>
                                        </p:attrNameLst>
                                      </p:cBhvr>
                                      <p:to>
                                        <p:strVal val="visible"/>
                                      </p:to>
                                    </p:set>
                                    <p:animEffect transition="in" filter="wipe(down)">
                                      <p:cBhvr>
                                        <p:cTn id="55" dur="500"/>
                                        <p:tgtEl>
                                          <p:spTgt spid="85"/>
                                        </p:tgtEl>
                                      </p:cBhvr>
                                    </p:animEffect>
                                  </p:childTnLst>
                                  <p:subTnLst>
                                    <p:set>
                                      <p:cBhvr override="childStyle">
                                        <p:cTn dur="1" fill="hold" display="0" masterRel="nextClick" afterEffect="1"/>
                                        <p:tgtEl>
                                          <p:spTgt spid="85"/>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92"/>
                                        </p:tgtEl>
                                        <p:attrNameLst>
                                          <p:attrName>style.visibility</p:attrName>
                                        </p:attrNameLst>
                                      </p:cBhvr>
                                      <p:to>
                                        <p:strVal val="visible"/>
                                      </p:to>
                                    </p:set>
                                    <p:animEffect transition="in" filter="wipe(down)">
                                      <p:cBhvr>
                                        <p:cTn id="68" dur="500"/>
                                        <p:tgtEl>
                                          <p:spTgt spid="92"/>
                                        </p:tgtEl>
                                      </p:cBhvr>
                                    </p:animEffec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0721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0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0721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07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6"/>
          <p:cNvSpPr txBox="1">
            <a:spLocks noChangeArrowheads="1"/>
          </p:cNvSpPr>
          <p:nvPr/>
        </p:nvSpPr>
        <p:spPr>
          <a:xfrm>
            <a:off x="1609577" y="362901"/>
            <a:ext cx="4198370" cy="632138"/>
          </a:xfrm>
          <a:prstGeom prst="rect">
            <a:avLst/>
          </a:prstGeom>
        </p:spPr>
        <p:txBody>
          <a:bodyPr/>
          <a:lstStyle/>
          <a:p>
            <a:pPr lvl="0" eaLnBrk="1" hangingPunct="1"/>
            <a:r>
              <a:rPr lang="en-US" b="1" dirty="0" smtClean="0">
                <a:solidFill>
                  <a:srgbClr val="0070C0"/>
                </a:solidFill>
                <a:effectLst>
                  <a:outerShdw blurRad="53975" dist="22860" dir="5400000" algn="tl" rotWithShape="0">
                    <a:srgbClr val="000000">
                      <a:alpha val="55000"/>
                    </a:srgbClr>
                  </a:outerShdw>
                </a:effectLst>
                <a:latin typeface="+mn-lt"/>
              </a:rPr>
              <a:t>Three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
        <p:nvSpPr>
          <p:cNvPr id="18" name="Rectangle 2"/>
          <p:cNvSpPr>
            <a:spLocks noChangeArrowheads="1"/>
          </p:cNvSpPr>
          <p:nvPr/>
        </p:nvSpPr>
        <p:spPr bwMode="auto">
          <a:xfrm>
            <a:off x="261254" y="1075817"/>
            <a:ext cx="8601391" cy="201593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ts val="600"/>
              </a:spcBef>
              <a:spcAft>
                <a:spcPts val="600"/>
              </a:spcAft>
              <a:buClrTx/>
              <a:buSzTx/>
              <a:buFont typeface="Wingdings" pitchFamily="2" charset="2"/>
              <a:buChar char="v"/>
              <a:tabLst/>
            </a:pPr>
            <a:r>
              <a:rPr kumimoji="0" lang="en-US" sz="2100" b="1" i="0" u="none" strike="noStrike" cap="none" normalizeH="0" baseline="0" dirty="0" smtClean="0">
                <a:ln>
                  <a:noFill/>
                </a:ln>
                <a:solidFill>
                  <a:srgbClr val="002060"/>
                </a:solidFill>
                <a:effectLst/>
                <a:latin typeface="Times New Roman" pitchFamily="18" charset="0"/>
              </a:rPr>
              <a:t>There are two possible translation, </a:t>
            </a:r>
            <a:r>
              <a:rPr kumimoji="0" lang="en-US" sz="2100" b="1" i="0" u="none" strike="noStrike" cap="none" normalizeH="0" baseline="0" dirty="0" smtClean="0">
                <a:ln>
                  <a:noFill/>
                </a:ln>
                <a:solidFill>
                  <a:srgbClr val="FF0000"/>
                </a:solidFill>
                <a:effectLst/>
                <a:latin typeface="Times New Roman" pitchFamily="18" charset="0"/>
              </a:rPr>
              <a:t>1/3</a:t>
            </a:r>
            <a:r>
              <a:rPr kumimoji="0" lang="en-US" sz="2100" b="1" i="0" u="none" strike="noStrike" cap="none" normalizeH="0" baseline="0" dirty="0" smtClean="0">
                <a:ln>
                  <a:noFill/>
                </a:ln>
                <a:solidFill>
                  <a:srgbClr val="002060"/>
                </a:solidFill>
                <a:effectLst/>
                <a:latin typeface="Times New Roman" pitchFamily="18" charset="0"/>
              </a:rPr>
              <a:t> and</a:t>
            </a:r>
            <a:r>
              <a:rPr kumimoji="0" lang="en-US" sz="2100" b="1" i="0" u="none" strike="noStrike" cap="none" normalizeH="0" baseline="0" dirty="0" smtClean="0">
                <a:ln>
                  <a:noFill/>
                </a:ln>
                <a:solidFill>
                  <a:srgbClr val="FF0000"/>
                </a:solidFill>
                <a:effectLst/>
                <a:latin typeface="Times New Roman" pitchFamily="18" charset="0"/>
              </a:rPr>
              <a:t> 2/3 </a:t>
            </a:r>
            <a:r>
              <a:rPr kumimoji="0" lang="en-US" sz="2100" b="1" i="0" u="none" strike="noStrike" cap="none" normalizeH="0" baseline="0" dirty="0" smtClean="0">
                <a:ln>
                  <a:noFill/>
                </a:ln>
                <a:solidFill>
                  <a:srgbClr val="002060"/>
                </a:solidFill>
                <a:effectLst/>
                <a:latin typeface="Times New Roman" pitchFamily="18" charset="0"/>
              </a:rPr>
              <a:t>times the repeat period along the axis for three fold screw axis.</a:t>
            </a:r>
          </a:p>
          <a:p>
            <a:pPr marL="457200" marR="0" lvl="0" indent="-457200" algn="just" defTabSz="914400" rtl="0" eaLnBrk="0" fontAlgn="base" latinLnBrk="0" hangingPunct="0">
              <a:lnSpc>
                <a:spcPct val="100000"/>
              </a:lnSpc>
              <a:spcBef>
                <a:spcPts val="600"/>
              </a:spcBef>
              <a:spcAft>
                <a:spcPts val="600"/>
              </a:spcAft>
              <a:buClrTx/>
              <a:buSzTx/>
              <a:buFont typeface="Wingdings" pitchFamily="2" charset="2"/>
              <a:buChar char="v"/>
              <a:tabLst/>
            </a:pPr>
            <a:r>
              <a:rPr lang="en-US" sz="2100" b="1" dirty="0" smtClean="0">
                <a:solidFill>
                  <a:srgbClr val="002060"/>
                </a:solidFill>
              </a:rPr>
              <a:t>These are symbolically denoted by </a:t>
            </a:r>
            <a:r>
              <a:rPr lang="en-US" sz="2100" b="1" dirty="0" smtClean="0">
                <a:solidFill>
                  <a:srgbClr val="FF0000"/>
                </a:solidFill>
              </a:rPr>
              <a:t>3</a:t>
            </a:r>
            <a:r>
              <a:rPr lang="en-US" sz="2100" b="1" baseline="-25000" dirty="0" smtClean="0">
                <a:solidFill>
                  <a:srgbClr val="FF0000"/>
                </a:solidFill>
              </a:rPr>
              <a:t>1</a:t>
            </a:r>
            <a:r>
              <a:rPr lang="en-US" sz="2100" b="1" dirty="0" smtClean="0">
                <a:solidFill>
                  <a:srgbClr val="002060"/>
                </a:solidFill>
              </a:rPr>
              <a:t> and </a:t>
            </a:r>
            <a:r>
              <a:rPr lang="en-US" sz="2100" b="1" dirty="0" smtClean="0">
                <a:solidFill>
                  <a:srgbClr val="FF0000"/>
                </a:solidFill>
              </a:rPr>
              <a:t>3</a:t>
            </a:r>
            <a:r>
              <a:rPr lang="en-US" sz="2100" b="1" baseline="-25000" dirty="0" smtClean="0">
                <a:solidFill>
                  <a:srgbClr val="FF0000"/>
                </a:solidFill>
              </a:rPr>
              <a:t>2</a:t>
            </a:r>
            <a:r>
              <a:rPr lang="en-US" sz="2100" b="1" dirty="0" smtClean="0">
                <a:solidFill>
                  <a:srgbClr val="002060"/>
                </a:solidFill>
              </a:rPr>
              <a:t>.</a:t>
            </a:r>
          </a:p>
          <a:p>
            <a:pPr marL="457200" lvl="0" indent="-457200" algn="just">
              <a:spcBef>
                <a:spcPts val="600"/>
              </a:spcBef>
              <a:spcAft>
                <a:spcPts val="600"/>
              </a:spcAft>
              <a:buFont typeface="Wingdings" pitchFamily="2" charset="2"/>
              <a:buChar char="v"/>
            </a:pPr>
            <a:r>
              <a:rPr kumimoji="0" lang="en-US" sz="2100" b="1" i="0" u="none" strike="noStrike" cap="none" normalizeH="0" baseline="0" dirty="0" smtClean="0">
                <a:ln>
                  <a:noFill/>
                </a:ln>
                <a:solidFill>
                  <a:srgbClr val="002060"/>
                </a:solidFill>
                <a:effectLst/>
                <a:latin typeface="Times New Roman" pitchFamily="18" charset="0"/>
              </a:rPr>
              <a:t>The</a:t>
            </a:r>
            <a:r>
              <a:rPr kumimoji="0" lang="en-US" sz="2100" b="1" i="0" u="none" strike="noStrike" cap="none" normalizeH="0" dirty="0" smtClean="0">
                <a:ln>
                  <a:noFill/>
                </a:ln>
                <a:solidFill>
                  <a:srgbClr val="002060"/>
                </a:solidFill>
                <a:effectLst/>
                <a:latin typeface="Times New Roman" pitchFamily="18" charset="0"/>
              </a:rPr>
              <a:t> </a:t>
            </a:r>
            <a:r>
              <a:rPr lang="en-US" sz="2100" b="1" dirty="0" smtClean="0">
                <a:solidFill>
                  <a:srgbClr val="002060"/>
                </a:solidFill>
              </a:rPr>
              <a:t>rotation in anticlockwise direction, an axis 3</a:t>
            </a:r>
            <a:r>
              <a:rPr lang="en-US" sz="2100" b="1" baseline="-25000" dirty="0" smtClean="0">
                <a:solidFill>
                  <a:srgbClr val="002060"/>
                </a:solidFill>
              </a:rPr>
              <a:t>1</a:t>
            </a:r>
            <a:r>
              <a:rPr lang="en-US" sz="2100" b="1" dirty="0" smtClean="0">
                <a:solidFill>
                  <a:srgbClr val="002060"/>
                </a:solidFill>
              </a:rPr>
              <a:t> will repeat the object at heights </a:t>
            </a:r>
            <a:r>
              <a:rPr lang="en-US" sz="2100" b="1" dirty="0" smtClean="0">
                <a:solidFill>
                  <a:srgbClr val="FF0000"/>
                </a:solidFill>
              </a:rPr>
              <a:t>1/3</a:t>
            </a:r>
            <a:r>
              <a:rPr lang="en-US" sz="2100" b="1" dirty="0" smtClean="0">
                <a:solidFill>
                  <a:srgbClr val="002060"/>
                </a:solidFill>
              </a:rPr>
              <a:t>, </a:t>
            </a:r>
            <a:r>
              <a:rPr lang="en-US" sz="2100" b="1" dirty="0" smtClean="0">
                <a:solidFill>
                  <a:srgbClr val="FF0000"/>
                </a:solidFill>
              </a:rPr>
              <a:t>2/3</a:t>
            </a:r>
            <a:r>
              <a:rPr lang="en-US" sz="2100" b="1" dirty="0" smtClean="0">
                <a:solidFill>
                  <a:srgbClr val="002060"/>
                </a:solidFill>
              </a:rPr>
              <a:t> and </a:t>
            </a:r>
            <a:r>
              <a:rPr lang="en-US" sz="2100" b="1" dirty="0" smtClean="0">
                <a:solidFill>
                  <a:srgbClr val="FF0000"/>
                </a:solidFill>
              </a:rPr>
              <a:t>3/3</a:t>
            </a:r>
            <a:r>
              <a:rPr lang="en-US" sz="2100" b="1" dirty="0" smtClean="0">
                <a:solidFill>
                  <a:srgbClr val="002060"/>
                </a:solidFill>
              </a:rPr>
              <a:t> in orientations at </a:t>
            </a:r>
            <a:r>
              <a:rPr lang="en-US" sz="2100" b="1" dirty="0" smtClean="0">
                <a:solidFill>
                  <a:srgbClr val="FF0000"/>
                </a:solidFill>
              </a:rPr>
              <a:t>120º</a:t>
            </a:r>
            <a:r>
              <a:rPr lang="en-US" sz="2100" b="1" dirty="0" smtClean="0">
                <a:solidFill>
                  <a:srgbClr val="002060"/>
                </a:solidFill>
              </a:rPr>
              <a:t>, </a:t>
            </a:r>
            <a:r>
              <a:rPr lang="en-US" sz="2100" b="1" dirty="0" smtClean="0">
                <a:solidFill>
                  <a:srgbClr val="FF0000"/>
                </a:solidFill>
              </a:rPr>
              <a:t>240º </a:t>
            </a:r>
            <a:r>
              <a:rPr lang="en-US" sz="2100" b="1" dirty="0" smtClean="0">
                <a:solidFill>
                  <a:srgbClr val="002060"/>
                </a:solidFill>
              </a:rPr>
              <a:t>and </a:t>
            </a:r>
            <a:r>
              <a:rPr lang="en-US" sz="2100" b="1" dirty="0" smtClean="0">
                <a:solidFill>
                  <a:srgbClr val="FF0000"/>
                </a:solidFill>
              </a:rPr>
              <a:t>360º</a:t>
            </a:r>
            <a:r>
              <a:rPr lang="en-US" sz="2100" b="1" dirty="0" smtClean="0">
                <a:solidFill>
                  <a:srgbClr val="002060"/>
                </a:solidFill>
              </a:rPr>
              <a:t>. </a:t>
            </a:r>
          </a:p>
        </p:txBody>
      </p:sp>
      <p:grpSp>
        <p:nvGrpSpPr>
          <p:cNvPr id="2" name="Group 76"/>
          <p:cNvGrpSpPr/>
          <p:nvPr/>
        </p:nvGrpSpPr>
        <p:grpSpPr>
          <a:xfrm>
            <a:off x="934497" y="3547061"/>
            <a:ext cx="1227572" cy="3167471"/>
            <a:chOff x="934497" y="3547061"/>
            <a:chExt cx="1227572" cy="3167471"/>
          </a:xfrm>
        </p:grpSpPr>
        <p:sp>
          <p:nvSpPr>
            <p:cNvPr id="19" name="Oval 18"/>
            <p:cNvSpPr/>
            <p:nvPr/>
          </p:nvSpPr>
          <p:spPr>
            <a:xfrm>
              <a:off x="934497" y="5627071"/>
              <a:ext cx="1225899" cy="67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936170" y="3900429"/>
              <a:ext cx="1225899" cy="67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flipH="1">
              <a:off x="1527351" y="3657594"/>
              <a:ext cx="10047" cy="2306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4" name="Isosceles Triangle 23"/>
            <p:cNvSpPr/>
            <p:nvPr/>
          </p:nvSpPr>
          <p:spPr>
            <a:xfrm rot="473557">
              <a:off x="1346479" y="3547061"/>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41"/>
            <p:cNvGrpSpPr/>
            <p:nvPr/>
          </p:nvGrpSpPr>
          <p:grpSpPr>
            <a:xfrm>
              <a:off x="1114026" y="5657222"/>
              <a:ext cx="1046370" cy="544495"/>
              <a:chOff x="1114026" y="5657222"/>
              <a:chExt cx="1046370" cy="544495"/>
            </a:xfrm>
          </p:grpSpPr>
          <p:cxnSp>
            <p:nvCxnSpPr>
              <p:cNvPr id="26" name="Straight Connector 25"/>
              <p:cNvCxnSpPr>
                <a:endCxn id="19" idx="6"/>
              </p:cNvCxnSpPr>
              <p:nvPr/>
            </p:nvCxnSpPr>
            <p:spPr>
              <a:xfrm>
                <a:off x="1537398" y="5938576"/>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286189" y="5657222"/>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19" idx="3"/>
              </p:cNvCxnSpPr>
              <p:nvPr/>
            </p:nvCxnSpPr>
            <p:spPr>
              <a:xfrm flipH="1">
                <a:off x="1114026" y="593857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1949449" y="590838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308057" y="5699058"/>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1179113" y="607251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42"/>
            <p:cNvGrpSpPr/>
            <p:nvPr/>
          </p:nvGrpSpPr>
          <p:grpSpPr>
            <a:xfrm>
              <a:off x="1105652" y="3950677"/>
              <a:ext cx="1046370" cy="544495"/>
              <a:chOff x="1114026" y="5657222"/>
              <a:chExt cx="1046370" cy="544495"/>
            </a:xfrm>
          </p:grpSpPr>
          <p:cxnSp>
            <p:nvCxnSpPr>
              <p:cNvPr id="44" name="Straight Connector 43"/>
              <p:cNvCxnSpPr/>
              <p:nvPr/>
            </p:nvCxnSpPr>
            <p:spPr>
              <a:xfrm>
                <a:off x="1537398" y="5938576"/>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286189" y="5657222"/>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1114026" y="593857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1949449" y="590838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1308057" y="5699058"/>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1179113" y="607251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1" name="Straight Connector 50"/>
            <p:cNvCxnSpPr/>
            <p:nvPr/>
          </p:nvCxnSpPr>
          <p:spPr>
            <a:xfrm flipV="1">
              <a:off x="1718268" y="4250453"/>
              <a:ext cx="0" cy="1678075"/>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1679621" y="4785808"/>
              <a:ext cx="338554" cy="461665"/>
            </a:xfrm>
            <a:prstGeom prst="rect">
              <a:avLst/>
            </a:prstGeom>
          </p:spPr>
          <p:txBody>
            <a:bodyPr wrap="none">
              <a:spAutoFit/>
            </a:bodyPr>
            <a:lstStyle/>
            <a:p>
              <a:r>
                <a:rPr lang="en-US" b="1" dirty="0" smtClean="0">
                  <a:solidFill>
                    <a:srgbClr val="FF0000"/>
                  </a:solidFill>
                </a:rPr>
                <a:t>a</a:t>
              </a:r>
              <a:endParaRPr lang="en-US" dirty="0"/>
            </a:p>
          </p:txBody>
        </p:sp>
        <p:sp>
          <p:nvSpPr>
            <p:cNvPr id="56" name="Rectangle 55"/>
            <p:cNvSpPr/>
            <p:nvPr/>
          </p:nvSpPr>
          <p:spPr>
            <a:xfrm>
              <a:off x="1368121" y="6252867"/>
              <a:ext cx="338554" cy="461665"/>
            </a:xfrm>
            <a:prstGeom prst="rect">
              <a:avLst/>
            </a:prstGeom>
          </p:spPr>
          <p:txBody>
            <a:bodyPr wrap="none">
              <a:spAutoFit/>
            </a:bodyPr>
            <a:lstStyle/>
            <a:p>
              <a:r>
                <a:rPr lang="en-US" b="1" dirty="0" smtClean="0">
                  <a:solidFill>
                    <a:srgbClr val="FF0000"/>
                  </a:solidFill>
                </a:rPr>
                <a:t>3</a:t>
              </a:r>
              <a:endParaRPr lang="en-US" dirty="0"/>
            </a:p>
          </p:txBody>
        </p:sp>
      </p:grpSp>
      <p:grpSp>
        <p:nvGrpSpPr>
          <p:cNvPr id="5" name="Group 160"/>
          <p:cNvGrpSpPr/>
          <p:nvPr/>
        </p:nvGrpSpPr>
        <p:grpSpPr>
          <a:xfrm>
            <a:off x="3167930" y="3518040"/>
            <a:ext cx="1390530" cy="3219380"/>
            <a:chOff x="3167930" y="3518040"/>
            <a:chExt cx="1390530" cy="3219380"/>
          </a:xfrm>
        </p:grpSpPr>
        <p:cxnSp>
          <p:nvCxnSpPr>
            <p:cNvPr id="81" name="Straight Connector 80"/>
            <p:cNvCxnSpPr/>
            <p:nvPr/>
          </p:nvCxnSpPr>
          <p:spPr>
            <a:xfrm flipH="1">
              <a:off x="3850195" y="3801062"/>
              <a:ext cx="10047" cy="2306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82" name="Isosceles Triangle 81"/>
            <p:cNvSpPr/>
            <p:nvPr/>
          </p:nvSpPr>
          <p:spPr>
            <a:xfrm rot="473557">
              <a:off x="3669323" y="3690529"/>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p:cNvCxnSpPr/>
            <p:nvPr/>
          </p:nvCxnSpPr>
          <p:spPr>
            <a:xfrm>
              <a:off x="3860242" y="6082044"/>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97" name="Oval 96"/>
            <p:cNvSpPr/>
            <p:nvPr/>
          </p:nvSpPr>
          <p:spPr>
            <a:xfrm>
              <a:off x="4272293" y="605185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p:cNvCxnSpPr/>
            <p:nvPr/>
          </p:nvCxnSpPr>
          <p:spPr>
            <a:xfrm>
              <a:off x="3851868" y="4375499"/>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91" name="Oval 90"/>
            <p:cNvSpPr/>
            <p:nvPr/>
          </p:nvSpPr>
          <p:spPr>
            <a:xfrm>
              <a:off x="4263919" y="4345309"/>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a:off x="3711061" y="6275755"/>
              <a:ext cx="441146" cy="461665"/>
            </a:xfrm>
            <a:prstGeom prst="rect">
              <a:avLst/>
            </a:prstGeom>
          </p:spPr>
          <p:txBody>
            <a:bodyPr wrap="none">
              <a:spAutoFit/>
            </a:bodyPr>
            <a:lstStyle/>
            <a:p>
              <a:r>
                <a:rPr lang="en-US" b="1" dirty="0" smtClean="0">
                  <a:solidFill>
                    <a:srgbClr val="FF0000"/>
                  </a:solidFill>
                </a:rPr>
                <a:t>3</a:t>
              </a:r>
              <a:r>
                <a:rPr lang="en-US" b="1" baseline="-25000" dirty="0" smtClean="0">
                  <a:solidFill>
                    <a:srgbClr val="FF0000"/>
                  </a:solidFill>
                </a:rPr>
                <a:t>1</a:t>
              </a:r>
              <a:endParaRPr lang="en-US" dirty="0"/>
            </a:p>
          </p:txBody>
        </p:sp>
        <p:cxnSp>
          <p:nvCxnSpPr>
            <p:cNvPr id="102" name="Straight Connector 101"/>
            <p:cNvCxnSpPr/>
            <p:nvPr/>
          </p:nvCxnSpPr>
          <p:spPr>
            <a:xfrm flipH="1">
              <a:off x="3496827" y="3668764"/>
              <a:ext cx="361739" cy="28135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82" idx="2"/>
            </p:cNvCxnSpPr>
            <p:nvPr/>
          </p:nvCxnSpPr>
          <p:spPr>
            <a:xfrm>
              <a:off x="3657976" y="3855017"/>
              <a:ext cx="582429" cy="6495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endCxn id="82" idx="4"/>
            </p:cNvCxnSpPr>
            <p:nvPr/>
          </p:nvCxnSpPr>
          <p:spPr>
            <a:xfrm>
              <a:off x="3758084" y="3518040"/>
              <a:ext cx="268159" cy="38803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3622431" y="5221235"/>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28" name="Oval 127"/>
            <p:cNvSpPr/>
            <p:nvPr/>
          </p:nvSpPr>
          <p:spPr>
            <a:xfrm>
              <a:off x="3644299" y="5263071"/>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9" name="Straight Connector 128"/>
            <p:cNvCxnSpPr/>
            <p:nvPr/>
          </p:nvCxnSpPr>
          <p:spPr>
            <a:xfrm flipH="1">
              <a:off x="3460316" y="490973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30" name="Oval 129"/>
            <p:cNvSpPr/>
            <p:nvPr/>
          </p:nvSpPr>
          <p:spPr>
            <a:xfrm>
              <a:off x="3525403" y="504367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 name="Straight Connector 130"/>
            <p:cNvCxnSpPr/>
            <p:nvPr/>
          </p:nvCxnSpPr>
          <p:spPr>
            <a:xfrm flipV="1">
              <a:off x="3758084" y="5531617"/>
              <a:ext cx="1674" cy="547634"/>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3167930" y="5609772"/>
              <a:ext cx="595035" cy="369332"/>
            </a:xfrm>
            <a:prstGeom prst="rect">
              <a:avLst/>
            </a:prstGeom>
          </p:spPr>
          <p:txBody>
            <a:bodyPr wrap="none">
              <a:spAutoFit/>
            </a:bodyPr>
            <a:lstStyle/>
            <a:p>
              <a:r>
                <a:rPr lang="en-US" sz="1800" b="1" dirty="0" smtClean="0">
                  <a:solidFill>
                    <a:srgbClr val="FF0000"/>
                  </a:solidFill>
                </a:rPr>
                <a:t>1/3a</a:t>
              </a:r>
              <a:endParaRPr lang="en-US" sz="1800" dirty="0"/>
            </a:p>
          </p:txBody>
        </p:sp>
        <p:sp>
          <p:nvSpPr>
            <p:cNvPr id="134" name="Rectangle 133"/>
            <p:cNvSpPr/>
            <p:nvPr/>
          </p:nvSpPr>
          <p:spPr>
            <a:xfrm>
              <a:off x="3963425" y="5330093"/>
              <a:ext cx="595035" cy="369332"/>
            </a:xfrm>
            <a:prstGeom prst="rect">
              <a:avLst/>
            </a:prstGeom>
          </p:spPr>
          <p:txBody>
            <a:bodyPr wrap="none">
              <a:spAutoFit/>
            </a:bodyPr>
            <a:lstStyle/>
            <a:p>
              <a:r>
                <a:rPr lang="en-US" sz="1800" b="1" dirty="0" smtClean="0">
                  <a:solidFill>
                    <a:srgbClr val="FF0000"/>
                  </a:solidFill>
                </a:rPr>
                <a:t>2/3a</a:t>
              </a:r>
              <a:endParaRPr lang="en-US" sz="1800" dirty="0"/>
            </a:p>
          </p:txBody>
        </p:sp>
        <p:cxnSp>
          <p:nvCxnSpPr>
            <p:cNvPr id="135" name="Straight Connector 134"/>
            <p:cNvCxnSpPr/>
            <p:nvPr/>
          </p:nvCxnSpPr>
          <p:spPr>
            <a:xfrm flipV="1">
              <a:off x="3920532" y="4913644"/>
              <a:ext cx="8373" cy="1127088"/>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sp>
          <p:nvSpPr>
            <p:cNvPr id="137" name="Rectangle 136"/>
            <p:cNvSpPr/>
            <p:nvPr/>
          </p:nvSpPr>
          <p:spPr>
            <a:xfrm>
              <a:off x="3191376" y="4427416"/>
              <a:ext cx="595035" cy="369332"/>
            </a:xfrm>
            <a:prstGeom prst="rect">
              <a:avLst/>
            </a:prstGeom>
          </p:spPr>
          <p:txBody>
            <a:bodyPr wrap="none">
              <a:spAutoFit/>
            </a:bodyPr>
            <a:lstStyle/>
            <a:p>
              <a:r>
                <a:rPr lang="en-US" sz="1800" b="1" dirty="0" smtClean="0">
                  <a:solidFill>
                    <a:srgbClr val="FF0000"/>
                  </a:solidFill>
                </a:rPr>
                <a:t>3/3a</a:t>
              </a:r>
              <a:endParaRPr lang="en-US" sz="1800" dirty="0"/>
            </a:p>
          </p:txBody>
        </p:sp>
        <p:cxnSp>
          <p:nvCxnSpPr>
            <p:cNvPr id="138" name="Straight Connector 137"/>
            <p:cNvCxnSpPr/>
            <p:nvPr/>
          </p:nvCxnSpPr>
          <p:spPr>
            <a:xfrm flipV="1">
              <a:off x="4022690" y="4391130"/>
              <a:ext cx="6699" cy="1661325"/>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6"/>
          <p:cNvSpPr txBox="1">
            <a:spLocks noChangeArrowheads="1"/>
          </p:cNvSpPr>
          <p:nvPr/>
        </p:nvSpPr>
        <p:spPr>
          <a:xfrm>
            <a:off x="1609577" y="362901"/>
            <a:ext cx="4198370" cy="632138"/>
          </a:xfrm>
          <a:prstGeom prst="rect">
            <a:avLst/>
          </a:prstGeom>
        </p:spPr>
        <p:txBody>
          <a:bodyPr/>
          <a:lstStyle/>
          <a:p>
            <a:pPr lvl="0" eaLnBrk="1" hangingPunct="1">
              <a:tabLst>
                <a:tab pos="3486150" algn="l"/>
              </a:tabLst>
            </a:pPr>
            <a:r>
              <a:rPr lang="en-US" b="1" dirty="0" smtClean="0">
                <a:solidFill>
                  <a:srgbClr val="0070C0"/>
                </a:solidFill>
                <a:effectLst>
                  <a:outerShdw blurRad="53975" dist="22860" dir="5400000" algn="tl" rotWithShape="0">
                    <a:srgbClr val="000000">
                      <a:alpha val="55000"/>
                    </a:srgbClr>
                  </a:outerShdw>
                </a:effectLst>
                <a:latin typeface="+mn-lt"/>
              </a:rPr>
              <a:t>Three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
        <p:nvSpPr>
          <p:cNvPr id="18" name="Rectangle 2"/>
          <p:cNvSpPr>
            <a:spLocks noChangeArrowheads="1"/>
          </p:cNvSpPr>
          <p:nvPr/>
        </p:nvSpPr>
        <p:spPr bwMode="auto">
          <a:xfrm>
            <a:off x="0" y="805890"/>
            <a:ext cx="9003324" cy="261610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lvl="0" indent="-457200" algn="just">
              <a:spcBef>
                <a:spcPts val="600"/>
              </a:spcBef>
              <a:spcAft>
                <a:spcPts val="600"/>
              </a:spcAft>
              <a:buFont typeface="Wingdings" pitchFamily="2" charset="2"/>
              <a:buChar char="v"/>
            </a:pPr>
            <a:r>
              <a:rPr kumimoji="0" lang="en-US" sz="1800" b="1" i="0" u="none" strike="noStrike" cap="none" normalizeH="0" baseline="0" dirty="0" smtClean="0">
                <a:ln>
                  <a:noFill/>
                </a:ln>
                <a:solidFill>
                  <a:srgbClr val="002060"/>
                </a:solidFill>
                <a:effectLst/>
                <a:latin typeface="Times New Roman" pitchFamily="18" charset="0"/>
              </a:rPr>
              <a:t>Similarly, a </a:t>
            </a:r>
            <a:r>
              <a:rPr lang="en-US" sz="1800" b="1" dirty="0" smtClean="0">
                <a:solidFill>
                  <a:srgbClr val="FF0000"/>
                </a:solidFill>
              </a:rPr>
              <a:t>3</a:t>
            </a:r>
            <a:r>
              <a:rPr lang="en-US" sz="1800" b="1" baseline="-25000" dirty="0" smtClean="0">
                <a:solidFill>
                  <a:srgbClr val="FF0000"/>
                </a:solidFill>
              </a:rPr>
              <a:t>2 </a:t>
            </a:r>
            <a:r>
              <a:rPr kumimoji="0" lang="en-US" sz="1800" b="1" i="0" u="none" strike="noStrike" cap="none" normalizeH="0" baseline="0" dirty="0" smtClean="0">
                <a:ln>
                  <a:noFill/>
                </a:ln>
                <a:solidFill>
                  <a:srgbClr val="002060"/>
                </a:solidFill>
                <a:effectLst/>
                <a:latin typeface="Times New Roman" pitchFamily="18" charset="0"/>
              </a:rPr>
              <a:t>operation means an anticlockwise rotation of </a:t>
            </a:r>
            <a:r>
              <a:rPr lang="en-US" sz="1800" b="1" dirty="0" smtClean="0">
                <a:solidFill>
                  <a:srgbClr val="FF0000"/>
                </a:solidFill>
              </a:rPr>
              <a:t>120º </a:t>
            </a:r>
            <a:r>
              <a:rPr lang="en-US" sz="1800" b="1" dirty="0" smtClean="0">
                <a:solidFill>
                  <a:srgbClr val="002060"/>
                </a:solidFill>
              </a:rPr>
              <a:t>followed by a translation of </a:t>
            </a:r>
            <a:r>
              <a:rPr lang="en-US" sz="1800" b="1" dirty="0" smtClean="0">
                <a:solidFill>
                  <a:srgbClr val="FF0000"/>
                </a:solidFill>
              </a:rPr>
              <a:t>2/3 </a:t>
            </a:r>
            <a:r>
              <a:rPr lang="en-US" sz="1800" b="1" dirty="0" smtClean="0">
                <a:solidFill>
                  <a:srgbClr val="002060"/>
                </a:solidFill>
              </a:rPr>
              <a:t>times the repeat period in the direction of the axis.</a:t>
            </a:r>
          </a:p>
          <a:p>
            <a:pPr marL="457200" lvl="0" indent="-457200" algn="just">
              <a:spcBef>
                <a:spcPts val="600"/>
              </a:spcBef>
              <a:spcAft>
                <a:spcPts val="600"/>
              </a:spcAft>
              <a:buFont typeface="Wingdings" pitchFamily="2" charset="2"/>
              <a:buChar char="v"/>
            </a:pPr>
            <a:r>
              <a:rPr lang="en-US" sz="1800" b="1" dirty="0" smtClean="0">
                <a:solidFill>
                  <a:srgbClr val="002060"/>
                </a:solidFill>
              </a:rPr>
              <a:t>One further operation of </a:t>
            </a:r>
            <a:r>
              <a:rPr lang="en-US" sz="1800" b="1" dirty="0" smtClean="0">
                <a:solidFill>
                  <a:srgbClr val="FF0000"/>
                </a:solidFill>
              </a:rPr>
              <a:t>3</a:t>
            </a:r>
            <a:r>
              <a:rPr lang="en-US" sz="1800" b="1" baseline="-25000" dirty="0" smtClean="0">
                <a:solidFill>
                  <a:srgbClr val="FF0000"/>
                </a:solidFill>
              </a:rPr>
              <a:t>2</a:t>
            </a:r>
            <a:r>
              <a:rPr lang="en-US" sz="1800" b="1" dirty="0" smtClean="0">
                <a:solidFill>
                  <a:srgbClr val="002060"/>
                </a:solidFill>
              </a:rPr>
              <a:t> means a total anticlockwise rotation of </a:t>
            </a:r>
            <a:r>
              <a:rPr lang="en-US" sz="1800" b="1" dirty="0" smtClean="0">
                <a:solidFill>
                  <a:srgbClr val="FF0000"/>
                </a:solidFill>
              </a:rPr>
              <a:t>240º </a:t>
            </a:r>
            <a:r>
              <a:rPr lang="en-US" sz="1800" b="1" dirty="0" smtClean="0">
                <a:solidFill>
                  <a:srgbClr val="002060"/>
                </a:solidFill>
              </a:rPr>
              <a:t>and net translation of </a:t>
            </a:r>
            <a:r>
              <a:rPr lang="en-US" sz="1800" b="1" dirty="0" smtClean="0">
                <a:solidFill>
                  <a:srgbClr val="FF0000"/>
                </a:solidFill>
              </a:rPr>
              <a:t>4/3 </a:t>
            </a:r>
            <a:r>
              <a:rPr lang="en-US" sz="1800" b="1" dirty="0" smtClean="0">
                <a:solidFill>
                  <a:srgbClr val="002060"/>
                </a:solidFill>
              </a:rPr>
              <a:t>times the repeat period. The translation of </a:t>
            </a:r>
            <a:r>
              <a:rPr lang="en-US" sz="1800" b="1" dirty="0" smtClean="0">
                <a:solidFill>
                  <a:srgbClr val="FF0000"/>
                </a:solidFill>
              </a:rPr>
              <a:t>4/3 </a:t>
            </a:r>
            <a:r>
              <a:rPr lang="en-US" sz="1800" b="1" dirty="0" smtClean="0">
                <a:solidFill>
                  <a:srgbClr val="002060"/>
                </a:solidFill>
              </a:rPr>
              <a:t>is equivalent to </a:t>
            </a:r>
            <a:r>
              <a:rPr lang="en-US" sz="1800" b="1" dirty="0" smtClean="0">
                <a:solidFill>
                  <a:srgbClr val="FF0000"/>
                </a:solidFill>
              </a:rPr>
              <a:t>1/3 </a:t>
            </a:r>
            <a:r>
              <a:rPr lang="en-US" sz="1800" b="1" dirty="0" smtClean="0">
                <a:solidFill>
                  <a:srgbClr val="002060"/>
                </a:solidFill>
              </a:rPr>
              <a:t>as  they differ by one repeat period in the same direction and therefore is equivalent owing to lattice periodicity.</a:t>
            </a:r>
            <a:r>
              <a:rPr lang="en-US" sz="1800" b="1" dirty="0" smtClean="0">
                <a:solidFill>
                  <a:srgbClr val="FF0000"/>
                </a:solidFill>
              </a:rPr>
              <a:t> </a:t>
            </a:r>
          </a:p>
          <a:p>
            <a:pPr marL="457200" lvl="0" indent="-457200" algn="just">
              <a:spcBef>
                <a:spcPts val="600"/>
              </a:spcBef>
              <a:spcAft>
                <a:spcPts val="600"/>
              </a:spcAft>
              <a:buFont typeface="Wingdings" pitchFamily="2" charset="2"/>
              <a:buChar char="v"/>
            </a:pPr>
            <a:r>
              <a:rPr lang="en-US" sz="1800" b="1" dirty="0" smtClean="0">
                <a:solidFill>
                  <a:srgbClr val="002060"/>
                </a:solidFill>
              </a:rPr>
              <a:t>The clockwise rotation of </a:t>
            </a:r>
            <a:r>
              <a:rPr lang="en-US" sz="1800" b="1" dirty="0" smtClean="0">
                <a:solidFill>
                  <a:srgbClr val="FF0000"/>
                </a:solidFill>
              </a:rPr>
              <a:t>120º </a:t>
            </a:r>
            <a:r>
              <a:rPr lang="en-US" sz="1800" b="1" dirty="0" smtClean="0">
                <a:solidFill>
                  <a:srgbClr val="002060"/>
                </a:solidFill>
              </a:rPr>
              <a:t>and the translation of </a:t>
            </a:r>
            <a:r>
              <a:rPr lang="en-US" sz="1800" b="1" dirty="0" smtClean="0">
                <a:solidFill>
                  <a:srgbClr val="FF0000"/>
                </a:solidFill>
              </a:rPr>
              <a:t>1/3</a:t>
            </a:r>
            <a:r>
              <a:rPr lang="en-US" sz="1800" b="1" dirty="0" smtClean="0">
                <a:solidFill>
                  <a:srgbClr val="002060"/>
                </a:solidFill>
              </a:rPr>
              <a:t> gives the same arrangement as that obtained by anticlockwise rotation of </a:t>
            </a:r>
            <a:r>
              <a:rPr lang="en-US" sz="1800" b="1" dirty="0" smtClean="0">
                <a:solidFill>
                  <a:srgbClr val="FF0000"/>
                </a:solidFill>
              </a:rPr>
              <a:t>120º </a:t>
            </a:r>
            <a:r>
              <a:rPr lang="en-US" sz="1800" b="1" dirty="0" smtClean="0">
                <a:solidFill>
                  <a:srgbClr val="002060"/>
                </a:solidFill>
              </a:rPr>
              <a:t>and t</a:t>
            </a:r>
            <a:r>
              <a:rPr kumimoji="0" lang="en-US" sz="1800" b="1" i="0" u="none" strike="noStrike" cap="none" normalizeH="0" baseline="0" dirty="0" smtClean="0">
                <a:ln>
                  <a:noFill/>
                </a:ln>
                <a:solidFill>
                  <a:srgbClr val="002060"/>
                </a:solidFill>
                <a:effectLst/>
                <a:latin typeface="Times New Roman" pitchFamily="18" charset="0"/>
              </a:rPr>
              <a:t>ranslation</a:t>
            </a:r>
            <a:r>
              <a:rPr kumimoji="0" lang="en-US" sz="1800" b="1" i="0" u="none" strike="noStrike" cap="none" normalizeH="0" dirty="0" smtClean="0">
                <a:ln>
                  <a:noFill/>
                </a:ln>
                <a:solidFill>
                  <a:srgbClr val="002060"/>
                </a:solidFill>
                <a:effectLst/>
                <a:latin typeface="Times New Roman" pitchFamily="18" charset="0"/>
              </a:rPr>
              <a:t> of </a:t>
            </a:r>
            <a:r>
              <a:rPr kumimoji="0" lang="en-US" sz="1800" b="1" i="0" u="none" strike="noStrike" cap="none" normalizeH="0" baseline="0" dirty="0" smtClean="0">
                <a:ln>
                  <a:noFill/>
                </a:ln>
                <a:solidFill>
                  <a:srgbClr val="FF0000"/>
                </a:solidFill>
                <a:effectLst/>
                <a:latin typeface="Times New Roman" pitchFamily="18" charset="0"/>
              </a:rPr>
              <a:t>2/3</a:t>
            </a:r>
            <a:r>
              <a:rPr kumimoji="0" lang="en-US" sz="1800" b="1" i="0" u="none" strike="noStrike" cap="none" normalizeH="0" baseline="0" dirty="0" smtClean="0">
                <a:ln>
                  <a:noFill/>
                </a:ln>
                <a:solidFill>
                  <a:srgbClr val="002060"/>
                </a:solidFill>
                <a:effectLst/>
                <a:latin typeface="Times New Roman" pitchFamily="18" charset="0"/>
              </a:rPr>
              <a:t>.</a:t>
            </a:r>
            <a:r>
              <a:rPr kumimoji="0" lang="en-US" sz="1800" b="1" i="0" u="none" strike="noStrike" cap="none" normalizeH="0" baseline="0" dirty="0" smtClean="0">
                <a:ln>
                  <a:noFill/>
                </a:ln>
                <a:solidFill>
                  <a:srgbClr val="FF0000"/>
                </a:solidFill>
                <a:effectLst/>
                <a:latin typeface="Times New Roman" pitchFamily="18" charset="0"/>
              </a:rPr>
              <a:t> </a:t>
            </a:r>
          </a:p>
        </p:txBody>
      </p:sp>
      <p:grpSp>
        <p:nvGrpSpPr>
          <p:cNvPr id="2" name="Group 76"/>
          <p:cNvGrpSpPr/>
          <p:nvPr/>
        </p:nvGrpSpPr>
        <p:grpSpPr>
          <a:xfrm>
            <a:off x="934497" y="3547061"/>
            <a:ext cx="1227572" cy="3167471"/>
            <a:chOff x="934497" y="3547061"/>
            <a:chExt cx="1227572" cy="3167471"/>
          </a:xfrm>
        </p:grpSpPr>
        <p:sp>
          <p:nvSpPr>
            <p:cNvPr id="19" name="Oval 18"/>
            <p:cNvSpPr/>
            <p:nvPr/>
          </p:nvSpPr>
          <p:spPr>
            <a:xfrm>
              <a:off x="934497" y="5627071"/>
              <a:ext cx="1225899" cy="67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936170" y="3900429"/>
              <a:ext cx="1225899" cy="67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flipH="1">
              <a:off x="1527351" y="3657594"/>
              <a:ext cx="10047" cy="2306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4" name="Isosceles Triangle 23"/>
            <p:cNvSpPr/>
            <p:nvPr/>
          </p:nvSpPr>
          <p:spPr>
            <a:xfrm rot="473557">
              <a:off x="1346479" y="3547061"/>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41"/>
            <p:cNvGrpSpPr/>
            <p:nvPr/>
          </p:nvGrpSpPr>
          <p:grpSpPr>
            <a:xfrm>
              <a:off x="1114026" y="5657222"/>
              <a:ext cx="1046370" cy="544495"/>
              <a:chOff x="1114026" y="5657222"/>
              <a:chExt cx="1046370" cy="544495"/>
            </a:xfrm>
          </p:grpSpPr>
          <p:cxnSp>
            <p:nvCxnSpPr>
              <p:cNvPr id="26" name="Straight Connector 25"/>
              <p:cNvCxnSpPr>
                <a:endCxn id="19" idx="6"/>
              </p:cNvCxnSpPr>
              <p:nvPr/>
            </p:nvCxnSpPr>
            <p:spPr>
              <a:xfrm>
                <a:off x="1537398" y="5938576"/>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286189" y="5657222"/>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19" idx="3"/>
              </p:cNvCxnSpPr>
              <p:nvPr/>
            </p:nvCxnSpPr>
            <p:spPr>
              <a:xfrm flipH="1">
                <a:off x="1114026" y="593857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1949449" y="590838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308057" y="5699058"/>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1179113" y="607251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42"/>
            <p:cNvGrpSpPr/>
            <p:nvPr/>
          </p:nvGrpSpPr>
          <p:grpSpPr>
            <a:xfrm>
              <a:off x="1105652" y="3950677"/>
              <a:ext cx="1046370" cy="544495"/>
              <a:chOff x="1114026" y="5657222"/>
              <a:chExt cx="1046370" cy="544495"/>
            </a:xfrm>
          </p:grpSpPr>
          <p:cxnSp>
            <p:nvCxnSpPr>
              <p:cNvPr id="44" name="Straight Connector 43"/>
              <p:cNvCxnSpPr/>
              <p:nvPr/>
            </p:nvCxnSpPr>
            <p:spPr>
              <a:xfrm>
                <a:off x="1537398" y="5938576"/>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286189" y="5657222"/>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1114026" y="593857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1949449" y="590838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1308057" y="5699058"/>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1179113" y="607251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1" name="Straight Connector 50"/>
            <p:cNvCxnSpPr/>
            <p:nvPr/>
          </p:nvCxnSpPr>
          <p:spPr>
            <a:xfrm flipV="1">
              <a:off x="1718268" y="4250453"/>
              <a:ext cx="0" cy="1678075"/>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1679621" y="4785808"/>
              <a:ext cx="338554" cy="461665"/>
            </a:xfrm>
            <a:prstGeom prst="rect">
              <a:avLst/>
            </a:prstGeom>
          </p:spPr>
          <p:txBody>
            <a:bodyPr wrap="none">
              <a:spAutoFit/>
            </a:bodyPr>
            <a:lstStyle/>
            <a:p>
              <a:r>
                <a:rPr lang="en-US" b="1" dirty="0" smtClean="0">
                  <a:solidFill>
                    <a:srgbClr val="FF0000"/>
                  </a:solidFill>
                </a:rPr>
                <a:t>a</a:t>
              </a:r>
              <a:endParaRPr lang="en-US" dirty="0"/>
            </a:p>
          </p:txBody>
        </p:sp>
        <p:sp>
          <p:nvSpPr>
            <p:cNvPr id="56" name="Rectangle 55"/>
            <p:cNvSpPr/>
            <p:nvPr/>
          </p:nvSpPr>
          <p:spPr>
            <a:xfrm>
              <a:off x="1368121" y="6252867"/>
              <a:ext cx="338554" cy="461665"/>
            </a:xfrm>
            <a:prstGeom prst="rect">
              <a:avLst/>
            </a:prstGeom>
          </p:spPr>
          <p:txBody>
            <a:bodyPr wrap="none">
              <a:spAutoFit/>
            </a:bodyPr>
            <a:lstStyle/>
            <a:p>
              <a:r>
                <a:rPr lang="en-US" b="1" dirty="0" smtClean="0">
                  <a:solidFill>
                    <a:srgbClr val="FF0000"/>
                  </a:solidFill>
                </a:rPr>
                <a:t>3</a:t>
              </a:r>
              <a:endParaRPr lang="en-US" dirty="0"/>
            </a:p>
          </p:txBody>
        </p:sp>
      </p:grpSp>
      <p:grpSp>
        <p:nvGrpSpPr>
          <p:cNvPr id="5" name="Group 76"/>
          <p:cNvGrpSpPr/>
          <p:nvPr/>
        </p:nvGrpSpPr>
        <p:grpSpPr>
          <a:xfrm>
            <a:off x="2982036" y="3419234"/>
            <a:ext cx="1608244" cy="3169136"/>
            <a:chOff x="2982036" y="3419234"/>
            <a:chExt cx="1608244" cy="3169136"/>
          </a:xfrm>
        </p:grpSpPr>
        <p:cxnSp>
          <p:nvCxnSpPr>
            <p:cNvPr id="140" name="Straight Connector 139"/>
            <p:cNvCxnSpPr/>
            <p:nvPr/>
          </p:nvCxnSpPr>
          <p:spPr>
            <a:xfrm flipH="1">
              <a:off x="3882015" y="3652012"/>
              <a:ext cx="10047" cy="2306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41" name="Isosceles Triangle 140"/>
            <p:cNvSpPr/>
            <p:nvPr/>
          </p:nvSpPr>
          <p:spPr>
            <a:xfrm rot="473557">
              <a:off x="3701143" y="3541479"/>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Connector 141"/>
            <p:cNvCxnSpPr/>
            <p:nvPr/>
          </p:nvCxnSpPr>
          <p:spPr>
            <a:xfrm>
              <a:off x="3892062" y="5932994"/>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43" name="Oval 142"/>
            <p:cNvSpPr/>
            <p:nvPr/>
          </p:nvSpPr>
          <p:spPr>
            <a:xfrm>
              <a:off x="4304113" y="590280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Connector 143"/>
            <p:cNvCxnSpPr/>
            <p:nvPr/>
          </p:nvCxnSpPr>
          <p:spPr>
            <a:xfrm>
              <a:off x="3883688" y="4226449"/>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45" name="Oval 144"/>
            <p:cNvSpPr/>
            <p:nvPr/>
          </p:nvSpPr>
          <p:spPr>
            <a:xfrm>
              <a:off x="4295739" y="4196259"/>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p:cNvSpPr/>
            <p:nvPr/>
          </p:nvSpPr>
          <p:spPr>
            <a:xfrm>
              <a:off x="3742881" y="6126705"/>
              <a:ext cx="441146" cy="461665"/>
            </a:xfrm>
            <a:prstGeom prst="rect">
              <a:avLst/>
            </a:prstGeom>
          </p:spPr>
          <p:txBody>
            <a:bodyPr wrap="none">
              <a:spAutoFit/>
            </a:bodyPr>
            <a:lstStyle/>
            <a:p>
              <a:r>
                <a:rPr lang="en-US" b="1" dirty="0" smtClean="0">
                  <a:solidFill>
                    <a:srgbClr val="FF0000"/>
                  </a:solidFill>
                </a:rPr>
                <a:t>3</a:t>
              </a:r>
              <a:r>
                <a:rPr lang="en-US" b="1" baseline="-25000" dirty="0" smtClean="0">
                  <a:solidFill>
                    <a:srgbClr val="FF0000"/>
                  </a:solidFill>
                </a:rPr>
                <a:t>2</a:t>
              </a:r>
              <a:endParaRPr lang="en-US" dirty="0"/>
            </a:p>
          </p:txBody>
        </p:sp>
        <p:cxnSp>
          <p:nvCxnSpPr>
            <p:cNvPr id="148" name="Straight Connector 147"/>
            <p:cNvCxnSpPr/>
            <p:nvPr/>
          </p:nvCxnSpPr>
          <p:spPr>
            <a:xfrm flipH="1">
              <a:off x="3659270" y="3419234"/>
              <a:ext cx="361739" cy="28135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a:off x="3468732" y="3685870"/>
              <a:ext cx="582429" cy="6495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a:off x="3900436" y="3519715"/>
              <a:ext cx="268159" cy="38803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3624106" y="4499429"/>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52" name="Oval 151"/>
            <p:cNvSpPr/>
            <p:nvPr/>
          </p:nvSpPr>
          <p:spPr>
            <a:xfrm>
              <a:off x="3645974" y="454126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Connector 152"/>
            <p:cNvCxnSpPr/>
            <p:nvPr/>
          </p:nvCxnSpPr>
          <p:spPr>
            <a:xfrm flipH="1">
              <a:off x="3472040" y="5353539"/>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54" name="Oval 153"/>
            <p:cNvSpPr/>
            <p:nvPr/>
          </p:nvSpPr>
          <p:spPr>
            <a:xfrm>
              <a:off x="3537127" y="548747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5" name="Straight Connector 154"/>
            <p:cNvCxnSpPr/>
            <p:nvPr/>
          </p:nvCxnSpPr>
          <p:spPr>
            <a:xfrm flipV="1">
              <a:off x="3789904" y="5382567"/>
              <a:ext cx="1674" cy="547634"/>
            </a:xfrm>
            <a:prstGeom prst="line">
              <a:avLst/>
            </a:prstGeom>
            <a:ln w="19050">
              <a:solidFill>
                <a:srgbClr val="7030A0"/>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56" name="Rectangle 155"/>
            <p:cNvSpPr/>
            <p:nvPr/>
          </p:nvSpPr>
          <p:spPr>
            <a:xfrm>
              <a:off x="3049025" y="5510964"/>
              <a:ext cx="595035" cy="369332"/>
            </a:xfrm>
            <a:prstGeom prst="rect">
              <a:avLst/>
            </a:prstGeom>
            <a:ln>
              <a:noFill/>
            </a:ln>
          </p:spPr>
          <p:txBody>
            <a:bodyPr wrap="none">
              <a:spAutoFit/>
            </a:bodyPr>
            <a:lstStyle/>
            <a:p>
              <a:r>
                <a:rPr lang="en-US" sz="1800" b="1" dirty="0" smtClean="0">
                  <a:solidFill>
                    <a:srgbClr val="7030A0"/>
                  </a:solidFill>
                </a:rPr>
                <a:t>1/3a</a:t>
              </a:r>
              <a:endParaRPr lang="en-US" sz="1800" dirty="0">
                <a:solidFill>
                  <a:srgbClr val="7030A0"/>
                </a:solidFill>
              </a:endParaRPr>
            </a:p>
          </p:txBody>
        </p:sp>
        <p:sp>
          <p:nvSpPr>
            <p:cNvPr id="157" name="Rectangle 156"/>
            <p:cNvSpPr/>
            <p:nvPr/>
          </p:nvSpPr>
          <p:spPr>
            <a:xfrm>
              <a:off x="3995245" y="5181043"/>
              <a:ext cx="595035" cy="369332"/>
            </a:xfrm>
            <a:prstGeom prst="rect">
              <a:avLst/>
            </a:prstGeom>
            <a:ln>
              <a:noFill/>
            </a:ln>
          </p:spPr>
          <p:txBody>
            <a:bodyPr wrap="none">
              <a:spAutoFit/>
            </a:bodyPr>
            <a:lstStyle/>
            <a:p>
              <a:r>
                <a:rPr lang="en-US" sz="1800" b="1" dirty="0" smtClean="0">
                  <a:solidFill>
                    <a:srgbClr val="002060"/>
                  </a:solidFill>
                </a:rPr>
                <a:t>2/3a</a:t>
              </a:r>
              <a:endParaRPr lang="en-US" sz="1800" dirty="0">
                <a:solidFill>
                  <a:srgbClr val="002060"/>
                </a:solidFill>
              </a:endParaRPr>
            </a:p>
          </p:txBody>
        </p:sp>
        <p:cxnSp>
          <p:nvCxnSpPr>
            <p:cNvPr id="158" name="Straight Connector 157"/>
            <p:cNvCxnSpPr/>
            <p:nvPr/>
          </p:nvCxnSpPr>
          <p:spPr>
            <a:xfrm flipV="1">
              <a:off x="3952352" y="4764594"/>
              <a:ext cx="8373" cy="1127088"/>
            </a:xfrm>
            <a:prstGeom prst="line">
              <a:avLst/>
            </a:prstGeom>
            <a:ln w="19050">
              <a:solidFill>
                <a:srgbClr val="002060"/>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59" name="Rectangle 158"/>
            <p:cNvSpPr/>
            <p:nvPr/>
          </p:nvSpPr>
          <p:spPr>
            <a:xfrm>
              <a:off x="2982036" y="4187931"/>
              <a:ext cx="595035" cy="369332"/>
            </a:xfrm>
            <a:prstGeom prst="rect">
              <a:avLst/>
            </a:prstGeom>
            <a:ln>
              <a:noFill/>
            </a:ln>
          </p:spPr>
          <p:txBody>
            <a:bodyPr wrap="none">
              <a:spAutoFit/>
            </a:bodyPr>
            <a:lstStyle/>
            <a:p>
              <a:r>
                <a:rPr lang="en-US" sz="1800" b="1" dirty="0" smtClean="0">
                  <a:solidFill>
                    <a:srgbClr val="FF0000"/>
                  </a:solidFill>
                </a:rPr>
                <a:t>3/3a</a:t>
              </a:r>
              <a:endParaRPr lang="en-US" sz="1800" dirty="0">
                <a:solidFill>
                  <a:srgbClr val="FF0000"/>
                </a:solidFill>
              </a:endParaRPr>
            </a:p>
          </p:txBody>
        </p:sp>
        <p:cxnSp>
          <p:nvCxnSpPr>
            <p:cNvPr id="160" name="Straight Connector 159"/>
            <p:cNvCxnSpPr/>
            <p:nvPr/>
          </p:nvCxnSpPr>
          <p:spPr>
            <a:xfrm flipV="1">
              <a:off x="4054510" y="4242080"/>
              <a:ext cx="6699" cy="1661325"/>
            </a:xfrm>
            <a:prstGeom prst="line">
              <a:avLst/>
            </a:prstGeom>
            <a:ln w="19050">
              <a:solidFill>
                <a:srgbClr val="FF0000"/>
              </a:solidFill>
              <a:headEnd type="stealth"/>
              <a:tailEnd type="stealt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txBox="1">
            <a:spLocks noChangeArrowheads="1"/>
          </p:cNvSpPr>
          <p:nvPr/>
        </p:nvSpPr>
        <p:spPr>
          <a:xfrm>
            <a:off x="1730157" y="523675"/>
            <a:ext cx="4198370" cy="632138"/>
          </a:xfrm>
          <a:prstGeom prst="rect">
            <a:avLst/>
          </a:prstGeom>
        </p:spPr>
        <p:txBody>
          <a:bodyPr/>
          <a:lstStyle/>
          <a:p>
            <a:pPr lvl="0" eaLnBrk="1" hangingPunct="1"/>
            <a:r>
              <a:rPr lang="en-US" b="1" dirty="0" smtClean="0">
                <a:solidFill>
                  <a:srgbClr val="0070C0"/>
                </a:solidFill>
                <a:effectLst>
                  <a:outerShdw blurRad="53975" dist="22860" dir="5400000" algn="tl" rotWithShape="0">
                    <a:srgbClr val="000000">
                      <a:alpha val="55000"/>
                    </a:srgbClr>
                  </a:outerShdw>
                </a:effectLst>
                <a:latin typeface="+mn-lt"/>
              </a:rPr>
              <a:t>Four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
        <p:nvSpPr>
          <p:cNvPr id="3" name="Rectangle 2"/>
          <p:cNvSpPr>
            <a:spLocks noChangeArrowheads="1"/>
          </p:cNvSpPr>
          <p:nvPr/>
        </p:nvSpPr>
        <p:spPr bwMode="auto">
          <a:xfrm>
            <a:off x="261256" y="1490518"/>
            <a:ext cx="8420519" cy="15081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lvl="0" indent="-457200" algn="just">
              <a:spcBef>
                <a:spcPts val="600"/>
              </a:spcBef>
              <a:spcAft>
                <a:spcPts val="600"/>
              </a:spcAft>
              <a:buFont typeface="Wingdings" pitchFamily="2" charset="2"/>
              <a:buChar char="v"/>
            </a:pPr>
            <a:r>
              <a:rPr kumimoji="0" lang="en-US" sz="1800" b="1" i="0" u="none" strike="noStrike" cap="none" normalizeH="0" baseline="0" dirty="0" smtClean="0">
                <a:ln>
                  <a:noFill/>
                </a:ln>
                <a:solidFill>
                  <a:srgbClr val="002060"/>
                </a:solidFill>
                <a:effectLst/>
                <a:latin typeface="Times New Roman" pitchFamily="18" charset="0"/>
              </a:rPr>
              <a:t>There are three types of four fold screw axes, viz</a:t>
            </a:r>
            <a:r>
              <a:rPr lang="en-US" sz="1800" b="1" dirty="0" smtClean="0">
                <a:solidFill>
                  <a:srgbClr val="002060"/>
                </a:solidFill>
              </a:rPr>
              <a:t>. </a:t>
            </a:r>
            <a:r>
              <a:rPr lang="en-US" sz="1800" b="1" dirty="0" smtClean="0">
                <a:solidFill>
                  <a:srgbClr val="FF0000"/>
                </a:solidFill>
              </a:rPr>
              <a:t>4</a:t>
            </a:r>
            <a:r>
              <a:rPr lang="en-US" sz="1800" b="1" baseline="-25000" dirty="0" smtClean="0">
                <a:solidFill>
                  <a:srgbClr val="FF0000"/>
                </a:solidFill>
              </a:rPr>
              <a:t>1</a:t>
            </a:r>
            <a:r>
              <a:rPr lang="en-US" sz="1800" b="1" dirty="0" smtClean="0">
                <a:solidFill>
                  <a:srgbClr val="002060"/>
                </a:solidFill>
              </a:rPr>
              <a:t> ,</a:t>
            </a:r>
            <a:r>
              <a:rPr lang="en-US" sz="1800" b="1" dirty="0" smtClean="0">
                <a:solidFill>
                  <a:srgbClr val="FF0000"/>
                </a:solidFill>
              </a:rPr>
              <a:t> 4</a:t>
            </a:r>
            <a:r>
              <a:rPr lang="en-US" sz="1800" b="1" baseline="-25000" dirty="0" smtClean="0">
                <a:solidFill>
                  <a:srgbClr val="FF0000"/>
                </a:solidFill>
              </a:rPr>
              <a:t>2</a:t>
            </a:r>
            <a:r>
              <a:rPr lang="en-US" sz="1800" b="1" dirty="0" smtClean="0">
                <a:solidFill>
                  <a:srgbClr val="FF0000"/>
                </a:solidFill>
              </a:rPr>
              <a:t> </a:t>
            </a:r>
            <a:r>
              <a:rPr lang="en-US" sz="1800" b="1" dirty="0" smtClean="0">
                <a:solidFill>
                  <a:srgbClr val="002060"/>
                </a:solidFill>
              </a:rPr>
              <a:t>and </a:t>
            </a:r>
            <a:r>
              <a:rPr lang="en-US" sz="1800" b="1" dirty="0" smtClean="0">
                <a:solidFill>
                  <a:srgbClr val="FF0000"/>
                </a:solidFill>
              </a:rPr>
              <a:t>4</a:t>
            </a:r>
            <a:r>
              <a:rPr lang="en-US" sz="1800" b="1" baseline="-25000" dirty="0" smtClean="0">
                <a:solidFill>
                  <a:srgbClr val="FF0000"/>
                </a:solidFill>
              </a:rPr>
              <a:t>3</a:t>
            </a:r>
            <a:r>
              <a:rPr lang="en-US" sz="1800" b="1" dirty="0" smtClean="0">
                <a:solidFill>
                  <a:srgbClr val="002060"/>
                </a:solidFill>
              </a:rPr>
              <a:t>. </a:t>
            </a:r>
          </a:p>
          <a:p>
            <a:pPr marL="457200" lvl="0" indent="-457200" algn="just">
              <a:spcBef>
                <a:spcPts val="600"/>
              </a:spcBef>
              <a:spcAft>
                <a:spcPts val="600"/>
              </a:spcAft>
              <a:buFont typeface="Wingdings" pitchFamily="2" charset="2"/>
              <a:buChar char="v"/>
            </a:pPr>
            <a:r>
              <a:rPr lang="en-US" sz="1800" b="1" dirty="0" smtClean="0">
                <a:solidFill>
                  <a:srgbClr val="002060"/>
                </a:solidFill>
              </a:rPr>
              <a:t>The screw axes </a:t>
            </a:r>
            <a:r>
              <a:rPr lang="en-US" sz="1800" b="1" dirty="0" smtClean="0">
                <a:solidFill>
                  <a:srgbClr val="FF0000"/>
                </a:solidFill>
              </a:rPr>
              <a:t>4</a:t>
            </a:r>
            <a:r>
              <a:rPr lang="en-US" sz="1800" b="1" baseline="-25000" dirty="0" smtClean="0">
                <a:solidFill>
                  <a:srgbClr val="FF0000"/>
                </a:solidFill>
              </a:rPr>
              <a:t>1</a:t>
            </a:r>
            <a:r>
              <a:rPr lang="en-US" sz="1800" b="1" dirty="0" smtClean="0">
                <a:solidFill>
                  <a:srgbClr val="002060"/>
                </a:solidFill>
              </a:rPr>
              <a:t> and </a:t>
            </a:r>
            <a:r>
              <a:rPr lang="en-US" sz="1800" b="1" dirty="0" smtClean="0">
                <a:solidFill>
                  <a:srgbClr val="FF0000"/>
                </a:solidFill>
              </a:rPr>
              <a:t>4</a:t>
            </a:r>
            <a:r>
              <a:rPr lang="en-US" sz="1800" b="1" baseline="-25000" dirty="0" smtClean="0">
                <a:solidFill>
                  <a:srgbClr val="FF0000"/>
                </a:solidFill>
              </a:rPr>
              <a:t>3 </a:t>
            </a:r>
            <a:r>
              <a:rPr lang="en-US" sz="1800" b="1" dirty="0" smtClean="0">
                <a:solidFill>
                  <a:srgbClr val="002060"/>
                </a:solidFill>
              </a:rPr>
              <a:t>are also the pair of </a:t>
            </a:r>
            <a:r>
              <a:rPr lang="en-US" sz="1800" b="1" i="1" dirty="0" err="1">
                <a:solidFill>
                  <a:srgbClr val="FF0000"/>
                </a:solidFill>
              </a:rPr>
              <a:t>enantiomorphous</a:t>
            </a:r>
            <a:r>
              <a:rPr lang="en-US" sz="1800" b="1" dirty="0" smtClean="0">
                <a:solidFill>
                  <a:srgbClr val="002060"/>
                </a:solidFill>
              </a:rPr>
              <a:t> as </a:t>
            </a:r>
            <a:r>
              <a:rPr lang="en-US" sz="1800" b="1" dirty="0" smtClean="0">
                <a:solidFill>
                  <a:srgbClr val="FF0000"/>
                </a:solidFill>
              </a:rPr>
              <a:t>3</a:t>
            </a:r>
            <a:r>
              <a:rPr lang="en-US" sz="1800" b="1" baseline="-25000" dirty="0" smtClean="0">
                <a:solidFill>
                  <a:srgbClr val="FF0000"/>
                </a:solidFill>
              </a:rPr>
              <a:t>1 </a:t>
            </a:r>
            <a:r>
              <a:rPr lang="en-US" sz="1800" b="1" dirty="0" smtClean="0">
                <a:solidFill>
                  <a:srgbClr val="002060"/>
                </a:solidFill>
              </a:rPr>
              <a:t>and </a:t>
            </a:r>
            <a:r>
              <a:rPr lang="en-US" sz="1800" b="1" dirty="0" smtClean="0">
                <a:solidFill>
                  <a:srgbClr val="FF0000"/>
                </a:solidFill>
              </a:rPr>
              <a:t>3</a:t>
            </a:r>
            <a:r>
              <a:rPr lang="en-US" sz="1800" b="1" baseline="-25000" dirty="0" smtClean="0">
                <a:solidFill>
                  <a:srgbClr val="FF0000"/>
                </a:solidFill>
              </a:rPr>
              <a:t>2</a:t>
            </a:r>
            <a:r>
              <a:rPr lang="en-US" sz="1800" b="1" dirty="0" smtClean="0">
                <a:solidFill>
                  <a:srgbClr val="002060"/>
                </a:solidFill>
              </a:rPr>
              <a:t>.</a:t>
            </a:r>
            <a:r>
              <a:rPr lang="en-US" sz="1800" b="1" baseline="-25000" dirty="0" smtClean="0">
                <a:solidFill>
                  <a:srgbClr val="FF0000"/>
                </a:solidFill>
              </a:rPr>
              <a:t> </a:t>
            </a:r>
          </a:p>
          <a:p>
            <a:pPr marL="457200" lvl="0" indent="-457200" algn="just">
              <a:spcBef>
                <a:spcPts val="600"/>
              </a:spcBef>
              <a:spcAft>
                <a:spcPts val="600"/>
              </a:spcAft>
              <a:buFont typeface="Wingdings" pitchFamily="2" charset="2"/>
              <a:buChar char="v"/>
            </a:pPr>
            <a:r>
              <a:rPr lang="en-US" sz="1800" b="1" dirty="0" smtClean="0">
                <a:solidFill>
                  <a:srgbClr val="002060"/>
                </a:solidFill>
              </a:rPr>
              <a:t>Whereas </a:t>
            </a:r>
            <a:r>
              <a:rPr lang="en-US" sz="1800" b="1" dirty="0" smtClean="0">
                <a:solidFill>
                  <a:srgbClr val="FF0000"/>
                </a:solidFill>
              </a:rPr>
              <a:t>4</a:t>
            </a:r>
            <a:r>
              <a:rPr lang="en-US" sz="1800" b="1" baseline="-25000" dirty="0" smtClean="0">
                <a:solidFill>
                  <a:srgbClr val="FF0000"/>
                </a:solidFill>
              </a:rPr>
              <a:t>2 </a:t>
            </a:r>
            <a:r>
              <a:rPr lang="en-US" sz="1800" b="1" dirty="0" smtClean="0">
                <a:solidFill>
                  <a:srgbClr val="002060"/>
                </a:solidFill>
              </a:rPr>
              <a:t>has no sense of rotation as same pattern is obtained by rotating clockwise or anticlockwise directions. </a:t>
            </a:r>
            <a:endParaRPr kumimoji="0" lang="en-US" sz="1800" b="1" i="0" u="none" strike="noStrike" cap="none" normalizeH="0" baseline="0" dirty="0" smtClean="0">
              <a:ln>
                <a:noFill/>
              </a:ln>
              <a:solidFill>
                <a:srgbClr val="FF0000"/>
              </a:solidFill>
              <a:effectLst/>
              <a:latin typeface="Times New Roman" pitchFamily="18" charset="0"/>
            </a:endParaRPr>
          </a:p>
        </p:txBody>
      </p:sp>
      <p:grpSp>
        <p:nvGrpSpPr>
          <p:cNvPr id="4" name="Group 83"/>
          <p:cNvGrpSpPr/>
          <p:nvPr/>
        </p:nvGrpSpPr>
        <p:grpSpPr>
          <a:xfrm>
            <a:off x="1719989" y="3521391"/>
            <a:ext cx="1401781" cy="1892998"/>
            <a:chOff x="1719989" y="3491245"/>
            <a:chExt cx="1401781" cy="1892998"/>
          </a:xfrm>
        </p:grpSpPr>
        <p:sp>
          <p:nvSpPr>
            <p:cNvPr id="5" name="Oval 4"/>
            <p:cNvSpPr/>
            <p:nvPr/>
          </p:nvSpPr>
          <p:spPr>
            <a:xfrm>
              <a:off x="1731663" y="3500169"/>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785299" y="411750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902307" y="407899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391539" y="467350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719989" y="3780973"/>
              <a:ext cx="415498" cy="461665"/>
            </a:xfrm>
            <a:prstGeom prst="rect">
              <a:avLst/>
            </a:prstGeom>
          </p:spPr>
          <p:txBody>
            <a:bodyPr wrap="none">
              <a:spAutoFit/>
            </a:bodyPr>
            <a:lstStyle/>
            <a:p>
              <a:r>
                <a:rPr lang="en-US" b="1" dirty="0" smtClean="0">
                  <a:solidFill>
                    <a:srgbClr val="7030A0"/>
                  </a:solidFill>
                </a:rPr>
                <a:t>¾</a:t>
              </a:r>
              <a:endParaRPr lang="en-US" dirty="0">
                <a:solidFill>
                  <a:srgbClr val="7030A0"/>
                </a:solidFill>
              </a:endParaRPr>
            </a:p>
          </p:txBody>
        </p:sp>
        <p:sp>
          <p:nvSpPr>
            <p:cNvPr id="11" name="Rectangle 10"/>
            <p:cNvSpPr/>
            <p:nvPr/>
          </p:nvSpPr>
          <p:spPr>
            <a:xfrm>
              <a:off x="2706272" y="4132665"/>
              <a:ext cx="415498" cy="461665"/>
            </a:xfrm>
            <a:prstGeom prst="rect">
              <a:avLst/>
            </a:prstGeom>
          </p:spPr>
          <p:txBody>
            <a:bodyPr wrap="none">
              <a:spAutoFit/>
            </a:bodyPr>
            <a:lstStyle/>
            <a:p>
              <a:r>
                <a:rPr lang="en-US" b="1" dirty="0" smtClean="0">
                  <a:solidFill>
                    <a:srgbClr val="7030A0"/>
                  </a:solidFill>
                </a:rPr>
                <a:t>¼</a:t>
              </a:r>
              <a:endParaRPr lang="en-US" dirty="0">
                <a:solidFill>
                  <a:srgbClr val="7030A0"/>
                </a:solidFill>
              </a:endParaRPr>
            </a:p>
          </p:txBody>
        </p:sp>
        <p:sp>
          <p:nvSpPr>
            <p:cNvPr id="12" name="Rectangle 11"/>
            <p:cNvSpPr/>
            <p:nvPr/>
          </p:nvSpPr>
          <p:spPr>
            <a:xfrm>
              <a:off x="1972874" y="4496077"/>
              <a:ext cx="441146" cy="338554"/>
            </a:xfrm>
            <a:prstGeom prst="rect">
              <a:avLst/>
            </a:prstGeom>
          </p:spPr>
          <p:txBody>
            <a:bodyPr wrap="none">
              <a:spAutoFit/>
            </a:bodyPr>
            <a:lstStyle/>
            <a:p>
              <a:r>
                <a:rPr lang="en-US" sz="1600" b="1" dirty="0" smtClean="0">
                  <a:solidFill>
                    <a:srgbClr val="7030A0"/>
                  </a:solidFill>
                </a:rPr>
                <a:t>0,1</a:t>
              </a:r>
              <a:endParaRPr lang="en-US" sz="1600" dirty="0">
                <a:solidFill>
                  <a:srgbClr val="7030A0"/>
                </a:solidFill>
              </a:endParaRPr>
            </a:p>
          </p:txBody>
        </p:sp>
        <p:sp>
          <p:nvSpPr>
            <p:cNvPr id="34" name="Rectangle 33"/>
            <p:cNvSpPr/>
            <p:nvPr/>
          </p:nvSpPr>
          <p:spPr>
            <a:xfrm>
              <a:off x="2227254" y="4922578"/>
              <a:ext cx="441146" cy="461665"/>
            </a:xfrm>
            <a:prstGeom prst="rect">
              <a:avLst/>
            </a:prstGeom>
          </p:spPr>
          <p:txBody>
            <a:bodyPr wrap="none">
              <a:spAutoFit/>
            </a:bodyPr>
            <a:lstStyle/>
            <a:p>
              <a:r>
                <a:rPr lang="en-US" b="1" dirty="0" smtClean="0">
                  <a:solidFill>
                    <a:srgbClr val="FF0000"/>
                  </a:solidFill>
                </a:rPr>
                <a:t>4</a:t>
              </a:r>
              <a:r>
                <a:rPr lang="en-US" b="1" baseline="-25000" dirty="0" smtClean="0">
                  <a:solidFill>
                    <a:srgbClr val="FF0000"/>
                  </a:solidFill>
                </a:rPr>
                <a:t>1</a:t>
              </a:r>
              <a:endParaRPr lang="en-US" dirty="0"/>
            </a:p>
          </p:txBody>
        </p:sp>
        <p:grpSp>
          <p:nvGrpSpPr>
            <p:cNvPr id="6" name="Group 59"/>
            <p:cNvGrpSpPr/>
            <p:nvPr/>
          </p:nvGrpSpPr>
          <p:grpSpPr>
            <a:xfrm>
              <a:off x="2210637" y="3970775"/>
              <a:ext cx="396574" cy="350016"/>
              <a:chOff x="6430945" y="3237246"/>
              <a:chExt cx="396574" cy="350016"/>
            </a:xfrm>
          </p:grpSpPr>
          <p:sp>
            <p:nvSpPr>
              <p:cNvPr id="35" name="Rectangle 34"/>
              <p:cNvSpPr/>
              <p:nvPr/>
            </p:nvSpPr>
            <p:spPr>
              <a:xfrm>
                <a:off x="6551525" y="3366198"/>
                <a:ext cx="170822" cy="160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p:cNvCxnSpPr/>
              <p:nvPr/>
            </p:nvCxnSpPr>
            <p:spPr>
              <a:xfrm>
                <a:off x="6430945" y="3356149"/>
                <a:ext cx="297329" cy="71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flipV="1">
                <a:off x="6541481" y="3336059"/>
                <a:ext cx="0" cy="25120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553199" y="3528645"/>
                <a:ext cx="274320" cy="71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flipV="1">
                <a:off x="6724022" y="3237246"/>
                <a:ext cx="0" cy="281352"/>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1" name="Oval 60"/>
            <p:cNvSpPr/>
            <p:nvPr/>
          </p:nvSpPr>
          <p:spPr>
            <a:xfrm>
              <a:off x="2363075" y="357995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2466786" y="3491245"/>
              <a:ext cx="415498" cy="461665"/>
            </a:xfrm>
            <a:prstGeom prst="rect">
              <a:avLst/>
            </a:prstGeom>
          </p:spPr>
          <p:txBody>
            <a:bodyPr wrap="none">
              <a:spAutoFit/>
            </a:bodyPr>
            <a:lstStyle/>
            <a:p>
              <a:r>
                <a:rPr lang="en-US" b="1" dirty="0" smtClean="0">
                  <a:solidFill>
                    <a:srgbClr val="7030A0"/>
                  </a:solidFill>
                </a:rPr>
                <a:t>½</a:t>
              </a:r>
              <a:endParaRPr lang="en-US" dirty="0">
                <a:solidFill>
                  <a:srgbClr val="7030A0"/>
                </a:solidFill>
              </a:endParaRPr>
            </a:p>
          </p:txBody>
        </p:sp>
      </p:grpSp>
      <p:grpSp>
        <p:nvGrpSpPr>
          <p:cNvPr id="13" name="Group 80"/>
          <p:cNvGrpSpPr/>
          <p:nvPr/>
        </p:nvGrpSpPr>
        <p:grpSpPr>
          <a:xfrm>
            <a:off x="3682719" y="3501845"/>
            <a:ext cx="1401828" cy="1884074"/>
            <a:chOff x="6787659" y="3230538"/>
            <a:chExt cx="1401828" cy="1884074"/>
          </a:xfrm>
        </p:grpSpPr>
        <p:sp>
          <p:nvSpPr>
            <p:cNvPr id="63" name="Oval 62"/>
            <p:cNvSpPr/>
            <p:nvPr/>
          </p:nvSpPr>
          <p:spPr>
            <a:xfrm>
              <a:off x="6787659" y="3230538"/>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6841295" y="384787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7958303" y="380936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7447535" y="440387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7028870" y="4226446"/>
              <a:ext cx="441146" cy="338554"/>
            </a:xfrm>
            <a:prstGeom prst="rect">
              <a:avLst/>
            </a:prstGeom>
          </p:spPr>
          <p:txBody>
            <a:bodyPr wrap="none">
              <a:spAutoFit/>
            </a:bodyPr>
            <a:lstStyle/>
            <a:p>
              <a:r>
                <a:rPr lang="en-US" sz="1600" b="1" dirty="0" smtClean="0">
                  <a:solidFill>
                    <a:srgbClr val="7030A0"/>
                  </a:solidFill>
                </a:rPr>
                <a:t>0,1</a:t>
              </a:r>
              <a:endParaRPr lang="en-US" sz="1600" dirty="0">
                <a:solidFill>
                  <a:srgbClr val="7030A0"/>
                </a:solidFill>
              </a:endParaRPr>
            </a:p>
          </p:txBody>
        </p:sp>
        <p:sp>
          <p:nvSpPr>
            <p:cNvPr id="70" name="Rectangle 69"/>
            <p:cNvSpPr/>
            <p:nvPr/>
          </p:nvSpPr>
          <p:spPr>
            <a:xfrm>
              <a:off x="7283250" y="4652947"/>
              <a:ext cx="441146" cy="461665"/>
            </a:xfrm>
            <a:prstGeom prst="rect">
              <a:avLst/>
            </a:prstGeom>
          </p:spPr>
          <p:txBody>
            <a:bodyPr wrap="none">
              <a:spAutoFit/>
            </a:bodyPr>
            <a:lstStyle/>
            <a:p>
              <a:r>
                <a:rPr lang="en-US" b="1" dirty="0" smtClean="0">
                  <a:solidFill>
                    <a:srgbClr val="FF0000"/>
                  </a:solidFill>
                </a:rPr>
                <a:t>4</a:t>
              </a:r>
              <a:r>
                <a:rPr lang="en-US" b="1" baseline="-25000" dirty="0" smtClean="0">
                  <a:solidFill>
                    <a:srgbClr val="FF0000"/>
                  </a:solidFill>
                </a:rPr>
                <a:t>2</a:t>
              </a:r>
              <a:endParaRPr lang="en-US" dirty="0"/>
            </a:p>
          </p:txBody>
        </p:sp>
        <p:grpSp>
          <p:nvGrpSpPr>
            <p:cNvPr id="14" name="Group 70"/>
            <p:cNvGrpSpPr/>
            <p:nvPr/>
          </p:nvGrpSpPr>
          <p:grpSpPr>
            <a:xfrm>
              <a:off x="7377169" y="3701144"/>
              <a:ext cx="182541" cy="350016"/>
              <a:chOff x="6541481" y="3237246"/>
              <a:chExt cx="182541" cy="350016"/>
            </a:xfrm>
          </p:grpSpPr>
          <p:sp>
            <p:nvSpPr>
              <p:cNvPr id="72" name="Rectangle 71"/>
              <p:cNvSpPr/>
              <p:nvPr/>
            </p:nvSpPr>
            <p:spPr>
              <a:xfrm>
                <a:off x="6551525" y="3366198"/>
                <a:ext cx="170822" cy="160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p:cNvCxnSpPr/>
              <p:nvPr/>
            </p:nvCxnSpPr>
            <p:spPr>
              <a:xfrm flipH="1" flipV="1">
                <a:off x="6541481" y="3336059"/>
                <a:ext cx="0" cy="25120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H="1" flipV="1">
                <a:off x="6724022" y="3237246"/>
                <a:ext cx="0" cy="281352"/>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77" name="Oval 76"/>
            <p:cNvSpPr/>
            <p:nvPr/>
          </p:nvSpPr>
          <p:spPr>
            <a:xfrm>
              <a:off x="7419071" y="331032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p:cNvSpPr/>
            <p:nvPr/>
          </p:nvSpPr>
          <p:spPr>
            <a:xfrm>
              <a:off x="7773989" y="3814465"/>
              <a:ext cx="415498" cy="461665"/>
            </a:xfrm>
            <a:prstGeom prst="rect">
              <a:avLst/>
            </a:prstGeom>
          </p:spPr>
          <p:txBody>
            <a:bodyPr wrap="none">
              <a:spAutoFit/>
            </a:bodyPr>
            <a:lstStyle/>
            <a:p>
              <a:r>
                <a:rPr lang="en-US" b="1" dirty="0" smtClean="0">
                  <a:solidFill>
                    <a:srgbClr val="7030A0"/>
                  </a:solidFill>
                </a:rPr>
                <a:t>½</a:t>
              </a:r>
              <a:endParaRPr lang="en-US" dirty="0">
                <a:solidFill>
                  <a:srgbClr val="7030A0"/>
                </a:solidFill>
              </a:endParaRPr>
            </a:p>
          </p:txBody>
        </p:sp>
        <p:sp>
          <p:nvSpPr>
            <p:cNvPr id="79" name="Rectangle 78"/>
            <p:cNvSpPr/>
            <p:nvPr/>
          </p:nvSpPr>
          <p:spPr>
            <a:xfrm>
              <a:off x="7482721" y="3253430"/>
              <a:ext cx="441146" cy="338554"/>
            </a:xfrm>
            <a:prstGeom prst="rect">
              <a:avLst/>
            </a:prstGeom>
          </p:spPr>
          <p:txBody>
            <a:bodyPr wrap="none">
              <a:spAutoFit/>
            </a:bodyPr>
            <a:lstStyle/>
            <a:p>
              <a:r>
                <a:rPr lang="en-US" sz="1600" b="1" dirty="0" smtClean="0">
                  <a:solidFill>
                    <a:srgbClr val="7030A0"/>
                  </a:solidFill>
                </a:rPr>
                <a:t>0,1</a:t>
              </a:r>
              <a:endParaRPr lang="en-US" sz="1600" dirty="0">
                <a:solidFill>
                  <a:srgbClr val="7030A0"/>
                </a:solidFill>
              </a:endParaRPr>
            </a:p>
          </p:txBody>
        </p:sp>
        <p:sp>
          <p:nvSpPr>
            <p:cNvPr id="80" name="Rectangle 79"/>
            <p:cNvSpPr/>
            <p:nvPr/>
          </p:nvSpPr>
          <p:spPr>
            <a:xfrm>
              <a:off x="6790925" y="3474500"/>
              <a:ext cx="415498" cy="461665"/>
            </a:xfrm>
            <a:prstGeom prst="rect">
              <a:avLst/>
            </a:prstGeom>
          </p:spPr>
          <p:txBody>
            <a:bodyPr wrap="none">
              <a:spAutoFit/>
            </a:bodyPr>
            <a:lstStyle/>
            <a:p>
              <a:r>
                <a:rPr lang="en-US" b="1" dirty="0" smtClean="0">
                  <a:solidFill>
                    <a:srgbClr val="7030A0"/>
                  </a:solidFill>
                </a:rPr>
                <a:t>½</a:t>
              </a:r>
              <a:endParaRPr lang="en-US" dirty="0">
                <a:solidFill>
                  <a:srgbClr val="7030A0"/>
                </a:solidFill>
              </a:endParaRPr>
            </a:p>
          </p:txBody>
        </p:sp>
      </p:grpSp>
      <p:grpSp>
        <p:nvGrpSpPr>
          <p:cNvPr id="15" name="Group 84"/>
          <p:cNvGrpSpPr/>
          <p:nvPr/>
        </p:nvGrpSpPr>
        <p:grpSpPr>
          <a:xfrm>
            <a:off x="5501469" y="3452727"/>
            <a:ext cx="1378514" cy="1913094"/>
            <a:chOff x="1731663" y="3491245"/>
            <a:chExt cx="1378514" cy="1913094"/>
          </a:xfrm>
        </p:grpSpPr>
        <p:sp>
          <p:nvSpPr>
            <p:cNvPr id="86" name="Oval 85"/>
            <p:cNvSpPr/>
            <p:nvPr/>
          </p:nvSpPr>
          <p:spPr>
            <a:xfrm>
              <a:off x="1731663" y="3500169"/>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p:cNvSpPr/>
            <p:nvPr/>
          </p:nvSpPr>
          <p:spPr>
            <a:xfrm>
              <a:off x="1785299" y="411750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2902307" y="407899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p:cNvSpPr/>
            <p:nvPr/>
          </p:nvSpPr>
          <p:spPr>
            <a:xfrm>
              <a:off x="2391539" y="467350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2694679" y="4102520"/>
              <a:ext cx="415498" cy="461665"/>
            </a:xfrm>
            <a:prstGeom prst="rect">
              <a:avLst/>
            </a:prstGeom>
          </p:spPr>
          <p:txBody>
            <a:bodyPr wrap="none">
              <a:spAutoFit/>
            </a:bodyPr>
            <a:lstStyle/>
            <a:p>
              <a:r>
                <a:rPr lang="en-US" b="1" dirty="0" smtClean="0">
                  <a:solidFill>
                    <a:srgbClr val="7030A0"/>
                  </a:solidFill>
                </a:rPr>
                <a:t>¾</a:t>
              </a:r>
              <a:endParaRPr lang="en-US" dirty="0">
                <a:solidFill>
                  <a:srgbClr val="7030A0"/>
                </a:solidFill>
              </a:endParaRPr>
            </a:p>
          </p:txBody>
        </p:sp>
        <p:sp>
          <p:nvSpPr>
            <p:cNvPr id="92" name="Rectangle 91"/>
            <p:cNvSpPr/>
            <p:nvPr/>
          </p:nvSpPr>
          <p:spPr>
            <a:xfrm>
              <a:off x="1741630" y="3750830"/>
              <a:ext cx="415498" cy="461665"/>
            </a:xfrm>
            <a:prstGeom prst="rect">
              <a:avLst/>
            </a:prstGeom>
          </p:spPr>
          <p:txBody>
            <a:bodyPr wrap="none">
              <a:spAutoFit/>
            </a:bodyPr>
            <a:lstStyle/>
            <a:p>
              <a:r>
                <a:rPr lang="en-US" b="1" dirty="0" smtClean="0">
                  <a:solidFill>
                    <a:srgbClr val="7030A0"/>
                  </a:solidFill>
                </a:rPr>
                <a:t>¼</a:t>
              </a:r>
              <a:endParaRPr lang="en-US" dirty="0">
                <a:solidFill>
                  <a:srgbClr val="7030A0"/>
                </a:solidFill>
              </a:endParaRPr>
            </a:p>
          </p:txBody>
        </p:sp>
        <p:sp>
          <p:nvSpPr>
            <p:cNvPr id="93" name="Rectangle 92"/>
            <p:cNvSpPr/>
            <p:nvPr/>
          </p:nvSpPr>
          <p:spPr>
            <a:xfrm>
              <a:off x="1972874" y="4496077"/>
              <a:ext cx="441146" cy="338554"/>
            </a:xfrm>
            <a:prstGeom prst="rect">
              <a:avLst/>
            </a:prstGeom>
          </p:spPr>
          <p:txBody>
            <a:bodyPr wrap="none">
              <a:spAutoFit/>
            </a:bodyPr>
            <a:lstStyle/>
            <a:p>
              <a:r>
                <a:rPr lang="en-US" sz="1600" b="1" dirty="0" smtClean="0">
                  <a:solidFill>
                    <a:srgbClr val="7030A0"/>
                  </a:solidFill>
                </a:rPr>
                <a:t>0,1</a:t>
              </a:r>
              <a:endParaRPr lang="en-US" sz="1600" dirty="0">
                <a:solidFill>
                  <a:srgbClr val="7030A0"/>
                </a:solidFill>
              </a:endParaRPr>
            </a:p>
          </p:txBody>
        </p:sp>
        <p:sp>
          <p:nvSpPr>
            <p:cNvPr id="94" name="Rectangle 93"/>
            <p:cNvSpPr/>
            <p:nvPr/>
          </p:nvSpPr>
          <p:spPr>
            <a:xfrm>
              <a:off x="2227254" y="4942674"/>
              <a:ext cx="441146" cy="461665"/>
            </a:xfrm>
            <a:prstGeom prst="rect">
              <a:avLst/>
            </a:prstGeom>
          </p:spPr>
          <p:txBody>
            <a:bodyPr wrap="none">
              <a:spAutoFit/>
            </a:bodyPr>
            <a:lstStyle/>
            <a:p>
              <a:r>
                <a:rPr lang="en-US" b="1" dirty="0" smtClean="0">
                  <a:solidFill>
                    <a:srgbClr val="FF0000"/>
                  </a:solidFill>
                </a:rPr>
                <a:t>4</a:t>
              </a:r>
              <a:r>
                <a:rPr lang="en-US" b="1" baseline="-25000" dirty="0" smtClean="0">
                  <a:solidFill>
                    <a:srgbClr val="FF0000"/>
                  </a:solidFill>
                </a:rPr>
                <a:t>3</a:t>
              </a:r>
              <a:endParaRPr lang="en-US" dirty="0"/>
            </a:p>
          </p:txBody>
        </p:sp>
        <p:grpSp>
          <p:nvGrpSpPr>
            <p:cNvPr id="16" name="Group 94"/>
            <p:cNvGrpSpPr/>
            <p:nvPr/>
          </p:nvGrpSpPr>
          <p:grpSpPr>
            <a:xfrm>
              <a:off x="2222363" y="3989204"/>
              <a:ext cx="406179" cy="373451"/>
              <a:chOff x="6442671" y="3255675"/>
              <a:chExt cx="406179" cy="373451"/>
            </a:xfrm>
          </p:grpSpPr>
          <p:sp>
            <p:nvSpPr>
              <p:cNvPr id="98" name="Rectangle 97"/>
              <p:cNvSpPr/>
              <p:nvPr/>
            </p:nvSpPr>
            <p:spPr>
              <a:xfrm>
                <a:off x="6551525" y="3366198"/>
                <a:ext cx="170822" cy="160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p:cNvCxnSpPr/>
              <p:nvPr/>
            </p:nvCxnSpPr>
            <p:spPr>
              <a:xfrm>
                <a:off x="6551521" y="3356149"/>
                <a:ext cx="297329" cy="71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flipV="1">
                <a:off x="6541481" y="3255675"/>
                <a:ext cx="0" cy="25120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6442671" y="3528645"/>
                <a:ext cx="274320" cy="71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flipV="1">
                <a:off x="6724022" y="3347774"/>
                <a:ext cx="0" cy="281352"/>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96" name="Oval 95"/>
            <p:cNvSpPr/>
            <p:nvPr/>
          </p:nvSpPr>
          <p:spPr>
            <a:xfrm>
              <a:off x="2363075" y="357995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2466786" y="3491245"/>
              <a:ext cx="415498" cy="461665"/>
            </a:xfrm>
            <a:prstGeom prst="rect">
              <a:avLst/>
            </a:prstGeom>
          </p:spPr>
          <p:txBody>
            <a:bodyPr wrap="none">
              <a:spAutoFit/>
            </a:bodyPr>
            <a:lstStyle/>
            <a:p>
              <a:r>
                <a:rPr lang="en-US" b="1" dirty="0" smtClean="0">
                  <a:solidFill>
                    <a:srgbClr val="7030A0"/>
                  </a:solidFill>
                </a:rPr>
                <a:t>½</a:t>
              </a:r>
              <a:endParaRPr lang="en-US" dirty="0">
                <a:solidFill>
                  <a:srgbClr val="7030A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6"/>
          <p:cNvSpPr txBox="1">
            <a:spLocks noChangeArrowheads="1"/>
          </p:cNvSpPr>
          <p:nvPr/>
        </p:nvSpPr>
        <p:spPr>
          <a:xfrm>
            <a:off x="604741" y="362901"/>
            <a:ext cx="3886871" cy="632138"/>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Two fold screw axis</a:t>
            </a:r>
          </a:p>
        </p:txBody>
      </p:sp>
      <p:graphicFrame>
        <p:nvGraphicFramePr>
          <p:cNvPr id="15" name="Object 17"/>
          <p:cNvGraphicFramePr>
            <a:graphicFrameLocks noChangeAspect="1"/>
          </p:cNvGraphicFramePr>
          <p:nvPr/>
        </p:nvGraphicFramePr>
        <p:xfrm>
          <a:off x="2793442" y="3426488"/>
          <a:ext cx="979237" cy="451217"/>
        </p:xfrm>
        <a:graphic>
          <a:graphicData uri="http://schemas.openxmlformats.org/presentationml/2006/ole">
            <p:oleObj spid="_x0000_s683010" name="Equation" r:id="rId3" imgW="609480" imgH="279360" progId="">
              <p:embed/>
            </p:oleObj>
          </a:graphicData>
        </a:graphic>
      </p:graphicFrame>
      <p:graphicFrame>
        <p:nvGraphicFramePr>
          <p:cNvPr id="5" name="Object 4"/>
          <p:cNvGraphicFramePr>
            <a:graphicFrameLocks noChangeAspect="1"/>
          </p:cNvGraphicFramePr>
          <p:nvPr/>
        </p:nvGraphicFramePr>
        <p:xfrm>
          <a:off x="357555" y="4844981"/>
          <a:ext cx="942975" cy="344488"/>
        </p:xfrm>
        <a:graphic>
          <a:graphicData uri="http://schemas.openxmlformats.org/presentationml/2006/ole">
            <p:oleObj spid="_x0000_s683011" name="Equation" r:id="rId4" imgW="799920" imgH="291960" progId="">
              <p:embed/>
            </p:oleObj>
          </a:graphicData>
        </a:graphic>
      </p:graphicFrame>
      <p:grpSp>
        <p:nvGrpSpPr>
          <p:cNvPr id="2" name="Group 36"/>
          <p:cNvGrpSpPr/>
          <p:nvPr/>
        </p:nvGrpSpPr>
        <p:grpSpPr>
          <a:xfrm>
            <a:off x="817433" y="806222"/>
            <a:ext cx="2005963" cy="4278243"/>
            <a:chOff x="3560633" y="1047383"/>
            <a:chExt cx="2005963" cy="4278243"/>
          </a:xfrm>
        </p:grpSpPr>
        <p:cxnSp>
          <p:nvCxnSpPr>
            <p:cNvPr id="19" name="Straight Connector 18"/>
            <p:cNvCxnSpPr/>
            <p:nvPr/>
          </p:nvCxnSpPr>
          <p:spPr>
            <a:xfrm>
              <a:off x="4521758" y="1698171"/>
              <a:ext cx="10049" cy="362745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3" name="Group 25"/>
            <p:cNvGrpSpPr/>
            <p:nvPr/>
          </p:nvGrpSpPr>
          <p:grpSpPr>
            <a:xfrm>
              <a:off x="3560633" y="1047383"/>
              <a:ext cx="1923902" cy="1866639"/>
              <a:chOff x="3560633" y="1047383"/>
              <a:chExt cx="1923902" cy="1866639"/>
            </a:xfrm>
          </p:grpSpPr>
          <p:cxnSp>
            <p:nvCxnSpPr>
              <p:cNvPr id="21" name="Straight Connector 20"/>
              <p:cNvCxnSpPr/>
              <p:nvPr/>
            </p:nvCxnSpPr>
            <p:spPr>
              <a:xfrm flipV="1">
                <a:off x="3808325" y="1798655"/>
                <a:ext cx="1467060" cy="82396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22" name="Picture 5"/>
              <p:cNvPicPr>
                <a:picLocks noChangeAspect="1" noChangeArrowheads="1"/>
              </p:cNvPicPr>
              <p:nvPr/>
            </p:nvPicPr>
            <p:blipFill>
              <a:blip r:embed="rId5" cstate="print"/>
              <a:srcRect/>
              <a:stretch>
                <a:fillRect/>
              </a:stretch>
            </p:blipFill>
            <p:spPr bwMode="auto">
              <a:xfrm>
                <a:off x="5265460" y="1047383"/>
                <a:ext cx="219075" cy="927100"/>
              </a:xfrm>
              <a:prstGeom prst="rect">
                <a:avLst/>
              </a:prstGeom>
              <a:noFill/>
              <a:ln w="9525">
                <a:noFill/>
                <a:miter lim="800000"/>
                <a:headEnd/>
                <a:tailEnd/>
              </a:ln>
              <a:effectLst/>
            </p:spPr>
          </p:pic>
          <p:pic>
            <p:nvPicPr>
              <p:cNvPr id="24" name="Picture 4"/>
              <p:cNvPicPr>
                <a:picLocks noChangeAspect="1" noChangeArrowheads="1"/>
              </p:cNvPicPr>
              <p:nvPr/>
            </p:nvPicPr>
            <p:blipFill>
              <a:blip r:embed="rId6" cstate="print"/>
              <a:srcRect/>
              <a:stretch>
                <a:fillRect/>
              </a:stretch>
            </p:blipFill>
            <p:spPr bwMode="auto">
              <a:xfrm>
                <a:off x="3560633" y="1983012"/>
                <a:ext cx="219999" cy="931010"/>
              </a:xfrm>
              <a:prstGeom prst="rect">
                <a:avLst/>
              </a:prstGeom>
              <a:noFill/>
              <a:ln w="9525">
                <a:noFill/>
                <a:miter lim="800000"/>
                <a:headEnd/>
                <a:tailEnd/>
              </a:ln>
              <a:effectLst/>
            </p:spPr>
          </p:pic>
        </p:grpSp>
        <p:sp>
          <p:nvSpPr>
            <p:cNvPr id="25" name="Oval 24"/>
            <p:cNvSpPr/>
            <p:nvPr/>
          </p:nvSpPr>
          <p:spPr>
            <a:xfrm>
              <a:off x="4411226" y="1597688"/>
              <a:ext cx="200967" cy="80386"/>
            </a:xfrm>
            <a:prstGeom prst="ellipse">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26"/>
            <p:cNvGrpSpPr/>
            <p:nvPr/>
          </p:nvGrpSpPr>
          <p:grpSpPr>
            <a:xfrm>
              <a:off x="3642694" y="2094087"/>
              <a:ext cx="1923902" cy="1866639"/>
              <a:chOff x="3560633" y="1047383"/>
              <a:chExt cx="1923902" cy="1866639"/>
            </a:xfrm>
          </p:grpSpPr>
          <p:cxnSp>
            <p:nvCxnSpPr>
              <p:cNvPr id="28" name="Straight Connector 27"/>
              <p:cNvCxnSpPr/>
              <p:nvPr/>
            </p:nvCxnSpPr>
            <p:spPr>
              <a:xfrm flipV="1">
                <a:off x="3808325" y="1798655"/>
                <a:ext cx="1467060" cy="82396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29" name="Picture 5"/>
              <p:cNvPicPr>
                <a:picLocks noChangeAspect="1" noChangeArrowheads="1"/>
              </p:cNvPicPr>
              <p:nvPr/>
            </p:nvPicPr>
            <p:blipFill>
              <a:blip r:embed="rId5" cstate="print"/>
              <a:srcRect/>
              <a:stretch>
                <a:fillRect/>
              </a:stretch>
            </p:blipFill>
            <p:spPr bwMode="auto">
              <a:xfrm>
                <a:off x="5265460" y="1047383"/>
                <a:ext cx="219075" cy="927100"/>
              </a:xfrm>
              <a:prstGeom prst="rect">
                <a:avLst/>
              </a:prstGeom>
              <a:noFill/>
              <a:ln w="9525">
                <a:noFill/>
                <a:miter lim="800000"/>
                <a:headEnd/>
                <a:tailEnd/>
              </a:ln>
              <a:effectLst/>
            </p:spPr>
          </p:pic>
          <p:pic>
            <p:nvPicPr>
              <p:cNvPr id="30" name="Picture 4"/>
              <p:cNvPicPr>
                <a:picLocks noChangeAspect="1" noChangeArrowheads="1"/>
              </p:cNvPicPr>
              <p:nvPr/>
            </p:nvPicPr>
            <p:blipFill>
              <a:blip r:embed="rId6" cstate="print"/>
              <a:srcRect/>
              <a:stretch>
                <a:fillRect/>
              </a:stretch>
            </p:blipFill>
            <p:spPr bwMode="auto">
              <a:xfrm>
                <a:off x="3560633" y="1983012"/>
                <a:ext cx="219999" cy="931010"/>
              </a:xfrm>
              <a:prstGeom prst="rect">
                <a:avLst/>
              </a:prstGeom>
              <a:noFill/>
              <a:ln w="9525">
                <a:noFill/>
                <a:miter lim="800000"/>
                <a:headEnd/>
                <a:tailEnd/>
              </a:ln>
              <a:effectLst/>
            </p:spPr>
          </p:pic>
        </p:grpSp>
        <p:grpSp>
          <p:nvGrpSpPr>
            <p:cNvPr id="6" name="Group 32"/>
            <p:cNvGrpSpPr/>
            <p:nvPr/>
          </p:nvGrpSpPr>
          <p:grpSpPr>
            <a:xfrm>
              <a:off x="3624272" y="3231225"/>
              <a:ext cx="1923902" cy="1866639"/>
              <a:chOff x="3560633" y="1047383"/>
              <a:chExt cx="1923902" cy="1866639"/>
            </a:xfrm>
          </p:grpSpPr>
          <p:cxnSp>
            <p:nvCxnSpPr>
              <p:cNvPr id="34" name="Straight Connector 33"/>
              <p:cNvCxnSpPr/>
              <p:nvPr/>
            </p:nvCxnSpPr>
            <p:spPr>
              <a:xfrm flipV="1">
                <a:off x="3808325" y="1798655"/>
                <a:ext cx="1467060" cy="82396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35" name="Picture 5"/>
              <p:cNvPicPr>
                <a:picLocks noChangeAspect="1" noChangeArrowheads="1"/>
              </p:cNvPicPr>
              <p:nvPr/>
            </p:nvPicPr>
            <p:blipFill>
              <a:blip r:embed="rId5" cstate="print"/>
              <a:srcRect/>
              <a:stretch>
                <a:fillRect/>
              </a:stretch>
            </p:blipFill>
            <p:spPr bwMode="auto">
              <a:xfrm>
                <a:off x="5265460" y="1047383"/>
                <a:ext cx="219075" cy="927100"/>
              </a:xfrm>
              <a:prstGeom prst="rect">
                <a:avLst/>
              </a:prstGeom>
              <a:noFill/>
              <a:ln w="9525">
                <a:noFill/>
                <a:miter lim="800000"/>
                <a:headEnd/>
                <a:tailEnd/>
              </a:ln>
              <a:effectLst/>
            </p:spPr>
          </p:pic>
          <p:pic>
            <p:nvPicPr>
              <p:cNvPr id="36" name="Picture 4"/>
              <p:cNvPicPr>
                <a:picLocks noChangeAspect="1" noChangeArrowheads="1"/>
              </p:cNvPicPr>
              <p:nvPr/>
            </p:nvPicPr>
            <p:blipFill>
              <a:blip r:embed="rId6" cstate="print"/>
              <a:srcRect/>
              <a:stretch>
                <a:fillRect/>
              </a:stretch>
            </p:blipFill>
            <p:spPr bwMode="auto">
              <a:xfrm>
                <a:off x="3560633" y="1983012"/>
                <a:ext cx="219999" cy="931010"/>
              </a:xfrm>
              <a:prstGeom prst="rect">
                <a:avLst/>
              </a:prstGeom>
              <a:noFill/>
              <a:ln w="9525">
                <a:noFill/>
                <a:miter lim="800000"/>
                <a:headEnd/>
                <a:tailEnd/>
              </a:ln>
              <a:effectLst/>
            </p:spPr>
          </p:pic>
        </p:grpSp>
      </p:grpSp>
      <p:graphicFrame>
        <p:nvGraphicFramePr>
          <p:cNvPr id="307205" name="Object 5"/>
          <p:cNvGraphicFramePr>
            <a:graphicFrameLocks noChangeAspect="1"/>
          </p:cNvGraphicFramePr>
          <p:nvPr/>
        </p:nvGraphicFramePr>
        <p:xfrm>
          <a:off x="222791" y="3667614"/>
          <a:ext cx="1324655" cy="370262"/>
        </p:xfrm>
        <a:graphic>
          <a:graphicData uri="http://schemas.openxmlformats.org/presentationml/2006/ole">
            <p:oleObj spid="_x0000_s683012" name="Equation" r:id="rId7" imgW="863280" imgH="241200" progId="">
              <p:embed/>
            </p:oleObj>
          </a:graphicData>
        </a:graphic>
      </p:graphicFrame>
      <p:graphicFrame>
        <p:nvGraphicFramePr>
          <p:cNvPr id="38" name="Object 17"/>
          <p:cNvGraphicFramePr>
            <a:graphicFrameLocks noChangeAspect="1"/>
          </p:cNvGraphicFramePr>
          <p:nvPr/>
        </p:nvGraphicFramePr>
        <p:xfrm>
          <a:off x="2803525" y="2332038"/>
          <a:ext cx="1387475" cy="450850"/>
        </p:xfrm>
        <a:graphic>
          <a:graphicData uri="http://schemas.openxmlformats.org/presentationml/2006/ole">
            <p:oleObj spid="_x0000_s683013" name="Equation" r:id="rId8" imgW="863280" imgH="279360" progId="">
              <p:embed/>
            </p:oleObj>
          </a:graphicData>
        </a:graphic>
      </p:graphicFrame>
      <p:graphicFrame>
        <p:nvGraphicFramePr>
          <p:cNvPr id="39" name="Object 5"/>
          <p:cNvGraphicFramePr>
            <a:graphicFrameLocks noChangeAspect="1"/>
          </p:cNvGraphicFramePr>
          <p:nvPr/>
        </p:nvGraphicFramePr>
        <p:xfrm>
          <a:off x="90489" y="2581286"/>
          <a:ext cx="1386620" cy="371464"/>
        </p:xfrm>
        <a:graphic>
          <a:graphicData uri="http://schemas.openxmlformats.org/presentationml/2006/ole">
            <p:oleObj spid="_x0000_s683014" name="Equation" r:id="rId9" imgW="901440" imgH="241200" progId="">
              <p:embed/>
            </p:oleObj>
          </a:graphicData>
        </a:graphic>
      </p:graphicFrame>
      <p:graphicFrame>
        <p:nvGraphicFramePr>
          <p:cNvPr id="40" name="Object 17"/>
          <p:cNvGraphicFramePr>
            <a:graphicFrameLocks noChangeAspect="1"/>
          </p:cNvGraphicFramePr>
          <p:nvPr/>
        </p:nvGraphicFramePr>
        <p:xfrm>
          <a:off x="2624138" y="1249363"/>
          <a:ext cx="1508125" cy="450850"/>
        </p:xfrm>
        <a:graphic>
          <a:graphicData uri="http://schemas.openxmlformats.org/presentationml/2006/ole">
            <p:oleObj spid="_x0000_s683015" name="Equation" r:id="rId10" imgW="939600" imgH="279360" progId="">
              <p:embed/>
            </p:oleObj>
          </a:graphicData>
        </a:graphic>
      </p:graphicFrame>
      <p:cxnSp>
        <p:nvCxnSpPr>
          <p:cNvPr id="42" name="Straight Connector 41"/>
          <p:cNvCxnSpPr/>
          <p:nvPr/>
        </p:nvCxnSpPr>
        <p:spPr>
          <a:xfrm>
            <a:off x="6281894" y="1197428"/>
            <a:ext cx="10049" cy="362745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7" name="Group 73"/>
          <p:cNvGrpSpPr/>
          <p:nvPr/>
        </p:nvGrpSpPr>
        <p:grpSpPr>
          <a:xfrm>
            <a:off x="6300316" y="2266560"/>
            <a:ext cx="1026416" cy="1200098"/>
            <a:chOff x="6300316" y="2266560"/>
            <a:chExt cx="1026416" cy="1200098"/>
          </a:xfrm>
        </p:grpSpPr>
        <p:cxnSp>
          <p:nvCxnSpPr>
            <p:cNvPr id="50" name="Straight Connector 49"/>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51"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cxnSp>
        <p:nvCxnSpPr>
          <p:cNvPr id="47" name="Straight Connector 46"/>
          <p:cNvCxnSpPr/>
          <p:nvPr/>
        </p:nvCxnSpPr>
        <p:spPr>
          <a:xfrm flipV="1">
            <a:off x="5632100" y="3918857"/>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49" name="Picture 4"/>
          <p:cNvPicPr>
            <a:picLocks noChangeAspect="1" noChangeArrowheads="1"/>
          </p:cNvPicPr>
          <p:nvPr/>
        </p:nvPicPr>
        <p:blipFill>
          <a:blip r:embed="rId6" cstate="print"/>
          <a:srcRect/>
          <a:stretch>
            <a:fillRect/>
          </a:stretch>
        </p:blipFill>
        <p:spPr bwMode="auto">
          <a:xfrm>
            <a:off x="5384408" y="3666111"/>
            <a:ext cx="219999" cy="931010"/>
          </a:xfrm>
          <a:prstGeom prst="rect">
            <a:avLst/>
          </a:prstGeom>
          <a:noFill/>
          <a:ln w="9525">
            <a:noFill/>
            <a:miter lim="800000"/>
            <a:headEnd/>
            <a:tailEnd/>
          </a:ln>
          <a:effectLst/>
        </p:spPr>
      </p:pic>
      <p:grpSp>
        <p:nvGrpSpPr>
          <p:cNvPr id="8" name="Group 69"/>
          <p:cNvGrpSpPr/>
          <p:nvPr/>
        </p:nvGrpSpPr>
        <p:grpSpPr>
          <a:xfrm>
            <a:off x="5355938" y="3215609"/>
            <a:ext cx="936005" cy="931010"/>
            <a:chOff x="5355938" y="2713192"/>
            <a:chExt cx="936005" cy="931010"/>
          </a:xfrm>
        </p:grpSpPr>
        <p:cxnSp>
          <p:nvCxnSpPr>
            <p:cNvPr id="68" name="Straight Connector 67"/>
            <p:cNvCxnSpPr/>
            <p:nvPr/>
          </p:nvCxnSpPr>
          <p:spPr>
            <a:xfrm flipV="1">
              <a:off x="5603630" y="2965938"/>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69" name="Picture 4"/>
            <p:cNvPicPr>
              <a:picLocks noChangeAspect="1" noChangeArrowheads="1"/>
            </p:cNvPicPr>
            <p:nvPr/>
          </p:nvPicPr>
          <p:blipFill>
            <a:blip r:embed="rId6" cstate="print"/>
            <a:srcRect/>
            <a:stretch>
              <a:fillRect/>
            </a:stretch>
          </p:blipFill>
          <p:spPr bwMode="auto">
            <a:xfrm>
              <a:off x="5355938" y="2713192"/>
              <a:ext cx="219999" cy="931010"/>
            </a:xfrm>
            <a:prstGeom prst="rect">
              <a:avLst/>
            </a:prstGeom>
            <a:noFill/>
            <a:ln w="9525">
              <a:noFill/>
              <a:miter lim="800000"/>
              <a:headEnd/>
              <a:tailEnd/>
            </a:ln>
            <a:effectLst/>
          </p:spPr>
        </p:pic>
      </p:grpSp>
      <p:pic>
        <p:nvPicPr>
          <p:cNvPr id="56" name="Picture 44"/>
          <p:cNvPicPr>
            <a:picLocks noChangeAspect="1" noChangeArrowheads="1"/>
          </p:cNvPicPr>
          <p:nvPr/>
        </p:nvPicPr>
        <p:blipFill>
          <a:blip r:embed="rId11" cstate="print"/>
          <a:srcRect/>
          <a:stretch>
            <a:fillRect/>
          </a:stretch>
        </p:blipFill>
        <p:spPr bwMode="auto">
          <a:xfrm rot="5400000">
            <a:off x="6204858" y="965479"/>
            <a:ext cx="150813" cy="304800"/>
          </a:xfrm>
          <a:prstGeom prst="rect">
            <a:avLst/>
          </a:prstGeom>
          <a:noFill/>
          <a:ln w="9525">
            <a:noFill/>
            <a:miter lim="800000"/>
            <a:headEnd/>
            <a:tailEnd/>
          </a:ln>
        </p:spPr>
      </p:pic>
      <p:sp>
        <p:nvSpPr>
          <p:cNvPr id="58" name="Block Arc 57"/>
          <p:cNvSpPr/>
          <p:nvPr/>
        </p:nvSpPr>
        <p:spPr>
          <a:xfrm rot="8841064">
            <a:off x="5550634" y="2903721"/>
            <a:ext cx="1639193" cy="1999745"/>
          </a:xfrm>
          <a:prstGeom prst="blockArc">
            <a:avLst>
              <a:gd name="adj1" fmla="val 11080797"/>
              <a:gd name="adj2" fmla="val 21515741"/>
              <a:gd name="adj3" fmla="val 1363"/>
            </a:avLst>
          </a:prstGeom>
          <a:ln>
            <a:solidFill>
              <a:srgbClr val="00CC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1" name="Straight Arrow Connector 60"/>
          <p:cNvCxnSpPr/>
          <p:nvPr/>
        </p:nvCxnSpPr>
        <p:spPr>
          <a:xfrm flipV="1">
            <a:off x="7095070" y="2984363"/>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V="1">
            <a:off x="5609590" y="3327679"/>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grpSp>
        <p:nvGrpSpPr>
          <p:cNvPr id="9" name="Group 70"/>
          <p:cNvGrpSpPr/>
          <p:nvPr/>
        </p:nvGrpSpPr>
        <p:grpSpPr>
          <a:xfrm>
            <a:off x="5357613" y="2704818"/>
            <a:ext cx="936005" cy="931010"/>
            <a:chOff x="5355938" y="2713192"/>
            <a:chExt cx="936005" cy="931010"/>
          </a:xfrm>
        </p:grpSpPr>
        <p:cxnSp>
          <p:nvCxnSpPr>
            <p:cNvPr id="72" name="Straight Connector 71"/>
            <p:cNvCxnSpPr/>
            <p:nvPr/>
          </p:nvCxnSpPr>
          <p:spPr>
            <a:xfrm flipV="1">
              <a:off x="5603630" y="2965938"/>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3" name="Picture 4"/>
            <p:cNvPicPr>
              <a:picLocks noChangeAspect="1" noChangeArrowheads="1"/>
            </p:cNvPicPr>
            <p:nvPr/>
          </p:nvPicPr>
          <p:blipFill>
            <a:blip r:embed="rId6" cstate="print"/>
            <a:srcRect/>
            <a:stretch>
              <a:fillRect/>
            </a:stretch>
          </p:blipFill>
          <p:spPr bwMode="auto">
            <a:xfrm>
              <a:off x="5355938" y="2713192"/>
              <a:ext cx="219999" cy="931010"/>
            </a:xfrm>
            <a:prstGeom prst="rect">
              <a:avLst/>
            </a:prstGeom>
            <a:noFill/>
            <a:ln w="9525">
              <a:noFill/>
              <a:miter lim="800000"/>
              <a:headEnd/>
              <a:tailEnd/>
            </a:ln>
            <a:effectLst/>
          </p:spPr>
        </p:pic>
      </p:grpSp>
      <p:grpSp>
        <p:nvGrpSpPr>
          <p:cNvPr id="10" name="Group 74"/>
          <p:cNvGrpSpPr/>
          <p:nvPr/>
        </p:nvGrpSpPr>
        <p:grpSpPr>
          <a:xfrm>
            <a:off x="6301990" y="1755768"/>
            <a:ext cx="1026416" cy="1200098"/>
            <a:chOff x="6300316" y="2266560"/>
            <a:chExt cx="1026416" cy="1200098"/>
          </a:xfrm>
        </p:grpSpPr>
        <p:cxnSp>
          <p:nvCxnSpPr>
            <p:cNvPr id="76" name="Straight Connector 75"/>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7"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cxnSp>
        <p:nvCxnSpPr>
          <p:cNvPr id="78" name="Straight Arrow Connector 77"/>
          <p:cNvCxnSpPr/>
          <p:nvPr/>
        </p:nvCxnSpPr>
        <p:spPr>
          <a:xfrm flipV="1">
            <a:off x="7098421" y="1992923"/>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grpSp>
        <p:nvGrpSpPr>
          <p:cNvPr id="11" name="Group 78"/>
          <p:cNvGrpSpPr/>
          <p:nvPr/>
        </p:nvGrpSpPr>
        <p:grpSpPr>
          <a:xfrm>
            <a:off x="6283567" y="1255024"/>
            <a:ext cx="1026416" cy="1200098"/>
            <a:chOff x="6300316" y="2266560"/>
            <a:chExt cx="1026416" cy="1200098"/>
          </a:xfrm>
        </p:grpSpPr>
        <p:cxnSp>
          <p:nvCxnSpPr>
            <p:cNvPr id="80" name="Straight Connector 79"/>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81"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grpSp>
        <p:nvGrpSpPr>
          <p:cNvPr id="12" name="Group 81"/>
          <p:cNvGrpSpPr/>
          <p:nvPr/>
        </p:nvGrpSpPr>
        <p:grpSpPr>
          <a:xfrm>
            <a:off x="5369336" y="2194026"/>
            <a:ext cx="936005" cy="931010"/>
            <a:chOff x="5355938" y="2713192"/>
            <a:chExt cx="936005" cy="931010"/>
          </a:xfrm>
        </p:grpSpPr>
        <p:cxnSp>
          <p:nvCxnSpPr>
            <p:cNvPr id="83" name="Straight Connector 82"/>
            <p:cNvCxnSpPr/>
            <p:nvPr/>
          </p:nvCxnSpPr>
          <p:spPr>
            <a:xfrm flipV="1">
              <a:off x="5603630" y="2965938"/>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84" name="Picture 4"/>
            <p:cNvPicPr>
              <a:picLocks noChangeAspect="1" noChangeArrowheads="1"/>
            </p:cNvPicPr>
            <p:nvPr/>
          </p:nvPicPr>
          <p:blipFill>
            <a:blip r:embed="rId6" cstate="print"/>
            <a:srcRect/>
            <a:stretch>
              <a:fillRect/>
            </a:stretch>
          </p:blipFill>
          <p:spPr bwMode="auto">
            <a:xfrm>
              <a:off x="5355938" y="2713192"/>
              <a:ext cx="219999" cy="931010"/>
            </a:xfrm>
            <a:prstGeom prst="rect">
              <a:avLst/>
            </a:prstGeom>
            <a:noFill/>
            <a:ln w="9525">
              <a:noFill/>
              <a:miter lim="800000"/>
              <a:headEnd/>
              <a:tailEnd/>
            </a:ln>
            <a:effectLst/>
          </p:spPr>
        </p:pic>
      </p:grpSp>
      <p:cxnSp>
        <p:nvCxnSpPr>
          <p:cNvPr id="85" name="Straight Arrow Connector 84"/>
          <p:cNvCxnSpPr/>
          <p:nvPr/>
        </p:nvCxnSpPr>
        <p:spPr>
          <a:xfrm flipV="1">
            <a:off x="5612940" y="2296049"/>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grpSp>
        <p:nvGrpSpPr>
          <p:cNvPr id="13" name="Group 85"/>
          <p:cNvGrpSpPr/>
          <p:nvPr/>
        </p:nvGrpSpPr>
        <p:grpSpPr>
          <a:xfrm>
            <a:off x="5371011" y="1663138"/>
            <a:ext cx="936005" cy="931010"/>
            <a:chOff x="5355938" y="2713192"/>
            <a:chExt cx="936005" cy="931010"/>
          </a:xfrm>
        </p:grpSpPr>
        <p:cxnSp>
          <p:nvCxnSpPr>
            <p:cNvPr id="87" name="Straight Connector 86"/>
            <p:cNvCxnSpPr/>
            <p:nvPr/>
          </p:nvCxnSpPr>
          <p:spPr>
            <a:xfrm flipV="1">
              <a:off x="5603630" y="2965938"/>
              <a:ext cx="688313" cy="386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88" name="Picture 4"/>
            <p:cNvPicPr>
              <a:picLocks noChangeAspect="1" noChangeArrowheads="1"/>
            </p:cNvPicPr>
            <p:nvPr/>
          </p:nvPicPr>
          <p:blipFill>
            <a:blip r:embed="rId6" cstate="print"/>
            <a:srcRect/>
            <a:stretch>
              <a:fillRect/>
            </a:stretch>
          </p:blipFill>
          <p:spPr bwMode="auto">
            <a:xfrm>
              <a:off x="5355938" y="2713192"/>
              <a:ext cx="219999" cy="931010"/>
            </a:xfrm>
            <a:prstGeom prst="rect">
              <a:avLst/>
            </a:prstGeom>
            <a:noFill/>
            <a:ln w="9525">
              <a:noFill/>
              <a:miter lim="800000"/>
              <a:headEnd/>
              <a:tailEnd/>
            </a:ln>
            <a:effectLst/>
          </p:spPr>
        </p:pic>
      </p:grpSp>
      <p:grpSp>
        <p:nvGrpSpPr>
          <p:cNvPr id="14" name="Group 88"/>
          <p:cNvGrpSpPr/>
          <p:nvPr/>
        </p:nvGrpSpPr>
        <p:grpSpPr>
          <a:xfrm>
            <a:off x="6255097" y="754282"/>
            <a:ext cx="1026416" cy="1200098"/>
            <a:chOff x="6300316" y="2266560"/>
            <a:chExt cx="1026416" cy="1200098"/>
          </a:xfrm>
        </p:grpSpPr>
        <p:cxnSp>
          <p:nvCxnSpPr>
            <p:cNvPr id="90" name="Straight Connector 89"/>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91"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cxnSp>
        <p:nvCxnSpPr>
          <p:cNvPr id="92" name="Straight Arrow Connector 91"/>
          <p:cNvCxnSpPr/>
          <p:nvPr/>
        </p:nvCxnSpPr>
        <p:spPr>
          <a:xfrm flipV="1">
            <a:off x="7059903" y="999811"/>
            <a:ext cx="9114" cy="499473"/>
          </a:xfrm>
          <a:prstGeom prst="straightConnector1">
            <a:avLst/>
          </a:prstGeom>
          <a:ln w="38100">
            <a:solidFill>
              <a:srgbClr val="00B0F0"/>
            </a:solidFill>
            <a:prstDash val="sysDot"/>
            <a:tailEnd type="triangle" w="sm" len="lg"/>
          </a:ln>
        </p:spPr>
        <p:style>
          <a:lnRef idx="1">
            <a:schemeClr val="accent1"/>
          </a:lnRef>
          <a:fillRef idx="0">
            <a:schemeClr val="accent1"/>
          </a:fillRef>
          <a:effectRef idx="0">
            <a:schemeClr val="accent1"/>
          </a:effectRef>
          <a:fontRef idx="minor">
            <a:schemeClr val="tx1"/>
          </a:fontRef>
        </p:style>
      </p:cxnSp>
      <p:grpSp>
        <p:nvGrpSpPr>
          <p:cNvPr id="16" name="Group 92"/>
          <p:cNvGrpSpPr/>
          <p:nvPr/>
        </p:nvGrpSpPr>
        <p:grpSpPr>
          <a:xfrm>
            <a:off x="6256772" y="263587"/>
            <a:ext cx="1026416" cy="1200098"/>
            <a:chOff x="6300316" y="2266560"/>
            <a:chExt cx="1026416" cy="1200098"/>
          </a:xfrm>
        </p:grpSpPr>
        <p:cxnSp>
          <p:nvCxnSpPr>
            <p:cNvPr id="94" name="Straight Connector 93"/>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95" name="Picture 5"/>
            <p:cNvPicPr>
              <a:picLocks noChangeAspect="1" noChangeArrowheads="1"/>
            </p:cNvPicPr>
            <p:nvPr/>
          </p:nvPicPr>
          <p:blipFill>
            <a:blip r:embed="rId5" cstate="print"/>
            <a:srcRect/>
            <a:stretch>
              <a:fillRect/>
            </a:stretch>
          </p:blipFill>
          <p:spPr bwMode="auto">
            <a:xfrm>
              <a:off x="7107657" y="2266560"/>
              <a:ext cx="219075" cy="927100"/>
            </a:xfrm>
            <a:prstGeom prst="rect">
              <a:avLst/>
            </a:prstGeom>
            <a:noFill/>
            <a:ln w="9525">
              <a:noFill/>
              <a:miter lim="800000"/>
              <a:headEnd/>
              <a:tailEnd/>
            </a:ln>
            <a:effectLst/>
          </p:spPr>
        </p:pic>
      </p:grpSp>
      <p:grpSp>
        <p:nvGrpSpPr>
          <p:cNvPr id="17" name="Group 95"/>
          <p:cNvGrpSpPr/>
          <p:nvPr/>
        </p:nvGrpSpPr>
        <p:grpSpPr>
          <a:xfrm>
            <a:off x="6281894" y="2740507"/>
            <a:ext cx="1026416" cy="1200098"/>
            <a:chOff x="6300316" y="2266560"/>
            <a:chExt cx="1026416" cy="1200098"/>
          </a:xfrm>
        </p:grpSpPr>
        <p:cxnSp>
          <p:nvCxnSpPr>
            <p:cNvPr id="97" name="Straight Connector 96"/>
            <p:cNvCxnSpPr/>
            <p:nvPr/>
          </p:nvCxnSpPr>
          <p:spPr>
            <a:xfrm flipV="1">
              <a:off x="6300316" y="3017833"/>
              <a:ext cx="817266" cy="4488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99" name="Picture 5"/>
            <p:cNvPicPr>
              <a:picLocks noChangeAspect="1" noChangeArrowheads="1"/>
            </p:cNvPicPr>
            <p:nvPr/>
          </p:nvPicPr>
          <p:blipFill>
            <a:blip r:embed="rId5" cstate="print"/>
            <a:srcRect/>
            <a:stretch>
              <a:fillRect/>
            </a:stretch>
          </p:blipFill>
          <p:spPr bwMode="auto">
            <a:xfrm>
              <a:off x="7122607" y="2266560"/>
              <a:ext cx="204125" cy="927100"/>
            </a:xfrm>
            <a:prstGeom prst="rect">
              <a:avLst/>
            </a:prstGeom>
            <a:noFill/>
            <a:ln w="9525">
              <a:noFill/>
              <a:miter lim="800000"/>
              <a:headEnd/>
              <a:tailEnd/>
            </a:ln>
            <a:effectLst/>
          </p:spPr>
        </p:pic>
      </p:grpSp>
      <p:graphicFrame>
        <p:nvGraphicFramePr>
          <p:cNvPr id="100" name="Object 99"/>
          <p:cNvGraphicFramePr>
            <a:graphicFrameLocks noChangeAspect="1"/>
          </p:cNvGraphicFramePr>
          <p:nvPr/>
        </p:nvGraphicFramePr>
        <p:xfrm>
          <a:off x="4469006" y="4344238"/>
          <a:ext cx="942975" cy="344488"/>
        </p:xfrm>
        <a:graphic>
          <a:graphicData uri="http://schemas.openxmlformats.org/presentationml/2006/ole">
            <p:oleObj spid="_x0000_s683016" name="Equation" r:id="rId12" imgW="799920" imgH="291960" progId="">
              <p:embed/>
            </p:oleObj>
          </a:graphicData>
        </a:graphic>
      </p:graphicFrame>
      <p:graphicFrame>
        <p:nvGraphicFramePr>
          <p:cNvPr id="307210" name="Object 4"/>
          <p:cNvGraphicFramePr>
            <a:graphicFrameLocks noChangeAspect="1"/>
          </p:cNvGraphicFramePr>
          <p:nvPr/>
        </p:nvGraphicFramePr>
        <p:xfrm>
          <a:off x="7293952" y="2776015"/>
          <a:ext cx="1673225" cy="450850"/>
        </p:xfrm>
        <a:graphic>
          <a:graphicData uri="http://schemas.openxmlformats.org/presentationml/2006/ole">
            <p:oleObj spid="_x0000_s683017" name="Equation" r:id="rId13" imgW="1041120" imgH="279360" progId="">
              <p:embed/>
            </p:oleObj>
          </a:graphicData>
        </a:graphic>
      </p:graphicFrame>
      <p:graphicFrame>
        <p:nvGraphicFramePr>
          <p:cNvPr id="101" name="Object 5"/>
          <p:cNvGraphicFramePr>
            <a:graphicFrameLocks noChangeAspect="1"/>
          </p:cNvGraphicFramePr>
          <p:nvPr/>
        </p:nvGraphicFramePr>
        <p:xfrm>
          <a:off x="4083033" y="3357789"/>
          <a:ext cx="1324655" cy="370262"/>
        </p:xfrm>
        <a:graphic>
          <a:graphicData uri="http://schemas.openxmlformats.org/presentationml/2006/ole">
            <p:oleObj spid="_x0000_s683018" name="Equation" r:id="rId14" imgW="863280" imgH="241200" progId="">
              <p:embed/>
            </p:oleObj>
          </a:graphicData>
        </a:graphic>
      </p:graphicFrame>
      <p:graphicFrame>
        <p:nvGraphicFramePr>
          <p:cNvPr id="307212" name="Object 4"/>
          <p:cNvGraphicFramePr>
            <a:graphicFrameLocks noChangeAspect="1"/>
          </p:cNvGraphicFramePr>
          <p:nvPr/>
        </p:nvGraphicFramePr>
        <p:xfrm>
          <a:off x="7246938" y="2205038"/>
          <a:ext cx="1693862" cy="450850"/>
        </p:xfrm>
        <a:graphic>
          <a:graphicData uri="http://schemas.openxmlformats.org/presentationml/2006/ole">
            <p:oleObj spid="_x0000_s683019" name="Equation" r:id="rId15" imgW="1054080" imgH="279360" progId="">
              <p:embed/>
            </p:oleObj>
          </a:graphicData>
        </a:graphic>
      </p:graphicFrame>
      <p:graphicFrame>
        <p:nvGraphicFramePr>
          <p:cNvPr id="307213" name="Object 5"/>
          <p:cNvGraphicFramePr>
            <a:graphicFrameLocks noChangeAspect="1"/>
          </p:cNvGraphicFramePr>
          <p:nvPr/>
        </p:nvGraphicFramePr>
        <p:xfrm>
          <a:off x="3920584" y="2733675"/>
          <a:ext cx="1385887" cy="371475"/>
        </p:xfrm>
        <a:graphic>
          <a:graphicData uri="http://schemas.openxmlformats.org/presentationml/2006/ole">
            <p:oleObj spid="_x0000_s683020" name="Equation" r:id="rId16" imgW="901440" imgH="241200" progId="">
              <p:embed/>
            </p:oleObj>
          </a:graphicData>
        </a:graphic>
      </p:graphicFrame>
      <p:sp>
        <p:nvSpPr>
          <p:cNvPr id="104" name="Rectangle 6"/>
          <p:cNvSpPr txBox="1">
            <a:spLocks noChangeArrowheads="1"/>
          </p:cNvSpPr>
          <p:nvPr/>
        </p:nvSpPr>
        <p:spPr>
          <a:xfrm>
            <a:off x="777238" y="5459090"/>
            <a:ext cx="2568861" cy="632138"/>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smtClean="0">
                <a:ln>
                  <a:noFill/>
                </a:ln>
                <a:solidFill>
                  <a:srgbClr val="FF0000"/>
                </a:solidFill>
                <a:effectLst>
                  <a:outerShdw blurRad="53975" dist="22860" dir="5400000" algn="tl" rotWithShape="0">
                    <a:srgbClr val="000000">
                      <a:alpha val="55000"/>
                    </a:srgbClr>
                  </a:outerShdw>
                </a:effectLst>
                <a:uLnTx/>
                <a:uFillTx/>
                <a:latin typeface="+mj-lt"/>
                <a:ea typeface="+mj-ea"/>
                <a:cs typeface="+mj-cs"/>
              </a:rPr>
              <a:t>2 fold Screw</a:t>
            </a:r>
          </a:p>
        </p:txBody>
      </p:sp>
      <p:sp>
        <p:nvSpPr>
          <p:cNvPr id="105" name="Rectangle 6"/>
          <p:cNvSpPr txBox="1">
            <a:spLocks noChangeArrowheads="1"/>
          </p:cNvSpPr>
          <p:nvPr/>
        </p:nvSpPr>
        <p:spPr>
          <a:xfrm>
            <a:off x="5159994" y="5259798"/>
            <a:ext cx="2568861" cy="632138"/>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smtClean="0">
                <a:ln>
                  <a:noFill/>
                </a:ln>
                <a:solidFill>
                  <a:srgbClr val="FF0000"/>
                </a:solidFill>
                <a:effectLst>
                  <a:outerShdw blurRad="53975" dist="22860" dir="5400000" algn="tl" rotWithShape="0">
                    <a:srgbClr val="000000">
                      <a:alpha val="55000"/>
                    </a:srgbClr>
                  </a:outerShdw>
                </a:effectLst>
                <a:uLnTx/>
                <a:uFillTx/>
                <a:latin typeface="+mj-lt"/>
                <a:ea typeface="+mj-ea"/>
                <a:cs typeface="+mj-cs"/>
              </a:rPr>
              <a:t>2</a:t>
            </a:r>
            <a:r>
              <a:rPr kumimoji="0" lang="en-US" sz="1800" b="1" i="0" u="none" strike="noStrike" kern="1200" cap="none" spc="0" normalizeH="0" baseline="-25000" noProof="0" dirty="0" smtClean="0">
                <a:ln>
                  <a:noFill/>
                </a:ln>
                <a:solidFill>
                  <a:srgbClr val="0070C0"/>
                </a:solidFill>
                <a:effectLst>
                  <a:outerShdw blurRad="53975" dist="22860" dir="5400000" algn="tl" rotWithShape="0">
                    <a:srgbClr val="000000">
                      <a:alpha val="55000"/>
                    </a:srgbClr>
                  </a:outerShdw>
                </a:effectLst>
                <a:uLnTx/>
                <a:uFillTx/>
                <a:latin typeface="+mj-lt"/>
                <a:ea typeface="+mj-ea"/>
                <a:cs typeface="+mj-cs"/>
              </a:rPr>
              <a:t>1 </a:t>
            </a:r>
            <a:r>
              <a:rPr kumimoji="0" lang="en-US" sz="1800" b="1" i="0" u="none" strike="noStrike" kern="1200" cap="none" spc="0" normalizeH="0" baseline="0" noProof="0" dirty="0" smtClean="0">
                <a:ln>
                  <a:noFill/>
                </a:ln>
                <a:solidFill>
                  <a:srgbClr val="FF0000"/>
                </a:solidFill>
                <a:effectLst>
                  <a:outerShdw blurRad="53975" dist="22860" dir="5400000" algn="tl" rotWithShape="0">
                    <a:srgbClr val="000000">
                      <a:alpha val="55000"/>
                    </a:srgbClr>
                  </a:outerShdw>
                </a:effectLst>
                <a:uLnTx/>
                <a:uFillTx/>
                <a:latin typeface="+mj-lt"/>
                <a:ea typeface="+mj-ea"/>
                <a:cs typeface="+mj-cs"/>
              </a:rPr>
              <a:t>fold Screw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wipe(down)">
                                      <p:cBhvr>
                                        <p:cTn id="16" dur="500"/>
                                        <p:tgtEl>
                                          <p:spTgt spid="61"/>
                                        </p:tgtEl>
                                      </p:cBhvr>
                                    </p:animEffect>
                                  </p:childTnLst>
                                  <p:subTnLst>
                                    <p:set>
                                      <p:cBhvr override="childStyle">
                                        <p:cTn dur="1" fill="hold" display="0" masterRel="nextClick" afterEffect="1"/>
                                        <p:tgtEl>
                                          <p:spTgt spid="61"/>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wipe(down)">
                                      <p:cBhvr>
                                        <p:cTn id="29" dur="500"/>
                                        <p:tgtEl>
                                          <p:spTgt spid="67"/>
                                        </p:tgtEl>
                                      </p:cBhvr>
                                    </p:animEffect>
                                  </p:childTnLst>
                                  <p:subTnLst>
                                    <p:set>
                                      <p:cBhvr override="childStyle">
                                        <p:cTn dur="1" fill="hold" display="0" masterRel="nextClick" afterEffect="1"/>
                                        <p:tgtEl>
                                          <p:spTgt spid="67"/>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wipe(down)">
                                      <p:cBhvr>
                                        <p:cTn id="42" dur="500"/>
                                        <p:tgtEl>
                                          <p:spTgt spid="78"/>
                                        </p:tgtEl>
                                      </p:cBhvr>
                                    </p:animEffect>
                                  </p:childTnLst>
                                  <p:subTnLst>
                                    <p:set>
                                      <p:cBhvr override="childStyle">
                                        <p:cTn dur="1" fill="hold" display="0" masterRel="nextClick" afterEffect="1"/>
                                        <p:tgtEl>
                                          <p:spTgt spid="78"/>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85"/>
                                        </p:tgtEl>
                                        <p:attrNameLst>
                                          <p:attrName>style.visibility</p:attrName>
                                        </p:attrNameLst>
                                      </p:cBhvr>
                                      <p:to>
                                        <p:strVal val="visible"/>
                                      </p:to>
                                    </p:set>
                                    <p:animEffect transition="in" filter="wipe(down)">
                                      <p:cBhvr>
                                        <p:cTn id="55" dur="500"/>
                                        <p:tgtEl>
                                          <p:spTgt spid="85"/>
                                        </p:tgtEl>
                                      </p:cBhvr>
                                    </p:animEffect>
                                  </p:childTnLst>
                                  <p:subTnLst>
                                    <p:set>
                                      <p:cBhvr override="childStyle">
                                        <p:cTn dur="1" fill="hold" display="0" masterRel="nextClick" afterEffect="1"/>
                                        <p:tgtEl>
                                          <p:spTgt spid="85"/>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92"/>
                                        </p:tgtEl>
                                        <p:attrNameLst>
                                          <p:attrName>style.visibility</p:attrName>
                                        </p:attrNameLst>
                                      </p:cBhvr>
                                      <p:to>
                                        <p:strVal val="visible"/>
                                      </p:to>
                                    </p:set>
                                    <p:animEffect transition="in" filter="wipe(down)">
                                      <p:cBhvr>
                                        <p:cTn id="68" dur="500"/>
                                        <p:tgtEl>
                                          <p:spTgt spid="92"/>
                                        </p:tgtEl>
                                      </p:cBhvr>
                                    </p:animEffec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0721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0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0721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07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6"/>
          <p:cNvSpPr txBox="1">
            <a:spLocks noChangeArrowheads="1"/>
          </p:cNvSpPr>
          <p:nvPr/>
        </p:nvSpPr>
        <p:spPr>
          <a:xfrm>
            <a:off x="1609577" y="362901"/>
            <a:ext cx="4198370" cy="632138"/>
          </a:xfrm>
          <a:prstGeom prst="rect">
            <a:avLst/>
          </a:prstGeom>
        </p:spPr>
        <p:txBody>
          <a:bodyPr/>
          <a:lstStyle/>
          <a:p>
            <a:pPr lvl="0" eaLnBrk="1" hangingPunct="1"/>
            <a:r>
              <a:rPr lang="en-US" b="1" dirty="0" smtClean="0">
                <a:solidFill>
                  <a:srgbClr val="0070C0"/>
                </a:solidFill>
                <a:effectLst>
                  <a:outerShdw blurRad="53975" dist="22860" dir="5400000" algn="tl" rotWithShape="0">
                    <a:srgbClr val="000000">
                      <a:alpha val="55000"/>
                    </a:srgbClr>
                  </a:outerShdw>
                </a:effectLst>
                <a:latin typeface="+mn-lt"/>
              </a:rPr>
              <a:t>Three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
        <p:nvSpPr>
          <p:cNvPr id="18" name="Rectangle 2"/>
          <p:cNvSpPr>
            <a:spLocks noChangeArrowheads="1"/>
          </p:cNvSpPr>
          <p:nvPr/>
        </p:nvSpPr>
        <p:spPr bwMode="auto">
          <a:xfrm>
            <a:off x="261254" y="928670"/>
            <a:ext cx="8601391" cy="201593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ts val="600"/>
              </a:spcBef>
              <a:spcAft>
                <a:spcPts val="600"/>
              </a:spcAft>
              <a:buClrTx/>
              <a:buSzTx/>
              <a:buFont typeface="Wingdings" pitchFamily="2" charset="2"/>
              <a:buChar char="v"/>
              <a:tabLst/>
            </a:pPr>
            <a:r>
              <a:rPr kumimoji="0" lang="en-US" sz="2100" b="1" i="0" u="none" strike="noStrike" cap="none" normalizeH="0" baseline="0" dirty="0" smtClean="0">
                <a:ln>
                  <a:noFill/>
                </a:ln>
                <a:solidFill>
                  <a:srgbClr val="002060"/>
                </a:solidFill>
                <a:effectLst/>
                <a:latin typeface="Times New Roman" pitchFamily="18" charset="0"/>
              </a:rPr>
              <a:t>There are two possible translation, </a:t>
            </a:r>
            <a:r>
              <a:rPr kumimoji="0" lang="en-US" sz="2100" b="1" i="0" u="none" strike="noStrike" cap="none" normalizeH="0" baseline="0" dirty="0" smtClean="0">
                <a:ln>
                  <a:noFill/>
                </a:ln>
                <a:solidFill>
                  <a:srgbClr val="FF0000"/>
                </a:solidFill>
                <a:effectLst/>
                <a:latin typeface="Times New Roman" pitchFamily="18" charset="0"/>
              </a:rPr>
              <a:t>1/3</a:t>
            </a:r>
            <a:r>
              <a:rPr kumimoji="0" lang="en-US" sz="2100" b="1" i="0" u="none" strike="noStrike" cap="none" normalizeH="0" baseline="0" dirty="0" smtClean="0">
                <a:ln>
                  <a:noFill/>
                </a:ln>
                <a:solidFill>
                  <a:srgbClr val="002060"/>
                </a:solidFill>
                <a:effectLst/>
                <a:latin typeface="Times New Roman" pitchFamily="18" charset="0"/>
              </a:rPr>
              <a:t> and</a:t>
            </a:r>
            <a:r>
              <a:rPr kumimoji="0" lang="en-US" sz="2100" b="1" i="0" u="none" strike="noStrike" cap="none" normalizeH="0" baseline="0" dirty="0" smtClean="0">
                <a:ln>
                  <a:noFill/>
                </a:ln>
                <a:solidFill>
                  <a:srgbClr val="FF0000"/>
                </a:solidFill>
                <a:effectLst/>
                <a:latin typeface="Times New Roman" pitchFamily="18" charset="0"/>
              </a:rPr>
              <a:t> 2/3 </a:t>
            </a:r>
            <a:r>
              <a:rPr kumimoji="0" lang="en-US" sz="2100" b="1" i="0" u="none" strike="noStrike" cap="none" normalizeH="0" baseline="0" dirty="0" smtClean="0">
                <a:ln>
                  <a:noFill/>
                </a:ln>
                <a:solidFill>
                  <a:srgbClr val="002060"/>
                </a:solidFill>
                <a:effectLst/>
                <a:latin typeface="Times New Roman" pitchFamily="18" charset="0"/>
              </a:rPr>
              <a:t>times the repeat period along the axis for three fold screw axis.</a:t>
            </a:r>
          </a:p>
          <a:p>
            <a:pPr marL="457200" marR="0" lvl="0" indent="-457200" algn="just" defTabSz="914400" rtl="0" eaLnBrk="0" fontAlgn="base" latinLnBrk="0" hangingPunct="0">
              <a:lnSpc>
                <a:spcPct val="100000"/>
              </a:lnSpc>
              <a:spcBef>
                <a:spcPts val="600"/>
              </a:spcBef>
              <a:spcAft>
                <a:spcPts val="600"/>
              </a:spcAft>
              <a:buClrTx/>
              <a:buSzTx/>
              <a:buFont typeface="Wingdings" pitchFamily="2" charset="2"/>
              <a:buChar char="v"/>
              <a:tabLst/>
            </a:pPr>
            <a:r>
              <a:rPr lang="en-US" sz="2100" b="1" dirty="0" smtClean="0">
                <a:solidFill>
                  <a:srgbClr val="002060"/>
                </a:solidFill>
                <a:latin typeface="Times New Roman" pitchFamily="18" charset="0"/>
                <a:cs typeface="Times New Roman" pitchFamily="18" charset="0"/>
              </a:rPr>
              <a:t>These are symbolically denoted by </a:t>
            </a:r>
            <a:r>
              <a:rPr lang="en-US" sz="2100" b="1" dirty="0" smtClean="0">
                <a:solidFill>
                  <a:srgbClr val="FF0000"/>
                </a:solidFill>
                <a:latin typeface="Times New Roman" pitchFamily="18" charset="0"/>
                <a:cs typeface="Times New Roman" pitchFamily="18" charset="0"/>
              </a:rPr>
              <a:t>3</a:t>
            </a:r>
            <a:r>
              <a:rPr lang="en-US" sz="2100" b="1" baseline="-25000" dirty="0" smtClean="0">
                <a:solidFill>
                  <a:srgbClr val="FF0000"/>
                </a:solidFill>
                <a:latin typeface="Times New Roman" pitchFamily="18" charset="0"/>
                <a:cs typeface="Times New Roman" pitchFamily="18" charset="0"/>
              </a:rPr>
              <a:t>1</a:t>
            </a:r>
            <a:r>
              <a:rPr lang="en-US" sz="2100" b="1" dirty="0" smtClean="0">
                <a:solidFill>
                  <a:srgbClr val="002060"/>
                </a:solidFill>
                <a:latin typeface="Times New Roman" pitchFamily="18" charset="0"/>
                <a:cs typeface="Times New Roman" pitchFamily="18" charset="0"/>
              </a:rPr>
              <a:t> and </a:t>
            </a:r>
            <a:r>
              <a:rPr lang="en-US" sz="2100" b="1" dirty="0" smtClean="0">
                <a:solidFill>
                  <a:srgbClr val="FF0000"/>
                </a:solidFill>
                <a:latin typeface="Times New Roman" pitchFamily="18" charset="0"/>
                <a:cs typeface="Times New Roman" pitchFamily="18" charset="0"/>
              </a:rPr>
              <a:t>3</a:t>
            </a:r>
            <a:r>
              <a:rPr lang="en-US" sz="2100" b="1" baseline="-25000" dirty="0" smtClean="0">
                <a:solidFill>
                  <a:srgbClr val="FF0000"/>
                </a:solidFill>
                <a:latin typeface="Times New Roman" pitchFamily="18" charset="0"/>
                <a:cs typeface="Times New Roman" pitchFamily="18" charset="0"/>
              </a:rPr>
              <a:t>2</a:t>
            </a:r>
            <a:r>
              <a:rPr lang="en-US" sz="2100" b="1" dirty="0" smtClean="0">
                <a:solidFill>
                  <a:srgbClr val="002060"/>
                </a:solidFill>
                <a:latin typeface="Times New Roman" pitchFamily="18" charset="0"/>
                <a:cs typeface="Times New Roman" pitchFamily="18" charset="0"/>
              </a:rPr>
              <a:t>.</a:t>
            </a:r>
          </a:p>
          <a:p>
            <a:pPr marL="457200" lvl="0" indent="-457200" algn="just">
              <a:spcBef>
                <a:spcPts val="600"/>
              </a:spcBef>
              <a:spcAft>
                <a:spcPts val="600"/>
              </a:spcAft>
              <a:buFont typeface="Wingdings" pitchFamily="2" charset="2"/>
              <a:buChar char="v"/>
            </a:pPr>
            <a:r>
              <a:rPr kumimoji="0" lang="en-US" sz="2100" b="1" i="0" u="none" strike="noStrike" cap="none" normalizeH="0" baseline="0" dirty="0" smtClean="0">
                <a:ln>
                  <a:noFill/>
                </a:ln>
                <a:solidFill>
                  <a:srgbClr val="002060"/>
                </a:solidFill>
                <a:effectLst/>
                <a:latin typeface="Times New Roman" pitchFamily="18" charset="0"/>
                <a:cs typeface="Times New Roman" pitchFamily="18" charset="0"/>
              </a:rPr>
              <a:t>The</a:t>
            </a:r>
            <a:r>
              <a:rPr kumimoji="0" lang="en-US" sz="2100" b="1" i="0" u="none" strike="noStrike" cap="none" normalizeH="0" dirty="0" smtClean="0">
                <a:ln>
                  <a:noFill/>
                </a:ln>
                <a:solidFill>
                  <a:srgbClr val="002060"/>
                </a:solidFill>
                <a:effectLst/>
                <a:latin typeface="Times New Roman" pitchFamily="18" charset="0"/>
                <a:cs typeface="Times New Roman" pitchFamily="18" charset="0"/>
              </a:rPr>
              <a:t> </a:t>
            </a:r>
            <a:r>
              <a:rPr lang="en-US" sz="2100" b="1" dirty="0" smtClean="0">
                <a:solidFill>
                  <a:srgbClr val="002060"/>
                </a:solidFill>
                <a:latin typeface="Times New Roman" pitchFamily="18" charset="0"/>
                <a:cs typeface="Times New Roman" pitchFamily="18" charset="0"/>
              </a:rPr>
              <a:t>rotation in anticlockwise direction, an axis 3</a:t>
            </a:r>
            <a:r>
              <a:rPr lang="en-US" sz="2100" b="1" baseline="-25000" dirty="0" smtClean="0">
                <a:solidFill>
                  <a:srgbClr val="002060"/>
                </a:solidFill>
                <a:latin typeface="Times New Roman" pitchFamily="18" charset="0"/>
                <a:cs typeface="Times New Roman" pitchFamily="18" charset="0"/>
              </a:rPr>
              <a:t>1</a:t>
            </a:r>
            <a:r>
              <a:rPr lang="en-US" sz="2100" b="1" dirty="0" smtClean="0">
                <a:solidFill>
                  <a:srgbClr val="002060"/>
                </a:solidFill>
                <a:latin typeface="Times New Roman" pitchFamily="18" charset="0"/>
                <a:cs typeface="Times New Roman" pitchFamily="18" charset="0"/>
              </a:rPr>
              <a:t> will repeat the object at heights </a:t>
            </a:r>
            <a:r>
              <a:rPr lang="en-US" sz="2100" b="1" dirty="0" smtClean="0">
                <a:solidFill>
                  <a:srgbClr val="FF0000"/>
                </a:solidFill>
                <a:latin typeface="Times New Roman" pitchFamily="18" charset="0"/>
                <a:cs typeface="Times New Roman" pitchFamily="18" charset="0"/>
              </a:rPr>
              <a:t>1/3</a:t>
            </a:r>
            <a:r>
              <a:rPr lang="en-US" sz="2100" b="1" dirty="0" smtClean="0">
                <a:solidFill>
                  <a:srgbClr val="002060"/>
                </a:solidFill>
                <a:latin typeface="Times New Roman" pitchFamily="18" charset="0"/>
                <a:cs typeface="Times New Roman" pitchFamily="18" charset="0"/>
              </a:rPr>
              <a:t>, </a:t>
            </a:r>
            <a:r>
              <a:rPr lang="en-US" sz="2100" b="1" dirty="0" smtClean="0">
                <a:solidFill>
                  <a:srgbClr val="FF0000"/>
                </a:solidFill>
                <a:latin typeface="Times New Roman" pitchFamily="18" charset="0"/>
                <a:cs typeface="Times New Roman" pitchFamily="18" charset="0"/>
              </a:rPr>
              <a:t>2/3</a:t>
            </a:r>
            <a:r>
              <a:rPr lang="en-US" sz="2100" b="1" dirty="0" smtClean="0">
                <a:solidFill>
                  <a:srgbClr val="002060"/>
                </a:solidFill>
                <a:latin typeface="Times New Roman" pitchFamily="18" charset="0"/>
                <a:cs typeface="Times New Roman" pitchFamily="18" charset="0"/>
              </a:rPr>
              <a:t> and </a:t>
            </a:r>
            <a:r>
              <a:rPr lang="en-US" sz="2100" b="1" dirty="0" smtClean="0">
                <a:solidFill>
                  <a:srgbClr val="FF0000"/>
                </a:solidFill>
                <a:latin typeface="Times New Roman" pitchFamily="18" charset="0"/>
                <a:cs typeface="Times New Roman" pitchFamily="18" charset="0"/>
              </a:rPr>
              <a:t>3/3</a:t>
            </a:r>
            <a:r>
              <a:rPr lang="en-US" sz="2100" b="1" dirty="0" smtClean="0">
                <a:solidFill>
                  <a:srgbClr val="002060"/>
                </a:solidFill>
                <a:latin typeface="Times New Roman" pitchFamily="18" charset="0"/>
                <a:cs typeface="Times New Roman" pitchFamily="18" charset="0"/>
              </a:rPr>
              <a:t> in orientations at </a:t>
            </a:r>
            <a:r>
              <a:rPr lang="en-US" sz="2100" b="1" dirty="0" smtClean="0">
                <a:solidFill>
                  <a:srgbClr val="FF0000"/>
                </a:solidFill>
                <a:latin typeface="Times New Roman" pitchFamily="18" charset="0"/>
                <a:cs typeface="Times New Roman" pitchFamily="18" charset="0"/>
              </a:rPr>
              <a:t>120º</a:t>
            </a:r>
            <a:r>
              <a:rPr lang="en-US" sz="2100" b="1" dirty="0" smtClean="0">
                <a:solidFill>
                  <a:srgbClr val="002060"/>
                </a:solidFill>
                <a:latin typeface="Times New Roman" pitchFamily="18" charset="0"/>
                <a:cs typeface="Times New Roman" pitchFamily="18" charset="0"/>
              </a:rPr>
              <a:t>, </a:t>
            </a:r>
            <a:r>
              <a:rPr lang="en-US" sz="2100" b="1" dirty="0" smtClean="0">
                <a:solidFill>
                  <a:srgbClr val="FF0000"/>
                </a:solidFill>
                <a:latin typeface="Times New Roman" pitchFamily="18" charset="0"/>
                <a:cs typeface="Times New Roman" pitchFamily="18" charset="0"/>
              </a:rPr>
              <a:t>240º </a:t>
            </a:r>
            <a:r>
              <a:rPr lang="en-US" sz="2100" b="1" dirty="0" smtClean="0">
                <a:solidFill>
                  <a:srgbClr val="002060"/>
                </a:solidFill>
                <a:latin typeface="Times New Roman" pitchFamily="18" charset="0"/>
                <a:cs typeface="Times New Roman" pitchFamily="18" charset="0"/>
              </a:rPr>
              <a:t>and </a:t>
            </a:r>
            <a:r>
              <a:rPr lang="en-US" sz="2100" b="1" dirty="0" smtClean="0">
                <a:solidFill>
                  <a:srgbClr val="FF0000"/>
                </a:solidFill>
                <a:latin typeface="Times New Roman" pitchFamily="18" charset="0"/>
                <a:cs typeface="Times New Roman" pitchFamily="18" charset="0"/>
              </a:rPr>
              <a:t>360º</a:t>
            </a:r>
            <a:r>
              <a:rPr lang="en-US" sz="2100" b="1" dirty="0" smtClean="0">
                <a:solidFill>
                  <a:srgbClr val="002060"/>
                </a:solidFill>
                <a:latin typeface="Times New Roman" pitchFamily="18" charset="0"/>
                <a:cs typeface="Times New Roman" pitchFamily="18" charset="0"/>
              </a:rPr>
              <a:t>. </a:t>
            </a:r>
          </a:p>
        </p:txBody>
      </p:sp>
      <p:grpSp>
        <p:nvGrpSpPr>
          <p:cNvPr id="2" name="Group 76"/>
          <p:cNvGrpSpPr/>
          <p:nvPr/>
        </p:nvGrpSpPr>
        <p:grpSpPr>
          <a:xfrm>
            <a:off x="934497" y="3243707"/>
            <a:ext cx="1227572" cy="3167471"/>
            <a:chOff x="934497" y="3547061"/>
            <a:chExt cx="1227572" cy="3167471"/>
          </a:xfrm>
        </p:grpSpPr>
        <p:sp>
          <p:nvSpPr>
            <p:cNvPr id="19" name="Oval 18"/>
            <p:cNvSpPr/>
            <p:nvPr/>
          </p:nvSpPr>
          <p:spPr>
            <a:xfrm>
              <a:off x="934497" y="5627071"/>
              <a:ext cx="1225899" cy="67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936170" y="3900429"/>
              <a:ext cx="1225899" cy="67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flipH="1">
              <a:off x="1527351" y="3657594"/>
              <a:ext cx="10047" cy="2306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4" name="Isosceles Triangle 23"/>
            <p:cNvSpPr/>
            <p:nvPr/>
          </p:nvSpPr>
          <p:spPr>
            <a:xfrm rot="473557">
              <a:off x="1346479" y="3547061"/>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41"/>
            <p:cNvGrpSpPr/>
            <p:nvPr/>
          </p:nvGrpSpPr>
          <p:grpSpPr>
            <a:xfrm>
              <a:off x="1114026" y="5657222"/>
              <a:ext cx="1046370" cy="544495"/>
              <a:chOff x="1114026" y="5657222"/>
              <a:chExt cx="1046370" cy="544495"/>
            </a:xfrm>
          </p:grpSpPr>
          <p:cxnSp>
            <p:nvCxnSpPr>
              <p:cNvPr id="26" name="Straight Connector 25"/>
              <p:cNvCxnSpPr>
                <a:endCxn id="19" idx="6"/>
              </p:cNvCxnSpPr>
              <p:nvPr/>
            </p:nvCxnSpPr>
            <p:spPr>
              <a:xfrm>
                <a:off x="1537398" y="5938576"/>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286189" y="5657222"/>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19" idx="3"/>
              </p:cNvCxnSpPr>
              <p:nvPr/>
            </p:nvCxnSpPr>
            <p:spPr>
              <a:xfrm flipH="1">
                <a:off x="1114026" y="593857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1949449" y="590838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308057" y="5699058"/>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1179113" y="607251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42"/>
            <p:cNvGrpSpPr/>
            <p:nvPr/>
          </p:nvGrpSpPr>
          <p:grpSpPr>
            <a:xfrm>
              <a:off x="1105652" y="3950677"/>
              <a:ext cx="1046370" cy="544495"/>
              <a:chOff x="1114026" y="5657222"/>
              <a:chExt cx="1046370" cy="544495"/>
            </a:xfrm>
          </p:grpSpPr>
          <p:cxnSp>
            <p:nvCxnSpPr>
              <p:cNvPr id="44" name="Straight Connector 43"/>
              <p:cNvCxnSpPr/>
              <p:nvPr/>
            </p:nvCxnSpPr>
            <p:spPr>
              <a:xfrm>
                <a:off x="1537398" y="5938576"/>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286189" y="5657222"/>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1114026" y="593857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1949449" y="590838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1308057" y="5699058"/>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1179113" y="607251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1" name="Straight Connector 50"/>
            <p:cNvCxnSpPr/>
            <p:nvPr/>
          </p:nvCxnSpPr>
          <p:spPr>
            <a:xfrm flipV="1">
              <a:off x="1718268" y="4250453"/>
              <a:ext cx="0" cy="1678075"/>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1679621" y="4785808"/>
              <a:ext cx="338554" cy="461665"/>
            </a:xfrm>
            <a:prstGeom prst="rect">
              <a:avLst/>
            </a:prstGeom>
          </p:spPr>
          <p:txBody>
            <a:bodyPr wrap="none">
              <a:spAutoFit/>
            </a:bodyPr>
            <a:lstStyle/>
            <a:p>
              <a:r>
                <a:rPr lang="en-US" b="1" dirty="0" smtClean="0">
                  <a:solidFill>
                    <a:srgbClr val="FF0000"/>
                  </a:solidFill>
                </a:rPr>
                <a:t>a</a:t>
              </a:r>
              <a:endParaRPr lang="en-US" dirty="0"/>
            </a:p>
          </p:txBody>
        </p:sp>
        <p:sp>
          <p:nvSpPr>
            <p:cNvPr id="56" name="Rectangle 55"/>
            <p:cNvSpPr/>
            <p:nvPr/>
          </p:nvSpPr>
          <p:spPr>
            <a:xfrm>
              <a:off x="1368121" y="6252867"/>
              <a:ext cx="338554" cy="461665"/>
            </a:xfrm>
            <a:prstGeom prst="rect">
              <a:avLst/>
            </a:prstGeom>
          </p:spPr>
          <p:txBody>
            <a:bodyPr wrap="none">
              <a:spAutoFit/>
            </a:bodyPr>
            <a:lstStyle/>
            <a:p>
              <a:r>
                <a:rPr lang="en-US" b="1" dirty="0" smtClean="0">
                  <a:solidFill>
                    <a:srgbClr val="FF0000"/>
                  </a:solidFill>
                </a:rPr>
                <a:t>3</a:t>
              </a:r>
              <a:endParaRPr lang="en-US" dirty="0"/>
            </a:p>
          </p:txBody>
        </p:sp>
      </p:grpSp>
      <p:grpSp>
        <p:nvGrpSpPr>
          <p:cNvPr id="5" name="Group 160"/>
          <p:cNvGrpSpPr/>
          <p:nvPr/>
        </p:nvGrpSpPr>
        <p:grpSpPr>
          <a:xfrm>
            <a:off x="3167930" y="3214686"/>
            <a:ext cx="1390530" cy="3219380"/>
            <a:chOff x="3167930" y="3518040"/>
            <a:chExt cx="1390530" cy="3219380"/>
          </a:xfrm>
        </p:grpSpPr>
        <p:cxnSp>
          <p:nvCxnSpPr>
            <p:cNvPr id="81" name="Straight Connector 80"/>
            <p:cNvCxnSpPr/>
            <p:nvPr/>
          </p:nvCxnSpPr>
          <p:spPr>
            <a:xfrm flipH="1">
              <a:off x="3850195" y="3801062"/>
              <a:ext cx="10047" cy="2306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82" name="Isosceles Triangle 81"/>
            <p:cNvSpPr/>
            <p:nvPr/>
          </p:nvSpPr>
          <p:spPr>
            <a:xfrm rot="473557">
              <a:off x="3669323" y="3690529"/>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p:cNvCxnSpPr/>
            <p:nvPr/>
          </p:nvCxnSpPr>
          <p:spPr>
            <a:xfrm>
              <a:off x="3860242" y="6082044"/>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97" name="Oval 96"/>
            <p:cNvSpPr/>
            <p:nvPr/>
          </p:nvSpPr>
          <p:spPr>
            <a:xfrm>
              <a:off x="4272293" y="605185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p:cNvCxnSpPr/>
            <p:nvPr/>
          </p:nvCxnSpPr>
          <p:spPr>
            <a:xfrm>
              <a:off x="3851868" y="4375499"/>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91" name="Oval 90"/>
            <p:cNvSpPr/>
            <p:nvPr/>
          </p:nvSpPr>
          <p:spPr>
            <a:xfrm>
              <a:off x="4263919" y="4345309"/>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a:off x="3711061" y="6275755"/>
              <a:ext cx="441146" cy="461665"/>
            </a:xfrm>
            <a:prstGeom prst="rect">
              <a:avLst/>
            </a:prstGeom>
          </p:spPr>
          <p:txBody>
            <a:bodyPr wrap="none">
              <a:spAutoFit/>
            </a:bodyPr>
            <a:lstStyle/>
            <a:p>
              <a:r>
                <a:rPr lang="en-US" b="1" dirty="0" smtClean="0">
                  <a:solidFill>
                    <a:srgbClr val="FF0000"/>
                  </a:solidFill>
                </a:rPr>
                <a:t>3</a:t>
              </a:r>
              <a:r>
                <a:rPr lang="en-US" b="1" baseline="-25000" dirty="0" smtClean="0">
                  <a:solidFill>
                    <a:srgbClr val="FF0000"/>
                  </a:solidFill>
                </a:rPr>
                <a:t>1</a:t>
              </a:r>
              <a:endParaRPr lang="en-US" dirty="0"/>
            </a:p>
          </p:txBody>
        </p:sp>
        <p:cxnSp>
          <p:nvCxnSpPr>
            <p:cNvPr id="102" name="Straight Connector 101"/>
            <p:cNvCxnSpPr/>
            <p:nvPr/>
          </p:nvCxnSpPr>
          <p:spPr>
            <a:xfrm flipH="1">
              <a:off x="3496827" y="3668764"/>
              <a:ext cx="361739" cy="28135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82" idx="2"/>
            </p:cNvCxnSpPr>
            <p:nvPr/>
          </p:nvCxnSpPr>
          <p:spPr>
            <a:xfrm>
              <a:off x="3657976" y="3855017"/>
              <a:ext cx="582429" cy="6495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endCxn id="82" idx="4"/>
            </p:cNvCxnSpPr>
            <p:nvPr/>
          </p:nvCxnSpPr>
          <p:spPr>
            <a:xfrm>
              <a:off x="3758084" y="3518040"/>
              <a:ext cx="268159" cy="38803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3622431" y="5221235"/>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28" name="Oval 127"/>
            <p:cNvSpPr/>
            <p:nvPr/>
          </p:nvSpPr>
          <p:spPr>
            <a:xfrm>
              <a:off x="3644299" y="5263071"/>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9" name="Straight Connector 128"/>
            <p:cNvCxnSpPr/>
            <p:nvPr/>
          </p:nvCxnSpPr>
          <p:spPr>
            <a:xfrm flipH="1">
              <a:off x="3460316" y="490973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30" name="Oval 129"/>
            <p:cNvSpPr/>
            <p:nvPr/>
          </p:nvSpPr>
          <p:spPr>
            <a:xfrm>
              <a:off x="3525403" y="504367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 name="Straight Connector 130"/>
            <p:cNvCxnSpPr/>
            <p:nvPr/>
          </p:nvCxnSpPr>
          <p:spPr>
            <a:xfrm flipV="1">
              <a:off x="3758084" y="5531617"/>
              <a:ext cx="1674" cy="547634"/>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3167930" y="5609772"/>
              <a:ext cx="595035" cy="369332"/>
            </a:xfrm>
            <a:prstGeom prst="rect">
              <a:avLst/>
            </a:prstGeom>
          </p:spPr>
          <p:txBody>
            <a:bodyPr wrap="none">
              <a:spAutoFit/>
            </a:bodyPr>
            <a:lstStyle/>
            <a:p>
              <a:r>
                <a:rPr lang="en-US" sz="1800" b="1" dirty="0" smtClean="0">
                  <a:solidFill>
                    <a:srgbClr val="FF0000"/>
                  </a:solidFill>
                </a:rPr>
                <a:t>1/3a</a:t>
              </a:r>
              <a:endParaRPr lang="en-US" sz="1800" dirty="0"/>
            </a:p>
          </p:txBody>
        </p:sp>
        <p:sp>
          <p:nvSpPr>
            <p:cNvPr id="134" name="Rectangle 133"/>
            <p:cNvSpPr/>
            <p:nvPr/>
          </p:nvSpPr>
          <p:spPr>
            <a:xfrm>
              <a:off x="3963425" y="5330093"/>
              <a:ext cx="595035" cy="369332"/>
            </a:xfrm>
            <a:prstGeom prst="rect">
              <a:avLst/>
            </a:prstGeom>
          </p:spPr>
          <p:txBody>
            <a:bodyPr wrap="none">
              <a:spAutoFit/>
            </a:bodyPr>
            <a:lstStyle/>
            <a:p>
              <a:r>
                <a:rPr lang="en-US" sz="1800" b="1" dirty="0" smtClean="0">
                  <a:solidFill>
                    <a:srgbClr val="FF0000"/>
                  </a:solidFill>
                </a:rPr>
                <a:t>2/3a</a:t>
              </a:r>
              <a:endParaRPr lang="en-US" sz="1800" dirty="0"/>
            </a:p>
          </p:txBody>
        </p:sp>
        <p:cxnSp>
          <p:nvCxnSpPr>
            <p:cNvPr id="135" name="Straight Connector 134"/>
            <p:cNvCxnSpPr/>
            <p:nvPr/>
          </p:nvCxnSpPr>
          <p:spPr>
            <a:xfrm flipV="1">
              <a:off x="3920532" y="4913644"/>
              <a:ext cx="8373" cy="1127088"/>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sp>
          <p:nvSpPr>
            <p:cNvPr id="137" name="Rectangle 136"/>
            <p:cNvSpPr/>
            <p:nvPr/>
          </p:nvSpPr>
          <p:spPr>
            <a:xfrm>
              <a:off x="3191376" y="4427416"/>
              <a:ext cx="595035" cy="369332"/>
            </a:xfrm>
            <a:prstGeom prst="rect">
              <a:avLst/>
            </a:prstGeom>
          </p:spPr>
          <p:txBody>
            <a:bodyPr wrap="none">
              <a:spAutoFit/>
            </a:bodyPr>
            <a:lstStyle/>
            <a:p>
              <a:r>
                <a:rPr lang="en-US" sz="1800" b="1" dirty="0" smtClean="0">
                  <a:solidFill>
                    <a:srgbClr val="FF0000"/>
                  </a:solidFill>
                </a:rPr>
                <a:t>3/3a</a:t>
              </a:r>
              <a:endParaRPr lang="en-US" sz="1800" dirty="0"/>
            </a:p>
          </p:txBody>
        </p:sp>
        <p:cxnSp>
          <p:nvCxnSpPr>
            <p:cNvPr id="138" name="Straight Connector 137"/>
            <p:cNvCxnSpPr/>
            <p:nvPr/>
          </p:nvCxnSpPr>
          <p:spPr>
            <a:xfrm flipV="1">
              <a:off x="4022690" y="4391130"/>
              <a:ext cx="6699" cy="1661325"/>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6"/>
          <p:cNvSpPr txBox="1">
            <a:spLocks noChangeArrowheads="1"/>
          </p:cNvSpPr>
          <p:nvPr/>
        </p:nvSpPr>
        <p:spPr>
          <a:xfrm>
            <a:off x="1609577" y="362901"/>
            <a:ext cx="4198370" cy="632138"/>
          </a:xfrm>
          <a:prstGeom prst="rect">
            <a:avLst/>
          </a:prstGeom>
        </p:spPr>
        <p:txBody>
          <a:bodyPr/>
          <a:lstStyle/>
          <a:p>
            <a:pPr lvl="0" eaLnBrk="1" hangingPunct="1">
              <a:tabLst>
                <a:tab pos="3486150" algn="l"/>
              </a:tabLst>
            </a:pPr>
            <a:r>
              <a:rPr lang="en-US" b="1" dirty="0" smtClean="0">
                <a:solidFill>
                  <a:srgbClr val="0070C0"/>
                </a:solidFill>
                <a:effectLst>
                  <a:outerShdw blurRad="53975" dist="22860" dir="5400000" algn="tl" rotWithShape="0">
                    <a:srgbClr val="000000">
                      <a:alpha val="55000"/>
                    </a:srgbClr>
                  </a:outerShdw>
                </a:effectLst>
                <a:latin typeface="+mn-lt"/>
              </a:rPr>
              <a:t>Three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
        <p:nvSpPr>
          <p:cNvPr id="18" name="Rectangle 2"/>
          <p:cNvSpPr>
            <a:spLocks noChangeArrowheads="1"/>
          </p:cNvSpPr>
          <p:nvPr/>
        </p:nvSpPr>
        <p:spPr bwMode="auto">
          <a:xfrm>
            <a:off x="0" y="805890"/>
            <a:ext cx="9003324" cy="261610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lvl="0" indent="-457200" algn="just">
              <a:spcBef>
                <a:spcPts val="600"/>
              </a:spcBef>
              <a:spcAft>
                <a:spcPts val="600"/>
              </a:spcAft>
              <a:buFont typeface="Wingdings" pitchFamily="2" charset="2"/>
              <a:buChar char="v"/>
            </a:pPr>
            <a:r>
              <a:rPr kumimoji="0" lang="en-US" sz="1800" b="1" i="0" u="none" strike="noStrike" cap="none" normalizeH="0" baseline="0" dirty="0" smtClean="0">
                <a:ln>
                  <a:noFill/>
                </a:ln>
                <a:solidFill>
                  <a:srgbClr val="002060"/>
                </a:solidFill>
                <a:effectLst/>
                <a:latin typeface="Times New Roman" pitchFamily="18" charset="0"/>
                <a:cs typeface="Times New Roman" pitchFamily="18" charset="0"/>
              </a:rPr>
              <a:t>Similarly, a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2 </a:t>
            </a:r>
            <a:r>
              <a:rPr kumimoji="0" lang="en-US" sz="1800" b="1" i="0" u="none" strike="noStrike" cap="none" normalizeH="0" baseline="0" dirty="0" smtClean="0">
                <a:ln>
                  <a:noFill/>
                </a:ln>
                <a:solidFill>
                  <a:srgbClr val="002060"/>
                </a:solidFill>
                <a:effectLst/>
                <a:latin typeface="Times New Roman" pitchFamily="18" charset="0"/>
                <a:cs typeface="Times New Roman" pitchFamily="18" charset="0"/>
              </a:rPr>
              <a:t>operation means an anticlockwise rotation of </a:t>
            </a:r>
            <a:r>
              <a:rPr lang="en-US" sz="1800" b="1" dirty="0" smtClean="0">
                <a:solidFill>
                  <a:srgbClr val="FF0000"/>
                </a:solidFill>
                <a:latin typeface="Times New Roman" pitchFamily="18" charset="0"/>
                <a:cs typeface="Times New Roman" pitchFamily="18" charset="0"/>
              </a:rPr>
              <a:t>120º </a:t>
            </a:r>
            <a:r>
              <a:rPr lang="en-US" sz="1800" b="1" dirty="0" smtClean="0">
                <a:solidFill>
                  <a:srgbClr val="002060"/>
                </a:solidFill>
                <a:latin typeface="Times New Roman" pitchFamily="18" charset="0"/>
                <a:cs typeface="Times New Roman" pitchFamily="18" charset="0"/>
              </a:rPr>
              <a:t>followed by a translation of </a:t>
            </a:r>
            <a:r>
              <a:rPr lang="en-US" sz="1800" b="1" dirty="0" smtClean="0">
                <a:solidFill>
                  <a:srgbClr val="FF0000"/>
                </a:solidFill>
                <a:latin typeface="Times New Roman" pitchFamily="18" charset="0"/>
                <a:cs typeface="Times New Roman" pitchFamily="18" charset="0"/>
              </a:rPr>
              <a:t>2/3 </a:t>
            </a:r>
            <a:r>
              <a:rPr lang="en-US" sz="1800" b="1" dirty="0" smtClean="0">
                <a:solidFill>
                  <a:srgbClr val="002060"/>
                </a:solidFill>
                <a:latin typeface="Times New Roman" pitchFamily="18" charset="0"/>
                <a:cs typeface="Times New Roman" pitchFamily="18" charset="0"/>
              </a:rPr>
              <a:t>times the repeat period in the direction of the axis.</a:t>
            </a:r>
          </a:p>
          <a:p>
            <a:pPr marL="457200" lvl="0" indent="-457200" algn="just">
              <a:spcBef>
                <a:spcPts val="600"/>
              </a:spcBef>
              <a:spcAft>
                <a:spcPts val="600"/>
              </a:spcAft>
              <a:buFont typeface="Wingdings" pitchFamily="2" charset="2"/>
              <a:buChar char="v"/>
            </a:pPr>
            <a:r>
              <a:rPr lang="en-US" sz="1800" b="1" dirty="0" smtClean="0">
                <a:solidFill>
                  <a:srgbClr val="002060"/>
                </a:solidFill>
                <a:latin typeface="Times New Roman" pitchFamily="18" charset="0"/>
                <a:cs typeface="Times New Roman" pitchFamily="18" charset="0"/>
              </a:rPr>
              <a:t>One further operation of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2</a:t>
            </a:r>
            <a:r>
              <a:rPr lang="en-US" sz="1800" b="1" dirty="0" smtClean="0">
                <a:solidFill>
                  <a:srgbClr val="002060"/>
                </a:solidFill>
                <a:latin typeface="Times New Roman" pitchFamily="18" charset="0"/>
                <a:cs typeface="Times New Roman" pitchFamily="18" charset="0"/>
              </a:rPr>
              <a:t> means a total anticlockwise rotation of </a:t>
            </a:r>
            <a:r>
              <a:rPr lang="en-US" sz="1800" b="1" dirty="0" smtClean="0">
                <a:solidFill>
                  <a:srgbClr val="FF0000"/>
                </a:solidFill>
                <a:latin typeface="Times New Roman" pitchFamily="18" charset="0"/>
                <a:cs typeface="Times New Roman" pitchFamily="18" charset="0"/>
              </a:rPr>
              <a:t>240º </a:t>
            </a:r>
            <a:r>
              <a:rPr lang="en-US" sz="1800" b="1" dirty="0" smtClean="0">
                <a:solidFill>
                  <a:srgbClr val="002060"/>
                </a:solidFill>
                <a:latin typeface="Times New Roman" pitchFamily="18" charset="0"/>
                <a:cs typeface="Times New Roman" pitchFamily="18" charset="0"/>
              </a:rPr>
              <a:t>and net translation of </a:t>
            </a:r>
            <a:r>
              <a:rPr lang="en-US" sz="1800" b="1" dirty="0" smtClean="0">
                <a:solidFill>
                  <a:srgbClr val="FF0000"/>
                </a:solidFill>
                <a:latin typeface="Times New Roman" pitchFamily="18" charset="0"/>
                <a:cs typeface="Times New Roman" pitchFamily="18" charset="0"/>
              </a:rPr>
              <a:t>4/3 </a:t>
            </a:r>
            <a:r>
              <a:rPr lang="en-US" sz="1800" b="1" dirty="0" smtClean="0">
                <a:solidFill>
                  <a:srgbClr val="002060"/>
                </a:solidFill>
                <a:latin typeface="Times New Roman" pitchFamily="18" charset="0"/>
                <a:cs typeface="Times New Roman" pitchFamily="18" charset="0"/>
              </a:rPr>
              <a:t>times the repeat period. The translation of </a:t>
            </a:r>
            <a:r>
              <a:rPr lang="en-US" sz="1800" b="1" dirty="0" smtClean="0">
                <a:solidFill>
                  <a:srgbClr val="FF0000"/>
                </a:solidFill>
                <a:latin typeface="Times New Roman" pitchFamily="18" charset="0"/>
                <a:cs typeface="Times New Roman" pitchFamily="18" charset="0"/>
              </a:rPr>
              <a:t>4/3 </a:t>
            </a:r>
            <a:r>
              <a:rPr lang="en-US" sz="1800" b="1" dirty="0" smtClean="0">
                <a:solidFill>
                  <a:srgbClr val="002060"/>
                </a:solidFill>
                <a:latin typeface="Times New Roman" pitchFamily="18" charset="0"/>
                <a:cs typeface="Times New Roman" pitchFamily="18" charset="0"/>
              </a:rPr>
              <a:t>is equivalent to </a:t>
            </a:r>
            <a:r>
              <a:rPr lang="en-US" sz="1800" b="1" dirty="0" smtClean="0">
                <a:solidFill>
                  <a:srgbClr val="FF0000"/>
                </a:solidFill>
                <a:latin typeface="Times New Roman" pitchFamily="18" charset="0"/>
                <a:cs typeface="Times New Roman" pitchFamily="18" charset="0"/>
              </a:rPr>
              <a:t>1/3 </a:t>
            </a:r>
            <a:r>
              <a:rPr lang="en-US" sz="1800" b="1" dirty="0" smtClean="0">
                <a:solidFill>
                  <a:srgbClr val="002060"/>
                </a:solidFill>
                <a:latin typeface="Times New Roman" pitchFamily="18" charset="0"/>
                <a:cs typeface="Times New Roman" pitchFamily="18" charset="0"/>
              </a:rPr>
              <a:t>as  they differ by one repeat period in the same direction and therefore is equivalent owing to lattice periodicity.</a:t>
            </a:r>
            <a:r>
              <a:rPr lang="en-US" sz="1800" b="1" dirty="0" smtClean="0">
                <a:solidFill>
                  <a:srgbClr val="FF0000"/>
                </a:solidFill>
                <a:latin typeface="Times New Roman" pitchFamily="18" charset="0"/>
                <a:cs typeface="Times New Roman" pitchFamily="18" charset="0"/>
              </a:rPr>
              <a:t> </a:t>
            </a:r>
          </a:p>
          <a:p>
            <a:pPr marL="457200" lvl="0" indent="-457200" algn="just">
              <a:spcBef>
                <a:spcPts val="600"/>
              </a:spcBef>
              <a:spcAft>
                <a:spcPts val="600"/>
              </a:spcAft>
              <a:buFont typeface="Wingdings" pitchFamily="2" charset="2"/>
              <a:buChar char="v"/>
            </a:pPr>
            <a:r>
              <a:rPr lang="en-US" sz="1800" b="1" dirty="0" smtClean="0">
                <a:solidFill>
                  <a:srgbClr val="002060"/>
                </a:solidFill>
                <a:latin typeface="Times New Roman" pitchFamily="18" charset="0"/>
                <a:cs typeface="Times New Roman" pitchFamily="18" charset="0"/>
              </a:rPr>
              <a:t>The clockwise rotation of </a:t>
            </a:r>
            <a:r>
              <a:rPr lang="en-US" sz="1800" b="1" dirty="0" smtClean="0">
                <a:solidFill>
                  <a:srgbClr val="FF0000"/>
                </a:solidFill>
                <a:latin typeface="Times New Roman" pitchFamily="18" charset="0"/>
                <a:cs typeface="Times New Roman" pitchFamily="18" charset="0"/>
              </a:rPr>
              <a:t>120º </a:t>
            </a:r>
            <a:r>
              <a:rPr lang="en-US" sz="1800" b="1" dirty="0" smtClean="0">
                <a:solidFill>
                  <a:srgbClr val="002060"/>
                </a:solidFill>
                <a:latin typeface="Times New Roman" pitchFamily="18" charset="0"/>
                <a:cs typeface="Times New Roman" pitchFamily="18" charset="0"/>
              </a:rPr>
              <a:t>and the translation of </a:t>
            </a:r>
            <a:r>
              <a:rPr lang="en-US" sz="1800" b="1" dirty="0" smtClean="0">
                <a:solidFill>
                  <a:srgbClr val="FF0000"/>
                </a:solidFill>
                <a:latin typeface="Times New Roman" pitchFamily="18" charset="0"/>
                <a:cs typeface="Times New Roman" pitchFamily="18" charset="0"/>
              </a:rPr>
              <a:t>1/3</a:t>
            </a:r>
            <a:r>
              <a:rPr lang="en-US" sz="1800" b="1" dirty="0" smtClean="0">
                <a:solidFill>
                  <a:srgbClr val="002060"/>
                </a:solidFill>
                <a:latin typeface="Times New Roman" pitchFamily="18" charset="0"/>
                <a:cs typeface="Times New Roman" pitchFamily="18" charset="0"/>
              </a:rPr>
              <a:t> gives the same arrangement as that obtained by anticlockwise rotation of </a:t>
            </a:r>
            <a:r>
              <a:rPr lang="en-US" sz="1800" b="1" dirty="0" smtClean="0">
                <a:solidFill>
                  <a:srgbClr val="FF0000"/>
                </a:solidFill>
                <a:latin typeface="Times New Roman" pitchFamily="18" charset="0"/>
                <a:cs typeface="Times New Roman" pitchFamily="18" charset="0"/>
              </a:rPr>
              <a:t>120º </a:t>
            </a:r>
            <a:r>
              <a:rPr lang="en-US" sz="1800" b="1" dirty="0" smtClean="0">
                <a:solidFill>
                  <a:srgbClr val="002060"/>
                </a:solidFill>
                <a:latin typeface="Times New Roman" pitchFamily="18" charset="0"/>
                <a:cs typeface="Times New Roman" pitchFamily="18" charset="0"/>
              </a:rPr>
              <a:t>and t</a:t>
            </a:r>
            <a:r>
              <a:rPr kumimoji="0" lang="en-US" sz="1800" b="1" i="0" u="none" strike="noStrike" cap="none" normalizeH="0" baseline="0" dirty="0" smtClean="0">
                <a:ln>
                  <a:noFill/>
                </a:ln>
                <a:solidFill>
                  <a:srgbClr val="002060"/>
                </a:solidFill>
                <a:effectLst/>
                <a:latin typeface="Times New Roman" pitchFamily="18" charset="0"/>
                <a:cs typeface="Times New Roman" pitchFamily="18" charset="0"/>
              </a:rPr>
              <a:t>ranslation</a:t>
            </a:r>
            <a:r>
              <a:rPr kumimoji="0" lang="en-US" sz="1800" b="1" i="0" u="none" strike="noStrike" cap="none" normalizeH="0" dirty="0" smtClean="0">
                <a:ln>
                  <a:noFill/>
                </a:ln>
                <a:solidFill>
                  <a:srgbClr val="002060"/>
                </a:solidFill>
                <a:effectLst/>
                <a:latin typeface="Times New Roman" pitchFamily="18" charset="0"/>
                <a:cs typeface="Times New Roman" pitchFamily="18" charset="0"/>
              </a:rPr>
              <a:t> of </a:t>
            </a:r>
            <a:r>
              <a:rPr kumimoji="0" lang="en-US" sz="1800" b="1" i="0" u="none" strike="noStrike" cap="none" normalizeH="0" baseline="0" dirty="0" smtClean="0">
                <a:ln>
                  <a:noFill/>
                </a:ln>
                <a:solidFill>
                  <a:srgbClr val="FF0000"/>
                </a:solidFill>
                <a:effectLst/>
                <a:latin typeface="Times New Roman" pitchFamily="18" charset="0"/>
                <a:cs typeface="Times New Roman" pitchFamily="18" charset="0"/>
              </a:rPr>
              <a:t>2/3</a:t>
            </a:r>
            <a:r>
              <a:rPr kumimoji="0" lang="en-US" sz="1800" b="1" i="0" u="none" strike="noStrike" cap="none" normalizeH="0" baseline="0" dirty="0" smtClean="0">
                <a:ln>
                  <a:noFill/>
                </a:ln>
                <a:solidFill>
                  <a:srgbClr val="002060"/>
                </a:solidFill>
                <a:effectLst/>
                <a:latin typeface="Times New Roman" pitchFamily="18" charset="0"/>
                <a:cs typeface="Times New Roman" pitchFamily="18" charset="0"/>
              </a:rPr>
              <a:t>.</a:t>
            </a:r>
            <a:r>
              <a:rPr kumimoji="0" lang="en-US" sz="1800" b="1" i="0" u="none" strike="noStrike" cap="none" normalizeH="0" baseline="0" dirty="0" smtClean="0">
                <a:ln>
                  <a:noFill/>
                </a:ln>
                <a:solidFill>
                  <a:srgbClr val="FF0000"/>
                </a:solidFill>
                <a:effectLst/>
                <a:latin typeface="Times New Roman" pitchFamily="18" charset="0"/>
                <a:cs typeface="Times New Roman" pitchFamily="18" charset="0"/>
              </a:rPr>
              <a:t> </a:t>
            </a:r>
          </a:p>
        </p:txBody>
      </p:sp>
      <p:grpSp>
        <p:nvGrpSpPr>
          <p:cNvPr id="2" name="Group 76"/>
          <p:cNvGrpSpPr/>
          <p:nvPr/>
        </p:nvGrpSpPr>
        <p:grpSpPr>
          <a:xfrm>
            <a:off x="934497" y="3547061"/>
            <a:ext cx="1227572" cy="3167471"/>
            <a:chOff x="934497" y="3547061"/>
            <a:chExt cx="1227572" cy="3167471"/>
          </a:xfrm>
        </p:grpSpPr>
        <p:sp>
          <p:nvSpPr>
            <p:cNvPr id="19" name="Oval 18"/>
            <p:cNvSpPr/>
            <p:nvPr/>
          </p:nvSpPr>
          <p:spPr>
            <a:xfrm>
              <a:off x="934497" y="5627071"/>
              <a:ext cx="1225899" cy="67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936170" y="3900429"/>
              <a:ext cx="1225899" cy="673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flipH="1">
              <a:off x="1527351" y="3657594"/>
              <a:ext cx="10047" cy="2306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4" name="Isosceles Triangle 23"/>
            <p:cNvSpPr/>
            <p:nvPr/>
          </p:nvSpPr>
          <p:spPr>
            <a:xfrm rot="473557">
              <a:off x="1346479" y="3547061"/>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41"/>
            <p:cNvGrpSpPr/>
            <p:nvPr/>
          </p:nvGrpSpPr>
          <p:grpSpPr>
            <a:xfrm>
              <a:off x="1114026" y="5657222"/>
              <a:ext cx="1046370" cy="544495"/>
              <a:chOff x="1114026" y="5657222"/>
              <a:chExt cx="1046370" cy="544495"/>
            </a:xfrm>
          </p:grpSpPr>
          <p:cxnSp>
            <p:nvCxnSpPr>
              <p:cNvPr id="26" name="Straight Connector 25"/>
              <p:cNvCxnSpPr>
                <a:endCxn id="19" idx="6"/>
              </p:cNvCxnSpPr>
              <p:nvPr/>
            </p:nvCxnSpPr>
            <p:spPr>
              <a:xfrm>
                <a:off x="1537398" y="5938576"/>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286189" y="5657222"/>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19" idx="3"/>
              </p:cNvCxnSpPr>
              <p:nvPr/>
            </p:nvCxnSpPr>
            <p:spPr>
              <a:xfrm flipH="1">
                <a:off x="1114026" y="593857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1949449" y="590838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308057" y="5699058"/>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1179113" y="607251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42"/>
            <p:cNvGrpSpPr/>
            <p:nvPr/>
          </p:nvGrpSpPr>
          <p:grpSpPr>
            <a:xfrm>
              <a:off x="1105652" y="3950677"/>
              <a:ext cx="1046370" cy="544495"/>
              <a:chOff x="1114026" y="5657222"/>
              <a:chExt cx="1046370" cy="544495"/>
            </a:xfrm>
          </p:grpSpPr>
          <p:cxnSp>
            <p:nvCxnSpPr>
              <p:cNvPr id="44" name="Straight Connector 43"/>
              <p:cNvCxnSpPr/>
              <p:nvPr/>
            </p:nvCxnSpPr>
            <p:spPr>
              <a:xfrm>
                <a:off x="1537398" y="5938576"/>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286189" y="5657222"/>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1114026" y="5938576"/>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1949449" y="590838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1308057" y="5699058"/>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1179113" y="607251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1" name="Straight Connector 50"/>
            <p:cNvCxnSpPr/>
            <p:nvPr/>
          </p:nvCxnSpPr>
          <p:spPr>
            <a:xfrm flipV="1">
              <a:off x="1718268" y="4250453"/>
              <a:ext cx="0" cy="1678075"/>
            </a:xfrm>
            <a:prstGeom prst="line">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1679621" y="4785808"/>
              <a:ext cx="338554" cy="461665"/>
            </a:xfrm>
            <a:prstGeom prst="rect">
              <a:avLst/>
            </a:prstGeom>
          </p:spPr>
          <p:txBody>
            <a:bodyPr wrap="none">
              <a:spAutoFit/>
            </a:bodyPr>
            <a:lstStyle/>
            <a:p>
              <a:r>
                <a:rPr lang="en-US" b="1" dirty="0" smtClean="0">
                  <a:solidFill>
                    <a:srgbClr val="FF0000"/>
                  </a:solidFill>
                </a:rPr>
                <a:t>a</a:t>
              </a:r>
              <a:endParaRPr lang="en-US" dirty="0"/>
            </a:p>
          </p:txBody>
        </p:sp>
        <p:sp>
          <p:nvSpPr>
            <p:cNvPr id="56" name="Rectangle 55"/>
            <p:cNvSpPr/>
            <p:nvPr/>
          </p:nvSpPr>
          <p:spPr>
            <a:xfrm>
              <a:off x="1368121" y="6252867"/>
              <a:ext cx="338554" cy="461665"/>
            </a:xfrm>
            <a:prstGeom prst="rect">
              <a:avLst/>
            </a:prstGeom>
          </p:spPr>
          <p:txBody>
            <a:bodyPr wrap="none">
              <a:spAutoFit/>
            </a:bodyPr>
            <a:lstStyle/>
            <a:p>
              <a:r>
                <a:rPr lang="en-US" b="1" dirty="0" smtClean="0">
                  <a:solidFill>
                    <a:srgbClr val="FF0000"/>
                  </a:solidFill>
                </a:rPr>
                <a:t>3</a:t>
              </a:r>
              <a:endParaRPr lang="en-US" dirty="0"/>
            </a:p>
          </p:txBody>
        </p:sp>
      </p:grpSp>
      <p:grpSp>
        <p:nvGrpSpPr>
          <p:cNvPr id="5" name="Group 76"/>
          <p:cNvGrpSpPr/>
          <p:nvPr/>
        </p:nvGrpSpPr>
        <p:grpSpPr>
          <a:xfrm>
            <a:off x="2982036" y="3419234"/>
            <a:ext cx="1608244" cy="3169136"/>
            <a:chOff x="2982036" y="3419234"/>
            <a:chExt cx="1608244" cy="3169136"/>
          </a:xfrm>
        </p:grpSpPr>
        <p:cxnSp>
          <p:nvCxnSpPr>
            <p:cNvPr id="140" name="Straight Connector 139"/>
            <p:cNvCxnSpPr/>
            <p:nvPr/>
          </p:nvCxnSpPr>
          <p:spPr>
            <a:xfrm flipH="1">
              <a:off x="3882015" y="3652012"/>
              <a:ext cx="10047" cy="2306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41" name="Isosceles Triangle 140"/>
            <p:cNvSpPr/>
            <p:nvPr/>
          </p:nvSpPr>
          <p:spPr>
            <a:xfrm rot="473557">
              <a:off x="3701143" y="3541479"/>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Connector 141"/>
            <p:cNvCxnSpPr/>
            <p:nvPr/>
          </p:nvCxnSpPr>
          <p:spPr>
            <a:xfrm>
              <a:off x="3892062" y="5932994"/>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43" name="Oval 142"/>
            <p:cNvSpPr/>
            <p:nvPr/>
          </p:nvSpPr>
          <p:spPr>
            <a:xfrm>
              <a:off x="4304113" y="590280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Connector 143"/>
            <p:cNvCxnSpPr/>
            <p:nvPr/>
          </p:nvCxnSpPr>
          <p:spPr>
            <a:xfrm>
              <a:off x="3883688" y="4226449"/>
              <a:ext cx="622998" cy="251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45" name="Oval 144"/>
            <p:cNvSpPr/>
            <p:nvPr/>
          </p:nvSpPr>
          <p:spPr>
            <a:xfrm>
              <a:off x="4295739" y="4196259"/>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p:cNvSpPr/>
            <p:nvPr/>
          </p:nvSpPr>
          <p:spPr>
            <a:xfrm>
              <a:off x="3742881" y="6126705"/>
              <a:ext cx="441146" cy="461665"/>
            </a:xfrm>
            <a:prstGeom prst="rect">
              <a:avLst/>
            </a:prstGeom>
          </p:spPr>
          <p:txBody>
            <a:bodyPr wrap="none">
              <a:spAutoFit/>
            </a:bodyPr>
            <a:lstStyle/>
            <a:p>
              <a:r>
                <a:rPr lang="en-US" b="1" dirty="0" smtClean="0">
                  <a:solidFill>
                    <a:srgbClr val="FF0000"/>
                  </a:solidFill>
                </a:rPr>
                <a:t>3</a:t>
              </a:r>
              <a:r>
                <a:rPr lang="en-US" b="1" baseline="-25000" dirty="0" smtClean="0">
                  <a:solidFill>
                    <a:srgbClr val="FF0000"/>
                  </a:solidFill>
                </a:rPr>
                <a:t>2</a:t>
              </a:r>
              <a:endParaRPr lang="en-US" dirty="0"/>
            </a:p>
          </p:txBody>
        </p:sp>
        <p:cxnSp>
          <p:nvCxnSpPr>
            <p:cNvPr id="148" name="Straight Connector 147"/>
            <p:cNvCxnSpPr/>
            <p:nvPr/>
          </p:nvCxnSpPr>
          <p:spPr>
            <a:xfrm flipH="1">
              <a:off x="3659270" y="3419234"/>
              <a:ext cx="361739" cy="28135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a:off x="3468732" y="3685870"/>
              <a:ext cx="582429" cy="6495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a:off x="3900436" y="3519715"/>
              <a:ext cx="268159" cy="38803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3624106" y="4499429"/>
              <a:ext cx="231112" cy="28135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52" name="Oval 151"/>
            <p:cNvSpPr/>
            <p:nvPr/>
          </p:nvSpPr>
          <p:spPr>
            <a:xfrm>
              <a:off x="3645974" y="454126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Connector 152"/>
            <p:cNvCxnSpPr/>
            <p:nvPr/>
          </p:nvCxnSpPr>
          <p:spPr>
            <a:xfrm flipH="1">
              <a:off x="3472040" y="5353539"/>
              <a:ext cx="393227" cy="2631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54" name="Oval 153"/>
            <p:cNvSpPr/>
            <p:nvPr/>
          </p:nvSpPr>
          <p:spPr>
            <a:xfrm>
              <a:off x="3537127" y="548747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5" name="Straight Connector 154"/>
            <p:cNvCxnSpPr/>
            <p:nvPr/>
          </p:nvCxnSpPr>
          <p:spPr>
            <a:xfrm flipV="1">
              <a:off x="3789904" y="5382567"/>
              <a:ext cx="1674" cy="547634"/>
            </a:xfrm>
            <a:prstGeom prst="line">
              <a:avLst/>
            </a:prstGeom>
            <a:ln w="19050">
              <a:solidFill>
                <a:srgbClr val="7030A0"/>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56" name="Rectangle 155"/>
            <p:cNvSpPr/>
            <p:nvPr/>
          </p:nvSpPr>
          <p:spPr>
            <a:xfrm>
              <a:off x="3049025" y="5510964"/>
              <a:ext cx="595035" cy="369332"/>
            </a:xfrm>
            <a:prstGeom prst="rect">
              <a:avLst/>
            </a:prstGeom>
            <a:ln>
              <a:noFill/>
            </a:ln>
          </p:spPr>
          <p:txBody>
            <a:bodyPr wrap="none">
              <a:spAutoFit/>
            </a:bodyPr>
            <a:lstStyle/>
            <a:p>
              <a:r>
                <a:rPr lang="en-US" sz="1800" b="1" dirty="0" smtClean="0">
                  <a:solidFill>
                    <a:srgbClr val="7030A0"/>
                  </a:solidFill>
                </a:rPr>
                <a:t>1/3a</a:t>
              </a:r>
              <a:endParaRPr lang="en-US" sz="1800" dirty="0">
                <a:solidFill>
                  <a:srgbClr val="7030A0"/>
                </a:solidFill>
              </a:endParaRPr>
            </a:p>
          </p:txBody>
        </p:sp>
        <p:sp>
          <p:nvSpPr>
            <p:cNvPr id="157" name="Rectangle 156"/>
            <p:cNvSpPr/>
            <p:nvPr/>
          </p:nvSpPr>
          <p:spPr>
            <a:xfrm>
              <a:off x="3995245" y="5181043"/>
              <a:ext cx="595035" cy="369332"/>
            </a:xfrm>
            <a:prstGeom prst="rect">
              <a:avLst/>
            </a:prstGeom>
            <a:ln>
              <a:noFill/>
            </a:ln>
          </p:spPr>
          <p:txBody>
            <a:bodyPr wrap="none">
              <a:spAutoFit/>
            </a:bodyPr>
            <a:lstStyle/>
            <a:p>
              <a:r>
                <a:rPr lang="en-US" sz="1800" b="1" dirty="0" smtClean="0">
                  <a:solidFill>
                    <a:srgbClr val="002060"/>
                  </a:solidFill>
                </a:rPr>
                <a:t>2/3a</a:t>
              </a:r>
              <a:endParaRPr lang="en-US" sz="1800" dirty="0">
                <a:solidFill>
                  <a:srgbClr val="002060"/>
                </a:solidFill>
              </a:endParaRPr>
            </a:p>
          </p:txBody>
        </p:sp>
        <p:cxnSp>
          <p:nvCxnSpPr>
            <p:cNvPr id="158" name="Straight Connector 157"/>
            <p:cNvCxnSpPr/>
            <p:nvPr/>
          </p:nvCxnSpPr>
          <p:spPr>
            <a:xfrm flipV="1">
              <a:off x="3952352" y="4764594"/>
              <a:ext cx="8373" cy="1127088"/>
            </a:xfrm>
            <a:prstGeom prst="line">
              <a:avLst/>
            </a:prstGeom>
            <a:ln w="19050">
              <a:solidFill>
                <a:srgbClr val="002060"/>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59" name="Rectangle 158"/>
            <p:cNvSpPr/>
            <p:nvPr/>
          </p:nvSpPr>
          <p:spPr>
            <a:xfrm>
              <a:off x="2982036" y="4187931"/>
              <a:ext cx="595035" cy="369332"/>
            </a:xfrm>
            <a:prstGeom prst="rect">
              <a:avLst/>
            </a:prstGeom>
            <a:ln>
              <a:noFill/>
            </a:ln>
          </p:spPr>
          <p:txBody>
            <a:bodyPr wrap="none">
              <a:spAutoFit/>
            </a:bodyPr>
            <a:lstStyle/>
            <a:p>
              <a:r>
                <a:rPr lang="en-US" sz="1800" b="1" dirty="0" smtClean="0">
                  <a:solidFill>
                    <a:srgbClr val="FF0000"/>
                  </a:solidFill>
                </a:rPr>
                <a:t>3/3a</a:t>
              </a:r>
              <a:endParaRPr lang="en-US" sz="1800" dirty="0">
                <a:solidFill>
                  <a:srgbClr val="FF0000"/>
                </a:solidFill>
              </a:endParaRPr>
            </a:p>
          </p:txBody>
        </p:sp>
        <p:cxnSp>
          <p:nvCxnSpPr>
            <p:cNvPr id="160" name="Straight Connector 159"/>
            <p:cNvCxnSpPr/>
            <p:nvPr/>
          </p:nvCxnSpPr>
          <p:spPr>
            <a:xfrm flipV="1">
              <a:off x="4054510" y="4242080"/>
              <a:ext cx="6699" cy="1661325"/>
            </a:xfrm>
            <a:prstGeom prst="line">
              <a:avLst/>
            </a:prstGeom>
            <a:ln w="19050">
              <a:solidFill>
                <a:srgbClr val="FF0000"/>
              </a:solidFill>
              <a:headEnd type="stealth"/>
              <a:tailEnd type="stealt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4"/>
          <p:cNvGrpSpPr/>
          <p:nvPr/>
        </p:nvGrpSpPr>
        <p:grpSpPr>
          <a:xfrm>
            <a:off x="549071" y="871866"/>
            <a:ext cx="7640336" cy="646331"/>
            <a:chOff x="780183" y="1153220"/>
            <a:chExt cx="7640336" cy="646331"/>
          </a:xfrm>
        </p:grpSpPr>
        <p:grpSp>
          <p:nvGrpSpPr>
            <p:cNvPr id="3" name="Group 69"/>
            <p:cNvGrpSpPr/>
            <p:nvPr/>
          </p:nvGrpSpPr>
          <p:grpSpPr>
            <a:xfrm>
              <a:off x="7046711" y="1481577"/>
              <a:ext cx="419216" cy="307029"/>
              <a:chOff x="7138055" y="3611827"/>
              <a:chExt cx="699863" cy="488511"/>
            </a:xfrm>
          </p:grpSpPr>
          <p:sp>
            <p:nvSpPr>
              <p:cNvPr id="10" name="Isosceles Triangle 9"/>
              <p:cNvSpPr/>
              <p:nvPr/>
            </p:nvSpPr>
            <p:spPr>
              <a:xfrm rot="473557">
                <a:off x="7370466" y="3734072"/>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flipH="1">
                <a:off x="7328593" y="3611827"/>
                <a:ext cx="361739" cy="28135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138055" y="3878463"/>
                <a:ext cx="582429" cy="6495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569759" y="3712308"/>
                <a:ext cx="268159" cy="38803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 name="Group 70"/>
            <p:cNvGrpSpPr/>
            <p:nvPr/>
          </p:nvGrpSpPr>
          <p:grpSpPr>
            <a:xfrm>
              <a:off x="4121500" y="1459803"/>
              <a:ext cx="540936" cy="268514"/>
              <a:chOff x="4814841" y="3680488"/>
              <a:chExt cx="743573" cy="432079"/>
            </a:xfrm>
          </p:grpSpPr>
          <p:sp>
            <p:nvSpPr>
              <p:cNvPr id="6" name="Isosceles Triangle 5"/>
              <p:cNvSpPr/>
              <p:nvPr/>
            </p:nvSpPr>
            <p:spPr>
              <a:xfrm rot="473557">
                <a:off x="4987332" y="3852977"/>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flipH="1">
                <a:off x="4814836" y="3831212"/>
                <a:ext cx="361739" cy="28135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6" idx="2"/>
              </p:cNvCxnSpPr>
              <p:nvPr/>
            </p:nvCxnSpPr>
            <p:spPr>
              <a:xfrm>
                <a:off x="4975985" y="4017465"/>
                <a:ext cx="582429" cy="6495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6" idx="4"/>
              </p:cNvCxnSpPr>
              <p:nvPr/>
            </p:nvCxnSpPr>
            <p:spPr>
              <a:xfrm>
                <a:off x="5076093" y="3680488"/>
                <a:ext cx="268159" cy="38803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5" name="Rectangle 4"/>
            <p:cNvSpPr/>
            <p:nvPr/>
          </p:nvSpPr>
          <p:spPr>
            <a:xfrm>
              <a:off x="780183" y="1153220"/>
              <a:ext cx="7640336" cy="646331"/>
            </a:xfrm>
            <a:prstGeom prst="rect">
              <a:avLst/>
            </a:prstGeom>
          </p:spPr>
          <p:txBody>
            <a:bodyPr wrap="square">
              <a:spAutoFit/>
            </a:bodyPr>
            <a:lstStyle/>
            <a:p>
              <a:pPr marL="457200" lvl="0" indent="-457200" algn="just">
                <a:spcBef>
                  <a:spcPts val="600"/>
                </a:spcBef>
                <a:spcAft>
                  <a:spcPts val="600"/>
                </a:spcAft>
                <a:buFont typeface="Wingdings" pitchFamily="2" charset="2"/>
                <a:buChar char="v"/>
              </a:pPr>
              <a:r>
                <a:rPr lang="en-US" sz="1800" b="1" dirty="0" smtClean="0">
                  <a:solidFill>
                    <a:srgbClr val="002060"/>
                  </a:solidFill>
                  <a:latin typeface="Times New Roman" pitchFamily="18" charset="0"/>
                  <a:cs typeface="Times New Roman" pitchFamily="18" charset="0"/>
                </a:rPr>
                <a:t>The conventional direction of rotation is anticlockwise. It is for this reason that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1</a:t>
              </a:r>
              <a:r>
                <a:rPr lang="en-US" sz="1800" b="1" dirty="0" smtClean="0">
                  <a:solidFill>
                    <a:srgbClr val="002060"/>
                  </a:solidFill>
                  <a:latin typeface="Times New Roman" pitchFamily="18" charset="0"/>
                  <a:cs typeface="Times New Roman" pitchFamily="18" charset="0"/>
                </a:rPr>
                <a:t> is shown as                     and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2</a:t>
              </a:r>
              <a:r>
                <a:rPr lang="en-US" sz="1800" b="1" dirty="0" smtClean="0">
                  <a:solidFill>
                    <a:srgbClr val="002060"/>
                  </a:solidFill>
                  <a:latin typeface="Times New Roman" pitchFamily="18" charset="0"/>
                  <a:cs typeface="Times New Roman" pitchFamily="18" charset="0"/>
                </a:rPr>
                <a:t>  is shown as</a:t>
              </a:r>
            </a:p>
          </p:txBody>
        </p:sp>
      </p:grpSp>
      <p:grpSp>
        <p:nvGrpSpPr>
          <p:cNvPr id="14" name="Group 13"/>
          <p:cNvGrpSpPr/>
          <p:nvPr/>
        </p:nvGrpSpPr>
        <p:grpSpPr>
          <a:xfrm>
            <a:off x="1822098" y="1902481"/>
            <a:ext cx="1371600" cy="1395385"/>
            <a:chOff x="5138055" y="4896889"/>
            <a:chExt cx="1371600" cy="1395385"/>
          </a:xfrm>
        </p:grpSpPr>
        <p:sp>
          <p:nvSpPr>
            <p:cNvPr id="15" name="Oval 14"/>
            <p:cNvSpPr/>
            <p:nvPr/>
          </p:nvSpPr>
          <p:spPr>
            <a:xfrm>
              <a:off x="5138055" y="4896889"/>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82"/>
            <p:cNvGrpSpPr/>
            <p:nvPr/>
          </p:nvGrpSpPr>
          <p:grpSpPr>
            <a:xfrm>
              <a:off x="5620377" y="5450673"/>
              <a:ext cx="438779" cy="206550"/>
              <a:chOff x="4814836" y="3680488"/>
              <a:chExt cx="743578" cy="432079"/>
            </a:xfrm>
          </p:grpSpPr>
          <p:sp>
            <p:nvSpPr>
              <p:cNvPr id="23" name="Isosceles Triangle 22"/>
              <p:cNvSpPr/>
              <p:nvPr/>
            </p:nvSpPr>
            <p:spPr>
              <a:xfrm rot="473557">
                <a:off x="4987332" y="3852977"/>
                <a:ext cx="371789" cy="1909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p:nvPr/>
            </p:nvCxnSpPr>
            <p:spPr>
              <a:xfrm flipH="1">
                <a:off x="4814836" y="3831212"/>
                <a:ext cx="361739" cy="28135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23" idx="2"/>
              </p:cNvCxnSpPr>
              <p:nvPr/>
            </p:nvCxnSpPr>
            <p:spPr>
              <a:xfrm>
                <a:off x="4975985" y="4017465"/>
                <a:ext cx="582429" cy="6495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endCxn id="23" idx="4"/>
              </p:cNvCxnSpPr>
              <p:nvPr/>
            </p:nvCxnSpPr>
            <p:spPr>
              <a:xfrm>
                <a:off x="5076093" y="3680488"/>
                <a:ext cx="268159" cy="38803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7" name="Oval 16"/>
            <p:cNvSpPr/>
            <p:nvPr/>
          </p:nvSpPr>
          <p:spPr>
            <a:xfrm>
              <a:off x="5332363" y="5182643"/>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308699" y="547571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566827" y="607022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166575" y="5147548"/>
              <a:ext cx="415498" cy="461665"/>
            </a:xfrm>
            <a:prstGeom prst="rect">
              <a:avLst/>
            </a:prstGeom>
          </p:spPr>
          <p:txBody>
            <a:bodyPr wrap="none">
              <a:spAutoFit/>
            </a:bodyPr>
            <a:lstStyle/>
            <a:p>
              <a:r>
                <a:rPr lang="en-US" b="1" dirty="0" smtClean="0">
                  <a:solidFill>
                    <a:srgbClr val="7030A0"/>
                  </a:solidFill>
                </a:rPr>
                <a:t>⅔</a:t>
              </a:r>
              <a:endParaRPr lang="en-US" dirty="0">
                <a:solidFill>
                  <a:srgbClr val="7030A0"/>
                </a:solidFill>
              </a:endParaRPr>
            </a:p>
          </p:txBody>
        </p:sp>
        <p:sp>
          <p:nvSpPr>
            <p:cNvPr id="21" name="Rectangle 20"/>
            <p:cNvSpPr/>
            <p:nvPr/>
          </p:nvSpPr>
          <p:spPr>
            <a:xfrm>
              <a:off x="5982036" y="5137499"/>
              <a:ext cx="415498" cy="461665"/>
            </a:xfrm>
            <a:prstGeom prst="rect">
              <a:avLst/>
            </a:prstGeom>
          </p:spPr>
          <p:txBody>
            <a:bodyPr wrap="none">
              <a:spAutoFit/>
            </a:bodyPr>
            <a:lstStyle/>
            <a:p>
              <a:r>
                <a:rPr lang="en-US" b="1" dirty="0" smtClean="0">
                  <a:solidFill>
                    <a:srgbClr val="7030A0"/>
                  </a:solidFill>
                </a:rPr>
                <a:t>⅓</a:t>
              </a:r>
              <a:endParaRPr lang="en-US" dirty="0">
                <a:solidFill>
                  <a:srgbClr val="7030A0"/>
                </a:solidFill>
              </a:endParaRPr>
            </a:p>
          </p:txBody>
        </p:sp>
        <p:sp>
          <p:nvSpPr>
            <p:cNvPr id="22" name="Rectangle 21"/>
            <p:cNvSpPr/>
            <p:nvPr/>
          </p:nvSpPr>
          <p:spPr>
            <a:xfrm>
              <a:off x="5620427" y="5922942"/>
              <a:ext cx="473206" cy="369332"/>
            </a:xfrm>
            <a:prstGeom prst="rect">
              <a:avLst/>
            </a:prstGeom>
          </p:spPr>
          <p:txBody>
            <a:bodyPr wrap="none">
              <a:spAutoFit/>
            </a:bodyPr>
            <a:lstStyle/>
            <a:p>
              <a:r>
                <a:rPr lang="en-US" sz="1800" b="1" dirty="0" smtClean="0">
                  <a:solidFill>
                    <a:srgbClr val="7030A0"/>
                  </a:solidFill>
                </a:rPr>
                <a:t>0,1</a:t>
              </a:r>
              <a:endParaRPr lang="en-US" sz="1800" dirty="0">
                <a:solidFill>
                  <a:srgbClr val="7030A0"/>
                </a:solidFill>
              </a:endParaRPr>
            </a:p>
          </p:txBody>
        </p:sp>
      </p:grpSp>
      <p:grpSp>
        <p:nvGrpSpPr>
          <p:cNvPr id="27" name="Group 26"/>
          <p:cNvGrpSpPr/>
          <p:nvPr/>
        </p:nvGrpSpPr>
        <p:grpSpPr>
          <a:xfrm>
            <a:off x="4808134" y="1823769"/>
            <a:ext cx="1371600" cy="1395385"/>
            <a:chOff x="7079062" y="4878467"/>
            <a:chExt cx="1371600" cy="1395385"/>
          </a:xfrm>
        </p:grpSpPr>
        <p:grpSp>
          <p:nvGrpSpPr>
            <p:cNvPr id="28" name="Group 121"/>
            <p:cNvGrpSpPr/>
            <p:nvPr/>
          </p:nvGrpSpPr>
          <p:grpSpPr>
            <a:xfrm>
              <a:off x="7079062" y="4878467"/>
              <a:ext cx="1371600" cy="1395385"/>
              <a:chOff x="7079062" y="4878467"/>
              <a:chExt cx="1371600" cy="1395385"/>
            </a:xfrm>
          </p:grpSpPr>
          <p:grpSp>
            <p:nvGrpSpPr>
              <p:cNvPr id="30" name="Group 89"/>
              <p:cNvGrpSpPr/>
              <p:nvPr/>
            </p:nvGrpSpPr>
            <p:grpSpPr>
              <a:xfrm>
                <a:off x="7511519" y="5432255"/>
                <a:ext cx="428354" cy="307029"/>
                <a:chOff x="7138055" y="3611827"/>
                <a:chExt cx="699863" cy="488511"/>
              </a:xfrm>
            </p:grpSpPr>
            <p:sp>
              <p:nvSpPr>
                <p:cNvPr id="37" name="Isosceles Triangle 36"/>
                <p:cNvSpPr/>
                <p:nvPr/>
              </p:nvSpPr>
              <p:spPr>
                <a:xfrm rot="473557">
                  <a:off x="7370466" y="3734072"/>
                  <a:ext cx="371789" cy="190919"/>
                </a:xfrm>
                <a:prstGeom prst="triangle">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p:cNvCxnSpPr/>
                <p:nvPr/>
              </p:nvCxnSpPr>
              <p:spPr>
                <a:xfrm flipH="1">
                  <a:off x="7328593" y="3611827"/>
                  <a:ext cx="361739" cy="281355"/>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7138055" y="3878463"/>
                  <a:ext cx="582429" cy="64957"/>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7569759" y="3712308"/>
                  <a:ext cx="268159" cy="38803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31" name="Oval 30"/>
              <p:cNvSpPr/>
              <p:nvPr/>
            </p:nvSpPr>
            <p:spPr>
              <a:xfrm>
                <a:off x="7079062" y="4878467"/>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8249706" y="5457293"/>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7507834" y="605180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7278405" y="4918110"/>
                <a:ext cx="809837" cy="615553"/>
              </a:xfrm>
              <a:prstGeom prst="rect">
                <a:avLst/>
              </a:prstGeom>
              <a:ln>
                <a:noFill/>
              </a:ln>
            </p:spPr>
            <p:txBody>
              <a:bodyPr wrap="none">
                <a:spAutoFit/>
              </a:bodyPr>
              <a:lstStyle/>
              <a:p>
                <a:r>
                  <a:rPr lang="en-US" sz="1600" b="1" dirty="0" smtClean="0">
                    <a:solidFill>
                      <a:srgbClr val="7030A0"/>
                    </a:solidFill>
                  </a:rPr>
                  <a:t>4/3 (</a:t>
                </a:r>
                <a:r>
                  <a:rPr lang="en-US" sz="1800" b="1" dirty="0" smtClean="0">
                    <a:solidFill>
                      <a:srgbClr val="7030A0"/>
                    </a:solidFill>
                  </a:rPr>
                  <a:t>⅓</a:t>
                </a:r>
                <a:r>
                  <a:rPr lang="en-US" sz="1600" b="1" dirty="0" smtClean="0">
                    <a:solidFill>
                      <a:srgbClr val="7030A0"/>
                    </a:solidFill>
                  </a:rPr>
                  <a:t>)</a:t>
                </a:r>
                <a:endParaRPr lang="en-US" sz="1600" dirty="0" smtClean="0">
                  <a:solidFill>
                    <a:srgbClr val="7030A0"/>
                  </a:solidFill>
                </a:endParaRPr>
              </a:p>
              <a:p>
                <a:endParaRPr lang="en-US" sz="1600" dirty="0">
                  <a:solidFill>
                    <a:srgbClr val="7030A0"/>
                  </a:solidFill>
                </a:endParaRPr>
              </a:p>
            </p:txBody>
          </p:sp>
          <p:sp>
            <p:nvSpPr>
              <p:cNvPr id="35" name="Rectangle 34"/>
              <p:cNvSpPr/>
              <p:nvPr/>
            </p:nvSpPr>
            <p:spPr>
              <a:xfrm>
                <a:off x="7963236" y="5420528"/>
                <a:ext cx="415498" cy="461665"/>
              </a:xfrm>
              <a:prstGeom prst="rect">
                <a:avLst/>
              </a:prstGeom>
              <a:ln>
                <a:noFill/>
              </a:ln>
            </p:spPr>
            <p:txBody>
              <a:bodyPr wrap="none">
                <a:spAutoFit/>
              </a:bodyPr>
              <a:lstStyle/>
              <a:p>
                <a:r>
                  <a:rPr lang="en-US" b="1" dirty="0" smtClean="0">
                    <a:solidFill>
                      <a:srgbClr val="7030A0"/>
                    </a:solidFill>
                  </a:rPr>
                  <a:t>⅔</a:t>
                </a:r>
                <a:endParaRPr lang="en-US" dirty="0">
                  <a:solidFill>
                    <a:srgbClr val="7030A0"/>
                  </a:solidFill>
                </a:endParaRPr>
              </a:p>
            </p:txBody>
          </p:sp>
          <p:sp>
            <p:nvSpPr>
              <p:cNvPr id="36" name="Rectangle 35"/>
              <p:cNvSpPr/>
              <p:nvPr/>
            </p:nvSpPr>
            <p:spPr>
              <a:xfrm>
                <a:off x="7561434" y="5904520"/>
                <a:ext cx="473206" cy="369332"/>
              </a:xfrm>
              <a:prstGeom prst="rect">
                <a:avLst/>
              </a:prstGeom>
              <a:ln>
                <a:noFill/>
              </a:ln>
            </p:spPr>
            <p:txBody>
              <a:bodyPr wrap="none">
                <a:spAutoFit/>
              </a:bodyPr>
              <a:lstStyle/>
              <a:p>
                <a:r>
                  <a:rPr lang="en-US" sz="1800" b="1" dirty="0" smtClean="0">
                    <a:solidFill>
                      <a:srgbClr val="7030A0"/>
                    </a:solidFill>
                  </a:rPr>
                  <a:t>0,1</a:t>
                </a:r>
                <a:endParaRPr lang="en-US" sz="1800" dirty="0">
                  <a:solidFill>
                    <a:srgbClr val="7030A0"/>
                  </a:solidFill>
                </a:endParaRPr>
              </a:p>
            </p:txBody>
          </p:sp>
        </p:grpSp>
        <p:sp>
          <p:nvSpPr>
            <p:cNvPr id="29" name="Oval 28"/>
            <p:cNvSpPr/>
            <p:nvPr/>
          </p:nvSpPr>
          <p:spPr>
            <a:xfrm>
              <a:off x="7273370" y="5164221"/>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ectangle 6"/>
          <p:cNvSpPr txBox="1">
            <a:spLocks noChangeArrowheads="1"/>
          </p:cNvSpPr>
          <p:nvPr/>
        </p:nvSpPr>
        <p:spPr>
          <a:xfrm>
            <a:off x="2222527" y="362901"/>
            <a:ext cx="4198370" cy="632138"/>
          </a:xfrm>
          <a:prstGeom prst="rect">
            <a:avLst/>
          </a:prstGeom>
        </p:spPr>
        <p:txBody>
          <a:bodyPr/>
          <a:lstStyle/>
          <a:p>
            <a:pPr lvl="0" eaLnBrk="1" hangingPunct="1">
              <a:tabLst>
                <a:tab pos="3486150" algn="l"/>
              </a:tabLst>
            </a:pPr>
            <a:r>
              <a:rPr lang="en-US" b="1" dirty="0" smtClean="0">
                <a:solidFill>
                  <a:srgbClr val="0070C0"/>
                </a:solidFill>
                <a:effectLst>
                  <a:outerShdw blurRad="53975" dist="22860" dir="5400000" algn="tl" rotWithShape="0">
                    <a:srgbClr val="000000">
                      <a:alpha val="55000"/>
                    </a:srgbClr>
                  </a:outerShdw>
                </a:effectLst>
                <a:latin typeface="+mn-lt"/>
              </a:rPr>
              <a:t>Three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
        <p:nvSpPr>
          <p:cNvPr id="46" name="Rectangle 45"/>
          <p:cNvSpPr/>
          <p:nvPr/>
        </p:nvSpPr>
        <p:spPr>
          <a:xfrm>
            <a:off x="741664" y="4199546"/>
            <a:ext cx="7829579" cy="646331"/>
          </a:xfrm>
          <a:prstGeom prst="rect">
            <a:avLst/>
          </a:prstGeom>
        </p:spPr>
        <p:txBody>
          <a:bodyPr wrap="square">
            <a:spAutoFit/>
          </a:bodyPr>
          <a:lstStyle/>
          <a:p>
            <a:pPr marL="457200" lvl="0" indent="-457200" algn="just">
              <a:spcBef>
                <a:spcPts val="600"/>
              </a:spcBef>
              <a:spcAft>
                <a:spcPts val="600"/>
              </a:spcAft>
              <a:buFont typeface="Wingdings" pitchFamily="2" charset="2"/>
              <a:buChar char="v"/>
            </a:pPr>
            <a:r>
              <a:rPr lang="en-US" sz="1800" b="1" dirty="0" smtClean="0">
                <a:solidFill>
                  <a:srgbClr val="002060"/>
                </a:solidFill>
                <a:latin typeface="Times New Roman" pitchFamily="18" charset="0"/>
                <a:cs typeface="Times New Roman" pitchFamily="18" charset="0"/>
              </a:rPr>
              <a:t>The pair of screw axes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1</a:t>
            </a:r>
            <a:r>
              <a:rPr lang="en-US" sz="1800" b="1" dirty="0" smtClean="0">
                <a:solidFill>
                  <a:srgbClr val="002060"/>
                </a:solidFill>
                <a:latin typeface="Times New Roman" pitchFamily="18" charset="0"/>
                <a:cs typeface="Times New Roman" pitchFamily="18" charset="0"/>
              </a:rPr>
              <a:t> and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2</a:t>
            </a:r>
            <a:r>
              <a:rPr lang="en-US" sz="1800" b="1" dirty="0" smtClean="0">
                <a:solidFill>
                  <a:srgbClr val="002060"/>
                </a:solidFill>
                <a:latin typeface="Times New Roman" pitchFamily="18" charset="0"/>
                <a:cs typeface="Times New Roman" pitchFamily="18" charset="0"/>
              </a:rPr>
              <a:t>  are termed as </a:t>
            </a:r>
            <a:r>
              <a:rPr lang="en-US" sz="1800" b="1" i="1" dirty="0" err="1" smtClean="0">
                <a:solidFill>
                  <a:srgbClr val="FF0000"/>
                </a:solidFill>
                <a:latin typeface="Times New Roman" pitchFamily="18" charset="0"/>
                <a:cs typeface="Times New Roman" pitchFamily="18" charset="0"/>
              </a:rPr>
              <a:t>enantiomorphous</a:t>
            </a:r>
            <a:r>
              <a:rPr lang="en-US" sz="1800" b="1" i="1" dirty="0" smtClean="0">
                <a:latin typeface="Times New Roman" pitchFamily="18" charset="0"/>
                <a:cs typeface="Times New Roman" pitchFamily="18" charset="0"/>
              </a:rPr>
              <a:t> </a:t>
            </a:r>
            <a:r>
              <a:rPr lang="en-US" sz="1800" b="1" dirty="0" smtClean="0">
                <a:solidFill>
                  <a:srgbClr val="002060"/>
                </a:solidFill>
                <a:latin typeface="Times New Roman" pitchFamily="18" charset="0"/>
                <a:cs typeface="Times New Roman" pitchFamily="18" charset="0"/>
                <a:sym typeface="Symbol" pitchFamily="18" charset="2"/>
              </a:rPr>
              <a:t>as they differ only in the handedness of rotation</a:t>
            </a:r>
            <a:r>
              <a:rPr lang="en-US" sz="1800" b="1" dirty="0" smtClean="0">
                <a:solidFill>
                  <a:srgbClr val="002060"/>
                </a:solidFill>
                <a:latin typeface="+mj-lt"/>
                <a:sym typeface="Symbol" pitchFamily="18" charset="2"/>
              </a:rPr>
              <a:t>. </a:t>
            </a:r>
            <a:endParaRPr lang="en-US" sz="1800" b="1" dirty="0" smtClean="0">
              <a:solidFill>
                <a:srgbClr val="002060"/>
              </a:solidFill>
              <a:latin typeface="+mj-lt"/>
            </a:endParaRPr>
          </a:p>
        </p:txBody>
      </p:sp>
      <p:sp>
        <p:nvSpPr>
          <p:cNvPr id="47" name="Rectangle 46"/>
          <p:cNvSpPr/>
          <p:nvPr/>
        </p:nvSpPr>
        <p:spPr>
          <a:xfrm>
            <a:off x="5270230" y="3293066"/>
            <a:ext cx="441146" cy="461665"/>
          </a:xfrm>
          <a:prstGeom prst="rect">
            <a:avLst/>
          </a:prstGeom>
        </p:spPr>
        <p:txBody>
          <a:bodyPr wrap="none">
            <a:spAutoFit/>
          </a:bodyPr>
          <a:lstStyle/>
          <a:p>
            <a:r>
              <a:rPr lang="en-US" b="1" dirty="0" smtClean="0">
                <a:solidFill>
                  <a:srgbClr val="FF0000"/>
                </a:solidFill>
              </a:rPr>
              <a:t>3</a:t>
            </a:r>
            <a:r>
              <a:rPr lang="en-US" b="1" baseline="-25000" dirty="0" smtClean="0">
                <a:solidFill>
                  <a:srgbClr val="FF0000"/>
                </a:solidFill>
              </a:rPr>
              <a:t>2</a:t>
            </a:r>
            <a:endParaRPr lang="en-US" dirty="0"/>
          </a:p>
        </p:txBody>
      </p:sp>
      <p:sp>
        <p:nvSpPr>
          <p:cNvPr id="48" name="Rectangle 47"/>
          <p:cNvSpPr/>
          <p:nvPr/>
        </p:nvSpPr>
        <p:spPr>
          <a:xfrm>
            <a:off x="2227254" y="3294741"/>
            <a:ext cx="441146" cy="461665"/>
          </a:xfrm>
          <a:prstGeom prst="rect">
            <a:avLst/>
          </a:prstGeom>
        </p:spPr>
        <p:txBody>
          <a:bodyPr wrap="none">
            <a:spAutoFit/>
          </a:bodyPr>
          <a:lstStyle/>
          <a:p>
            <a:r>
              <a:rPr lang="en-US" b="1" dirty="0" smtClean="0">
                <a:solidFill>
                  <a:srgbClr val="FF0000"/>
                </a:solidFill>
              </a:rPr>
              <a:t>3</a:t>
            </a:r>
            <a:r>
              <a:rPr lang="en-US" b="1" baseline="-25000" dirty="0" smtClean="0">
                <a:solidFill>
                  <a:srgbClr val="FF0000"/>
                </a:solidFill>
              </a:rPr>
              <a:t>1</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txBox="1">
            <a:spLocks noChangeArrowheads="1"/>
          </p:cNvSpPr>
          <p:nvPr/>
        </p:nvSpPr>
        <p:spPr>
          <a:xfrm>
            <a:off x="1730157" y="523675"/>
            <a:ext cx="4198370" cy="632138"/>
          </a:xfrm>
          <a:prstGeom prst="rect">
            <a:avLst/>
          </a:prstGeom>
        </p:spPr>
        <p:txBody>
          <a:bodyPr/>
          <a:lstStyle/>
          <a:p>
            <a:pPr lvl="0" eaLnBrk="1" hangingPunct="1"/>
            <a:r>
              <a:rPr lang="en-US" b="1" dirty="0" smtClean="0">
                <a:solidFill>
                  <a:srgbClr val="0070C0"/>
                </a:solidFill>
                <a:effectLst>
                  <a:outerShdw blurRad="53975" dist="22860" dir="5400000" algn="tl" rotWithShape="0">
                    <a:srgbClr val="000000">
                      <a:alpha val="55000"/>
                    </a:srgbClr>
                  </a:outerShdw>
                </a:effectLst>
                <a:latin typeface="+mn-lt"/>
              </a:rPr>
              <a:t>Four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
        <p:nvSpPr>
          <p:cNvPr id="3" name="Rectangle 2"/>
          <p:cNvSpPr>
            <a:spLocks noChangeArrowheads="1"/>
          </p:cNvSpPr>
          <p:nvPr/>
        </p:nvSpPr>
        <p:spPr bwMode="auto">
          <a:xfrm>
            <a:off x="261256" y="1490518"/>
            <a:ext cx="8420519" cy="15081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lvl="0" indent="-457200" algn="just">
              <a:spcBef>
                <a:spcPts val="600"/>
              </a:spcBef>
              <a:spcAft>
                <a:spcPts val="600"/>
              </a:spcAft>
              <a:buFont typeface="Wingdings" pitchFamily="2" charset="2"/>
              <a:buChar char="v"/>
            </a:pPr>
            <a:r>
              <a:rPr kumimoji="0" lang="en-US" sz="1800" b="1" i="0" u="none" strike="noStrike" cap="none" normalizeH="0" baseline="0" dirty="0" smtClean="0">
                <a:ln>
                  <a:noFill/>
                </a:ln>
                <a:solidFill>
                  <a:srgbClr val="002060"/>
                </a:solidFill>
                <a:effectLst/>
                <a:latin typeface="Times New Roman" pitchFamily="18" charset="0"/>
                <a:cs typeface="Times New Roman" pitchFamily="18" charset="0"/>
              </a:rPr>
              <a:t>There are three types of four fold screw axes, viz</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4</a:t>
            </a:r>
            <a:r>
              <a:rPr lang="en-US" sz="1800" b="1" baseline="-25000" dirty="0" smtClean="0">
                <a:solidFill>
                  <a:srgbClr val="FF0000"/>
                </a:solidFill>
                <a:latin typeface="Times New Roman" pitchFamily="18" charset="0"/>
                <a:cs typeface="Times New Roman" pitchFamily="18" charset="0"/>
              </a:rPr>
              <a:t>1</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 4</a:t>
            </a:r>
            <a:r>
              <a:rPr lang="en-US" sz="1800" b="1" baseline="-25000" dirty="0" smtClean="0">
                <a:solidFill>
                  <a:srgbClr val="FF0000"/>
                </a:solidFill>
                <a:latin typeface="Times New Roman" pitchFamily="18" charset="0"/>
                <a:cs typeface="Times New Roman" pitchFamily="18" charset="0"/>
              </a:rPr>
              <a:t>2</a:t>
            </a:r>
            <a:r>
              <a:rPr lang="en-US" sz="1800" b="1" dirty="0" smtClean="0">
                <a:solidFill>
                  <a:srgbClr val="FF0000"/>
                </a:solidFill>
                <a:latin typeface="Times New Roman" pitchFamily="18" charset="0"/>
                <a:cs typeface="Times New Roman" pitchFamily="18" charset="0"/>
              </a:rPr>
              <a:t> </a:t>
            </a:r>
            <a:r>
              <a:rPr lang="en-US" sz="1800" b="1" dirty="0" smtClean="0">
                <a:solidFill>
                  <a:srgbClr val="002060"/>
                </a:solidFill>
                <a:latin typeface="Times New Roman" pitchFamily="18" charset="0"/>
                <a:cs typeface="Times New Roman" pitchFamily="18" charset="0"/>
              </a:rPr>
              <a:t>and </a:t>
            </a:r>
            <a:r>
              <a:rPr lang="en-US" sz="1800" b="1" dirty="0" smtClean="0">
                <a:solidFill>
                  <a:srgbClr val="FF0000"/>
                </a:solidFill>
                <a:latin typeface="Times New Roman" pitchFamily="18" charset="0"/>
                <a:cs typeface="Times New Roman" pitchFamily="18" charset="0"/>
              </a:rPr>
              <a:t>4</a:t>
            </a:r>
            <a:r>
              <a:rPr lang="en-US" sz="1800" b="1" baseline="-25000" dirty="0" smtClean="0">
                <a:solidFill>
                  <a:srgbClr val="FF0000"/>
                </a:solidFill>
                <a:latin typeface="Times New Roman" pitchFamily="18" charset="0"/>
                <a:cs typeface="Times New Roman" pitchFamily="18" charset="0"/>
              </a:rPr>
              <a:t>3</a:t>
            </a:r>
            <a:r>
              <a:rPr lang="en-US" sz="1800" b="1" dirty="0" smtClean="0">
                <a:solidFill>
                  <a:srgbClr val="002060"/>
                </a:solidFill>
                <a:latin typeface="Times New Roman" pitchFamily="18" charset="0"/>
                <a:cs typeface="Times New Roman" pitchFamily="18" charset="0"/>
              </a:rPr>
              <a:t>. </a:t>
            </a:r>
          </a:p>
          <a:p>
            <a:pPr marL="457200" lvl="0" indent="-457200" algn="just">
              <a:spcBef>
                <a:spcPts val="600"/>
              </a:spcBef>
              <a:spcAft>
                <a:spcPts val="600"/>
              </a:spcAft>
              <a:buFont typeface="Wingdings" pitchFamily="2" charset="2"/>
              <a:buChar char="v"/>
            </a:pPr>
            <a:r>
              <a:rPr lang="en-US" sz="1800" b="1" dirty="0" smtClean="0">
                <a:solidFill>
                  <a:srgbClr val="002060"/>
                </a:solidFill>
                <a:latin typeface="Times New Roman" pitchFamily="18" charset="0"/>
                <a:cs typeface="Times New Roman" pitchFamily="18" charset="0"/>
              </a:rPr>
              <a:t>The screw axes </a:t>
            </a:r>
            <a:r>
              <a:rPr lang="en-US" sz="1800" b="1" dirty="0" smtClean="0">
                <a:solidFill>
                  <a:srgbClr val="FF0000"/>
                </a:solidFill>
                <a:latin typeface="Times New Roman" pitchFamily="18" charset="0"/>
                <a:cs typeface="Times New Roman" pitchFamily="18" charset="0"/>
              </a:rPr>
              <a:t>4</a:t>
            </a:r>
            <a:r>
              <a:rPr lang="en-US" sz="1800" b="1" baseline="-25000" dirty="0" smtClean="0">
                <a:solidFill>
                  <a:srgbClr val="FF0000"/>
                </a:solidFill>
                <a:latin typeface="Times New Roman" pitchFamily="18" charset="0"/>
                <a:cs typeface="Times New Roman" pitchFamily="18" charset="0"/>
              </a:rPr>
              <a:t>1</a:t>
            </a:r>
            <a:r>
              <a:rPr lang="en-US" sz="1800" b="1" dirty="0" smtClean="0">
                <a:solidFill>
                  <a:srgbClr val="002060"/>
                </a:solidFill>
                <a:latin typeface="Times New Roman" pitchFamily="18" charset="0"/>
                <a:cs typeface="Times New Roman" pitchFamily="18" charset="0"/>
              </a:rPr>
              <a:t> and </a:t>
            </a:r>
            <a:r>
              <a:rPr lang="en-US" sz="1800" b="1" dirty="0" smtClean="0">
                <a:solidFill>
                  <a:srgbClr val="FF0000"/>
                </a:solidFill>
                <a:latin typeface="Times New Roman" pitchFamily="18" charset="0"/>
                <a:cs typeface="Times New Roman" pitchFamily="18" charset="0"/>
              </a:rPr>
              <a:t>4</a:t>
            </a:r>
            <a:r>
              <a:rPr lang="en-US" sz="1800" b="1" baseline="-25000" dirty="0" smtClean="0">
                <a:solidFill>
                  <a:srgbClr val="FF0000"/>
                </a:solidFill>
                <a:latin typeface="Times New Roman" pitchFamily="18" charset="0"/>
                <a:cs typeface="Times New Roman" pitchFamily="18" charset="0"/>
              </a:rPr>
              <a:t>3 </a:t>
            </a:r>
            <a:r>
              <a:rPr lang="en-US" sz="1800" b="1" dirty="0" smtClean="0">
                <a:solidFill>
                  <a:srgbClr val="002060"/>
                </a:solidFill>
                <a:latin typeface="Times New Roman" pitchFamily="18" charset="0"/>
                <a:cs typeface="Times New Roman" pitchFamily="18" charset="0"/>
              </a:rPr>
              <a:t>are also the pair of </a:t>
            </a:r>
            <a:r>
              <a:rPr lang="en-US" sz="1800" b="1" i="1" dirty="0" err="1">
                <a:solidFill>
                  <a:srgbClr val="FF0000"/>
                </a:solidFill>
                <a:latin typeface="Times New Roman" pitchFamily="18" charset="0"/>
                <a:cs typeface="Times New Roman" pitchFamily="18" charset="0"/>
              </a:rPr>
              <a:t>enantiomorphous</a:t>
            </a:r>
            <a:r>
              <a:rPr lang="en-US" sz="1800" b="1" dirty="0" smtClean="0">
                <a:solidFill>
                  <a:srgbClr val="002060"/>
                </a:solidFill>
                <a:latin typeface="Times New Roman" pitchFamily="18" charset="0"/>
                <a:cs typeface="Times New Roman" pitchFamily="18" charset="0"/>
              </a:rPr>
              <a:t> as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1 </a:t>
            </a:r>
            <a:r>
              <a:rPr lang="en-US" sz="1800" b="1" dirty="0" smtClean="0">
                <a:solidFill>
                  <a:srgbClr val="002060"/>
                </a:solidFill>
                <a:latin typeface="Times New Roman" pitchFamily="18" charset="0"/>
                <a:cs typeface="Times New Roman" pitchFamily="18" charset="0"/>
              </a:rPr>
              <a:t>and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2</a:t>
            </a:r>
            <a:r>
              <a:rPr lang="en-US" sz="1800" b="1" dirty="0" smtClean="0">
                <a:solidFill>
                  <a:srgbClr val="002060"/>
                </a:solidFill>
                <a:latin typeface="Times New Roman" pitchFamily="18" charset="0"/>
                <a:cs typeface="Times New Roman" pitchFamily="18" charset="0"/>
              </a:rPr>
              <a:t>.</a:t>
            </a:r>
            <a:r>
              <a:rPr lang="en-US" sz="1800" b="1" baseline="-25000" dirty="0" smtClean="0">
                <a:solidFill>
                  <a:srgbClr val="FF0000"/>
                </a:solidFill>
                <a:latin typeface="Times New Roman" pitchFamily="18" charset="0"/>
                <a:cs typeface="Times New Roman" pitchFamily="18" charset="0"/>
              </a:rPr>
              <a:t> </a:t>
            </a:r>
          </a:p>
          <a:p>
            <a:pPr marL="457200" lvl="0" indent="-457200" algn="just">
              <a:spcBef>
                <a:spcPts val="600"/>
              </a:spcBef>
              <a:spcAft>
                <a:spcPts val="600"/>
              </a:spcAft>
              <a:buFont typeface="Wingdings" pitchFamily="2" charset="2"/>
              <a:buChar char="v"/>
            </a:pPr>
            <a:r>
              <a:rPr lang="en-US" sz="1800" b="1" dirty="0" smtClean="0">
                <a:solidFill>
                  <a:srgbClr val="002060"/>
                </a:solidFill>
                <a:latin typeface="Times New Roman" pitchFamily="18" charset="0"/>
                <a:cs typeface="Times New Roman" pitchFamily="18" charset="0"/>
              </a:rPr>
              <a:t>Whereas </a:t>
            </a:r>
            <a:r>
              <a:rPr lang="en-US" sz="1800" b="1" dirty="0" smtClean="0">
                <a:solidFill>
                  <a:srgbClr val="FF0000"/>
                </a:solidFill>
                <a:latin typeface="Times New Roman" pitchFamily="18" charset="0"/>
                <a:cs typeface="Times New Roman" pitchFamily="18" charset="0"/>
              </a:rPr>
              <a:t>4</a:t>
            </a:r>
            <a:r>
              <a:rPr lang="en-US" sz="1800" b="1" baseline="-25000" dirty="0" smtClean="0">
                <a:solidFill>
                  <a:srgbClr val="FF0000"/>
                </a:solidFill>
                <a:latin typeface="Times New Roman" pitchFamily="18" charset="0"/>
                <a:cs typeface="Times New Roman" pitchFamily="18" charset="0"/>
              </a:rPr>
              <a:t>2 </a:t>
            </a:r>
            <a:r>
              <a:rPr lang="en-US" sz="1800" b="1" dirty="0" smtClean="0">
                <a:solidFill>
                  <a:srgbClr val="002060"/>
                </a:solidFill>
                <a:latin typeface="Times New Roman" pitchFamily="18" charset="0"/>
                <a:cs typeface="Times New Roman" pitchFamily="18" charset="0"/>
              </a:rPr>
              <a:t>has no sense of rotation as same pattern is obtained by rotating clockwise or anticlockwise directions. </a:t>
            </a:r>
            <a:endParaRPr kumimoji="0" lang="en-US" sz="1800" b="1" i="0" u="none" strike="noStrike" cap="none" normalizeH="0" baseline="0" dirty="0" smtClean="0">
              <a:ln>
                <a:noFill/>
              </a:ln>
              <a:solidFill>
                <a:srgbClr val="FF0000"/>
              </a:solidFill>
              <a:effectLst/>
              <a:latin typeface="Times New Roman" pitchFamily="18" charset="0"/>
              <a:cs typeface="Times New Roman" pitchFamily="18" charset="0"/>
            </a:endParaRPr>
          </a:p>
        </p:txBody>
      </p:sp>
      <p:grpSp>
        <p:nvGrpSpPr>
          <p:cNvPr id="4" name="Group 83"/>
          <p:cNvGrpSpPr/>
          <p:nvPr/>
        </p:nvGrpSpPr>
        <p:grpSpPr>
          <a:xfrm>
            <a:off x="1719989" y="3521391"/>
            <a:ext cx="1401781" cy="1892998"/>
            <a:chOff x="1719989" y="3491245"/>
            <a:chExt cx="1401781" cy="1892998"/>
          </a:xfrm>
        </p:grpSpPr>
        <p:sp>
          <p:nvSpPr>
            <p:cNvPr id="5" name="Oval 4"/>
            <p:cNvSpPr/>
            <p:nvPr/>
          </p:nvSpPr>
          <p:spPr>
            <a:xfrm>
              <a:off x="1731663" y="3500169"/>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785299" y="411750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902307" y="407899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391539" y="467350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719989" y="3780973"/>
              <a:ext cx="415498" cy="461665"/>
            </a:xfrm>
            <a:prstGeom prst="rect">
              <a:avLst/>
            </a:prstGeom>
          </p:spPr>
          <p:txBody>
            <a:bodyPr wrap="none">
              <a:spAutoFit/>
            </a:bodyPr>
            <a:lstStyle/>
            <a:p>
              <a:r>
                <a:rPr lang="en-US" b="1" dirty="0" smtClean="0">
                  <a:solidFill>
                    <a:srgbClr val="7030A0"/>
                  </a:solidFill>
                </a:rPr>
                <a:t>¾</a:t>
              </a:r>
              <a:endParaRPr lang="en-US" dirty="0">
                <a:solidFill>
                  <a:srgbClr val="7030A0"/>
                </a:solidFill>
              </a:endParaRPr>
            </a:p>
          </p:txBody>
        </p:sp>
        <p:sp>
          <p:nvSpPr>
            <p:cNvPr id="11" name="Rectangle 10"/>
            <p:cNvSpPr/>
            <p:nvPr/>
          </p:nvSpPr>
          <p:spPr>
            <a:xfrm>
              <a:off x="2706272" y="4132665"/>
              <a:ext cx="415498" cy="461665"/>
            </a:xfrm>
            <a:prstGeom prst="rect">
              <a:avLst/>
            </a:prstGeom>
          </p:spPr>
          <p:txBody>
            <a:bodyPr wrap="none">
              <a:spAutoFit/>
            </a:bodyPr>
            <a:lstStyle/>
            <a:p>
              <a:r>
                <a:rPr lang="en-US" b="1" dirty="0" smtClean="0">
                  <a:solidFill>
                    <a:srgbClr val="7030A0"/>
                  </a:solidFill>
                </a:rPr>
                <a:t>¼</a:t>
              </a:r>
              <a:endParaRPr lang="en-US" dirty="0">
                <a:solidFill>
                  <a:srgbClr val="7030A0"/>
                </a:solidFill>
              </a:endParaRPr>
            </a:p>
          </p:txBody>
        </p:sp>
        <p:sp>
          <p:nvSpPr>
            <p:cNvPr id="12" name="Rectangle 11"/>
            <p:cNvSpPr/>
            <p:nvPr/>
          </p:nvSpPr>
          <p:spPr>
            <a:xfrm>
              <a:off x="1972874" y="4496077"/>
              <a:ext cx="441146" cy="338554"/>
            </a:xfrm>
            <a:prstGeom prst="rect">
              <a:avLst/>
            </a:prstGeom>
          </p:spPr>
          <p:txBody>
            <a:bodyPr wrap="none">
              <a:spAutoFit/>
            </a:bodyPr>
            <a:lstStyle/>
            <a:p>
              <a:r>
                <a:rPr lang="en-US" sz="1600" b="1" dirty="0" smtClean="0">
                  <a:solidFill>
                    <a:srgbClr val="7030A0"/>
                  </a:solidFill>
                </a:rPr>
                <a:t>0,1</a:t>
              </a:r>
              <a:endParaRPr lang="en-US" sz="1600" dirty="0">
                <a:solidFill>
                  <a:srgbClr val="7030A0"/>
                </a:solidFill>
              </a:endParaRPr>
            </a:p>
          </p:txBody>
        </p:sp>
        <p:sp>
          <p:nvSpPr>
            <p:cNvPr id="34" name="Rectangle 33"/>
            <p:cNvSpPr/>
            <p:nvPr/>
          </p:nvSpPr>
          <p:spPr>
            <a:xfrm>
              <a:off x="2227254" y="4922578"/>
              <a:ext cx="441146" cy="461665"/>
            </a:xfrm>
            <a:prstGeom prst="rect">
              <a:avLst/>
            </a:prstGeom>
          </p:spPr>
          <p:txBody>
            <a:bodyPr wrap="none">
              <a:spAutoFit/>
            </a:bodyPr>
            <a:lstStyle/>
            <a:p>
              <a:r>
                <a:rPr lang="en-US" b="1" dirty="0" smtClean="0">
                  <a:solidFill>
                    <a:srgbClr val="FF0000"/>
                  </a:solidFill>
                </a:rPr>
                <a:t>4</a:t>
              </a:r>
              <a:r>
                <a:rPr lang="en-US" b="1" baseline="-25000" dirty="0" smtClean="0">
                  <a:solidFill>
                    <a:srgbClr val="FF0000"/>
                  </a:solidFill>
                </a:rPr>
                <a:t>1</a:t>
              </a:r>
              <a:endParaRPr lang="en-US" dirty="0"/>
            </a:p>
          </p:txBody>
        </p:sp>
        <p:grpSp>
          <p:nvGrpSpPr>
            <p:cNvPr id="6" name="Group 59"/>
            <p:cNvGrpSpPr/>
            <p:nvPr/>
          </p:nvGrpSpPr>
          <p:grpSpPr>
            <a:xfrm>
              <a:off x="2210637" y="3970775"/>
              <a:ext cx="396574" cy="350016"/>
              <a:chOff x="6430945" y="3237246"/>
              <a:chExt cx="396574" cy="350016"/>
            </a:xfrm>
          </p:grpSpPr>
          <p:sp>
            <p:nvSpPr>
              <p:cNvPr id="35" name="Rectangle 34"/>
              <p:cNvSpPr/>
              <p:nvPr/>
            </p:nvSpPr>
            <p:spPr>
              <a:xfrm>
                <a:off x="6551525" y="3366198"/>
                <a:ext cx="170822" cy="160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p:cNvCxnSpPr/>
              <p:nvPr/>
            </p:nvCxnSpPr>
            <p:spPr>
              <a:xfrm>
                <a:off x="6430945" y="3356149"/>
                <a:ext cx="297329" cy="71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flipV="1">
                <a:off x="6541481" y="3336059"/>
                <a:ext cx="0" cy="25120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553199" y="3528645"/>
                <a:ext cx="274320" cy="71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flipV="1">
                <a:off x="6724022" y="3237246"/>
                <a:ext cx="0" cy="281352"/>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1" name="Oval 60"/>
            <p:cNvSpPr/>
            <p:nvPr/>
          </p:nvSpPr>
          <p:spPr>
            <a:xfrm>
              <a:off x="2363075" y="357995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2466786" y="3491245"/>
              <a:ext cx="415498" cy="461665"/>
            </a:xfrm>
            <a:prstGeom prst="rect">
              <a:avLst/>
            </a:prstGeom>
          </p:spPr>
          <p:txBody>
            <a:bodyPr wrap="none">
              <a:spAutoFit/>
            </a:bodyPr>
            <a:lstStyle/>
            <a:p>
              <a:r>
                <a:rPr lang="en-US" b="1" dirty="0" smtClean="0">
                  <a:solidFill>
                    <a:srgbClr val="7030A0"/>
                  </a:solidFill>
                </a:rPr>
                <a:t>½</a:t>
              </a:r>
              <a:endParaRPr lang="en-US" dirty="0">
                <a:solidFill>
                  <a:srgbClr val="7030A0"/>
                </a:solidFill>
              </a:endParaRPr>
            </a:p>
          </p:txBody>
        </p:sp>
      </p:grpSp>
      <p:grpSp>
        <p:nvGrpSpPr>
          <p:cNvPr id="13" name="Group 80"/>
          <p:cNvGrpSpPr/>
          <p:nvPr/>
        </p:nvGrpSpPr>
        <p:grpSpPr>
          <a:xfrm>
            <a:off x="3682719" y="3501845"/>
            <a:ext cx="1401828" cy="1884074"/>
            <a:chOff x="6787659" y="3230538"/>
            <a:chExt cx="1401828" cy="1884074"/>
          </a:xfrm>
        </p:grpSpPr>
        <p:sp>
          <p:nvSpPr>
            <p:cNvPr id="63" name="Oval 62"/>
            <p:cNvSpPr/>
            <p:nvPr/>
          </p:nvSpPr>
          <p:spPr>
            <a:xfrm>
              <a:off x="6787659" y="3230538"/>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6841295" y="384787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7958303" y="380936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7447535" y="4403876"/>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7028870" y="4226446"/>
              <a:ext cx="441146" cy="338554"/>
            </a:xfrm>
            <a:prstGeom prst="rect">
              <a:avLst/>
            </a:prstGeom>
          </p:spPr>
          <p:txBody>
            <a:bodyPr wrap="none">
              <a:spAutoFit/>
            </a:bodyPr>
            <a:lstStyle/>
            <a:p>
              <a:r>
                <a:rPr lang="en-US" sz="1600" b="1" dirty="0" smtClean="0">
                  <a:solidFill>
                    <a:srgbClr val="7030A0"/>
                  </a:solidFill>
                </a:rPr>
                <a:t>0,1</a:t>
              </a:r>
              <a:endParaRPr lang="en-US" sz="1600" dirty="0">
                <a:solidFill>
                  <a:srgbClr val="7030A0"/>
                </a:solidFill>
              </a:endParaRPr>
            </a:p>
          </p:txBody>
        </p:sp>
        <p:sp>
          <p:nvSpPr>
            <p:cNvPr id="70" name="Rectangle 69"/>
            <p:cNvSpPr/>
            <p:nvPr/>
          </p:nvSpPr>
          <p:spPr>
            <a:xfrm>
              <a:off x="7283250" y="4652947"/>
              <a:ext cx="441146" cy="461665"/>
            </a:xfrm>
            <a:prstGeom prst="rect">
              <a:avLst/>
            </a:prstGeom>
          </p:spPr>
          <p:txBody>
            <a:bodyPr wrap="none">
              <a:spAutoFit/>
            </a:bodyPr>
            <a:lstStyle/>
            <a:p>
              <a:r>
                <a:rPr lang="en-US" b="1" dirty="0" smtClean="0">
                  <a:solidFill>
                    <a:srgbClr val="FF0000"/>
                  </a:solidFill>
                </a:rPr>
                <a:t>4</a:t>
              </a:r>
              <a:r>
                <a:rPr lang="en-US" b="1" baseline="-25000" dirty="0" smtClean="0">
                  <a:solidFill>
                    <a:srgbClr val="FF0000"/>
                  </a:solidFill>
                </a:rPr>
                <a:t>2</a:t>
              </a:r>
              <a:endParaRPr lang="en-US" dirty="0"/>
            </a:p>
          </p:txBody>
        </p:sp>
        <p:grpSp>
          <p:nvGrpSpPr>
            <p:cNvPr id="14" name="Group 70"/>
            <p:cNvGrpSpPr/>
            <p:nvPr/>
          </p:nvGrpSpPr>
          <p:grpSpPr>
            <a:xfrm>
              <a:off x="7377169" y="3701144"/>
              <a:ext cx="182541" cy="350016"/>
              <a:chOff x="6541481" y="3237246"/>
              <a:chExt cx="182541" cy="350016"/>
            </a:xfrm>
          </p:grpSpPr>
          <p:sp>
            <p:nvSpPr>
              <p:cNvPr id="72" name="Rectangle 71"/>
              <p:cNvSpPr/>
              <p:nvPr/>
            </p:nvSpPr>
            <p:spPr>
              <a:xfrm>
                <a:off x="6551525" y="3366198"/>
                <a:ext cx="170822" cy="160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p:cNvCxnSpPr/>
              <p:nvPr/>
            </p:nvCxnSpPr>
            <p:spPr>
              <a:xfrm flipH="1" flipV="1">
                <a:off x="6541481" y="3336059"/>
                <a:ext cx="0" cy="25120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H="1" flipV="1">
                <a:off x="6724022" y="3237246"/>
                <a:ext cx="0" cy="281352"/>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77" name="Oval 76"/>
            <p:cNvSpPr/>
            <p:nvPr/>
          </p:nvSpPr>
          <p:spPr>
            <a:xfrm>
              <a:off x="7419071" y="3310324"/>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p:cNvSpPr/>
            <p:nvPr/>
          </p:nvSpPr>
          <p:spPr>
            <a:xfrm>
              <a:off x="7773989" y="3814465"/>
              <a:ext cx="415498" cy="461665"/>
            </a:xfrm>
            <a:prstGeom prst="rect">
              <a:avLst/>
            </a:prstGeom>
          </p:spPr>
          <p:txBody>
            <a:bodyPr wrap="none">
              <a:spAutoFit/>
            </a:bodyPr>
            <a:lstStyle/>
            <a:p>
              <a:r>
                <a:rPr lang="en-US" b="1" dirty="0" smtClean="0">
                  <a:solidFill>
                    <a:srgbClr val="7030A0"/>
                  </a:solidFill>
                </a:rPr>
                <a:t>½</a:t>
              </a:r>
              <a:endParaRPr lang="en-US" dirty="0">
                <a:solidFill>
                  <a:srgbClr val="7030A0"/>
                </a:solidFill>
              </a:endParaRPr>
            </a:p>
          </p:txBody>
        </p:sp>
        <p:sp>
          <p:nvSpPr>
            <p:cNvPr id="79" name="Rectangle 78"/>
            <p:cNvSpPr/>
            <p:nvPr/>
          </p:nvSpPr>
          <p:spPr>
            <a:xfrm>
              <a:off x="7482721" y="3253430"/>
              <a:ext cx="441146" cy="338554"/>
            </a:xfrm>
            <a:prstGeom prst="rect">
              <a:avLst/>
            </a:prstGeom>
          </p:spPr>
          <p:txBody>
            <a:bodyPr wrap="none">
              <a:spAutoFit/>
            </a:bodyPr>
            <a:lstStyle/>
            <a:p>
              <a:r>
                <a:rPr lang="en-US" sz="1600" b="1" dirty="0" smtClean="0">
                  <a:solidFill>
                    <a:srgbClr val="7030A0"/>
                  </a:solidFill>
                </a:rPr>
                <a:t>0,1</a:t>
              </a:r>
              <a:endParaRPr lang="en-US" sz="1600" dirty="0">
                <a:solidFill>
                  <a:srgbClr val="7030A0"/>
                </a:solidFill>
              </a:endParaRPr>
            </a:p>
          </p:txBody>
        </p:sp>
        <p:sp>
          <p:nvSpPr>
            <p:cNvPr id="80" name="Rectangle 79"/>
            <p:cNvSpPr/>
            <p:nvPr/>
          </p:nvSpPr>
          <p:spPr>
            <a:xfrm>
              <a:off x="6790925" y="3474500"/>
              <a:ext cx="415498" cy="461665"/>
            </a:xfrm>
            <a:prstGeom prst="rect">
              <a:avLst/>
            </a:prstGeom>
          </p:spPr>
          <p:txBody>
            <a:bodyPr wrap="none">
              <a:spAutoFit/>
            </a:bodyPr>
            <a:lstStyle/>
            <a:p>
              <a:r>
                <a:rPr lang="en-US" b="1" dirty="0" smtClean="0">
                  <a:solidFill>
                    <a:srgbClr val="7030A0"/>
                  </a:solidFill>
                </a:rPr>
                <a:t>½</a:t>
              </a:r>
              <a:endParaRPr lang="en-US" dirty="0">
                <a:solidFill>
                  <a:srgbClr val="7030A0"/>
                </a:solidFill>
              </a:endParaRPr>
            </a:p>
          </p:txBody>
        </p:sp>
      </p:grpSp>
      <p:grpSp>
        <p:nvGrpSpPr>
          <p:cNvPr id="15" name="Group 84"/>
          <p:cNvGrpSpPr/>
          <p:nvPr/>
        </p:nvGrpSpPr>
        <p:grpSpPr>
          <a:xfrm>
            <a:off x="5501469" y="3452727"/>
            <a:ext cx="1378514" cy="1913094"/>
            <a:chOff x="1731663" y="3491245"/>
            <a:chExt cx="1378514" cy="1913094"/>
          </a:xfrm>
        </p:grpSpPr>
        <p:sp>
          <p:nvSpPr>
            <p:cNvPr id="86" name="Oval 85"/>
            <p:cNvSpPr/>
            <p:nvPr/>
          </p:nvSpPr>
          <p:spPr>
            <a:xfrm>
              <a:off x="1731663" y="3500169"/>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p:cNvSpPr/>
            <p:nvPr/>
          </p:nvSpPr>
          <p:spPr>
            <a:xfrm>
              <a:off x="1785299" y="411750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2902307" y="407899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p:cNvSpPr/>
            <p:nvPr/>
          </p:nvSpPr>
          <p:spPr>
            <a:xfrm>
              <a:off x="2391539" y="4673507"/>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2694679" y="4102520"/>
              <a:ext cx="415498" cy="461665"/>
            </a:xfrm>
            <a:prstGeom prst="rect">
              <a:avLst/>
            </a:prstGeom>
          </p:spPr>
          <p:txBody>
            <a:bodyPr wrap="none">
              <a:spAutoFit/>
            </a:bodyPr>
            <a:lstStyle/>
            <a:p>
              <a:r>
                <a:rPr lang="en-US" b="1" dirty="0" smtClean="0">
                  <a:solidFill>
                    <a:srgbClr val="7030A0"/>
                  </a:solidFill>
                </a:rPr>
                <a:t>¾</a:t>
              </a:r>
              <a:endParaRPr lang="en-US" dirty="0">
                <a:solidFill>
                  <a:srgbClr val="7030A0"/>
                </a:solidFill>
              </a:endParaRPr>
            </a:p>
          </p:txBody>
        </p:sp>
        <p:sp>
          <p:nvSpPr>
            <p:cNvPr id="92" name="Rectangle 91"/>
            <p:cNvSpPr/>
            <p:nvPr/>
          </p:nvSpPr>
          <p:spPr>
            <a:xfrm>
              <a:off x="1741630" y="3750830"/>
              <a:ext cx="415498" cy="461665"/>
            </a:xfrm>
            <a:prstGeom prst="rect">
              <a:avLst/>
            </a:prstGeom>
          </p:spPr>
          <p:txBody>
            <a:bodyPr wrap="none">
              <a:spAutoFit/>
            </a:bodyPr>
            <a:lstStyle/>
            <a:p>
              <a:r>
                <a:rPr lang="en-US" b="1" dirty="0" smtClean="0">
                  <a:solidFill>
                    <a:srgbClr val="7030A0"/>
                  </a:solidFill>
                </a:rPr>
                <a:t>¼</a:t>
              </a:r>
              <a:endParaRPr lang="en-US" dirty="0">
                <a:solidFill>
                  <a:srgbClr val="7030A0"/>
                </a:solidFill>
              </a:endParaRPr>
            </a:p>
          </p:txBody>
        </p:sp>
        <p:sp>
          <p:nvSpPr>
            <p:cNvPr id="93" name="Rectangle 92"/>
            <p:cNvSpPr/>
            <p:nvPr/>
          </p:nvSpPr>
          <p:spPr>
            <a:xfrm>
              <a:off x="1972874" y="4496077"/>
              <a:ext cx="441146" cy="338554"/>
            </a:xfrm>
            <a:prstGeom prst="rect">
              <a:avLst/>
            </a:prstGeom>
          </p:spPr>
          <p:txBody>
            <a:bodyPr wrap="none">
              <a:spAutoFit/>
            </a:bodyPr>
            <a:lstStyle/>
            <a:p>
              <a:r>
                <a:rPr lang="en-US" sz="1600" b="1" dirty="0" smtClean="0">
                  <a:solidFill>
                    <a:srgbClr val="7030A0"/>
                  </a:solidFill>
                </a:rPr>
                <a:t>0,1</a:t>
              </a:r>
              <a:endParaRPr lang="en-US" sz="1600" dirty="0">
                <a:solidFill>
                  <a:srgbClr val="7030A0"/>
                </a:solidFill>
              </a:endParaRPr>
            </a:p>
          </p:txBody>
        </p:sp>
        <p:sp>
          <p:nvSpPr>
            <p:cNvPr id="94" name="Rectangle 93"/>
            <p:cNvSpPr/>
            <p:nvPr/>
          </p:nvSpPr>
          <p:spPr>
            <a:xfrm>
              <a:off x="2227254" y="4942674"/>
              <a:ext cx="441146" cy="461665"/>
            </a:xfrm>
            <a:prstGeom prst="rect">
              <a:avLst/>
            </a:prstGeom>
          </p:spPr>
          <p:txBody>
            <a:bodyPr wrap="none">
              <a:spAutoFit/>
            </a:bodyPr>
            <a:lstStyle/>
            <a:p>
              <a:r>
                <a:rPr lang="en-US" b="1" dirty="0" smtClean="0">
                  <a:solidFill>
                    <a:srgbClr val="FF0000"/>
                  </a:solidFill>
                </a:rPr>
                <a:t>4</a:t>
              </a:r>
              <a:r>
                <a:rPr lang="en-US" b="1" baseline="-25000" dirty="0" smtClean="0">
                  <a:solidFill>
                    <a:srgbClr val="FF0000"/>
                  </a:solidFill>
                </a:rPr>
                <a:t>3</a:t>
              </a:r>
              <a:endParaRPr lang="en-US" dirty="0"/>
            </a:p>
          </p:txBody>
        </p:sp>
        <p:grpSp>
          <p:nvGrpSpPr>
            <p:cNvPr id="16" name="Group 94"/>
            <p:cNvGrpSpPr/>
            <p:nvPr/>
          </p:nvGrpSpPr>
          <p:grpSpPr>
            <a:xfrm>
              <a:off x="2222363" y="3989204"/>
              <a:ext cx="406179" cy="373451"/>
              <a:chOff x="6442671" y="3255675"/>
              <a:chExt cx="406179" cy="373451"/>
            </a:xfrm>
          </p:grpSpPr>
          <p:sp>
            <p:nvSpPr>
              <p:cNvPr id="98" name="Rectangle 97"/>
              <p:cNvSpPr/>
              <p:nvPr/>
            </p:nvSpPr>
            <p:spPr>
              <a:xfrm>
                <a:off x="6551525" y="3366198"/>
                <a:ext cx="170822" cy="160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p:cNvCxnSpPr/>
              <p:nvPr/>
            </p:nvCxnSpPr>
            <p:spPr>
              <a:xfrm>
                <a:off x="6551521" y="3356149"/>
                <a:ext cx="297329" cy="71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flipV="1">
                <a:off x="6541481" y="3255675"/>
                <a:ext cx="0" cy="25120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6442671" y="3528645"/>
                <a:ext cx="274320" cy="71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flipV="1">
                <a:off x="6724022" y="3347774"/>
                <a:ext cx="0" cy="281352"/>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96" name="Oval 95"/>
            <p:cNvSpPr/>
            <p:nvPr/>
          </p:nvSpPr>
          <p:spPr>
            <a:xfrm>
              <a:off x="2363075" y="3579955"/>
              <a:ext cx="90436" cy="90435"/>
            </a:xfrm>
            <a:prstGeom prst="ellipse">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2466786" y="3491245"/>
              <a:ext cx="415498" cy="461665"/>
            </a:xfrm>
            <a:prstGeom prst="rect">
              <a:avLst/>
            </a:prstGeom>
          </p:spPr>
          <p:txBody>
            <a:bodyPr wrap="none">
              <a:spAutoFit/>
            </a:bodyPr>
            <a:lstStyle/>
            <a:p>
              <a:r>
                <a:rPr lang="en-US" b="1" dirty="0" smtClean="0">
                  <a:solidFill>
                    <a:srgbClr val="7030A0"/>
                  </a:solidFill>
                </a:rPr>
                <a:t>½</a:t>
              </a:r>
              <a:endParaRPr lang="en-US" dirty="0">
                <a:solidFill>
                  <a:srgbClr val="7030A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F6535047-8416-4827-8E8D-212A9B4DF291}" type="slidenum">
              <a:rPr lang="en-US"/>
              <a:pPr/>
              <a:t>26</a:t>
            </a:fld>
            <a:endParaRPr lang="en-US"/>
          </a:p>
        </p:txBody>
      </p:sp>
      <p:sp>
        <p:nvSpPr>
          <p:cNvPr id="45058" name="Text Box 2"/>
          <p:cNvSpPr txBox="1">
            <a:spLocks noChangeArrowheads="1"/>
          </p:cNvSpPr>
          <p:nvPr/>
        </p:nvSpPr>
        <p:spPr bwMode="auto">
          <a:xfrm>
            <a:off x="323221" y="1437751"/>
            <a:ext cx="8438941" cy="3046988"/>
          </a:xfrm>
          <a:prstGeom prst="rect">
            <a:avLst/>
          </a:prstGeom>
          <a:noFill/>
          <a:ln w="9525">
            <a:noFill/>
            <a:miter lim="800000"/>
            <a:headEnd/>
            <a:tailEnd/>
          </a:ln>
          <a:effectLst/>
        </p:spPr>
        <p:txBody>
          <a:bodyPr wrap="square">
            <a:spAutoFit/>
          </a:bodyPr>
          <a:lstStyle/>
          <a:p>
            <a:pPr marL="457200" indent="-457200" algn="just">
              <a:spcBef>
                <a:spcPct val="50000"/>
              </a:spcBef>
              <a:buFont typeface="Wingdings" pitchFamily="2" charset="2"/>
              <a:buChar char="v"/>
            </a:pPr>
            <a:r>
              <a:rPr lang="en-US" dirty="0">
                <a:latin typeface="Arial" pitchFamily="34" charset="0"/>
              </a:rPr>
              <a:t>Let's </a:t>
            </a:r>
            <a:r>
              <a:rPr lang="en-US" dirty="0" smtClean="0">
                <a:latin typeface="Arial" pitchFamily="34" charset="0"/>
              </a:rPr>
              <a:t>see how </a:t>
            </a:r>
            <a:r>
              <a:rPr lang="en-US" dirty="0">
                <a:latin typeface="Arial" pitchFamily="34" charset="0"/>
              </a:rPr>
              <a:t>these </a:t>
            </a:r>
            <a:r>
              <a:rPr lang="en-US" dirty="0" err="1">
                <a:latin typeface="Arial" pitchFamily="34" charset="0"/>
              </a:rPr>
              <a:t>enantiomorphous</a:t>
            </a:r>
            <a:r>
              <a:rPr lang="en-US" dirty="0">
                <a:latin typeface="Arial" pitchFamily="34" charset="0"/>
              </a:rPr>
              <a:t> operations work!  First we'll consider a </a:t>
            </a:r>
            <a:r>
              <a:rPr lang="en-US" dirty="0">
                <a:solidFill>
                  <a:srgbClr val="FF0066"/>
                </a:solidFill>
                <a:latin typeface="Arial" pitchFamily="34" charset="0"/>
              </a:rPr>
              <a:t>4</a:t>
            </a:r>
            <a:r>
              <a:rPr lang="en-US" baseline="-25000" dirty="0">
                <a:solidFill>
                  <a:srgbClr val="FF0066"/>
                </a:solidFill>
                <a:latin typeface="Arial" pitchFamily="34" charset="0"/>
              </a:rPr>
              <a:t>1</a:t>
            </a:r>
            <a:r>
              <a:rPr lang="en-US" dirty="0">
                <a:latin typeface="Arial" pitchFamily="34" charset="0"/>
              </a:rPr>
              <a:t> screw axis.  </a:t>
            </a:r>
            <a:endParaRPr lang="en-US" dirty="0" smtClean="0">
              <a:latin typeface="Arial" pitchFamily="34" charset="0"/>
            </a:endParaRPr>
          </a:p>
          <a:p>
            <a:pPr marL="457200" indent="-457200" algn="just">
              <a:spcBef>
                <a:spcPct val="50000"/>
              </a:spcBef>
              <a:buFont typeface="Wingdings" pitchFamily="2" charset="2"/>
              <a:buChar char="v"/>
            </a:pPr>
            <a:r>
              <a:rPr lang="en-US" dirty="0" smtClean="0">
                <a:latin typeface="Arial" pitchFamily="34" charset="0"/>
              </a:rPr>
              <a:t>The </a:t>
            </a:r>
            <a:r>
              <a:rPr lang="en-US" dirty="0">
                <a:latin typeface="Arial" pitchFamily="34" charset="0"/>
              </a:rPr>
              <a:t>operation is a rotation by +90</a:t>
            </a:r>
            <a:r>
              <a:rPr lang="en-US" dirty="0">
                <a:latin typeface="Arial" pitchFamily="34" charset="0"/>
                <a:cs typeface="Arial" pitchFamily="34" charset="0"/>
              </a:rPr>
              <a:t>°, followed by a translation of </a:t>
            </a:r>
            <a:r>
              <a:rPr lang="en-US" dirty="0">
                <a:solidFill>
                  <a:srgbClr val="00B050"/>
                </a:solidFill>
                <a:latin typeface="Arial" pitchFamily="34" charset="0"/>
                <a:cs typeface="Arial" pitchFamily="34" charset="0"/>
              </a:rPr>
              <a:t>¼</a:t>
            </a:r>
            <a:r>
              <a:rPr lang="en-US" dirty="0">
                <a:latin typeface="Arial" pitchFamily="34" charset="0"/>
                <a:cs typeface="Arial" pitchFamily="34" charset="0"/>
              </a:rPr>
              <a:t> along the </a:t>
            </a:r>
            <a:r>
              <a:rPr lang="en-US" i="1" dirty="0">
                <a:solidFill>
                  <a:srgbClr val="FF0066"/>
                </a:solidFill>
                <a:latin typeface="Arial" pitchFamily="34" charset="0"/>
                <a:cs typeface="Arial" pitchFamily="34" charset="0"/>
              </a:rPr>
              <a:t>c</a:t>
            </a:r>
            <a:r>
              <a:rPr lang="en-US" dirty="0">
                <a:latin typeface="Arial" pitchFamily="34" charset="0"/>
                <a:cs typeface="Arial" pitchFamily="34" charset="0"/>
              </a:rPr>
              <a:t> </a:t>
            </a:r>
            <a:r>
              <a:rPr lang="en-US" dirty="0" smtClean="0">
                <a:latin typeface="Arial" pitchFamily="34" charset="0"/>
                <a:cs typeface="Arial" pitchFamily="34" charset="0"/>
              </a:rPr>
              <a:t>direction.</a:t>
            </a:r>
          </a:p>
          <a:p>
            <a:pPr marL="457200" indent="-457200" algn="just">
              <a:spcBef>
                <a:spcPct val="50000"/>
              </a:spcBef>
              <a:buFont typeface="Wingdings" pitchFamily="2" charset="2"/>
              <a:buChar char="v"/>
            </a:pPr>
            <a:r>
              <a:rPr lang="en-US" dirty="0" smtClean="0">
                <a:latin typeface="Arial" pitchFamily="34" charset="0"/>
                <a:cs typeface="Arial" pitchFamily="34" charset="0"/>
              </a:rPr>
              <a:t>As </a:t>
            </a:r>
            <a:r>
              <a:rPr lang="en-US" dirty="0">
                <a:latin typeface="Arial" pitchFamily="34" charset="0"/>
                <a:cs typeface="Arial" pitchFamily="34" charset="0"/>
              </a:rPr>
              <a:t>you will see, the operation cycles on the fourth repetition, giving the original point translated one full unit cell along </a:t>
            </a:r>
            <a:r>
              <a:rPr lang="en-US" i="1" dirty="0">
                <a:solidFill>
                  <a:srgbClr val="FF0066"/>
                </a:solidFill>
                <a:latin typeface="Arial" pitchFamily="34" charset="0"/>
                <a:cs typeface="Arial" pitchFamily="34" charset="0"/>
              </a:rPr>
              <a:t>c</a:t>
            </a:r>
            <a:r>
              <a:rPr lang="en-US" dirty="0">
                <a:latin typeface="Arial" pitchFamily="34" charset="0"/>
                <a:cs typeface="Arial" pitchFamily="34" charset="0"/>
              </a:rPr>
              <a:t>, i.e., to the point (</a:t>
            </a:r>
            <a:r>
              <a:rPr lang="en-US" i="1" dirty="0">
                <a:latin typeface="Arial" pitchFamily="34" charset="0"/>
                <a:cs typeface="Arial" pitchFamily="34" charset="0"/>
              </a:rPr>
              <a:t>x</a:t>
            </a:r>
            <a:r>
              <a:rPr lang="en-US" dirty="0">
                <a:latin typeface="Arial" pitchFamily="34" charset="0"/>
                <a:cs typeface="Arial" pitchFamily="34" charset="0"/>
              </a:rPr>
              <a:t>, </a:t>
            </a:r>
            <a:r>
              <a:rPr lang="en-US" i="1" dirty="0">
                <a:latin typeface="Arial" pitchFamily="34" charset="0"/>
                <a:cs typeface="Arial" pitchFamily="34" charset="0"/>
              </a:rPr>
              <a:t>y</a:t>
            </a:r>
            <a:r>
              <a:rPr lang="en-US" dirty="0">
                <a:latin typeface="Arial" pitchFamily="34" charset="0"/>
                <a:cs typeface="Arial" pitchFamily="34" charset="0"/>
              </a:rPr>
              <a:t>, 1 +</a:t>
            </a:r>
            <a:r>
              <a:rPr lang="en-US" i="1" dirty="0">
                <a:latin typeface="Arial" pitchFamily="34" charset="0"/>
                <a:cs typeface="Arial" pitchFamily="34" charset="0"/>
              </a:rPr>
              <a:t> z</a:t>
            </a:r>
            <a:r>
              <a:rPr lang="en-US" dirty="0">
                <a:latin typeface="Arial" pitchFamily="34" charset="0"/>
                <a:cs typeface="Arial" pitchFamily="34" charset="0"/>
              </a:rPr>
              <a:t>).</a:t>
            </a:r>
            <a:endParaRPr lang="en-US" i="1" dirty="0">
              <a:latin typeface="Arial" pitchFamily="34" charset="0"/>
            </a:endParaRPr>
          </a:p>
        </p:txBody>
      </p:sp>
      <p:sp>
        <p:nvSpPr>
          <p:cNvPr id="4" name="Rectangle 6"/>
          <p:cNvSpPr txBox="1">
            <a:spLocks noChangeArrowheads="1"/>
          </p:cNvSpPr>
          <p:nvPr/>
        </p:nvSpPr>
        <p:spPr>
          <a:xfrm>
            <a:off x="1780399" y="423192"/>
            <a:ext cx="4198370" cy="632138"/>
          </a:xfrm>
          <a:prstGeom prst="rect">
            <a:avLst/>
          </a:prstGeom>
        </p:spPr>
        <p:txBody>
          <a:bodyPr/>
          <a:lstStyle/>
          <a:p>
            <a:pPr lvl="0" eaLnBrk="1" hangingPunct="1"/>
            <a:r>
              <a:rPr lang="en-US" b="1" dirty="0" smtClean="0">
                <a:solidFill>
                  <a:srgbClr val="0070C0"/>
                </a:solidFill>
                <a:effectLst>
                  <a:outerShdw blurRad="53975" dist="22860" dir="5400000" algn="tl" rotWithShape="0">
                    <a:srgbClr val="000000">
                      <a:alpha val="55000"/>
                    </a:srgbClr>
                  </a:outerShdw>
                </a:effectLst>
                <a:latin typeface="+mn-lt"/>
              </a:rPr>
              <a:t>Four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3"/>
          <p:cNvSpPr>
            <a:spLocks noGrp="1"/>
          </p:cNvSpPr>
          <p:nvPr>
            <p:ph type="sldNum" sz="quarter" idx="12"/>
          </p:nvPr>
        </p:nvSpPr>
        <p:spPr/>
        <p:txBody>
          <a:bodyPr/>
          <a:lstStyle/>
          <a:p>
            <a:fld id="{737C639B-A1FA-4C27-83FA-29A361A4E1BC}" type="slidenum">
              <a:rPr lang="en-US"/>
              <a:pPr/>
              <a:t>27</a:t>
            </a:fld>
            <a:endParaRPr lang="en-US"/>
          </a:p>
        </p:txBody>
      </p:sp>
      <p:pic>
        <p:nvPicPr>
          <p:cNvPr id="7170" name="Picture 2" descr="C:\Documents and Settings\Administrator\Desktop\1.5\screw_u\41only.jpg"/>
          <p:cNvPicPr>
            <a:picLocks noChangeAspect="1" noChangeArrowheads="1"/>
          </p:cNvPicPr>
          <p:nvPr/>
        </p:nvPicPr>
        <p:blipFill>
          <a:blip r:embed="rId2" cstate="print"/>
          <a:srcRect/>
          <a:stretch>
            <a:fillRect/>
          </a:stretch>
        </p:blipFill>
        <p:spPr bwMode="auto">
          <a:xfrm>
            <a:off x="3697288" y="112713"/>
            <a:ext cx="1749425" cy="6632575"/>
          </a:xfrm>
          <a:prstGeom prst="rect">
            <a:avLst/>
          </a:prstGeom>
          <a:noFill/>
        </p:spPr>
      </p:pic>
      <p:sp>
        <p:nvSpPr>
          <p:cNvPr id="7171" name="AutoShape 3"/>
          <p:cNvSpPr>
            <a:spLocks noChangeArrowheads="1"/>
          </p:cNvSpPr>
          <p:nvPr/>
        </p:nvSpPr>
        <p:spPr bwMode="auto">
          <a:xfrm>
            <a:off x="27432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pSp>
        <p:nvGrpSpPr>
          <p:cNvPr id="2" name="Group 11"/>
          <p:cNvGrpSpPr>
            <a:grpSpLocks/>
          </p:cNvGrpSpPr>
          <p:nvPr/>
        </p:nvGrpSpPr>
        <p:grpSpPr bwMode="auto">
          <a:xfrm>
            <a:off x="457200" y="457200"/>
            <a:ext cx="1543050" cy="2028825"/>
            <a:chOff x="288" y="288"/>
            <a:chExt cx="972" cy="1278"/>
          </a:xfrm>
        </p:grpSpPr>
        <p:sp>
          <p:nvSpPr>
            <p:cNvPr id="7173" name="Text Box 5"/>
            <p:cNvSpPr txBox="1">
              <a:spLocks noChangeArrowheads="1"/>
            </p:cNvSpPr>
            <p:nvPr/>
          </p:nvSpPr>
          <p:spPr bwMode="auto">
            <a:xfrm>
              <a:off x="288" y="951"/>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a</a:t>
              </a:r>
            </a:p>
          </p:txBody>
        </p:sp>
        <p:sp>
          <p:nvSpPr>
            <p:cNvPr id="7174" name="Line 6"/>
            <p:cNvSpPr>
              <a:spLocks noChangeShapeType="1"/>
            </p:cNvSpPr>
            <p:nvPr/>
          </p:nvSpPr>
          <p:spPr bwMode="auto">
            <a:xfrm flipV="1">
              <a:off x="912" y="519"/>
              <a:ext cx="0" cy="528"/>
            </a:xfrm>
            <a:prstGeom prst="line">
              <a:avLst/>
            </a:prstGeom>
            <a:noFill/>
            <a:ln w="9525">
              <a:solidFill>
                <a:schemeClr val="tx1"/>
              </a:solidFill>
              <a:round/>
              <a:headEnd/>
              <a:tailEnd type="triangle" w="med" len="med"/>
            </a:ln>
            <a:effectLst/>
          </p:spPr>
          <p:txBody>
            <a:bodyPr/>
            <a:lstStyle/>
            <a:p>
              <a:endParaRPr lang="en-US"/>
            </a:p>
          </p:txBody>
        </p:sp>
        <p:sp>
          <p:nvSpPr>
            <p:cNvPr id="7175" name="Line 7"/>
            <p:cNvSpPr>
              <a:spLocks noChangeShapeType="1"/>
            </p:cNvSpPr>
            <p:nvPr/>
          </p:nvSpPr>
          <p:spPr bwMode="auto">
            <a:xfrm flipH="1">
              <a:off x="480" y="1047"/>
              <a:ext cx="432" cy="0"/>
            </a:xfrm>
            <a:prstGeom prst="line">
              <a:avLst/>
            </a:prstGeom>
            <a:noFill/>
            <a:ln w="9525">
              <a:solidFill>
                <a:schemeClr val="tx1"/>
              </a:solidFill>
              <a:round/>
              <a:headEnd/>
              <a:tailEnd type="triangle" w="med" len="med"/>
            </a:ln>
            <a:effectLst/>
          </p:spPr>
          <p:txBody>
            <a:bodyPr/>
            <a:lstStyle/>
            <a:p>
              <a:endParaRPr lang="en-US"/>
            </a:p>
          </p:txBody>
        </p:sp>
        <p:sp>
          <p:nvSpPr>
            <p:cNvPr id="7176" name="Line 8"/>
            <p:cNvSpPr>
              <a:spLocks noChangeShapeType="1"/>
            </p:cNvSpPr>
            <p:nvPr/>
          </p:nvSpPr>
          <p:spPr bwMode="auto">
            <a:xfrm>
              <a:off x="912" y="1047"/>
              <a:ext cx="192" cy="288"/>
            </a:xfrm>
            <a:prstGeom prst="line">
              <a:avLst/>
            </a:prstGeom>
            <a:noFill/>
            <a:ln w="9525">
              <a:solidFill>
                <a:schemeClr val="tx1"/>
              </a:solidFill>
              <a:round/>
              <a:headEnd/>
              <a:tailEnd type="triangle" w="med" len="med"/>
            </a:ln>
            <a:effectLst/>
          </p:spPr>
          <p:txBody>
            <a:bodyPr/>
            <a:lstStyle/>
            <a:p>
              <a:endParaRPr lang="en-US"/>
            </a:p>
          </p:txBody>
        </p:sp>
        <p:sp>
          <p:nvSpPr>
            <p:cNvPr id="7177" name="Rectangle 9"/>
            <p:cNvSpPr>
              <a:spLocks noChangeArrowheads="1"/>
            </p:cNvSpPr>
            <p:nvPr/>
          </p:nvSpPr>
          <p:spPr bwMode="auto">
            <a:xfrm>
              <a:off x="1056" y="1335"/>
              <a:ext cx="204" cy="231"/>
            </a:xfrm>
            <a:prstGeom prst="rect">
              <a:avLst/>
            </a:prstGeom>
            <a:noFill/>
            <a:ln w="9525">
              <a:noFill/>
              <a:miter lim="800000"/>
              <a:headEnd/>
              <a:tailEnd/>
            </a:ln>
            <a:effectLst/>
          </p:spPr>
          <p:txBody>
            <a:bodyPr wrap="none">
              <a:spAutoFit/>
            </a:bodyPr>
            <a:lstStyle/>
            <a:p>
              <a:r>
                <a:rPr lang="en-US" sz="1800" b="1" i="1">
                  <a:latin typeface="Arial" pitchFamily="34" charset="0"/>
                </a:rPr>
                <a:t>b</a:t>
              </a:r>
            </a:p>
          </p:txBody>
        </p:sp>
        <p:sp>
          <p:nvSpPr>
            <p:cNvPr id="7178" name="Rectangle 10"/>
            <p:cNvSpPr>
              <a:spLocks noChangeArrowheads="1"/>
            </p:cNvSpPr>
            <p:nvPr/>
          </p:nvSpPr>
          <p:spPr bwMode="auto">
            <a:xfrm>
              <a:off x="816" y="288"/>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c</a:t>
              </a: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p:cNvSpPr>
            <a:spLocks noGrp="1"/>
          </p:cNvSpPr>
          <p:nvPr>
            <p:ph type="sldNum" sz="quarter" idx="12"/>
          </p:nvPr>
        </p:nvSpPr>
        <p:spPr/>
        <p:txBody>
          <a:bodyPr/>
          <a:lstStyle/>
          <a:p>
            <a:fld id="{12E38DDE-7640-406F-951F-40D6302CE0B3}" type="slidenum">
              <a:rPr lang="en-US"/>
              <a:pPr/>
              <a:t>28</a:t>
            </a:fld>
            <a:endParaRPr lang="en-US"/>
          </a:p>
        </p:txBody>
      </p:sp>
      <p:pic>
        <p:nvPicPr>
          <p:cNvPr id="8194" name="Picture 2" descr="C:\Documents and Settings\Administrator\Desktop\1.5\screw_u\41_1.jpg"/>
          <p:cNvPicPr>
            <a:picLocks noChangeAspect="1" noChangeArrowheads="1"/>
          </p:cNvPicPr>
          <p:nvPr/>
        </p:nvPicPr>
        <p:blipFill>
          <a:blip r:embed="rId3" cstate="print"/>
          <a:srcRect/>
          <a:stretch>
            <a:fillRect/>
          </a:stretch>
        </p:blipFill>
        <p:spPr bwMode="auto">
          <a:xfrm>
            <a:off x="3697288" y="112713"/>
            <a:ext cx="1749425" cy="6632575"/>
          </a:xfrm>
          <a:prstGeom prst="rect">
            <a:avLst/>
          </a:prstGeom>
          <a:noFill/>
        </p:spPr>
      </p:pic>
      <p:sp>
        <p:nvSpPr>
          <p:cNvPr id="8195" name="AutoShape 3"/>
          <p:cNvSpPr>
            <a:spLocks noChangeArrowheads="1"/>
          </p:cNvSpPr>
          <p:nvPr/>
        </p:nvSpPr>
        <p:spPr bwMode="auto">
          <a:xfrm>
            <a:off x="27432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aphicFrame>
        <p:nvGraphicFramePr>
          <p:cNvPr id="8196" name="Object 4"/>
          <p:cNvGraphicFramePr>
            <a:graphicFrameLocks noChangeAspect="1"/>
          </p:cNvGraphicFramePr>
          <p:nvPr/>
        </p:nvGraphicFramePr>
        <p:xfrm>
          <a:off x="5562600" y="5638800"/>
          <a:ext cx="942975" cy="344488"/>
        </p:xfrm>
        <a:graphic>
          <a:graphicData uri="http://schemas.openxmlformats.org/presentationml/2006/ole">
            <p:oleObj spid="_x0000_s684034" name="Equation" r:id="rId4" imgW="799920" imgH="291960" progId="">
              <p:embed/>
            </p:oleObj>
          </a:graphicData>
        </a:graphic>
      </p:graphicFrame>
      <p:sp>
        <p:nvSpPr>
          <p:cNvPr id="8204" name="Text Box 12"/>
          <p:cNvSpPr txBox="1">
            <a:spLocks noChangeArrowheads="1"/>
          </p:cNvSpPr>
          <p:nvPr/>
        </p:nvSpPr>
        <p:spPr bwMode="auto">
          <a:xfrm>
            <a:off x="393596" y="2835816"/>
            <a:ext cx="2609850" cy="366712"/>
          </a:xfrm>
          <a:prstGeom prst="rect">
            <a:avLst/>
          </a:prstGeom>
          <a:noFill/>
          <a:ln w="9525">
            <a:noFill/>
            <a:miter lim="800000"/>
            <a:headEnd/>
            <a:tailEnd/>
          </a:ln>
          <a:effectLst/>
        </p:spPr>
        <p:txBody>
          <a:bodyPr wrap="none">
            <a:spAutoFit/>
          </a:bodyPr>
          <a:lstStyle/>
          <a:p>
            <a:r>
              <a:rPr lang="en-US" sz="1800" dirty="0">
                <a:solidFill>
                  <a:schemeClr val="accent2"/>
                </a:solidFill>
                <a:latin typeface="Arial" pitchFamily="34" charset="0"/>
              </a:rPr>
              <a:t>Rotation is right-handed</a:t>
            </a:r>
          </a:p>
        </p:txBody>
      </p:sp>
      <p:grpSp>
        <p:nvGrpSpPr>
          <p:cNvPr id="2" name="Group 13"/>
          <p:cNvGrpSpPr>
            <a:grpSpLocks/>
          </p:cNvGrpSpPr>
          <p:nvPr/>
        </p:nvGrpSpPr>
        <p:grpSpPr bwMode="auto">
          <a:xfrm>
            <a:off x="457200" y="457200"/>
            <a:ext cx="1543050" cy="2028825"/>
            <a:chOff x="288" y="288"/>
            <a:chExt cx="972" cy="1278"/>
          </a:xfrm>
        </p:grpSpPr>
        <p:sp>
          <p:nvSpPr>
            <p:cNvPr id="8206" name="Text Box 14"/>
            <p:cNvSpPr txBox="1">
              <a:spLocks noChangeArrowheads="1"/>
            </p:cNvSpPr>
            <p:nvPr/>
          </p:nvSpPr>
          <p:spPr bwMode="auto">
            <a:xfrm>
              <a:off x="288" y="951"/>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a</a:t>
              </a:r>
            </a:p>
          </p:txBody>
        </p:sp>
        <p:sp>
          <p:nvSpPr>
            <p:cNvPr id="8207" name="Line 15"/>
            <p:cNvSpPr>
              <a:spLocks noChangeShapeType="1"/>
            </p:cNvSpPr>
            <p:nvPr/>
          </p:nvSpPr>
          <p:spPr bwMode="auto">
            <a:xfrm flipV="1">
              <a:off x="912" y="519"/>
              <a:ext cx="0" cy="528"/>
            </a:xfrm>
            <a:prstGeom prst="line">
              <a:avLst/>
            </a:prstGeom>
            <a:noFill/>
            <a:ln w="9525">
              <a:solidFill>
                <a:schemeClr val="tx1"/>
              </a:solidFill>
              <a:round/>
              <a:headEnd/>
              <a:tailEnd type="triangle" w="med" len="med"/>
            </a:ln>
            <a:effectLst/>
          </p:spPr>
          <p:txBody>
            <a:bodyPr/>
            <a:lstStyle/>
            <a:p>
              <a:endParaRPr lang="en-US"/>
            </a:p>
          </p:txBody>
        </p:sp>
        <p:sp>
          <p:nvSpPr>
            <p:cNvPr id="8208" name="Line 16"/>
            <p:cNvSpPr>
              <a:spLocks noChangeShapeType="1"/>
            </p:cNvSpPr>
            <p:nvPr/>
          </p:nvSpPr>
          <p:spPr bwMode="auto">
            <a:xfrm flipH="1">
              <a:off x="480" y="1047"/>
              <a:ext cx="432" cy="0"/>
            </a:xfrm>
            <a:prstGeom prst="line">
              <a:avLst/>
            </a:prstGeom>
            <a:noFill/>
            <a:ln w="9525">
              <a:solidFill>
                <a:schemeClr val="tx1"/>
              </a:solidFill>
              <a:round/>
              <a:headEnd/>
              <a:tailEnd type="triangle" w="med" len="med"/>
            </a:ln>
            <a:effectLst/>
          </p:spPr>
          <p:txBody>
            <a:bodyPr/>
            <a:lstStyle/>
            <a:p>
              <a:endParaRPr lang="en-US"/>
            </a:p>
          </p:txBody>
        </p:sp>
        <p:sp>
          <p:nvSpPr>
            <p:cNvPr id="8209" name="Line 17"/>
            <p:cNvSpPr>
              <a:spLocks noChangeShapeType="1"/>
            </p:cNvSpPr>
            <p:nvPr/>
          </p:nvSpPr>
          <p:spPr bwMode="auto">
            <a:xfrm>
              <a:off x="912" y="1047"/>
              <a:ext cx="192" cy="288"/>
            </a:xfrm>
            <a:prstGeom prst="line">
              <a:avLst/>
            </a:prstGeom>
            <a:noFill/>
            <a:ln w="9525">
              <a:solidFill>
                <a:schemeClr val="tx1"/>
              </a:solidFill>
              <a:round/>
              <a:headEnd/>
              <a:tailEnd type="triangle" w="med" len="med"/>
            </a:ln>
            <a:effectLst/>
          </p:spPr>
          <p:txBody>
            <a:bodyPr/>
            <a:lstStyle/>
            <a:p>
              <a:endParaRPr lang="en-US"/>
            </a:p>
          </p:txBody>
        </p:sp>
        <p:sp>
          <p:nvSpPr>
            <p:cNvPr id="8210" name="Rectangle 18"/>
            <p:cNvSpPr>
              <a:spLocks noChangeArrowheads="1"/>
            </p:cNvSpPr>
            <p:nvPr/>
          </p:nvSpPr>
          <p:spPr bwMode="auto">
            <a:xfrm>
              <a:off x="1056" y="1335"/>
              <a:ext cx="204" cy="231"/>
            </a:xfrm>
            <a:prstGeom prst="rect">
              <a:avLst/>
            </a:prstGeom>
            <a:noFill/>
            <a:ln w="9525">
              <a:noFill/>
              <a:miter lim="800000"/>
              <a:headEnd/>
              <a:tailEnd/>
            </a:ln>
            <a:effectLst/>
          </p:spPr>
          <p:txBody>
            <a:bodyPr wrap="none">
              <a:spAutoFit/>
            </a:bodyPr>
            <a:lstStyle/>
            <a:p>
              <a:r>
                <a:rPr lang="en-US" sz="1800" b="1" i="1">
                  <a:latin typeface="Arial" pitchFamily="34" charset="0"/>
                </a:rPr>
                <a:t>b</a:t>
              </a:r>
            </a:p>
          </p:txBody>
        </p:sp>
        <p:sp>
          <p:nvSpPr>
            <p:cNvPr id="8211" name="Rectangle 19"/>
            <p:cNvSpPr>
              <a:spLocks noChangeArrowheads="1"/>
            </p:cNvSpPr>
            <p:nvPr/>
          </p:nvSpPr>
          <p:spPr bwMode="auto">
            <a:xfrm>
              <a:off x="816" y="288"/>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c</a:t>
              </a:r>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p:cNvSpPr>
            <a:spLocks noGrp="1"/>
          </p:cNvSpPr>
          <p:nvPr>
            <p:ph type="sldNum" sz="quarter" idx="12"/>
          </p:nvPr>
        </p:nvSpPr>
        <p:spPr/>
        <p:txBody>
          <a:bodyPr/>
          <a:lstStyle/>
          <a:p>
            <a:fld id="{34E7E387-9E8C-4211-AC62-E190A71863C4}" type="slidenum">
              <a:rPr lang="en-US"/>
              <a:pPr/>
              <a:t>29</a:t>
            </a:fld>
            <a:endParaRPr lang="en-US"/>
          </a:p>
        </p:txBody>
      </p:sp>
      <p:pic>
        <p:nvPicPr>
          <p:cNvPr id="9218" name="Picture 2" descr="C:\Documents and Settings\Administrator\Desktop\1.5\screw_u\41_2.jpg"/>
          <p:cNvPicPr>
            <a:picLocks noChangeAspect="1" noChangeArrowheads="1"/>
          </p:cNvPicPr>
          <p:nvPr/>
        </p:nvPicPr>
        <p:blipFill>
          <a:blip r:embed="rId3" cstate="print"/>
          <a:srcRect/>
          <a:stretch>
            <a:fillRect/>
          </a:stretch>
        </p:blipFill>
        <p:spPr bwMode="auto">
          <a:xfrm>
            <a:off x="3697288" y="112713"/>
            <a:ext cx="1749425" cy="6632575"/>
          </a:xfrm>
          <a:prstGeom prst="rect">
            <a:avLst/>
          </a:prstGeom>
          <a:noFill/>
        </p:spPr>
      </p:pic>
      <p:sp>
        <p:nvSpPr>
          <p:cNvPr id="9219" name="AutoShape 3"/>
          <p:cNvSpPr>
            <a:spLocks noChangeArrowheads="1"/>
          </p:cNvSpPr>
          <p:nvPr/>
        </p:nvSpPr>
        <p:spPr bwMode="auto">
          <a:xfrm>
            <a:off x="27432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aphicFrame>
        <p:nvGraphicFramePr>
          <p:cNvPr id="9220" name="Object 4"/>
          <p:cNvGraphicFramePr>
            <a:graphicFrameLocks noChangeAspect="1"/>
          </p:cNvGraphicFramePr>
          <p:nvPr/>
        </p:nvGraphicFramePr>
        <p:xfrm>
          <a:off x="5562600" y="5638800"/>
          <a:ext cx="942975" cy="344488"/>
        </p:xfrm>
        <a:graphic>
          <a:graphicData uri="http://schemas.openxmlformats.org/presentationml/2006/ole">
            <p:oleObj spid="_x0000_s685058" name="Equation" r:id="rId4" imgW="799920" imgH="291960" progId="">
              <p:embed/>
            </p:oleObj>
          </a:graphicData>
        </a:graphic>
      </p:graphicFrame>
      <p:graphicFrame>
        <p:nvGraphicFramePr>
          <p:cNvPr id="9221" name="Object 5"/>
          <p:cNvGraphicFramePr>
            <a:graphicFrameLocks noChangeAspect="1"/>
          </p:cNvGraphicFramePr>
          <p:nvPr/>
        </p:nvGraphicFramePr>
        <p:xfrm>
          <a:off x="5562600" y="4191000"/>
          <a:ext cx="1481138" cy="365125"/>
        </p:xfrm>
        <a:graphic>
          <a:graphicData uri="http://schemas.openxmlformats.org/presentationml/2006/ole">
            <p:oleObj spid="_x0000_s685059" name="Equation" r:id="rId5" imgW="1384200" imgH="342720" progId="">
              <p:embed/>
            </p:oleObj>
          </a:graphicData>
        </a:graphic>
      </p:graphicFrame>
      <p:grpSp>
        <p:nvGrpSpPr>
          <p:cNvPr id="2" name="Group 13"/>
          <p:cNvGrpSpPr>
            <a:grpSpLocks/>
          </p:cNvGrpSpPr>
          <p:nvPr/>
        </p:nvGrpSpPr>
        <p:grpSpPr bwMode="auto">
          <a:xfrm>
            <a:off x="457200" y="457200"/>
            <a:ext cx="1543050" cy="2028825"/>
            <a:chOff x="288" y="288"/>
            <a:chExt cx="972" cy="1278"/>
          </a:xfrm>
        </p:grpSpPr>
        <p:sp>
          <p:nvSpPr>
            <p:cNvPr id="9230" name="Text Box 14"/>
            <p:cNvSpPr txBox="1">
              <a:spLocks noChangeArrowheads="1"/>
            </p:cNvSpPr>
            <p:nvPr/>
          </p:nvSpPr>
          <p:spPr bwMode="auto">
            <a:xfrm>
              <a:off x="288" y="951"/>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a</a:t>
              </a:r>
            </a:p>
          </p:txBody>
        </p:sp>
        <p:sp>
          <p:nvSpPr>
            <p:cNvPr id="9231" name="Line 15"/>
            <p:cNvSpPr>
              <a:spLocks noChangeShapeType="1"/>
            </p:cNvSpPr>
            <p:nvPr/>
          </p:nvSpPr>
          <p:spPr bwMode="auto">
            <a:xfrm flipV="1">
              <a:off x="912" y="519"/>
              <a:ext cx="0" cy="528"/>
            </a:xfrm>
            <a:prstGeom prst="line">
              <a:avLst/>
            </a:prstGeom>
            <a:noFill/>
            <a:ln w="9525">
              <a:solidFill>
                <a:schemeClr val="tx1"/>
              </a:solidFill>
              <a:round/>
              <a:headEnd/>
              <a:tailEnd type="triangle" w="med" len="med"/>
            </a:ln>
            <a:effectLst/>
          </p:spPr>
          <p:txBody>
            <a:bodyPr/>
            <a:lstStyle/>
            <a:p>
              <a:endParaRPr lang="en-US"/>
            </a:p>
          </p:txBody>
        </p:sp>
        <p:sp>
          <p:nvSpPr>
            <p:cNvPr id="9232" name="Line 16"/>
            <p:cNvSpPr>
              <a:spLocks noChangeShapeType="1"/>
            </p:cNvSpPr>
            <p:nvPr/>
          </p:nvSpPr>
          <p:spPr bwMode="auto">
            <a:xfrm flipH="1">
              <a:off x="480" y="1047"/>
              <a:ext cx="432" cy="0"/>
            </a:xfrm>
            <a:prstGeom prst="line">
              <a:avLst/>
            </a:prstGeom>
            <a:noFill/>
            <a:ln w="9525">
              <a:solidFill>
                <a:schemeClr val="tx1"/>
              </a:solidFill>
              <a:round/>
              <a:headEnd/>
              <a:tailEnd type="triangle" w="med" len="med"/>
            </a:ln>
            <a:effectLst/>
          </p:spPr>
          <p:txBody>
            <a:bodyPr/>
            <a:lstStyle/>
            <a:p>
              <a:endParaRPr lang="en-US"/>
            </a:p>
          </p:txBody>
        </p:sp>
        <p:sp>
          <p:nvSpPr>
            <p:cNvPr id="9233" name="Line 17"/>
            <p:cNvSpPr>
              <a:spLocks noChangeShapeType="1"/>
            </p:cNvSpPr>
            <p:nvPr/>
          </p:nvSpPr>
          <p:spPr bwMode="auto">
            <a:xfrm>
              <a:off x="912" y="1047"/>
              <a:ext cx="192" cy="288"/>
            </a:xfrm>
            <a:prstGeom prst="line">
              <a:avLst/>
            </a:prstGeom>
            <a:noFill/>
            <a:ln w="9525">
              <a:solidFill>
                <a:schemeClr val="tx1"/>
              </a:solidFill>
              <a:round/>
              <a:headEnd/>
              <a:tailEnd type="triangle" w="med" len="med"/>
            </a:ln>
            <a:effectLst/>
          </p:spPr>
          <p:txBody>
            <a:bodyPr/>
            <a:lstStyle/>
            <a:p>
              <a:endParaRPr lang="en-US"/>
            </a:p>
          </p:txBody>
        </p:sp>
        <p:sp>
          <p:nvSpPr>
            <p:cNvPr id="9234" name="Rectangle 18"/>
            <p:cNvSpPr>
              <a:spLocks noChangeArrowheads="1"/>
            </p:cNvSpPr>
            <p:nvPr/>
          </p:nvSpPr>
          <p:spPr bwMode="auto">
            <a:xfrm>
              <a:off x="1056" y="1335"/>
              <a:ext cx="204" cy="231"/>
            </a:xfrm>
            <a:prstGeom prst="rect">
              <a:avLst/>
            </a:prstGeom>
            <a:noFill/>
            <a:ln w="9525">
              <a:noFill/>
              <a:miter lim="800000"/>
              <a:headEnd/>
              <a:tailEnd/>
            </a:ln>
            <a:effectLst/>
          </p:spPr>
          <p:txBody>
            <a:bodyPr wrap="none">
              <a:spAutoFit/>
            </a:bodyPr>
            <a:lstStyle/>
            <a:p>
              <a:r>
                <a:rPr lang="en-US" sz="1800" b="1" i="1">
                  <a:latin typeface="Arial" pitchFamily="34" charset="0"/>
                </a:rPr>
                <a:t>b</a:t>
              </a:r>
            </a:p>
          </p:txBody>
        </p:sp>
        <p:sp>
          <p:nvSpPr>
            <p:cNvPr id="9235" name="Rectangle 19"/>
            <p:cNvSpPr>
              <a:spLocks noChangeArrowheads="1"/>
            </p:cNvSpPr>
            <p:nvPr/>
          </p:nvSpPr>
          <p:spPr bwMode="auto">
            <a:xfrm>
              <a:off x="816" y="288"/>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c</a:t>
              </a:r>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3"/>
          <p:cNvSpPr>
            <a:spLocks noGrp="1"/>
          </p:cNvSpPr>
          <p:nvPr>
            <p:ph type="sldNum" sz="quarter" idx="12"/>
          </p:nvPr>
        </p:nvSpPr>
        <p:spPr/>
        <p:txBody>
          <a:bodyPr/>
          <a:lstStyle/>
          <a:p>
            <a:fld id="{35EB6C6F-6759-43AE-99D8-4692682C87F1}" type="slidenum">
              <a:rPr lang="en-US"/>
              <a:pPr/>
              <a:t>30</a:t>
            </a:fld>
            <a:endParaRPr lang="en-US"/>
          </a:p>
        </p:txBody>
      </p:sp>
      <p:pic>
        <p:nvPicPr>
          <p:cNvPr id="10242" name="Picture 2" descr="C:\Documents and Settings\Administrator\Desktop\1.5\screw_u\41_3.jpg"/>
          <p:cNvPicPr>
            <a:picLocks noChangeAspect="1" noChangeArrowheads="1"/>
          </p:cNvPicPr>
          <p:nvPr/>
        </p:nvPicPr>
        <p:blipFill>
          <a:blip r:embed="rId3" cstate="print"/>
          <a:srcRect/>
          <a:stretch>
            <a:fillRect/>
          </a:stretch>
        </p:blipFill>
        <p:spPr bwMode="auto">
          <a:xfrm>
            <a:off x="3697288" y="112713"/>
            <a:ext cx="1749425" cy="6632575"/>
          </a:xfrm>
          <a:prstGeom prst="rect">
            <a:avLst/>
          </a:prstGeom>
          <a:noFill/>
        </p:spPr>
      </p:pic>
      <p:sp>
        <p:nvSpPr>
          <p:cNvPr id="10243" name="AutoShape 3"/>
          <p:cNvSpPr>
            <a:spLocks noChangeArrowheads="1"/>
          </p:cNvSpPr>
          <p:nvPr/>
        </p:nvSpPr>
        <p:spPr bwMode="auto">
          <a:xfrm>
            <a:off x="27432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aphicFrame>
        <p:nvGraphicFramePr>
          <p:cNvPr id="10244" name="Object 4"/>
          <p:cNvGraphicFramePr>
            <a:graphicFrameLocks noChangeAspect="1"/>
          </p:cNvGraphicFramePr>
          <p:nvPr/>
        </p:nvGraphicFramePr>
        <p:xfrm>
          <a:off x="5562600" y="5638800"/>
          <a:ext cx="942975" cy="344488"/>
        </p:xfrm>
        <a:graphic>
          <a:graphicData uri="http://schemas.openxmlformats.org/presentationml/2006/ole">
            <p:oleObj spid="_x0000_s686082" name="Equation" r:id="rId4" imgW="799920" imgH="291960" progId="">
              <p:embed/>
            </p:oleObj>
          </a:graphicData>
        </a:graphic>
      </p:graphicFrame>
      <p:graphicFrame>
        <p:nvGraphicFramePr>
          <p:cNvPr id="10245" name="Object 5"/>
          <p:cNvGraphicFramePr>
            <a:graphicFrameLocks noChangeAspect="1"/>
          </p:cNvGraphicFramePr>
          <p:nvPr/>
        </p:nvGraphicFramePr>
        <p:xfrm>
          <a:off x="5562600" y="4191000"/>
          <a:ext cx="1481138" cy="365125"/>
        </p:xfrm>
        <a:graphic>
          <a:graphicData uri="http://schemas.openxmlformats.org/presentationml/2006/ole">
            <p:oleObj spid="_x0000_s686083" name="Equation" r:id="rId5" imgW="1384200" imgH="342720" progId="">
              <p:embed/>
            </p:oleObj>
          </a:graphicData>
        </a:graphic>
      </p:graphicFrame>
      <p:graphicFrame>
        <p:nvGraphicFramePr>
          <p:cNvPr id="10246" name="Object 6"/>
          <p:cNvGraphicFramePr>
            <a:graphicFrameLocks noChangeAspect="1"/>
          </p:cNvGraphicFramePr>
          <p:nvPr/>
        </p:nvGraphicFramePr>
        <p:xfrm>
          <a:off x="5540375" y="3124200"/>
          <a:ext cx="1470025" cy="365125"/>
        </p:xfrm>
        <a:graphic>
          <a:graphicData uri="http://schemas.openxmlformats.org/presentationml/2006/ole">
            <p:oleObj spid="_x0000_s686084" name="Equation" r:id="rId6" imgW="1384200" imgH="342720" progId="">
              <p:embed/>
            </p:oleObj>
          </a:graphicData>
        </a:graphic>
      </p:graphicFrame>
      <p:grpSp>
        <p:nvGrpSpPr>
          <p:cNvPr id="2" name="Group 14"/>
          <p:cNvGrpSpPr>
            <a:grpSpLocks/>
          </p:cNvGrpSpPr>
          <p:nvPr/>
        </p:nvGrpSpPr>
        <p:grpSpPr bwMode="auto">
          <a:xfrm>
            <a:off x="457200" y="457200"/>
            <a:ext cx="1543050" cy="2028825"/>
            <a:chOff x="288" y="288"/>
            <a:chExt cx="972" cy="1278"/>
          </a:xfrm>
        </p:grpSpPr>
        <p:sp>
          <p:nvSpPr>
            <p:cNvPr id="10255" name="Text Box 15"/>
            <p:cNvSpPr txBox="1">
              <a:spLocks noChangeArrowheads="1"/>
            </p:cNvSpPr>
            <p:nvPr/>
          </p:nvSpPr>
          <p:spPr bwMode="auto">
            <a:xfrm>
              <a:off x="288" y="951"/>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a</a:t>
              </a:r>
            </a:p>
          </p:txBody>
        </p:sp>
        <p:sp>
          <p:nvSpPr>
            <p:cNvPr id="10256" name="Line 16"/>
            <p:cNvSpPr>
              <a:spLocks noChangeShapeType="1"/>
            </p:cNvSpPr>
            <p:nvPr/>
          </p:nvSpPr>
          <p:spPr bwMode="auto">
            <a:xfrm flipV="1">
              <a:off x="912" y="519"/>
              <a:ext cx="0" cy="528"/>
            </a:xfrm>
            <a:prstGeom prst="line">
              <a:avLst/>
            </a:prstGeom>
            <a:noFill/>
            <a:ln w="9525">
              <a:solidFill>
                <a:schemeClr val="tx1"/>
              </a:solidFill>
              <a:round/>
              <a:headEnd/>
              <a:tailEnd type="triangle" w="med" len="med"/>
            </a:ln>
            <a:effectLst/>
          </p:spPr>
          <p:txBody>
            <a:bodyPr/>
            <a:lstStyle/>
            <a:p>
              <a:endParaRPr lang="en-US"/>
            </a:p>
          </p:txBody>
        </p:sp>
        <p:sp>
          <p:nvSpPr>
            <p:cNvPr id="10257" name="Line 17"/>
            <p:cNvSpPr>
              <a:spLocks noChangeShapeType="1"/>
            </p:cNvSpPr>
            <p:nvPr/>
          </p:nvSpPr>
          <p:spPr bwMode="auto">
            <a:xfrm flipH="1">
              <a:off x="480" y="1047"/>
              <a:ext cx="432" cy="0"/>
            </a:xfrm>
            <a:prstGeom prst="line">
              <a:avLst/>
            </a:prstGeom>
            <a:noFill/>
            <a:ln w="9525">
              <a:solidFill>
                <a:schemeClr val="tx1"/>
              </a:solidFill>
              <a:round/>
              <a:headEnd/>
              <a:tailEnd type="triangle" w="med" len="med"/>
            </a:ln>
            <a:effectLst/>
          </p:spPr>
          <p:txBody>
            <a:bodyPr/>
            <a:lstStyle/>
            <a:p>
              <a:endParaRPr lang="en-US"/>
            </a:p>
          </p:txBody>
        </p:sp>
        <p:sp>
          <p:nvSpPr>
            <p:cNvPr id="10258" name="Line 18"/>
            <p:cNvSpPr>
              <a:spLocks noChangeShapeType="1"/>
            </p:cNvSpPr>
            <p:nvPr/>
          </p:nvSpPr>
          <p:spPr bwMode="auto">
            <a:xfrm>
              <a:off x="912" y="1047"/>
              <a:ext cx="192" cy="288"/>
            </a:xfrm>
            <a:prstGeom prst="line">
              <a:avLst/>
            </a:prstGeom>
            <a:noFill/>
            <a:ln w="9525">
              <a:solidFill>
                <a:schemeClr val="tx1"/>
              </a:solidFill>
              <a:round/>
              <a:headEnd/>
              <a:tailEnd type="triangle" w="med" len="med"/>
            </a:ln>
            <a:effectLst/>
          </p:spPr>
          <p:txBody>
            <a:bodyPr/>
            <a:lstStyle/>
            <a:p>
              <a:endParaRPr lang="en-US"/>
            </a:p>
          </p:txBody>
        </p:sp>
        <p:sp>
          <p:nvSpPr>
            <p:cNvPr id="10259" name="Rectangle 19"/>
            <p:cNvSpPr>
              <a:spLocks noChangeArrowheads="1"/>
            </p:cNvSpPr>
            <p:nvPr/>
          </p:nvSpPr>
          <p:spPr bwMode="auto">
            <a:xfrm>
              <a:off x="1056" y="1335"/>
              <a:ext cx="204" cy="231"/>
            </a:xfrm>
            <a:prstGeom prst="rect">
              <a:avLst/>
            </a:prstGeom>
            <a:noFill/>
            <a:ln w="9525">
              <a:noFill/>
              <a:miter lim="800000"/>
              <a:headEnd/>
              <a:tailEnd/>
            </a:ln>
            <a:effectLst/>
          </p:spPr>
          <p:txBody>
            <a:bodyPr wrap="none">
              <a:spAutoFit/>
            </a:bodyPr>
            <a:lstStyle/>
            <a:p>
              <a:r>
                <a:rPr lang="en-US" sz="1800" b="1" i="1">
                  <a:latin typeface="Arial" pitchFamily="34" charset="0"/>
                </a:rPr>
                <a:t>b</a:t>
              </a:r>
            </a:p>
          </p:txBody>
        </p:sp>
        <p:sp>
          <p:nvSpPr>
            <p:cNvPr id="10260" name="Rectangle 20"/>
            <p:cNvSpPr>
              <a:spLocks noChangeArrowheads="1"/>
            </p:cNvSpPr>
            <p:nvPr/>
          </p:nvSpPr>
          <p:spPr bwMode="auto">
            <a:xfrm>
              <a:off x="816" y="288"/>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c</a:t>
              </a:r>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p:cNvSpPr>
            <a:spLocks noGrp="1"/>
          </p:cNvSpPr>
          <p:nvPr>
            <p:ph type="sldNum" sz="quarter" idx="12"/>
          </p:nvPr>
        </p:nvSpPr>
        <p:spPr/>
        <p:txBody>
          <a:bodyPr/>
          <a:lstStyle/>
          <a:p>
            <a:fld id="{BFD60D92-9A33-4F1E-828F-C8B70D439CB3}" type="slidenum">
              <a:rPr lang="en-US"/>
              <a:pPr/>
              <a:t>31</a:t>
            </a:fld>
            <a:endParaRPr lang="en-US"/>
          </a:p>
        </p:txBody>
      </p:sp>
      <p:pic>
        <p:nvPicPr>
          <p:cNvPr id="11266" name="Picture 2" descr="C:\Documents and Settings\Administrator\Desktop\1.5\screw_u\41_4.jpg"/>
          <p:cNvPicPr>
            <a:picLocks noChangeAspect="1" noChangeArrowheads="1"/>
          </p:cNvPicPr>
          <p:nvPr/>
        </p:nvPicPr>
        <p:blipFill>
          <a:blip r:embed="rId3" cstate="print"/>
          <a:srcRect/>
          <a:stretch>
            <a:fillRect/>
          </a:stretch>
        </p:blipFill>
        <p:spPr bwMode="auto">
          <a:xfrm>
            <a:off x="3697288" y="112713"/>
            <a:ext cx="1749425" cy="6632575"/>
          </a:xfrm>
          <a:prstGeom prst="rect">
            <a:avLst/>
          </a:prstGeom>
          <a:noFill/>
        </p:spPr>
      </p:pic>
      <p:sp>
        <p:nvSpPr>
          <p:cNvPr id="11267" name="AutoShape 3"/>
          <p:cNvSpPr>
            <a:spLocks noChangeArrowheads="1"/>
          </p:cNvSpPr>
          <p:nvPr/>
        </p:nvSpPr>
        <p:spPr bwMode="auto">
          <a:xfrm>
            <a:off x="27432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aphicFrame>
        <p:nvGraphicFramePr>
          <p:cNvPr id="11268" name="Object 4"/>
          <p:cNvGraphicFramePr>
            <a:graphicFrameLocks noChangeAspect="1"/>
          </p:cNvGraphicFramePr>
          <p:nvPr/>
        </p:nvGraphicFramePr>
        <p:xfrm>
          <a:off x="5562600" y="5638800"/>
          <a:ext cx="942975" cy="344488"/>
        </p:xfrm>
        <a:graphic>
          <a:graphicData uri="http://schemas.openxmlformats.org/presentationml/2006/ole">
            <p:oleObj spid="_x0000_s687106" name="Equation" r:id="rId4" imgW="799920" imgH="291960" progId="">
              <p:embed/>
            </p:oleObj>
          </a:graphicData>
        </a:graphic>
      </p:graphicFrame>
      <p:graphicFrame>
        <p:nvGraphicFramePr>
          <p:cNvPr id="11269" name="Object 5"/>
          <p:cNvGraphicFramePr>
            <a:graphicFrameLocks noChangeAspect="1"/>
          </p:cNvGraphicFramePr>
          <p:nvPr/>
        </p:nvGraphicFramePr>
        <p:xfrm>
          <a:off x="5562600" y="4191000"/>
          <a:ext cx="1481138" cy="365125"/>
        </p:xfrm>
        <a:graphic>
          <a:graphicData uri="http://schemas.openxmlformats.org/presentationml/2006/ole">
            <p:oleObj spid="_x0000_s687107" name="Equation" r:id="rId5" imgW="1384200" imgH="342720" progId="">
              <p:embed/>
            </p:oleObj>
          </a:graphicData>
        </a:graphic>
      </p:graphicFrame>
      <p:graphicFrame>
        <p:nvGraphicFramePr>
          <p:cNvPr id="11270" name="Object 6"/>
          <p:cNvGraphicFramePr>
            <a:graphicFrameLocks noChangeAspect="1"/>
          </p:cNvGraphicFramePr>
          <p:nvPr/>
        </p:nvGraphicFramePr>
        <p:xfrm>
          <a:off x="5540375" y="3124200"/>
          <a:ext cx="1470025" cy="365125"/>
        </p:xfrm>
        <a:graphic>
          <a:graphicData uri="http://schemas.openxmlformats.org/presentationml/2006/ole">
            <p:oleObj spid="_x0000_s687108" name="Equation" r:id="rId6" imgW="1384200" imgH="342720" progId="">
              <p:embed/>
            </p:oleObj>
          </a:graphicData>
        </a:graphic>
      </p:graphicFrame>
      <p:graphicFrame>
        <p:nvGraphicFramePr>
          <p:cNvPr id="11271" name="Object 7"/>
          <p:cNvGraphicFramePr>
            <a:graphicFrameLocks noChangeAspect="1"/>
          </p:cNvGraphicFramePr>
          <p:nvPr/>
        </p:nvGraphicFramePr>
        <p:xfrm>
          <a:off x="5472113" y="1905000"/>
          <a:ext cx="1530350" cy="368300"/>
        </p:xfrm>
        <a:graphic>
          <a:graphicData uri="http://schemas.openxmlformats.org/presentationml/2006/ole">
            <p:oleObj spid="_x0000_s687109" name="Equation" r:id="rId7" imgW="1422360" imgH="342720" progId="">
              <p:embed/>
            </p:oleObj>
          </a:graphicData>
        </a:graphic>
      </p:graphicFrame>
      <p:grpSp>
        <p:nvGrpSpPr>
          <p:cNvPr id="2" name="Group 15"/>
          <p:cNvGrpSpPr>
            <a:grpSpLocks/>
          </p:cNvGrpSpPr>
          <p:nvPr/>
        </p:nvGrpSpPr>
        <p:grpSpPr bwMode="auto">
          <a:xfrm>
            <a:off x="457200" y="457200"/>
            <a:ext cx="1543050" cy="2028825"/>
            <a:chOff x="288" y="288"/>
            <a:chExt cx="972" cy="1278"/>
          </a:xfrm>
        </p:grpSpPr>
        <p:sp>
          <p:nvSpPr>
            <p:cNvPr id="11280" name="Text Box 16"/>
            <p:cNvSpPr txBox="1">
              <a:spLocks noChangeArrowheads="1"/>
            </p:cNvSpPr>
            <p:nvPr/>
          </p:nvSpPr>
          <p:spPr bwMode="auto">
            <a:xfrm>
              <a:off x="288" y="951"/>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a</a:t>
              </a:r>
            </a:p>
          </p:txBody>
        </p:sp>
        <p:sp>
          <p:nvSpPr>
            <p:cNvPr id="11281" name="Line 17"/>
            <p:cNvSpPr>
              <a:spLocks noChangeShapeType="1"/>
            </p:cNvSpPr>
            <p:nvPr/>
          </p:nvSpPr>
          <p:spPr bwMode="auto">
            <a:xfrm flipV="1">
              <a:off x="912" y="519"/>
              <a:ext cx="0" cy="528"/>
            </a:xfrm>
            <a:prstGeom prst="line">
              <a:avLst/>
            </a:prstGeom>
            <a:noFill/>
            <a:ln w="9525">
              <a:solidFill>
                <a:schemeClr val="tx1"/>
              </a:solidFill>
              <a:round/>
              <a:headEnd/>
              <a:tailEnd type="triangle" w="med" len="med"/>
            </a:ln>
            <a:effectLst/>
          </p:spPr>
          <p:txBody>
            <a:bodyPr/>
            <a:lstStyle/>
            <a:p>
              <a:endParaRPr lang="en-US"/>
            </a:p>
          </p:txBody>
        </p:sp>
        <p:sp>
          <p:nvSpPr>
            <p:cNvPr id="11282" name="Line 18"/>
            <p:cNvSpPr>
              <a:spLocks noChangeShapeType="1"/>
            </p:cNvSpPr>
            <p:nvPr/>
          </p:nvSpPr>
          <p:spPr bwMode="auto">
            <a:xfrm flipH="1">
              <a:off x="480" y="1047"/>
              <a:ext cx="432" cy="0"/>
            </a:xfrm>
            <a:prstGeom prst="line">
              <a:avLst/>
            </a:prstGeom>
            <a:noFill/>
            <a:ln w="9525">
              <a:solidFill>
                <a:schemeClr val="tx1"/>
              </a:solidFill>
              <a:round/>
              <a:headEnd/>
              <a:tailEnd type="triangle" w="med" len="med"/>
            </a:ln>
            <a:effectLst/>
          </p:spPr>
          <p:txBody>
            <a:bodyPr/>
            <a:lstStyle/>
            <a:p>
              <a:endParaRPr lang="en-US"/>
            </a:p>
          </p:txBody>
        </p:sp>
        <p:sp>
          <p:nvSpPr>
            <p:cNvPr id="11283" name="Line 19"/>
            <p:cNvSpPr>
              <a:spLocks noChangeShapeType="1"/>
            </p:cNvSpPr>
            <p:nvPr/>
          </p:nvSpPr>
          <p:spPr bwMode="auto">
            <a:xfrm>
              <a:off x="912" y="1047"/>
              <a:ext cx="192" cy="288"/>
            </a:xfrm>
            <a:prstGeom prst="line">
              <a:avLst/>
            </a:prstGeom>
            <a:noFill/>
            <a:ln w="9525">
              <a:solidFill>
                <a:schemeClr val="tx1"/>
              </a:solidFill>
              <a:round/>
              <a:headEnd/>
              <a:tailEnd type="triangle" w="med" len="med"/>
            </a:ln>
            <a:effectLst/>
          </p:spPr>
          <p:txBody>
            <a:bodyPr/>
            <a:lstStyle/>
            <a:p>
              <a:endParaRPr lang="en-US"/>
            </a:p>
          </p:txBody>
        </p:sp>
        <p:sp>
          <p:nvSpPr>
            <p:cNvPr id="11284" name="Rectangle 20"/>
            <p:cNvSpPr>
              <a:spLocks noChangeArrowheads="1"/>
            </p:cNvSpPr>
            <p:nvPr/>
          </p:nvSpPr>
          <p:spPr bwMode="auto">
            <a:xfrm>
              <a:off x="1056" y="1335"/>
              <a:ext cx="204" cy="231"/>
            </a:xfrm>
            <a:prstGeom prst="rect">
              <a:avLst/>
            </a:prstGeom>
            <a:noFill/>
            <a:ln w="9525">
              <a:noFill/>
              <a:miter lim="800000"/>
              <a:headEnd/>
              <a:tailEnd/>
            </a:ln>
            <a:effectLst/>
          </p:spPr>
          <p:txBody>
            <a:bodyPr wrap="none">
              <a:spAutoFit/>
            </a:bodyPr>
            <a:lstStyle/>
            <a:p>
              <a:r>
                <a:rPr lang="en-US" sz="1800" b="1" i="1">
                  <a:latin typeface="Arial" pitchFamily="34" charset="0"/>
                </a:rPr>
                <a:t>b</a:t>
              </a:r>
            </a:p>
          </p:txBody>
        </p:sp>
        <p:sp>
          <p:nvSpPr>
            <p:cNvPr id="11285" name="Rectangle 21"/>
            <p:cNvSpPr>
              <a:spLocks noChangeArrowheads="1"/>
            </p:cNvSpPr>
            <p:nvPr/>
          </p:nvSpPr>
          <p:spPr bwMode="auto">
            <a:xfrm>
              <a:off x="816" y="288"/>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c</a:t>
              </a: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3B8328F9-E544-4C29-96D2-AC67349D8E7E}" type="slidenum">
              <a:rPr lang="en-US"/>
              <a:pPr/>
              <a:t>32</a:t>
            </a:fld>
            <a:endParaRPr lang="en-US"/>
          </a:p>
        </p:txBody>
      </p:sp>
      <p:sp>
        <p:nvSpPr>
          <p:cNvPr id="46082" name="Text Box 2"/>
          <p:cNvSpPr txBox="1">
            <a:spLocks noChangeArrowheads="1"/>
          </p:cNvSpPr>
          <p:nvPr/>
        </p:nvSpPr>
        <p:spPr bwMode="auto">
          <a:xfrm>
            <a:off x="407412" y="745654"/>
            <a:ext cx="8512175" cy="3231654"/>
          </a:xfrm>
          <a:prstGeom prst="rect">
            <a:avLst/>
          </a:prstGeom>
          <a:noFill/>
          <a:ln w="9525">
            <a:noFill/>
            <a:miter lim="800000"/>
            <a:headEnd/>
            <a:tailEnd/>
          </a:ln>
          <a:effectLst/>
        </p:spPr>
        <p:txBody>
          <a:bodyPr>
            <a:spAutoFit/>
          </a:bodyPr>
          <a:lstStyle/>
          <a:p>
            <a:pPr marL="457200" indent="-457200">
              <a:spcBef>
                <a:spcPct val="50000"/>
              </a:spcBef>
              <a:buFont typeface="Wingdings" pitchFamily="2" charset="2"/>
              <a:buChar char="v"/>
            </a:pPr>
            <a:r>
              <a:rPr lang="en-US" dirty="0" smtClean="0">
                <a:latin typeface="Arial" pitchFamily="34" charset="0"/>
              </a:rPr>
              <a:t>Let us study the operation of </a:t>
            </a:r>
            <a:r>
              <a:rPr lang="en-US" dirty="0" smtClean="0">
                <a:solidFill>
                  <a:srgbClr val="FF0066"/>
                </a:solidFill>
                <a:latin typeface="Arial" pitchFamily="34" charset="0"/>
              </a:rPr>
              <a:t>4</a:t>
            </a:r>
            <a:r>
              <a:rPr lang="en-US" baseline="-25000" dirty="0" smtClean="0">
                <a:solidFill>
                  <a:srgbClr val="FF0066"/>
                </a:solidFill>
                <a:latin typeface="Arial" pitchFamily="34" charset="0"/>
              </a:rPr>
              <a:t>1</a:t>
            </a:r>
            <a:r>
              <a:rPr lang="en-US" dirty="0" smtClean="0">
                <a:latin typeface="Arial" pitchFamily="34" charset="0"/>
              </a:rPr>
              <a:t> </a:t>
            </a:r>
            <a:r>
              <a:rPr lang="en-US" dirty="0">
                <a:latin typeface="Arial" pitchFamily="34" charset="0"/>
              </a:rPr>
              <a:t>screw </a:t>
            </a:r>
            <a:r>
              <a:rPr lang="en-US" dirty="0" smtClean="0">
                <a:latin typeface="Arial" pitchFamily="34" charset="0"/>
              </a:rPr>
              <a:t>along </a:t>
            </a:r>
            <a:r>
              <a:rPr lang="en-US" dirty="0">
                <a:latin typeface="Arial" pitchFamily="34" charset="0"/>
              </a:rPr>
              <a:t>with its </a:t>
            </a:r>
            <a:r>
              <a:rPr lang="en-US" dirty="0" err="1">
                <a:latin typeface="Arial" pitchFamily="34" charset="0"/>
              </a:rPr>
              <a:t>enantiomorphous</a:t>
            </a:r>
            <a:r>
              <a:rPr lang="en-US" dirty="0">
                <a:latin typeface="Arial" pitchFamily="34" charset="0"/>
              </a:rPr>
              <a:t> counterpart, a </a:t>
            </a:r>
            <a:r>
              <a:rPr lang="en-US" dirty="0">
                <a:solidFill>
                  <a:srgbClr val="FF0066"/>
                </a:solidFill>
                <a:latin typeface="Arial" pitchFamily="34" charset="0"/>
              </a:rPr>
              <a:t>4</a:t>
            </a:r>
            <a:r>
              <a:rPr lang="en-US" baseline="-25000" dirty="0">
                <a:solidFill>
                  <a:srgbClr val="FF0066"/>
                </a:solidFill>
                <a:latin typeface="Arial" pitchFamily="34" charset="0"/>
              </a:rPr>
              <a:t>3</a:t>
            </a:r>
            <a:r>
              <a:rPr lang="en-US" dirty="0">
                <a:latin typeface="Arial" pitchFamily="34" charset="0"/>
              </a:rPr>
              <a:t> screw axis. </a:t>
            </a:r>
          </a:p>
          <a:p>
            <a:pPr marL="457200" indent="-457200">
              <a:spcBef>
                <a:spcPct val="50000"/>
              </a:spcBef>
              <a:buFont typeface="Wingdings" pitchFamily="2" charset="2"/>
              <a:buChar char="v"/>
            </a:pPr>
            <a:r>
              <a:rPr lang="en-US" dirty="0" smtClean="0">
                <a:latin typeface="Arial" pitchFamily="34" charset="0"/>
              </a:rPr>
              <a:t>A </a:t>
            </a:r>
            <a:r>
              <a:rPr lang="en-US" dirty="0" smtClean="0">
                <a:solidFill>
                  <a:srgbClr val="FF0066"/>
                </a:solidFill>
                <a:latin typeface="Arial" pitchFamily="34" charset="0"/>
              </a:rPr>
              <a:t>4</a:t>
            </a:r>
            <a:r>
              <a:rPr lang="en-US" baseline="-25000" dirty="0" smtClean="0">
                <a:solidFill>
                  <a:srgbClr val="FF0066"/>
                </a:solidFill>
                <a:latin typeface="Arial" pitchFamily="34" charset="0"/>
              </a:rPr>
              <a:t>3</a:t>
            </a:r>
            <a:r>
              <a:rPr lang="en-US" dirty="0" smtClean="0">
                <a:latin typeface="Arial" pitchFamily="34" charset="0"/>
              </a:rPr>
              <a:t> </a:t>
            </a:r>
            <a:r>
              <a:rPr lang="en-US" dirty="0">
                <a:latin typeface="Arial" pitchFamily="34" charset="0"/>
              </a:rPr>
              <a:t>screw operation is a rotation by +90</a:t>
            </a:r>
            <a:r>
              <a:rPr lang="en-US" dirty="0">
                <a:latin typeface="Arial" pitchFamily="34" charset="0"/>
                <a:cs typeface="Arial" pitchFamily="34" charset="0"/>
              </a:rPr>
              <a:t>°, followed by a translation of ¾ along the </a:t>
            </a:r>
            <a:r>
              <a:rPr lang="en-US" i="1" dirty="0">
                <a:solidFill>
                  <a:srgbClr val="FF0066"/>
                </a:solidFill>
                <a:latin typeface="Arial" pitchFamily="34" charset="0"/>
                <a:cs typeface="Arial" pitchFamily="34" charset="0"/>
              </a:rPr>
              <a:t>c</a:t>
            </a:r>
            <a:r>
              <a:rPr lang="en-US" dirty="0">
                <a:latin typeface="Arial" pitchFamily="34" charset="0"/>
                <a:cs typeface="Arial" pitchFamily="34" charset="0"/>
              </a:rPr>
              <a:t> direction.  However, it is completely correct - and useful - to consider the operation as a </a:t>
            </a:r>
            <a:r>
              <a:rPr lang="en-US" dirty="0">
                <a:latin typeface="Arial" pitchFamily="34" charset="0"/>
              </a:rPr>
              <a:t>rotation of -90</a:t>
            </a:r>
            <a:r>
              <a:rPr lang="en-US" dirty="0">
                <a:latin typeface="Arial" pitchFamily="34" charset="0"/>
                <a:cs typeface="Arial" pitchFamily="34" charset="0"/>
              </a:rPr>
              <a:t>°, followed by a translation of </a:t>
            </a:r>
            <a:r>
              <a:rPr lang="en-US" i="1" dirty="0">
                <a:solidFill>
                  <a:schemeClr val="accent2"/>
                </a:solidFill>
                <a:latin typeface="Arial" pitchFamily="34" charset="0"/>
                <a:cs typeface="Arial" pitchFamily="34" charset="0"/>
              </a:rPr>
              <a:t>¼</a:t>
            </a:r>
            <a:r>
              <a:rPr lang="en-US" dirty="0">
                <a:latin typeface="Arial" pitchFamily="34" charset="0"/>
                <a:cs typeface="Arial" pitchFamily="34" charset="0"/>
              </a:rPr>
              <a:t> along the </a:t>
            </a:r>
            <a:r>
              <a:rPr lang="en-US" i="1" dirty="0">
                <a:solidFill>
                  <a:srgbClr val="FF0066"/>
                </a:solidFill>
                <a:latin typeface="Arial" pitchFamily="34" charset="0"/>
                <a:cs typeface="Arial" pitchFamily="34" charset="0"/>
              </a:rPr>
              <a:t>c</a:t>
            </a:r>
            <a:r>
              <a:rPr lang="en-US" dirty="0">
                <a:latin typeface="Arial" pitchFamily="34" charset="0"/>
                <a:cs typeface="Arial" pitchFamily="34" charset="0"/>
              </a:rPr>
              <a:t> direction.  Note the different, opposite sense of the rotations &amp; look at the arrows as a reminder</a:t>
            </a:r>
            <a:r>
              <a:rPr lang="en-US" dirty="0" smtClean="0">
                <a:latin typeface="Arial" pitchFamily="34" charset="0"/>
                <a:cs typeface="Arial" pitchFamily="34" charset="0"/>
              </a:rPr>
              <a:t>.</a:t>
            </a:r>
            <a:r>
              <a:rPr lang="en-US" dirty="0" smtClean="0">
                <a:latin typeface="Arial" pitchFamily="34" charset="0"/>
              </a:rPr>
              <a:t> </a:t>
            </a:r>
            <a:endParaRPr lang="en-US"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3"/>
          <p:cNvSpPr>
            <a:spLocks noGrp="1"/>
          </p:cNvSpPr>
          <p:nvPr>
            <p:ph type="sldNum" sz="quarter" idx="12"/>
          </p:nvPr>
        </p:nvSpPr>
        <p:spPr/>
        <p:txBody>
          <a:bodyPr/>
          <a:lstStyle/>
          <a:p>
            <a:fld id="{F76BBA82-A7FD-411B-8EBA-0764050CAAA5}" type="slidenum">
              <a:rPr lang="en-US"/>
              <a:pPr/>
              <a:t>33</a:t>
            </a:fld>
            <a:endParaRPr lang="en-US"/>
          </a:p>
        </p:txBody>
      </p:sp>
      <p:pic>
        <p:nvPicPr>
          <p:cNvPr id="13314" name="Picture 2" descr="C:\Documents and Settings\Administrator\Desktop\1.5\screw_u\4143v2.jpg"/>
          <p:cNvPicPr>
            <a:picLocks noChangeAspect="1" noChangeArrowheads="1"/>
          </p:cNvPicPr>
          <p:nvPr/>
        </p:nvPicPr>
        <p:blipFill>
          <a:blip r:embed="rId2" cstate="print"/>
          <a:srcRect/>
          <a:stretch>
            <a:fillRect/>
          </a:stretch>
        </p:blipFill>
        <p:spPr bwMode="auto">
          <a:xfrm>
            <a:off x="2006600" y="87313"/>
            <a:ext cx="5129213" cy="6681787"/>
          </a:xfrm>
          <a:prstGeom prst="rect">
            <a:avLst/>
          </a:prstGeom>
          <a:noFill/>
        </p:spPr>
      </p:pic>
      <p:sp>
        <p:nvSpPr>
          <p:cNvPr id="13315" name="AutoShape 3"/>
          <p:cNvSpPr>
            <a:spLocks noChangeArrowheads="1"/>
          </p:cNvSpPr>
          <p:nvPr/>
        </p:nvSpPr>
        <p:spPr bwMode="auto">
          <a:xfrm>
            <a:off x="11430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13316" name="AutoShape 4"/>
          <p:cNvSpPr>
            <a:spLocks noChangeArrowheads="1"/>
          </p:cNvSpPr>
          <p:nvPr/>
        </p:nvSpPr>
        <p:spPr bwMode="auto">
          <a:xfrm flipH="1">
            <a:off x="67056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13325" name="Rectangle 13"/>
          <p:cNvSpPr>
            <a:spLocks noChangeArrowheads="1"/>
          </p:cNvSpPr>
          <p:nvPr/>
        </p:nvSpPr>
        <p:spPr bwMode="auto">
          <a:xfrm>
            <a:off x="304800" y="914400"/>
            <a:ext cx="1524000" cy="641350"/>
          </a:xfrm>
          <a:prstGeom prst="rect">
            <a:avLst/>
          </a:prstGeom>
          <a:noFill/>
          <a:ln w="9525">
            <a:noFill/>
            <a:miter lim="800000"/>
            <a:headEnd/>
            <a:tailEnd/>
          </a:ln>
          <a:effectLst/>
        </p:spPr>
        <p:txBody>
          <a:bodyPr>
            <a:spAutoFit/>
          </a:bodyPr>
          <a:lstStyle/>
          <a:p>
            <a:pPr algn="ctr"/>
            <a:r>
              <a:rPr lang="en-US" sz="1800" dirty="0">
                <a:solidFill>
                  <a:srgbClr val="002060"/>
                </a:solidFill>
                <a:latin typeface="Arial" pitchFamily="34" charset="0"/>
              </a:rPr>
              <a:t>Rotation is right-handed</a:t>
            </a:r>
          </a:p>
        </p:txBody>
      </p:sp>
      <p:sp>
        <p:nvSpPr>
          <p:cNvPr id="13327" name="Rectangle 15"/>
          <p:cNvSpPr>
            <a:spLocks noChangeArrowheads="1"/>
          </p:cNvSpPr>
          <p:nvPr/>
        </p:nvSpPr>
        <p:spPr bwMode="auto">
          <a:xfrm>
            <a:off x="7086600" y="914400"/>
            <a:ext cx="1609725" cy="641350"/>
          </a:xfrm>
          <a:prstGeom prst="rect">
            <a:avLst/>
          </a:prstGeom>
          <a:noFill/>
          <a:ln w="9525">
            <a:noFill/>
            <a:miter lim="800000"/>
            <a:headEnd/>
            <a:tailEnd/>
          </a:ln>
          <a:effectLst/>
        </p:spPr>
        <p:txBody>
          <a:bodyPr>
            <a:spAutoFit/>
          </a:bodyPr>
          <a:lstStyle/>
          <a:p>
            <a:r>
              <a:rPr lang="en-US" sz="1800" dirty="0">
                <a:solidFill>
                  <a:srgbClr val="00B050"/>
                </a:solidFill>
                <a:latin typeface="Arial" pitchFamily="34" charset="0"/>
              </a:rPr>
              <a:t>Rotation is left-handed</a:t>
            </a:r>
          </a:p>
        </p:txBody>
      </p:sp>
      <p:grpSp>
        <p:nvGrpSpPr>
          <p:cNvPr id="2" name="Group 16"/>
          <p:cNvGrpSpPr>
            <a:grpSpLocks/>
          </p:cNvGrpSpPr>
          <p:nvPr/>
        </p:nvGrpSpPr>
        <p:grpSpPr bwMode="auto">
          <a:xfrm>
            <a:off x="3638550" y="485775"/>
            <a:ext cx="1543050" cy="2028825"/>
            <a:chOff x="288" y="288"/>
            <a:chExt cx="972" cy="1278"/>
          </a:xfrm>
        </p:grpSpPr>
        <p:sp>
          <p:nvSpPr>
            <p:cNvPr id="13329" name="Text Box 17"/>
            <p:cNvSpPr txBox="1">
              <a:spLocks noChangeArrowheads="1"/>
            </p:cNvSpPr>
            <p:nvPr/>
          </p:nvSpPr>
          <p:spPr bwMode="auto">
            <a:xfrm>
              <a:off x="288" y="951"/>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a</a:t>
              </a:r>
            </a:p>
          </p:txBody>
        </p:sp>
        <p:sp>
          <p:nvSpPr>
            <p:cNvPr id="13330" name="Line 18"/>
            <p:cNvSpPr>
              <a:spLocks noChangeShapeType="1"/>
            </p:cNvSpPr>
            <p:nvPr/>
          </p:nvSpPr>
          <p:spPr bwMode="auto">
            <a:xfrm flipV="1">
              <a:off x="912" y="519"/>
              <a:ext cx="0" cy="528"/>
            </a:xfrm>
            <a:prstGeom prst="line">
              <a:avLst/>
            </a:prstGeom>
            <a:noFill/>
            <a:ln w="9525">
              <a:solidFill>
                <a:schemeClr val="tx1"/>
              </a:solidFill>
              <a:round/>
              <a:headEnd/>
              <a:tailEnd type="triangle" w="med" len="med"/>
            </a:ln>
            <a:effectLst/>
          </p:spPr>
          <p:txBody>
            <a:bodyPr/>
            <a:lstStyle/>
            <a:p>
              <a:endParaRPr lang="en-US"/>
            </a:p>
          </p:txBody>
        </p:sp>
        <p:sp>
          <p:nvSpPr>
            <p:cNvPr id="13331" name="Line 19"/>
            <p:cNvSpPr>
              <a:spLocks noChangeShapeType="1"/>
            </p:cNvSpPr>
            <p:nvPr/>
          </p:nvSpPr>
          <p:spPr bwMode="auto">
            <a:xfrm flipH="1">
              <a:off x="480" y="1047"/>
              <a:ext cx="432" cy="0"/>
            </a:xfrm>
            <a:prstGeom prst="line">
              <a:avLst/>
            </a:prstGeom>
            <a:noFill/>
            <a:ln w="9525">
              <a:solidFill>
                <a:schemeClr val="tx1"/>
              </a:solidFill>
              <a:round/>
              <a:headEnd/>
              <a:tailEnd type="triangle" w="med" len="med"/>
            </a:ln>
            <a:effectLst/>
          </p:spPr>
          <p:txBody>
            <a:bodyPr/>
            <a:lstStyle/>
            <a:p>
              <a:endParaRPr lang="en-US"/>
            </a:p>
          </p:txBody>
        </p:sp>
        <p:sp>
          <p:nvSpPr>
            <p:cNvPr id="13332" name="Line 20"/>
            <p:cNvSpPr>
              <a:spLocks noChangeShapeType="1"/>
            </p:cNvSpPr>
            <p:nvPr/>
          </p:nvSpPr>
          <p:spPr bwMode="auto">
            <a:xfrm>
              <a:off x="912" y="1047"/>
              <a:ext cx="192" cy="288"/>
            </a:xfrm>
            <a:prstGeom prst="line">
              <a:avLst/>
            </a:prstGeom>
            <a:noFill/>
            <a:ln w="9525">
              <a:solidFill>
                <a:schemeClr val="tx1"/>
              </a:solidFill>
              <a:round/>
              <a:headEnd/>
              <a:tailEnd type="triangle" w="med" len="med"/>
            </a:ln>
            <a:effectLst/>
          </p:spPr>
          <p:txBody>
            <a:bodyPr/>
            <a:lstStyle/>
            <a:p>
              <a:endParaRPr lang="en-US"/>
            </a:p>
          </p:txBody>
        </p:sp>
        <p:sp>
          <p:nvSpPr>
            <p:cNvPr id="13333" name="Rectangle 21"/>
            <p:cNvSpPr>
              <a:spLocks noChangeArrowheads="1"/>
            </p:cNvSpPr>
            <p:nvPr/>
          </p:nvSpPr>
          <p:spPr bwMode="auto">
            <a:xfrm>
              <a:off x="1056" y="1335"/>
              <a:ext cx="204" cy="231"/>
            </a:xfrm>
            <a:prstGeom prst="rect">
              <a:avLst/>
            </a:prstGeom>
            <a:noFill/>
            <a:ln w="9525">
              <a:noFill/>
              <a:miter lim="800000"/>
              <a:headEnd/>
              <a:tailEnd/>
            </a:ln>
            <a:effectLst/>
          </p:spPr>
          <p:txBody>
            <a:bodyPr wrap="none">
              <a:spAutoFit/>
            </a:bodyPr>
            <a:lstStyle/>
            <a:p>
              <a:r>
                <a:rPr lang="en-US" sz="1800" b="1" i="1">
                  <a:latin typeface="Arial" pitchFamily="34" charset="0"/>
                </a:rPr>
                <a:t>b</a:t>
              </a:r>
            </a:p>
          </p:txBody>
        </p:sp>
        <p:sp>
          <p:nvSpPr>
            <p:cNvPr id="13334" name="Rectangle 22"/>
            <p:cNvSpPr>
              <a:spLocks noChangeArrowheads="1"/>
            </p:cNvSpPr>
            <p:nvPr/>
          </p:nvSpPr>
          <p:spPr bwMode="auto">
            <a:xfrm>
              <a:off x="816" y="288"/>
              <a:ext cx="196" cy="231"/>
            </a:xfrm>
            <a:prstGeom prst="rect">
              <a:avLst/>
            </a:prstGeom>
            <a:noFill/>
            <a:ln w="9525">
              <a:noFill/>
              <a:miter lim="800000"/>
              <a:headEnd/>
              <a:tailEnd/>
            </a:ln>
            <a:effectLst/>
          </p:spPr>
          <p:txBody>
            <a:bodyPr wrap="none">
              <a:spAutoFit/>
            </a:bodyPr>
            <a:lstStyle/>
            <a:p>
              <a:r>
                <a:rPr lang="en-US" sz="1800" b="1" i="1">
                  <a:latin typeface="Arial" pitchFamily="34" charset="0"/>
                </a:rPr>
                <a:t>c</a:t>
              </a:r>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3"/>
          <p:cNvSpPr>
            <a:spLocks noGrp="1"/>
          </p:cNvSpPr>
          <p:nvPr>
            <p:ph type="sldNum" sz="quarter" idx="12"/>
          </p:nvPr>
        </p:nvSpPr>
        <p:spPr/>
        <p:txBody>
          <a:bodyPr/>
          <a:lstStyle/>
          <a:p>
            <a:fld id="{BB679A7E-B140-47F0-8484-19E58449B53B}" type="slidenum">
              <a:rPr lang="en-US"/>
              <a:pPr/>
              <a:t>34</a:t>
            </a:fld>
            <a:endParaRPr lang="en-US"/>
          </a:p>
        </p:txBody>
      </p:sp>
      <p:pic>
        <p:nvPicPr>
          <p:cNvPr id="14338" name="Picture 2" descr="C:\Documents and Settings\Administrator\Desktop\1.5\screw_u\4143_1.jpg"/>
          <p:cNvPicPr>
            <a:picLocks noChangeAspect="1" noChangeArrowheads="1"/>
          </p:cNvPicPr>
          <p:nvPr/>
        </p:nvPicPr>
        <p:blipFill>
          <a:blip r:embed="rId3" cstate="print"/>
          <a:srcRect/>
          <a:stretch>
            <a:fillRect/>
          </a:stretch>
        </p:blipFill>
        <p:spPr bwMode="auto">
          <a:xfrm>
            <a:off x="2006600" y="87313"/>
            <a:ext cx="5129213" cy="6681787"/>
          </a:xfrm>
          <a:prstGeom prst="rect">
            <a:avLst/>
          </a:prstGeom>
          <a:noFill/>
        </p:spPr>
      </p:pic>
      <p:sp>
        <p:nvSpPr>
          <p:cNvPr id="14339" name="AutoShape 3"/>
          <p:cNvSpPr>
            <a:spLocks noChangeArrowheads="1"/>
          </p:cNvSpPr>
          <p:nvPr/>
        </p:nvSpPr>
        <p:spPr bwMode="auto">
          <a:xfrm>
            <a:off x="11430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14340" name="AutoShape 4"/>
          <p:cNvSpPr>
            <a:spLocks noChangeArrowheads="1"/>
          </p:cNvSpPr>
          <p:nvPr/>
        </p:nvSpPr>
        <p:spPr bwMode="auto">
          <a:xfrm flipH="1">
            <a:off x="67056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aphicFrame>
        <p:nvGraphicFramePr>
          <p:cNvPr id="14341" name="Object 5"/>
          <p:cNvGraphicFramePr>
            <a:graphicFrameLocks noChangeAspect="1"/>
          </p:cNvGraphicFramePr>
          <p:nvPr/>
        </p:nvGraphicFramePr>
        <p:xfrm>
          <a:off x="838200" y="5638800"/>
          <a:ext cx="942975" cy="344488"/>
        </p:xfrm>
        <a:graphic>
          <a:graphicData uri="http://schemas.openxmlformats.org/presentationml/2006/ole">
            <p:oleObj spid="_x0000_s688130" name="Equation" r:id="rId4" imgW="799920" imgH="291960" progId="">
              <p:embed/>
            </p:oleObj>
          </a:graphicData>
        </a:graphic>
      </p:graphicFrame>
      <p:graphicFrame>
        <p:nvGraphicFramePr>
          <p:cNvPr id="14342" name="Object 6"/>
          <p:cNvGraphicFramePr>
            <a:graphicFrameLocks noChangeAspect="1"/>
          </p:cNvGraphicFramePr>
          <p:nvPr/>
        </p:nvGraphicFramePr>
        <p:xfrm>
          <a:off x="381000" y="4191000"/>
          <a:ext cx="1481138" cy="365125"/>
        </p:xfrm>
        <a:graphic>
          <a:graphicData uri="http://schemas.openxmlformats.org/presentationml/2006/ole">
            <p:oleObj spid="_x0000_s688131" name="Equation" r:id="rId5" imgW="1384200" imgH="342720" progId="">
              <p:embed/>
            </p:oleObj>
          </a:graphicData>
        </a:graphic>
      </p:graphicFrame>
      <p:graphicFrame>
        <p:nvGraphicFramePr>
          <p:cNvPr id="14343" name="Object 7"/>
          <p:cNvGraphicFramePr>
            <a:graphicFrameLocks noChangeAspect="1"/>
          </p:cNvGraphicFramePr>
          <p:nvPr/>
        </p:nvGraphicFramePr>
        <p:xfrm>
          <a:off x="381000" y="3124200"/>
          <a:ext cx="1470025" cy="365125"/>
        </p:xfrm>
        <a:graphic>
          <a:graphicData uri="http://schemas.openxmlformats.org/presentationml/2006/ole">
            <p:oleObj spid="_x0000_s688132" name="Equation" r:id="rId6" imgW="1384200" imgH="342720" progId="">
              <p:embed/>
            </p:oleObj>
          </a:graphicData>
        </a:graphic>
      </p:graphicFrame>
      <p:graphicFrame>
        <p:nvGraphicFramePr>
          <p:cNvPr id="14344" name="Object 8"/>
          <p:cNvGraphicFramePr>
            <a:graphicFrameLocks noChangeAspect="1"/>
          </p:cNvGraphicFramePr>
          <p:nvPr/>
        </p:nvGraphicFramePr>
        <p:xfrm>
          <a:off x="312738" y="1905000"/>
          <a:ext cx="1530350" cy="368300"/>
        </p:xfrm>
        <a:graphic>
          <a:graphicData uri="http://schemas.openxmlformats.org/presentationml/2006/ole">
            <p:oleObj spid="_x0000_s688133" name="Equation" r:id="rId7" imgW="1422360" imgH="342720" progId="">
              <p:embed/>
            </p:oleObj>
          </a:graphicData>
        </a:graphic>
      </p:graphicFrame>
      <p:graphicFrame>
        <p:nvGraphicFramePr>
          <p:cNvPr id="14345" name="Object 9"/>
          <p:cNvGraphicFramePr>
            <a:graphicFrameLocks noChangeAspect="1"/>
          </p:cNvGraphicFramePr>
          <p:nvPr/>
        </p:nvGraphicFramePr>
        <p:xfrm>
          <a:off x="511175" y="798513"/>
          <a:ext cx="1317625" cy="344487"/>
        </p:xfrm>
        <a:graphic>
          <a:graphicData uri="http://schemas.openxmlformats.org/presentationml/2006/ole">
            <p:oleObj spid="_x0000_s688134" name="Equation" r:id="rId8" imgW="1117600" imgH="292100" progId="">
              <p:embed/>
            </p:oleObj>
          </a:graphicData>
        </a:graphic>
      </p:graphicFrame>
      <p:graphicFrame>
        <p:nvGraphicFramePr>
          <p:cNvPr id="14346" name="Object 10"/>
          <p:cNvGraphicFramePr>
            <a:graphicFrameLocks noChangeAspect="1"/>
          </p:cNvGraphicFramePr>
          <p:nvPr/>
        </p:nvGraphicFramePr>
        <p:xfrm>
          <a:off x="7058025" y="5638800"/>
          <a:ext cx="942975" cy="344488"/>
        </p:xfrm>
        <a:graphic>
          <a:graphicData uri="http://schemas.openxmlformats.org/presentationml/2006/ole">
            <p:oleObj spid="_x0000_s688135" name="Equation" r:id="rId9" imgW="799920" imgH="291960" progId="">
              <p:embed/>
            </p:oleObj>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3"/>
          <p:cNvSpPr>
            <a:spLocks noGrp="1"/>
          </p:cNvSpPr>
          <p:nvPr>
            <p:ph type="sldNum" sz="quarter" idx="12"/>
          </p:nvPr>
        </p:nvSpPr>
        <p:spPr/>
        <p:txBody>
          <a:bodyPr/>
          <a:lstStyle/>
          <a:p>
            <a:fld id="{3B6FC950-6E55-4D9E-BCA3-5D3AB00D8ECB}" type="slidenum">
              <a:rPr lang="en-US"/>
              <a:pPr/>
              <a:t>35</a:t>
            </a:fld>
            <a:endParaRPr lang="en-US"/>
          </a:p>
        </p:txBody>
      </p:sp>
      <p:pic>
        <p:nvPicPr>
          <p:cNvPr id="15362" name="Picture 2" descr="C:\Documents and Settings\Administrator\Desktop\1.5\screw_u\4143_2.jpg"/>
          <p:cNvPicPr>
            <a:picLocks noChangeAspect="1" noChangeArrowheads="1"/>
          </p:cNvPicPr>
          <p:nvPr/>
        </p:nvPicPr>
        <p:blipFill>
          <a:blip r:embed="rId3" cstate="print"/>
          <a:srcRect/>
          <a:stretch>
            <a:fillRect/>
          </a:stretch>
        </p:blipFill>
        <p:spPr bwMode="auto">
          <a:xfrm>
            <a:off x="2006600" y="87313"/>
            <a:ext cx="5129213" cy="6681787"/>
          </a:xfrm>
          <a:prstGeom prst="rect">
            <a:avLst/>
          </a:prstGeom>
          <a:noFill/>
        </p:spPr>
      </p:pic>
      <p:sp>
        <p:nvSpPr>
          <p:cNvPr id="15363" name="AutoShape 3"/>
          <p:cNvSpPr>
            <a:spLocks noChangeArrowheads="1"/>
          </p:cNvSpPr>
          <p:nvPr/>
        </p:nvSpPr>
        <p:spPr bwMode="auto">
          <a:xfrm>
            <a:off x="11430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15364" name="AutoShape 4"/>
          <p:cNvSpPr>
            <a:spLocks noChangeArrowheads="1"/>
          </p:cNvSpPr>
          <p:nvPr/>
        </p:nvSpPr>
        <p:spPr bwMode="auto">
          <a:xfrm flipH="1">
            <a:off x="67056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aphicFrame>
        <p:nvGraphicFramePr>
          <p:cNvPr id="15365" name="Object 5"/>
          <p:cNvGraphicFramePr>
            <a:graphicFrameLocks noChangeAspect="1"/>
          </p:cNvGraphicFramePr>
          <p:nvPr/>
        </p:nvGraphicFramePr>
        <p:xfrm>
          <a:off x="7058025" y="5638800"/>
          <a:ext cx="942975" cy="344488"/>
        </p:xfrm>
        <a:graphic>
          <a:graphicData uri="http://schemas.openxmlformats.org/presentationml/2006/ole">
            <p:oleObj spid="_x0000_s689154" name="Equation" r:id="rId4" imgW="799920" imgH="291960" progId="">
              <p:embed/>
            </p:oleObj>
          </a:graphicData>
        </a:graphic>
      </p:graphicFrame>
      <p:graphicFrame>
        <p:nvGraphicFramePr>
          <p:cNvPr id="15367" name="Object 7"/>
          <p:cNvGraphicFramePr>
            <a:graphicFrameLocks noChangeAspect="1"/>
          </p:cNvGraphicFramePr>
          <p:nvPr/>
        </p:nvGraphicFramePr>
        <p:xfrm>
          <a:off x="838200" y="5638800"/>
          <a:ext cx="942975" cy="344488"/>
        </p:xfrm>
        <a:graphic>
          <a:graphicData uri="http://schemas.openxmlformats.org/presentationml/2006/ole">
            <p:oleObj spid="_x0000_s689155" name="Equation" r:id="rId5" imgW="799920" imgH="291960" progId="">
              <p:embed/>
            </p:oleObj>
          </a:graphicData>
        </a:graphic>
      </p:graphicFrame>
      <p:graphicFrame>
        <p:nvGraphicFramePr>
          <p:cNvPr id="15368" name="Object 8"/>
          <p:cNvGraphicFramePr>
            <a:graphicFrameLocks noChangeAspect="1"/>
          </p:cNvGraphicFramePr>
          <p:nvPr/>
        </p:nvGraphicFramePr>
        <p:xfrm>
          <a:off x="381000" y="4191000"/>
          <a:ext cx="1481138" cy="365125"/>
        </p:xfrm>
        <a:graphic>
          <a:graphicData uri="http://schemas.openxmlformats.org/presentationml/2006/ole">
            <p:oleObj spid="_x0000_s689156" name="Equation" r:id="rId6" imgW="1384200" imgH="342720" progId="">
              <p:embed/>
            </p:oleObj>
          </a:graphicData>
        </a:graphic>
      </p:graphicFrame>
      <p:graphicFrame>
        <p:nvGraphicFramePr>
          <p:cNvPr id="15369" name="Object 9"/>
          <p:cNvGraphicFramePr>
            <a:graphicFrameLocks noChangeAspect="1"/>
          </p:cNvGraphicFramePr>
          <p:nvPr/>
        </p:nvGraphicFramePr>
        <p:xfrm>
          <a:off x="381000" y="3124200"/>
          <a:ext cx="1470025" cy="365125"/>
        </p:xfrm>
        <a:graphic>
          <a:graphicData uri="http://schemas.openxmlformats.org/presentationml/2006/ole">
            <p:oleObj spid="_x0000_s689157" name="Equation" r:id="rId7" imgW="1384200" imgH="342720" progId="">
              <p:embed/>
            </p:oleObj>
          </a:graphicData>
        </a:graphic>
      </p:graphicFrame>
      <p:graphicFrame>
        <p:nvGraphicFramePr>
          <p:cNvPr id="15370" name="Object 10"/>
          <p:cNvGraphicFramePr>
            <a:graphicFrameLocks noChangeAspect="1"/>
          </p:cNvGraphicFramePr>
          <p:nvPr/>
        </p:nvGraphicFramePr>
        <p:xfrm>
          <a:off x="312738" y="1905000"/>
          <a:ext cx="1530350" cy="368300"/>
        </p:xfrm>
        <a:graphic>
          <a:graphicData uri="http://schemas.openxmlformats.org/presentationml/2006/ole">
            <p:oleObj spid="_x0000_s689158" name="Equation" r:id="rId8" imgW="1422360" imgH="342720" progId="">
              <p:embed/>
            </p:oleObj>
          </a:graphicData>
        </a:graphic>
      </p:graphicFrame>
      <p:graphicFrame>
        <p:nvGraphicFramePr>
          <p:cNvPr id="15371" name="Object 11"/>
          <p:cNvGraphicFramePr>
            <a:graphicFrameLocks noChangeAspect="1"/>
          </p:cNvGraphicFramePr>
          <p:nvPr/>
        </p:nvGraphicFramePr>
        <p:xfrm>
          <a:off x="511175" y="798513"/>
          <a:ext cx="1317625" cy="344487"/>
        </p:xfrm>
        <a:graphic>
          <a:graphicData uri="http://schemas.openxmlformats.org/presentationml/2006/ole">
            <p:oleObj spid="_x0000_s689159" name="Equation" r:id="rId9" imgW="1117600" imgH="292100" progId="">
              <p:embed/>
            </p:oleObj>
          </a:graphicData>
        </a:graphic>
      </p:graphicFrame>
      <p:graphicFrame>
        <p:nvGraphicFramePr>
          <p:cNvPr id="15373" name="Object 13"/>
          <p:cNvGraphicFramePr>
            <a:graphicFrameLocks noChangeAspect="1"/>
          </p:cNvGraphicFramePr>
          <p:nvPr/>
        </p:nvGraphicFramePr>
        <p:xfrm>
          <a:off x="7016750" y="4356100"/>
          <a:ext cx="1503363" cy="368300"/>
        </p:xfrm>
        <a:graphic>
          <a:graphicData uri="http://schemas.openxmlformats.org/presentationml/2006/ole">
            <p:oleObj spid="_x0000_s689160" name="Equation" r:id="rId10" imgW="1396394" imgH="342751" progId="">
              <p:embed/>
            </p:oleObj>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p:cNvSpPr>
            <a:spLocks noGrp="1"/>
          </p:cNvSpPr>
          <p:nvPr>
            <p:ph type="sldNum" sz="quarter" idx="12"/>
          </p:nvPr>
        </p:nvSpPr>
        <p:spPr/>
        <p:txBody>
          <a:bodyPr/>
          <a:lstStyle/>
          <a:p>
            <a:fld id="{18A1D1A1-3B56-4976-B24F-EA0BB2568675}" type="slidenum">
              <a:rPr lang="en-US"/>
              <a:pPr/>
              <a:t>36</a:t>
            </a:fld>
            <a:endParaRPr lang="en-US"/>
          </a:p>
        </p:txBody>
      </p:sp>
      <p:pic>
        <p:nvPicPr>
          <p:cNvPr id="16386" name="Picture 2" descr="C:\Documents and Settings\Administrator\Desktop\1.5\screw_u\4143_3.jpg"/>
          <p:cNvPicPr>
            <a:picLocks noChangeAspect="1" noChangeArrowheads="1"/>
          </p:cNvPicPr>
          <p:nvPr/>
        </p:nvPicPr>
        <p:blipFill>
          <a:blip r:embed="rId3" cstate="print"/>
          <a:srcRect/>
          <a:stretch>
            <a:fillRect/>
          </a:stretch>
        </p:blipFill>
        <p:spPr bwMode="auto">
          <a:xfrm>
            <a:off x="2006600" y="87313"/>
            <a:ext cx="5129213" cy="6681787"/>
          </a:xfrm>
          <a:prstGeom prst="rect">
            <a:avLst/>
          </a:prstGeom>
          <a:noFill/>
        </p:spPr>
      </p:pic>
      <p:sp>
        <p:nvSpPr>
          <p:cNvPr id="16387" name="AutoShape 3"/>
          <p:cNvSpPr>
            <a:spLocks noChangeArrowheads="1"/>
          </p:cNvSpPr>
          <p:nvPr/>
        </p:nvSpPr>
        <p:spPr bwMode="auto">
          <a:xfrm>
            <a:off x="11430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16388" name="AutoShape 4"/>
          <p:cNvSpPr>
            <a:spLocks noChangeArrowheads="1"/>
          </p:cNvSpPr>
          <p:nvPr/>
        </p:nvSpPr>
        <p:spPr bwMode="auto">
          <a:xfrm flipH="1">
            <a:off x="67056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aphicFrame>
        <p:nvGraphicFramePr>
          <p:cNvPr id="16389" name="Object 5"/>
          <p:cNvGraphicFramePr>
            <a:graphicFrameLocks noChangeAspect="1"/>
          </p:cNvGraphicFramePr>
          <p:nvPr/>
        </p:nvGraphicFramePr>
        <p:xfrm>
          <a:off x="838200" y="5638800"/>
          <a:ext cx="942975" cy="344488"/>
        </p:xfrm>
        <a:graphic>
          <a:graphicData uri="http://schemas.openxmlformats.org/presentationml/2006/ole">
            <p:oleObj spid="_x0000_s690178" name="Equation" r:id="rId4" imgW="799920" imgH="291960" progId="">
              <p:embed/>
            </p:oleObj>
          </a:graphicData>
        </a:graphic>
      </p:graphicFrame>
      <p:graphicFrame>
        <p:nvGraphicFramePr>
          <p:cNvPr id="16390" name="Object 6"/>
          <p:cNvGraphicFramePr>
            <a:graphicFrameLocks noChangeAspect="1"/>
          </p:cNvGraphicFramePr>
          <p:nvPr/>
        </p:nvGraphicFramePr>
        <p:xfrm>
          <a:off x="381000" y="4191000"/>
          <a:ext cx="1481138" cy="365125"/>
        </p:xfrm>
        <a:graphic>
          <a:graphicData uri="http://schemas.openxmlformats.org/presentationml/2006/ole">
            <p:oleObj spid="_x0000_s690179" name="Equation" r:id="rId5" imgW="1384200" imgH="342720" progId="">
              <p:embed/>
            </p:oleObj>
          </a:graphicData>
        </a:graphic>
      </p:graphicFrame>
      <p:graphicFrame>
        <p:nvGraphicFramePr>
          <p:cNvPr id="16391" name="Object 7"/>
          <p:cNvGraphicFramePr>
            <a:graphicFrameLocks noChangeAspect="1"/>
          </p:cNvGraphicFramePr>
          <p:nvPr/>
        </p:nvGraphicFramePr>
        <p:xfrm>
          <a:off x="381000" y="3124200"/>
          <a:ext cx="1470025" cy="365125"/>
        </p:xfrm>
        <a:graphic>
          <a:graphicData uri="http://schemas.openxmlformats.org/presentationml/2006/ole">
            <p:oleObj spid="_x0000_s690180" name="Equation" r:id="rId6" imgW="1384200" imgH="342720" progId="">
              <p:embed/>
            </p:oleObj>
          </a:graphicData>
        </a:graphic>
      </p:graphicFrame>
      <p:graphicFrame>
        <p:nvGraphicFramePr>
          <p:cNvPr id="16392" name="Object 8"/>
          <p:cNvGraphicFramePr>
            <a:graphicFrameLocks noChangeAspect="1"/>
          </p:cNvGraphicFramePr>
          <p:nvPr/>
        </p:nvGraphicFramePr>
        <p:xfrm>
          <a:off x="312738" y="1905000"/>
          <a:ext cx="1530350" cy="368300"/>
        </p:xfrm>
        <a:graphic>
          <a:graphicData uri="http://schemas.openxmlformats.org/presentationml/2006/ole">
            <p:oleObj spid="_x0000_s690181" name="Equation" r:id="rId7" imgW="1422360" imgH="342720" progId="">
              <p:embed/>
            </p:oleObj>
          </a:graphicData>
        </a:graphic>
      </p:graphicFrame>
      <p:graphicFrame>
        <p:nvGraphicFramePr>
          <p:cNvPr id="16393" name="Object 9"/>
          <p:cNvGraphicFramePr>
            <a:graphicFrameLocks noChangeAspect="1"/>
          </p:cNvGraphicFramePr>
          <p:nvPr/>
        </p:nvGraphicFramePr>
        <p:xfrm>
          <a:off x="511175" y="798513"/>
          <a:ext cx="1317625" cy="344487"/>
        </p:xfrm>
        <a:graphic>
          <a:graphicData uri="http://schemas.openxmlformats.org/presentationml/2006/ole">
            <p:oleObj spid="_x0000_s690182" name="Equation" r:id="rId8" imgW="1117600" imgH="292100" progId="">
              <p:embed/>
            </p:oleObj>
          </a:graphicData>
        </a:graphic>
      </p:graphicFrame>
      <p:graphicFrame>
        <p:nvGraphicFramePr>
          <p:cNvPr id="16394" name="Object 10"/>
          <p:cNvGraphicFramePr>
            <a:graphicFrameLocks noChangeAspect="1"/>
          </p:cNvGraphicFramePr>
          <p:nvPr/>
        </p:nvGraphicFramePr>
        <p:xfrm>
          <a:off x="7016750" y="4356100"/>
          <a:ext cx="1503363" cy="368300"/>
        </p:xfrm>
        <a:graphic>
          <a:graphicData uri="http://schemas.openxmlformats.org/presentationml/2006/ole">
            <p:oleObj spid="_x0000_s690183" name="Equation" r:id="rId9" imgW="1396394" imgH="342751" progId="">
              <p:embed/>
            </p:oleObj>
          </a:graphicData>
        </a:graphic>
      </p:graphicFrame>
      <p:graphicFrame>
        <p:nvGraphicFramePr>
          <p:cNvPr id="16395" name="Object 11"/>
          <p:cNvGraphicFramePr>
            <a:graphicFrameLocks noChangeAspect="1"/>
          </p:cNvGraphicFramePr>
          <p:nvPr/>
        </p:nvGraphicFramePr>
        <p:xfrm>
          <a:off x="7058025" y="5638800"/>
          <a:ext cx="942975" cy="344488"/>
        </p:xfrm>
        <a:graphic>
          <a:graphicData uri="http://schemas.openxmlformats.org/presentationml/2006/ole">
            <p:oleObj spid="_x0000_s690184" name="Equation" r:id="rId10" imgW="799920" imgH="291960" progId="">
              <p:embed/>
            </p:oleObj>
          </a:graphicData>
        </a:graphic>
      </p:graphicFrame>
      <p:graphicFrame>
        <p:nvGraphicFramePr>
          <p:cNvPr id="16396" name="Object 12"/>
          <p:cNvGraphicFramePr>
            <a:graphicFrameLocks noChangeAspect="1"/>
          </p:cNvGraphicFramePr>
          <p:nvPr/>
        </p:nvGraphicFramePr>
        <p:xfrm>
          <a:off x="6988175" y="3124200"/>
          <a:ext cx="1470025" cy="365125"/>
        </p:xfrm>
        <a:graphic>
          <a:graphicData uri="http://schemas.openxmlformats.org/presentationml/2006/ole">
            <p:oleObj spid="_x0000_s690185" name="Equation" r:id="rId11" imgW="1384200" imgH="342720" progId="">
              <p:embed/>
            </p:oleObj>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3"/>
          <p:cNvSpPr>
            <a:spLocks noGrp="1"/>
          </p:cNvSpPr>
          <p:nvPr>
            <p:ph type="sldNum" sz="quarter" idx="12"/>
          </p:nvPr>
        </p:nvSpPr>
        <p:spPr/>
        <p:txBody>
          <a:bodyPr/>
          <a:lstStyle/>
          <a:p>
            <a:fld id="{B24C144B-B6B0-4E24-B64F-2699BA3640B5}" type="slidenum">
              <a:rPr lang="en-US"/>
              <a:pPr/>
              <a:t>37</a:t>
            </a:fld>
            <a:endParaRPr lang="en-US"/>
          </a:p>
        </p:txBody>
      </p:sp>
      <p:pic>
        <p:nvPicPr>
          <p:cNvPr id="17410" name="Picture 2" descr="C:\Documents and Settings\Administrator\Desktop\1.5\screw_u\4143_4.jpg"/>
          <p:cNvPicPr>
            <a:picLocks noChangeAspect="1" noChangeArrowheads="1"/>
          </p:cNvPicPr>
          <p:nvPr/>
        </p:nvPicPr>
        <p:blipFill>
          <a:blip r:embed="rId3" cstate="print"/>
          <a:srcRect/>
          <a:stretch>
            <a:fillRect/>
          </a:stretch>
        </p:blipFill>
        <p:spPr bwMode="auto">
          <a:xfrm>
            <a:off x="2006600" y="87313"/>
            <a:ext cx="5129213" cy="6681787"/>
          </a:xfrm>
          <a:prstGeom prst="rect">
            <a:avLst/>
          </a:prstGeom>
          <a:noFill/>
        </p:spPr>
      </p:pic>
      <p:sp>
        <p:nvSpPr>
          <p:cNvPr id="17411" name="AutoShape 3"/>
          <p:cNvSpPr>
            <a:spLocks noChangeArrowheads="1"/>
          </p:cNvSpPr>
          <p:nvPr/>
        </p:nvSpPr>
        <p:spPr bwMode="auto">
          <a:xfrm>
            <a:off x="11430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17412" name="AutoShape 4"/>
          <p:cNvSpPr>
            <a:spLocks noChangeArrowheads="1"/>
          </p:cNvSpPr>
          <p:nvPr/>
        </p:nvSpPr>
        <p:spPr bwMode="auto">
          <a:xfrm flipH="1">
            <a:off x="67056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aphicFrame>
        <p:nvGraphicFramePr>
          <p:cNvPr id="17413" name="Object 5"/>
          <p:cNvGraphicFramePr>
            <a:graphicFrameLocks noChangeAspect="1"/>
          </p:cNvGraphicFramePr>
          <p:nvPr/>
        </p:nvGraphicFramePr>
        <p:xfrm>
          <a:off x="838200" y="5638800"/>
          <a:ext cx="942975" cy="344488"/>
        </p:xfrm>
        <a:graphic>
          <a:graphicData uri="http://schemas.openxmlformats.org/presentationml/2006/ole">
            <p:oleObj spid="_x0000_s691202" name="Equation" r:id="rId4" imgW="799920" imgH="291960" progId="">
              <p:embed/>
            </p:oleObj>
          </a:graphicData>
        </a:graphic>
      </p:graphicFrame>
      <p:graphicFrame>
        <p:nvGraphicFramePr>
          <p:cNvPr id="17414" name="Object 6"/>
          <p:cNvGraphicFramePr>
            <a:graphicFrameLocks noChangeAspect="1"/>
          </p:cNvGraphicFramePr>
          <p:nvPr/>
        </p:nvGraphicFramePr>
        <p:xfrm>
          <a:off x="381000" y="4191000"/>
          <a:ext cx="1481138" cy="365125"/>
        </p:xfrm>
        <a:graphic>
          <a:graphicData uri="http://schemas.openxmlformats.org/presentationml/2006/ole">
            <p:oleObj spid="_x0000_s691203" name="Equation" r:id="rId5" imgW="1384200" imgH="342720" progId="">
              <p:embed/>
            </p:oleObj>
          </a:graphicData>
        </a:graphic>
      </p:graphicFrame>
      <p:graphicFrame>
        <p:nvGraphicFramePr>
          <p:cNvPr id="17415" name="Object 7"/>
          <p:cNvGraphicFramePr>
            <a:graphicFrameLocks noChangeAspect="1"/>
          </p:cNvGraphicFramePr>
          <p:nvPr/>
        </p:nvGraphicFramePr>
        <p:xfrm>
          <a:off x="381000" y="3124200"/>
          <a:ext cx="1470025" cy="365125"/>
        </p:xfrm>
        <a:graphic>
          <a:graphicData uri="http://schemas.openxmlformats.org/presentationml/2006/ole">
            <p:oleObj spid="_x0000_s691204" name="Equation" r:id="rId6" imgW="1384200" imgH="342720" progId="">
              <p:embed/>
            </p:oleObj>
          </a:graphicData>
        </a:graphic>
      </p:graphicFrame>
      <p:graphicFrame>
        <p:nvGraphicFramePr>
          <p:cNvPr id="17416" name="Object 8"/>
          <p:cNvGraphicFramePr>
            <a:graphicFrameLocks noChangeAspect="1"/>
          </p:cNvGraphicFramePr>
          <p:nvPr/>
        </p:nvGraphicFramePr>
        <p:xfrm>
          <a:off x="312738" y="1905000"/>
          <a:ext cx="1530350" cy="368300"/>
        </p:xfrm>
        <a:graphic>
          <a:graphicData uri="http://schemas.openxmlformats.org/presentationml/2006/ole">
            <p:oleObj spid="_x0000_s691205" name="Equation" r:id="rId7" imgW="1422360" imgH="342720" progId="">
              <p:embed/>
            </p:oleObj>
          </a:graphicData>
        </a:graphic>
      </p:graphicFrame>
      <p:graphicFrame>
        <p:nvGraphicFramePr>
          <p:cNvPr id="17417" name="Object 9"/>
          <p:cNvGraphicFramePr>
            <a:graphicFrameLocks noChangeAspect="1"/>
          </p:cNvGraphicFramePr>
          <p:nvPr/>
        </p:nvGraphicFramePr>
        <p:xfrm>
          <a:off x="511175" y="798513"/>
          <a:ext cx="1317625" cy="344487"/>
        </p:xfrm>
        <a:graphic>
          <a:graphicData uri="http://schemas.openxmlformats.org/presentationml/2006/ole">
            <p:oleObj spid="_x0000_s691206" name="Equation" r:id="rId8" imgW="1117600" imgH="292100" progId="">
              <p:embed/>
            </p:oleObj>
          </a:graphicData>
        </a:graphic>
      </p:graphicFrame>
      <p:graphicFrame>
        <p:nvGraphicFramePr>
          <p:cNvPr id="17418" name="Object 10"/>
          <p:cNvGraphicFramePr>
            <a:graphicFrameLocks noChangeAspect="1"/>
          </p:cNvGraphicFramePr>
          <p:nvPr/>
        </p:nvGraphicFramePr>
        <p:xfrm>
          <a:off x="7016750" y="4356100"/>
          <a:ext cx="1503363" cy="368300"/>
        </p:xfrm>
        <a:graphic>
          <a:graphicData uri="http://schemas.openxmlformats.org/presentationml/2006/ole">
            <p:oleObj spid="_x0000_s691207" name="Equation" r:id="rId9" imgW="1396394" imgH="342751" progId="">
              <p:embed/>
            </p:oleObj>
          </a:graphicData>
        </a:graphic>
      </p:graphicFrame>
      <p:graphicFrame>
        <p:nvGraphicFramePr>
          <p:cNvPr id="17419" name="Object 11"/>
          <p:cNvGraphicFramePr>
            <a:graphicFrameLocks noChangeAspect="1"/>
          </p:cNvGraphicFramePr>
          <p:nvPr/>
        </p:nvGraphicFramePr>
        <p:xfrm>
          <a:off x="7058025" y="5638800"/>
          <a:ext cx="942975" cy="344488"/>
        </p:xfrm>
        <a:graphic>
          <a:graphicData uri="http://schemas.openxmlformats.org/presentationml/2006/ole">
            <p:oleObj spid="_x0000_s691208" name="Equation" r:id="rId10" imgW="799920" imgH="291960" progId="">
              <p:embed/>
            </p:oleObj>
          </a:graphicData>
        </a:graphic>
      </p:graphicFrame>
      <p:graphicFrame>
        <p:nvGraphicFramePr>
          <p:cNvPr id="17420" name="Object 12"/>
          <p:cNvGraphicFramePr>
            <a:graphicFrameLocks noChangeAspect="1"/>
          </p:cNvGraphicFramePr>
          <p:nvPr/>
        </p:nvGraphicFramePr>
        <p:xfrm>
          <a:off x="6988175" y="3124200"/>
          <a:ext cx="1470025" cy="365125"/>
        </p:xfrm>
        <a:graphic>
          <a:graphicData uri="http://schemas.openxmlformats.org/presentationml/2006/ole">
            <p:oleObj spid="_x0000_s691209" name="Equation" r:id="rId11" imgW="1384200" imgH="342720" progId="">
              <p:embed/>
            </p:oleObj>
          </a:graphicData>
        </a:graphic>
      </p:graphicFrame>
      <p:graphicFrame>
        <p:nvGraphicFramePr>
          <p:cNvPr id="17421" name="Object 13"/>
          <p:cNvGraphicFramePr>
            <a:graphicFrameLocks noChangeAspect="1"/>
          </p:cNvGraphicFramePr>
          <p:nvPr/>
        </p:nvGraphicFramePr>
        <p:xfrm>
          <a:off x="6964363" y="1752600"/>
          <a:ext cx="1508125" cy="365125"/>
        </p:xfrm>
        <a:graphic>
          <a:graphicData uri="http://schemas.openxmlformats.org/presentationml/2006/ole">
            <p:oleObj spid="_x0000_s691210" name="Equation" r:id="rId12" imgW="1409088" imgH="342751" progId="">
              <p:embed/>
            </p:oleObj>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p:cNvSpPr>
            <a:spLocks noGrp="1"/>
          </p:cNvSpPr>
          <p:nvPr>
            <p:ph type="sldNum" sz="quarter" idx="12"/>
          </p:nvPr>
        </p:nvSpPr>
        <p:spPr/>
        <p:txBody>
          <a:bodyPr/>
          <a:lstStyle/>
          <a:p>
            <a:fld id="{40B46506-52ED-4FB5-9C34-415520105ACB}" type="slidenum">
              <a:rPr lang="en-US"/>
              <a:pPr/>
              <a:t>38</a:t>
            </a:fld>
            <a:endParaRPr lang="en-US"/>
          </a:p>
        </p:txBody>
      </p:sp>
      <p:pic>
        <p:nvPicPr>
          <p:cNvPr id="18434" name="Picture 2" descr="C:\Documents and Settings\Administrator\Desktop\1.5\screw_u\4143v2.jpg"/>
          <p:cNvPicPr>
            <a:picLocks noChangeAspect="1" noChangeArrowheads="1"/>
          </p:cNvPicPr>
          <p:nvPr/>
        </p:nvPicPr>
        <p:blipFill>
          <a:blip r:embed="rId3" cstate="print"/>
          <a:srcRect/>
          <a:stretch>
            <a:fillRect/>
          </a:stretch>
        </p:blipFill>
        <p:spPr bwMode="auto">
          <a:xfrm>
            <a:off x="2006600" y="87313"/>
            <a:ext cx="5129213" cy="6681787"/>
          </a:xfrm>
          <a:prstGeom prst="rect">
            <a:avLst/>
          </a:prstGeom>
          <a:noFill/>
        </p:spPr>
      </p:pic>
      <p:sp>
        <p:nvSpPr>
          <p:cNvPr id="18435" name="AutoShape 3"/>
          <p:cNvSpPr>
            <a:spLocks noChangeArrowheads="1"/>
          </p:cNvSpPr>
          <p:nvPr/>
        </p:nvSpPr>
        <p:spPr bwMode="auto">
          <a:xfrm>
            <a:off x="11430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18436" name="AutoShape 4"/>
          <p:cNvSpPr>
            <a:spLocks noChangeArrowheads="1"/>
          </p:cNvSpPr>
          <p:nvPr/>
        </p:nvSpPr>
        <p:spPr bwMode="auto">
          <a:xfrm flipH="1">
            <a:off x="6705600" y="2286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graphicFrame>
        <p:nvGraphicFramePr>
          <p:cNvPr id="18437" name="Object 5"/>
          <p:cNvGraphicFramePr>
            <a:graphicFrameLocks noChangeAspect="1"/>
          </p:cNvGraphicFramePr>
          <p:nvPr/>
        </p:nvGraphicFramePr>
        <p:xfrm>
          <a:off x="838200" y="5638800"/>
          <a:ext cx="942975" cy="344488"/>
        </p:xfrm>
        <a:graphic>
          <a:graphicData uri="http://schemas.openxmlformats.org/presentationml/2006/ole">
            <p:oleObj spid="_x0000_s692226" name="Equation" r:id="rId4" imgW="799920" imgH="291960" progId="">
              <p:embed/>
            </p:oleObj>
          </a:graphicData>
        </a:graphic>
      </p:graphicFrame>
      <p:graphicFrame>
        <p:nvGraphicFramePr>
          <p:cNvPr id="18438" name="Object 6"/>
          <p:cNvGraphicFramePr>
            <a:graphicFrameLocks noChangeAspect="1"/>
          </p:cNvGraphicFramePr>
          <p:nvPr/>
        </p:nvGraphicFramePr>
        <p:xfrm>
          <a:off x="381000" y="4191000"/>
          <a:ext cx="1481138" cy="365125"/>
        </p:xfrm>
        <a:graphic>
          <a:graphicData uri="http://schemas.openxmlformats.org/presentationml/2006/ole">
            <p:oleObj spid="_x0000_s692227" name="Equation" r:id="rId5" imgW="1384200" imgH="342720" progId="">
              <p:embed/>
            </p:oleObj>
          </a:graphicData>
        </a:graphic>
      </p:graphicFrame>
      <p:graphicFrame>
        <p:nvGraphicFramePr>
          <p:cNvPr id="18439" name="Object 7"/>
          <p:cNvGraphicFramePr>
            <a:graphicFrameLocks noChangeAspect="1"/>
          </p:cNvGraphicFramePr>
          <p:nvPr/>
        </p:nvGraphicFramePr>
        <p:xfrm>
          <a:off x="381000" y="3124200"/>
          <a:ext cx="1470025" cy="365125"/>
        </p:xfrm>
        <a:graphic>
          <a:graphicData uri="http://schemas.openxmlformats.org/presentationml/2006/ole">
            <p:oleObj spid="_x0000_s692228" name="Equation" r:id="rId6" imgW="1384200" imgH="342720" progId="">
              <p:embed/>
            </p:oleObj>
          </a:graphicData>
        </a:graphic>
      </p:graphicFrame>
      <p:graphicFrame>
        <p:nvGraphicFramePr>
          <p:cNvPr id="18440" name="Object 8"/>
          <p:cNvGraphicFramePr>
            <a:graphicFrameLocks noChangeAspect="1"/>
          </p:cNvGraphicFramePr>
          <p:nvPr/>
        </p:nvGraphicFramePr>
        <p:xfrm>
          <a:off x="312738" y="1905000"/>
          <a:ext cx="1530350" cy="368300"/>
        </p:xfrm>
        <a:graphic>
          <a:graphicData uri="http://schemas.openxmlformats.org/presentationml/2006/ole">
            <p:oleObj spid="_x0000_s692229" name="Equation" r:id="rId7" imgW="1422360" imgH="342720" progId="">
              <p:embed/>
            </p:oleObj>
          </a:graphicData>
        </a:graphic>
      </p:graphicFrame>
      <p:graphicFrame>
        <p:nvGraphicFramePr>
          <p:cNvPr id="18441" name="Object 9"/>
          <p:cNvGraphicFramePr>
            <a:graphicFrameLocks noChangeAspect="1"/>
          </p:cNvGraphicFramePr>
          <p:nvPr/>
        </p:nvGraphicFramePr>
        <p:xfrm>
          <a:off x="511175" y="798513"/>
          <a:ext cx="1317625" cy="344487"/>
        </p:xfrm>
        <a:graphic>
          <a:graphicData uri="http://schemas.openxmlformats.org/presentationml/2006/ole">
            <p:oleObj spid="_x0000_s692230" name="Equation" r:id="rId8" imgW="1117600" imgH="292100" progId="">
              <p:embed/>
            </p:oleObj>
          </a:graphicData>
        </a:graphic>
      </p:graphicFrame>
      <p:graphicFrame>
        <p:nvGraphicFramePr>
          <p:cNvPr id="18442" name="Object 10"/>
          <p:cNvGraphicFramePr>
            <a:graphicFrameLocks noChangeAspect="1"/>
          </p:cNvGraphicFramePr>
          <p:nvPr/>
        </p:nvGraphicFramePr>
        <p:xfrm>
          <a:off x="7016750" y="4356100"/>
          <a:ext cx="1503363" cy="368300"/>
        </p:xfrm>
        <a:graphic>
          <a:graphicData uri="http://schemas.openxmlformats.org/presentationml/2006/ole">
            <p:oleObj spid="_x0000_s692231" name="Equation" r:id="rId9" imgW="1396394" imgH="342751" progId="">
              <p:embed/>
            </p:oleObj>
          </a:graphicData>
        </a:graphic>
      </p:graphicFrame>
      <p:graphicFrame>
        <p:nvGraphicFramePr>
          <p:cNvPr id="18443" name="Object 11"/>
          <p:cNvGraphicFramePr>
            <a:graphicFrameLocks noChangeAspect="1"/>
          </p:cNvGraphicFramePr>
          <p:nvPr/>
        </p:nvGraphicFramePr>
        <p:xfrm>
          <a:off x="7058025" y="5638800"/>
          <a:ext cx="942975" cy="344488"/>
        </p:xfrm>
        <a:graphic>
          <a:graphicData uri="http://schemas.openxmlformats.org/presentationml/2006/ole">
            <p:oleObj spid="_x0000_s692232" name="Equation" r:id="rId10" imgW="799920" imgH="291960" progId="">
              <p:embed/>
            </p:oleObj>
          </a:graphicData>
        </a:graphic>
      </p:graphicFrame>
      <p:graphicFrame>
        <p:nvGraphicFramePr>
          <p:cNvPr id="18444" name="Object 12"/>
          <p:cNvGraphicFramePr>
            <a:graphicFrameLocks noChangeAspect="1"/>
          </p:cNvGraphicFramePr>
          <p:nvPr/>
        </p:nvGraphicFramePr>
        <p:xfrm>
          <a:off x="6988175" y="3124200"/>
          <a:ext cx="1470025" cy="365125"/>
        </p:xfrm>
        <a:graphic>
          <a:graphicData uri="http://schemas.openxmlformats.org/presentationml/2006/ole">
            <p:oleObj spid="_x0000_s692233" name="Equation" r:id="rId11" imgW="1384200" imgH="342720" progId="">
              <p:embed/>
            </p:oleObj>
          </a:graphicData>
        </a:graphic>
      </p:graphicFrame>
      <p:graphicFrame>
        <p:nvGraphicFramePr>
          <p:cNvPr id="18445" name="Object 13"/>
          <p:cNvGraphicFramePr>
            <a:graphicFrameLocks noChangeAspect="1"/>
          </p:cNvGraphicFramePr>
          <p:nvPr/>
        </p:nvGraphicFramePr>
        <p:xfrm>
          <a:off x="6964363" y="1752600"/>
          <a:ext cx="1508125" cy="365125"/>
        </p:xfrm>
        <a:graphic>
          <a:graphicData uri="http://schemas.openxmlformats.org/presentationml/2006/ole">
            <p:oleObj spid="_x0000_s692234" name="Equation" r:id="rId12" imgW="1409088" imgH="342751" progId="">
              <p:embed/>
            </p:oleObj>
          </a:graphicData>
        </a:graphic>
      </p:graphicFrame>
      <p:graphicFrame>
        <p:nvGraphicFramePr>
          <p:cNvPr id="18446" name="Object 14"/>
          <p:cNvGraphicFramePr>
            <a:graphicFrameLocks noChangeAspect="1"/>
          </p:cNvGraphicFramePr>
          <p:nvPr/>
        </p:nvGraphicFramePr>
        <p:xfrm>
          <a:off x="6934200" y="762000"/>
          <a:ext cx="1317625" cy="344488"/>
        </p:xfrm>
        <a:graphic>
          <a:graphicData uri="http://schemas.openxmlformats.org/presentationml/2006/ole">
            <p:oleObj spid="_x0000_s692235" name="Equation" r:id="rId13" imgW="1117600" imgH="292100" progId="">
              <p:embed/>
            </p:oleObj>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8163F465-D849-4131-90C7-02012DCF11C3}" type="slidenum">
              <a:rPr lang="en-US"/>
              <a:pPr/>
              <a:t>39</a:t>
            </a:fld>
            <a:endParaRPr lang="en-US"/>
          </a:p>
        </p:txBody>
      </p:sp>
      <p:sp>
        <p:nvSpPr>
          <p:cNvPr id="49154" name="Text Box 2"/>
          <p:cNvSpPr txBox="1">
            <a:spLocks noChangeArrowheads="1"/>
          </p:cNvSpPr>
          <p:nvPr/>
        </p:nvSpPr>
        <p:spPr bwMode="auto">
          <a:xfrm>
            <a:off x="441325" y="1717675"/>
            <a:ext cx="8321675" cy="3013075"/>
          </a:xfrm>
          <a:prstGeom prst="rect">
            <a:avLst/>
          </a:prstGeom>
          <a:noFill/>
          <a:ln w="9525">
            <a:noFill/>
            <a:miter lim="800000"/>
            <a:headEnd/>
            <a:tailEnd/>
          </a:ln>
          <a:effectLst/>
        </p:spPr>
        <p:txBody>
          <a:bodyPr>
            <a:spAutoFit/>
          </a:bodyPr>
          <a:lstStyle/>
          <a:p>
            <a:pPr algn="just"/>
            <a:r>
              <a:rPr lang="en-US">
                <a:latin typeface="Arial" pitchFamily="34" charset="0"/>
              </a:rPr>
              <a:t>So….we've just seen how the </a:t>
            </a:r>
            <a:r>
              <a:rPr lang="en-US">
                <a:solidFill>
                  <a:srgbClr val="FF0066"/>
                </a:solidFill>
                <a:latin typeface="Arial" pitchFamily="34" charset="0"/>
              </a:rPr>
              <a:t>4</a:t>
            </a:r>
            <a:r>
              <a:rPr lang="en-US" baseline="-25000">
                <a:solidFill>
                  <a:srgbClr val="FF0066"/>
                </a:solidFill>
                <a:latin typeface="Arial" pitchFamily="34" charset="0"/>
              </a:rPr>
              <a:t>3</a:t>
            </a:r>
            <a:r>
              <a:rPr lang="en-US">
                <a:latin typeface="Arial" pitchFamily="34" charset="0"/>
              </a:rPr>
              <a:t> screw axis may be considered as a "left-handed version", an enantiomorphous version, of the </a:t>
            </a:r>
            <a:r>
              <a:rPr lang="en-US">
                <a:solidFill>
                  <a:srgbClr val="FF0066"/>
                </a:solidFill>
                <a:latin typeface="Arial" pitchFamily="34" charset="0"/>
              </a:rPr>
              <a:t>4</a:t>
            </a:r>
            <a:r>
              <a:rPr lang="en-US" baseline="-25000">
                <a:solidFill>
                  <a:srgbClr val="FF0066"/>
                </a:solidFill>
                <a:latin typeface="Arial" pitchFamily="34" charset="0"/>
              </a:rPr>
              <a:t>1</a:t>
            </a:r>
            <a:r>
              <a:rPr lang="en-US">
                <a:latin typeface="Arial" pitchFamily="34" charset="0"/>
              </a:rPr>
              <a:t> screw axis.  In this case, </a:t>
            </a:r>
            <a:r>
              <a:rPr lang="en-US" i="1">
                <a:solidFill>
                  <a:schemeClr val="accent2"/>
                </a:solidFill>
                <a:latin typeface="Arial" pitchFamily="34" charset="0"/>
              </a:rPr>
              <a:t>both</a:t>
            </a:r>
            <a:r>
              <a:rPr lang="en-US">
                <a:latin typeface="Arial" pitchFamily="34" charset="0"/>
              </a:rPr>
              <a:t> have a </a:t>
            </a:r>
            <a:r>
              <a:rPr lang="en-US" i="1">
                <a:solidFill>
                  <a:srgbClr val="FF0066"/>
                </a:solidFill>
                <a:latin typeface="Arial" pitchFamily="34" charset="0"/>
              </a:rPr>
              <a:t>c</a:t>
            </a:r>
            <a:r>
              <a:rPr lang="en-US">
                <a:solidFill>
                  <a:srgbClr val="FF0066"/>
                </a:solidFill>
                <a:latin typeface="Arial" pitchFamily="34" charset="0"/>
              </a:rPr>
              <a:t>/4</a:t>
            </a:r>
            <a:r>
              <a:rPr lang="en-US">
                <a:latin typeface="Arial" pitchFamily="34" charset="0"/>
              </a:rPr>
              <a:t> translational component.</a:t>
            </a:r>
          </a:p>
          <a:p>
            <a:pPr algn="just"/>
            <a:endParaRPr lang="en-US">
              <a:latin typeface="Arial" pitchFamily="34" charset="0"/>
            </a:endParaRPr>
          </a:p>
          <a:p>
            <a:pPr algn="just"/>
            <a:r>
              <a:rPr lang="en-US">
                <a:latin typeface="Arial" pitchFamily="34" charset="0"/>
              </a:rPr>
              <a:t>Now….let's continue the tour!  We'll look at what happens if we consider the </a:t>
            </a:r>
            <a:r>
              <a:rPr lang="en-US">
                <a:solidFill>
                  <a:srgbClr val="FF0066"/>
                </a:solidFill>
                <a:latin typeface="Arial" pitchFamily="34" charset="0"/>
              </a:rPr>
              <a:t>4</a:t>
            </a:r>
            <a:r>
              <a:rPr lang="en-US" baseline="-25000">
                <a:solidFill>
                  <a:srgbClr val="FF0066"/>
                </a:solidFill>
                <a:latin typeface="Arial" pitchFamily="34" charset="0"/>
              </a:rPr>
              <a:t>3</a:t>
            </a:r>
            <a:r>
              <a:rPr lang="en-US" baseline="-25000">
                <a:latin typeface="Arial" pitchFamily="34" charset="0"/>
              </a:rPr>
              <a:t> </a:t>
            </a:r>
            <a:r>
              <a:rPr lang="en-US">
                <a:latin typeface="Arial" pitchFamily="34" charset="0"/>
              </a:rPr>
              <a:t>axis as a right-handed rotation, with a </a:t>
            </a:r>
            <a:r>
              <a:rPr lang="en-US">
                <a:solidFill>
                  <a:srgbClr val="FF0066"/>
                </a:solidFill>
                <a:latin typeface="Arial" pitchFamily="34" charset="0"/>
              </a:rPr>
              <a:t>3</a:t>
            </a:r>
            <a:r>
              <a:rPr lang="en-US" i="1">
                <a:solidFill>
                  <a:srgbClr val="FF0066"/>
                </a:solidFill>
                <a:latin typeface="Arial" pitchFamily="34" charset="0"/>
              </a:rPr>
              <a:t>c</a:t>
            </a:r>
            <a:r>
              <a:rPr lang="en-US">
                <a:solidFill>
                  <a:srgbClr val="FF0066"/>
                </a:solidFill>
                <a:latin typeface="Arial" pitchFamily="34" charset="0"/>
              </a:rPr>
              <a:t>/4</a:t>
            </a:r>
            <a:r>
              <a:rPr lang="en-US">
                <a:latin typeface="Arial" pitchFamily="34" charset="0"/>
              </a:rPr>
              <a:t> translational component.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3"/>
          <p:cNvSpPr>
            <a:spLocks noGrp="1"/>
          </p:cNvSpPr>
          <p:nvPr>
            <p:ph type="sldNum" sz="quarter" idx="12"/>
          </p:nvPr>
        </p:nvSpPr>
        <p:spPr/>
        <p:txBody>
          <a:bodyPr/>
          <a:lstStyle/>
          <a:p>
            <a:fld id="{4D3820D6-0744-4D5C-84B5-F188CCDC900F}" type="slidenum">
              <a:rPr lang="en-US"/>
              <a:pPr/>
              <a:t>40</a:t>
            </a:fld>
            <a:endParaRPr lang="en-US"/>
          </a:p>
        </p:txBody>
      </p:sp>
      <p:pic>
        <p:nvPicPr>
          <p:cNvPr id="19458" name="Picture 2" descr="C:\Documents and Settings\Administrator\Desktop\1.5\screw_u\43threecell.jpg"/>
          <p:cNvPicPr>
            <a:picLocks noChangeAspect="1" noChangeArrowheads="1"/>
          </p:cNvPicPr>
          <p:nvPr/>
        </p:nvPicPr>
        <p:blipFill>
          <a:blip r:embed="rId2" cstate="print"/>
          <a:srcRect/>
          <a:stretch>
            <a:fillRect/>
          </a:stretch>
        </p:blipFill>
        <p:spPr bwMode="auto">
          <a:xfrm>
            <a:off x="2427288" y="436563"/>
            <a:ext cx="4287837" cy="5983287"/>
          </a:xfrm>
          <a:prstGeom prst="rect">
            <a:avLst/>
          </a:prstGeom>
          <a:noFill/>
        </p:spPr>
      </p:pic>
      <p:grpSp>
        <p:nvGrpSpPr>
          <p:cNvPr id="2" name="Group 10"/>
          <p:cNvGrpSpPr>
            <a:grpSpLocks/>
          </p:cNvGrpSpPr>
          <p:nvPr/>
        </p:nvGrpSpPr>
        <p:grpSpPr bwMode="auto">
          <a:xfrm>
            <a:off x="4711700" y="436563"/>
            <a:ext cx="1711325" cy="5983287"/>
            <a:chOff x="2968" y="275"/>
            <a:chExt cx="1078" cy="3769"/>
          </a:xfrm>
        </p:grpSpPr>
        <p:pic>
          <p:nvPicPr>
            <p:cNvPr id="19459" name="Picture 3" descr="C:\Documents and Settings\Administrator\Desktop\1.5\screw_u\graph.jpg"/>
            <p:cNvPicPr>
              <a:picLocks noChangeAspect="1" noChangeArrowheads="1"/>
            </p:cNvPicPr>
            <p:nvPr/>
          </p:nvPicPr>
          <p:blipFill>
            <a:blip r:embed="rId3" cstate="print"/>
            <a:srcRect/>
            <a:stretch>
              <a:fillRect/>
            </a:stretch>
          </p:blipFill>
          <p:spPr bwMode="auto">
            <a:xfrm>
              <a:off x="2968" y="275"/>
              <a:ext cx="536" cy="3769"/>
            </a:xfrm>
            <a:prstGeom prst="rect">
              <a:avLst/>
            </a:prstGeom>
            <a:noFill/>
          </p:spPr>
        </p:pic>
        <p:sp>
          <p:nvSpPr>
            <p:cNvPr id="19460" name="Line 4"/>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19461" name="Line 5"/>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19462" name="Line 6"/>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19465" name="Line 9"/>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sp>
        <p:nvSpPr>
          <p:cNvPr id="19467" name="AutoShape 11"/>
          <p:cNvSpPr>
            <a:spLocks noChangeArrowheads="1"/>
          </p:cNvSpPr>
          <p:nvPr/>
        </p:nvSpPr>
        <p:spPr bwMode="auto">
          <a:xfrm>
            <a:off x="7086600" y="3810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19474" name="Text Box 18"/>
          <p:cNvSpPr txBox="1">
            <a:spLocks noChangeArrowheads="1"/>
          </p:cNvSpPr>
          <p:nvPr/>
        </p:nvSpPr>
        <p:spPr bwMode="auto">
          <a:xfrm>
            <a:off x="381000" y="3048000"/>
            <a:ext cx="3962400" cy="1569660"/>
          </a:xfrm>
          <a:prstGeom prst="rect">
            <a:avLst/>
          </a:prstGeom>
          <a:noFill/>
          <a:ln w="9525">
            <a:noFill/>
            <a:miter lim="800000"/>
            <a:headEnd/>
            <a:tailEnd/>
          </a:ln>
          <a:effectLst/>
        </p:spPr>
        <p:txBody>
          <a:bodyPr>
            <a:spAutoFit/>
          </a:bodyPr>
          <a:lstStyle/>
          <a:p>
            <a:r>
              <a:rPr lang="en-US" dirty="0">
                <a:solidFill>
                  <a:srgbClr val="0070C0"/>
                </a:solidFill>
                <a:latin typeface="Arial" pitchFamily="34" charset="0"/>
              </a:rPr>
              <a:t>To see the full effect here, we need to observe three full unit cells along the </a:t>
            </a:r>
            <a:r>
              <a:rPr lang="en-US" i="1" dirty="0">
                <a:solidFill>
                  <a:srgbClr val="FF0000"/>
                </a:solidFill>
                <a:latin typeface="Arial" pitchFamily="34" charset="0"/>
              </a:rPr>
              <a:t>c</a:t>
            </a:r>
            <a:r>
              <a:rPr lang="en-US" dirty="0">
                <a:solidFill>
                  <a:srgbClr val="0070C0"/>
                </a:solidFill>
                <a:latin typeface="Arial" pitchFamily="34" charset="0"/>
              </a:rPr>
              <a:t> direction.</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3"/>
          <p:cNvSpPr>
            <a:spLocks noGrp="1"/>
          </p:cNvSpPr>
          <p:nvPr>
            <p:ph type="sldNum" sz="quarter" idx="12"/>
          </p:nvPr>
        </p:nvSpPr>
        <p:spPr/>
        <p:txBody>
          <a:bodyPr/>
          <a:lstStyle/>
          <a:p>
            <a:fld id="{2E06FA80-1481-4CD5-8F6A-3A615126C35E}" type="slidenum">
              <a:rPr lang="en-US"/>
              <a:pPr/>
              <a:t>41</a:t>
            </a:fld>
            <a:endParaRPr lang="en-US"/>
          </a:p>
        </p:txBody>
      </p:sp>
      <p:pic>
        <p:nvPicPr>
          <p:cNvPr id="22530" name="Picture 2" descr="C:\Documents and Settings\Administrator\Desktop\1.5\screw_u\43threecell_2.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22532"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22533"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22534"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22535"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22536"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22539" name="Object 11"/>
          <p:cNvGraphicFramePr>
            <a:graphicFrameLocks noChangeAspect="1"/>
          </p:cNvGraphicFramePr>
          <p:nvPr/>
        </p:nvGraphicFramePr>
        <p:xfrm>
          <a:off x="7058025" y="6096000"/>
          <a:ext cx="942975" cy="344488"/>
        </p:xfrm>
        <a:graphic>
          <a:graphicData uri="http://schemas.openxmlformats.org/presentationml/2006/ole">
            <p:oleObj spid="_x0000_s693250" name="Equation" r:id="rId5" imgW="799920" imgH="291960" progId="">
              <p:embed/>
            </p:oleObj>
          </a:graphicData>
        </a:graphic>
      </p:graphicFrame>
      <p:sp>
        <p:nvSpPr>
          <p:cNvPr id="22540" name="AutoShape 12"/>
          <p:cNvSpPr>
            <a:spLocks noChangeArrowheads="1"/>
          </p:cNvSpPr>
          <p:nvPr/>
        </p:nvSpPr>
        <p:spPr bwMode="auto">
          <a:xfrm>
            <a:off x="7086600" y="3810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22541" name="Rectangle 13"/>
          <p:cNvSpPr>
            <a:spLocks noChangeArrowheads="1"/>
          </p:cNvSpPr>
          <p:nvPr/>
        </p:nvSpPr>
        <p:spPr bwMode="auto">
          <a:xfrm>
            <a:off x="7086600" y="1066800"/>
            <a:ext cx="1609725" cy="641350"/>
          </a:xfrm>
          <a:prstGeom prst="rect">
            <a:avLst/>
          </a:prstGeom>
          <a:noFill/>
          <a:ln w="9525">
            <a:noFill/>
            <a:miter lim="800000"/>
            <a:headEnd/>
            <a:tailEnd/>
          </a:ln>
          <a:effectLst/>
        </p:spPr>
        <p:txBody>
          <a:bodyPr>
            <a:spAutoFit/>
          </a:bodyPr>
          <a:lstStyle/>
          <a:p>
            <a:r>
              <a:rPr lang="en-US" sz="1800" dirty="0">
                <a:solidFill>
                  <a:srgbClr val="00B050"/>
                </a:solidFill>
                <a:latin typeface="Arial" pitchFamily="34" charset="0"/>
              </a:rPr>
              <a:t>Rotation is right-handed</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p:txBody>
          <a:bodyPr/>
          <a:lstStyle/>
          <a:p>
            <a:fld id="{53C1D46B-044E-4893-94B3-20DA84446FCB}" type="slidenum">
              <a:rPr lang="en-US"/>
              <a:pPr/>
              <a:t>42</a:t>
            </a:fld>
            <a:endParaRPr lang="en-US"/>
          </a:p>
        </p:txBody>
      </p:sp>
      <p:pic>
        <p:nvPicPr>
          <p:cNvPr id="23554" name="Picture 2" descr="C:\Documents and Settings\Administrator\Desktop\1.5\screw_u\43threecell_3.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23556"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23557"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23558"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23559"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23560"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23566" name="Object 14"/>
          <p:cNvGraphicFramePr>
            <a:graphicFrameLocks noChangeAspect="1"/>
          </p:cNvGraphicFramePr>
          <p:nvPr/>
        </p:nvGraphicFramePr>
        <p:xfrm>
          <a:off x="4495800" y="3270250"/>
          <a:ext cx="152400" cy="317500"/>
        </p:xfrm>
        <a:graphic>
          <a:graphicData uri="http://schemas.openxmlformats.org/presentationml/2006/ole">
            <p:oleObj spid="_x0000_s694274" name="Equation" r:id="rId5" imgW="152268" imgH="317225" progId="">
              <p:embed/>
            </p:oleObj>
          </a:graphicData>
        </a:graphic>
      </p:graphicFrame>
      <p:graphicFrame>
        <p:nvGraphicFramePr>
          <p:cNvPr id="23567" name="Object 15"/>
          <p:cNvGraphicFramePr>
            <a:graphicFrameLocks noChangeAspect="1"/>
          </p:cNvGraphicFramePr>
          <p:nvPr/>
        </p:nvGraphicFramePr>
        <p:xfrm>
          <a:off x="4495800" y="3270250"/>
          <a:ext cx="152400" cy="317500"/>
        </p:xfrm>
        <a:graphic>
          <a:graphicData uri="http://schemas.openxmlformats.org/presentationml/2006/ole">
            <p:oleObj spid="_x0000_s694275" name="Equation" r:id="rId6" imgW="152268" imgH="317225" progId="">
              <p:embed/>
            </p:oleObj>
          </a:graphicData>
        </a:graphic>
      </p:graphicFrame>
      <p:graphicFrame>
        <p:nvGraphicFramePr>
          <p:cNvPr id="23572" name="Object 20"/>
          <p:cNvGraphicFramePr>
            <a:graphicFrameLocks noChangeAspect="1"/>
          </p:cNvGraphicFramePr>
          <p:nvPr/>
        </p:nvGraphicFramePr>
        <p:xfrm>
          <a:off x="7026275" y="4664075"/>
          <a:ext cx="1508125" cy="365125"/>
        </p:xfrm>
        <a:graphic>
          <a:graphicData uri="http://schemas.openxmlformats.org/presentationml/2006/ole">
            <p:oleObj spid="_x0000_s694276" name="Equation" r:id="rId7" imgW="1409088" imgH="342751" progId="">
              <p:embed/>
            </p:oleObj>
          </a:graphicData>
        </a:graphic>
      </p:graphicFrame>
      <p:graphicFrame>
        <p:nvGraphicFramePr>
          <p:cNvPr id="23573" name="Object 21"/>
          <p:cNvGraphicFramePr>
            <a:graphicFrameLocks noChangeAspect="1"/>
          </p:cNvGraphicFramePr>
          <p:nvPr/>
        </p:nvGraphicFramePr>
        <p:xfrm>
          <a:off x="7058025" y="6096000"/>
          <a:ext cx="942975" cy="344488"/>
        </p:xfrm>
        <a:graphic>
          <a:graphicData uri="http://schemas.openxmlformats.org/presentationml/2006/ole">
            <p:oleObj spid="_x0000_s694277" name="Equation" r:id="rId8" imgW="799920" imgH="291960" progId="">
              <p:embed/>
            </p:oleObj>
          </a:graphicData>
        </a:graphic>
      </p:graphicFrame>
      <p:sp>
        <p:nvSpPr>
          <p:cNvPr id="23574" name="AutoShape 22"/>
          <p:cNvSpPr>
            <a:spLocks noChangeArrowheads="1"/>
          </p:cNvSpPr>
          <p:nvPr/>
        </p:nvSpPr>
        <p:spPr bwMode="auto">
          <a:xfrm>
            <a:off x="7086600" y="3810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23575" name="Rectangle 23"/>
          <p:cNvSpPr>
            <a:spLocks noChangeArrowheads="1"/>
          </p:cNvSpPr>
          <p:nvPr/>
        </p:nvSpPr>
        <p:spPr bwMode="auto">
          <a:xfrm>
            <a:off x="7086600" y="1066800"/>
            <a:ext cx="1609725" cy="641350"/>
          </a:xfrm>
          <a:prstGeom prst="rect">
            <a:avLst/>
          </a:prstGeom>
          <a:noFill/>
          <a:ln w="9525">
            <a:noFill/>
            <a:miter lim="800000"/>
            <a:headEnd/>
            <a:tailEnd/>
          </a:ln>
          <a:effectLst/>
        </p:spPr>
        <p:txBody>
          <a:bodyPr>
            <a:spAutoFit/>
          </a:bodyPr>
          <a:lstStyle/>
          <a:p>
            <a:r>
              <a:rPr lang="en-US" sz="1800">
                <a:solidFill>
                  <a:schemeClr val="accent2"/>
                </a:solidFill>
                <a:latin typeface="Arial" pitchFamily="34" charset="0"/>
              </a:rPr>
              <a:t>Rotation is right-handed</a:t>
            </a:r>
          </a:p>
        </p:txBody>
      </p:sp>
      <p:sp>
        <p:nvSpPr>
          <p:cNvPr id="23576" name="AutoShape 24"/>
          <p:cNvSpPr>
            <a:spLocks noChangeArrowheads="1"/>
          </p:cNvSpPr>
          <p:nvPr/>
        </p:nvSpPr>
        <p:spPr bwMode="auto">
          <a:xfrm>
            <a:off x="609600" y="4800600"/>
            <a:ext cx="2895600" cy="457200"/>
          </a:xfrm>
          <a:prstGeom prst="wedgeRoundRectCallout">
            <a:avLst>
              <a:gd name="adj1" fmla="val 141995"/>
              <a:gd name="adj2" fmla="val -33333"/>
              <a:gd name="adj3" fmla="val 16667"/>
            </a:avLst>
          </a:prstGeom>
          <a:noFill/>
          <a:ln w="9525">
            <a:solidFill>
              <a:schemeClr val="tx1"/>
            </a:solidFill>
            <a:miter lim="800000"/>
            <a:headEnd/>
            <a:tailEnd/>
          </a:ln>
          <a:effectLst/>
        </p:spPr>
        <p:txBody>
          <a:bodyPr/>
          <a:lstStyle/>
          <a:p>
            <a:pPr algn="ctr"/>
            <a:r>
              <a:rPr lang="en-US" sz="1800">
                <a:solidFill>
                  <a:schemeClr val="accent2"/>
                </a:solidFill>
                <a:latin typeface="Arial" pitchFamily="34" charset="0"/>
              </a:rPr>
              <a:t>First translation is </a:t>
            </a:r>
            <a:r>
              <a:rPr lang="en-US" sz="1800">
                <a:solidFill>
                  <a:srgbClr val="FF0066"/>
                </a:solidFill>
                <a:latin typeface="Arial" pitchFamily="34" charset="0"/>
              </a:rPr>
              <a:t>3</a:t>
            </a:r>
            <a:r>
              <a:rPr lang="en-US" sz="1800" i="1">
                <a:solidFill>
                  <a:srgbClr val="FF0066"/>
                </a:solidFill>
                <a:latin typeface="Arial" pitchFamily="34" charset="0"/>
              </a:rPr>
              <a:t>c</a:t>
            </a:r>
            <a:r>
              <a:rPr lang="en-US" sz="1800">
                <a:solidFill>
                  <a:srgbClr val="FF0066"/>
                </a:solidFill>
                <a:latin typeface="Arial" pitchFamily="34" charset="0"/>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5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76"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p:cNvSpPr>
            <a:spLocks noGrp="1"/>
          </p:cNvSpPr>
          <p:nvPr>
            <p:ph type="sldNum" sz="quarter" idx="12"/>
          </p:nvPr>
        </p:nvSpPr>
        <p:spPr/>
        <p:txBody>
          <a:bodyPr/>
          <a:lstStyle/>
          <a:p>
            <a:fld id="{CD423818-AA42-4C90-936B-36691EE7FB70}" type="slidenum">
              <a:rPr lang="en-US"/>
              <a:pPr/>
              <a:t>43</a:t>
            </a:fld>
            <a:endParaRPr lang="en-US"/>
          </a:p>
        </p:txBody>
      </p:sp>
      <p:pic>
        <p:nvPicPr>
          <p:cNvPr id="24578" name="Picture 2" descr="C:\Documents and Settings\Administrator\Desktop\1.5\screw_u\43threecell_4.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24580"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24581"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24582"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24583"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24584"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24589" name="Object 13"/>
          <p:cNvGraphicFramePr>
            <a:graphicFrameLocks noChangeAspect="1"/>
          </p:cNvGraphicFramePr>
          <p:nvPr/>
        </p:nvGraphicFramePr>
        <p:xfrm>
          <a:off x="7023100" y="3276600"/>
          <a:ext cx="1511300" cy="365125"/>
        </p:xfrm>
        <a:graphic>
          <a:graphicData uri="http://schemas.openxmlformats.org/presentationml/2006/ole">
            <p:oleObj spid="_x0000_s695298" name="Equation" r:id="rId5" imgW="1422400" imgH="342900" progId="">
              <p:embed/>
            </p:oleObj>
          </a:graphicData>
        </a:graphic>
      </p:graphicFrame>
      <p:graphicFrame>
        <p:nvGraphicFramePr>
          <p:cNvPr id="24590" name="Object 14"/>
          <p:cNvGraphicFramePr>
            <a:graphicFrameLocks noChangeAspect="1"/>
          </p:cNvGraphicFramePr>
          <p:nvPr/>
        </p:nvGraphicFramePr>
        <p:xfrm>
          <a:off x="7026275" y="4664075"/>
          <a:ext cx="1508125" cy="365125"/>
        </p:xfrm>
        <a:graphic>
          <a:graphicData uri="http://schemas.openxmlformats.org/presentationml/2006/ole">
            <p:oleObj spid="_x0000_s695299" name="Equation" r:id="rId6" imgW="1409088" imgH="342751" progId="">
              <p:embed/>
            </p:oleObj>
          </a:graphicData>
        </a:graphic>
      </p:graphicFrame>
      <p:graphicFrame>
        <p:nvGraphicFramePr>
          <p:cNvPr id="24591" name="Object 15"/>
          <p:cNvGraphicFramePr>
            <a:graphicFrameLocks noChangeAspect="1"/>
          </p:cNvGraphicFramePr>
          <p:nvPr/>
        </p:nvGraphicFramePr>
        <p:xfrm>
          <a:off x="7058025" y="6096000"/>
          <a:ext cx="942975" cy="344488"/>
        </p:xfrm>
        <a:graphic>
          <a:graphicData uri="http://schemas.openxmlformats.org/presentationml/2006/ole">
            <p:oleObj spid="_x0000_s695300" name="Equation" r:id="rId7" imgW="799920" imgH="291960" progId="">
              <p:embed/>
            </p:oleObj>
          </a:graphicData>
        </a:graphic>
      </p:graphicFrame>
      <p:sp>
        <p:nvSpPr>
          <p:cNvPr id="24592" name="AutoShape 16"/>
          <p:cNvSpPr>
            <a:spLocks noChangeArrowheads="1"/>
          </p:cNvSpPr>
          <p:nvPr/>
        </p:nvSpPr>
        <p:spPr bwMode="auto">
          <a:xfrm>
            <a:off x="7086600" y="3810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24593" name="Rectangle 17"/>
          <p:cNvSpPr>
            <a:spLocks noChangeArrowheads="1"/>
          </p:cNvSpPr>
          <p:nvPr/>
        </p:nvSpPr>
        <p:spPr bwMode="auto">
          <a:xfrm>
            <a:off x="7086600" y="1066800"/>
            <a:ext cx="1609725" cy="641350"/>
          </a:xfrm>
          <a:prstGeom prst="rect">
            <a:avLst/>
          </a:prstGeom>
          <a:noFill/>
          <a:ln w="9525">
            <a:noFill/>
            <a:miter lim="800000"/>
            <a:headEnd/>
            <a:tailEnd/>
          </a:ln>
          <a:effectLst/>
        </p:spPr>
        <p:txBody>
          <a:bodyPr>
            <a:spAutoFit/>
          </a:bodyPr>
          <a:lstStyle/>
          <a:p>
            <a:r>
              <a:rPr lang="en-US" sz="1800">
                <a:solidFill>
                  <a:schemeClr val="accent2"/>
                </a:solidFill>
                <a:latin typeface="Arial" pitchFamily="34" charset="0"/>
              </a:rPr>
              <a:t>Rotation is right-handed</a:t>
            </a:r>
          </a:p>
        </p:txBody>
      </p:sp>
      <p:sp>
        <p:nvSpPr>
          <p:cNvPr id="24594" name="AutoShape 18"/>
          <p:cNvSpPr>
            <a:spLocks noChangeArrowheads="1"/>
          </p:cNvSpPr>
          <p:nvPr/>
        </p:nvSpPr>
        <p:spPr bwMode="auto">
          <a:xfrm>
            <a:off x="381000" y="3352800"/>
            <a:ext cx="3200400" cy="685800"/>
          </a:xfrm>
          <a:prstGeom prst="wedgeRoundRectCallout">
            <a:avLst>
              <a:gd name="adj1" fmla="val 126588"/>
              <a:gd name="adj2" fmla="val -30093"/>
              <a:gd name="adj3" fmla="val 16667"/>
            </a:avLst>
          </a:prstGeom>
          <a:noFill/>
          <a:ln w="9525">
            <a:solidFill>
              <a:schemeClr val="tx1"/>
            </a:solidFill>
            <a:miter lim="800000"/>
            <a:headEnd/>
            <a:tailEnd/>
          </a:ln>
          <a:effectLst/>
        </p:spPr>
        <p:txBody>
          <a:bodyPr/>
          <a:lstStyle/>
          <a:p>
            <a:pPr algn="ctr"/>
            <a:r>
              <a:rPr lang="en-US" sz="1800">
                <a:solidFill>
                  <a:schemeClr val="accent2"/>
                </a:solidFill>
                <a:latin typeface="Arial" pitchFamily="34" charset="0"/>
              </a:rPr>
              <a:t>Next translation advances the point by </a:t>
            </a:r>
            <a:r>
              <a:rPr lang="en-US" sz="1800">
                <a:solidFill>
                  <a:srgbClr val="FF0066"/>
                </a:solidFill>
                <a:latin typeface="Arial" pitchFamily="34" charset="0"/>
              </a:rPr>
              <a:t>6</a:t>
            </a:r>
            <a:r>
              <a:rPr lang="en-US" sz="1800" i="1">
                <a:solidFill>
                  <a:srgbClr val="FF0066"/>
                </a:solidFill>
                <a:latin typeface="Arial" pitchFamily="34" charset="0"/>
              </a:rPr>
              <a:t>c</a:t>
            </a:r>
            <a:r>
              <a:rPr lang="en-US" sz="1800">
                <a:solidFill>
                  <a:srgbClr val="FF0066"/>
                </a:solidFill>
                <a:latin typeface="Arial" pitchFamily="34" charset="0"/>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4"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p:cNvSpPr>
            <a:spLocks noGrp="1"/>
          </p:cNvSpPr>
          <p:nvPr>
            <p:ph type="sldNum" sz="quarter" idx="12"/>
          </p:nvPr>
        </p:nvSpPr>
        <p:spPr/>
        <p:txBody>
          <a:bodyPr/>
          <a:lstStyle/>
          <a:p>
            <a:fld id="{83758406-899A-4666-8D63-44262842CC7C}" type="slidenum">
              <a:rPr lang="en-US"/>
              <a:pPr/>
              <a:t>44</a:t>
            </a:fld>
            <a:endParaRPr lang="en-US"/>
          </a:p>
        </p:txBody>
      </p:sp>
      <p:pic>
        <p:nvPicPr>
          <p:cNvPr id="25602" name="Picture 2" descr="C:\Documents and Settings\Administrator\Desktop\1.5\screw_u\43threecell_5.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25604"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25605"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25606"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25607"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25608"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25615" name="Object 15"/>
          <p:cNvGraphicFramePr>
            <a:graphicFrameLocks noChangeAspect="1"/>
          </p:cNvGraphicFramePr>
          <p:nvPr/>
        </p:nvGraphicFramePr>
        <p:xfrm>
          <a:off x="7023100" y="3276600"/>
          <a:ext cx="1511300" cy="365125"/>
        </p:xfrm>
        <a:graphic>
          <a:graphicData uri="http://schemas.openxmlformats.org/presentationml/2006/ole">
            <p:oleObj spid="_x0000_s696322" name="Equation" r:id="rId5" imgW="1422400" imgH="342900" progId="">
              <p:embed/>
            </p:oleObj>
          </a:graphicData>
        </a:graphic>
      </p:graphicFrame>
      <p:graphicFrame>
        <p:nvGraphicFramePr>
          <p:cNvPr id="25616" name="Object 16"/>
          <p:cNvGraphicFramePr>
            <a:graphicFrameLocks noChangeAspect="1"/>
          </p:cNvGraphicFramePr>
          <p:nvPr/>
        </p:nvGraphicFramePr>
        <p:xfrm>
          <a:off x="7026275" y="4664075"/>
          <a:ext cx="1508125" cy="365125"/>
        </p:xfrm>
        <a:graphic>
          <a:graphicData uri="http://schemas.openxmlformats.org/presentationml/2006/ole">
            <p:oleObj spid="_x0000_s696323" name="Equation" r:id="rId6" imgW="1409088" imgH="342751" progId="">
              <p:embed/>
            </p:oleObj>
          </a:graphicData>
        </a:graphic>
      </p:graphicFrame>
      <p:graphicFrame>
        <p:nvGraphicFramePr>
          <p:cNvPr id="25617" name="Object 17"/>
          <p:cNvGraphicFramePr>
            <a:graphicFrameLocks noChangeAspect="1"/>
          </p:cNvGraphicFramePr>
          <p:nvPr/>
        </p:nvGraphicFramePr>
        <p:xfrm>
          <a:off x="6989763" y="1905000"/>
          <a:ext cx="1544637" cy="368300"/>
        </p:xfrm>
        <a:graphic>
          <a:graphicData uri="http://schemas.openxmlformats.org/presentationml/2006/ole">
            <p:oleObj spid="_x0000_s696324" name="Equation" r:id="rId7" imgW="1435100" imgH="342900" progId="">
              <p:embed/>
            </p:oleObj>
          </a:graphicData>
        </a:graphic>
      </p:graphicFrame>
      <p:graphicFrame>
        <p:nvGraphicFramePr>
          <p:cNvPr id="25618" name="Object 18"/>
          <p:cNvGraphicFramePr>
            <a:graphicFrameLocks noChangeAspect="1"/>
          </p:cNvGraphicFramePr>
          <p:nvPr/>
        </p:nvGraphicFramePr>
        <p:xfrm>
          <a:off x="7058025" y="6096000"/>
          <a:ext cx="942975" cy="344488"/>
        </p:xfrm>
        <a:graphic>
          <a:graphicData uri="http://schemas.openxmlformats.org/presentationml/2006/ole">
            <p:oleObj spid="_x0000_s696325" name="Equation" r:id="rId8" imgW="799920" imgH="291960" progId="">
              <p:embed/>
            </p:oleObj>
          </a:graphicData>
        </a:graphic>
      </p:graphicFrame>
      <p:sp>
        <p:nvSpPr>
          <p:cNvPr id="25619" name="AutoShape 19"/>
          <p:cNvSpPr>
            <a:spLocks noChangeArrowheads="1"/>
          </p:cNvSpPr>
          <p:nvPr/>
        </p:nvSpPr>
        <p:spPr bwMode="auto">
          <a:xfrm>
            <a:off x="7086600" y="381000"/>
            <a:ext cx="1143000" cy="381000"/>
          </a:xfrm>
          <a:prstGeom prst="curvedRightArrow">
            <a:avLst>
              <a:gd name="adj1" fmla="val 1185"/>
              <a:gd name="adj2" fmla="val 27602"/>
              <a:gd name="adj3" fmla="val 42611"/>
            </a:avLst>
          </a:prstGeom>
          <a:solidFill>
            <a:schemeClr val="tx1"/>
          </a:solidFill>
          <a:ln w="9525">
            <a:solidFill>
              <a:schemeClr val="tx1"/>
            </a:solidFill>
            <a:miter lim="800000"/>
            <a:headEnd/>
            <a:tailEnd/>
          </a:ln>
          <a:effectLst/>
        </p:spPr>
        <p:txBody>
          <a:bodyPr wrap="none" anchor="ctr"/>
          <a:lstStyle/>
          <a:p>
            <a:endParaRPr lang="en-US"/>
          </a:p>
        </p:txBody>
      </p:sp>
      <p:sp>
        <p:nvSpPr>
          <p:cNvPr id="25620" name="AutoShape 20"/>
          <p:cNvSpPr>
            <a:spLocks noChangeArrowheads="1"/>
          </p:cNvSpPr>
          <p:nvPr/>
        </p:nvSpPr>
        <p:spPr bwMode="auto">
          <a:xfrm>
            <a:off x="381000" y="2209800"/>
            <a:ext cx="3200400" cy="685800"/>
          </a:xfrm>
          <a:prstGeom prst="wedgeRoundRectCallout">
            <a:avLst>
              <a:gd name="adj1" fmla="val 133185"/>
              <a:gd name="adj2" fmla="val -56481"/>
              <a:gd name="adj3" fmla="val 16667"/>
            </a:avLst>
          </a:prstGeom>
          <a:noFill/>
          <a:ln w="9525">
            <a:solidFill>
              <a:schemeClr val="tx1"/>
            </a:solidFill>
            <a:miter lim="800000"/>
            <a:headEnd/>
            <a:tailEnd/>
          </a:ln>
          <a:effectLst/>
        </p:spPr>
        <p:txBody>
          <a:bodyPr/>
          <a:lstStyle/>
          <a:p>
            <a:pPr algn="ctr"/>
            <a:r>
              <a:rPr lang="en-US" sz="1800">
                <a:solidFill>
                  <a:schemeClr val="accent2"/>
                </a:solidFill>
                <a:latin typeface="Arial" pitchFamily="34" charset="0"/>
              </a:rPr>
              <a:t>Next translation advances the point by </a:t>
            </a:r>
            <a:r>
              <a:rPr lang="en-US" sz="1800">
                <a:solidFill>
                  <a:srgbClr val="FF0066"/>
                </a:solidFill>
                <a:latin typeface="Arial" pitchFamily="34" charset="0"/>
              </a:rPr>
              <a:t>9</a:t>
            </a:r>
            <a:r>
              <a:rPr lang="en-US" sz="1800" i="1">
                <a:solidFill>
                  <a:srgbClr val="FF0066"/>
                </a:solidFill>
                <a:latin typeface="Arial" pitchFamily="34" charset="0"/>
              </a:rPr>
              <a:t>c</a:t>
            </a:r>
            <a:r>
              <a:rPr lang="en-US" sz="1800">
                <a:solidFill>
                  <a:srgbClr val="FF0066"/>
                </a:solidFill>
                <a:latin typeface="Arial" pitchFamily="34" charset="0"/>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6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20"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p:txBody>
          <a:bodyPr/>
          <a:lstStyle/>
          <a:p>
            <a:fld id="{CDAE4F15-4619-4555-9B8F-50D67D4C83E1}" type="slidenum">
              <a:rPr lang="en-US"/>
              <a:pPr/>
              <a:t>45</a:t>
            </a:fld>
            <a:endParaRPr lang="en-US"/>
          </a:p>
        </p:txBody>
      </p:sp>
      <p:pic>
        <p:nvPicPr>
          <p:cNvPr id="26626" name="Picture 2" descr="C:\Documents and Settings\Administrator\Desktop\1.5\screw_u\43threecell_6.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26628"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26629"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26630"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26631"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26632"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26633" name="Object 9"/>
          <p:cNvGraphicFramePr>
            <a:graphicFrameLocks noChangeAspect="1"/>
          </p:cNvGraphicFramePr>
          <p:nvPr/>
        </p:nvGraphicFramePr>
        <p:xfrm>
          <a:off x="7023100" y="3276600"/>
          <a:ext cx="1511300" cy="365125"/>
        </p:xfrm>
        <a:graphic>
          <a:graphicData uri="http://schemas.openxmlformats.org/presentationml/2006/ole">
            <p:oleObj spid="_x0000_s697346" name="Equation" r:id="rId5" imgW="1422400" imgH="342900" progId="">
              <p:embed/>
            </p:oleObj>
          </a:graphicData>
        </a:graphic>
      </p:graphicFrame>
      <p:graphicFrame>
        <p:nvGraphicFramePr>
          <p:cNvPr id="26634" name="Object 10"/>
          <p:cNvGraphicFramePr>
            <a:graphicFrameLocks noChangeAspect="1"/>
          </p:cNvGraphicFramePr>
          <p:nvPr/>
        </p:nvGraphicFramePr>
        <p:xfrm>
          <a:off x="7058025" y="6096000"/>
          <a:ext cx="942975" cy="344488"/>
        </p:xfrm>
        <a:graphic>
          <a:graphicData uri="http://schemas.openxmlformats.org/presentationml/2006/ole">
            <p:oleObj spid="_x0000_s697347" name="Equation" r:id="rId6" imgW="799920" imgH="291960" progId="">
              <p:embed/>
            </p:oleObj>
          </a:graphicData>
        </a:graphic>
      </p:graphicFrame>
      <p:graphicFrame>
        <p:nvGraphicFramePr>
          <p:cNvPr id="26635" name="Object 11"/>
          <p:cNvGraphicFramePr>
            <a:graphicFrameLocks noChangeAspect="1"/>
          </p:cNvGraphicFramePr>
          <p:nvPr/>
        </p:nvGraphicFramePr>
        <p:xfrm>
          <a:off x="7026275" y="4664075"/>
          <a:ext cx="1508125" cy="365125"/>
        </p:xfrm>
        <a:graphic>
          <a:graphicData uri="http://schemas.openxmlformats.org/presentationml/2006/ole">
            <p:oleObj spid="_x0000_s697348" name="Equation" r:id="rId7" imgW="1409088" imgH="342751" progId="">
              <p:embed/>
            </p:oleObj>
          </a:graphicData>
        </a:graphic>
      </p:graphicFrame>
      <p:graphicFrame>
        <p:nvGraphicFramePr>
          <p:cNvPr id="26636" name="Object 12"/>
          <p:cNvGraphicFramePr>
            <a:graphicFrameLocks noChangeAspect="1"/>
          </p:cNvGraphicFramePr>
          <p:nvPr/>
        </p:nvGraphicFramePr>
        <p:xfrm>
          <a:off x="6989763" y="1905000"/>
          <a:ext cx="1544637" cy="368300"/>
        </p:xfrm>
        <a:graphic>
          <a:graphicData uri="http://schemas.openxmlformats.org/presentationml/2006/ole">
            <p:oleObj spid="_x0000_s697349" name="Equation" r:id="rId8" imgW="1435100" imgH="342900" progId="">
              <p:embed/>
            </p:oleObj>
          </a:graphicData>
        </a:graphic>
      </p:graphicFrame>
      <p:graphicFrame>
        <p:nvGraphicFramePr>
          <p:cNvPr id="26637" name="Object 13"/>
          <p:cNvGraphicFramePr>
            <a:graphicFrameLocks noChangeAspect="1"/>
          </p:cNvGraphicFramePr>
          <p:nvPr/>
        </p:nvGraphicFramePr>
        <p:xfrm>
          <a:off x="6934200" y="546100"/>
          <a:ext cx="1600200" cy="347663"/>
        </p:xfrm>
        <a:graphic>
          <a:graphicData uri="http://schemas.openxmlformats.org/presentationml/2006/ole">
            <p:oleObj spid="_x0000_s697350" name="Equation" r:id="rId9" imgW="1472561" imgH="317362" progId="">
              <p:embed/>
            </p:oleObj>
          </a:graphicData>
        </a:graphic>
      </p:graphicFrame>
      <p:sp>
        <p:nvSpPr>
          <p:cNvPr id="26647" name="AutoShape 23"/>
          <p:cNvSpPr>
            <a:spLocks noChangeArrowheads="1"/>
          </p:cNvSpPr>
          <p:nvPr/>
        </p:nvSpPr>
        <p:spPr bwMode="auto">
          <a:xfrm>
            <a:off x="7010400" y="1143000"/>
            <a:ext cx="1828800" cy="457200"/>
          </a:xfrm>
          <a:prstGeom prst="wedgeRoundRectCallout">
            <a:avLst>
              <a:gd name="adj1" fmla="val 3125"/>
              <a:gd name="adj2" fmla="val -110417"/>
              <a:gd name="adj3" fmla="val 16667"/>
            </a:avLst>
          </a:prstGeom>
          <a:noFill/>
          <a:ln w="9525">
            <a:solidFill>
              <a:schemeClr val="tx1"/>
            </a:solidFill>
            <a:miter lim="800000"/>
            <a:headEnd/>
            <a:tailEnd/>
          </a:ln>
          <a:effectLst/>
        </p:spPr>
        <p:txBody>
          <a:bodyPr/>
          <a:lstStyle/>
          <a:p>
            <a:pPr algn="ctr"/>
            <a:r>
              <a:rPr lang="en-US" sz="1800">
                <a:solidFill>
                  <a:schemeClr val="accent2"/>
                </a:solidFill>
                <a:latin typeface="Arial" pitchFamily="34" charset="0"/>
              </a:rPr>
              <a:t>Finally, 3+z</a:t>
            </a:r>
          </a:p>
        </p:txBody>
      </p:sp>
      <p:sp>
        <p:nvSpPr>
          <p:cNvPr id="19" name="Rectangle 18"/>
          <p:cNvSpPr/>
          <p:nvPr/>
        </p:nvSpPr>
        <p:spPr>
          <a:xfrm>
            <a:off x="0" y="2098882"/>
            <a:ext cx="4572000" cy="3308598"/>
          </a:xfrm>
          <a:prstGeom prst="rect">
            <a:avLst/>
          </a:prstGeom>
        </p:spPr>
        <p:txBody>
          <a:bodyPr>
            <a:spAutoFit/>
          </a:bodyPr>
          <a:lstStyle/>
          <a:p>
            <a:pPr marL="457200" indent="-457200" algn="just">
              <a:spcBef>
                <a:spcPts val="600"/>
              </a:spcBef>
              <a:spcAft>
                <a:spcPts val="600"/>
              </a:spcAft>
              <a:buFont typeface="Wingdings" pitchFamily="2" charset="2"/>
              <a:buChar char="v"/>
            </a:pPr>
            <a:r>
              <a:rPr lang="en-US" sz="2100" dirty="0" smtClean="0">
                <a:solidFill>
                  <a:schemeClr val="accent2"/>
                </a:solidFill>
                <a:latin typeface="Arial" pitchFamily="34" charset="0"/>
              </a:rPr>
              <a:t>The definition of a </a:t>
            </a:r>
            <a:r>
              <a:rPr lang="en-US" sz="2100" dirty="0" smtClean="0">
                <a:solidFill>
                  <a:srgbClr val="FF0066"/>
                </a:solidFill>
                <a:latin typeface="Arial" pitchFamily="34" charset="0"/>
              </a:rPr>
              <a:t>4</a:t>
            </a:r>
            <a:r>
              <a:rPr lang="en-US" sz="2100" baseline="-25000" dirty="0" smtClean="0">
                <a:solidFill>
                  <a:srgbClr val="FF0066"/>
                </a:solidFill>
                <a:latin typeface="Arial" pitchFamily="34" charset="0"/>
              </a:rPr>
              <a:t>3</a:t>
            </a:r>
            <a:r>
              <a:rPr lang="en-US" sz="2100" dirty="0" smtClean="0">
                <a:latin typeface="Arial" pitchFamily="34" charset="0"/>
              </a:rPr>
              <a:t> </a:t>
            </a:r>
            <a:r>
              <a:rPr lang="en-US" sz="2100" dirty="0" smtClean="0">
                <a:solidFill>
                  <a:schemeClr val="accent2"/>
                </a:solidFill>
                <a:latin typeface="Arial" pitchFamily="34" charset="0"/>
              </a:rPr>
              <a:t>axis includes a </a:t>
            </a:r>
            <a:r>
              <a:rPr lang="en-US" sz="2100" dirty="0" smtClean="0">
                <a:solidFill>
                  <a:srgbClr val="00B050"/>
                </a:solidFill>
                <a:latin typeface="Arial" pitchFamily="34" charset="0"/>
              </a:rPr>
              <a:t>+90</a:t>
            </a:r>
            <a:r>
              <a:rPr lang="en-US" sz="2100" dirty="0" smtClean="0">
                <a:solidFill>
                  <a:srgbClr val="00B050"/>
                </a:solidFill>
                <a:latin typeface="Arial" pitchFamily="34" charset="0"/>
                <a:cs typeface="Arial" pitchFamily="34" charset="0"/>
              </a:rPr>
              <a:t>º </a:t>
            </a:r>
            <a:r>
              <a:rPr lang="en-US" sz="2100" dirty="0" smtClean="0">
                <a:solidFill>
                  <a:schemeClr val="accent2"/>
                </a:solidFill>
                <a:latin typeface="Arial" pitchFamily="34" charset="0"/>
                <a:cs typeface="Arial" pitchFamily="34" charset="0"/>
              </a:rPr>
              <a:t>rotation, followed by a translation of </a:t>
            </a:r>
            <a:r>
              <a:rPr lang="en-US" sz="2100" dirty="0" smtClean="0">
                <a:solidFill>
                  <a:srgbClr val="00B050"/>
                </a:solidFill>
                <a:latin typeface="Arial" pitchFamily="34" charset="0"/>
                <a:cs typeface="Arial" pitchFamily="34" charset="0"/>
              </a:rPr>
              <a:t>¾</a:t>
            </a:r>
            <a:r>
              <a:rPr lang="en-US" sz="2100" dirty="0" smtClean="0">
                <a:solidFill>
                  <a:schemeClr val="accent2"/>
                </a:solidFill>
                <a:latin typeface="Arial" pitchFamily="34" charset="0"/>
                <a:cs typeface="Arial" pitchFamily="34" charset="0"/>
              </a:rPr>
              <a:t> along </a:t>
            </a:r>
            <a:r>
              <a:rPr lang="en-US" sz="2100" i="1" dirty="0" smtClean="0">
                <a:solidFill>
                  <a:srgbClr val="FF0066"/>
                </a:solidFill>
                <a:latin typeface="Arial" pitchFamily="34" charset="0"/>
                <a:cs typeface="Arial" pitchFamily="34" charset="0"/>
              </a:rPr>
              <a:t>c</a:t>
            </a:r>
            <a:r>
              <a:rPr lang="en-US" sz="2100" i="1" dirty="0" smtClean="0">
                <a:latin typeface="Arial" pitchFamily="34" charset="0"/>
                <a:cs typeface="Arial" pitchFamily="34" charset="0"/>
              </a:rPr>
              <a:t>.  </a:t>
            </a:r>
          </a:p>
          <a:p>
            <a:pPr marL="457200" indent="-457200" algn="just">
              <a:spcBef>
                <a:spcPts val="600"/>
              </a:spcBef>
              <a:spcAft>
                <a:spcPts val="600"/>
              </a:spcAft>
              <a:buFont typeface="Wingdings" pitchFamily="2" charset="2"/>
              <a:buChar char="v"/>
            </a:pPr>
            <a:r>
              <a:rPr lang="en-US" sz="2100" dirty="0" smtClean="0">
                <a:solidFill>
                  <a:schemeClr val="accent2"/>
                </a:solidFill>
                <a:latin typeface="Arial" pitchFamily="34" charset="0"/>
                <a:cs typeface="Arial" pitchFamily="34" charset="0"/>
              </a:rPr>
              <a:t>After the first application of the operation, we are in a second unit cell (+</a:t>
            </a:r>
            <a:r>
              <a:rPr lang="en-US" sz="2100" dirty="0" smtClean="0">
                <a:solidFill>
                  <a:srgbClr val="FF0066"/>
                </a:solidFill>
                <a:latin typeface="Arial" pitchFamily="34" charset="0"/>
                <a:cs typeface="Arial" pitchFamily="34" charset="0"/>
              </a:rPr>
              <a:t>6</a:t>
            </a:r>
            <a:r>
              <a:rPr lang="en-US" sz="2100" i="1" dirty="0" smtClean="0">
                <a:solidFill>
                  <a:srgbClr val="FF0066"/>
                </a:solidFill>
                <a:latin typeface="Arial" pitchFamily="34" charset="0"/>
                <a:cs typeface="Arial" pitchFamily="34" charset="0"/>
              </a:rPr>
              <a:t>c</a:t>
            </a:r>
            <a:r>
              <a:rPr lang="en-US" sz="2100" dirty="0" smtClean="0">
                <a:solidFill>
                  <a:srgbClr val="FF0066"/>
                </a:solidFill>
                <a:latin typeface="Arial" pitchFamily="34" charset="0"/>
                <a:cs typeface="Arial" pitchFamily="34" charset="0"/>
              </a:rPr>
              <a:t>/4</a:t>
            </a:r>
            <a:r>
              <a:rPr lang="en-US" sz="2100" dirty="0" smtClean="0">
                <a:solidFill>
                  <a:schemeClr val="accent2"/>
                </a:solidFill>
                <a:latin typeface="Arial" pitchFamily="34" charset="0"/>
                <a:cs typeface="Arial" pitchFamily="34" charset="0"/>
              </a:rPr>
              <a:t>), and so forth.  </a:t>
            </a:r>
          </a:p>
          <a:p>
            <a:pPr marL="457200" indent="-457200" algn="just">
              <a:spcBef>
                <a:spcPts val="600"/>
              </a:spcBef>
              <a:spcAft>
                <a:spcPts val="600"/>
              </a:spcAft>
              <a:buFont typeface="Wingdings" pitchFamily="2" charset="2"/>
              <a:buChar char="v"/>
            </a:pPr>
            <a:r>
              <a:rPr lang="en-US" sz="2100" dirty="0" smtClean="0">
                <a:solidFill>
                  <a:schemeClr val="accent2"/>
                </a:solidFill>
                <a:latin typeface="Arial" pitchFamily="34" charset="0"/>
                <a:cs typeface="Arial" pitchFamily="34" charset="0"/>
              </a:rPr>
              <a:t>In order to fill the first cell, we'll have to translate the new points "back" into the first cell.</a:t>
            </a:r>
            <a:endParaRPr lang="en-US" sz="2100" dirty="0">
              <a:solidFill>
                <a:schemeClr val="accent2"/>
              </a:solidFill>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6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7"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p:txBody>
          <a:bodyPr/>
          <a:lstStyle/>
          <a:p>
            <a:fld id="{3F9DA6D4-B775-4B1F-A0FC-CA3E74C59AE3}" type="slidenum">
              <a:rPr lang="en-US"/>
              <a:pPr/>
              <a:t>46</a:t>
            </a:fld>
            <a:endParaRPr lang="en-US"/>
          </a:p>
        </p:txBody>
      </p:sp>
      <p:pic>
        <p:nvPicPr>
          <p:cNvPr id="48130" name="Picture 2" descr="C:\Documents and Settings\Administrator\Desktop\1.5\screw_u\43threecell_6.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48132"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48133"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48134"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48135"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48136"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48137" name="Object 9"/>
          <p:cNvGraphicFramePr>
            <a:graphicFrameLocks noChangeAspect="1"/>
          </p:cNvGraphicFramePr>
          <p:nvPr/>
        </p:nvGraphicFramePr>
        <p:xfrm>
          <a:off x="7023100" y="3276600"/>
          <a:ext cx="1511300" cy="365125"/>
        </p:xfrm>
        <a:graphic>
          <a:graphicData uri="http://schemas.openxmlformats.org/presentationml/2006/ole">
            <p:oleObj spid="_x0000_s698370" name="Equation" r:id="rId5" imgW="1422400" imgH="342900" progId="">
              <p:embed/>
            </p:oleObj>
          </a:graphicData>
        </a:graphic>
      </p:graphicFrame>
      <p:graphicFrame>
        <p:nvGraphicFramePr>
          <p:cNvPr id="48138" name="Object 10"/>
          <p:cNvGraphicFramePr>
            <a:graphicFrameLocks noChangeAspect="1"/>
          </p:cNvGraphicFramePr>
          <p:nvPr/>
        </p:nvGraphicFramePr>
        <p:xfrm>
          <a:off x="7058025" y="6096000"/>
          <a:ext cx="942975" cy="344488"/>
        </p:xfrm>
        <a:graphic>
          <a:graphicData uri="http://schemas.openxmlformats.org/presentationml/2006/ole">
            <p:oleObj spid="_x0000_s698371" name="Equation" r:id="rId6" imgW="799920" imgH="291960" progId="">
              <p:embed/>
            </p:oleObj>
          </a:graphicData>
        </a:graphic>
      </p:graphicFrame>
      <p:graphicFrame>
        <p:nvGraphicFramePr>
          <p:cNvPr id="48139" name="Object 11"/>
          <p:cNvGraphicFramePr>
            <a:graphicFrameLocks noChangeAspect="1"/>
          </p:cNvGraphicFramePr>
          <p:nvPr/>
        </p:nvGraphicFramePr>
        <p:xfrm>
          <a:off x="7026275" y="4664075"/>
          <a:ext cx="1508125" cy="365125"/>
        </p:xfrm>
        <a:graphic>
          <a:graphicData uri="http://schemas.openxmlformats.org/presentationml/2006/ole">
            <p:oleObj spid="_x0000_s698372" name="Equation" r:id="rId7" imgW="1409088" imgH="342751" progId="">
              <p:embed/>
            </p:oleObj>
          </a:graphicData>
        </a:graphic>
      </p:graphicFrame>
      <p:graphicFrame>
        <p:nvGraphicFramePr>
          <p:cNvPr id="48140" name="Object 12"/>
          <p:cNvGraphicFramePr>
            <a:graphicFrameLocks noChangeAspect="1"/>
          </p:cNvGraphicFramePr>
          <p:nvPr/>
        </p:nvGraphicFramePr>
        <p:xfrm>
          <a:off x="6989763" y="1905000"/>
          <a:ext cx="1544637" cy="368300"/>
        </p:xfrm>
        <a:graphic>
          <a:graphicData uri="http://schemas.openxmlformats.org/presentationml/2006/ole">
            <p:oleObj spid="_x0000_s698373" name="Equation" r:id="rId8" imgW="1435100" imgH="342900" progId="">
              <p:embed/>
            </p:oleObj>
          </a:graphicData>
        </a:graphic>
      </p:graphicFrame>
      <p:graphicFrame>
        <p:nvGraphicFramePr>
          <p:cNvPr id="48141" name="Object 13"/>
          <p:cNvGraphicFramePr>
            <a:graphicFrameLocks noChangeAspect="1"/>
          </p:cNvGraphicFramePr>
          <p:nvPr/>
        </p:nvGraphicFramePr>
        <p:xfrm>
          <a:off x="6934200" y="546100"/>
          <a:ext cx="1600200" cy="347663"/>
        </p:xfrm>
        <a:graphic>
          <a:graphicData uri="http://schemas.openxmlformats.org/presentationml/2006/ole">
            <p:oleObj spid="_x0000_s698374" name="Equation" r:id="rId9" imgW="1472561" imgH="317362" progId="">
              <p:embed/>
            </p:oleObj>
          </a:graphicData>
        </a:graphic>
      </p:graphicFrame>
      <p:grpSp>
        <p:nvGrpSpPr>
          <p:cNvPr id="3" name="Group 14"/>
          <p:cNvGrpSpPr>
            <a:grpSpLocks/>
          </p:cNvGrpSpPr>
          <p:nvPr/>
        </p:nvGrpSpPr>
        <p:grpSpPr bwMode="auto">
          <a:xfrm>
            <a:off x="304800" y="1676400"/>
            <a:ext cx="6019800" cy="2590800"/>
            <a:chOff x="192" y="1056"/>
            <a:chExt cx="3792" cy="1632"/>
          </a:xfrm>
        </p:grpSpPr>
        <p:sp>
          <p:nvSpPr>
            <p:cNvPr id="48143" name="Line 15"/>
            <p:cNvSpPr>
              <a:spLocks noChangeShapeType="1"/>
            </p:cNvSpPr>
            <p:nvPr/>
          </p:nvSpPr>
          <p:spPr bwMode="auto">
            <a:xfrm flipV="1">
              <a:off x="1440" y="1680"/>
              <a:ext cx="2544" cy="576"/>
            </a:xfrm>
            <a:prstGeom prst="line">
              <a:avLst/>
            </a:prstGeom>
            <a:noFill/>
            <a:ln w="9525">
              <a:solidFill>
                <a:schemeClr val="accent2"/>
              </a:solidFill>
              <a:round/>
              <a:headEnd/>
              <a:tailEnd type="triangle" w="med" len="med"/>
            </a:ln>
            <a:effectLst/>
          </p:spPr>
          <p:txBody>
            <a:bodyPr/>
            <a:lstStyle/>
            <a:p>
              <a:endParaRPr lang="en-US"/>
            </a:p>
          </p:txBody>
        </p:sp>
        <p:sp>
          <p:nvSpPr>
            <p:cNvPr id="48144" name="Line 16"/>
            <p:cNvSpPr>
              <a:spLocks noChangeShapeType="1"/>
            </p:cNvSpPr>
            <p:nvPr/>
          </p:nvSpPr>
          <p:spPr bwMode="auto">
            <a:xfrm>
              <a:off x="1440" y="2256"/>
              <a:ext cx="2544" cy="432"/>
            </a:xfrm>
            <a:prstGeom prst="line">
              <a:avLst/>
            </a:prstGeom>
            <a:noFill/>
            <a:ln w="9525">
              <a:solidFill>
                <a:schemeClr val="accent2"/>
              </a:solidFill>
              <a:round/>
              <a:headEnd/>
              <a:tailEnd type="triangle" w="med" len="med"/>
            </a:ln>
            <a:effectLst/>
          </p:spPr>
          <p:txBody>
            <a:bodyPr/>
            <a:lstStyle/>
            <a:p>
              <a:endParaRPr lang="en-US"/>
            </a:p>
          </p:txBody>
        </p:sp>
        <p:sp>
          <p:nvSpPr>
            <p:cNvPr id="48145" name="AutoShape 17"/>
            <p:cNvSpPr>
              <a:spLocks noChangeArrowheads="1"/>
            </p:cNvSpPr>
            <p:nvPr/>
          </p:nvSpPr>
          <p:spPr bwMode="auto">
            <a:xfrm>
              <a:off x="192" y="1056"/>
              <a:ext cx="1200" cy="768"/>
            </a:xfrm>
            <a:prstGeom prst="wedgeRoundRectCallout">
              <a:avLst>
                <a:gd name="adj1" fmla="val 55417"/>
                <a:gd name="adj2" fmla="val 108722"/>
                <a:gd name="adj3" fmla="val 16667"/>
              </a:avLst>
            </a:prstGeom>
            <a:noFill/>
            <a:ln w="9525">
              <a:solidFill>
                <a:schemeClr val="accent2"/>
              </a:solidFill>
              <a:miter lim="800000"/>
              <a:headEnd/>
              <a:tailEnd/>
            </a:ln>
            <a:effectLst/>
          </p:spPr>
          <p:txBody>
            <a:bodyPr/>
            <a:lstStyle/>
            <a:p>
              <a:pPr algn="ctr"/>
              <a:r>
                <a:rPr lang="en-US" sz="1800">
                  <a:solidFill>
                    <a:schemeClr val="accent2"/>
                  </a:solidFill>
                  <a:latin typeface="Arial" pitchFamily="34" charset="0"/>
                </a:rPr>
                <a:t>Translate point at (</a:t>
              </a:r>
              <a:r>
                <a:rPr lang="en-US" sz="1800" i="1">
                  <a:solidFill>
                    <a:schemeClr val="accent2"/>
                  </a:solidFill>
                  <a:latin typeface="Arial" pitchFamily="34" charset="0"/>
                </a:rPr>
                <a:t>x</a:t>
              </a:r>
              <a:r>
                <a:rPr lang="en-US" sz="1800">
                  <a:solidFill>
                    <a:schemeClr val="accent2"/>
                  </a:solidFill>
                  <a:latin typeface="Arial" pitchFamily="34" charset="0"/>
                </a:rPr>
                <a:t>, </a:t>
              </a:r>
              <a:r>
                <a:rPr lang="en-US" sz="1800" i="1">
                  <a:solidFill>
                    <a:schemeClr val="accent2"/>
                  </a:solidFill>
                  <a:latin typeface="Arial" pitchFamily="34" charset="0"/>
                </a:rPr>
                <a:t>y</a:t>
              </a:r>
              <a:r>
                <a:rPr lang="en-US" sz="1800">
                  <a:solidFill>
                    <a:schemeClr val="accent2"/>
                  </a:solidFill>
                  <a:latin typeface="Arial" pitchFamily="34" charset="0"/>
                </a:rPr>
                <a:t>, 3 + </a:t>
              </a:r>
              <a:r>
                <a:rPr lang="en-US" sz="1800" i="1">
                  <a:solidFill>
                    <a:schemeClr val="accent2"/>
                  </a:solidFill>
                  <a:latin typeface="Arial" pitchFamily="34" charset="0"/>
                </a:rPr>
                <a:t>z</a:t>
              </a:r>
              <a:r>
                <a:rPr lang="en-US" sz="1800">
                  <a:solidFill>
                    <a:schemeClr val="accent2"/>
                  </a:solidFill>
                  <a:latin typeface="Arial" pitchFamily="34" charset="0"/>
                </a:rPr>
                <a:t>)    -1 and -2 unit cells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p:txBody>
          <a:bodyPr/>
          <a:lstStyle/>
          <a:p>
            <a:fld id="{97EC5A1C-0D4F-4504-A906-47FCAABD70DB}" type="slidenum">
              <a:rPr lang="en-US"/>
              <a:pPr/>
              <a:t>47</a:t>
            </a:fld>
            <a:endParaRPr lang="en-US"/>
          </a:p>
        </p:txBody>
      </p:sp>
      <p:pic>
        <p:nvPicPr>
          <p:cNvPr id="27650" name="Picture 2" descr="C:\Documents and Settings\Administrator\Desktop\1.5\screw_u\43threecell_7.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27652"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27653"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27654"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27655"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27656"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27657" name="Object 9"/>
          <p:cNvGraphicFramePr>
            <a:graphicFrameLocks noChangeAspect="1"/>
          </p:cNvGraphicFramePr>
          <p:nvPr/>
        </p:nvGraphicFramePr>
        <p:xfrm>
          <a:off x="7023100" y="3276600"/>
          <a:ext cx="1511300" cy="365125"/>
        </p:xfrm>
        <a:graphic>
          <a:graphicData uri="http://schemas.openxmlformats.org/presentationml/2006/ole">
            <p:oleObj spid="_x0000_s699394" name="Equation" r:id="rId5" imgW="1422400" imgH="342900" progId="">
              <p:embed/>
            </p:oleObj>
          </a:graphicData>
        </a:graphic>
      </p:graphicFrame>
      <p:graphicFrame>
        <p:nvGraphicFramePr>
          <p:cNvPr id="27658" name="Object 10"/>
          <p:cNvGraphicFramePr>
            <a:graphicFrameLocks noChangeAspect="1"/>
          </p:cNvGraphicFramePr>
          <p:nvPr/>
        </p:nvGraphicFramePr>
        <p:xfrm>
          <a:off x="7058025" y="6096000"/>
          <a:ext cx="942975" cy="344488"/>
        </p:xfrm>
        <a:graphic>
          <a:graphicData uri="http://schemas.openxmlformats.org/presentationml/2006/ole">
            <p:oleObj spid="_x0000_s699395" name="Equation" r:id="rId6" imgW="799920" imgH="291960" progId="">
              <p:embed/>
            </p:oleObj>
          </a:graphicData>
        </a:graphic>
      </p:graphicFrame>
      <p:graphicFrame>
        <p:nvGraphicFramePr>
          <p:cNvPr id="27659" name="Object 11"/>
          <p:cNvGraphicFramePr>
            <a:graphicFrameLocks noChangeAspect="1"/>
          </p:cNvGraphicFramePr>
          <p:nvPr/>
        </p:nvGraphicFramePr>
        <p:xfrm>
          <a:off x="7026275" y="4664075"/>
          <a:ext cx="1508125" cy="365125"/>
        </p:xfrm>
        <a:graphic>
          <a:graphicData uri="http://schemas.openxmlformats.org/presentationml/2006/ole">
            <p:oleObj spid="_x0000_s699396" name="Equation" r:id="rId7" imgW="1409088" imgH="342751" progId="">
              <p:embed/>
            </p:oleObj>
          </a:graphicData>
        </a:graphic>
      </p:graphicFrame>
      <p:graphicFrame>
        <p:nvGraphicFramePr>
          <p:cNvPr id="27660" name="Object 12"/>
          <p:cNvGraphicFramePr>
            <a:graphicFrameLocks noChangeAspect="1"/>
          </p:cNvGraphicFramePr>
          <p:nvPr/>
        </p:nvGraphicFramePr>
        <p:xfrm>
          <a:off x="6989763" y="1905000"/>
          <a:ext cx="1544637" cy="368300"/>
        </p:xfrm>
        <a:graphic>
          <a:graphicData uri="http://schemas.openxmlformats.org/presentationml/2006/ole">
            <p:oleObj spid="_x0000_s699397" name="Equation" r:id="rId8" imgW="1435100" imgH="342900" progId="">
              <p:embed/>
            </p:oleObj>
          </a:graphicData>
        </a:graphic>
      </p:graphicFrame>
      <p:graphicFrame>
        <p:nvGraphicFramePr>
          <p:cNvPr id="27661" name="Object 13"/>
          <p:cNvGraphicFramePr>
            <a:graphicFrameLocks noChangeAspect="1"/>
          </p:cNvGraphicFramePr>
          <p:nvPr/>
        </p:nvGraphicFramePr>
        <p:xfrm>
          <a:off x="6934200" y="546100"/>
          <a:ext cx="1600200" cy="347663"/>
        </p:xfrm>
        <a:graphic>
          <a:graphicData uri="http://schemas.openxmlformats.org/presentationml/2006/ole">
            <p:oleObj spid="_x0000_s699398" name="Equation" r:id="rId9" imgW="1472561" imgH="317362" progId="">
              <p:embed/>
            </p:oleObj>
          </a:graphicData>
        </a:graphic>
      </p:graphicFrame>
      <p:grpSp>
        <p:nvGrpSpPr>
          <p:cNvPr id="3" name="Group 21"/>
          <p:cNvGrpSpPr>
            <a:grpSpLocks/>
          </p:cNvGrpSpPr>
          <p:nvPr/>
        </p:nvGrpSpPr>
        <p:grpSpPr bwMode="auto">
          <a:xfrm>
            <a:off x="304800" y="1676400"/>
            <a:ext cx="6019800" cy="2590800"/>
            <a:chOff x="192" y="1056"/>
            <a:chExt cx="3792" cy="1632"/>
          </a:xfrm>
        </p:grpSpPr>
        <p:sp>
          <p:nvSpPr>
            <p:cNvPr id="27670" name="Line 22"/>
            <p:cNvSpPr>
              <a:spLocks noChangeShapeType="1"/>
            </p:cNvSpPr>
            <p:nvPr/>
          </p:nvSpPr>
          <p:spPr bwMode="auto">
            <a:xfrm flipV="1">
              <a:off x="1440" y="1680"/>
              <a:ext cx="2544" cy="576"/>
            </a:xfrm>
            <a:prstGeom prst="line">
              <a:avLst/>
            </a:prstGeom>
            <a:noFill/>
            <a:ln w="9525">
              <a:solidFill>
                <a:schemeClr val="accent2"/>
              </a:solidFill>
              <a:round/>
              <a:headEnd/>
              <a:tailEnd type="triangle" w="med" len="med"/>
            </a:ln>
            <a:effectLst/>
          </p:spPr>
          <p:txBody>
            <a:bodyPr/>
            <a:lstStyle/>
            <a:p>
              <a:endParaRPr lang="en-US"/>
            </a:p>
          </p:txBody>
        </p:sp>
        <p:sp>
          <p:nvSpPr>
            <p:cNvPr id="27671" name="Line 23"/>
            <p:cNvSpPr>
              <a:spLocks noChangeShapeType="1"/>
            </p:cNvSpPr>
            <p:nvPr/>
          </p:nvSpPr>
          <p:spPr bwMode="auto">
            <a:xfrm>
              <a:off x="1440" y="2256"/>
              <a:ext cx="2544" cy="432"/>
            </a:xfrm>
            <a:prstGeom prst="line">
              <a:avLst/>
            </a:prstGeom>
            <a:noFill/>
            <a:ln w="9525">
              <a:solidFill>
                <a:schemeClr val="accent2"/>
              </a:solidFill>
              <a:round/>
              <a:headEnd/>
              <a:tailEnd type="triangle" w="med" len="med"/>
            </a:ln>
            <a:effectLst/>
          </p:spPr>
          <p:txBody>
            <a:bodyPr/>
            <a:lstStyle/>
            <a:p>
              <a:endParaRPr lang="en-US"/>
            </a:p>
          </p:txBody>
        </p:sp>
        <p:sp>
          <p:nvSpPr>
            <p:cNvPr id="27672" name="AutoShape 24"/>
            <p:cNvSpPr>
              <a:spLocks noChangeArrowheads="1"/>
            </p:cNvSpPr>
            <p:nvPr/>
          </p:nvSpPr>
          <p:spPr bwMode="auto">
            <a:xfrm>
              <a:off x="192" y="1056"/>
              <a:ext cx="1200" cy="768"/>
            </a:xfrm>
            <a:prstGeom prst="wedgeRoundRectCallout">
              <a:avLst>
                <a:gd name="adj1" fmla="val 55417"/>
                <a:gd name="adj2" fmla="val 108722"/>
                <a:gd name="adj3" fmla="val 16667"/>
              </a:avLst>
            </a:prstGeom>
            <a:noFill/>
            <a:ln w="9525">
              <a:solidFill>
                <a:schemeClr val="accent2"/>
              </a:solidFill>
              <a:miter lim="800000"/>
              <a:headEnd/>
              <a:tailEnd/>
            </a:ln>
            <a:effectLst/>
          </p:spPr>
          <p:txBody>
            <a:bodyPr/>
            <a:lstStyle/>
            <a:p>
              <a:pPr algn="ctr"/>
              <a:r>
                <a:rPr lang="en-US" sz="1800">
                  <a:solidFill>
                    <a:schemeClr val="accent2"/>
                  </a:solidFill>
                  <a:latin typeface="Arial" pitchFamily="34" charset="0"/>
                </a:rPr>
                <a:t>Translate point at (</a:t>
              </a:r>
              <a:r>
                <a:rPr lang="en-US" sz="1800" i="1">
                  <a:solidFill>
                    <a:schemeClr val="accent2"/>
                  </a:solidFill>
                  <a:latin typeface="Arial" pitchFamily="34" charset="0"/>
                </a:rPr>
                <a:t>x</a:t>
              </a:r>
              <a:r>
                <a:rPr lang="en-US" sz="1800">
                  <a:solidFill>
                    <a:schemeClr val="accent2"/>
                  </a:solidFill>
                  <a:latin typeface="Arial" pitchFamily="34" charset="0"/>
                </a:rPr>
                <a:t>, </a:t>
              </a:r>
              <a:r>
                <a:rPr lang="en-US" sz="1800" i="1">
                  <a:solidFill>
                    <a:schemeClr val="accent2"/>
                  </a:solidFill>
                  <a:latin typeface="Arial" pitchFamily="34" charset="0"/>
                </a:rPr>
                <a:t>y</a:t>
              </a:r>
              <a:r>
                <a:rPr lang="en-US" sz="1800">
                  <a:solidFill>
                    <a:schemeClr val="accent2"/>
                  </a:solidFill>
                  <a:latin typeface="Arial" pitchFamily="34" charset="0"/>
                </a:rPr>
                <a:t>, 3 + </a:t>
              </a:r>
              <a:r>
                <a:rPr lang="en-US" sz="1800" i="1">
                  <a:solidFill>
                    <a:schemeClr val="accent2"/>
                  </a:solidFill>
                  <a:latin typeface="Arial" pitchFamily="34" charset="0"/>
                </a:rPr>
                <a:t>z</a:t>
              </a:r>
              <a:r>
                <a:rPr lang="en-US" sz="1800">
                  <a:solidFill>
                    <a:schemeClr val="accent2"/>
                  </a:solidFill>
                  <a:latin typeface="Arial" pitchFamily="34" charset="0"/>
                </a:rPr>
                <a:t>)    -1 and -2 unit cells</a:t>
              </a:r>
            </a:p>
          </p:txBody>
        </p:sp>
      </p:gr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p:txBody>
          <a:bodyPr/>
          <a:lstStyle/>
          <a:p>
            <a:fld id="{BE56FB01-6F30-4BE5-93CA-928B1D833282}" type="slidenum">
              <a:rPr lang="en-US"/>
              <a:pPr/>
              <a:t>48</a:t>
            </a:fld>
            <a:endParaRPr lang="en-US"/>
          </a:p>
        </p:txBody>
      </p:sp>
      <p:pic>
        <p:nvPicPr>
          <p:cNvPr id="37890" name="Picture 2" descr="C:\Documents and Settings\Administrator\Desktop\1.5\screw_u\43threecell_7.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37892"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37893"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37894"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37895"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37896"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37897" name="Object 9"/>
          <p:cNvGraphicFramePr>
            <a:graphicFrameLocks noChangeAspect="1"/>
          </p:cNvGraphicFramePr>
          <p:nvPr/>
        </p:nvGraphicFramePr>
        <p:xfrm>
          <a:off x="7023100" y="3276600"/>
          <a:ext cx="1511300" cy="365125"/>
        </p:xfrm>
        <a:graphic>
          <a:graphicData uri="http://schemas.openxmlformats.org/presentationml/2006/ole">
            <p:oleObj spid="_x0000_s700418" name="Equation" r:id="rId5" imgW="1422400" imgH="342900" progId="">
              <p:embed/>
            </p:oleObj>
          </a:graphicData>
        </a:graphic>
      </p:graphicFrame>
      <p:graphicFrame>
        <p:nvGraphicFramePr>
          <p:cNvPr id="37898" name="Object 10"/>
          <p:cNvGraphicFramePr>
            <a:graphicFrameLocks noChangeAspect="1"/>
          </p:cNvGraphicFramePr>
          <p:nvPr/>
        </p:nvGraphicFramePr>
        <p:xfrm>
          <a:off x="7058025" y="6096000"/>
          <a:ext cx="942975" cy="344488"/>
        </p:xfrm>
        <a:graphic>
          <a:graphicData uri="http://schemas.openxmlformats.org/presentationml/2006/ole">
            <p:oleObj spid="_x0000_s700419" name="Equation" r:id="rId6" imgW="799920" imgH="291960" progId="">
              <p:embed/>
            </p:oleObj>
          </a:graphicData>
        </a:graphic>
      </p:graphicFrame>
      <p:graphicFrame>
        <p:nvGraphicFramePr>
          <p:cNvPr id="37899" name="Object 11"/>
          <p:cNvGraphicFramePr>
            <a:graphicFrameLocks noChangeAspect="1"/>
          </p:cNvGraphicFramePr>
          <p:nvPr/>
        </p:nvGraphicFramePr>
        <p:xfrm>
          <a:off x="7026275" y="4664075"/>
          <a:ext cx="1508125" cy="365125"/>
        </p:xfrm>
        <a:graphic>
          <a:graphicData uri="http://schemas.openxmlformats.org/presentationml/2006/ole">
            <p:oleObj spid="_x0000_s700420" name="Equation" r:id="rId7" imgW="1409088" imgH="342751" progId="">
              <p:embed/>
            </p:oleObj>
          </a:graphicData>
        </a:graphic>
      </p:graphicFrame>
      <p:graphicFrame>
        <p:nvGraphicFramePr>
          <p:cNvPr id="37900" name="Object 12"/>
          <p:cNvGraphicFramePr>
            <a:graphicFrameLocks noChangeAspect="1"/>
          </p:cNvGraphicFramePr>
          <p:nvPr/>
        </p:nvGraphicFramePr>
        <p:xfrm>
          <a:off x="6989763" y="1905000"/>
          <a:ext cx="1544637" cy="368300"/>
        </p:xfrm>
        <a:graphic>
          <a:graphicData uri="http://schemas.openxmlformats.org/presentationml/2006/ole">
            <p:oleObj spid="_x0000_s700421" name="Equation" r:id="rId8" imgW="1435100" imgH="342900" progId="">
              <p:embed/>
            </p:oleObj>
          </a:graphicData>
        </a:graphic>
      </p:graphicFrame>
      <p:graphicFrame>
        <p:nvGraphicFramePr>
          <p:cNvPr id="37901" name="Object 13"/>
          <p:cNvGraphicFramePr>
            <a:graphicFrameLocks noChangeAspect="1"/>
          </p:cNvGraphicFramePr>
          <p:nvPr/>
        </p:nvGraphicFramePr>
        <p:xfrm>
          <a:off x="6934200" y="546100"/>
          <a:ext cx="1600200" cy="347663"/>
        </p:xfrm>
        <a:graphic>
          <a:graphicData uri="http://schemas.openxmlformats.org/presentationml/2006/ole">
            <p:oleObj spid="_x0000_s700422" name="Equation" r:id="rId9" imgW="1472561" imgH="317362" progId="">
              <p:embed/>
            </p:oleObj>
          </a:graphicData>
        </a:graphic>
      </p:graphicFrame>
      <p:grpSp>
        <p:nvGrpSpPr>
          <p:cNvPr id="3" name="Group 24"/>
          <p:cNvGrpSpPr>
            <a:grpSpLocks/>
          </p:cNvGrpSpPr>
          <p:nvPr/>
        </p:nvGrpSpPr>
        <p:grpSpPr bwMode="auto">
          <a:xfrm>
            <a:off x="228600" y="3124200"/>
            <a:ext cx="6019800" cy="2590800"/>
            <a:chOff x="144" y="1968"/>
            <a:chExt cx="3792" cy="1632"/>
          </a:xfrm>
        </p:grpSpPr>
        <p:sp>
          <p:nvSpPr>
            <p:cNvPr id="37907" name="Line 19"/>
            <p:cNvSpPr>
              <a:spLocks noChangeShapeType="1"/>
            </p:cNvSpPr>
            <p:nvPr/>
          </p:nvSpPr>
          <p:spPr bwMode="auto">
            <a:xfrm flipV="1">
              <a:off x="1392" y="2592"/>
              <a:ext cx="2544" cy="576"/>
            </a:xfrm>
            <a:prstGeom prst="line">
              <a:avLst/>
            </a:prstGeom>
            <a:noFill/>
            <a:ln w="9525">
              <a:solidFill>
                <a:schemeClr val="accent2"/>
              </a:solidFill>
              <a:round/>
              <a:headEnd/>
              <a:tailEnd type="triangle" w="med" len="med"/>
            </a:ln>
            <a:effectLst/>
          </p:spPr>
          <p:txBody>
            <a:bodyPr/>
            <a:lstStyle/>
            <a:p>
              <a:endParaRPr lang="en-US"/>
            </a:p>
          </p:txBody>
        </p:sp>
        <p:sp>
          <p:nvSpPr>
            <p:cNvPr id="37908" name="Line 20"/>
            <p:cNvSpPr>
              <a:spLocks noChangeShapeType="1"/>
            </p:cNvSpPr>
            <p:nvPr/>
          </p:nvSpPr>
          <p:spPr bwMode="auto">
            <a:xfrm>
              <a:off x="1392" y="3168"/>
              <a:ext cx="2544" cy="432"/>
            </a:xfrm>
            <a:prstGeom prst="line">
              <a:avLst/>
            </a:prstGeom>
            <a:noFill/>
            <a:ln w="9525">
              <a:solidFill>
                <a:schemeClr val="accent2"/>
              </a:solidFill>
              <a:round/>
              <a:headEnd/>
              <a:tailEnd type="triangle" w="med" len="med"/>
            </a:ln>
            <a:effectLst/>
          </p:spPr>
          <p:txBody>
            <a:bodyPr/>
            <a:lstStyle/>
            <a:p>
              <a:endParaRPr lang="en-US"/>
            </a:p>
          </p:txBody>
        </p:sp>
        <p:sp>
          <p:nvSpPr>
            <p:cNvPr id="37909" name="AutoShape 21"/>
            <p:cNvSpPr>
              <a:spLocks noChangeArrowheads="1"/>
            </p:cNvSpPr>
            <p:nvPr/>
          </p:nvSpPr>
          <p:spPr bwMode="auto">
            <a:xfrm>
              <a:off x="144" y="1968"/>
              <a:ext cx="1296" cy="768"/>
            </a:xfrm>
            <a:prstGeom prst="wedgeRoundRectCallout">
              <a:avLst>
                <a:gd name="adj1" fmla="val 47606"/>
                <a:gd name="adj2" fmla="val 108722"/>
                <a:gd name="adj3" fmla="val 16667"/>
              </a:avLst>
            </a:prstGeom>
            <a:noFill/>
            <a:ln w="9525">
              <a:solidFill>
                <a:schemeClr val="accent2"/>
              </a:solidFill>
              <a:miter lim="800000"/>
              <a:headEnd/>
              <a:tailEnd/>
            </a:ln>
            <a:effectLst/>
          </p:spPr>
          <p:txBody>
            <a:bodyPr/>
            <a:lstStyle/>
            <a:p>
              <a:pPr algn="ctr"/>
              <a:r>
                <a:rPr lang="en-US" sz="1800">
                  <a:solidFill>
                    <a:schemeClr val="accent2"/>
                  </a:solidFill>
                  <a:latin typeface="Arial" pitchFamily="34" charset="0"/>
                </a:rPr>
                <a:t>Translate point at (</a:t>
              </a:r>
              <a:r>
                <a:rPr lang="en-US" sz="1800" i="1">
                  <a:solidFill>
                    <a:schemeClr val="accent2"/>
                  </a:solidFill>
                  <a:latin typeface="Arial" pitchFamily="34" charset="0"/>
                </a:rPr>
                <a:t>y</a:t>
              </a:r>
              <a:r>
                <a:rPr lang="en-US" sz="1800">
                  <a:solidFill>
                    <a:schemeClr val="accent2"/>
                  </a:solidFill>
                  <a:latin typeface="Arial" pitchFamily="34" charset="0"/>
                </a:rPr>
                <a:t>, -</a:t>
              </a:r>
              <a:r>
                <a:rPr lang="en-US" sz="1800" i="1">
                  <a:solidFill>
                    <a:schemeClr val="accent2"/>
                  </a:solidFill>
                  <a:latin typeface="Arial" pitchFamily="34" charset="0"/>
                </a:rPr>
                <a:t>x</a:t>
              </a:r>
              <a:r>
                <a:rPr lang="en-US" sz="1800">
                  <a:solidFill>
                    <a:schemeClr val="accent2"/>
                  </a:solidFill>
                  <a:latin typeface="Arial" pitchFamily="34" charset="0"/>
                </a:rPr>
                <a:t>, 9/4 + </a:t>
              </a:r>
              <a:r>
                <a:rPr lang="en-US" sz="1800" i="1">
                  <a:solidFill>
                    <a:schemeClr val="accent2"/>
                  </a:solidFill>
                  <a:latin typeface="Arial" pitchFamily="34" charset="0"/>
                </a:rPr>
                <a:t>z</a:t>
              </a:r>
              <a:r>
                <a:rPr lang="en-US" sz="1800">
                  <a:solidFill>
                    <a:schemeClr val="accent2"/>
                  </a:solidFill>
                  <a:latin typeface="Arial" pitchFamily="34" charset="0"/>
                </a:rPr>
                <a:t>) -1 and -2 unit cells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3"/>
          <p:cNvSpPr>
            <a:spLocks noGrp="1"/>
          </p:cNvSpPr>
          <p:nvPr>
            <p:ph type="sldNum" sz="quarter" idx="12"/>
          </p:nvPr>
        </p:nvSpPr>
        <p:spPr/>
        <p:txBody>
          <a:bodyPr/>
          <a:lstStyle/>
          <a:p>
            <a:fld id="{14AF5C8B-67FF-4053-8C4D-0EFB709CC718}" type="slidenum">
              <a:rPr lang="en-US"/>
              <a:pPr/>
              <a:t>49</a:t>
            </a:fld>
            <a:endParaRPr lang="en-US"/>
          </a:p>
        </p:txBody>
      </p:sp>
      <p:pic>
        <p:nvPicPr>
          <p:cNvPr id="28674" name="Picture 2" descr="C:\Documents and Settings\Administrator\Desktop\1.5\screw_u\43threecell_8.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28676"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28677"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28678"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28679"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28680"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28681" name="Object 9"/>
          <p:cNvGraphicFramePr>
            <a:graphicFrameLocks noChangeAspect="1"/>
          </p:cNvGraphicFramePr>
          <p:nvPr/>
        </p:nvGraphicFramePr>
        <p:xfrm>
          <a:off x="7023100" y="3276600"/>
          <a:ext cx="1511300" cy="365125"/>
        </p:xfrm>
        <a:graphic>
          <a:graphicData uri="http://schemas.openxmlformats.org/presentationml/2006/ole">
            <p:oleObj spid="_x0000_s701442" name="Equation" r:id="rId5" imgW="1422400" imgH="342900" progId="">
              <p:embed/>
            </p:oleObj>
          </a:graphicData>
        </a:graphic>
      </p:graphicFrame>
      <p:graphicFrame>
        <p:nvGraphicFramePr>
          <p:cNvPr id="28682" name="Object 10"/>
          <p:cNvGraphicFramePr>
            <a:graphicFrameLocks noChangeAspect="1"/>
          </p:cNvGraphicFramePr>
          <p:nvPr/>
        </p:nvGraphicFramePr>
        <p:xfrm>
          <a:off x="7058025" y="6096000"/>
          <a:ext cx="942975" cy="344488"/>
        </p:xfrm>
        <a:graphic>
          <a:graphicData uri="http://schemas.openxmlformats.org/presentationml/2006/ole">
            <p:oleObj spid="_x0000_s701443" name="Equation" r:id="rId6" imgW="799920" imgH="291960" progId="">
              <p:embed/>
            </p:oleObj>
          </a:graphicData>
        </a:graphic>
      </p:graphicFrame>
      <p:graphicFrame>
        <p:nvGraphicFramePr>
          <p:cNvPr id="28683" name="Object 11"/>
          <p:cNvGraphicFramePr>
            <a:graphicFrameLocks noChangeAspect="1"/>
          </p:cNvGraphicFramePr>
          <p:nvPr/>
        </p:nvGraphicFramePr>
        <p:xfrm>
          <a:off x="7026275" y="4664075"/>
          <a:ext cx="1508125" cy="365125"/>
        </p:xfrm>
        <a:graphic>
          <a:graphicData uri="http://schemas.openxmlformats.org/presentationml/2006/ole">
            <p:oleObj spid="_x0000_s701444" name="Equation" r:id="rId7" imgW="1409088" imgH="342751" progId="">
              <p:embed/>
            </p:oleObj>
          </a:graphicData>
        </a:graphic>
      </p:graphicFrame>
      <p:graphicFrame>
        <p:nvGraphicFramePr>
          <p:cNvPr id="28684" name="Object 12"/>
          <p:cNvGraphicFramePr>
            <a:graphicFrameLocks noChangeAspect="1"/>
          </p:cNvGraphicFramePr>
          <p:nvPr/>
        </p:nvGraphicFramePr>
        <p:xfrm>
          <a:off x="6989763" y="1905000"/>
          <a:ext cx="1544637" cy="368300"/>
        </p:xfrm>
        <a:graphic>
          <a:graphicData uri="http://schemas.openxmlformats.org/presentationml/2006/ole">
            <p:oleObj spid="_x0000_s701445" name="Equation" r:id="rId8" imgW="1435100" imgH="342900" progId="">
              <p:embed/>
            </p:oleObj>
          </a:graphicData>
        </a:graphic>
      </p:graphicFrame>
      <p:graphicFrame>
        <p:nvGraphicFramePr>
          <p:cNvPr id="28685" name="Object 13"/>
          <p:cNvGraphicFramePr>
            <a:graphicFrameLocks noChangeAspect="1"/>
          </p:cNvGraphicFramePr>
          <p:nvPr/>
        </p:nvGraphicFramePr>
        <p:xfrm>
          <a:off x="6934200" y="546100"/>
          <a:ext cx="1600200" cy="347663"/>
        </p:xfrm>
        <a:graphic>
          <a:graphicData uri="http://schemas.openxmlformats.org/presentationml/2006/ole">
            <p:oleObj spid="_x0000_s701446" name="Equation" r:id="rId9" imgW="1472561" imgH="317362" progId="">
              <p:embed/>
            </p:oleObj>
          </a:graphicData>
        </a:graphic>
      </p:graphicFrame>
      <p:grpSp>
        <p:nvGrpSpPr>
          <p:cNvPr id="3" name="Group 19"/>
          <p:cNvGrpSpPr>
            <a:grpSpLocks/>
          </p:cNvGrpSpPr>
          <p:nvPr/>
        </p:nvGrpSpPr>
        <p:grpSpPr bwMode="auto">
          <a:xfrm>
            <a:off x="228600" y="3124200"/>
            <a:ext cx="6019800" cy="2590800"/>
            <a:chOff x="144" y="1968"/>
            <a:chExt cx="3792" cy="1632"/>
          </a:xfrm>
        </p:grpSpPr>
        <p:sp>
          <p:nvSpPr>
            <p:cNvPr id="28692" name="Line 20"/>
            <p:cNvSpPr>
              <a:spLocks noChangeShapeType="1"/>
            </p:cNvSpPr>
            <p:nvPr/>
          </p:nvSpPr>
          <p:spPr bwMode="auto">
            <a:xfrm flipV="1">
              <a:off x="1392" y="2592"/>
              <a:ext cx="2544" cy="576"/>
            </a:xfrm>
            <a:prstGeom prst="line">
              <a:avLst/>
            </a:prstGeom>
            <a:noFill/>
            <a:ln w="9525">
              <a:solidFill>
                <a:schemeClr val="accent2"/>
              </a:solidFill>
              <a:round/>
              <a:headEnd/>
              <a:tailEnd type="triangle" w="med" len="med"/>
            </a:ln>
            <a:effectLst/>
          </p:spPr>
          <p:txBody>
            <a:bodyPr/>
            <a:lstStyle/>
            <a:p>
              <a:endParaRPr lang="en-US"/>
            </a:p>
          </p:txBody>
        </p:sp>
        <p:sp>
          <p:nvSpPr>
            <p:cNvPr id="28693" name="Line 21"/>
            <p:cNvSpPr>
              <a:spLocks noChangeShapeType="1"/>
            </p:cNvSpPr>
            <p:nvPr/>
          </p:nvSpPr>
          <p:spPr bwMode="auto">
            <a:xfrm>
              <a:off x="1392" y="3168"/>
              <a:ext cx="2544" cy="432"/>
            </a:xfrm>
            <a:prstGeom prst="line">
              <a:avLst/>
            </a:prstGeom>
            <a:noFill/>
            <a:ln w="9525">
              <a:solidFill>
                <a:schemeClr val="accent2"/>
              </a:solidFill>
              <a:round/>
              <a:headEnd/>
              <a:tailEnd type="triangle" w="med" len="med"/>
            </a:ln>
            <a:effectLst/>
          </p:spPr>
          <p:txBody>
            <a:bodyPr/>
            <a:lstStyle/>
            <a:p>
              <a:endParaRPr lang="en-US"/>
            </a:p>
          </p:txBody>
        </p:sp>
        <p:sp>
          <p:nvSpPr>
            <p:cNvPr id="28694" name="AutoShape 22"/>
            <p:cNvSpPr>
              <a:spLocks noChangeArrowheads="1"/>
            </p:cNvSpPr>
            <p:nvPr/>
          </p:nvSpPr>
          <p:spPr bwMode="auto">
            <a:xfrm>
              <a:off x="144" y="1968"/>
              <a:ext cx="1296" cy="768"/>
            </a:xfrm>
            <a:prstGeom prst="wedgeRoundRectCallout">
              <a:avLst>
                <a:gd name="adj1" fmla="val 47606"/>
                <a:gd name="adj2" fmla="val 108722"/>
                <a:gd name="adj3" fmla="val 16667"/>
              </a:avLst>
            </a:prstGeom>
            <a:noFill/>
            <a:ln w="9525">
              <a:solidFill>
                <a:schemeClr val="accent2"/>
              </a:solidFill>
              <a:miter lim="800000"/>
              <a:headEnd/>
              <a:tailEnd/>
            </a:ln>
            <a:effectLst/>
          </p:spPr>
          <p:txBody>
            <a:bodyPr/>
            <a:lstStyle/>
            <a:p>
              <a:pPr algn="ctr"/>
              <a:r>
                <a:rPr lang="en-US" sz="1800">
                  <a:solidFill>
                    <a:schemeClr val="accent2"/>
                  </a:solidFill>
                  <a:latin typeface="Arial" pitchFamily="34" charset="0"/>
                </a:rPr>
                <a:t>Translate point at (</a:t>
              </a:r>
              <a:r>
                <a:rPr lang="en-US" sz="1800" i="1">
                  <a:solidFill>
                    <a:schemeClr val="accent2"/>
                  </a:solidFill>
                  <a:latin typeface="Arial" pitchFamily="34" charset="0"/>
                </a:rPr>
                <a:t>y</a:t>
              </a:r>
              <a:r>
                <a:rPr lang="en-US" sz="1800">
                  <a:solidFill>
                    <a:schemeClr val="accent2"/>
                  </a:solidFill>
                  <a:latin typeface="Arial" pitchFamily="34" charset="0"/>
                </a:rPr>
                <a:t>, -</a:t>
              </a:r>
              <a:r>
                <a:rPr lang="en-US" sz="1800" i="1">
                  <a:solidFill>
                    <a:schemeClr val="accent2"/>
                  </a:solidFill>
                  <a:latin typeface="Arial" pitchFamily="34" charset="0"/>
                </a:rPr>
                <a:t>x</a:t>
              </a:r>
              <a:r>
                <a:rPr lang="en-US" sz="1800">
                  <a:solidFill>
                    <a:schemeClr val="accent2"/>
                  </a:solidFill>
                  <a:latin typeface="Arial" pitchFamily="34" charset="0"/>
                </a:rPr>
                <a:t>, 9/4 + </a:t>
              </a:r>
              <a:r>
                <a:rPr lang="en-US" sz="1800" i="1">
                  <a:solidFill>
                    <a:schemeClr val="accent2"/>
                  </a:solidFill>
                  <a:latin typeface="Arial" pitchFamily="34" charset="0"/>
                </a:rPr>
                <a:t>z</a:t>
              </a:r>
              <a:r>
                <a:rPr lang="en-US" sz="1800">
                  <a:solidFill>
                    <a:schemeClr val="accent2"/>
                  </a:solidFill>
                  <a:latin typeface="Arial" pitchFamily="34" charset="0"/>
                </a:rPr>
                <a:t>) -1 and -2 unit cells</a:t>
              </a:r>
            </a:p>
          </p:txBody>
        </p:sp>
      </p:grpSp>
      <p:graphicFrame>
        <p:nvGraphicFramePr>
          <p:cNvPr id="28695" name="Object 23"/>
          <p:cNvGraphicFramePr>
            <a:graphicFrameLocks noChangeAspect="1"/>
          </p:cNvGraphicFramePr>
          <p:nvPr/>
        </p:nvGraphicFramePr>
        <p:xfrm>
          <a:off x="7031038" y="5575300"/>
          <a:ext cx="1503362" cy="368300"/>
        </p:xfrm>
        <a:graphic>
          <a:graphicData uri="http://schemas.openxmlformats.org/presentationml/2006/ole">
            <p:oleObj spid="_x0000_s701447" name="Equation" r:id="rId10" imgW="44701200" imgH="10962720" progId="">
              <p:embed/>
            </p:oleObj>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p:cNvSpPr>
            <a:spLocks noGrp="1"/>
          </p:cNvSpPr>
          <p:nvPr>
            <p:ph type="sldNum" sz="quarter" idx="12"/>
          </p:nvPr>
        </p:nvSpPr>
        <p:spPr/>
        <p:txBody>
          <a:bodyPr/>
          <a:lstStyle/>
          <a:p>
            <a:fld id="{B8190B52-681C-4959-B9C1-88BFD41DAB26}" type="slidenum">
              <a:rPr lang="en-US"/>
              <a:pPr/>
              <a:t>50</a:t>
            </a:fld>
            <a:endParaRPr lang="en-US"/>
          </a:p>
        </p:txBody>
      </p:sp>
      <p:pic>
        <p:nvPicPr>
          <p:cNvPr id="43010" name="Picture 2" descr="C:\Documents and Settings\Administrator\Desktop\1.5\screw_u\43threecell_8.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43012"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43013"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43014"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43015"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43016"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104448" name="Object 0"/>
          <p:cNvGraphicFramePr>
            <a:graphicFrameLocks noChangeAspect="1"/>
          </p:cNvGraphicFramePr>
          <p:nvPr/>
        </p:nvGraphicFramePr>
        <p:xfrm>
          <a:off x="7023100" y="3276600"/>
          <a:ext cx="1511300" cy="365125"/>
        </p:xfrm>
        <a:graphic>
          <a:graphicData uri="http://schemas.openxmlformats.org/presentationml/2006/ole">
            <p:oleObj spid="_x0000_s702466" name="Equation" r:id="rId5" imgW="1422400" imgH="342900" progId="">
              <p:embed/>
            </p:oleObj>
          </a:graphicData>
        </a:graphic>
      </p:graphicFrame>
      <p:graphicFrame>
        <p:nvGraphicFramePr>
          <p:cNvPr id="104449" name="Object 1"/>
          <p:cNvGraphicFramePr>
            <a:graphicFrameLocks noChangeAspect="1"/>
          </p:cNvGraphicFramePr>
          <p:nvPr/>
        </p:nvGraphicFramePr>
        <p:xfrm>
          <a:off x="7058025" y="6096000"/>
          <a:ext cx="942975" cy="344488"/>
        </p:xfrm>
        <a:graphic>
          <a:graphicData uri="http://schemas.openxmlformats.org/presentationml/2006/ole">
            <p:oleObj spid="_x0000_s702467" name="Equation" r:id="rId6" imgW="799920" imgH="291960" progId="">
              <p:embed/>
            </p:oleObj>
          </a:graphicData>
        </a:graphic>
      </p:graphicFrame>
      <p:graphicFrame>
        <p:nvGraphicFramePr>
          <p:cNvPr id="104450" name="Object 2"/>
          <p:cNvGraphicFramePr>
            <a:graphicFrameLocks noChangeAspect="1"/>
          </p:cNvGraphicFramePr>
          <p:nvPr/>
        </p:nvGraphicFramePr>
        <p:xfrm>
          <a:off x="7026275" y="4664075"/>
          <a:ext cx="1508125" cy="365125"/>
        </p:xfrm>
        <a:graphic>
          <a:graphicData uri="http://schemas.openxmlformats.org/presentationml/2006/ole">
            <p:oleObj spid="_x0000_s702468" name="Equation" r:id="rId7" imgW="1409088" imgH="342751" progId="">
              <p:embed/>
            </p:oleObj>
          </a:graphicData>
        </a:graphic>
      </p:graphicFrame>
      <p:graphicFrame>
        <p:nvGraphicFramePr>
          <p:cNvPr id="104451" name="Object 3"/>
          <p:cNvGraphicFramePr>
            <a:graphicFrameLocks noChangeAspect="1"/>
          </p:cNvGraphicFramePr>
          <p:nvPr/>
        </p:nvGraphicFramePr>
        <p:xfrm>
          <a:off x="6989763" y="1905000"/>
          <a:ext cx="1544637" cy="368300"/>
        </p:xfrm>
        <a:graphic>
          <a:graphicData uri="http://schemas.openxmlformats.org/presentationml/2006/ole">
            <p:oleObj spid="_x0000_s702469" name="Equation" r:id="rId8" imgW="1435100" imgH="342900" progId="">
              <p:embed/>
            </p:oleObj>
          </a:graphicData>
        </a:graphic>
      </p:graphicFrame>
      <p:graphicFrame>
        <p:nvGraphicFramePr>
          <p:cNvPr id="104452" name="Object 4"/>
          <p:cNvGraphicFramePr>
            <a:graphicFrameLocks noChangeAspect="1"/>
          </p:cNvGraphicFramePr>
          <p:nvPr/>
        </p:nvGraphicFramePr>
        <p:xfrm>
          <a:off x="6934200" y="546100"/>
          <a:ext cx="1600200" cy="347663"/>
        </p:xfrm>
        <a:graphic>
          <a:graphicData uri="http://schemas.openxmlformats.org/presentationml/2006/ole">
            <p:oleObj spid="_x0000_s702470" name="Equation" r:id="rId9" imgW="1472561" imgH="317362" progId="">
              <p:embed/>
            </p:oleObj>
          </a:graphicData>
        </a:graphic>
      </p:graphicFrame>
      <p:graphicFrame>
        <p:nvGraphicFramePr>
          <p:cNvPr id="104453" name="Object 5"/>
          <p:cNvGraphicFramePr>
            <a:graphicFrameLocks noChangeAspect="1"/>
          </p:cNvGraphicFramePr>
          <p:nvPr/>
        </p:nvGraphicFramePr>
        <p:xfrm>
          <a:off x="7031038" y="5575300"/>
          <a:ext cx="1503362" cy="368300"/>
        </p:xfrm>
        <a:graphic>
          <a:graphicData uri="http://schemas.openxmlformats.org/presentationml/2006/ole">
            <p:oleObj spid="_x0000_s702471" name="Equation" r:id="rId10" imgW="1854720" imgH="444600" progId="">
              <p:embed/>
            </p:oleObj>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3"/>
          <p:cNvSpPr>
            <a:spLocks noGrp="1"/>
          </p:cNvSpPr>
          <p:nvPr>
            <p:ph type="sldNum" sz="quarter" idx="12"/>
          </p:nvPr>
        </p:nvSpPr>
        <p:spPr/>
        <p:txBody>
          <a:bodyPr/>
          <a:lstStyle/>
          <a:p>
            <a:fld id="{C5F63660-FD17-4967-B297-1829BAEBD951}" type="slidenum">
              <a:rPr lang="en-US"/>
              <a:pPr/>
              <a:t>51</a:t>
            </a:fld>
            <a:endParaRPr lang="en-US"/>
          </a:p>
        </p:txBody>
      </p:sp>
      <p:pic>
        <p:nvPicPr>
          <p:cNvPr id="39938" name="Picture 2" descr="C:\Documents and Settings\Administrator\Desktop\1.5\screw_u\43threecell_8.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39940"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39941"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39942"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39943"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39944"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39945" name="Object 9"/>
          <p:cNvGraphicFramePr>
            <a:graphicFrameLocks noChangeAspect="1"/>
          </p:cNvGraphicFramePr>
          <p:nvPr/>
        </p:nvGraphicFramePr>
        <p:xfrm>
          <a:off x="7023100" y="3276600"/>
          <a:ext cx="1511300" cy="365125"/>
        </p:xfrm>
        <a:graphic>
          <a:graphicData uri="http://schemas.openxmlformats.org/presentationml/2006/ole">
            <p:oleObj spid="_x0000_s703490" name="Equation" r:id="rId5" imgW="1422400" imgH="342900" progId="">
              <p:embed/>
            </p:oleObj>
          </a:graphicData>
        </a:graphic>
      </p:graphicFrame>
      <p:graphicFrame>
        <p:nvGraphicFramePr>
          <p:cNvPr id="39946" name="Object 10"/>
          <p:cNvGraphicFramePr>
            <a:graphicFrameLocks noChangeAspect="1"/>
          </p:cNvGraphicFramePr>
          <p:nvPr/>
        </p:nvGraphicFramePr>
        <p:xfrm>
          <a:off x="7058025" y="6096000"/>
          <a:ext cx="942975" cy="344488"/>
        </p:xfrm>
        <a:graphic>
          <a:graphicData uri="http://schemas.openxmlformats.org/presentationml/2006/ole">
            <p:oleObj spid="_x0000_s703491" name="Equation" r:id="rId6" imgW="799920" imgH="291960" progId="">
              <p:embed/>
            </p:oleObj>
          </a:graphicData>
        </a:graphic>
      </p:graphicFrame>
      <p:graphicFrame>
        <p:nvGraphicFramePr>
          <p:cNvPr id="39947" name="Object 11"/>
          <p:cNvGraphicFramePr>
            <a:graphicFrameLocks noChangeAspect="1"/>
          </p:cNvGraphicFramePr>
          <p:nvPr/>
        </p:nvGraphicFramePr>
        <p:xfrm>
          <a:off x="7026275" y="4664075"/>
          <a:ext cx="1508125" cy="365125"/>
        </p:xfrm>
        <a:graphic>
          <a:graphicData uri="http://schemas.openxmlformats.org/presentationml/2006/ole">
            <p:oleObj spid="_x0000_s703492" name="Equation" r:id="rId7" imgW="1409088" imgH="342751" progId="">
              <p:embed/>
            </p:oleObj>
          </a:graphicData>
        </a:graphic>
      </p:graphicFrame>
      <p:graphicFrame>
        <p:nvGraphicFramePr>
          <p:cNvPr id="39948" name="Object 12"/>
          <p:cNvGraphicFramePr>
            <a:graphicFrameLocks noChangeAspect="1"/>
          </p:cNvGraphicFramePr>
          <p:nvPr/>
        </p:nvGraphicFramePr>
        <p:xfrm>
          <a:off x="6989763" y="1905000"/>
          <a:ext cx="1544637" cy="368300"/>
        </p:xfrm>
        <a:graphic>
          <a:graphicData uri="http://schemas.openxmlformats.org/presentationml/2006/ole">
            <p:oleObj spid="_x0000_s703493" name="Equation" r:id="rId8" imgW="1435100" imgH="342900" progId="">
              <p:embed/>
            </p:oleObj>
          </a:graphicData>
        </a:graphic>
      </p:graphicFrame>
      <p:graphicFrame>
        <p:nvGraphicFramePr>
          <p:cNvPr id="39949" name="Object 13"/>
          <p:cNvGraphicFramePr>
            <a:graphicFrameLocks noChangeAspect="1"/>
          </p:cNvGraphicFramePr>
          <p:nvPr/>
        </p:nvGraphicFramePr>
        <p:xfrm>
          <a:off x="6934200" y="546100"/>
          <a:ext cx="1600200" cy="347663"/>
        </p:xfrm>
        <a:graphic>
          <a:graphicData uri="http://schemas.openxmlformats.org/presentationml/2006/ole">
            <p:oleObj spid="_x0000_s703494" name="Equation" r:id="rId9" imgW="1472561" imgH="317362" progId="">
              <p:embed/>
            </p:oleObj>
          </a:graphicData>
        </a:graphic>
      </p:graphicFrame>
      <p:grpSp>
        <p:nvGrpSpPr>
          <p:cNvPr id="3" name="Group 22"/>
          <p:cNvGrpSpPr>
            <a:grpSpLocks/>
          </p:cNvGrpSpPr>
          <p:nvPr/>
        </p:nvGrpSpPr>
        <p:grpSpPr bwMode="auto">
          <a:xfrm>
            <a:off x="76200" y="1752600"/>
            <a:ext cx="6019800" cy="3505200"/>
            <a:chOff x="48" y="1104"/>
            <a:chExt cx="3792" cy="2208"/>
          </a:xfrm>
        </p:grpSpPr>
        <p:sp>
          <p:nvSpPr>
            <p:cNvPr id="39959" name="Line 23"/>
            <p:cNvSpPr>
              <a:spLocks noChangeShapeType="1"/>
            </p:cNvSpPr>
            <p:nvPr/>
          </p:nvSpPr>
          <p:spPr bwMode="auto">
            <a:xfrm>
              <a:off x="1296" y="2880"/>
              <a:ext cx="2544" cy="432"/>
            </a:xfrm>
            <a:prstGeom prst="line">
              <a:avLst/>
            </a:prstGeom>
            <a:noFill/>
            <a:ln w="9525">
              <a:solidFill>
                <a:schemeClr val="accent2"/>
              </a:solidFill>
              <a:round/>
              <a:headEnd/>
              <a:tailEnd type="triangle" w="med" len="med"/>
            </a:ln>
            <a:effectLst/>
          </p:spPr>
          <p:txBody>
            <a:bodyPr/>
            <a:lstStyle/>
            <a:p>
              <a:endParaRPr lang="en-US"/>
            </a:p>
          </p:txBody>
        </p:sp>
        <p:sp>
          <p:nvSpPr>
            <p:cNvPr id="39960" name="AutoShape 24"/>
            <p:cNvSpPr>
              <a:spLocks noChangeArrowheads="1"/>
            </p:cNvSpPr>
            <p:nvPr/>
          </p:nvSpPr>
          <p:spPr bwMode="auto">
            <a:xfrm>
              <a:off x="48" y="1776"/>
              <a:ext cx="1440" cy="672"/>
            </a:xfrm>
            <a:prstGeom prst="wedgeRoundRectCallout">
              <a:avLst>
                <a:gd name="adj1" fmla="val 37847"/>
                <a:gd name="adj2" fmla="val 117111"/>
                <a:gd name="adj3" fmla="val 16667"/>
              </a:avLst>
            </a:prstGeom>
            <a:noFill/>
            <a:ln w="9525">
              <a:solidFill>
                <a:schemeClr val="accent2"/>
              </a:solidFill>
              <a:miter lim="800000"/>
              <a:headEnd/>
              <a:tailEnd/>
            </a:ln>
            <a:effectLst/>
          </p:spPr>
          <p:txBody>
            <a:bodyPr/>
            <a:lstStyle/>
            <a:p>
              <a:pPr algn="ctr"/>
              <a:r>
                <a:rPr lang="en-US" sz="1800">
                  <a:solidFill>
                    <a:schemeClr val="accent2"/>
                  </a:solidFill>
                  <a:latin typeface="Arial" pitchFamily="34" charset="0"/>
                </a:rPr>
                <a:t>Translate point at (-</a:t>
              </a:r>
              <a:r>
                <a:rPr lang="en-US" sz="1800" i="1">
                  <a:solidFill>
                    <a:schemeClr val="accent2"/>
                  </a:solidFill>
                  <a:latin typeface="Arial" pitchFamily="34" charset="0"/>
                </a:rPr>
                <a:t>x</a:t>
              </a:r>
              <a:r>
                <a:rPr lang="en-US" sz="1800">
                  <a:solidFill>
                    <a:schemeClr val="accent2"/>
                  </a:solidFill>
                  <a:latin typeface="Arial" pitchFamily="34" charset="0"/>
                </a:rPr>
                <a:t>, -</a:t>
              </a:r>
              <a:r>
                <a:rPr lang="en-US" sz="1800" i="1">
                  <a:solidFill>
                    <a:schemeClr val="accent2"/>
                  </a:solidFill>
                  <a:latin typeface="Arial" pitchFamily="34" charset="0"/>
                </a:rPr>
                <a:t>y</a:t>
              </a:r>
              <a:r>
                <a:rPr lang="en-US" sz="1800">
                  <a:solidFill>
                    <a:schemeClr val="accent2"/>
                  </a:solidFill>
                  <a:latin typeface="Arial" pitchFamily="34" charset="0"/>
                </a:rPr>
                <a:t>, 6/4 + </a:t>
              </a:r>
              <a:r>
                <a:rPr lang="en-US" sz="1800" i="1">
                  <a:solidFill>
                    <a:schemeClr val="accent2"/>
                  </a:solidFill>
                  <a:latin typeface="Arial" pitchFamily="34" charset="0"/>
                </a:rPr>
                <a:t>z</a:t>
              </a:r>
              <a:r>
                <a:rPr lang="en-US" sz="1800">
                  <a:solidFill>
                    <a:schemeClr val="accent2"/>
                  </a:solidFill>
                  <a:latin typeface="Arial" pitchFamily="34" charset="0"/>
                </a:rPr>
                <a:t>)  +1 and -1 unit cells</a:t>
              </a:r>
            </a:p>
          </p:txBody>
        </p:sp>
        <p:sp>
          <p:nvSpPr>
            <p:cNvPr id="39961" name="Line 25"/>
            <p:cNvSpPr>
              <a:spLocks noChangeShapeType="1"/>
            </p:cNvSpPr>
            <p:nvPr/>
          </p:nvSpPr>
          <p:spPr bwMode="auto">
            <a:xfrm flipV="1">
              <a:off x="1296" y="1104"/>
              <a:ext cx="2496" cy="1776"/>
            </a:xfrm>
            <a:prstGeom prst="line">
              <a:avLst/>
            </a:prstGeom>
            <a:noFill/>
            <a:ln w="9525">
              <a:solidFill>
                <a:schemeClr val="accent2"/>
              </a:solidFill>
              <a:round/>
              <a:headEnd/>
              <a:tailEnd type="triangle" w="med" len="med"/>
            </a:ln>
            <a:effectLst/>
          </p:spPr>
          <p:txBody>
            <a:bodyPr/>
            <a:lstStyle/>
            <a:p>
              <a:endParaRPr lang="en-US"/>
            </a:p>
          </p:txBody>
        </p:sp>
      </p:grpSp>
      <p:graphicFrame>
        <p:nvGraphicFramePr>
          <p:cNvPr id="39962" name="Object 26"/>
          <p:cNvGraphicFramePr>
            <a:graphicFrameLocks noChangeAspect="1"/>
          </p:cNvGraphicFramePr>
          <p:nvPr/>
        </p:nvGraphicFramePr>
        <p:xfrm>
          <a:off x="7031038" y="5575300"/>
          <a:ext cx="1503362" cy="368300"/>
        </p:xfrm>
        <a:graphic>
          <a:graphicData uri="http://schemas.openxmlformats.org/presentationml/2006/ole">
            <p:oleObj spid="_x0000_s703495" name="Equation" r:id="rId10" imgW="1854720" imgH="444600" progId="">
              <p:embed/>
            </p:oleObj>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p:cNvSpPr>
            <a:spLocks noGrp="1"/>
          </p:cNvSpPr>
          <p:nvPr>
            <p:ph type="sldNum" sz="quarter" idx="12"/>
          </p:nvPr>
        </p:nvSpPr>
        <p:spPr/>
        <p:txBody>
          <a:bodyPr/>
          <a:lstStyle/>
          <a:p>
            <a:fld id="{219587CC-2847-4173-B8F1-5346227335AF}" type="slidenum">
              <a:rPr lang="en-US"/>
              <a:pPr/>
              <a:t>52</a:t>
            </a:fld>
            <a:endParaRPr lang="en-US"/>
          </a:p>
        </p:txBody>
      </p:sp>
      <p:pic>
        <p:nvPicPr>
          <p:cNvPr id="29698" name="Picture 2" descr="C:\Documents and Settings\Administrator\Desktop\1.5\screw_u\43threecell_9.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29700"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29701"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29702"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29703"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29704"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105472" name="Object 0"/>
          <p:cNvGraphicFramePr>
            <a:graphicFrameLocks noChangeAspect="1"/>
          </p:cNvGraphicFramePr>
          <p:nvPr/>
        </p:nvGraphicFramePr>
        <p:xfrm>
          <a:off x="7023100" y="3276600"/>
          <a:ext cx="1511300" cy="365125"/>
        </p:xfrm>
        <a:graphic>
          <a:graphicData uri="http://schemas.openxmlformats.org/presentationml/2006/ole">
            <p:oleObj spid="_x0000_s704514" name="Equation" r:id="rId5" imgW="1422400" imgH="342900" progId="">
              <p:embed/>
            </p:oleObj>
          </a:graphicData>
        </a:graphic>
      </p:graphicFrame>
      <p:graphicFrame>
        <p:nvGraphicFramePr>
          <p:cNvPr id="105473" name="Object 1"/>
          <p:cNvGraphicFramePr>
            <a:graphicFrameLocks noChangeAspect="1"/>
          </p:cNvGraphicFramePr>
          <p:nvPr/>
        </p:nvGraphicFramePr>
        <p:xfrm>
          <a:off x="7058025" y="6096000"/>
          <a:ext cx="942975" cy="344488"/>
        </p:xfrm>
        <a:graphic>
          <a:graphicData uri="http://schemas.openxmlformats.org/presentationml/2006/ole">
            <p:oleObj spid="_x0000_s704515" name="Equation" r:id="rId6" imgW="799920" imgH="291960" progId="">
              <p:embed/>
            </p:oleObj>
          </a:graphicData>
        </a:graphic>
      </p:graphicFrame>
      <p:graphicFrame>
        <p:nvGraphicFramePr>
          <p:cNvPr id="105474" name="Object 2"/>
          <p:cNvGraphicFramePr>
            <a:graphicFrameLocks noChangeAspect="1"/>
          </p:cNvGraphicFramePr>
          <p:nvPr/>
        </p:nvGraphicFramePr>
        <p:xfrm>
          <a:off x="7026275" y="4664075"/>
          <a:ext cx="1508125" cy="365125"/>
        </p:xfrm>
        <a:graphic>
          <a:graphicData uri="http://schemas.openxmlformats.org/presentationml/2006/ole">
            <p:oleObj spid="_x0000_s704516" name="Equation" r:id="rId7" imgW="1409088" imgH="342751" progId="">
              <p:embed/>
            </p:oleObj>
          </a:graphicData>
        </a:graphic>
      </p:graphicFrame>
      <p:graphicFrame>
        <p:nvGraphicFramePr>
          <p:cNvPr id="105475" name="Object 3"/>
          <p:cNvGraphicFramePr>
            <a:graphicFrameLocks noChangeAspect="1"/>
          </p:cNvGraphicFramePr>
          <p:nvPr/>
        </p:nvGraphicFramePr>
        <p:xfrm>
          <a:off x="6989763" y="1905000"/>
          <a:ext cx="1544637" cy="368300"/>
        </p:xfrm>
        <a:graphic>
          <a:graphicData uri="http://schemas.openxmlformats.org/presentationml/2006/ole">
            <p:oleObj spid="_x0000_s704517" name="Equation" r:id="rId8" imgW="1435100" imgH="342900" progId="">
              <p:embed/>
            </p:oleObj>
          </a:graphicData>
        </a:graphic>
      </p:graphicFrame>
      <p:graphicFrame>
        <p:nvGraphicFramePr>
          <p:cNvPr id="105476" name="Object 4"/>
          <p:cNvGraphicFramePr>
            <a:graphicFrameLocks noChangeAspect="1"/>
          </p:cNvGraphicFramePr>
          <p:nvPr/>
        </p:nvGraphicFramePr>
        <p:xfrm>
          <a:off x="6934200" y="546100"/>
          <a:ext cx="1600200" cy="347663"/>
        </p:xfrm>
        <a:graphic>
          <a:graphicData uri="http://schemas.openxmlformats.org/presentationml/2006/ole">
            <p:oleObj spid="_x0000_s704518" name="Equation" r:id="rId9" imgW="1472561" imgH="317362" progId="">
              <p:embed/>
            </p:oleObj>
          </a:graphicData>
        </a:graphic>
      </p:graphicFrame>
      <p:grpSp>
        <p:nvGrpSpPr>
          <p:cNvPr id="3" name="Group 19"/>
          <p:cNvGrpSpPr>
            <a:grpSpLocks/>
          </p:cNvGrpSpPr>
          <p:nvPr/>
        </p:nvGrpSpPr>
        <p:grpSpPr bwMode="auto">
          <a:xfrm>
            <a:off x="76200" y="1752600"/>
            <a:ext cx="6019800" cy="3505200"/>
            <a:chOff x="48" y="1104"/>
            <a:chExt cx="3792" cy="2208"/>
          </a:xfrm>
        </p:grpSpPr>
        <p:sp>
          <p:nvSpPr>
            <p:cNvPr id="29712" name="Line 16"/>
            <p:cNvSpPr>
              <a:spLocks noChangeShapeType="1"/>
            </p:cNvSpPr>
            <p:nvPr/>
          </p:nvSpPr>
          <p:spPr bwMode="auto">
            <a:xfrm>
              <a:off x="1296" y="2880"/>
              <a:ext cx="2544" cy="432"/>
            </a:xfrm>
            <a:prstGeom prst="line">
              <a:avLst/>
            </a:prstGeom>
            <a:noFill/>
            <a:ln w="9525">
              <a:solidFill>
                <a:schemeClr val="accent2"/>
              </a:solidFill>
              <a:round/>
              <a:headEnd/>
              <a:tailEnd type="triangle" w="med" len="med"/>
            </a:ln>
            <a:effectLst/>
          </p:spPr>
          <p:txBody>
            <a:bodyPr/>
            <a:lstStyle/>
            <a:p>
              <a:endParaRPr lang="en-US"/>
            </a:p>
          </p:txBody>
        </p:sp>
        <p:sp>
          <p:nvSpPr>
            <p:cNvPr id="29713" name="AutoShape 17"/>
            <p:cNvSpPr>
              <a:spLocks noChangeArrowheads="1"/>
            </p:cNvSpPr>
            <p:nvPr/>
          </p:nvSpPr>
          <p:spPr bwMode="auto">
            <a:xfrm>
              <a:off x="48" y="1776"/>
              <a:ext cx="1440" cy="672"/>
            </a:xfrm>
            <a:prstGeom prst="wedgeRoundRectCallout">
              <a:avLst>
                <a:gd name="adj1" fmla="val 37847"/>
                <a:gd name="adj2" fmla="val 117111"/>
                <a:gd name="adj3" fmla="val 16667"/>
              </a:avLst>
            </a:prstGeom>
            <a:noFill/>
            <a:ln w="9525">
              <a:solidFill>
                <a:schemeClr val="accent2"/>
              </a:solidFill>
              <a:miter lim="800000"/>
              <a:headEnd/>
              <a:tailEnd/>
            </a:ln>
            <a:effectLst/>
          </p:spPr>
          <p:txBody>
            <a:bodyPr/>
            <a:lstStyle/>
            <a:p>
              <a:pPr algn="ctr"/>
              <a:r>
                <a:rPr lang="en-US" sz="1800">
                  <a:solidFill>
                    <a:schemeClr val="accent2"/>
                  </a:solidFill>
                  <a:latin typeface="Arial" pitchFamily="34" charset="0"/>
                </a:rPr>
                <a:t>Translate point at (-</a:t>
              </a:r>
              <a:r>
                <a:rPr lang="en-US" sz="1800" i="1">
                  <a:solidFill>
                    <a:schemeClr val="accent2"/>
                  </a:solidFill>
                  <a:latin typeface="Arial" pitchFamily="34" charset="0"/>
                </a:rPr>
                <a:t>x</a:t>
              </a:r>
              <a:r>
                <a:rPr lang="en-US" sz="1800">
                  <a:solidFill>
                    <a:schemeClr val="accent2"/>
                  </a:solidFill>
                  <a:latin typeface="Arial" pitchFamily="34" charset="0"/>
                </a:rPr>
                <a:t>, -</a:t>
              </a:r>
              <a:r>
                <a:rPr lang="en-US" sz="1800" i="1">
                  <a:solidFill>
                    <a:schemeClr val="accent2"/>
                  </a:solidFill>
                  <a:latin typeface="Arial" pitchFamily="34" charset="0"/>
                </a:rPr>
                <a:t>y</a:t>
              </a:r>
              <a:r>
                <a:rPr lang="en-US" sz="1800">
                  <a:solidFill>
                    <a:schemeClr val="accent2"/>
                  </a:solidFill>
                  <a:latin typeface="Arial" pitchFamily="34" charset="0"/>
                </a:rPr>
                <a:t>, 6/4 + </a:t>
              </a:r>
              <a:r>
                <a:rPr lang="en-US" sz="1800" i="1">
                  <a:solidFill>
                    <a:schemeClr val="accent2"/>
                  </a:solidFill>
                  <a:latin typeface="Arial" pitchFamily="34" charset="0"/>
                </a:rPr>
                <a:t>z</a:t>
              </a:r>
              <a:r>
                <a:rPr lang="en-US" sz="1800">
                  <a:solidFill>
                    <a:schemeClr val="accent2"/>
                  </a:solidFill>
                  <a:latin typeface="Arial" pitchFamily="34" charset="0"/>
                </a:rPr>
                <a:t>)  +1 and -1 unit cells</a:t>
              </a:r>
            </a:p>
          </p:txBody>
        </p:sp>
        <p:sp>
          <p:nvSpPr>
            <p:cNvPr id="29714" name="Line 18"/>
            <p:cNvSpPr>
              <a:spLocks noChangeShapeType="1"/>
            </p:cNvSpPr>
            <p:nvPr/>
          </p:nvSpPr>
          <p:spPr bwMode="auto">
            <a:xfrm flipV="1">
              <a:off x="1296" y="1104"/>
              <a:ext cx="2496" cy="1776"/>
            </a:xfrm>
            <a:prstGeom prst="line">
              <a:avLst/>
            </a:prstGeom>
            <a:noFill/>
            <a:ln w="9525">
              <a:solidFill>
                <a:schemeClr val="accent2"/>
              </a:solidFill>
              <a:round/>
              <a:headEnd/>
              <a:tailEnd type="triangle" w="med" len="med"/>
            </a:ln>
            <a:effectLst/>
          </p:spPr>
          <p:txBody>
            <a:bodyPr/>
            <a:lstStyle/>
            <a:p>
              <a:endParaRPr lang="en-US"/>
            </a:p>
          </p:txBody>
        </p:sp>
      </p:grpSp>
      <p:graphicFrame>
        <p:nvGraphicFramePr>
          <p:cNvPr id="105477" name="Object 5"/>
          <p:cNvGraphicFramePr>
            <a:graphicFrameLocks noChangeAspect="1"/>
          </p:cNvGraphicFramePr>
          <p:nvPr/>
        </p:nvGraphicFramePr>
        <p:xfrm>
          <a:off x="7031038" y="5575300"/>
          <a:ext cx="1503362" cy="368300"/>
        </p:xfrm>
        <a:graphic>
          <a:graphicData uri="http://schemas.openxmlformats.org/presentationml/2006/ole">
            <p:oleObj spid="_x0000_s704519" name="Equation" r:id="rId10" imgW="1854720" imgH="444600" progId="">
              <p:embed/>
            </p:oleObj>
          </a:graphicData>
        </a:graphic>
      </p:graphicFrame>
      <p:graphicFrame>
        <p:nvGraphicFramePr>
          <p:cNvPr id="105478" name="Object 6"/>
          <p:cNvGraphicFramePr>
            <a:graphicFrameLocks noChangeAspect="1"/>
          </p:cNvGraphicFramePr>
          <p:nvPr/>
        </p:nvGraphicFramePr>
        <p:xfrm>
          <a:off x="7031038" y="5121275"/>
          <a:ext cx="1470025" cy="365125"/>
        </p:xfrm>
        <a:graphic>
          <a:graphicData uri="http://schemas.openxmlformats.org/presentationml/2006/ole">
            <p:oleObj spid="_x0000_s704520" name="Equation" r:id="rId11" imgW="44294760" imgH="10962720" progId="">
              <p:embed/>
            </p:oleObj>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p:cNvSpPr>
            <a:spLocks noGrp="1"/>
          </p:cNvSpPr>
          <p:nvPr>
            <p:ph type="sldNum" sz="quarter" idx="12"/>
          </p:nvPr>
        </p:nvSpPr>
        <p:spPr/>
        <p:txBody>
          <a:bodyPr/>
          <a:lstStyle/>
          <a:p>
            <a:fld id="{32F30D7D-3B7A-4CD1-8966-9E7968EF1D2E}" type="slidenum">
              <a:rPr lang="en-US"/>
              <a:pPr/>
              <a:t>53</a:t>
            </a:fld>
            <a:endParaRPr lang="en-US"/>
          </a:p>
        </p:txBody>
      </p:sp>
      <p:pic>
        <p:nvPicPr>
          <p:cNvPr id="40962" name="Picture 2" descr="C:\Documents and Settings\Administrator\Desktop\1.5\screw_u\43threecell_9.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40964"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40965"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40966"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40967"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40968"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40969" name="Object 9"/>
          <p:cNvGraphicFramePr>
            <a:graphicFrameLocks noChangeAspect="1"/>
          </p:cNvGraphicFramePr>
          <p:nvPr/>
        </p:nvGraphicFramePr>
        <p:xfrm>
          <a:off x="7023100" y="3276600"/>
          <a:ext cx="1511300" cy="365125"/>
        </p:xfrm>
        <a:graphic>
          <a:graphicData uri="http://schemas.openxmlformats.org/presentationml/2006/ole">
            <p:oleObj spid="_x0000_s705538" name="Equation" r:id="rId5" imgW="1422400" imgH="342900" progId="">
              <p:embed/>
            </p:oleObj>
          </a:graphicData>
        </a:graphic>
      </p:graphicFrame>
      <p:graphicFrame>
        <p:nvGraphicFramePr>
          <p:cNvPr id="40970" name="Object 10"/>
          <p:cNvGraphicFramePr>
            <a:graphicFrameLocks noChangeAspect="1"/>
          </p:cNvGraphicFramePr>
          <p:nvPr/>
        </p:nvGraphicFramePr>
        <p:xfrm>
          <a:off x="7058025" y="6096000"/>
          <a:ext cx="942975" cy="344488"/>
        </p:xfrm>
        <a:graphic>
          <a:graphicData uri="http://schemas.openxmlformats.org/presentationml/2006/ole">
            <p:oleObj spid="_x0000_s705539" name="Equation" r:id="rId6" imgW="799920" imgH="291960" progId="">
              <p:embed/>
            </p:oleObj>
          </a:graphicData>
        </a:graphic>
      </p:graphicFrame>
      <p:graphicFrame>
        <p:nvGraphicFramePr>
          <p:cNvPr id="40971" name="Object 11"/>
          <p:cNvGraphicFramePr>
            <a:graphicFrameLocks noChangeAspect="1"/>
          </p:cNvGraphicFramePr>
          <p:nvPr/>
        </p:nvGraphicFramePr>
        <p:xfrm>
          <a:off x="7026275" y="4664075"/>
          <a:ext cx="1508125" cy="365125"/>
        </p:xfrm>
        <a:graphic>
          <a:graphicData uri="http://schemas.openxmlformats.org/presentationml/2006/ole">
            <p:oleObj spid="_x0000_s705540" name="Equation" r:id="rId7" imgW="1409088" imgH="342751" progId="">
              <p:embed/>
            </p:oleObj>
          </a:graphicData>
        </a:graphic>
      </p:graphicFrame>
      <p:graphicFrame>
        <p:nvGraphicFramePr>
          <p:cNvPr id="40972" name="Object 12"/>
          <p:cNvGraphicFramePr>
            <a:graphicFrameLocks noChangeAspect="1"/>
          </p:cNvGraphicFramePr>
          <p:nvPr/>
        </p:nvGraphicFramePr>
        <p:xfrm>
          <a:off x="6989763" y="1905000"/>
          <a:ext cx="1544637" cy="368300"/>
        </p:xfrm>
        <a:graphic>
          <a:graphicData uri="http://schemas.openxmlformats.org/presentationml/2006/ole">
            <p:oleObj spid="_x0000_s705541" name="Equation" r:id="rId8" imgW="1435100" imgH="342900" progId="">
              <p:embed/>
            </p:oleObj>
          </a:graphicData>
        </a:graphic>
      </p:graphicFrame>
      <p:graphicFrame>
        <p:nvGraphicFramePr>
          <p:cNvPr id="40973" name="Object 13"/>
          <p:cNvGraphicFramePr>
            <a:graphicFrameLocks noChangeAspect="1"/>
          </p:cNvGraphicFramePr>
          <p:nvPr/>
        </p:nvGraphicFramePr>
        <p:xfrm>
          <a:off x="6934200" y="546100"/>
          <a:ext cx="1600200" cy="347663"/>
        </p:xfrm>
        <a:graphic>
          <a:graphicData uri="http://schemas.openxmlformats.org/presentationml/2006/ole">
            <p:oleObj spid="_x0000_s705542" name="Equation" r:id="rId9" imgW="1472561" imgH="317362" progId="">
              <p:embed/>
            </p:oleObj>
          </a:graphicData>
        </a:graphic>
      </p:graphicFrame>
      <p:grpSp>
        <p:nvGrpSpPr>
          <p:cNvPr id="3" name="Group 18"/>
          <p:cNvGrpSpPr>
            <a:grpSpLocks/>
          </p:cNvGrpSpPr>
          <p:nvPr/>
        </p:nvGrpSpPr>
        <p:grpSpPr bwMode="auto">
          <a:xfrm>
            <a:off x="228600" y="1295400"/>
            <a:ext cx="6019800" cy="2819400"/>
            <a:chOff x="144" y="816"/>
            <a:chExt cx="3792" cy="1776"/>
          </a:xfrm>
        </p:grpSpPr>
        <p:sp>
          <p:nvSpPr>
            <p:cNvPr id="40979" name="Line 19"/>
            <p:cNvSpPr>
              <a:spLocks noChangeShapeType="1"/>
            </p:cNvSpPr>
            <p:nvPr/>
          </p:nvSpPr>
          <p:spPr bwMode="auto">
            <a:xfrm flipV="1">
              <a:off x="1392" y="816"/>
              <a:ext cx="2544" cy="576"/>
            </a:xfrm>
            <a:prstGeom prst="line">
              <a:avLst/>
            </a:prstGeom>
            <a:noFill/>
            <a:ln w="9525">
              <a:solidFill>
                <a:schemeClr val="accent2"/>
              </a:solidFill>
              <a:round/>
              <a:headEnd/>
              <a:tailEnd type="triangle" w="med" len="med"/>
            </a:ln>
            <a:effectLst/>
          </p:spPr>
          <p:txBody>
            <a:bodyPr/>
            <a:lstStyle/>
            <a:p>
              <a:endParaRPr lang="en-US"/>
            </a:p>
          </p:txBody>
        </p:sp>
        <p:sp>
          <p:nvSpPr>
            <p:cNvPr id="40980" name="Line 20"/>
            <p:cNvSpPr>
              <a:spLocks noChangeShapeType="1"/>
            </p:cNvSpPr>
            <p:nvPr/>
          </p:nvSpPr>
          <p:spPr bwMode="auto">
            <a:xfrm>
              <a:off x="1392" y="1392"/>
              <a:ext cx="2544" cy="432"/>
            </a:xfrm>
            <a:prstGeom prst="line">
              <a:avLst/>
            </a:prstGeom>
            <a:noFill/>
            <a:ln w="9525">
              <a:solidFill>
                <a:schemeClr val="accent2"/>
              </a:solidFill>
              <a:round/>
              <a:headEnd/>
              <a:tailEnd type="triangle" w="med" len="med"/>
            </a:ln>
            <a:effectLst/>
          </p:spPr>
          <p:txBody>
            <a:bodyPr/>
            <a:lstStyle/>
            <a:p>
              <a:endParaRPr lang="en-US"/>
            </a:p>
          </p:txBody>
        </p:sp>
        <p:sp>
          <p:nvSpPr>
            <p:cNvPr id="40981" name="AutoShape 21"/>
            <p:cNvSpPr>
              <a:spLocks noChangeArrowheads="1"/>
            </p:cNvSpPr>
            <p:nvPr/>
          </p:nvSpPr>
          <p:spPr bwMode="auto">
            <a:xfrm>
              <a:off x="144" y="1824"/>
              <a:ext cx="1296" cy="768"/>
            </a:xfrm>
            <a:prstGeom prst="wedgeRoundRectCallout">
              <a:avLst>
                <a:gd name="adj1" fmla="val 47606"/>
                <a:gd name="adj2" fmla="val -103778"/>
                <a:gd name="adj3" fmla="val 16667"/>
              </a:avLst>
            </a:prstGeom>
            <a:noFill/>
            <a:ln w="9525">
              <a:solidFill>
                <a:schemeClr val="accent2"/>
              </a:solidFill>
              <a:miter lim="800000"/>
              <a:headEnd/>
              <a:tailEnd/>
            </a:ln>
            <a:effectLst/>
          </p:spPr>
          <p:txBody>
            <a:bodyPr/>
            <a:lstStyle/>
            <a:p>
              <a:pPr algn="ctr"/>
              <a:r>
                <a:rPr lang="en-US" sz="1800">
                  <a:solidFill>
                    <a:schemeClr val="accent2"/>
                  </a:solidFill>
                  <a:latin typeface="Arial" pitchFamily="34" charset="0"/>
                </a:rPr>
                <a:t>Translate point at (-</a:t>
              </a:r>
              <a:r>
                <a:rPr lang="en-US" sz="1800" i="1">
                  <a:solidFill>
                    <a:schemeClr val="accent2"/>
                  </a:solidFill>
                  <a:latin typeface="Arial" pitchFamily="34" charset="0"/>
                </a:rPr>
                <a:t>y</a:t>
              </a:r>
              <a:r>
                <a:rPr lang="en-US" sz="1800">
                  <a:solidFill>
                    <a:schemeClr val="accent2"/>
                  </a:solidFill>
                  <a:latin typeface="Arial" pitchFamily="34" charset="0"/>
                </a:rPr>
                <a:t>, </a:t>
              </a:r>
              <a:r>
                <a:rPr lang="en-US" sz="1800" i="1">
                  <a:solidFill>
                    <a:schemeClr val="accent2"/>
                  </a:solidFill>
                  <a:latin typeface="Arial" pitchFamily="34" charset="0"/>
                </a:rPr>
                <a:t>x</a:t>
              </a:r>
              <a:r>
                <a:rPr lang="en-US" sz="1800">
                  <a:solidFill>
                    <a:schemeClr val="accent2"/>
                  </a:solidFill>
                  <a:latin typeface="Arial" pitchFamily="34" charset="0"/>
                </a:rPr>
                <a:t>, 3/4 + </a:t>
              </a:r>
              <a:r>
                <a:rPr lang="en-US" sz="1800" i="1">
                  <a:solidFill>
                    <a:schemeClr val="accent2"/>
                  </a:solidFill>
                  <a:latin typeface="Arial" pitchFamily="34" charset="0"/>
                </a:rPr>
                <a:t>z</a:t>
              </a:r>
              <a:r>
                <a:rPr lang="en-US" sz="1800">
                  <a:solidFill>
                    <a:schemeClr val="accent2"/>
                  </a:solidFill>
                  <a:latin typeface="Arial" pitchFamily="34" charset="0"/>
                </a:rPr>
                <a:t>) +1 and +2 unit cells</a:t>
              </a:r>
            </a:p>
          </p:txBody>
        </p:sp>
      </p:grpSp>
      <p:graphicFrame>
        <p:nvGraphicFramePr>
          <p:cNvPr id="40982" name="Object 22"/>
          <p:cNvGraphicFramePr>
            <a:graphicFrameLocks noChangeAspect="1"/>
          </p:cNvGraphicFramePr>
          <p:nvPr/>
        </p:nvGraphicFramePr>
        <p:xfrm>
          <a:off x="7031038" y="5575300"/>
          <a:ext cx="1503362" cy="368300"/>
        </p:xfrm>
        <a:graphic>
          <a:graphicData uri="http://schemas.openxmlformats.org/presentationml/2006/ole">
            <p:oleObj spid="_x0000_s705543" name="Equation" r:id="rId10" imgW="1854720" imgH="444600" progId="">
              <p:embed/>
            </p:oleObj>
          </a:graphicData>
        </a:graphic>
      </p:graphicFrame>
      <p:graphicFrame>
        <p:nvGraphicFramePr>
          <p:cNvPr id="40983" name="Object 23"/>
          <p:cNvGraphicFramePr>
            <a:graphicFrameLocks noChangeAspect="1"/>
          </p:cNvGraphicFramePr>
          <p:nvPr/>
        </p:nvGraphicFramePr>
        <p:xfrm>
          <a:off x="7031038" y="5121275"/>
          <a:ext cx="1470025" cy="365125"/>
        </p:xfrm>
        <a:graphic>
          <a:graphicData uri="http://schemas.openxmlformats.org/presentationml/2006/ole">
            <p:oleObj spid="_x0000_s705544" name="Equation" r:id="rId11" imgW="1829160" imgH="4446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p:cNvSpPr>
            <a:spLocks noGrp="1"/>
          </p:cNvSpPr>
          <p:nvPr>
            <p:ph type="sldNum" sz="quarter" idx="12"/>
          </p:nvPr>
        </p:nvSpPr>
        <p:spPr/>
        <p:txBody>
          <a:bodyPr/>
          <a:lstStyle/>
          <a:p>
            <a:fld id="{FABF70FE-F4E1-4EF7-9736-A0C74E2CAA5E}" type="slidenum">
              <a:rPr lang="en-US"/>
              <a:pPr/>
              <a:t>54</a:t>
            </a:fld>
            <a:endParaRPr lang="en-US"/>
          </a:p>
        </p:txBody>
      </p:sp>
      <p:pic>
        <p:nvPicPr>
          <p:cNvPr id="41986" name="Picture 2" descr="C:\Documents and Settings\Administrator\Desktop\1.5\screw_u\43threecell.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41988"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41989"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41990"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41991"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41992"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41993" name="Object 9"/>
          <p:cNvGraphicFramePr>
            <a:graphicFrameLocks noChangeAspect="1"/>
          </p:cNvGraphicFramePr>
          <p:nvPr/>
        </p:nvGraphicFramePr>
        <p:xfrm>
          <a:off x="7023100" y="3276600"/>
          <a:ext cx="1511300" cy="365125"/>
        </p:xfrm>
        <a:graphic>
          <a:graphicData uri="http://schemas.openxmlformats.org/presentationml/2006/ole">
            <p:oleObj spid="_x0000_s706562" name="Equation" r:id="rId5" imgW="1422400" imgH="342900" progId="">
              <p:embed/>
            </p:oleObj>
          </a:graphicData>
        </a:graphic>
      </p:graphicFrame>
      <p:graphicFrame>
        <p:nvGraphicFramePr>
          <p:cNvPr id="41994" name="Object 10"/>
          <p:cNvGraphicFramePr>
            <a:graphicFrameLocks noChangeAspect="1"/>
          </p:cNvGraphicFramePr>
          <p:nvPr/>
        </p:nvGraphicFramePr>
        <p:xfrm>
          <a:off x="7058025" y="6096000"/>
          <a:ext cx="942975" cy="344488"/>
        </p:xfrm>
        <a:graphic>
          <a:graphicData uri="http://schemas.openxmlformats.org/presentationml/2006/ole">
            <p:oleObj spid="_x0000_s706563" name="Equation" r:id="rId6" imgW="799920" imgH="291960" progId="">
              <p:embed/>
            </p:oleObj>
          </a:graphicData>
        </a:graphic>
      </p:graphicFrame>
      <p:graphicFrame>
        <p:nvGraphicFramePr>
          <p:cNvPr id="41995" name="Object 11"/>
          <p:cNvGraphicFramePr>
            <a:graphicFrameLocks noChangeAspect="1"/>
          </p:cNvGraphicFramePr>
          <p:nvPr/>
        </p:nvGraphicFramePr>
        <p:xfrm>
          <a:off x="7026275" y="4664075"/>
          <a:ext cx="1508125" cy="365125"/>
        </p:xfrm>
        <a:graphic>
          <a:graphicData uri="http://schemas.openxmlformats.org/presentationml/2006/ole">
            <p:oleObj spid="_x0000_s706564" name="Equation" r:id="rId7" imgW="1409088" imgH="342751" progId="">
              <p:embed/>
            </p:oleObj>
          </a:graphicData>
        </a:graphic>
      </p:graphicFrame>
      <p:graphicFrame>
        <p:nvGraphicFramePr>
          <p:cNvPr id="41996" name="Object 12"/>
          <p:cNvGraphicFramePr>
            <a:graphicFrameLocks noChangeAspect="1"/>
          </p:cNvGraphicFramePr>
          <p:nvPr/>
        </p:nvGraphicFramePr>
        <p:xfrm>
          <a:off x="6989763" y="1905000"/>
          <a:ext cx="1544637" cy="368300"/>
        </p:xfrm>
        <a:graphic>
          <a:graphicData uri="http://schemas.openxmlformats.org/presentationml/2006/ole">
            <p:oleObj spid="_x0000_s706565" name="Equation" r:id="rId8" imgW="1435100" imgH="342900" progId="">
              <p:embed/>
            </p:oleObj>
          </a:graphicData>
        </a:graphic>
      </p:graphicFrame>
      <p:graphicFrame>
        <p:nvGraphicFramePr>
          <p:cNvPr id="41997" name="Object 13"/>
          <p:cNvGraphicFramePr>
            <a:graphicFrameLocks noChangeAspect="1"/>
          </p:cNvGraphicFramePr>
          <p:nvPr/>
        </p:nvGraphicFramePr>
        <p:xfrm>
          <a:off x="6934200" y="546100"/>
          <a:ext cx="1600200" cy="347663"/>
        </p:xfrm>
        <a:graphic>
          <a:graphicData uri="http://schemas.openxmlformats.org/presentationml/2006/ole">
            <p:oleObj spid="_x0000_s706566" name="Equation" r:id="rId9" imgW="1472561" imgH="317362" progId="">
              <p:embed/>
            </p:oleObj>
          </a:graphicData>
        </a:graphic>
      </p:graphicFrame>
      <p:grpSp>
        <p:nvGrpSpPr>
          <p:cNvPr id="3" name="Group 14"/>
          <p:cNvGrpSpPr>
            <a:grpSpLocks/>
          </p:cNvGrpSpPr>
          <p:nvPr/>
        </p:nvGrpSpPr>
        <p:grpSpPr bwMode="auto">
          <a:xfrm>
            <a:off x="228600" y="1295400"/>
            <a:ext cx="6019800" cy="2819400"/>
            <a:chOff x="144" y="816"/>
            <a:chExt cx="3792" cy="1776"/>
          </a:xfrm>
        </p:grpSpPr>
        <p:sp>
          <p:nvSpPr>
            <p:cNvPr id="41999" name="Line 15"/>
            <p:cNvSpPr>
              <a:spLocks noChangeShapeType="1"/>
            </p:cNvSpPr>
            <p:nvPr/>
          </p:nvSpPr>
          <p:spPr bwMode="auto">
            <a:xfrm flipV="1">
              <a:off x="1392" y="816"/>
              <a:ext cx="2544" cy="576"/>
            </a:xfrm>
            <a:prstGeom prst="line">
              <a:avLst/>
            </a:prstGeom>
            <a:noFill/>
            <a:ln w="9525">
              <a:solidFill>
                <a:schemeClr val="accent2"/>
              </a:solidFill>
              <a:round/>
              <a:headEnd/>
              <a:tailEnd type="triangle" w="med" len="med"/>
            </a:ln>
            <a:effectLst/>
          </p:spPr>
          <p:txBody>
            <a:bodyPr/>
            <a:lstStyle/>
            <a:p>
              <a:endParaRPr lang="en-US"/>
            </a:p>
          </p:txBody>
        </p:sp>
        <p:sp>
          <p:nvSpPr>
            <p:cNvPr id="42000" name="Line 16"/>
            <p:cNvSpPr>
              <a:spLocks noChangeShapeType="1"/>
            </p:cNvSpPr>
            <p:nvPr/>
          </p:nvSpPr>
          <p:spPr bwMode="auto">
            <a:xfrm>
              <a:off x="1392" y="1392"/>
              <a:ext cx="2544" cy="432"/>
            </a:xfrm>
            <a:prstGeom prst="line">
              <a:avLst/>
            </a:prstGeom>
            <a:noFill/>
            <a:ln w="9525">
              <a:solidFill>
                <a:schemeClr val="accent2"/>
              </a:solidFill>
              <a:round/>
              <a:headEnd/>
              <a:tailEnd type="triangle" w="med" len="med"/>
            </a:ln>
            <a:effectLst/>
          </p:spPr>
          <p:txBody>
            <a:bodyPr/>
            <a:lstStyle/>
            <a:p>
              <a:endParaRPr lang="en-US"/>
            </a:p>
          </p:txBody>
        </p:sp>
        <p:sp>
          <p:nvSpPr>
            <p:cNvPr id="42001" name="AutoShape 17"/>
            <p:cNvSpPr>
              <a:spLocks noChangeArrowheads="1"/>
            </p:cNvSpPr>
            <p:nvPr/>
          </p:nvSpPr>
          <p:spPr bwMode="auto">
            <a:xfrm>
              <a:off x="144" y="1824"/>
              <a:ext cx="1296" cy="768"/>
            </a:xfrm>
            <a:prstGeom prst="wedgeRoundRectCallout">
              <a:avLst>
                <a:gd name="adj1" fmla="val 47606"/>
                <a:gd name="adj2" fmla="val -103778"/>
                <a:gd name="adj3" fmla="val 16667"/>
              </a:avLst>
            </a:prstGeom>
            <a:noFill/>
            <a:ln w="9525">
              <a:solidFill>
                <a:schemeClr val="accent2"/>
              </a:solidFill>
              <a:miter lim="800000"/>
              <a:headEnd/>
              <a:tailEnd/>
            </a:ln>
            <a:effectLst/>
          </p:spPr>
          <p:txBody>
            <a:bodyPr/>
            <a:lstStyle/>
            <a:p>
              <a:pPr algn="ctr"/>
              <a:r>
                <a:rPr lang="en-US" sz="1800">
                  <a:solidFill>
                    <a:schemeClr val="accent2"/>
                  </a:solidFill>
                  <a:latin typeface="Arial" pitchFamily="34" charset="0"/>
                </a:rPr>
                <a:t>Translate point at (-</a:t>
              </a:r>
              <a:r>
                <a:rPr lang="en-US" sz="1800" i="1">
                  <a:solidFill>
                    <a:schemeClr val="accent2"/>
                  </a:solidFill>
                  <a:latin typeface="Arial" pitchFamily="34" charset="0"/>
                </a:rPr>
                <a:t>y</a:t>
              </a:r>
              <a:r>
                <a:rPr lang="en-US" sz="1800">
                  <a:solidFill>
                    <a:schemeClr val="accent2"/>
                  </a:solidFill>
                  <a:latin typeface="Arial" pitchFamily="34" charset="0"/>
                </a:rPr>
                <a:t>, </a:t>
              </a:r>
              <a:r>
                <a:rPr lang="en-US" sz="1800" i="1">
                  <a:solidFill>
                    <a:schemeClr val="accent2"/>
                  </a:solidFill>
                  <a:latin typeface="Arial" pitchFamily="34" charset="0"/>
                </a:rPr>
                <a:t>x</a:t>
              </a:r>
              <a:r>
                <a:rPr lang="en-US" sz="1800">
                  <a:solidFill>
                    <a:schemeClr val="accent2"/>
                  </a:solidFill>
                  <a:latin typeface="Arial" pitchFamily="34" charset="0"/>
                </a:rPr>
                <a:t>, 3/4 + </a:t>
              </a:r>
              <a:r>
                <a:rPr lang="en-US" sz="1800" i="1">
                  <a:solidFill>
                    <a:schemeClr val="accent2"/>
                  </a:solidFill>
                  <a:latin typeface="Arial" pitchFamily="34" charset="0"/>
                </a:rPr>
                <a:t>z</a:t>
              </a:r>
              <a:r>
                <a:rPr lang="en-US" sz="1800">
                  <a:solidFill>
                    <a:schemeClr val="accent2"/>
                  </a:solidFill>
                  <a:latin typeface="Arial" pitchFamily="34" charset="0"/>
                </a:rPr>
                <a:t>) +1 and +2 unit cells</a:t>
              </a:r>
            </a:p>
          </p:txBody>
        </p:sp>
      </p:grpSp>
      <p:graphicFrame>
        <p:nvGraphicFramePr>
          <p:cNvPr id="42002" name="Object 18"/>
          <p:cNvGraphicFramePr>
            <a:graphicFrameLocks noChangeAspect="1"/>
          </p:cNvGraphicFramePr>
          <p:nvPr/>
        </p:nvGraphicFramePr>
        <p:xfrm>
          <a:off x="7031038" y="5575300"/>
          <a:ext cx="1503362" cy="368300"/>
        </p:xfrm>
        <a:graphic>
          <a:graphicData uri="http://schemas.openxmlformats.org/presentationml/2006/ole">
            <p:oleObj spid="_x0000_s706567" name="Equation" r:id="rId10" imgW="1854720" imgH="444600" progId="">
              <p:embed/>
            </p:oleObj>
          </a:graphicData>
        </a:graphic>
      </p:graphicFrame>
      <p:graphicFrame>
        <p:nvGraphicFramePr>
          <p:cNvPr id="42003" name="Object 19"/>
          <p:cNvGraphicFramePr>
            <a:graphicFrameLocks noChangeAspect="1"/>
          </p:cNvGraphicFramePr>
          <p:nvPr/>
        </p:nvGraphicFramePr>
        <p:xfrm>
          <a:off x="7031038" y="5121275"/>
          <a:ext cx="1470025" cy="365125"/>
        </p:xfrm>
        <a:graphic>
          <a:graphicData uri="http://schemas.openxmlformats.org/presentationml/2006/ole">
            <p:oleObj spid="_x0000_s706568" name="Equation" r:id="rId11" imgW="1829160" imgH="444600" progId="">
              <p:embed/>
            </p:oleObj>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p:txBody>
          <a:bodyPr/>
          <a:lstStyle/>
          <a:p>
            <a:fld id="{E50BBD11-CE1D-4024-8781-D926B066085D}" type="slidenum">
              <a:rPr lang="en-US"/>
              <a:pPr/>
              <a:t>55</a:t>
            </a:fld>
            <a:endParaRPr lang="en-US"/>
          </a:p>
        </p:txBody>
      </p:sp>
      <p:pic>
        <p:nvPicPr>
          <p:cNvPr id="44034" name="Picture 2" descr="C:\Documents and Settings\Administrator\Desktop\1.5\screw_u\43threecell.jpg"/>
          <p:cNvPicPr>
            <a:picLocks noChangeAspect="1" noChangeArrowheads="1"/>
          </p:cNvPicPr>
          <p:nvPr/>
        </p:nvPicPr>
        <p:blipFill>
          <a:blip r:embed="rId3" cstate="print"/>
          <a:srcRect/>
          <a:stretch>
            <a:fillRect/>
          </a:stretch>
        </p:blipFill>
        <p:spPr bwMode="auto">
          <a:xfrm>
            <a:off x="2427288" y="436563"/>
            <a:ext cx="4287837" cy="5983287"/>
          </a:xfrm>
          <a:prstGeom prst="rect">
            <a:avLst/>
          </a:prstGeom>
          <a:noFill/>
        </p:spPr>
      </p:pic>
      <p:grpSp>
        <p:nvGrpSpPr>
          <p:cNvPr id="2" name="Group 3"/>
          <p:cNvGrpSpPr>
            <a:grpSpLocks/>
          </p:cNvGrpSpPr>
          <p:nvPr/>
        </p:nvGrpSpPr>
        <p:grpSpPr bwMode="auto">
          <a:xfrm>
            <a:off x="4711700" y="436563"/>
            <a:ext cx="1711325" cy="5983287"/>
            <a:chOff x="2968" y="275"/>
            <a:chExt cx="1078" cy="3769"/>
          </a:xfrm>
        </p:grpSpPr>
        <p:pic>
          <p:nvPicPr>
            <p:cNvPr id="44036" name="Picture 4" descr="C:\Documents and Settings\Administrator\Desktop\1.5\screw_u\graph.jpg"/>
            <p:cNvPicPr>
              <a:picLocks noChangeAspect="1" noChangeArrowheads="1"/>
            </p:cNvPicPr>
            <p:nvPr/>
          </p:nvPicPr>
          <p:blipFill>
            <a:blip r:embed="rId4" cstate="print"/>
            <a:srcRect/>
            <a:stretch>
              <a:fillRect/>
            </a:stretch>
          </p:blipFill>
          <p:spPr bwMode="auto">
            <a:xfrm>
              <a:off x="2968" y="275"/>
              <a:ext cx="536" cy="3769"/>
            </a:xfrm>
            <a:prstGeom prst="rect">
              <a:avLst/>
            </a:prstGeom>
            <a:noFill/>
          </p:spPr>
        </p:pic>
        <p:sp>
          <p:nvSpPr>
            <p:cNvPr id="44037" name="Line 5"/>
            <p:cNvSpPr>
              <a:spLocks noChangeShapeType="1"/>
            </p:cNvSpPr>
            <p:nvPr/>
          </p:nvSpPr>
          <p:spPr bwMode="auto">
            <a:xfrm>
              <a:off x="3518" y="449"/>
              <a:ext cx="528" cy="0"/>
            </a:xfrm>
            <a:prstGeom prst="line">
              <a:avLst/>
            </a:prstGeom>
            <a:noFill/>
            <a:ln w="19050">
              <a:solidFill>
                <a:srgbClr val="FF0000"/>
              </a:solidFill>
              <a:prstDash val="dash"/>
              <a:round/>
              <a:headEnd/>
              <a:tailEnd/>
            </a:ln>
            <a:effectLst/>
          </p:spPr>
          <p:txBody>
            <a:bodyPr/>
            <a:lstStyle/>
            <a:p>
              <a:endParaRPr lang="en-US"/>
            </a:p>
          </p:txBody>
        </p:sp>
        <p:sp>
          <p:nvSpPr>
            <p:cNvPr id="44038" name="Line 6"/>
            <p:cNvSpPr>
              <a:spLocks noChangeShapeType="1"/>
            </p:cNvSpPr>
            <p:nvPr/>
          </p:nvSpPr>
          <p:spPr bwMode="auto">
            <a:xfrm>
              <a:off x="3518" y="1623"/>
              <a:ext cx="528" cy="0"/>
            </a:xfrm>
            <a:prstGeom prst="line">
              <a:avLst/>
            </a:prstGeom>
            <a:noFill/>
            <a:ln w="19050">
              <a:solidFill>
                <a:srgbClr val="FF0000"/>
              </a:solidFill>
              <a:prstDash val="dash"/>
              <a:round/>
              <a:headEnd/>
              <a:tailEnd/>
            </a:ln>
            <a:effectLst/>
          </p:spPr>
          <p:txBody>
            <a:bodyPr/>
            <a:lstStyle/>
            <a:p>
              <a:endParaRPr lang="en-US"/>
            </a:p>
          </p:txBody>
        </p:sp>
        <p:sp>
          <p:nvSpPr>
            <p:cNvPr id="44039" name="Line 7"/>
            <p:cNvSpPr>
              <a:spLocks noChangeShapeType="1"/>
            </p:cNvSpPr>
            <p:nvPr/>
          </p:nvSpPr>
          <p:spPr bwMode="auto">
            <a:xfrm>
              <a:off x="3518" y="2784"/>
              <a:ext cx="528" cy="0"/>
            </a:xfrm>
            <a:prstGeom prst="line">
              <a:avLst/>
            </a:prstGeom>
            <a:noFill/>
            <a:ln w="19050">
              <a:solidFill>
                <a:srgbClr val="FF0000"/>
              </a:solidFill>
              <a:prstDash val="dash"/>
              <a:round/>
              <a:headEnd/>
              <a:tailEnd/>
            </a:ln>
            <a:effectLst/>
          </p:spPr>
          <p:txBody>
            <a:bodyPr/>
            <a:lstStyle/>
            <a:p>
              <a:endParaRPr lang="en-US"/>
            </a:p>
          </p:txBody>
        </p:sp>
        <p:sp>
          <p:nvSpPr>
            <p:cNvPr id="44040" name="Line 8"/>
            <p:cNvSpPr>
              <a:spLocks noChangeShapeType="1"/>
            </p:cNvSpPr>
            <p:nvPr/>
          </p:nvSpPr>
          <p:spPr bwMode="auto">
            <a:xfrm rot="21496172">
              <a:off x="3518" y="3950"/>
              <a:ext cx="528" cy="1"/>
            </a:xfrm>
            <a:prstGeom prst="line">
              <a:avLst/>
            </a:prstGeom>
            <a:noFill/>
            <a:ln w="19050">
              <a:solidFill>
                <a:srgbClr val="FF0000"/>
              </a:solidFill>
              <a:prstDash val="dash"/>
              <a:round/>
              <a:headEnd/>
              <a:tailEnd/>
            </a:ln>
            <a:effectLst/>
          </p:spPr>
          <p:txBody>
            <a:bodyPr/>
            <a:lstStyle/>
            <a:p>
              <a:endParaRPr lang="en-US"/>
            </a:p>
          </p:txBody>
        </p:sp>
      </p:grpSp>
      <p:graphicFrame>
        <p:nvGraphicFramePr>
          <p:cNvPr id="44041" name="Object 9"/>
          <p:cNvGraphicFramePr>
            <a:graphicFrameLocks noChangeAspect="1"/>
          </p:cNvGraphicFramePr>
          <p:nvPr/>
        </p:nvGraphicFramePr>
        <p:xfrm>
          <a:off x="7023100" y="3276600"/>
          <a:ext cx="1511300" cy="365125"/>
        </p:xfrm>
        <a:graphic>
          <a:graphicData uri="http://schemas.openxmlformats.org/presentationml/2006/ole">
            <p:oleObj spid="_x0000_s707586" name="Equation" r:id="rId5" imgW="1422400" imgH="342900" progId="">
              <p:embed/>
            </p:oleObj>
          </a:graphicData>
        </a:graphic>
      </p:graphicFrame>
      <p:graphicFrame>
        <p:nvGraphicFramePr>
          <p:cNvPr id="44042" name="Object 10"/>
          <p:cNvGraphicFramePr>
            <a:graphicFrameLocks noChangeAspect="1"/>
          </p:cNvGraphicFramePr>
          <p:nvPr/>
        </p:nvGraphicFramePr>
        <p:xfrm>
          <a:off x="7058025" y="6096000"/>
          <a:ext cx="942975" cy="344488"/>
        </p:xfrm>
        <a:graphic>
          <a:graphicData uri="http://schemas.openxmlformats.org/presentationml/2006/ole">
            <p:oleObj spid="_x0000_s707587" name="Equation" r:id="rId6" imgW="799920" imgH="291960" progId="">
              <p:embed/>
            </p:oleObj>
          </a:graphicData>
        </a:graphic>
      </p:graphicFrame>
      <p:graphicFrame>
        <p:nvGraphicFramePr>
          <p:cNvPr id="44043" name="Object 11"/>
          <p:cNvGraphicFramePr>
            <a:graphicFrameLocks noChangeAspect="1"/>
          </p:cNvGraphicFramePr>
          <p:nvPr/>
        </p:nvGraphicFramePr>
        <p:xfrm>
          <a:off x="7026275" y="4664075"/>
          <a:ext cx="1508125" cy="365125"/>
        </p:xfrm>
        <a:graphic>
          <a:graphicData uri="http://schemas.openxmlformats.org/presentationml/2006/ole">
            <p:oleObj spid="_x0000_s707588" name="Equation" r:id="rId7" imgW="1409088" imgH="342751" progId="">
              <p:embed/>
            </p:oleObj>
          </a:graphicData>
        </a:graphic>
      </p:graphicFrame>
      <p:graphicFrame>
        <p:nvGraphicFramePr>
          <p:cNvPr id="44044" name="Object 12"/>
          <p:cNvGraphicFramePr>
            <a:graphicFrameLocks noChangeAspect="1"/>
          </p:cNvGraphicFramePr>
          <p:nvPr/>
        </p:nvGraphicFramePr>
        <p:xfrm>
          <a:off x="6989763" y="1905000"/>
          <a:ext cx="1544637" cy="368300"/>
        </p:xfrm>
        <a:graphic>
          <a:graphicData uri="http://schemas.openxmlformats.org/presentationml/2006/ole">
            <p:oleObj spid="_x0000_s707589" name="Equation" r:id="rId8" imgW="1435100" imgH="342900" progId="">
              <p:embed/>
            </p:oleObj>
          </a:graphicData>
        </a:graphic>
      </p:graphicFrame>
      <p:graphicFrame>
        <p:nvGraphicFramePr>
          <p:cNvPr id="44045" name="Object 13"/>
          <p:cNvGraphicFramePr>
            <a:graphicFrameLocks noChangeAspect="1"/>
          </p:cNvGraphicFramePr>
          <p:nvPr/>
        </p:nvGraphicFramePr>
        <p:xfrm>
          <a:off x="6934200" y="546100"/>
          <a:ext cx="1600200" cy="347663"/>
        </p:xfrm>
        <a:graphic>
          <a:graphicData uri="http://schemas.openxmlformats.org/presentationml/2006/ole">
            <p:oleObj spid="_x0000_s707590" name="Equation" r:id="rId9" imgW="1472561" imgH="317362" progId="">
              <p:embed/>
            </p:oleObj>
          </a:graphicData>
        </a:graphic>
      </p:graphicFrame>
      <p:graphicFrame>
        <p:nvGraphicFramePr>
          <p:cNvPr id="44046" name="Object 14"/>
          <p:cNvGraphicFramePr>
            <a:graphicFrameLocks noChangeAspect="1"/>
          </p:cNvGraphicFramePr>
          <p:nvPr/>
        </p:nvGraphicFramePr>
        <p:xfrm>
          <a:off x="7031038" y="5575300"/>
          <a:ext cx="1503362" cy="368300"/>
        </p:xfrm>
        <a:graphic>
          <a:graphicData uri="http://schemas.openxmlformats.org/presentationml/2006/ole">
            <p:oleObj spid="_x0000_s707591" name="Equation" r:id="rId10" imgW="1854720" imgH="444600" progId="">
              <p:embed/>
            </p:oleObj>
          </a:graphicData>
        </a:graphic>
      </p:graphicFrame>
      <p:graphicFrame>
        <p:nvGraphicFramePr>
          <p:cNvPr id="44047" name="Object 15"/>
          <p:cNvGraphicFramePr>
            <a:graphicFrameLocks noChangeAspect="1"/>
          </p:cNvGraphicFramePr>
          <p:nvPr/>
        </p:nvGraphicFramePr>
        <p:xfrm>
          <a:off x="7031038" y="5121275"/>
          <a:ext cx="1470025" cy="365125"/>
        </p:xfrm>
        <a:graphic>
          <a:graphicData uri="http://schemas.openxmlformats.org/presentationml/2006/ole">
            <p:oleObj spid="_x0000_s707592" name="Equation" r:id="rId11" imgW="1829160" imgH="444600" progId="">
              <p:embed/>
            </p:oleObj>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txBox="1">
            <a:spLocks noChangeArrowheads="1"/>
          </p:cNvSpPr>
          <p:nvPr/>
        </p:nvSpPr>
        <p:spPr>
          <a:xfrm>
            <a:off x="1669867" y="483482"/>
            <a:ext cx="4198370" cy="632138"/>
          </a:xfrm>
          <a:prstGeom prst="rect">
            <a:avLst/>
          </a:prstGeom>
        </p:spPr>
        <p:txBody>
          <a:bodyPr/>
          <a:lstStyle/>
          <a:p>
            <a:pPr lvl="0" eaLnBrk="1" hangingPunct="1"/>
            <a:r>
              <a:rPr lang="en-US" b="1" dirty="0" smtClean="0">
                <a:solidFill>
                  <a:srgbClr val="0070C0"/>
                </a:solidFill>
                <a:effectLst>
                  <a:outerShdw blurRad="53975" dist="22860" dir="5400000" algn="tl" rotWithShape="0">
                    <a:srgbClr val="000000">
                      <a:alpha val="55000"/>
                    </a:srgbClr>
                  </a:outerShdw>
                </a:effectLst>
                <a:latin typeface="+mn-lt"/>
              </a:rPr>
              <a:t>Six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
        <p:nvSpPr>
          <p:cNvPr id="3" name="Rectangle 2"/>
          <p:cNvSpPr>
            <a:spLocks noChangeArrowheads="1"/>
          </p:cNvSpPr>
          <p:nvPr/>
        </p:nvSpPr>
        <p:spPr bwMode="auto">
          <a:xfrm>
            <a:off x="321547" y="970181"/>
            <a:ext cx="8420519" cy="17851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lvl="0" indent="-457200" algn="just">
              <a:spcBef>
                <a:spcPts val="600"/>
              </a:spcBef>
              <a:spcAft>
                <a:spcPts val="600"/>
              </a:spcAft>
              <a:buFont typeface="Wingdings" pitchFamily="2" charset="2"/>
              <a:buChar char="v"/>
            </a:pPr>
            <a:r>
              <a:rPr kumimoji="0" lang="en-US" sz="1800" b="1" i="0" u="none" strike="noStrike" cap="none" normalizeH="0" baseline="0" dirty="0" smtClean="0">
                <a:ln>
                  <a:noFill/>
                </a:ln>
                <a:solidFill>
                  <a:srgbClr val="002060"/>
                </a:solidFill>
                <a:effectLst/>
                <a:latin typeface="Times New Roman" pitchFamily="18" charset="0"/>
                <a:cs typeface="Times New Roman" pitchFamily="18" charset="0"/>
              </a:rPr>
              <a:t>There are five possible six fold screw axes, viz</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6</a:t>
            </a:r>
            <a:r>
              <a:rPr lang="en-US" sz="1800" b="1" baseline="-25000" dirty="0" smtClean="0">
                <a:solidFill>
                  <a:srgbClr val="FF0000"/>
                </a:solidFill>
                <a:latin typeface="Times New Roman" pitchFamily="18" charset="0"/>
                <a:cs typeface="Times New Roman" pitchFamily="18" charset="0"/>
              </a:rPr>
              <a:t>1</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 6</a:t>
            </a:r>
            <a:r>
              <a:rPr lang="en-US" sz="1800" b="1" baseline="-25000" dirty="0" smtClean="0">
                <a:solidFill>
                  <a:srgbClr val="FF0000"/>
                </a:solidFill>
                <a:latin typeface="Times New Roman" pitchFamily="18" charset="0"/>
                <a:cs typeface="Times New Roman" pitchFamily="18" charset="0"/>
              </a:rPr>
              <a:t>2</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 6</a:t>
            </a:r>
            <a:r>
              <a:rPr lang="en-US" sz="1800" b="1" baseline="-25000" dirty="0" smtClean="0">
                <a:solidFill>
                  <a:srgbClr val="FF0000"/>
                </a:solidFill>
                <a:latin typeface="Times New Roman" pitchFamily="18" charset="0"/>
                <a:cs typeface="Times New Roman" pitchFamily="18" charset="0"/>
              </a:rPr>
              <a:t>3</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 6</a:t>
            </a:r>
            <a:r>
              <a:rPr lang="en-US" sz="1800" b="1" baseline="-25000" dirty="0" smtClean="0">
                <a:solidFill>
                  <a:srgbClr val="FF0000"/>
                </a:solidFill>
                <a:latin typeface="Times New Roman" pitchFamily="18" charset="0"/>
                <a:cs typeface="Times New Roman" pitchFamily="18" charset="0"/>
              </a:rPr>
              <a:t>4</a:t>
            </a:r>
            <a:r>
              <a:rPr lang="en-US" sz="1800" b="1" dirty="0" smtClean="0">
                <a:solidFill>
                  <a:srgbClr val="FF0000"/>
                </a:solidFill>
                <a:latin typeface="Times New Roman" pitchFamily="18" charset="0"/>
                <a:cs typeface="Times New Roman" pitchFamily="18" charset="0"/>
              </a:rPr>
              <a:t> </a:t>
            </a:r>
            <a:r>
              <a:rPr lang="en-US" sz="1800" b="1" dirty="0" smtClean="0">
                <a:solidFill>
                  <a:srgbClr val="002060"/>
                </a:solidFill>
                <a:latin typeface="Times New Roman" pitchFamily="18" charset="0"/>
                <a:cs typeface="Times New Roman" pitchFamily="18" charset="0"/>
              </a:rPr>
              <a:t>and </a:t>
            </a:r>
            <a:r>
              <a:rPr lang="en-US" sz="1800" b="1" dirty="0" smtClean="0">
                <a:solidFill>
                  <a:srgbClr val="FF0000"/>
                </a:solidFill>
                <a:latin typeface="Times New Roman" pitchFamily="18" charset="0"/>
                <a:cs typeface="Times New Roman" pitchFamily="18" charset="0"/>
              </a:rPr>
              <a:t>6</a:t>
            </a:r>
            <a:r>
              <a:rPr lang="en-US" sz="1800" b="1" baseline="-25000" dirty="0" smtClean="0">
                <a:solidFill>
                  <a:srgbClr val="FF0000"/>
                </a:solidFill>
                <a:latin typeface="Times New Roman" pitchFamily="18" charset="0"/>
                <a:cs typeface="Times New Roman" pitchFamily="18" charset="0"/>
              </a:rPr>
              <a:t>5</a:t>
            </a:r>
            <a:r>
              <a:rPr lang="en-US" sz="1800" b="1" dirty="0" smtClean="0">
                <a:solidFill>
                  <a:srgbClr val="002060"/>
                </a:solidFill>
                <a:latin typeface="Times New Roman" pitchFamily="18" charset="0"/>
                <a:cs typeface="Times New Roman" pitchFamily="18" charset="0"/>
              </a:rPr>
              <a:t>. </a:t>
            </a:r>
          </a:p>
          <a:p>
            <a:pPr marL="457200" lvl="0" indent="-457200" algn="just">
              <a:spcBef>
                <a:spcPts val="600"/>
              </a:spcBef>
              <a:spcAft>
                <a:spcPts val="600"/>
              </a:spcAft>
              <a:buFont typeface="Wingdings" pitchFamily="2" charset="2"/>
              <a:buChar char="v"/>
            </a:pPr>
            <a:r>
              <a:rPr lang="en-US" sz="1800" b="1" dirty="0" smtClean="0">
                <a:solidFill>
                  <a:srgbClr val="002060"/>
                </a:solidFill>
                <a:latin typeface="Times New Roman" pitchFamily="18" charset="0"/>
                <a:cs typeface="Times New Roman" pitchFamily="18" charset="0"/>
              </a:rPr>
              <a:t>The pair of screw axes </a:t>
            </a:r>
            <a:r>
              <a:rPr lang="en-US" sz="1800" b="1" dirty="0" smtClean="0">
                <a:solidFill>
                  <a:srgbClr val="FF0000"/>
                </a:solidFill>
                <a:latin typeface="Times New Roman" pitchFamily="18" charset="0"/>
                <a:cs typeface="Times New Roman" pitchFamily="18" charset="0"/>
              </a:rPr>
              <a:t>6</a:t>
            </a:r>
            <a:r>
              <a:rPr lang="en-US" sz="1800" b="1" baseline="-25000" dirty="0" smtClean="0">
                <a:solidFill>
                  <a:srgbClr val="FF0000"/>
                </a:solidFill>
                <a:latin typeface="Times New Roman" pitchFamily="18" charset="0"/>
                <a:cs typeface="Times New Roman" pitchFamily="18" charset="0"/>
              </a:rPr>
              <a:t>1</a:t>
            </a:r>
            <a:r>
              <a:rPr lang="en-US" sz="1800" b="1" dirty="0" smtClean="0">
                <a:solidFill>
                  <a:srgbClr val="002060"/>
                </a:solidFill>
                <a:latin typeface="Times New Roman" pitchFamily="18" charset="0"/>
                <a:cs typeface="Times New Roman" pitchFamily="18" charset="0"/>
              </a:rPr>
              <a:t> </a:t>
            </a:r>
            <a:r>
              <a:rPr lang="en-US" sz="1800" b="1" dirty="0" smtClean="0">
                <a:solidFill>
                  <a:srgbClr val="00B050"/>
                </a:solidFill>
                <a:latin typeface="Times New Roman" pitchFamily="18" charset="0"/>
                <a:cs typeface="Times New Roman" pitchFamily="18" charset="0"/>
              </a:rPr>
              <a:t>&amp;</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6</a:t>
            </a:r>
            <a:r>
              <a:rPr lang="en-US" sz="1800" b="1" baseline="-25000" dirty="0" smtClean="0">
                <a:solidFill>
                  <a:srgbClr val="FF0000"/>
                </a:solidFill>
                <a:latin typeface="Times New Roman" pitchFamily="18" charset="0"/>
                <a:cs typeface="Times New Roman" pitchFamily="18" charset="0"/>
              </a:rPr>
              <a:t>5 </a:t>
            </a:r>
            <a:r>
              <a:rPr lang="en-US" sz="1800" b="1" dirty="0" smtClean="0">
                <a:solidFill>
                  <a:srgbClr val="002060"/>
                </a:solidFill>
                <a:latin typeface="Times New Roman" pitchFamily="18" charset="0"/>
                <a:cs typeface="Times New Roman" pitchFamily="18" charset="0"/>
              </a:rPr>
              <a:t> and </a:t>
            </a:r>
            <a:r>
              <a:rPr lang="en-US" sz="1800" b="1" dirty="0" smtClean="0">
                <a:solidFill>
                  <a:srgbClr val="FF0000"/>
                </a:solidFill>
                <a:latin typeface="Times New Roman" pitchFamily="18" charset="0"/>
                <a:cs typeface="Times New Roman" pitchFamily="18" charset="0"/>
              </a:rPr>
              <a:t>6</a:t>
            </a:r>
            <a:r>
              <a:rPr lang="en-US" sz="1800" b="1" baseline="-25000" dirty="0" smtClean="0">
                <a:solidFill>
                  <a:srgbClr val="FF0000"/>
                </a:solidFill>
                <a:latin typeface="Times New Roman" pitchFamily="18" charset="0"/>
                <a:cs typeface="Times New Roman" pitchFamily="18" charset="0"/>
              </a:rPr>
              <a:t>2</a:t>
            </a:r>
            <a:r>
              <a:rPr lang="en-US" sz="1800" b="1" dirty="0" smtClean="0">
                <a:solidFill>
                  <a:srgbClr val="002060"/>
                </a:solidFill>
                <a:latin typeface="Times New Roman" pitchFamily="18" charset="0"/>
                <a:cs typeface="Times New Roman" pitchFamily="18" charset="0"/>
              </a:rPr>
              <a:t> </a:t>
            </a:r>
            <a:r>
              <a:rPr lang="en-US" sz="1800" b="1" dirty="0" smtClean="0">
                <a:solidFill>
                  <a:srgbClr val="00B050"/>
                </a:solidFill>
                <a:latin typeface="Times New Roman" pitchFamily="18" charset="0"/>
                <a:cs typeface="Times New Roman" pitchFamily="18" charset="0"/>
              </a:rPr>
              <a:t>&amp;</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6</a:t>
            </a:r>
            <a:r>
              <a:rPr lang="en-US" sz="1800" b="1" baseline="-25000" dirty="0" smtClean="0">
                <a:solidFill>
                  <a:srgbClr val="FF0000"/>
                </a:solidFill>
                <a:latin typeface="Times New Roman" pitchFamily="18" charset="0"/>
                <a:cs typeface="Times New Roman" pitchFamily="18" charset="0"/>
              </a:rPr>
              <a:t>4 </a:t>
            </a:r>
            <a:r>
              <a:rPr lang="en-US" sz="1800" b="1" dirty="0" smtClean="0">
                <a:solidFill>
                  <a:srgbClr val="002060"/>
                </a:solidFill>
                <a:latin typeface="Times New Roman" pitchFamily="18" charset="0"/>
                <a:cs typeface="Times New Roman" pitchFamily="18" charset="0"/>
              </a:rPr>
              <a:t>form the pair of </a:t>
            </a:r>
            <a:r>
              <a:rPr lang="en-US" sz="1800" b="1" i="1" dirty="0" err="1" smtClean="0">
                <a:solidFill>
                  <a:srgbClr val="FF0000"/>
                </a:solidFill>
                <a:latin typeface="Times New Roman" pitchFamily="18" charset="0"/>
                <a:cs typeface="Times New Roman" pitchFamily="18" charset="0"/>
              </a:rPr>
              <a:t>enantiomorphous</a:t>
            </a:r>
            <a:r>
              <a:rPr lang="en-US" sz="1800" b="1" dirty="0" smtClean="0">
                <a:solidFill>
                  <a:srgbClr val="002060"/>
                </a:solidFill>
                <a:latin typeface="Times New Roman" pitchFamily="18" charset="0"/>
                <a:cs typeface="Times New Roman" pitchFamily="18" charset="0"/>
              </a:rPr>
              <a:t> as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1 </a:t>
            </a:r>
            <a:r>
              <a:rPr lang="en-US" sz="1800" b="1" dirty="0" smtClean="0">
                <a:solidFill>
                  <a:srgbClr val="00B050"/>
                </a:solidFill>
                <a:latin typeface="Times New Roman" pitchFamily="18" charset="0"/>
                <a:cs typeface="Times New Roman" pitchFamily="18" charset="0"/>
              </a:rPr>
              <a:t>&amp;</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3</a:t>
            </a:r>
            <a:r>
              <a:rPr lang="en-US" sz="1800" b="1" baseline="-25000" dirty="0" smtClean="0">
                <a:solidFill>
                  <a:srgbClr val="FF0000"/>
                </a:solidFill>
                <a:latin typeface="Times New Roman" pitchFamily="18" charset="0"/>
                <a:cs typeface="Times New Roman" pitchFamily="18" charset="0"/>
              </a:rPr>
              <a:t>2</a:t>
            </a:r>
            <a:r>
              <a:rPr lang="en-US" sz="1800" b="1" dirty="0">
                <a:solidFill>
                  <a:srgbClr val="002060"/>
                </a:solidFill>
                <a:latin typeface="Times New Roman" pitchFamily="18" charset="0"/>
                <a:cs typeface="Times New Roman" pitchFamily="18" charset="0"/>
              </a:rPr>
              <a:t> </a:t>
            </a:r>
            <a:r>
              <a:rPr lang="en-US" sz="1800" b="1" dirty="0" smtClean="0">
                <a:solidFill>
                  <a:srgbClr val="002060"/>
                </a:solidFill>
                <a:latin typeface="Times New Roman" pitchFamily="18" charset="0"/>
                <a:cs typeface="Times New Roman" pitchFamily="18" charset="0"/>
              </a:rPr>
              <a:t>and </a:t>
            </a:r>
            <a:r>
              <a:rPr lang="en-US" sz="1800" b="1" dirty="0" smtClean="0">
                <a:solidFill>
                  <a:srgbClr val="FF0000"/>
                </a:solidFill>
                <a:latin typeface="Times New Roman" pitchFamily="18" charset="0"/>
                <a:cs typeface="Times New Roman" pitchFamily="18" charset="0"/>
              </a:rPr>
              <a:t>4</a:t>
            </a:r>
            <a:r>
              <a:rPr lang="en-US" sz="1800" b="1" baseline="-25000" dirty="0" smtClean="0">
                <a:solidFill>
                  <a:srgbClr val="FF0000"/>
                </a:solidFill>
                <a:latin typeface="Times New Roman" pitchFamily="18" charset="0"/>
                <a:cs typeface="Times New Roman" pitchFamily="18" charset="0"/>
              </a:rPr>
              <a:t>1 </a:t>
            </a:r>
            <a:r>
              <a:rPr lang="en-US" sz="1800" b="1" dirty="0" smtClean="0">
                <a:solidFill>
                  <a:srgbClr val="00B050"/>
                </a:solidFill>
                <a:latin typeface="Times New Roman" pitchFamily="18" charset="0"/>
                <a:cs typeface="Times New Roman" pitchFamily="18" charset="0"/>
              </a:rPr>
              <a:t>&amp;</a:t>
            </a:r>
            <a:r>
              <a:rPr lang="en-US" sz="1800" b="1" dirty="0" smtClean="0">
                <a:solidFill>
                  <a:srgbClr val="002060"/>
                </a:solidFill>
                <a:latin typeface="Times New Roman" pitchFamily="18" charset="0"/>
                <a:cs typeface="Times New Roman" pitchFamily="18" charset="0"/>
              </a:rPr>
              <a:t> </a:t>
            </a:r>
            <a:r>
              <a:rPr lang="en-US" sz="1800" b="1" dirty="0" smtClean="0">
                <a:solidFill>
                  <a:srgbClr val="FF0000"/>
                </a:solidFill>
                <a:latin typeface="Times New Roman" pitchFamily="18" charset="0"/>
                <a:cs typeface="Times New Roman" pitchFamily="18" charset="0"/>
              </a:rPr>
              <a:t>4</a:t>
            </a:r>
            <a:r>
              <a:rPr lang="en-US" sz="1800" b="1" baseline="-25000" dirty="0" smtClean="0">
                <a:solidFill>
                  <a:srgbClr val="FF0000"/>
                </a:solidFill>
                <a:latin typeface="Times New Roman" pitchFamily="18" charset="0"/>
                <a:cs typeface="Times New Roman" pitchFamily="18" charset="0"/>
              </a:rPr>
              <a:t>3 </a:t>
            </a:r>
          </a:p>
          <a:p>
            <a:pPr marL="457200" lvl="0" indent="-457200" algn="just">
              <a:spcBef>
                <a:spcPts val="600"/>
              </a:spcBef>
              <a:spcAft>
                <a:spcPts val="600"/>
              </a:spcAft>
              <a:buFont typeface="Wingdings" pitchFamily="2" charset="2"/>
              <a:buChar char="v"/>
            </a:pPr>
            <a:r>
              <a:rPr lang="en-US" sz="1800" b="1" dirty="0" smtClean="0">
                <a:solidFill>
                  <a:srgbClr val="002060"/>
                </a:solidFill>
                <a:latin typeface="Times New Roman" pitchFamily="18" charset="0"/>
                <a:cs typeface="Times New Roman" pitchFamily="18" charset="0"/>
              </a:rPr>
              <a:t>However, </a:t>
            </a:r>
            <a:r>
              <a:rPr lang="en-US" sz="1800" b="1" dirty="0" smtClean="0">
                <a:solidFill>
                  <a:srgbClr val="FF0000"/>
                </a:solidFill>
                <a:latin typeface="Times New Roman" pitchFamily="18" charset="0"/>
                <a:cs typeface="Times New Roman" pitchFamily="18" charset="0"/>
              </a:rPr>
              <a:t>6</a:t>
            </a:r>
            <a:r>
              <a:rPr lang="en-US" sz="1800" b="1" baseline="-25000" dirty="0" smtClean="0">
                <a:solidFill>
                  <a:srgbClr val="FF0000"/>
                </a:solidFill>
                <a:latin typeface="Times New Roman" pitchFamily="18" charset="0"/>
                <a:cs typeface="Times New Roman" pitchFamily="18" charset="0"/>
              </a:rPr>
              <a:t>3 </a:t>
            </a:r>
            <a:r>
              <a:rPr lang="en-US" sz="1800" b="1" dirty="0" smtClean="0">
                <a:solidFill>
                  <a:srgbClr val="002060"/>
                </a:solidFill>
                <a:latin typeface="Times New Roman" pitchFamily="18" charset="0"/>
                <a:cs typeface="Times New Roman" pitchFamily="18" charset="0"/>
              </a:rPr>
              <a:t>like </a:t>
            </a:r>
            <a:r>
              <a:rPr lang="en-US" sz="1800" b="1" dirty="0" smtClean="0">
                <a:solidFill>
                  <a:srgbClr val="FF0000"/>
                </a:solidFill>
                <a:latin typeface="Times New Roman" pitchFamily="18" charset="0"/>
                <a:cs typeface="Times New Roman" pitchFamily="18" charset="0"/>
              </a:rPr>
              <a:t>2</a:t>
            </a:r>
            <a:r>
              <a:rPr lang="en-US" sz="1800" b="1" baseline="-25000" dirty="0" smtClean="0">
                <a:solidFill>
                  <a:srgbClr val="FF0000"/>
                </a:solidFill>
                <a:latin typeface="Times New Roman" pitchFamily="18" charset="0"/>
                <a:cs typeface="Times New Roman" pitchFamily="18" charset="0"/>
              </a:rPr>
              <a:t>1 </a:t>
            </a:r>
            <a:r>
              <a:rPr lang="en-US" sz="1800" b="1" dirty="0" smtClean="0">
                <a:solidFill>
                  <a:srgbClr val="002060"/>
                </a:solidFill>
                <a:latin typeface="Times New Roman" pitchFamily="18" charset="0"/>
                <a:cs typeface="Times New Roman" pitchFamily="18" charset="0"/>
              </a:rPr>
              <a:t>and </a:t>
            </a:r>
            <a:r>
              <a:rPr lang="en-US" sz="1800" b="1" dirty="0" smtClean="0">
                <a:solidFill>
                  <a:srgbClr val="FF0000"/>
                </a:solidFill>
                <a:latin typeface="Times New Roman" pitchFamily="18" charset="0"/>
                <a:cs typeface="Times New Roman" pitchFamily="18" charset="0"/>
              </a:rPr>
              <a:t>4</a:t>
            </a:r>
            <a:r>
              <a:rPr lang="en-US" sz="1800" b="1" baseline="-25000" dirty="0" smtClean="0">
                <a:solidFill>
                  <a:srgbClr val="FF0000"/>
                </a:solidFill>
                <a:latin typeface="Times New Roman" pitchFamily="18" charset="0"/>
                <a:cs typeface="Times New Roman" pitchFamily="18" charset="0"/>
              </a:rPr>
              <a:t>2 </a:t>
            </a:r>
            <a:r>
              <a:rPr lang="en-US" sz="1800" b="1" dirty="0" smtClean="0">
                <a:solidFill>
                  <a:srgbClr val="002060"/>
                </a:solidFill>
                <a:latin typeface="Times New Roman" pitchFamily="18" charset="0"/>
                <a:cs typeface="Times New Roman" pitchFamily="18" charset="0"/>
              </a:rPr>
              <a:t>does not have definite sense of rotation as same pattern is obtained by rotating clockwise or anticlockwise directions. </a:t>
            </a:r>
            <a:endParaRPr kumimoji="0" lang="en-US" sz="1800" b="1" i="0" u="none" strike="noStrike" cap="none" normalizeH="0" baseline="0" dirty="0" smtClean="0">
              <a:ln>
                <a:noFill/>
              </a:ln>
              <a:solidFill>
                <a:srgbClr val="FF0000"/>
              </a:solidFill>
              <a:effectLst/>
              <a:latin typeface="Times New Roman" pitchFamily="18" charset="0"/>
              <a:cs typeface="Times New Roman" pitchFamily="18" charset="0"/>
            </a:endParaRPr>
          </a:p>
        </p:txBody>
      </p:sp>
      <p:grpSp>
        <p:nvGrpSpPr>
          <p:cNvPr id="4" name="Group 115"/>
          <p:cNvGrpSpPr/>
          <p:nvPr/>
        </p:nvGrpSpPr>
        <p:grpSpPr>
          <a:xfrm>
            <a:off x="2296095" y="2756592"/>
            <a:ext cx="1423514" cy="1884074"/>
            <a:chOff x="1622855" y="3138429"/>
            <a:chExt cx="1423514" cy="1884074"/>
          </a:xfrm>
        </p:grpSpPr>
        <p:sp>
          <p:nvSpPr>
            <p:cNvPr id="5" name="Oval 4"/>
            <p:cNvSpPr/>
            <p:nvPr/>
          </p:nvSpPr>
          <p:spPr>
            <a:xfrm>
              <a:off x="1641228" y="3138429"/>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765200" y="4027063"/>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791775" y="3546433"/>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301104" y="4311767"/>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664533" y="3580005"/>
              <a:ext cx="381836" cy="276999"/>
            </a:xfrm>
            <a:prstGeom prst="rect">
              <a:avLst/>
            </a:prstGeom>
          </p:spPr>
          <p:txBody>
            <a:bodyPr wrap="none">
              <a:spAutoFit/>
            </a:bodyPr>
            <a:lstStyle/>
            <a:p>
              <a:r>
                <a:rPr lang="en-US" sz="1200" b="1" dirty="0" smtClean="0">
                  <a:solidFill>
                    <a:srgbClr val="7030A0"/>
                  </a:solidFill>
                </a:rPr>
                <a:t>2/6</a:t>
              </a:r>
              <a:endParaRPr lang="en-US" sz="1200" dirty="0">
                <a:solidFill>
                  <a:srgbClr val="7030A0"/>
                </a:solidFill>
              </a:endParaRPr>
            </a:p>
          </p:txBody>
        </p:sp>
        <p:sp>
          <p:nvSpPr>
            <p:cNvPr id="10" name="Rectangle 9"/>
            <p:cNvSpPr/>
            <p:nvPr/>
          </p:nvSpPr>
          <p:spPr>
            <a:xfrm>
              <a:off x="2515354" y="4042231"/>
              <a:ext cx="381836" cy="276999"/>
            </a:xfrm>
            <a:prstGeom prst="rect">
              <a:avLst/>
            </a:prstGeom>
          </p:spPr>
          <p:txBody>
            <a:bodyPr wrap="none">
              <a:spAutoFit/>
            </a:bodyPr>
            <a:lstStyle/>
            <a:p>
              <a:r>
                <a:rPr lang="en-US" sz="1200" b="1" dirty="0" smtClean="0">
                  <a:solidFill>
                    <a:srgbClr val="7030A0"/>
                  </a:solidFill>
                </a:rPr>
                <a:t>1/6</a:t>
              </a:r>
              <a:endParaRPr lang="en-US" sz="1200" dirty="0">
                <a:solidFill>
                  <a:srgbClr val="7030A0"/>
                </a:solidFill>
              </a:endParaRPr>
            </a:p>
          </p:txBody>
        </p:sp>
        <p:sp>
          <p:nvSpPr>
            <p:cNvPr id="11" name="Rectangle 10"/>
            <p:cNvSpPr/>
            <p:nvPr/>
          </p:nvSpPr>
          <p:spPr>
            <a:xfrm>
              <a:off x="1912584" y="4214724"/>
              <a:ext cx="377026" cy="276999"/>
            </a:xfrm>
            <a:prstGeom prst="rect">
              <a:avLst/>
            </a:prstGeom>
          </p:spPr>
          <p:txBody>
            <a:bodyPr wrap="none">
              <a:spAutoFit/>
            </a:bodyPr>
            <a:lstStyle/>
            <a:p>
              <a:r>
                <a:rPr lang="en-US" sz="1200" b="1" dirty="0" smtClean="0">
                  <a:solidFill>
                    <a:srgbClr val="7030A0"/>
                  </a:solidFill>
                </a:rPr>
                <a:t>0,1</a:t>
              </a:r>
              <a:endParaRPr lang="en-US" sz="1200" dirty="0">
                <a:solidFill>
                  <a:srgbClr val="7030A0"/>
                </a:solidFill>
              </a:endParaRPr>
            </a:p>
          </p:txBody>
        </p:sp>
        <p:sp>
          <p:nvSpPr>
            <p:cNvPr id="12" name="Rectangle 11"/>
            <p:cNvSpPr/>
            <p:nvPr/>
          </p:nvSpPr>
          <p:spPr>
            <a:xfrm>
              <a:off x="2136819" y="4560838"/>
              <a:ext cx="441146" cy="461665"/>
            </a:xfrm>
            <a:prstGeom prst="rect">
              <a:avLst/>
            </a:prstGeom>
          </p:spPr>
          <p:txBody>
            <a:bodyPr wrap="none">
              <a:spAutoFit/>
            </a:bodyPr>
            <a:lstStyle/>
            <a:p>
              <a:r>
                <a:rPr lang="en-US" b="1" dirty="0" smtClean="0">
                  <a:solidFill>
                    <a:srgbClr val="FF0000"/>
                  </a:solidFill>
                </a:rPr>
                <a:t>6</a:t>
              </a:r>
              <a:r>
                <a:rPr lang="en-US" b="1" baseline="-25000" dirty="0" smtClean="0">
                  <a:solidFill>
                    <a:srgbClr val="FF0000"/>
                  </a:solidFill>
                </a:rPr>
                <a:t>1</a:t>
              </a:r>
              <a:endParaRPr lang="en-US" dirty="0"/>
            </a:p>
          </p:txBody>
        </p:sp>
        <p:sp>
          <p:nvSpPr>
            <p:cNvPr id="14" name="Oval 13"/>
            <p:cNvSpPr/>
            <p:nvPr/>
          </p:nvSpPr>
          <p:spPr>
            <a:xfrm>
              <a:off x="2272640" y="3218215"/>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316060" y="3139553"/>
              <a:ext cx="357790" cy="369332"/>
            </a:xfrm>
            <a:prstGeom prst="rect">
              <a:avLst/>
            </a:prstGeom>
          </p:spPr>
          <p:txBody>
            <a:bodyPr wrap="none">
              <a:spAutoFit/>
            </a:bodyPr>
            <a:lstStyle/>
            <a:p>
              <a:r>
                <a:rPr lang="en-US" sz="1800" b="1" dirty="0" smtClean="0">
                  <a:solidFill>
                    <a:srgbClr val="7030A0"/>
                  </a:solidFill>
                </a:rPr>
                <a:t>½</a:t>
              </a:r>
              <a:endParaRPr lang="en-US" sz="1800" dirty="0">
                <a:solidFill>
                  <a:srgbClr val="7030A0"/>
                </a:solidFill>
              </a:endParaRPr>
            </a:p>
          </p:txBody>
        </p:sp>
        <p:grpSp>
          <p:nvGrpSpPr>
            <p:cNvPr id="13" name="Group 66"/>
            <p:cNvGrpSpPr/>
            <p:nvPr/>
          </p:nvGrpSpPr>
          <p:grpSpPr>
            <a:xfrm>
              <a:off x="2133601" y="3707841"/>
              <a:ext cx="368439" cy="288555"/>
              <a:chOff x="2867130" y="4572000"/>
              <a:chExt cx="368439" cy="288555"/>
            </a:xfrm>
          </p:grpSpPr>
          <p:sp>
            <p:nvSpPr>
              <p:cNvPr id="53" name="Hexagon 52"/>
              <p:cNvSpPr/>
              <p:nvPr/>
            </p:nvSpPr>
            <p:spPr>
              <a:xfrm rot="5400000">
                <a:off x="2952206" y="4632290"/>
                <a:ext cx="182880" cy="182880"/>
              </a:xfrm>
              <a:prstGeom prst="hexagon">
                <a:avLst/>
              </a:prstGeom>
              <a:ln w="3810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p:cNvCxnSpPr/>
              <p:nvPr/>
            </p:nvCxnSpPr>
            <p:spPr>
              <a:xfrm flipH="1" flipV="1">
                <a:off x="2964264" y="4572000"/>
                <a:ext cx="180871" cy="95962"/>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3135085" y="4573673"/>
                <a:ext cx="1676" cy="209341"/>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3036277" y="4702629"/>
                <a:ext cx="199292" cy="122255"/>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H="1" flipV="1">
                <a:off x="2935793" y="4764593"/>
                <a:ext cx="180871" cy="95962"/>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V="1">
                <a:off x="2945841" y="4645687"/>
                <a:ext cx="1676" cy="209341"/>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V="1">
                <a:off x="2867130" y="4603821"/>
                <a:ext cx="199292" cy="122255"/>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grpSp>
        <p:sp>
          <p:nvSpPr>
            <p:cNvPr id="57" name="Oval 56"/>
            <p:cNvSpPr/>
            <p:nvPr/>
          </p:nvSpPr>
          <p:spPr>
            <a:xfrm>
              <a:off x="1770240" y="3519655"/>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2796816" y="4033783"/>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1771905" y="3330471"/>
              <a:ext cx="381836" cy="276999"/>
            </a:xfrm>
            <a:prstGeom prst="rect">
              <a:avLst/>
            </a:prstGeom>
          </p:spPr>
          <p:txBody>
            <a:bodyPr wrap="none">
              <a:spAutoFit/>
            </a:bodyPr>
            <a:lstStyle/>
            <a:p>
              <a:r>
                <a:rPr lang="en-US" sz="1200" b="1" dirty="0" smtClean="0">
                  <a:solidFill>
                    <a:srgbClr val="7030A0"/>
                  </a:solidFill>
                </a:rPr>
                <a:t>4/6</a:t>
              </a:r>
              <a:endParaRPr lang="en-US" sz="1200" dirty="0">
                <a:solidFill>
                  <a:srgbClr val="7030A0"/>
                </a:solidFill>
              </a:endParaRPr>
            </a:p>
          </p:txBody>
        </p:sp>
        <p:sp>
          <p:nvSpPr>
            <p:cNvPr id="61" name="Rectangle 60"/>
            <p:cNvSpPr/>
            <p:nvPr/>
          </p:nvSpPr>
          <p:spPr>
            <a:xfrm>
              <a:off x="1622855" y="3804419"/>
              <a:ext cx="381836" cy="276999"/>
            </a:xfrm>
            <a:prstGeom prst="rect">
              <a:avLst/>
            </a:prstGeom>
          </p:spPr>
          <p:txBody>
            <a:bodyPr wrap="none">
              <a:spAutoFit/>
            </a:bodyPr>
            <a:lstStyle/>
            <a:p>
              <a:r>
                <a:rPr lang="en-US" sz="1200" b="1" dirty="0" smtClean="0">
                  <a:solidFill>
                    <a:srgbClr val="7030A0"/>
                  </a:solidFill>
                </a:rPr>
                <a:t>5/6</a:t>
              </a:r>
              <a:endParaRPr lang="en-US" sz="1200" dirty="0">
                <a:solidFill>
                  <a:srgbClr val="7030A0"/>
                </a:solidFill>
              </a:endParaRPr>
            </a:p>
          </p:txBody>
        </p:sp>
      </p:grpSp>
      <p:grpSp>
        <p:nvGrpSpPr>
          <p:cNvPr id="16" name="Group 88"/>
          <p:cNvGrpSpPr/>
          <p:nvPr/>
        </p:nvGrpSpPr>
        <p:grpSpPr>
          <a:xfrm>
            <a:off x="2277671" y="4833249"/>
            <a:ext cx="1379925" cy="1884074"/>
            <a:chOff x="720177" y="4973926"/>
            <a:chExt cx="1379925" cy="1884074"/>
          </a:xfrm>
        </p:grpSpPr>
        <p:sp>
          <p:nvSpPr>
            <p:cNvPr id="62" name="Oval 61"/>
            <p:cNvSpPr/>
            <p:nvPr/>
          </p:nvSpPr>
          <p:spPr>
            <a:xfrm>
              <a:off x="728502" y="4973926"/>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852474" y="5862560"/>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1879049" y="5381930"/>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1388378" y="6147264"/>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999858" y="6050221"/>
              <a:ext cx="377026" cy="276999"/>
            </a:xfrm>
            <a:prstGeom prst="rect">
              <a:avLst/>
            </a:prstGeom>
          </p:spPr>
          <p:txBody>
            <a:bodyPr wrap="none">
              <a:spAutoFit/>
            </a:bodyPr>
            <a:lstStyle/>
            <a:p>
              <a:r>
                <a:rPr lang="en-US" sz="1200" b="1" dirty="0" smtClean="0">
                  <a:solidFill>
                    <a:srgbClr val="7030A0"/>
                  </a:solidFill>
                </a:rPr>
                <a:t>0,1</a:t>
              </a:r>
              <a:endParaRPr lang="en-US" sz="1200" dirty="0">
                <a:solidFill>
                  <a:srgbClr val="7030A0"/>
                </a:solidFill>
              </a:endParaRPr>
            </a:p>
          </p:txBody>
        </p:sp>
        <p:sp>
          <p:nvSpPr>
            <p:cNvPr id="73" name="Rectangle 72"/>
            <p:cNvSpPr/>
            <p:nvPr/>
          </p:nvSpPr>
          <p:spPr>
            <a:xfrm>
              <a:off x="1224093" y="6396335"/>
              <a:ext cx="441146" cy="461665"/>
            </a:xfrm>
            <a:prstGeom prst="rect">
              <a:avLst/>
            </a:prstGeom>
          </p:spPr>
          <p:txBody>
            <a:bodyPr wrap="none">
              <a:spAutoFit/>
            </a:bodyPr>
            <a:lstStyle/>
            <a:p>
              <a:r>
                <a:rPr lang="en-US" b="1" dirty="0" smtClean="0">
                  <a:solidFill>
                    <a:srgbClr val="FF0000"/>
                  </a:solidFill>
                </a:rPr>
                <a:t>6</a:t>
              </a:r>
              <a:r>
                <a:rPr lang="en-US" b="1" baseline="-25000" dirty="0" smtClean="0">
                  <a:solidFill>
                    <a:srgbClr val="FF0000"/>
                  </a:solidFill>
                </a:rPr>
                <a:t>4</a:t>
              </a:r>
              <a:endParaRPr lang="en-US" dirty="0"/>
            </a:p>
          </p:txBody>
        </p:sp>
        <p:sp>
          <p:nvSpPr>
            <p:cNvPr id="74" name="Oval 73"/>
            <p:cNvSpPr/>
            <p:nvPr/>
          </p:nvSpPr>
          <p:spPr>
            <a:xfrm>
              <a:off x="1359914" y="5053712"/>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87"/>
            <p:cNvGrpSpPr/>
            <p:nvPr/>
          </p:nvGrpSpPr>
          <p:grpSpPr>
            <a:xfrm>
              <a:off x="1289538" y="5546689"/>
              <a:ext cx="299774" cy="309821"/>
              <a:chOff x="4123174" y="3562142"/>
              <a:chExt cx="299774" cy="309821"/>
            </a:xfrm>
          </p:grpSpPr>
          <p:sp>
            <p:nvSpPr>
              <p:cNvPr id="77" name="Hexagon 76"/>
              <p:cNvSpPr/>
              <p:nvPr/>
            </p:nvSpPr>
            <p:spPr>
              <a:xfrm rot="5400000">
                <a:off x="4139587" y="3619081"/>
                <a:ext cx="182880" cy="182880"/>
              </a:xfrm>
              <a:prstGeom prst="hexagon">
                <a:avLst/>
              </a:prstGeom>
              <a:ln w="3810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p:cNvCxnSpPr/>
              <p:nvPr/>
            </p:nvCxnSpPr>
            <p:spPr>
              <a:xfrm flipH="1" flipV="1">
                <a:off x="4242077" y="3619079"/>
                <a:ext cx="180871" cy="95962"/>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V="1">
                <a:off x="4143274" y="3749708"/>
                <a:ext cx="199292" cy="122255"/>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4123174" y="3562142"/>
                <a:ext cx="1676" cy="209341"/>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grpSp>
        <p:sp>
          <p:nvSpPr>
            <p:cNvPr id="84" name="Oval 83"/>
            <p:cNvSpPr/>
            <p:nvPr/>
          </p:nvSpPr>
          <p:spPr>
            <a:xfrm>
              <a:off x="857514" y="5355152"/>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1884090" y="5869280"/>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1673096" y="5417177"/>
              <a:ext cx="381836" cy="276999"/>
            </a:xfrm>
            <a:prstGeom prst="rect">
              <a:avLst/>
            </a:prstGeom>
          </p:spPr>
          <p:txBody>
            <a:bodyPr wrap="none">
              <a:spAutoFit/>
            </a:bodyPr>
            <a:lstStyle/>
            <a:p>
              <a:r>
                <a:rPr lang="en-US" sz="1200" b="1" dirty="0" smtClean="0">
                  <a:solidFill>
                    <a:srgbClr val="7030A0"/>
                  </a:solidFill>
                </a:rPr>
                <a:t>1/3</a:t>
              </a:r>
              <a:endParaRPr lang="en-US" sz="1200" dirty="0">
                <a:solidFill>
                  <a:srgbClr val="7030A0"/>
                </a:solidFill>
              </a:endParaRPr>
            </a:p>
          </p:txBody>
        </p:sp>
        <p:sp>
          <p:nvSpPr>
            <p:cNvPr id="87" name="Rectangle 86"/>
            <p:cNvSpPr/>
            <p:nvPr/>
          </p:nvSpPr>
          <p:spPr>
            <a:xfrm>
              <a:off x="1624529" y="5901173"/>
              <a:ext cx="381836" cy="276999"/>
            </a:xfrm>
            <a:prstGeom prst="rect">
              <a:avLst/>
            </a:prstGeom>
          </p:spPr>
          <p:txBody>
            <a:bodyPr wrap="none">
              <a:spAutoFit/>
            </a:bodyPr>
            <a:lstStyle/>
            <a:p>
              <a:r>
                <a:rPr lang="en-US" sz="1200" b="1" dirty="0" smtClean="0">
                  <a:solidFill>
                    <a:srgbClr val="7030A0"/>
                  </a:solidFill>
                </a:rPr>
                <a:t>2/3</a:t>
              </a:r>
              <a:endParaRPr lang="en-US" sz="1200" dirty="0">
                <a:solidFill>
                  <a:srgbClr val="7030A0"/>
                </a:solidFill>
              </a:endParaRPr>
            </a:p>
          </p:txBody>
        </p:sp>
        <p:sp>
          <p:nvSpPr>
            <p:cNvPr id="113" name="Rectangle 112"/>
            <p:cNvSpPr/>
            <p:nvPr/>
          </p:nvSpPr>
          <p:spPr>
            <a:xfrm>
              <a:off x="1383370" y="4996819"/>
              <a:ext cx="377026" cy="276999"/>
            </a:xfrm>
            <a:prstGeom prst="rect">
              <a:avLst/>
            </a:prstGeom>
          </p:spPr>
          <p:txBody>
            <a:bodyPr wrap="none">
              <a:spAutoFit/>
            </a:bodyPr>
            <a:lstStyle/>
            <a:p>
              <a:r>
                <a:rPr lang="en-US" sz="1200" b="1" dirty="0" smtClean="0">
                  <a:solidFill>
                    <a:srgbClr val="7030A0"/>
                  </a:solidFill>
                </a:rPr>
                <a:t>0,1</a:t>
              </a:r>
              <a:endParaRPr lang="en-US" sz="1200" dirty="0">
                <a:solidFill>
                  <a:srgbClr val="7030A0"/>
                </a:solidFill>
              </a:endParaRPr>
            </a:p>
          </p:txBody>
        </p:sp>
        <p:sp>
          <p:nvSpPr>
            <p:cNvPr id="114" name="Rectangle 113"/>
            <p:cNvSpPr/>
            <p:nvPr/>
          </p:nvSpPr>
          <p:spPr>
            <a:xfrm>
              <a:off x="720177" y="5599722"/>
              <a:ext cx="381836" cy="276999"/>
            </a:xfrm>
            <a:prstGeom prst="rect">
              <a:avLst/>
            </a:prstGeom>
          </p:spPr>
          <p:txBody>
            <a:bodyPr wrap="none">
              <a:spAutoFit/>
            </a:bodyPr>
            <a:lstStyle/>
            <a:p>
              <a:r>
                <a:rPr lang="en-US" sz="1200" b="1" dirty="0" smtClean="0">
                  <a:solidFill>
                    <a:srgbClr val="7030A0"/>
                  </a:solidFill>
                </a:rPr>
                <a:t>1/3</a:t>
              </a:r>
              <a:endParaRPr lang="en-US" sz="1200" dirty="0">
                <a:solidFill>
                  <a:srgbClr val="7030A0"/>
                </a:solidFill>
              </a:endParaRPr>
            </a:p>
          </p:txBody>
        </p:sp>
        <p:sp>
          <p:nvSpPr>
            <p:cNvPr id="115" name="Rectangle 114"/>
            <p:cNvSpPr/>
            <p:nvPr/>
          </p:nvSpPr>
          <p:spPr>
            <a:xfrm>
              <a:off x="872577" y="5149221"/>
              <a:ext cx="381836" cy="276999"/>
            </a:xfrm>
            <a:prstGeom prst="rect">
              <a:avLst/>
            </a:prstGeom>
          </p:spPr>
          <p:txBody>
            <a:bodyPr wrap="none">
              <a:spAutoFit/>
            </a:bodyPr>
            <a:lstStyle/>
            <a:p>
              <a:r>
                <a:rPr lang="en-US" sz="1200" b="1" dirty="0" smtClean="0">
                  <a:solidFill>
                    <a:srgbClr val="7030A0"/>
                  </a:solidFill>
                </a:rPr>
                <a:t>2/3</a:t>
              </a:r>
              <a:endParaRPr lang="en-US" sz="1200" dirty="0">
                <a:solidFill>
                  <a:srgbClr val="7030A0"/>
                </a:solidFill>
              </a:endParaRPr>
            </a:p>
          </p:txBody>
        </p:sp>
      </p:grpSp>
      <p:grpSp>
        <p:nvGrpSpPr>
          <p:cNvPr id="18" name="Group 89"/>
          <p:cNvGrpSpPr/>
          <p:nvPr/>
        </p:nvGrpSpPr>
        <p:grpSpPr>
          <a:xfrm>
            <a:off x="3965665" y="2744868"/>
            <a:ext cx="1401826" cy="1884074"/>
            <a:chOff x="698276" y="4973926"/>
            <a:chExt cx="1401826" cy="1884074"/>
          </a:xfrm>
        </p:grpSpPr>
        <p:sp>
          <p:nvSpPr>
            <p:cNvPr id="91" name="Oval 90"/>
            <p:cNvSpPr/>
            <p:nvPr/>
          </p:nvSpPr>
          <p:spPr>
            <a:xfrm>
              <a:off x="728502" y="4973926"/>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852474" y="5862560"/>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p:cNvSpPr/>
            <p:nvPr/>
          </p:nvSpPr>
          <p:spPr>
            <a:xfrm>
              <a:off x="1879049" y="5381930"/>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388378" y="6147264"/>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837406" y="5104004"/>
              <a:ext cx="381836" cy="276999"/>
            </a:xfrm>
            <a:prstGeom prst="rect">
              <a:avLst/>
            </a:prstGeom>
          </p:spPr>
          <p:txBody>
            <a:bodyPr wrap="none">
              <a:spAutoFit/>
            </a:bodyPr>
            <a:lstStyle/>
            <a:p>
              <a:r>
                <a:rPr lang="en-US" sz="1200" b="1" dirty="0" smtClean="0">
                  <a:solidFill>
                    <a:srgbClr val="7030A0"/>
                  </a:solidFill>
                </a:rPr>
                <a:t>2/6</a:t>
              </a:r>
              <a:endParaRPr lang="en-US" sz="1200" dirty="0">
                <a:solidFill>
                  <a:srgbClr val="7030A0"/>
                </a:solidFill>
              </a:endParaRPr>
            </a:p>
          </p:txBody>
        </p:sp>
        <p:sp>
          <p:nvSpPr>
            <p:cNvPr id="96" name="Rectangle 95"/>
            <p:cNvSpPr/>
            <p:nvPr/>
          </p:nvSpPr>
          <p:spPr>
            <a:xfrm>
              <a:off x="698276" y="5626519"/>
              <a:ext cx="381836" cy="276999"/>
            </a:xfrm>
            <a:prstGeom prst="rect">
              <a:avLst/>
            </a:prstGeom>
          </p:spPr>
          <p:txBody>
            <a:bodyPr wrap="none">
              <a:spAutoFit/>
            </a:bodyPr>
            <a:lstStyle/>
            <a:p>
              <a:r>
                <a:rPr lang="en-US" sz="1200" b="1" dirty="0" smtClean="0">
                  <a:solidFill>
                    <a:srgbClr val="7030A0"/>
                  </a:solidFill>
                </a:rPr>
                <a:t>1/6</a:t>
              </a:r>
              <a:endParaRPr lang="en-US" sz="1200" dirty="0">
                <a:solidFill>
                  <a:srgbClr val="7030A0"/>
                </a:solidFill>
              </a:endParaRPr>
            </a:p>
          </p:txBody>
        </p:sp>
        <p:sp>
          <p:nvSpPr>
            <p:cNvPr id="97" name="Rectangle 96"/>
            <p:cNvSpPr/>
            <p:nvPr/>
          </p:nvSpPr>
          <p:spPr>
            <a:xfrm>
              <a:off x="999858" y="6050221"/>
              <a:ext cx="377026" cy="276999"/>
            </a:xfrm>
            <a:prstGeom prst="rect">
              <a:avLst/>
            </a:prstGeom>
          </p:spPr>
          <p:txBody>
            <a:bodyPr wrap="none">
              <a:spAutoFit/>
            </a:bodyPr>
            <a:lstStyle/>
            <a:p>
              <a:r>
                <a:rPr lang="en-US" sz="1200" b="1" dirty="0" smtClean="0">
                  <a:solidFill>
                    <a:srgbClr val="7030A0"/>
                  </a:solidFill>
                </a:rPr>
                <a:t>0,1</a:t>
              </a:r>
              <a:endParaRPr lang="en-US" sz="1200" dirty="0">
                <a:solidFill>
                  <a:srgbClr val="7030A0"/>
                </a:solidFill>
              </a:endParaRPr>
            </a:p>
          </p:txBody>
        </p:sp>
        <p:sp>
          <p:nvSpPr>
            <p:cNvPr id="98" name="Rectangle 97"/>
            <p:cNvSpPr/>
            <p:nvPr/>
          </p:nvSpPr>
          <p:spPr>
            <a:xfrm>
              <a:off x="1224093" y="6396335"/>
              <a:ext cx="441146" cy="461665"/>
            </a:xfrm>
            <a:prstGeom prst="rect">
              <a:avLst/>
            </a:prstGeom>
          </p:spPr>
          <p:txBody>
            <a:bodyPr wrap="none">
              <a:spAutoFit/>
            </a:bodyPr>
            <a:lstStyle/>
            <a:p>
              <a:r>
                <a:rPr lang="en-US" b="1" dirty="0" smtClean="0">
                  <a:solidFill>
                    <a:srgbClr val="FF0000"/>
                  </a:solidFill>
                </a:rPr>
                <a:t>6</a:t>
              </a:r>
              <a:r>
                <a:rPr lang="en-US" b="1" baseline="-25000" dirty="0" smtClean="0">
                  <a:solidFill>
                    <a:srgbClr val="FF0000"/>
                  </a:solidFill>
                </a:rPr>
                <a:t>5</a:t>
              </a:r>
              <a:endParaRPr lang="en-US" dirty="0"/>
            </a:p>
          </p:txBody>
        </p:sp>
        <p:sp>
          <p:nvSpPr>
            <p:cNvPr id="99" name="Oval 98"/>
            <p:cNvSpPr/>
            <p:nvPr/>
          </p:nvSpPr>
          <p:spPr>
            <a:xfrm>
              <a:off x="1359914" y="5053712"/>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p:cNvSpPr/>
            <p:nvPr/>
          </p:nvSpPr>
          <p:spPr>
            <a:xfrm>
              <a:off x="1403334" y="4975050"/>
              <a:ext cx="357790" cy="369332"/>
            </a:xfrm>
            <a:prstGeom prst="rect">
              <a:avLst/>
            </a:prstGeom>
          </p:spPr>
          <p:txBody>
            <a:bodyPr wrap="none">
              <a:spAutoFit/>
            </a:bodyPr>
            <a:lstStyle/>
            <a:p>
              <a:r>
                <a:rPr lang="en-US" sz="1800" b="1" dirty="0" smtClean="0">
                  <a:solidFill>
                    <a:srgbClr val="7030A0"/>
                  </a:solidFill>
                </a:rPr>
                <a:t>½</a:t>
              </a:r>
              <a:endParaRPr lang="en-US" sz="1800" dirty="0">
                <a:solidFill>
                  <a:srgbClr val="7030A0"/>
                </a:solidFill>
              </a:endParaRPr>
            </a:p>
          </p:txBody>
        </p:sp>
        <p:grpSp>
          <p:nvGrpSpPr>
            <p:cNvPr id="19" name="Group 100"/>
            <p:cNvGrpSpPr/>
            <p:nvPr/>
          </p:nvGrpSpPr>
          <p:grpSpPr>
            <a:xfrm>
              <a:off x="1209154" y="5546689"/>
              <a:ext cx="380158" cy="309821"/>
              <a:chOff x="4042790" y="3562142"/>
              <a:chExt cx="380158" cy="309821"/>
            </a:xfrm>
          </p:grpSpPr>
          <p:sp>
            <p:nvSpPr>
              <p:cNvPr id="106" name="Hexagon 105"/>
              <p:cNvSpPr/>
              <p:nvPr/>
            </p:nvSpPr>
            <p:spPr>
              <a:xfrm rot="5400000">
                <a:off x="4139587" y="3619081"/>
                <a:ext cx="182880" cy="182880"/>
              </a:xfrm>
              <a:prstGeom prst="hexagon">
                <a:avLst/>
              </a:prstGeom>
              <a:ln w="3810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Connector 106"/>
              <p:cNvCxnSpPr/>
              <p:nvPr/>
            </p:nvCxnSpPr>
            <p:spPr>
              <a:xfrm flipH="1" flipV="1">
                <a:off x="4242077" y="3619079"/>
                <a:ext cx="180871" cy="95962"/>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flipV="1">
                <a:off x="4322466" y="3650896"/>
                <a:ext cx="1676" cy="209341"/>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V="1">
                <a:off x="4143274" y="3749708"/>
                <a:ext cx="199292" cy="122255"/>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flipV="1">
                <a:off x="4042790" y="3721240"/>
                <a:ext cx="180871" cy="95962"/>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V="1">
                <a:off x="4123174" y="3562142"/>
                <a:ext cx="1676" cy="209341"/>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V="1">
                <a:off x="4124847" y="3570516"/>
                <a:ext cx="199292" cy="122255"/>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grpSp>
        <p:sp>
          <p:nvSpPr>
            <p:cNvPr id="102" name="Oval 101"/>
            <p:cNvSpPr/>
            <p:nvPr/>
          </p:nvSpPr>
          <p:spPr>
            <a:xfrm>
              <a:off x="857514" y="5355152"/>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884090" y="5869280"/>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p:cNvSpPr/>
            <p:nvPr/>
          </p:nvSpPr>
          <p:spPr>
            <a:xfrm>
              <a:off x="1673096" y="5417177"/>
              <a:ext cx="381836" cy="276999"/>
            </a:xfrm>
            <a:prstGeom prst="rect">
              <a:avLst/>
            </a:prstGeom>
          </p:spPr>
          <p:txBody>
            <a:bodyPr wrap="none">
              <a:spAutoFit/>
            </a:bodyPr>
            <a:lstStyle/>
            <a:p>
              <a:r>
                <a:rPr lang="en-US" sz="1200" b="1" dirty="0" smtClean="0">
                  <a:solidFill>
                    <a:srgbClr val="7030A0"/>
                  </a:solidFill>
                </a:rPr>
                <a:t>4/6</a:t>
              </a:r>
              <a:endParaRPr lang="en-US" sz="1200" dirty="0">
                <a:solidFill>
                  <a:srgbClr val="7030A0"/>
                </a:solidFill>
              </a:endParaRPr>
            </a:p>
          </p:txBody>
        </p:sp>
        <p:sp>
          <p:nvSpPr>
            <p:cNvPr id="105" name="Rectangle 104"/>
            <p:cNvSpPr/>
            <p:nvPr/>
          </p:nvSpPr>
          <p:spPr>
            <a:xfrm>
              <a:off x="1624529" y="5901173"/>
              <a:ext cx="381836" cy="276999"/>
            </a:xfrm>
            <a:prstGeom prst="rect">
              <a:avLst/>
            </a:prstGeom>
          </p:spPr>
          <p:txBody>
            <a:bodyPr wrap="none">
              <a:spAutoFit/>
            </a:bodyPr>
            <a:lstStyle/>
            <a:p>
              <a:r>
                <a:rPr lang="en-US" sz="1200" b="1" dirty="0" smtClean="0">
                  <a:solidFill>
                    <a:srgbClr val="7030A0"/>
                  </a:solidFill>
                </a:rPr>
                <a:t>5/6</a:t>
              </a:r>
              <a:endParaRPr lang="en-US" sz="1200" dirty="0">
                <a:solidFill>
                  <a:srgbClr val="7030A0"/>
                </a:solidFill>
              </a:endParaRPr>
            </a:p>
          </p:txBody>
        </p:sp>
      </p:grpSp>
      <p:grpSp>
        <p:nvGrpSpPr>
          <p:cNvPr id="20" name="Group 116"/>
          <p:cNvGrpSpPr/>
          <p:nvPr/>
        </p:nvGrpSpPr>
        <p:grpSpPr>
          <a:xfrm>
            <a:off x="4036135" y="4833249"/>
            <a:ext cx="1423514" cy="1884074"/>
            <a:chOff x="1622855" y="3138429"/>
            <a:chExt cx="1423514" cy="1884074"/>
          </a:xfrm>
        </p:grpSpPr>
        <p:sp>
          <p:nvSpPr>
            <p:cNvPr id="118" name="Oval 117"/>
            <p:cNvSpPr/>
            <p:nvPr/>
          </p:nvSpPr>
          <p:spPr>
            <a:xfrm>
              <a:off x="1641228" y="3138429"/>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p:cNvSpPr/>
            <p:nvPr/>
          </p:nvSpPr>
          <p:spPr>
            <a:xfrm>
              <a:off x="1765200" y="4027063"/>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2791775" y="3546433"/>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2301104" y="4311767"/>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p:cNvSpPr/>
            <p:nvPr/>
          </p:nvSpPr>
          <p:spPr>
            <a:xfrm>
              <a:off x="2664533" y="3580005"/>
              <a:ext cx="381836" cy="276999"/>
            </a:xfrm>
            <a:prstGeom prst="rect">
              <a:avLst/>
            </a:prstGeom>
          </p:spPr>
          <p:txBody>
            <a:bodyPr wrap="none">
              <a:spAutoFit/>
            </a:bodyPr>
            <a:lstStyle/>
            <a:p>
              <a:r>
                <a:rPr lang="en-US" sz="1200" b="1" dirty="0" smtClean="0">
                  <a:solidFill>
                    <a:srgbClr val="7030A0"/>
                  </a:solidFill>
                </a:rPr>
                <a:t>2/2</a:t>
              </a:r>
              <a:endParaRPr lang="en-US" sz="1200" dirty="0">
                <a:solidFill>
                  <a:srgbClr val="7030A0"/>
                </a:solidFill>
              </a:endParaRPr>
            </a:p>
          </p:txBody>
        </p:sp>
        <p:sp>
          <p:nvSpPr>
            <p:cNvPr id="123" name="Rectangle 122"/>
            <p:cNvSpPr/>
            <p:nvPr/>
          </p:nvSpPr>
          <p:spPr>
            <a:xfrm>
              <a:off x="2515354" y="4042231"/>
              <a:ext cx="381836" cy="276999"/>
            </a:xfrm>
            <a:prstGeom prst="rect">
              <a:avLst/>
            </a:prstGeom>
          </p:spPr>
          <p:txBody>
            <a:bodyPr wrap="none">
              <a:spAutoFit/>
            </a:bodyPr>
            <a:lstStyle/>
            <a:p>
              <a:r>
                <a:rPr lang="en-US" sz="1200" b="1" dirty="0" smtClean="0">
                  <a:solidFill>
                    <a:srgbClr val="7030A0"/>
                  </a:solidFill>
                </a:rPr>
                <a:t>1/3</a:t>
              </a:r>
              <a:endParaRPr lang="en-US" sz="1200" dirty="0">
                <a:solidFill>
                  <a:srgbClr val="7030A0"/>
                </a:solidFill>
              </a:endParaRPr>
            </a:p>
          </p:txBody>
        </p:sp>
        <p:sp>
          <p:nvSpPr>
            <p:cNvPr id="124" name="Rectangle 123"/>
            <p:cNvSpPr/>
            <p:nvPr/>
          </p:nvSpPr>
          <p:spPr>
            <a:xfrm>
              <a:off x="1912584" y="4214724"/>
              <a:ext cx="377026" cy="276999"/>
            </a:xfrm>
            <a:prstGeom prst="rect">
              <a:avLst/>
            </a:prstGeom>
          </p:spPr>
          <p:txBody>
            <a:bodyPr wrap="none">
              <a:spAutoFit/>
            </a:bodyPr>
            <a:lstStyle/>
            <a:p>
              <a:r>
                <a:rPr lang="en-US" sz="1200" b="1" dirty="0" smtClean="0">
                  <a:solidFill>
                    <a:srgbClr val="7030A0"/>
                  </a:solidFill>
                </a:rPr>
                <a:t>0,1</a:t>
              </a:r>
              <a:endParaRPr lang="en-US" sz="1200" dirty="0">
                <a:solidFill>
                  <a:srgbClr val="7030A0"/>
                </a:solidFill>
              </a:endParaRPr>
            </a:p>
          </p:txBody>
        </p:sp>
        <p:sp>
          <p:nvSpPr>
            <p:cNvPr id="125" name="Rectangle 124"/>
            <p:cNvSpPr/>
            <p:nvPr/>
          </p:nvSpPr>
          <p:spPr>
            <a:xfrm>
              <a:off x="2136819" y="4560838"/>
              <a:ext cx="441146" cy="461665"/>
            </a:xfrm>
            <a:prstGeom prst="rect">
              <a:avLst/>
            </a:prstGeom>
          </p:spPr>
          <p:txBody>
            <a:bodyPr wrap="none">
              <a:spAutoFit/>
            </a:bodyPr>
            <a:lstStyle/>
            <a:p>
              <a:r>
                <a:rPr lang="en-US" b="1" dirty="0" smtClean="0">
                  <a:solidFill>
                    <a:srgbClr val="FF0000"/>
                  </a:solidFill>
                </a:rPr>
                <a:t>6</a:t>
              </a:r>
              <a:r>
                <a:rPr lang="en-US" b="1" baseline="-25000" dirty="0" smtClean="0">
                  <a:solidFill>
                    <a:srgbClr val="FF0000"/>
                  </a:solidFill>
                </a:rPr>
                <a:t>2</a:t>
              </a:r>
              <a:endParaRPr lang="en-US" dirty="0"/>
            </a:p>
          </p:txBody>
        </p:sp>
        <p:sp>
          <p:nvSpPr>
            <p:cNvPr id="126" name="Oval 125"/>
            <p:cNvSpPr/>
            <p:nvPr/>
          </p:nvSpPr>
          <p:spPr>
            <a:xfrm>
              <a:off x="2272640" y="3218215"/>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p:cNvSpPr/>
            <p:nvPr/>
          </p:nvSpPr>
          <p:spPr>
            <a:xfrm>
              <a:off x="2316060" y="3139553"/>
              <a:ext cx="377026" cy="276999"/>
            </a:xfrm>
            <a:prstGeom prst="rect">
              <a:avLst/>
            </a:prstGeom>
          </p:spPr>
          <p:txBody>
            <a:bodyPr wrap="none">
              <a:spAutoFit/>
            </a:bodyPr>
            <a:lstStyle/>
            <a:p>
              <a:r>
                <a:rPr lang="en-US" sz="1200" b="1" dirty="0" smtClean="0">
                  <a:solidFill>
                    <a:srgbClr val="7030A0"/>
                  </a:solidFill>
                </a:rPr>
                <a:t>0,1</a:t>
              </a:r>
              <a:endParaRPr lang="en-US" sz="1200" dirty="0">
                <a:solidFill>
                  <a:srgbClr val="7030A0"/>
                </a:solidFill>
              </a:endParaRPr>
            </a:p>
          </p:txBody>
        </p:sp>
        <p:grpSp>
          <p:nvGrpSpPr>
            <p:cNvPr id="21" name="Group 66"/>
            <p:cNvGrpSpPr/>
            <p:nvPr/>
          </p:nvGrpSpPr>
          <p:grpSpPr>
            <a:xfrm>
              <a:off x="2212312" y="3707841"/>
              <a:ext cx="289728" cy="303124"/>
              <a:chOff x="2945841" y="4572000"/>
              <a:chExt cx="289728" cy="303124"/>
            </a:xfrm>
          </p:grpSpPr>
          <p:sp>
            <p:nvSpPr>
              <p:cNvPr id="133" name="Hexagon 132"/>
              <p:cNvSpPr/>
              <p:nvPr/>
            </p:nvSpPr>
            <p:spPr>
              <a:xfrm rot="5400000">
                <a:off x="2952206" y="4632290"/>
                <a:ext cx="182880" cy="182880"/>
              </a:xfrm>
              <a:prstGeom prst="hexagon">
                <a:avLst/>
              </a:prstGeom>
              <a:ln w="3810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Connector 133"/>
              <p:cNvCxnSpPr/>
              <p:nvPr/>
            </p:nvCxnSpPr>
            <p:spPr>
              <a:xfrm flipH="1" flipV="1">
                <a:off x="2964264" y="4572000"/>
                <a:ext cx="180871" cy="95962"/>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V="1">
                <a:off x="3036277" y="4702629"/>
                <a:ext cx="199292" cy="122255"/>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flipV="1">
                <a:off x="2945841" y="4665783"/>
                <a:ext cx="1676" cy="209341"/>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grpSp>
        <p:sp>
          <p:nvSpPr>
            <p:cNvPr id="129" name="Oval 128"/>
            <p:cNvSpPr/>
            <p:nvPr/>
          </p:nvSpPr>
          <p:spPr>
            <a:xfrm>
              <a:off x="1770240" y="3519655"/>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2796816" y="4033783"/>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p:cNvSpPr/>
            <p:nvPr/>
          </p:nvSpPr>
          <p:spPr>
            <a:xfrm>
              <a:off x="1771905" y="3330471"/>
              <a:ext cx="381836" cy="276999"/>
            </a:xfrm>
            <a:prstGeom prst="rect">
              <a:avLst/>
            </a:prstGeom>
          </p:spPr>
          <p:txBody>
            <a:bodyPr wrap="none">
              <a:spAutoFit/>
            </a:bodyPr>
            <a:lstStyle/>
            <a:p>
              <a:r>
                <a:rPr lang="en-US" sz="1200" b="1" dirty="0" smtClean="0">
                  <a:solidFill>
                    <a:srgbClr val="7030A0"/>
                  </a:solidFill>
                </a:rPr>
                <a:t>1/3</a:t>
              </a:r>
              <a:endParaRPr lang="en-US" sz="1200" dirty="0">
                <a:solidFill>
                  <a:srgbClr val="7030A0"/>
                </a:solidFill>
              </a:endParaRPr>
            </a:p>
          </p:txBody>
        </p:sp>
        <p:sp>
          <p:nvSpPr>
            <p:cNvPr id="132" name="Rectangle 131"/>
            <p:cNvSpPr/>
            <p:nvPr/>
          </p:nvSpPr>
          <p:spPr>
            <a:xfrm>
              <a:off x="1622855" y="3804419"/>
              <a:ext cx="381836" cy="276999"/>
            </a:xfrm>
            <a:prstGeom prst="rect">
              <a:avLst/>
            </a:prstGeom>
          </p:spPr>
          <p:txBody>
            <a:bodyPr wrap="none">
              <a:spAutoFit/>
            </a:bodyPr>
            <a:lstStyle/>
            <a:p>
              <a:r>
                <a:rPr lang="en-US" sz="1200" b="1" dirty="0" smtClean="0">
                  <a:solidFill>
                    <a:srgbClr val="7030A0"/>
                  </a:solidFill>
                </a:rPr>
                <a:t>2/3</a:t>
              </a:r>
              <a:endParaRPr lang="en-US" sz="1200" dirty="0">
                <a:solidFill>
                  <a:srgbClr val="7030A0"/>
                </a:solidFill>
              </a:endParaRPr>
            </a:p>
          </p:txBody>
        </p:sp>
      </p:grpSp>
      <p:grpSp>
        <p:nvGrpSpPr>
          <p:cNvPr id="22" name="Group 139"/>
          <p:cNvGrpSpPr/>
          <p:nvPr/>
        </p:nvGrpSpPr>
        <p:grpSpPr>
          <a:xfrm>
            <a:off x="5856429" y="3691086"/>
            <a:ext cx="1401826" cy="1884074"/>
            <a:chOff x="698276" y="4973926"/>
            <a:chExt cx="1401826" cy="1884074"/>
          </a:xfrm>
        </p:grpSpPr>
        <p:sp>
          <p:nvSpPr>
            <p:cNvPr id="141" name="Oval 140"/>
            <p:cNvSpPr/>
            <p:nvPr/>
          </p:nvSpPr>
          <p:spPr>
            <a:xfrm>
              <a:off x="728502" y="4973926"/>
              <a:ext cx="1371600" cy="1373281"/>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852474" y="5862560"/>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a:off x="1879049" y="5381930"/>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388378" y="6147264"/>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p:cNvSpPr/>
            <p:nvPr/>
          </p:nvSpPr>
          <p:spPr>
            <a:xfrm>
              <a:off x="837406" y="5104004"/>
              <a:ext cx="381836" cy="276999"/>
            </a:xfrm>
            <a:prstGeom prst="rect">
              <a:avLst/>
            </a:prstGeom>
          </p:spPr>
          <p:txBody>
            <a:bodyPr wrap="none">
              <a:spAutoFit/>
            </a:bodyPr>
            <a:lstStyle/>
            <a:p>
              <a:r>
                <a:rPr lang="en-US" sz="1200" b="1" dirty="0" smtClean="0">
                  <a:solidFill>
                    <a:srgbClr val="7030A0"/>
                  </a:solidFill>
                </a:rPr>
                <a:t>0,1</a:t>
              </a:r>
              <a:endParaRPr lang="en-US" sz="1200" dirty="0">
                <a:solidFill>
                  <a:srgbClr val="7030A0"/>
                </a:solidFill>
              </a:endParaRPr>
            </a:p>
          </p:txBody>
        </p:sp>
        <p:sp>
          <p:nvSpPr>
            <p:cNvPr id="146" name="Rectangle 145"/>
            <p:cNvSpPr/>
            <p:nvPr/>
          </p:nvSpPr>
          <p:spPr>
            <a:xfrm>
              <a:off x="698276" y="5626519"/>
              <a:ext cx="381836" cy="276999"/>
            </a:xfrm>
            <a:prstGeom prst="rect">
              <a:avLst/>
            </a:prstGeom>
          </p:spPr>
          <p:txBody>
            <a:bodyPr wrap="none">
              <a:spAutoFit/>
            </a:bodyPr>
            <a:lstStyle/>
            <a:p>
              <a:r>
                <a:rPr lang="en-US" sz="1200" b="1" dirty="0" smtClean="0">
                  <a:solidFill>
                    <a:srgbClr val="7030A0"/>
                  </a:solidFill>
                </a:rPr>
                <a:t>1/2</a:t>
              </a:r>
              <a:endParaRPr lang="en-US" sz="1200" dirty="0">
                <a:solidFill>
                  <a:srgbClr val="7030A0"/>
                </a:solidFill>
              </a:endParaRPr>
            </a:p>
          </p:txBody>
        </p:sp>
        <p:sp>
          <p:nvSpPr>
            <p:cNvPr id="147" name="Rectangle 146"/>
            <p:cNvSpPr/>
            <p:nvPr/>
          </p:nvSpPr>
          <p:spPr>
            <a:xfrm>
              <a:off x="999858" y="6050221"/>
              <a:ext cx="377026" cy="276999"/>
            </a:xfrm>
            <a:prstGeom prst="rect">
              <a:avLst/>
            </a:prstGeom>
          </p:spPr>
          <p:txBody>
            <a:bodyPr wrap="none">
              <a:spAutoFit/>
            </a:bodyPr>
            <a:lstStyle/>
            <a:p>
              <a:r>
                <a:rPr lang="en-US" sz="1200" b="1" dirty="0" smtClean="0">
                  <a:solidFill>
                    <a:srgbClr val="7030A0"/>
                  </a:solidFill>
                </a:rPr>
                <a:t>0,1</a:t>
              </a:r>
              <a:endParaRPr lang="en-US" sz="1200" dirty="0">
                <a:solidFill>
                  <a:srgbClr val="7030A0"/>
                </a:solidFill>
              </a:endParaRPr>
            </a:p>
          </p:txBody>
        </p:sp>
        <p:sp>
          <p:nvSpPr>
            <p:cNvPr id="148" name="Rectangle 147"/>
            <p:cNvSpPr/>
            <p:nvPr/>
          </p:nvSpPr>
          <p:spPr>
            <a:xfrm>
              <a:off x="1224093" y="6396335"/>
              <a:ext cx="441146" cy="461665"/>
            </a:xfrm>
            <a:prstGeom prst="rect">
              <a:avLst/>
            </a:prstGeom>
          </p:spPr>
          <p:txBody>
            <a:bodyPr wrap="none">
              <a:spAutoFit/>
            </a:bodyPr>
            <a:lstStyle/>
            <a:p>
              <a:r>
                <a:rPr lang="en-US" b="1" dirty="0" smtClean="0">
                  <a:solidFill>
                    <a:srgbClr val="FF0000"/>
                  </a:solidFill>
                </a:rPr>
                <a:t>6</a:t>
              </a:r>
              <a:r>
                <a:rPr lang="en-US" b="1" baseline="-25000" dirty="0" smtClean="0">
                  <a:solidFill>
                    <a:srgbClr val="FF0000"/>
                  </a:solidFill>
                </a:rPr>
                <a:t>3</a:t>
              </a:r>
              <a:endParaRPr lang="en-US" dirty="0"/>
            </a:p>
          </p:txBody>
        </p:sp>
        <p:sp>
          <p:nvSpPr>
            <p:cNvPr id="149" name="Oval 148"/>
            <p:cNvSpPr/>
            <p:nvPr/>
          </p:nvSpPr>
          <p:spPr>
            <a:xfrm>
              <a:off x="1359914" y="5053712"/>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p:cNvSpPr/>
            <p:nvPr/>
          </p:nvSpPr>
          <p:spPr>
            <a:xfrm>
              <a:off x="1403334" y="4975050"/>
              <a:ext cx="357790" cy="369332"/>
            </a:xfrm>
            <a:prstGeom prst="rect">
              <a:avLst/>
            </a:prstGeom>
          </p:spPr>
          <p:txBody>
            <a:bodyPr wrap="none">
              <a:spAutoFit/>
            </a:bodyPr>
            <a:lstStyle/>
            <a:p>
              <a:r>
                <a:rPr lang="en-US" sz="1800" b="1" dirty="0" smtClean="0">
                  <a:solidFill>
                    <a:srgbClr val="7030A0"/>
                  </a:solidFill>
                </a:rPr>
                <a:t>½</a:t>
              </a:r>
              <a:endParaRPr lang="en-US" sz="1800" dirty="0">
                <a:solidFill>
                  <a:srgbClr val="7030A0"/>
                </a:solidFill>
              </a:endParaRPr>
            </a:p>
          </p:txBody>
        </p:sp>
        <p:grpSp>
          <p:nvGrpSpPr>
            <p:cNvPr id="23" name="Group 150"/>
            <p:cNvGrpSpPr/>
            <p:nvPr/>
          </p:nvGrpSpPr>
          <p:grpSpPr>
            <a:xfrm>
              <a:off x="1289538" y="5546689"/>
              <a:ext cx="211016" cy="298095"/>
              <a:chOff x="4123174" y="3562142"/>
              <a:chExt cx="211016" cy="298095"/>
            </a:xfrm>
          </p:grpSpPr>
          <p:sp>
            <p:nvSpPr>
              <p:cNvPr id="156" name="Hexagon 155"/>
              <p:cNvSpPr/>
              <p:nvPr/>
            </p:nvSpPr>
            <p:spPr>
              <a:xfrm rot="5400000">
                <a:off x="4139587" y="3619081"/>
                <a:ext cx="182880" cy="182880"/>
              </a:xfrm>
              <a:prstGeom prst="hexagon">
                <a:avLst/>
              </a:prstGeom>
              <a:ln w="3810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8" name="Straight Connector 157"/>
              <p:cNvCxnSpPr/>
              <p:nvPr/>
            </p:nvCxnSpPr>
            <p:spPr>
              <a:xfrm flipV="1">
                <a:off x="4332514" y="3650896"/>
                <a:ext cx="1676" cy="209341"/>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V="1">
                <a:off x="4123174" y="3562142"/>
                <a:ext cx="1676" cy="209341"/>
              </a:xfrm>
              <a:prstGeom prst="line">
                <a:avLst/>
              </a:prstGeom>
              <a:ln w="38100">
                <a:solidFill>
                  <a:srgbClr val="669900"/>
                </a:solidFill>
              </a:ln>
            </p:spPr>
            <p:style>
              <a:lnRef idx="1">
                <a:schemeClr val="accent1"/>
              </a:lnRef>
              <a:fillRef idx="0">
                <a:schemeClr val="accent1"/>
              </a:fillRef>
              <a:effectRef idx="0">
                <a:schemeClr val="accent1"/>
              </a:effectRef>
              <a:fontRef idx="minor">
                <a:schemeClr val="tx1"/>
              </a:fontRef>
            </p:style>
          </p:cxnSp>
        </p:grpSp>
        <p:sp>
          <p:nvSpPr>
            <p:cNvPr id="152" name="Oval 151"/>
            <p:cNvSpPr/>
            <p:nvPr/>
          </p:nvSpPr>
          <p:spPr>
            <a:xfrm>
              <a:off x="857514" y="5355152"/>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p:cNvSpPr/>
            <p:nvPr/>
          </p:nvSpPr>
          <p:spPr>
            <a:xfrm>
              <a:off x="1884090" y="5869280"/>
              <a:ext cx="90436" cy="90435"/>
            </a:xfrm>
            <a:prstGeom prst="ellipse">
              <a:avLst/>
            </a:prstGeom>
            <a:solidFill>
              <a:srgbClr val="7030A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p:cNvSpPr/>
            <p:nvPr/>
          </p:nvSpPr>
          <p:spPr>
            <a:xfrm>
              <a:off x="1673096" y="5417177"/>
              <a:ext cx="381836" cy="276999"/>
            </a:xfrm>
            <a:prstGeom prst="rect">
              <a:avLst/>
            </a:prstGeom>
          </p:spPr>
          <p:txBody>
            <a:bodyPr wrap="none">
              <a:spAutoFit/>
            </a:bodyPr>
            <a:lstStyle/>
            <a:p>
              <a:r>
                <a:rPr lang="en-US" sz="1200" b="1" dirty="0" smtClean="0">
                  <a:solidFill>
                    <a:srgbClr val="7030A0"/>
                  </a:solidFill>
                </a:rPr>
                <a:t>0,1</a:t>
              </a:r>
              <a:endParaRPr lang="en-US" sz="1200" dirty="0">
                <a:solidFill>
                  <a:srgbClr val="7030A0"/>
                </a:solidFill>
              </a:endParaRPr>
            </a:p>
          </p:txBody>
        </p:sp>
        <p:sp>
          <p:nvSpPr>
            <p:cNvPr id="155" name="Rectangle 154"/>
            <p:cNvSpPr/>
            <p:nvPr/>
          </p:nvSpPr>
          <p:spPr>
            <a:xfrm>
              <a:off x="1624529" y="5901173"/>
              <a:ext cx="381836" cy="276999"/>
            </a:xfrm>
            <a:prstGeom prst="rect">
              <a:avLst/>
            </a:prstGeom>
          </p:spPr>
          <p:txBody>
            <a:bodyPr wrap="none">
              <a:spAutoFit/>
            </a:bodyPr>
            <a:lstStyle/>
            <a:p>
              <a:r>
                <a:rPr lang="en-US" sz="1200" b="1" dirty="0" smtClean="0">
                  <a:solidFill>
                    <a:srgbClr val="7030A0"/>
                  </a:solidFill>
                </a:rPr>
                <a:t>1/2</a:t>
              </a:r>
              <a:endParaRPr lang="en-US" sz="1200" dirty="0">
                <a:solidFill>
                  <a:srgbClr val="7030A0"/>
                </a:solidFill>
              </a:endParaRPr>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F6535047-8416-4827-8E8D-212A9B4DF291}" type="slidenum">
              <a:rPr lang="en-US"/>
              <a:pPr/>
              <a:t>57</a:t>
            </a:fld>
            <a:endParaRPr lang="en-US"/>
          </a:p>
        </p:txBody>
      </p:sp>
      <p:sp>
        <p:nvSpPr>
          <p:cNvPr id="45058" name="Text Box 2"/>
          <p:cNvSpPr txBox="1">
            <a:spLocks noChangeArrowheads="1"/>
          </p:cNvSpPr>
          <p:nvPr/>
        </p:nvSpPr>
        <p:spPr bwMode="auto">
          <a:xfrm>
            <a:off x="323221" y="1437751"/>
            <a:ext cx="8438941" cy="3046988"/>
          </a:xfrm>
          <a:prstGeom prst="rect">
            <a:avLst/>
          </a:prstGeom>
          <a:noFill/>
          <a:ln w="9525">
            <a:noFill/>
            <a:miter lim="800000"/>
            <a:headEnd/>
            <a:tailEnd/>
          </a:ln>
          <a:effectLst/>
        </p:spPr>
        <p:txBody>
          <a:bodyPr wrap="square">
            <a:spAutoFit/>
          </a:bodyPr>
          <a:lstStyle/>
          <a:p>
            <a:pPr marL="457200" indent="-457200" algn="just">
              <a:spcBef>
                <a:spcPct val="50000"/>
              </a:spcBef>
              <a:buFont typeface="Wingdings" pitchFamily="2" charset="2"/>
              <a:buChar char="v"/>
            </a:pPr>
            <a:r>
              <a:rPr lang="en-US" dirty="0">
                <a:latin typeface="Arial" pitchFamily="34" charset="0"/>
              </a:rPr>
              <a:t>Let's </a:t>
            </a:r>
            <a:r>
              <a:rPr lang="en-US" dirty="0" smtClean="0">
                <a:latin typeface="Arial" pitchFamily="34" charset="0"/>
              </a:rPr>
              <a:t>see how </a:t>
            </a:r>
            <a:r>
              <a:rPr lang="en-US" dirty="0">
                <a:latin typeface="Arial" pitchFamily="34" charset="0"/>
              </a:rPr>
              <a:t>these </a:t>
            </a:r>
            <a:r>
              <a:rPr lang="en-US" dirty="0" err="1">
                <a:latin typeface="Arial" pitchFamily="34" charset="0"/>
              </a:rPr>
              <a:t>enantiomorphous</a:t>
            </a:r>
            <a:r>
              <a:rPr lang="en-US" dirty="0">
                <a:latin typeface="Arial" pitchFamily="34" charset="0"/>
              </a:rPr>
              <a:t> operations work!  First we'll consider a </a:t>
            </a:r>
            <a:r>
              <a:rPr lang="en-US" dirty="0">
                <a:solidFill>
                  <a:srgbClr val="FF0066"/>
                </a:solidFill>
                <a:latin typeface="Arial" pitchFamily="34" charset="0"/>
              </a:rPr>
              <a:t>4</a:t>
            </a:r>
            <a:r>
              <a:rPr lang="en-US" baseline="-25000" dirty="0">
                <a:solidFill>
                  <a:srgbClr val="FF0066"/>
                </a:solidFill>
                <a:latin typeface="Arial" pitchFamily="34" charset="0"/>
              </a:rPr>
              <a:t>1</a:t>
            </a:r>
            <a:r>
              <a:rPr lang="en-US" dirty="0">
                <a:latin typeface="Arial" pitchFamily="34" charset="0"/>
              </a:rPr>
              <a:t> screw axis.  </a:t>
            </a:r>
            <a:endParaRPr lang="en-US" dirty="0" smtClean="0">
              <a:latin typeface="Arial" pitchFamily="34" charset="0"/>
            </a:endParaRPr>
          </a:p>
          <a:p>
            <a:pPr marL="457200" indent="-457200" algn="just">
              <a:spcBef>
                <a:spcPct val="50000"/>
              </a:spcBef>
              <a:buFont typeface="Wingdings" pitchFamily="2" charset="2"/>
              <a:buChar char="v"/>
            </a:pPr>
            <a:r>
              <a:rPr lang="en-US" dirty="0" smtClean="0">
                <a:latin typeface="Arial" pitchFamily="34" charset="0"/>
              </a:rPr>
              <a:t>The </a:t>
            </a:r>
            <a:r>
              <a:rPr lang="en-US" dirty="0">
                <a:latin typeface="Arial" pitchFamily="34" charset="0"/>
              </a:rPr>
              <a:t>operation is a rotation by +90</a:t>
            </a:r>
            <a:r>
              <a:rPr lang="en-US" dirty="0">
                <a:latin typeface="Arial" pitchFamily="34" charset="0"/>
                <a:cs typeface="Arial" pitchFamily="34" charset="0"/>
              </a:rPr>
              <a:t>°, followed by a translation of </a:t>
            </a:r>
            <a:r>
              <a:rPr lang="en-US" dirty="0">
                <a:solidFill>
                  <a:srgbClr val="00B050"/>
                </a:solidFill>
                <a:latin typeface="Arial" pitchFamily="34" charset="0"/>
                <a:cs typeface="Arial" pitchFamily="34" charset="0"/>
              </a:rPr>
              <a:t>¼</a:t>
            </a:r>
            <a:r>
              <a:rPr lang="en-US" dirty="0">
                <a:latin typeface="Arial" pitchFamily="34" charset="0"/>
                <a:cs typeface="Arial" pitchFamily="34" charset="0"/>
              </a:rPr>
              <a:t> along the </a:t>
            </a:r>
            <a:r>
              <a:rPr lang="en-US" i="1" dirty="0">
                <a:solidFill>
                  <a:srgbClr val="FF0066"/>
                </a:solidFill>
                <a:latin typeface="Arial" pitchFamily="34" charset="0"/>
                <a:cs typeface="Arial" pitchFamily="34" charset="0"/>
              </a:rPr>
              <a:t>c</a:t>
            </a:r>
            <a:r>
              <a:rPr lang="en-US" dirty="0">
                <a:latin typeface="Arial" pitchFamily="34" charset="0"/>
                <a:cs typeface="Arial" pitchFamily="34" charset="0"/>
              </a:rPr>
              <a:t> </a:t>
            </a:r>
            <a:r>
              <a:rPr lang="en-US" dirty="0" smtClean="0">
                <a:latin typeface="Arial" pitchFamily="34" charset="0"/>
                <a:cs typeface="Arial" pitchFamily="34" charset="0"/>
              </a:rPr>
              <a:t>direction.</a:t>
            </a:r>
          </a:p>
          <a:p>
            <a:pPr marL="457200" indent="-457200" algn="just">
              <a:spcBef>
                <a:spcPct val="50000"/>
              </a:spcBef>
              <a:buFont typeface="Wingdings" pitchFamily="2" charset="2"/>
              <a:buChar char="v"/>
            </a:pPr>
            <a:r>
              <a:rPr lang="en-US" dirty="0" smtClean="0">
                <a:latin typeface="Arial" pitchFamily="34" charset="0"/>
                <a:cs typeface="Arial" pitchFamily="34" charset="0"/>
              </a:rPr>
              <a:t>As </a:t>
            </a:r>
            <a:r>
              <a:rPr lang="en-US" dirty="0">
                <a:latin typeface="Arial" pitchFamily="34" charset="0"/>
                <a:cs typeface="Arial" pitchFamily="34" charset="0"/>
              </a:rPr>
              <a:t>you will see, the operation cycles on the fourth repetition, giving the original point translated one full unit cell along </a:t>
            </a:r>
            <a:r>
              <a:rPr lang="en-US" i="1" dirty="0">
                <a:solidFill>
                  <a:srgbClr val="FF0066"/>
                </a:solidFill>
                <a:latin typeface="Arial" pitchFamily="34" charset="0"/>
                <a:cs typeface="Arial" pitchFamily="34" charset="0"/>
              </a:rPr>
              <a:t>c</a:t>
            </a:r>
            <a:r>
              <a:rPr lang="en-US" dirty="0">
                <a:latin typeface="Arial" pitchFamily="34" charset="0"/>
                <a:cs typeface="Arial" pitchFamily="34" charset="0"/>
              </a:rPr>
              <a:t>, i.e., to the point (</a:t>
            </a:r>
            <a:r>
              <a:rPr lang="en-US" i="1" dirty="0">
                <a:latin typeface="Arial" pitchFamily="34" charset="0"/>
                <a:cs typeface="Arial" pitchFamily="34" charset="0"/>
              </a:rPr>
              <a:t>x</a:t>
            </a:r>
            <a:r>
              <a:rPr lang="en-US" dirty="0">
                <a:latin typeface="Arial" pitchFamily="34" charset="0"/>
                <a:cs typeface="Arial" pitchFamily="34" charset="0"/>
              </a:rPr>
              <a:t>, </a:t>
            </a:r>
            <a:r>
              <a:rPr lang="en-US" i="1" dirty="0">
                <a:latin typeface="Arial" pitchFamily="34" charset="0"/>
                <a:cs typeface="Arial" pitchFamily="34" charset="0"/>
              </a:rPr>
              <a:t>y</a:t>
            </a:r>
            <a:r>
              <a:rPr lang="en-US" dirty="0">
                <a:latin typeface="Arial" pitchFamily="34" charset="0"/>
                <a:cs typeface="Arial" pitchFamily="34" charset="0"/>
              </a:rPr>
              <a:t>, 1 +</a:t>
            </a:r>
            <a:r>
              <a:rPr lang="en-US" i="1" dirty="0">
                <a:latin typeface="Arial" pitchFamily="34" charset="0"/>
                <a:cs typeface="Arial" pitchFamily="34" charset="0"/>
              </a:rPr>
              <a:t> z</a:t>
            </a:r>
            <a:r>
              <a:rPr lang="en-US" dirty="0">
                <a:latin typeface="Arial" pitchFamily="34" charset="0"/>
                <a:cs typeface="Arial" pitchFamily="34" charset="0"/>
              </a:rPr>
              <a:t>).</a:t>
            </a:r>
            <a:endParaRPr lang="en-US" i="1" dirty="0">
              <a:latin typeface="Arial" pitchFamily="34" charset="0"/>
            </a:endParaRPr>
          </a:p>
        </p:txBody>
      </p:sp>
      <p:sp>
        <p:nvSpPr>
          <p:cNvPr id="4" name="Rectangle 6"/>
          <p:cNvSpPr txBox="1">
            <a:spLocks noChangeArrowheads="1"/>
          </p:cNvSpPr>
          <p:nvPr/>
        </p:nvSpPr>
        <p:spPr>
          <a:xfrm>
            <a:off x="1780399" y="423192"/>
            <a:ext cx="4198370" cy="632138"/>
          </a:xfrm>
          <a:prstGeom prst="rect">
            <a:avLst/>
          </a:prstGeom>
        </p:spPr>
        <p:txBody>
          <a:bodyPr/>
          <a:lstStyle/>
          <a:p>
            <a:pPr lvl="0" eaLnBrk="1" hangingPunct="1"/>
            <a:r>
              <a:rPr lang="en-US" b="1" dirty="0" smtClean="0">
                <a:solidFill>
                  <a:srgbClr val="0070C0"/>
                </a:solidFill>
                <a:effectLst>
                  <a:outerShdw blurRad="53975" dist="22860" dir="5400000" algn="tl" rotWithShape="0">
                    <a:srgbClr val="000000">
                      <a:alpha val="55000"/>
                    </a:srgbClr>
                  </a:outerShdw>
                </a:effectLst>
                <a:latin typeface="+mn-lt"/>
              </a:rPr>
              <a:t>Four </a:t>
            </a:r>
            <a:r>
              <a:rPr lang="en-US" b="1" dirty="0">
                <a:solidFill>
                  <a:srgbClr val="0070C0"/>
                </a:solidFill>
                <a:effectLst>
                  <a:outerShdw blurRad="53975" dist="22860" dir="5400000" algn="tl" rotWithShape="0">
                    <a:srgbClr val="000000">
                      <a:alpha val="55000"/>
                    </a:srgbClr>
                  </a:outerShdw>
                </a:effectLst>
                <a:latin typeface="+mn-lt"/>
              </a:rPr>
              <a:t>fold </a:t>
            </a:r>
            <a:r>
              <a:rPr kumimoji="0" lang="en-US" b="1" i="0" u="none" strike="noStrike" kern="1200" cap="none" spc="0" normalizeH="0" baseline="0" noProof="0" dirty="0" smtClean="0">
                <a:ln>
                  <a:noFill/>
                </a:ln>
                <a:solidFill>
                  <a:srgbClr val="0070C0"/>
                </a:solidFill>
                <a:effectLst>
                  <a:outerShdw blurRad="53975" dist="22860" dir="5400000" algn="tl" rotWithShape="0">
                    <a:srgbClr val="000000">
                      <a:alpha val="55000"/>
                    </a:srgbClr>
                  </a:outerShdw>
                </a:effectLst>
                <a:uLnTx/>
                <a:uFillTx/>
                <a:latin typeface="+mn-lt"/>
                <a:ea typeface="+mj-ea"/>
                <a:cs typeface="+mj-cs"/>
              </a:rPr>
              <a:t>Screw axis</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2667000" y="609600"/>
            <a:ext cx="3379451" cy="461665"/>
          </a:xfrm>
          <a:prstGeom prst="rect">
            <a:avLst/>
          </a:prstGeom>
          <a:noFill/>
          <a:ln w="38100">
            <a:noFill/>
            <a:miter lim="800000"/>
            <a:headEnd/>
            <a:tailEnd/>
          </a:ln>
        </p:spPr>
        <p:txBody>
          <a:bodyPr wrap="none">
            <a:spAutoFit/>
          </a:bodyPr>
          <a:lstStyle/>
          <a:p>
            <a:pPr algn="ctr" eaLnBrk="1" hangingPunct="1"/>
            <a:r>
              <a:rPr lang="en-US" sz="2400" b="1" dirty="0">
                <a:solidFill>
                  <a:srgbClr val="FF0000"/>
                </a:solidFill>
                <a:latin typeface="Arial-BoldMT" charset="0"/>
                <a:cs typeface="Arial" pitchFamily="34" charset="0"/>
              </a:rPr>
              <a:t>What is space group?</a:t>
            </a:r>
          </a:p>
        </p:txBody>
      </p:sp>
      <p:sp>
        <p:nvSpPr>
          <p:cNvPr id="66563" name="Rectangle 3"/>
          <p:cNvSpPr>
            <a:spLocks noChangeArrowheads="1"/>
          </p:cNvSpPr>
          <p:nvPr/>
        </p:nvSpPr>
        <p:spPr bwMode="auto">
          <a:xfrm>
            <a:off x="1371600" y="1049338"/>
            <a:ext cx="5638800" cy="703262"/>
          </a:xfrm>
          <a:prstGeom prst="rect">
            <a:avLst/>
          </a:prstGeom>
          <a:noFill/>
          <a:ln w="38100">
            <a:noFill/>
            <a:miter lim="800000"/>
            <a:headEnd/>
            <a:tailEnd/>
          </a:ln>
        </p:spPr>
        <p:txBody>
          <a:bodyPr>
            <a:spAutoFit/>
          </a:bodyPr>
          <a:lstStyle/>
          <a:p>
            <a:pPr algn="ctr" eaLnBrk="1" hangingPunct="1">
              <a:spcBef>
                <a:spcPct val="50000"/>
              </a:spcBef>
            </a:pPr>
            <a:r>
              <a:rPr lang="en-US" sz="1600" b="1" dirty="0">
                <a:solidFill>
                  <a:srgbClr val="00009B"/>
                </a:solidFill>
                <a:latin typeface="TimesNewRomanPS-BoldMT" charset="0"/>
                <a:cs typeface="Arial" pitchFamily="34" charset="0"/>
              </a:rPr>
              <a:t>space group symmetry = the symmetry of lattice </a:t>
            </a:r>
            <a:r>
              <a:rPr lang="en-US" sz="1600" dirty="0">
                <a:solidFill>
                  <a:srgbClr val="CD0065"/>
                </a:solidFill>
                <a:latin typeface="SymbolMT" charset="-95"/>
                <a:cs typeface="Arial" pitchFamily="34" charset="0"/>
              </a:rPr>
              <a:t>∧</a:t>
            </a:r>
          </a:p>
          <a:p>
            <a:pPr algn="ctr" eaLnBrk="1" hangingPunct="1">
              <a:spcBef>
                <a:spcPct val="50000"/>
              </a:spcBef>
            </a:pPr>
            <a:r>
              <a:rPr lang="en-US" sz="1600" b="1" dirty="0">
                <a:solidFill>
                  <a:srgbClr val="00009B"/>
                </a:solidFill>
                <a:latin typeface="TimesNewRomanPS-BoldMT" charset="0"/>
                <a:cs typeface="Arial" pitchFamily="34" charset="0"/>
              </a:rPr>
              <a:t>the symmetry of the object around each lattice point</a:t>
            </a:r>
          </a:p>
        </p:txBody>
      </p:sp>
      <p:sp>
        <p:nvSpPr>
          <p:cNvPr id="66564" name="Rectangle 5"/>
          <p:cNvSpPr>
            <a:spLocks noChangeArrowheads="1"/>
          </p:cNvSpPr>
          <p:nvPr/>
        </p:nvSpPr>
        <p:spPr bwMode="auto">
          <a:xfrm>
            <a:off x="381000" y="1704975"/>
            <a:ext cx="8763000" cy="581025"/>
          </a:xfrm>
          <a:prstGeom prst="rect">
            <a:avLst/>
          </a:prstGeom>
          <a:noFill/>
          <a:ln w="38100">
            <a:noFill/>
            <a:miter lim="800000"/>
            <a:headEnd/>
            <a:tailEnd/>
          </a:ln>
        </p:spPr>
        <p:txBody>
          <a:bodyPr>
            <a:spAutoFit/>
          </a:bodyPr>
          <a:lstStyle/>
          <a:p>
            <a:pPr algn="just"/>
            <a:r>
              <a:rPr lang="de-DE" sz="1600" b="1" dirty="0">
                <a:latin typeface="Arial" pitchFamily="34" charset="0"/>
                <a:cs typeface="Arial" pitchFamily="34" charset="0"/>
              </a:rPr>
              <a:t>Combination of point group, lattice and rotation/translational symmetries </a:t>
            </a:r>
          </a:p>
          <a:p>
            <a:pPr algn="just"/>
            <a:r>
              <a:rPr lang="de-DE" sz="1600" b="1" dirty="0">
                <a:latin typeface="Arial" pitchFamily="34" charset="0"/>
                <a:cs typeface="Arial" pitchFamily="34" charset="0"/>
              </a:rPr>
              <a:t>result in 230 possible space groups for 3d crystals.</a:t>
            </a:r>
          </a:p>
        </p:txBody>
      </p:sp>
      <p:grpSp>
        <p:nvGrpSpPr>
          <p:cNvPr id="2" name="Group 9"/>
          <p:cNvGrpSpPr>
            <a:grpSpLocks/>
          </p:cNvGrpSpPr>
          <p:nvPr/>
        </p:nvGrpSpPr>
        <p:grpSpPr bwMode="auto">
          <a:xfrm>
            <a:off x="341313" y="2514600"/>
            <a:ext cx="4724400" cy="3886200"/>
            <a:chOff x="0" y="1935"/>
            <a:chExt cx="3360" cy="2241"/>
          </a:xfrm>
        </p:grpSpPr>
        <p:pic>
          <p:nvPicPr>
            <p:cNvPr id="66569" name="Picture 6"/>
            <p:cNvPicPr>
              <a:picLocks noChangeAspect="1" noChangeArrowheads="1"/>
            </p:cNvPicPr>
            <p:nvPr/>
          </p:nvPicPr>
          <p:blipFill>
            <a:blip r:embed="rId2" cstate="print"/>
            <a:srcRect/>
            <a:stretch>
              <a:fillRect/>
            </a:stretch>
          </p:blipFill>
          <p:spPr bwMode="auto">
            <a:xfrm>
              <a:off x="96" y="1935"/>
              <a:ext cx="3264" cy="2202"/>
            </a:xfrm>
            <a:prstGeom prst="rect">
              <a:avLst/>
            </a:prstGeom>
            <a:noFill/>
            <a:ln w="38100">
              <a:noFill/>
              <a:miter lim="800000"/>
              <a:headEnd/>
              <a:tailEnd/>
            </a:ln>
          </p:spPr>
        </p:pic>
        <p:sp>
          <p:nvSpPr>
            <p:cNvPr id="66570" name="Rectangle 8"/>
            <p:cNvSpPr>
              <a:spLocks noChangeArrowheads="1"/>
            </p:cNvSpPr>
            <p:nvPr/>
          </p:nvSpPr>
          <p:spPr bwMode="auto">
            <a:xfrm>
              <a:off x="0" y="2544"/>
              <a:ext cx="816" cy="1632"/>
            </a:xfrm>
            <a:prstGeom prst="rect">
              <a:avLst/>
            </a:prstGeom>
            <a:solidFill>
              <a:schemeClr val="bg1"/>
            </a:solidFill>
            <a:ln w="38100">
              <a:solidFill>
                <a:schemeClr val="bg1"/>
              </a:solidFill>
              <a:miter lim="800000"/>
              <a:headEnd/>
              <a:tailEnd/>
            </a:ln>
          </p:spPr>
          <p:txBody>
            <a:bodyPr wrap="none" anchor="ctr"/>
            <a:lstStyle/>
            <a:p>
              <a:pPr algn="ctr" eaLnBrk="1" hangingPunct="1"/>
              <a:endParaRPr lang="en-IN" sz="1800">
                <a:latin typeface="Arial" pitchFamily="34" charset="0"/>
                <a:cs typeface="Arial" pitchFamily="34" charset="0"/>
              </a:endParaRPr>
            </a:p>
          </p:txBody>
        </p:sp>
      </p:grpSp>
      <p:sp>
        <p:nvSpPr>
          <p:cNvPr id="66566" name="Rectangle 10"/>
          <p:cNvSpPr>
            <a:spLocks noChangeArrowheads="1"/>
          </p:cNvSpPr>
          <p:nvPr/>
        </p:nvSpPr>
        <p:spPr bwMode="auto">
          <a:xfrm>
            <a:off x="4572000" y="2133600"/>
            <a:ext cx="4572000" cy="1446213"/>
          </a:xfrm>
          <a:prstGeom prst="rect">
            <a:avLst/>
          </a:prstGeom>
          <a:noFill/>
          <a:ln w="38100">
            <a:noFill/>
            <a:miter lim="800000"/>
            <a:headEnd/>
            <a:tailEnd/>
          </a:ln>
        </p:spPr>
        <p:txBody>
          <a:bodyPr>
            <a:spAutoFit/>
          </a:bodyPr>
          <a:lstStyle/>
          <a:p>
            <a:pPr algn="ctr">
              <a:spcBef>
                <a:spcPct val="50000"/>
              </a:spcBef>
            </a:pPr>
            <a:r>
              <a:rPr lang="de-DE" sz="1600" b="1" dirty="0">
                <a:latin typeface="Arial" pitchFamily="34" charset="0"/>
                <a:cs typeface="Arial" pitchFamily="34" charset="0"/>
              </a:rPr>
              <a:t>Only 65 of these can be used for </a:t>
            </a:r>
          </a:p>
          <a:p>
            <a:pPr algn="ctr">
              <a:spcBef>
                <a:spcPct val="50000"/>
              </a:spcBef>
            </a:pPr>
            <a:r>
              <a:rPr lang="de-DE" sz="1600" b="1" dirty="0">
                <a:latin typeface="Arial" pitchFamily="34" charset="0"/>
                <a:cs typeface="Arial" pitchFamily="34" charset="0"/>
              </a:rPr>
              <a:t>protein crystals (handedness)</a:t>
            </a:r>
          </a:p>
          <a:p>
            <a:pPr algn="ctr">
              <a:spcBef>
                <a:spcPct val="50000"/>
              </a:spcBef>
            </a:pPr>
            <a:r>
              <a:rPr lang="de-DE" sz="1600" b="1" dirty="0">
                <a:latin typeface="Arial" pitchFamily="34" charset="0"/>
                <a:cs typeface="Arial" pitchFamily="34" charset="0"/>
              </a:rPr>
              <a:t>All the space groups are tabulated in the </a:t>
            </a:r>
          </a:p>
          <a:p>
            <a:pPr algn="ctr">
              <a:spcBef>
                <a:spcPct val="50000"/>
              </a:spcBef>
            </a:pPr>
            <a:r>
              <a:rPr lang="de-DE" sz="1600" b="1" u="sng" dirty="0">
                <a:latin typeface="Arial" pitchFamily="34" charset="0"/>
                <a:cs typeface="Arial" pitchFamily="34" charset="0"/>
              </a:rPr>
              <a:t>International Tables for Crystallography</a:t>
            </a:r>
            <a:endParaRPr lang="en-US" sz="1600" b="1" u="sng" dirty="0">
              <a:latin typeface="Arial" pitchFamily="34" charset="0"/>
              <a:cs typeface="Arial" pitchFamily="34" charset="0"/>
            </a:endParaRPr>
          </a:p>
        </p:txBody>
      </p:sp>
      <p:pic>
        <p:nvPicPr>
          <p:cNvPr id="66567" name="Picture 11"/>
          <p:cNvPicPr>
            <a:picLocks noChangeAspect="1" noChangeArrowheads="1"/>
          </p:cNvPicPr>
          <p:nvPr/>
        </p:nvPicPr>
        <p:blipFill>
          <a:blip r:embed="rId3" cstate="print"/>
          <a:srcRect/>
          <a:stretch>
            <a:fillRect/>
          </a:stretch>
        </p:blipFill>
        <p:spPr bwMode="auto">
          <a:xfrm>
            <a:off x="6172200" y="3581400"/>
            <a:ext cx="2401888" cy="3200400"/>
          </a:xfrm>
          <a:prstGeom prst="rect">
            <a:avLst/>
          </a:prstGeom>
          <a:noFill/>
          <a:ln w="9525">
            <a:noFill/>
            <a:miter lim="800000"/>
            <a:headEnd/>
            <a:tailEnd/>
          </a:ln>
        </p:spPr>
      </p:pic>
      <p:sp>
        <p:nvSpPr>
          <p:cNvPr id="66568" name="Rectangle 12"/>
          <p:cNvSpPr>
            <a:spLocks noChangeArrowheads="1"/>
          </p:cNvSpPr>
          <p:nvPr/>
        </p:nvSpPr>
        <p:spPr bwMode="auto">
          <a:xfrm>
            <a:off x="2971800" y="3733800"/>
            <a:ext cx="1752600" cy="228600"/>
          </a:xfrm>
          <a:prstGeom prst="rect">
            <a:avLst/>
          </a:prstGeom>
          <a:solidFill>
            <a:schemeClr val="bg1"/>
          </a:solidFill>
          <a:ln w="38100">
            <a:solidFill>
              <a:schemeClr val="bg1"/>
            </a:solidFill>
            <a:miter lim="800000"/>
            <a:headEnd/>
            <a:tailEnd/>
          </a:ln>
        </p:spPr>
        <p:txBody>
          <a:bodyPr wrap="none" anchor="ctr"/>
          <a:lstStyle/>
          <a:p>
            <a:pPr algn="ctr" eaLnBrk="1" hangingPunct="1"/>
            <a:endParaRPr lang="en-IN" sz="1800">
              <a:latin typeface="Arial" pitchFamily="34" charset="0"/>
              <a:cs typeface="Arial" pitchFamily="34" charset="0"/>
            </a:endParaRPr>
          </a:p>
        </p:txBody>
      </p:sp>
      <p:sp>
        <p:nvSpPr>
          <p:cNvPr id="11" name="TextBox 10"/>
          <p:cNvSpPr txBox="1"/>
          <p:nvPr/>
        </p:nvSpPr>
        <p:spPr>
          <a:xfrm>
            <a:off x="3124200" y="0"/>
            <a:ext cx="2334101" cy="584775"/>
          </a:xfrm>
          <a:prstGeom prst="rect">
            <a:avLst/>
          </a:prstGeom>
          <a:noFill/>
        </p:spPr>
        <p:txBody>
          <a:bodyPr wrap="none" rtlCol="0">
            <a:spAutoFit/>
          </a:bodyPr>
          <a:lstStyle/>
          <a:p>
            <a:r>
              <a:rPr lang="en-US" sz="3200" b="1" u="sng" dirty="0" smtClean="0"/>
              <a:t>Space Group</a:t>
            </a:r>
            <a:endParaRPr lang="en-US" sz="3200" b="1" u="sng"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0936" y="391110"/>
            <a:ext cx="5476692" cy="646331"/>
          </a:xfrm>
          <a:prstGeom prst="rect">
            <a:avLst/>
          </a:prstGeom>
        </p:spPr>
        <p:txBody>
          <a:bodyPr wrap="none">
            <a:spAutoFit/>
          </a:bodyPr>
          <a:lstStyle/>
          <a:p>
            <a:r>
              <a:rPr lang="en-US" sz="3600" b="1" i="1" dirty="0" smtClean="0">
                <a:solidFill>
                  <a:srgbClr val="C00000"/>
                </a:solidFill>
                <a:effectLst>
                  <a:outerShdw blurRad="38100" dist="38100" dir="2700000" algn="tl">
                    <a:srgbClr val="000000">
                      <a:alpha val="43137"/>
                    </a:srgbClr>
                  </a:outerShdw>
                </a:effectLst>
              </a:rPr>
              <a:t>Glide Plane and Screw Axis</a:t>
            </a:r>
            <a:endParaRPr lang="en-US" sz="3600" b="1" i="1" dirty="0">
              <a:solidFill>
                <a:srgbClr val="C00000"/>
              </a:solidFill>
              <a:effectLst>
                <a:outerShdw blurRad="38100" dist="38100" dir="2700000" algn="tl">
                  <a:srgbClr val="000000">
                    <a:alpha val="43137"/>
                  </a:srgbClr>
                </a:outerShdw>
              </a:effectLst>
            </a:endParaRPr>
          </a:p>
        </p:txBody>
      </p:sp>
      <p:pic>
        <p:nvPicPr>
          <p:cNvPr id="258050" name="Picture 2" descr="http://www.students.bucknell.edu/projects/xray/betatest/PlaneGroupSymmetry/Inserts/circle2dglide.JPG"/>
          <p:cNvPicPr>
            <a:picLocks noChangeAspect="1" noChangeArrowheads="1"/>
          </p:cNvPicPr>
          <p:nvPr/>
        </p:nvPicPr>
        <p:blipFill>
          <a:blip r:embed="rId5" cstate="print"/>
          <a:srcRect/>
          <a:stretch>
            <a:fillRect/>
          </a:stretch>
        </p:blipFill>
        <p:spPr bwMode="auto">
          <a:xfrm>
            <a:off x="568548" y="4113347"/>
            <a:ext cx="1352550" cy="1619251"/>
          </a:xfrm>
          <a:prstGeom prst="rect">
            <a:avLst/>
          </a:prstGeom>
          <a:noFill/>
        </p:spPr>
      </p:pic>
      <p:sp>
        <p:nvSpPr>
          <p:cNvPr id="9" name="Rectangle 8"/>
          <p:cNvSpPr/>
          <p:nvPr/>
        </p:nvSpPr>
        <p:spPr>
          <a:xfrm>
            <a:off x="775108" y="5865168"/>
            <a:ext cx="1688283" cy="461665"/>
          </a:xfrm>
          <a:prstGeom prst="rect">
            <a:avLst/>
          </a:prstGeom>
        </p:spPr>
        <p:txBody>
          <a:bodyPr wrap="none">
            <a:spAutoFit/>
          </a:bodyPr>
          <a:lstStyle/>
          <a:p>
            <a:r>
              <a:rPr lang="en-US" b="1" dirty="0" smtClean="0">
                <a:solidFill>
                  <a:srgbClr val="0066FF"/>
                </a:solidFill>
              </a:rPr>
              <a:t>glide plane </a:t>
            </a:r>
            <a:endParaRPr lang="en-US" dirty="0"/>
          </a:p>
        </p:txBody>
      </p:sp>
      <p:grpSp>
        <p:nvGrpSpPr>
          <p:cNvPr id="17" name="Group 16"/>
          <p:cNvGrpSpPr/>
          <p:nvPr/>
        </p:nvGrpSpPr>
        <p:grpSpPr>
          <a:xfrm>
            <a:off x="4145661" y="980694"/>
            <a:ext cx="4660392" cy="5500368"/>
            <a:chOff x="4145661" y="980694"/>
            <a:chExt cx="4660392" cy="5500368"/>
          </a:xfrm>
        </p:grpSpPr>
        <p:sp>
          <p:nvSpPr>
            <p:cNvPr id="10" name="Rectangle 9"/>
            <p:cNvSpPr/>
            <p:nvPr/>
          </p:nvSpPr>
          <p:spPr>
            <a:xfrm>
              <a:off x="5023258" y="5827068"/>
              <a:ext cx="2746714" cy="461665"/>
            </a:xfrm>
            <a:prstGeom prst="rect">
              <a:avLst/>
            </a:prstGeom>
          </p:spPr>
          <p:txBody>
            <a:bodyPr wrap="none">
              <a:spAutoFit/>
            </a:bodyPr>
            <a:lstStyle/>
            <a:p>
              <a:r>
                <a:rPr lang="en-US" b="1" dirty="0" smtClean="0">
                  <a:solidFill>
                    <a:srgbClr val="0066FF"/>
                  </a:solidFill>
                </a:rPr>
                <a:t>Two fold screw axis</a:t>
              </a:r>
              <a:endParaRPr lang="en-US" dirty="0"/>
            </a:p>
          </p:txBody>
        </p:sp>
        <p:pic>
          <p:nvPicPr>
            <p:cNvPr id="11" name="symtwofoldscrew[1].wmv">
              <a:hlinkClick r:id="" action="ppaction://media"/>
            </p:cNvPr>
            <p:cNvPicPr>
              <a:picLocks noRot="1" noChangeAspect="1"/>
            </p:cNvPicPr>
            <p:nvPr>
              <a:videoFile r:link="rId2"/>
            </p:nvPr>
          </p:nvPicPr>
          <p:blipFill>
            <a:blip r:embed="rId6" cstate="print"/>
            <a:stretch>
              <a:fillRect/>
            </a:stretch>
          </p:blipFill>
          <p:spPr>
            <a:xfrm>
              <a:off x="4145661" y="980694"/>
              <a:ext cx="4660392" cy="3389376"/>
            </a:xfrm>
            <a:prstGeom prst="rect">
              <a:avLst/>
            </a:prstGeom>
          </p:spPr>
        </p:pic>
        <p:pic>
          <p:nvPicPr>
            <p:cNvPr id="12" name="Picture 3" descr="http://www.students.bucknell.edu/projects/xray/betatest/SpaceGroupSymmetry/Inserts/screwcircles.JPG"/>
            <p:cNvPicPr>
              <a:picLocks noChangeAspect="1" noChangeArrowheads="1"/>
            </p:cNvPicPr>
            <p:nvPr/>
          </p:nvPicPr>
          <p:blipFill>
            <a:blip r:embed="rId7" cstate="print"/>
            <a:srcRect/>
            <a:stretch>
              <a:fillRect/>
            </a:stretch>
          </p:blipFill>
          <p:spPr bwMode="auto">
            <a:xfrm>
              <a:off x="4181843" y="4482609"/>
              <a:ext cx="870175" cy="1998453"/>
            </a:xfrm>
            <a:prstGeom prst="rect">
              <a:avLst/>
            </a:prstGeom>
            <a:noFill/>
          </p:spPr>
        </p:pic>
        <p:graphicFrame>
          <p:nvGraphicFramePr>
            <p:cNvPr id="13" name="Object 2059"/>
            <p:cNvGraphicFramePr>
              <a:graphicFrameLocks noChangeAspect="1"/>
            </p:cNvGraphicFramePr>
            <p:nvPr/>
          </p:nvGraphicFramePr>
          <p:xfrm>
            <a:off x="6616700" y="5146675"/>
            <a:ext cx="1892300" cy="677863"/>
          </p:xfrm>
          <a:graphic>
            <a:graphicData uri="http://schemas.openxmlformats.org/presentationml/2006/ole">
              <p:oleObj spid="_x0000_s302083" name="Equation" r:id="rId8" imgW="1104840" imgH="355320" progId="">
                <p:embed/>
              </p:oleObj>
            </a:graphicData>
          </a:graphic>
        </p:graphicFrame>
        <p:graphicFrame>
          <p:nvGraphicFramePr>
            <p:cNvPr id="302084" name="Object 4"/>
            <p:cNvGraphicFramePr>
              <a:graphicFrameLocks noChangeAspect="1"/>
            </p:cNvGraphicFramePr>
            <p:nvPr/>
          </p:nvGraphicFramePr>
          <p:xfrm>
            <a:off x="6880225" y="4606925"/>
            <a:ext cx="1174750" cy="460375"/>
          </p:xfrm>
          <a:graphic>
            <a:graphicData uri="http://schemas.openxmlformats.org/presentationml/2006/ole">
              <p:oleObj spid="_x0000_s302084" name="Equation" r:id="rId9" imgW="685800" imgH="241200" progId="">
                <p:embed/>
              </p:oleObj>
            </a:graphicData>
          </a:graphic>
        </p:graphicFrame>
      </p:grpSp>
      <p:graphicFrame>
        <p:nvGraphicFramePr>
          <p:cNvPr id="302085" name="Object 5"/>
          <p:cNvGraphicFramePr>
            <a:graphicFrameLocks noChangeAspect="1"/>
          </p:cNvGraphicFramePr>
          <p:nvPr/>
        </p:nvGraphicFramePr>
        <p:xfrm>
          <a:off x="2460625" y="4378325"/>
          <a:ext cx="1174750" cy="460375"/>
        </p:xfrm>
        <a:graphic>
          <a:graphicData uri="http://schemas.openxmlformats.org/presentationml/2006/ole">
            <p:oleObj spid="_x0000_s302085" name="Equation" r:id="rId10" imgW="685800" imgH="241200" progId="">
              <p:embed/>
            </p:oleObj>
          </a:graphicData>
        </a:graphic>
      </p:graphicFrame>
      <p:graphicFrame>
        <p:nvGraphicFramePr>
          <p:cNvPr id="16" name="Object 5"/>
          <p:cNvGraphicFramePr>
            <a:graphicFrameLocks noChangeAspect="1"/>
          </p:cNvGraphicFramePr>
          <p:nvPr/>
        </p:nvGraphicFramePr>
        <p:xfrm>
          <a:off x="2005013" y="4935538"/>
          <a:ext cx="2089150" cy="679450"/>
        </p:xfrm>
        <a:graphic>
          <a:graphicData uri="http://schemas.openxmlformats.org/presentationml/2006/ole">
            <p:oleObj spid="_x0000_s302086" name="Equation" r:id="rId11" imgW="1218960" imgH="355320" progId="">
              <p:embed/>
            </p:oleObj>
          </a:graphicData>
        </a:graphic>
      </p:graphicFrame>
    </p:spTree>
    <p:controls>
      <p:control spid="302082" name="ShockwaveFlash1" r:id="rId3" imgW="3592377" imgH="2638095"/>
    </p:controls>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170" name="Picture 2" descr="http://www.students.bucknell.edu/projects/xray/betatest/SpaceGroupSymmetry/Inserts/circle3dcglide2.JPG"/>
          <p:cNvPicPr>
            <a:picLocks noChangeAspect="1" noChangeArrowheads="1"/>
          </p:cNvPicPr>
          <p:nvPr/>
        </p:nvPicPr>
        <p:blipFill>
          <a:blip r:embed="rId4" cstate="print"/>
          <a:srcRect/>
          <a:stretch>
            <a:fillRect/>
          </a:stretch>
        </p:blipFill>
        <p:spPr bwMode="auto">
          <a:xfrm>
            <a:off x="1376161" y="4665527"/>
            <a:ext cx="1857375" cy="1228726"/>
          </a:xfrm>
          <a:prstGeom prst="rect">
            <a:avLst/>
          </a:prstGeom>
          <a:noFill/>
        </p:spPr>
      </p:pic>
      <p:sp>
        <p:nvSpPr>
          <p:cNvPr id="263171" name="Rectangle 3"/>
          <p:cNvSpPr>
            <a:spLocks noChangeArrowheads="1"/>
          </p:cNvSpPr>
          <p:nvPr/>
        </p:nvSpPr>
        <p:spPr bwMode="auto">
          <a:xfrm>
            <a:off x="4236613" y="1740002"/>
            <a:ext cx="4546242" cy="43858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02060"/>
                </a:solidFill>
                <a:effectLst/>
                <a:latin typeface="Times New Roman" pitchFamily="18" charset="0"/>
              </a:rPr>
              <a:t>The glide plane here (the </a:t>
            </a:r>
            <a:r>
              <a:rPr kumimoji="0" lang="en-US" sz="2400" b="1" i="1" u="none" strike="noStrike" cap="none" normalizeH="0" baseline="0" dirty="0" smtClean="0">
                <a:ln>
                  <a:noFill/>
                </a:ln>
                <a:solidFill>
                  <a:srgbClr val="002060"/>
                </a:solidFill>
                <a:effectLst/>
                <a:latin typeface="Times New Roman" pitchFamily="18" charset="0"/>
              </a:rPr>
              <a:t>ac </a:t>
            </a:r>
            <a:r>
              <a:rPr kumimoji="0" lang="en-US" sz="2400" b="1" i="0" u="none" strike="noStrike" cap="none" normalizeH="0" baseline="0" dirty="0" smtClean="0">
                <a:ln>
                  <a:noFill/>
                </a:ln>
                <a:solidFill>
                  <a:srgbClr val="002060"/>
                </a:solidFill>
                <a:effectLst/>
                <a:latin typeface="Times New Roman" pitchFamily="18" charset="0"/>
              </a:rPr>
              <a:t>plane) is perpendicular to the page. </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rgbClr val="018182"/>
              </a:solidFill>
              <a:effectLst/>
              <a:latin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0000"/>
                </a:solidFill>
                <a:effectLst/>
                <a:latin typeface="Times New Roman" pitchFamily="18" charset="0"/>
              </a:rPr>
              <a:t>Translation is "out-of the page" along the </a:t>
            </a:r>
            <a:r>
              <a:rPr kumimoji="0" lang="en-US" sz="2400" b="1" i="0" u="none" strike="noStrike" cap="none" normalizeH="0" baseline="0" dirty="0" smtClean="0">
                <a:ln>
                  <a:noFill/>
                </a:ln>
                <a:solidFill>
                  <a:srgbClr val="002060"/>
                </a:solidFill>
                <a:effectLst/>
                <a:latin typeface="Times New Roman" pitchFamily="18" charset="0"/>
              </a:rPr>
              <a:t>c</a:t>
            </a:r>
            <a:r>
              <a:rPr kumimoji="0" lang="en-US" sz="2400" b="1" i="0" u="none" strike="noStrike" cap="none" normalizeH="0" baseline="0" dirty="0" smtClean="0">
                <a:ln>
                  <a:noFill/>
                </a:ln>
                <a:solidFill>
                  <a:srgbClr val="FF0000"/>
                </a:solidFill>
                <a:effectLst/>
                <a:latin typeface="Times New Roman" pitchFamily="18" charset="0"/>
              </a:rPr>
              <a:t> axis.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900" b="0" i="0" u="none" strike="noStrike" cap="none" normalizeH="0" baseline="0" dirty="0" smtClean="0">
              <a:ln>
                <a:noFill/>
              </a:ln>
              <a:solidFill>
                <a:schemeClr val="tx1"/>
              </a:solidFill>
              <a:effectLst/>
              <a:latin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18182"/>
                </a:solidFill>
                <a:effectLst/>
                <a:latin typeface="Times New Roman" pitchFamily="18" charset="0"/>
              </a:rPr>
              <a:t>The left hand is reflected across the mirror plane, and translated 1/2 unit along c.</a:t>
            </a:r>
            <a:r>
              <a:rPr kumimoji="0" lang="en-US" sz="2200" b="0" i="0" u="none" strike="noStrike" cap="none" normalizeH="0" baseline="0" dirty="0" smtClean="0">
                <a:ln>
                  <a:noFill/>
                </a:ln>
                <a:solidFill>
                  <a:srgbClr val="018182"/>
                </a:solidFill>
                <a:effectLst/>
                <a:latin typeface="Times New Roman" pitchFamily="18" charset="0"/>
              </a:rPr>
              <a:t> </a:t>
            </a:r>
            <a:br>
              <a:rPr kumimoji="0" lang="en-US" sz="2200" b="0" i="0" u="none" strike="noStrike" cap="none" normalizeH="0" baseline="0" dirty="0" smtClean="0">
                <a:ln>
                  <a:noFill/>
                </a:ln>
                <a:solidFill>
                  <a:srgbClr val="018182"/>
                </a:solidFill>
                <a:effectLst/>
                <a:latin typeface="Times New Roman" pitchFamily="18" charset="0"/>
              </a:rPr>
            </a:br>
            <a:r>
              <a:rPr kumimoji="0" lang="en-US" sz="2700" b="0" i="0" u="none" strike="noStrike" cap="none" normalizeH="0" baseline="0" dirty="0" smtClean="0">
                <a:ln>
                  <a:noFill/>
                </a:ln>
                <a:solidFill>
                  <a:srgbClr val="018182"/>
                </a:solidFill>
                <a:effectLst/>
                <a:latin typeface="Times New Roman" pitchFamily="18" charset="0"/>
              </a:rPr>
              <a:t/>
            </a:r>
            <a:br>
              <a:rPr kumimoji="0" lang="en-US" sz="2700" b="0" i="0" u="none" strike="noStrike" cap="none" normalizeH="0" baseline="0" dirty="0" smtClean="0">
                <a:ln>
                  <a:noFill/>
                </a:ln>
                <a:solidFill>
                  <a:srgbClr val="018182"/>
                </a:solidFill>
                <a:effectLst/>
                <a:latin typeface="Times New Roman" pitchFamily="18" charset="0"/>
              </a:rPr>
            </a:br>
            <a:r>
              <a:rPr kumimoji="0" lang="en-US" sz="2700" b="0" i="0" u="none" strike="noStrike" cap="none" normalizeH="0" baseline="0" dirty="0" smtClean="0">
                <a:ln>
                  <a:noFill/>
                </a:ln>
                <a:solidFill>
                  <a:srgbClr val="018182"/>
                </a:solidFill>
                <a:effectLst/>
                <a:latin typeface="Times New Roman" pitchFamily="18" charset="0"/>
              </a:rPr>
              <a:t>  </a:t>
            </a:r>
            <a:endParaRPr kumimoji="0" lang="en-US" sz="7800" b="0" i="0" u="none" strike="noStrike" cap="none" normalizeH="0" baseline="0" dirty="0" smtClean="0">
              <a:ln>
                <a:noFill/>
              </a:ln>
              <a:solidFill>
                <a:srgbClr val="018182"/>
              </a:solidFill>
              <a:effectLst/>
              <a:latin typeface="Times New Roman" pitchFamily="18" charset="0"/>
            </a:endParaRPr>
          </a:p>
        </p:txBody>
      </p:sp>
      <p:pic>
        <p:nvPicPr>
          <p:cNvPr id="5" name="symcglide2[1].wmv">
            <a:hlinkClick r:id="" action="ppaction://media"/>
          </p:cNvPr>
          <p:cNvPicPr>
            <a:picLocks noRot="1" noChangeAspect="1"/>
          </p:cNvPicPr>
          <p:nvPr>
            <a:videoFile r:link="rId2"/>
          </p:nvPr>
        </p:nvPicPr>
        <p:blipFill>
          <a:blip r:embed="rId5" cstate="print"/>
          <a:stretch>
            <a:fillRect/>
          </a:stretch>
        </p:blipFill>
        <p:spPr>
          <a:xfrm>
            <a:off x="496775" y="1677474"/>
            <a:ext cx="3854539" cy="2803301"/>
          </a:xfrm>
          <a:prstGeom prst="rect">
            <a:avLst/>
          </a:prstGeom>
        </p:spPr>
      </p:pic>
      <p:sp>
        <p:nvSpPr>
          <p:cNvPr id="6" name="Rectangle 5"/>
          <p:cNvSpPr/>
          <p:nvPr/>
        </p:nvSpPr>
        <p:spPr>
          <a:xfrm>
            <a:off x="3642102" y="485824"/>
            <a:ext cx="1762021" cy="646331"/>
          </a:xfrm>
          <a:prstGeom prst="rect">
            <a:avLst/>
          </a:prstGeom>
        </p:spPr>
        <p:txBody>
          <a:bodyPr wrap="none">
            <a:spAutoFit/>
          </a:bodyPr>
          <a:lstStyle/>
          <a:p>
            <a:r>
              <a:rPr lang="en-US" sz="3600" b="1" i="1" dirty="0">
                <a:solidFill>
                  <a:srgbClr val="FF0000"/>
                </a:solidFill>
              </a:rPr>
              <a:t>c</a:t>
            </a:r>
            <a:r>
              <a:rPr lang="en-US" sz="3600" b="1" i="1" dirty="0"/>
              <a:t>-glides </a:t>
            </a:r>
          </a:p>
        </p:txBody>
      </p:sp>
      <p:graphicFrame>
        <p:nvGraphicFramePr>
          <p:cNvPr id="485377" name="Object 1"/>
          <p:cNvGraphicFramePr>
            <a:graphicFrameLocks noChangeAspect="1"/>
          </p:cNvGraphicFramePr>
          <p:nvPr/>
        </p:nvGraphicFramePr>
        <p:xfrm>
          <a:off x="944563" y="5997575"/>
          <a:ext cx="2786062" cy="488950"/>
        </p:xfrm>
        <a:graphic>
          <a:graphicData uri="http://schemas.openxmlformats.org/presentationml/2006/ole">
            <p:oleObj spid="_x0000_s485377" name="Equation" r:id="rId6" imgW="2120760" imgH="355320" progId="">
              <p:embed/>
            </p:oleObj>
          </a:graphicData>
        </a:graphic>
      </p:graphicFrame>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p:cTn id="7" fill="hold" display="0">
                  <p:stCondLst>
                    <p:cond delay="indefinite"/>
                  </p:stCondLst>
                  <p:endCondLst>
                    <p:cond evt="onNext" delay="0">
                      <p:tgtEl>
                        <p:sldTgt/>
                      </p:tgtEl>
                    </p:cond>
                    <p:cond evt="onPrev" delay="0">
                      <p:tgtEl>
                        <p:sldTgt/>
                      </p:tgtEl>
                    </p:cond>
                  </p:endCondLst>
                </p:cTn>
                <p:tgtEl>
                  <p:spTgt spid="5"/>
                </p:tgtEl>
              </p:cMediaNode>
            </p:video>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194" name="Picture 2" descr="http://www.students.bucknell.edu/projects/xray/betatest/SpaceGroupSymmetry/Inserts/cglide1circles.JPG"/>
          <p:cNvPicPr>
            <a:picLocks noChangeAspect="1" noChangeArrowheads="1"/>
          </p:cNvPicPr>
          <p:nvPr/>
        </p:nvPicPr>
        <p:blipFill>
          <a:blip r:embed="rId4" cstate="print"/>
          <a:srcRect/>
          <a:stretch>
            <a:fillRect/>
          </a:stretch>
        </p:blipFill>
        <p:spPr bwMode="auto">
          <a:xfrm>
            <a:off x="1607221" y="4629849"/>
            <a:ext cx="1345529" cy="1639865"/>
          </a:xfrm>
          <a:prstGeom prst="rect">
            <a:avLst/>
          </a:prstGeom>
          <a:noFill/>
        </p:spPr>
      </p:pic>
      <p:pic>
        <p:nvPicPr>
          <p:cNvPr id="3" name="symcglide1[1].wmv">
            <a:hlinkClick r:id="" action="ppaction://media"/>
          </p:cNvPr>
          <p:cNvPicPr>
            <a:picLocks noRot="1" noChangeAspect="1"/>
          </p:cNvPicPr>
          <p:nvPr>
            <a:videoFile r:link="rId2"/>
          </p:nvPr>
        </p:nvPicPr>
        <p:blipFill>
          <a:blip r:embed="rId5" cstate="print"/>
          <a:stretch>
            <a:fillRect/>
          </a:stretch>
        </p:blipFill>
        <p:spPr>
          <a:xfrm>
            <a:off x="432918" y="1279301"/>
            <a:ext cx="4421211" cy="3215426"/>
          </a:xfrm>
          <a:prstGeom prst="rect">
            <a:avLst/>
          </a:prstGeom>
        </p:spPr>
      </p:pic>
      <p:sp>
        <p:nvSpPr>
          <p:cNvPr id="264195"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18182"/>
                </a:solidFill>
                <a:effectLst/>
                <a:latin typeface="Times New Roman" pitchFamily="18" charset="0"/>
              </a:rPr>
              <a:t>The glide plane lies in the ab plane. Translation is along a.</a:t>
            </a:r>
            <a:endParaRPr kumimoji="0" lang="en-US" sz="900" b="0" i="0" u="none" strike="noStrike" cap="none" normalizeH="0" baseline="0" smtClean="0">
              <a:ln>
                <a:noFill/>
              </a:ln>
              <a:solidFill>
                <a:schemeClr val="tx1"/>
              </a:solidFill>
              <a:effectLst/>
              <a:latin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18182"/>
                </a:solidFill>
                <a:effectLst/>
                <a:latin typeface="Times New Roman" pitchFamily="18" charset="0"/>
              </a:rPr>
              <a:t>The right hand is reflected across the page. Then the reflection is translated along a.</a:t>
            </a:r>
            <a:endParaRPr kumimoji="0" lang="en-US" sz="900" b="0" i="0" u="none" strike="noStrike" cap="none" normalizeH="0" baseline="0" smtClean="0">
              <a:ln>
                <a:noFill/>
              </a:ln>
              <a:solidFill>
                <a:schemeClr val="tx1"/>
              </a:solidFill>
              <a:effectLst/>
              <a:latin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rPr>
              <a:t>  </a:t>
            </a:r>
            <a:endParaRPr kumimoji="0" lang="en-US" sz="7800" b="0" i="0" u="none" strike="noStrike" cap="none" normalizeH="0" baseline="0" smtClean="0">
              <a:ln>
                <a:noFill/>
              </a:ln>
              <a:solidFill>
                <a:schemeClr val="tx1"/>
              </a:solidFill>
              <a:effectLst/>
              <a:latin typeface="Times New Roman" pitchFamily="18" charset="0"/>
            </a:endParaRPr>
          </a:p>
        </p:txBody>
      </p:sp>
      <p:sp>
        <p:nvSpPr>
          <p:cNvPr id="6" name="Rectangle 5"/>
          <p:cNvSpPr/>
          <p:nvPr/>
        </p:nvSpPr>
        <p:spPr>
          <a:xfrm>
            <a:off x="4667250" y="1390558"/>
            <a:ext cx="4180537" cy="2308324"/>
          </a:xfrm>
          <a:prstGeom prst="rect">
            <a:avLst/>
          </a:prstGeom>
        </p:spPr>
        <p:txBody>
          <a:bodyPr wrap="square">
            <a:spAutoFit/>
          </a:bodyPr>
          <a:lstStyle/>
          <a:p>
            <a:pPr algn="ctr"/>
            <a:r>
              <a:rPr lang="en-US" b="1" dirty="0"/>
              <a:t>The glide plane lies in the </a:t>
            </a:r>
            <a:r>
              <a:rPr lang="en-US" b="1" i="1" dirty="0" smtClean="0">
                <a:solidFill>
                  <a:srgbClr val="FF0000"/>
                </a:solidFill>
              </a:rPr>
              <a:t>ac</a:t>
            </a:r>
            <a:r>
              <a:rPr lang="en-US" b="1" dirty="0" smtClean="0"/>
              <a:t> </a:t>
            </a:r>
            <a:r>
              <a:rPr lang="en-US" b="1" dirty="0"/>
              <a:t>plane. Translation is along </a:t>
            </a:r>
            <a:r>
              <a:rPr lang="en-US" b="1" i="1" dirty="0">
                <a:solidFill>
                  <a:srgbClr val="FF0000"/>
                </a:solidFill>
              </a:rPr>
              <a:t>a</a:t>
            </a:r>
            <a:r>
              <a:rPr lang="en-US" b="1" dirty="0" smtClean="0"/>
              <a:t>.</a:t>
            </a:r>
          </a:p>
          <a:p>
            <a:pPr algn="ctr"/>
            <a:endParaRPr lang="en-US" b="1" dirty="0"/>
          </a:p>
          <a:p>
            <a:pPr algn="ctr"/>
            <a:r>
              <a:rPr lang="en-US" b="1" dirty="0"/>
              <a:t>The right hand is reflected across the page. Then the reflection is translated along </a:t>
            </a:r>
            <a:r>
              <a:rPr lang="en-US" b="1" i="1" dirty="0">
                <a:solidFill>
                  <a:srgbClr val="FF0000"/>
                </a:solidFill>
              </a:rPr>
              <a:t>a</a:t>
            </a:r>
            <a:r>
              <a:rPr lang="en-US" b="1" dirty="0"/>
              <a:t>.</a:t>
            </a:r>
          </a:p>
        </p:txBody>
      </p:sp>
      <p:sp>
        <p:nvSpPr>
          <p:cNvPr id="7" name="Rectangle 6"/>
          <p:cNvSpPr/>
          <p:nvPr/>
        </p:nvSpPr>
        <p:spPr>
          <a:xfrm>
            <a:off x="3284714" y="460066"/>
            <a:ext cx="1787669" cy="646331"/>
          </a:xfrm>
          <a:prstGeom prst="rect">
            <a:avLst/>
          </a:prstGeom>
        </p:spPr>
        <p:txBody>
          <a:bodyPr wrap="none">
            <a:spAutoFit/>
          </a:bodyPr>
          <a:lstStyle/>
          <a:p>
            <a:r>
              <a:rPr lang="en-US" sz="3600" b="1" i="1" dirty="0" smtClean="0">
                <a:solidFill>
                  <a:srgbClr val="FF0000"/>
                </a:solidFill>
              </a:rPr>
              <a:t>a</a:t>
            </a:r>
            <a:r>
              <a:rPr lang="en-US" sz="3600" b="1" i="1" dirty="0" smtClean="0"/>
              <a:t>-glides </a:t>
            </a:r>
            <a:endParaRPr lang="en-US" sz="3600" b="1" i="1" dirty="0"/>
          </a:p>
        </p:txBody>
      </p:sp>
      <p:graphicFrame>
        <p:nvGraphicFramePr>
          <p:cNvPr id="484353" name="Object 1"/>
          <p:cNvGraphicFramePr>
            <a:graphicFrameLocks noChangeAspect="1"/>
          </p:cNvGraphicFramePr>
          <p:nvPr/>
        </p:nvGraphicFramePr>
        <p:xfrm>
          <a:off x="2708275" y="5788025"/>
          <a:ext cx="2803525" cy="488950"/>
        </p:xfrm>
        <a:graphic>
          <a:graphicData uri="http://schemas.openxmlformats.org/presentationml/2006/ole">
            <p:oleObj spid="_x0000_s484353" name="Equation" r:id="rId6" imgW="2133360" imgH="355320" progId="">
              <p:embed/>
            </p:oleObj>
          </a:graphicData>
        </a:graphic>
      </p:graphicFrame>
      <p:graphicFrame>
        <p:nvGraphicFramePr>
          <p:cNvPr id="484354" name="Object 2"/>
          <p:cNvGraphicFramePr>
            <a:graphicFrameLocks noChangeAspect="1"/>
          </p:cNvGraphicFramePr>
          <p:nvPr/>
        </p:nvGraphicFramePr>
        <p:xfrm>
          <a:off x="6327775" y="4416425"/>
          <a:ext cx="1174750" cy="460375"/>
        </p:xfrm>
        <a:graphic>
          <a:graphicData uri="http://schemas.openxmlformats.org/presentationml/2006/ole">
            <p:oleObj spid="_x0000_s484354" name="Equation" r:id="rId7" imgW="685800" imgH="241200" progId="">
              <p:embed/>
            </p:oleObj>
          </a:graphicData>
        </a:graphic>
      </p:graphicFrame>
      <p:graphicFrame>
        <p:nvGraphicFramePr>
          <p:cNvPr id="484355" name="Object 5"/>
          <p:cNvGraphicFramePr>
            <a:graphicFrameLocks noChangeAspect="1"/>
          </p:cNvGraphicFramePr>
          <p:nvPr/>
        </p:nvGraphicFramePr>
        <p:xfrm>
          <a:off x="5986463" y="4973638"/>
          <a:ext cx="2087562" cy="679450"/>
        </p:xfrm>
        <a:graphic>
          <a:graphicData uri="http://schemas.openxmlformats.org/presentationml/2006/ole">
            <p:oleObj spid="_x0000_s484355" name="Equation" r:id="rId8" imgW="1218960" imgH="355320" progId="">
              <p:embed/>
            </p:oleObj>
          </a:graphicData>
        </a:graphic>
      </p:graphicFrame>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p:cTn id="7" fill="hold" display="0">
                  <p:stCondLst>
                    <p:cond delay="indefinite"/>
                  </p:stCondLst>
                  <p:endCondLst>
                    <p:cond evt="onNext" delay="0">
                      <p:tgtEl>
                        <p:sldTgt/>
                      </p:tgtEl>
                    </p:cond>
                    <p:cond evt="onPrev" delay="0">
                      <p:tgtEl>
                        <p:sldTgt/>
                      </p:tgtEl>
                    </p:cond>
                  </p:endCondLst>
                </p:cTn>
                <p:tgtEl>
                  <p:spTgt spid="3"/>
                </p:tgtEl>
              </p:cMediaNode>
            </p:video>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14914" y="340131"/>
            <a:ext cx="1697901" cy="646331"/>
          </a:xfrm>
          <a:prstGeom prst="rect">
            <a:avLst/>
          </a:prstGeom>
        </p:spPr>
        <p:txBody>
          <a:bodyPr wrap="none">
            <a:spAutoFit/>
          </a:bodyPr>
          <a:lstStyle/>
          <a:p>
            <a:r>
              <a:rPr lang="en-US" sz="3600" b="1" i="1" dirty="0">
                <a:solidFill>
                  <a:srgbClr val="FF0000"/>
                </a:solidFill>
              </a:rPr>
              <a:t>n</a:t>
            </a:r>
            <a:r>
              <a:rPr lang="en-US" sz="3600" b="1" i="1" dirty="0"/>
              <a:t>-glides</a:t>
            </a:r>
            <a:endParaRPr lang="en-US" sz="3600" dirty="0"/>
          </a:p>
        </p:txBody>
      </p:sp>
      <p:sp>
        <p:nvSpPr>
          <p:cNvPr id="4" name="Rectangle 3"/>
          <p:cNvSpPr/>
          <p:nvPr/>
        </p:nvSpPr>
        <p:spPr>
          <a:xfrm>
            <a:off x="4572000" y="1189119"/>
            <a:ext cx="4572000" cy="4524315"/>
          </a:xfrm>
          <a:prstGeom prst="rect">
            <a:avLst/>
          </a:prstGeom>
        </p:spPr>
        <p:txBody>
          <a:bodyPr>
            <a:spAutoFit/>
          </a:bodyPr>
          <a:lstStyle/>
          <a:p>
            <a:pPr algn="ctr"/>
            <a:r>
              <a:rPr lang="en-US" b="1" dirty="0">
                <a:solidFill>
                  <a:srgbClr val="00B050"/>
                </a:solidFill>
              </a:rPr>
              <a:t>The reflection plane is perpendicular to the page. </a:t>
            </a:r>
            <a:endParaRPr lang="en-US" b="1" dirty="0" smtClean="0">
              <a:solidFill>
                <a:srgbClr val="00B050"/>
              </a:solidFill>
            </a:endParaRPr>
          </a:p>
          <a:p>
            <a:pPr algn="ctr"/>
            <a:endParaRPr lang="en-US" b="1" dirty="0"/>
          </a:p>
          <a:p>
            <a:pPr algn="ctr"/>
            <a:r>
              <a:rPr lang="en-US" b="1" dirty="0" smtClean="0">
                <a:solidFill>
                  <a:srgbClr val="FF0000"/>
                </a:solidFill>
              </a:rPr>
              <a:t>Translation </a:t>
            </a:r>
            <a:r>
              <a:rPr lang="en-US" b="1" dirty="0">
                <a:solidFill>
                  <a:srgbClr val="FF0000"/>
                </a:solidFill>
              </a:rPr>
              <a:t>is half along </a:t>
            </a:r>
            <a:r>
              <a:rPr lang="en-US" b="1" i="1" dirty="0">
                <a:solidFill>
                  <a:srgbClr val="002060"/>
                </a:solidFill>
              </a:rPr>
              <a:t>a</a:t>
            </a:r>
            <a:r>
              <a:rPr lang="en-US" b="1" dirty="0">
                <a:solidFill>
                  <a:srgbClr val="FF0000"/>
                </a:solidFill>
              </a:rPr>
              <a:t>, half along </a:t>
            </a:r>
            <a:r>
              <a:rPr lang="en-US" b="1" i="1" dirty="0">
                <a:solidFill>
                  <a:srgbClr val="002060"/>
                </a:solidFill>
              </a:rPr>
              <a:t>c</a:t>
            </a:r>
            <a:r>
              <a:rPr lang="en-US" b="1" dirty="0">
                <a:solidFill>
                  <a:srgbClr val="FF0000"/>
                </a:solidFill>
              </a:rPr>
              <a:t>.</a:t>
            </a:r>
          </a:p>
          <a:p>
            <a:pPr algn="ctr"/>
            <a:endParaRPr lang="en-US" b="1" dirty="0" smtClean="0"/>
          </a:p>
          <a:p>
            <a:pPr algn="ctr"/>
            <a:r>
              <a:rPr lang="en-US" b="1" dirty="0" smtClean="0">
                <a:solidFill>
                  <a:srgbClr val="0070C0"/>
                </a:solidFill>
              </a:rPr>
              <a:t>The </a:t>
            </a:r>
            <a:r>
              <a:rPr lang="en-US" b="1" dirty="0">
                <a:solidFill>
                  <a:srgbClr val="0070C0"/>
                </a:solidFill>
              </a:rPr>
              <a:t>left hand is reflected across the glide plane. </a:t>
            </a:r>
            <a:endParaRPr lang="en-US" b="1" dirty="0" smtClean="0">
              <a:solidFill>
                <a:srgbClr val="0070C0"/>
              </a:solidFill>
            </a:endParaRPr>
          </a:p>
          <a:p>
            <a:pPr algn="ctr"/>
            <a:endParaRPr lang="en-US" b="1" dirty="0">
              <a:solidFill>
                <a:srgbClr val="0070C0"/>
              </a:solidFill>
            </a:endParaRPr>
          </a:p>
          <a:p>
            <a:pPr algn="ctr"/>
            <a:r>
              <a:rPr lang="en-US" b="1" dirty="0" smtClean="0">
                <a:solidFill>
                  <a:srgbClr val="0070C0"/>
                </a:solidFill>
              </a:rPr>
              <a:t>The </a:t>
            </a:r>
            <a:r>
              <a:rPr lang="en-US" b="1" dirty="0">
                <a:solidFill>
                  <a:srgbClr val="0070C0"/>
                </a:solidFill>
              </a:rPr>
              <a:t>reflection translates along </a:t>
            </a:r>
            <a:r>
              <a:rPr lang="en-US" b="1" i="1" dirty="0">
                <a:solidFill>
                  <a:srgbClr val="FF0000"/>
                </a:solidFill>
              </a:rPr>
              <a:t>a</a:t>
            </a:r>
            <a:r>
              <a:rPr lang="en-US" b="1" dirty="0">
                <a:solidFill>
                  <a:srgbClr val="0070C0"/>
                </a:solidFill>
              </a:rPr>
              <a:t> by </a:t>
            </a:r>
            <a:r>
              <a:rPr lang="en-US" b="1" dirty="0">
                <a:solidFill>
                  <a:srgbClr val="FF0000"/>
                </a:solidFill>
              </a:rPr>
              <a:t>1/2</a:t>
            </a:r>
            <a:r>
              <a:rPr lang="en-US" b="1" dirty="0">
                <a:solidFill>
                  <a:srgbClr val="0070C0"/>
                </a:solidFill>
              </a:rPr>
              <a:t> unit, then along </a:t>
            </a:r>
            <a:r>
              <a:rPr lang="en-US" b="1" i="1" dirty="0">
                <a:solidFill>
                  <a:srgbClr val="FF0000"/>
                </a:solidFill>
              </a:rPr>
              <a:t>c</a:t>
            </a:r>
            <a:r>
              <a:rPr lang="en-US" b="1" dirty="0">
                <a:solidFill>
                  <a:srgbClr val="0070C0"/>
                </a:solidFill>
              </a:rPr>
              <a:t> by </a:t>
            </a:r>
            <a:r>
              <a:rPr lang="en-US" b="1" dirty="0">
                <a:solidFill>
                  <a:srgbClr val="FF0000"/>
                </a:solidFill>
              </a:rPr>
              <a:t>1/2</a:t>
            </a:r>
            <a:r>
              <a:rPr lang="en-US" b="1" dirty="0">
                <a:solidFill>
                  <a:srgbClr val="0070C0"/>
                </a:solidFill>
              </a:rPr>
              <a:t> unit.</a:t>
            </a:r>
            <a:endParaRPr lang="en-US" dirty="0">
              <a:solidFill>
                <a:srgbClr val="0070C0"/>
              </a:solidFill>
            </a:endParaRPr>
          </a:p>
        </p:txBody>
      </p:sp>
      <p:pic>
        <p:nvPicPr>
          <p:cNvPr id="265218" name="Picture 2" descr="http://www.students.bucknell.edu/projects/xray/betatest/SpaceGroupSymmetry/inserts/circlenglide2.JPG"/>
          <p:cNvPicPr>
            <a:picLocks noChangeAspect="1" noChangeArrowheads="1"/>
          </p:cNvPicPr>
          <p:nvPr/>
        </p:nvPicPr>
        <p:blipFill>
          <a:blip r:embed="rId4" cstate="print"/>
          <a:srcRect/>
          <a:stretch>
            <a:fillRect/>
          </a:stretch>
        </p:blipFill>
        <p:spPr bwMode="auto">
          <a:xfrm>
            <a:off x="703327" y="4318567"/>
            <a:ext cx="1601724" cy="2253683"/>
          </a:xfrm>
          <a:prstGeom prst="rect">
            <a:avLst/>
          </a:prstGeom>
          <a:noFill/>
        </p:spPr>
      </p:pic>
      <p:pic>
        <p:nvPicPr>
          <p:cNvPr id="6" name="symnglide1[1].wmv">
            <a:hlinkClick r:id="" action="ppaction://media"/>
          </p:cNvPr>
          <p:cNvPicPr>
            <a:picLocks noRot="1" noChangeAspect="1"/>
          </p:cNvPicPr>
          <p:nvPr>
            <a:videoFile r:link="rId2"/>
          </p:nvPr>
        </p:nvPicPr>
        <p:blipFill>
          <a:blip r:embed="rId5" cstate="print"/>
          <a:stretch>
            <a:fillRect/>
          </a:stretch>
        </p:blipFill>
        <p:spPr>
          <a:xfrm>
            <a:off x="247650" y="1039368"/>
            <a:ext cx="4448175" cy="3235036"/>
          </a:xfrm>
          <a:prstGeom prst="rect">
            <a:avLst/>
          </a:prstGeom>
        </p:spPr>
      </p:pic>
      <p:graphicFrame>
        <p:nvGraphicFramePr>
          <p:cNvPr id="483329" name="Object 1"/>
          <p:cNvGraphicFramePr>
            <a:graphicFrameLocks noChangeAspect="1"/>
          </p:cNvGraphicFramePr>
          <p:nvPr/>
        </p:nvGraphicFramePr>
        <p:xfrm>
          <a:off x="2657475" y="5824538"/>
          <a:ext cx="5073650" cy="488950"/>
        </p:xfrm>
        <a:graphic>
          <a:graphicData uri="http://schemas.openxmlformats.org/presentationml/2006/ole">
            <p:oleObj spid="_x0000_s483329" name="Equation" r:id="rId6" imgW="3860640" imgH="355320" progId="">
              <p:embed/>
            </p:oleObj>
          </a:graphicData>
        </a:graphic>
      </p:graphicFrame>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20884" y="385626"/>
            <a:ext cx="3403496" cy="646331"/>
          </a:xfrm>
          <a:prstGeom prst="rect">
            <a:avLst/>
          </a:prstGeom>
        </p:spPr>
        <p:txBody>
          <a:bodyPr wrap="none">
            <a:spAutoFit/>
          </a:bodyPr>
          <a:lstStyle/>
          <a:p>
            <a:r>
              <a:rPr lang="en-US" sz="3600" b="1" i="1" dirty="0">
                <a:solidFill>
                  <a:srgbClr val="FF0000"/>
                </a:solidFill>
              </a:rPr>
              <a:t>Inversion Center</a:t>
            </a:r>
            <a:endParaRPr lang="en-US" sz="3600" dirty="0">
              <a:solidFill>
                <a:srgbClr val="FF0000"/>
              </a:solidFill>
            </a:endParaRPr>
          </a:p>
        </p:txBody>
      </p:sp>
      <p:pic>
        <p:nvPicPr>
          <p:cNvPr id="267266" name="Picture 2" descr="http://www.students.bucknell.edu/projects/xray/betatest/SpaceGroupSymmetry/inserts/circleinversion.JPG"/>
          <p:cNvPicPr>
            <a:picLocks noChangeAspect="1" noChangeArrowheads="1"/>
          </p:cNvPicPr>
          <p:nvPr/>
        </p:nvPicPr>
        <p:blipFill>
          <a:blip r:embed="rId3" cstate="print"/>
          <a:srcRect/>
          <a:stretch>
            <a:fillRect/>
          </a:stretch>
        </p:blipFill>
        <p:spPr bwMode="auto">
          <a:xfrm>
            <a:off x="896874" y="4438967"/>
            <a:ext cx="1847850" cy="1295401"/>
          </a:xfrm>
          <a:prstGeom prst="rect">
            <a:avLst/>
          </a:prstGeom>
          <a:noFill/>
        </p:spPr>
      </p:pic>
      <p:pic>
        <p:nvPicPr>
          <p:cNvPr id="6" name="syminversion[1].wmv">
            <a:hlinkClick r:id="" action="ppaction://media"/>
          </p:cNvPr>
          <p:cNvPicPr>
            <a:picLocks noRot="1" noChangeAspect="1"/>
          </p:cNvPicPr>
          <p:nvPr>
            <a:videoFile r:link="rId1"/>
          </p:nvPr>
        </p:nvPicPr>
        <p:blipFill>
          <a:blip r:embed="rId4" cstate="print"/>
          <a:stretch>
            <a:fillRect/>
          </a:stretch>
        </p:blipFill>
        <p:spPr>
          <a:xfrm>
            <a:off x="478535" y="1394841"/>
            <a:ext cx="3609267" cy="3158109"/>
          </a:xfrm>
          <a:prstGeom prst="rect">
            <a:avLst/>
          </a:prstGeom>
        </p:spPr>
      </p:pic>
      <p:sp>
        <p:nvSpPr>
          <p:cNvPr id="9" name="Rectangle 8"/>
          <p:cNvSpPr/>
          <p:nvPr/>
        </p:nvSpPr>
        <p:spPr>
          <a:xfrm>
            <a:off x="4176522" y="1947702"/>
            <a:ext cx="4572000" cy="1938992"/>
          </a:xfrm>
          <a:prstGeom prst="rect">
            <a:avLst/>
          </a:prstGeom>
        </p:spPr>
        <p:txBody>
          <a:bodyPr>
            <a:spAutoFit/>
          </a:bodyPr>
          <a:lstStyle/>
          <a:p>
            <a:pPr algn="ctr"/>
            <a:r>
              <a:rPr lang="en-US" b="1" dirty="0">
                <a:solidFill>
                  <a:srgbClr val="669900"/>
                </a:solidFill>
              </a:rPr>
              <a:t>The center of inversion is a point</a:t>
            </a:r>
            <a:r>
              <a:rPr lang="en-US" b="1" dirty="0" smtClean="0">
                <a:solidFill>
                  <a:srgbClr val="669900"/>
                </a:solidFill>
              </a:rPr>
              <a:t>.</a:t>
            </a:r>
          </a:p>
          <a:p>
            <a:pPr algn="ctr"/>
            <a:r>
              <a:rPr lang="en-US" b="1" dirty="0" smtClean="0"/>
              <a:t> </a:t>
            </a:r>
            <a:endParaRPr lang="en-US" b="1" dirty="0"/>
          </a:p>
          <a:p>
            <a:pPr algn="ctr"/>
            <a:r>
              <a:rPr lang="en-US" b="1" dirty="0">
                <a:solidFill>
                  <a:srgbClr val="00B0F0"/>
                </a:solidFill>
              </a:rPr>
              <a:t>The right and left hands in this position have an inversion center. Each finger is in opposition</a:t>
            </a:r>
          </a:p>
        </p:txBody>
      </p:sp>
      <p:pic>
        <p:nvPicPr>
          <p:cNvPr id="267274" name="Picture 10" descr="http://www.students.bucknell.edu/projects/xray/betatest/SpaceGroupSymmetry/inserts/3daxis.JPG"/>
          <p:cNvPicPr>
            <a:picLocks noChangeAspect="1" noChangeArrowheads="1"/>
          </p:cNvPicPr>
          <p:nvPr/>
        </p:nvPicPr>
        <p:blipFill>
          <a:blip r:embed="rId5" cstate="print"/>
          <a:srcRect/>
          <a:stretch>
            <a:fillRect/>
          </a:stretch>
        </p:blipFill>
        <p:spPr bwMode="auto">
          <a:xfrm>
            <a:off x="5756148" y="4265231"/>
            <a:ext cx="1314450" cy="1238251"/>
          </a:xfrm>
          <a:prstGeom prst="rect">
            <a:avLst/>
          </a:prstGeom>
          <a:noFill/>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40469" y="4484453"/>
            <a:ext cx="8288915" cy="461665"/>
            <a:chOff x="690665" y="661481"/>
            <a:chExt cx="8288915" cy="461665"/>
          </a:xfrm>
        </p:grpSpPr>
        <p:sp>
          <p:nvSpPr>
            <p:cNvPr id="2" name="Oval 1"/>
            <p:cNvSpPr/>
            <p:nvPr/>
          </p:nvSpPr>
          <p:spPr>
            <a:xfrm>
              <a:off x="690665" y="758758"/>
              <a:ext cx="311285" cy="32101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TextBox 2"/>
            <p:cNvSpPr txBox="1"/>
            <p:nvPr/>
          </p:nvSpPr>
          <p:spPr>
            <a:xfrm>
              <a:off x="1070042" y="661481"/>
              <a:ext cx="7909538" cy="461665"/>
            </a:xfrm>
            <a:prstGeom prst="rect">
              <a:avLst/>
            </a:prstGeom>
            <a:noFill/>
          </p:spPr>
          <p:txBody>
            <a:bodyPr wrap="none" rtlCol="0">
              <a:spAutoFit/>
            </a:bodyPr>
            <a:lstStyle/>
            <a:p>
              <a:r>
                <a:rPr lang="en-US" dirty="0" smtClean="0"/>
                <a:t>Symbol indicating position occupied by right handed molecule </a:t>
              </a:r>
              <a:endParaRPr lang="en-US" dirty="0"/>
            </a:p>
          </p:txBody>
        </p:sp>
      </p:grpSp>
      <p:sp>
        <p:nvSpPr>
          <p:cNvPr id="4" name="TextBox 3"/>
          <p:cNvSpPr txBox="1"/>
          <p:nvPr/>
        </p:nvSpPr>
        <p:spPr>
          <a:xfrm>
            <a:off x="1990927" y="453958"/>
            <a:ext cx="5705408" cy="461665"/>
          </a:xfrm>
          <a:prstGeom prst="rect">
            <a:avLst/>
          </a:prstGeom>
          <a:noFill/>
        </p:spPr>
        <p:txBody>
          <a:bodyPr wrap="none" rtlCol="0">
            <a:spAutoFit/>
          </a:bodyPr>
          <a:lstStyle/>
          <a:p>
            <a:r>
              <a:rPr lang="en-US" b="1" dirty="0" smtClean="0">
                <a:solidFill>
                  <a:srgbClr val="C00000"/>
                </a:solidFill>
              </a:rPr>
              <a:t>Diagrams of Equivalent General Positions</a:t>
            </a:r>
            <a:endParaRPr lang="en-US" b="1" dirty="0">
              <a:solidFill>
                <a:srgbClr val="C00000"/>
              </a:solidFill>
            </a:endParaRPr>
          </a:p>
        </p:txBody>
      </p:sp>
      <p:sp>
        <p:nvSpPr>
          <p:cNvPr id="10" name="TextBox 9"/>
          <p:cNvSpPr txBox="1"/>
          <p:nvPr/>
        </p:nvSpPr>
        <p:spPr>
          <a:xfrm>
            <a:off x="301557" y="1086253"/>
            <a:ext cx="8599251" cy="3416320"/>
          </a:xfrm>
          <a:prstGeom prst="rect">
            <a:avLst/>
          </a:prstGeom>
          <a:noFill/>
        </p:spPr>
        <p:txBody>
          <a:bodyPr wrap="square" rtlCol="0">
            <a:spAutoFit/>
          </a:bodyPr>
          <a:lstStyle/>
          <a:p>
            <a:pPr marL="457200" indent="-457200">
              <a:lnSpc>
                <a:spcPct val="150000"/>
              </a:lnSpc>
              <a:buFont typeface="Wingdings" pitchFamily="2" charset="2"/>
              <a:buChar char="v"/>
            </a:pPr>
            <a:r>
              <a:rPr lang="en-US" dirty="0" smtClean="0"/>
              <a:t> Suppose the unit cell (</a:t>
            </a:r>
            <a:r>
              <a:rPr lang="en-US" i="1" dirty="0" err="1" smtClean="0"/>
              <a:t>ab</a:t>
            </a:r>
            <a:r>
              <a:rPr lang="en-US" dirty="0" smtClean="0"/>
              <a:t> projection) is lying horizontally on table</a:t>
            </a:r>
          </a:p>
          <a:p>
            <a:pPr marL="457200" indent="-457200">
              <a:lnSpc>
                <a:spcPct val="150000"/>
              </a:lnSpc>
              <a:buFont typeface="Wingdings" pitchFamily="2" charset="2"/>
              <a:buChar char="v"/>
            </a:pPr>
            <a:r>
              <a:rPr lang="en-US" dirty="0" smtClean="0"/>
              <a:t> The height of the position indicated on a projection are the</a:t>
            </a:r>
          </a:p>
          <a:p>
            <a:pPr marL="515938" indent="-515938">
              <a:lnSpc>
                <a:spcPct val="150000"/>
              </a:lnSpc>
            </a:pPr>
            <a:r>
              <a:rPr lang="en-US" dirty="0" smtClean="0"/>
              <a:t>	coordinate along the </a:t>
            </a:r>
            <a:r>
              <a:rPr lang="en-US" i="1" dirty="0" smtClean="0"/>
              <a:t>z</a:t>
            </a:r>
            <a:r>
              <a:rPr lang="en-US" dirty="0" smtClean="0"/>
              <a:t>-axis.</a:t>
            </a:r>
          </a:p>
          <a:p>
            <a:pPr marL="457200" indent="-457200">
              <a:lnSpc>
                <a:spcPct val="150000"/>
              </a:lnSpc>
              <a:buFont typeface="Wingdings" pitchFamily="2" charset="2"/>
              <a:buChar char="v"/>
            </a:pPr>
            <a:r>
              <a:rPr lang="en-US" dirty="0" smtClean="0"/>
              <a:t>The symbol </a:t>
            </a:r>
            <a:r>
              <a:rPr lang="en-US" b="1" dirty="0" smtClean="0">
                <a:solidFill>
                  <a:srgbClr val="C00000"/>
                </a:solidFill>
              </a:rPr>
              <a:t>+</a:t>
            </a:r>
            <a:r>
              <a:rPr lang="en-US" dirty="0" smtClean="0"/>
              <a:t> means a distance z in an upward direction</a:t>
            </a:r>
          </a:p>
          <a:p>
            <a:pPr marL="457200" indent="-457200">
              <a:lnSpc>
                <a:spcPct val="150000"/>
              </a:lnSpc>
              <a:buFont typeface="Wingdings" pitchFamily="2" charset="2"/>
              <a:buChar char="v"/>
            </a:pPr>
            <a:r>
              <a:rPr lang="en-US" dirty="0" smtClean="0"/>
              <a:t>The symbol </a:t>
            </a:r>
            <a:r>
              <a:rPr lang="en-US" b="1" dirty="0" smtClean="0">
                <a:solidFill>
                  <a:srgbClr val="C00000"/>
                </a:solidFill>
              </a:rPr>
              <a:t>–</a:t>
            </a:r>
            <a:r>
              <a:rPr lang="en-US" dirty="0" smtClean="0"/>
              <a:t> means the same distance in a downward direction</a:t>
            </a:r>
            <a:endParaRPr lang="en-US" dirty="0"/>
          </a:p>
        </p:txBody>
      </p:sp>
      <p:grpSp>
        <p:nvGrpSpPr>
          <p:cNvPr id="12" name="Group 11"/>
          <p:cNvGrpSpPr/>
          <p:nvPr/>
        </p:nvGrpSpPr>
        <p:grpSpPr>
          <a:xfrm>
            <a:off x="366408" y="4647581"/>
            <a:ext cx="8184609" cy="830997"/>
            <a:chOff x="395591" y="3548364"/>
            <a:chExt cx="8184609" cy="830997"/>
          </a:xfrm>
        </p:grpSpPr>
        <p:grpSp>
          <p:nvGrpSpPr>
            <p:cNvPr id="6" name="Group 5"/>
            <p:cNvGrpSpPr/>
            <p:nvPr/>
          </p:nvGrpSpPr>
          <p:grpSpPr>
            <a:xfrm>
              <a:off x="395591" y="3907277"/>
              <a:ext cx="8184609" cy="461665"/>
              <a:chOff x="661482" y="1011677"/>
              <a:chExt cx="8184609" cy="461665"/>
            </a:xfrm>
          </p:grpSpPr>
          <p:sp>
            <p:nvSpPr>
              <p:cNvPr id="7" name="Oval 6"/>
              <p:cNvSpPr/>
              <p:nvPr/>
            </p:nvSpPr>
            <p:spPr>
              <a:xfrm>
                <a:off x="661482" y="1089498"/>
                <a:ext cx="311285" cy="321012"/>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TextBox 7"/>
              <p:cNvSpPr txBox="1"/>
              <p:nvPr/>
            </p:nvSpPr>
            <p:spPr>
              <a:xfrm>
                <a:off x="1031131" y="1011677"/>
                <a:ext cx="7814960" cy="461665"/>
              </a:xfrm>
              <a:prstGeom prst="rect">
                <a:avLst/>
              </a:prstGeom>
              <a:noFill/>
            </p:spPr>
            <p:txBody>
              <a:bodyPr wrap="none" rtlCol="0">
                <a:spAutoFit/>
              </a:bodyPr>
              <a:lstStyle/>
              <a:p>
                <a:r>
                  <a:rPr lang="en-US" dirty="0" smtClean="0"/>
                  <a:t>Symbol indicating position occupied by left handed molecule</a:t>
                </a:r>
                <a:endParaRPr lang="en-US" dirty="0"/>
              </a:p>
            </p:txBody>
          </p:sp>
        </p:grpSp>
        <p:sp>
          <p:nvSpPr>
            <p:cNvPr id="11" name="Rectangle 10"/>
            <p:cNvSpPr/>
            <p:nvPr/>
          </p:nvSpPr>
          <p:spPr>
            <a:xfrm>
              <a:off x="404216" y="3548364"/>
              <a:ext cx="338554" cy="830997"/>
            </a:xfrm>
            <a:prstGeom prst="rect">
              <a:avLst/>
            </a:prstGeom>
          </p:spPr>
          <p:txBody>
            <a:bodyPr wrap="none">
              <a:spAutoFit/>
            </a:bodyPr>
            <a:lstStyle/>
            <a:p>
              <a:r>
                <a:rPr lang="en-US" sz="4800" b="1" dirty="0" smtClean="0"/>
                <a:t>,</a:t>
              </a:r>
              <a:endParaRPr lang="en-US" sz="4800" b="1" dirty="0"/>
            </a:p>
          </p:txBody>
        </p:sp>
      </p:grpSp>
      <p:grpSp>
        <p:nvGrpSpPr>
          <p:cNvPr id="22" name="Group 21"/>
          <p:cNvGrpSpPr/>
          <p:nvPr/>
        </p:nvGrpSpPr>
        <p:grpSpPr>
          <a:xfrm>
            <a:off x="329638" y="5334024"/>
            <a:ext cx="8113969" cy="1113069"/>
            <a:chOff x="329638" y="4828185"/>
            <a:chExt cx="8113969" cy="1113069"/>
          </a:xfrm>
        </p:grpSpPr>
        <p:grpSp>
          <p:nvGrpSpPr>
            <p:cNvPr id="20" name="Group 19"/>
            <p:cNvGrpSpPr/>
            <p:nvPr/>
          </p:nvGrpSpPr>
          <p:grpSpPr>
            <a:xfrm>
              <a:off x="329638" y="4828185"/>
              <a:ext cx="1170030" cy="987941"/>
              <a:chOff x="991120" y="3544134"/>
              <a:chExt cx="1170030" cy="987941"/>
            </a:xfrm>
          </p:grpSpPr>
          <p:sp>
            <p:nvSpPr>
              <p:cNvPr id="13" name="Oval 12"/>
              <p:cNvSpPr/>
              <p:nvPr/>
            </p:nvSpPr>
            <p:spPr>
              <a:xfrm>
                <a:off x="1339177" y="4056434"/>
                <a:ext cx="448056" cy="447472"/>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15" name="Straight Connector 14"/>
              <p:cNvCxnSpPr>
                <a:stCxn id="13" idx="0"/>
                <a:endCxn id="13" idx="4"/>
              </p:cNvCxnSpPr>
              <p:nvPr/>
            </p:nvCxnSpPr>
            <p:spPr>
              <a:xfrm>
                <a:off x="1563205" y="4056434"/>
                <a:ext cx="0" cy="4474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801756" y="4070410"/>
                <a:ext cx="359394" cy="461665"/>
              </a:xfrm>
              <a:prstGeom prst="rect">
                <a:avLst/>
              </a:prstGeom>
            </p:spPr>
            <p:txBody>
              <a:bodyPr wrap="none">
                <a:spAutoFit/>
              </a:bodyPr>
              <a:lstStyle/>
              <a:p>
                <a:r>
                  <a:rPr lang="en-US" b="1" dirty="0" smtClean="0"/>
                  <a:t>+</a:t>
                </a:r>
                <a:endParaRPr lang="en-US" b="1" dirty="0"/>
              </a:p>
            </p:txBody>
          </p:sp>
          <p:pic>
            <p:nvPicPr>
              <p:cNvPr id="17" name="Picture 4"/>
              <p:cNvPicPr>
                <a:picLocks noChangeAspect="1" noChangeArrowheads="1"/>
              </p:cNvPicPr>
              <p:nvPr/>
            </p:nvPicPr>
            <p:blipFill>
              <a:blip r:embed="rId2" cstate="print"/>
              <a:srcRect/>
              <a:stretch>
                <a:fillRect/>
              </a:stretch>
            </p:blipFill>
            <p:spPr bwMode="auto">
              <a:xfrm>
                <a:off x="1356510" y="3544134"/>
                <a:ext cx="219075" cy="927100"/>
              </a:xfrm>
              <a:prstGeom prst="rect">
                <a:avLst/>
              </a:prstGeom>
              <a:noFill/>
              <a:ln w="9525">
                <a:noFill/>
                <a:miter lim="800000"/>
                <a:headEnd/>
                <a:tailEnd/>
              </a:ln>
              <a:effectLst/>
            </p:spPr>
          </p:pic>
          <p:sp>
            <p:nvSpPr>
              <p:cNvPr id="18" name="Rectangle 17"/>
              <p:cNvSpPr/>
              <p:nvPr/>
            </p:nvSpPr>
            <p:spPr>
              <a:xfrm>
                <a:off x="991120" y="4047711"/>
                <a:ext cx="402674" cy="461665"/>
              </a:xfrm>
              <a:prstGeom prst="rect">
                <a:avLst/>
              </a:prstGeom>
            </p:spPr>
            <p:txBody>
              <a:bodyPr wrap="none">
                <a:spAutoFit/>
              </a:bodyPr>
              <a:lstStyle/>
              <a:p>
                <a:r>
                  <a:rPr lang="en-US" b="1" dirty="0" smtClean="0"/>
                  <a:t>─</a:t>
                </a:r>
                <a:endParaRPr lang="en-US" b="1" dirty="0"/>
              </a:p>
            </p:txBody>
          </p:sp>
        </p:grpSp>
        <p:sp>
          <p:nvSpPr>
            <p:cNvPr id="21" name="TextBox 20"/>
            <p:cNvSpPr txBox="1"/>
            <p:nvPr/>
          </p:nvSpPr>
          <p:spPr>
            <a:xfrm>
              <a:off x="1530481" y="5110257"/>
              <a:ext cx="6913126" cy="830997"/>
            </a:xfrm>
            <a:prstGeom prst="rect">
              <a:avLst/>
            </a:prstGeom>
            <a:noFill/>
          </p:spPr>
          <p:txBody>
            <a:bodyPr wrap="square" rtlCol="0">
              <a:spAutoFit/>
            </a:bodyPr>
            <a:lstStyle/>
            <a:p>
              <a:r>
                <a:rPr lang="en-US" dirty="0" smtClean="0"/>
                <a:t>Mirror plane of symmetry parallel to the plane of projection; where the position superposed. </a:t>
              </a: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67544" y="260972"/>
            <a:ext cx="2753959" cy="646331"/>
          </a:xfrm>
          <a:prstGeom prst="rect">
            <a:avLst/>
          </a:prstGeom>
        </p:spPr>
        <p:txBody>
          <a:bodyPr wrap="none">
            <a:spAutoFit/>
          </a:bodyPr>
          <a:lstStyle/>
          <a:p>
            <a:r>
              <a:rPr lang="en-US" sz="3600" b="1" dirty="0" smtClean="0">
                <a:solidFill>
                  <a:srgbClr val="0070C0"/>
                </a:solidFill>
                <a:effectLst>
                  <a:outerShdw blurRad="38100" dist="38100" dir="2700000" algn="tl">
                    <a:srgbClr val="000000">
                      <a:alpha val="43137"/>
                    </a:srgbClr>
                  </a:outerShdw>
                </a:effectLst>
              </a:rPr>
              <a:t>Space Group</a:t>
            </a:r>
            <a:endParaRPr lang="en-US" sz="3600" b="1" dirty="0">
              <a:solidFill>
                <a:srgbClr val="0070C0"/>
              </a:solidFill>
              <a:effectLst>
                <a:outerShdw blurRad="38100" dist="38100" dir="2700000" algn="tl">
                  <a:srgbClr val="000000">
                    <a:alpha val="43137"/>
                  </a:srgbClr>
                </a:outerShdw>
              </a:effectLst>
            </a:endParaRPr>
          </a:p>
        </p:txBody>
      </p:sp>
      <p:grpSp>
        <p:nvGrpSpPr>
          <p:cNvPr id="3" name="Group 2"/>
          <p:cNvGrpSpPr/>
          <p:nvPr/>
        </p:nvGrpSpPr>
        <p:grpSpPr>
          <a:xfrm>
            <a:off x="698713" y="1057514"/>
            <a:ext cx="3475285" cy="3029523"/>
            <a:chOff x="4970910" y="832661"/>
            <a:chExt cx="3475285" cy="3029523"/>
          </a:xfrm>
        </p:grpSpPr>
        <p:cxnSp>
          <p:nvCxnSpPr>
            <p:cNvPr id="4" name="Straight Connector 3"/>
            <p:cNvCxnSpPr>
              <a:stCxn id="13" idx="0"/>
              <a:endCxn id="7" idx="4"/>
            </p:cNvCxnSpPr>
            <p:nvPr/>
          </p:nvCxnSpPr>
          <p:spPr>
            <a:xfrm>
              <a:off x="6698159" y="1482058"/>
              <a:ext cx="0" cy="22006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14" idx="0"/>
              <a:endCxn id="8" idx="4"/>
            </p:cNvCxnSpPr>
            <p:nvPr/>
          </p:nvCxnSpPr>
          <p:spPr>
            <a:xfrm>
              <a:off x="5236074" y="1501580"/>
              <a:ext cx="0" cy="22006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Oval 98"/>
            <p:cNvSpPr>
              <a:spLocks noChangeArrowheads="1"/>
            </p:cNvSpPr>
            <p:nvPr/>
          </p:nvSpPr>
          <p:spPr bwMode="auto">
            <a:xfrm>
              <a:off x="6631611" y="3526540"/>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8" name="Oval 101"/>
            <p:cNvSpPr>
              <a:spLocks noChangeArrowheads="1"/>
            </p:cNvSpPr>
            <p:nvPr/>
          </p:nvSpPr>
          <p:spPr bwMode="auto">
            <a:xfrm>
              <a:off x="5169526" y="3546062"/>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1" name="Oval 126"/>
            <p:cNvSpPr>
              <a:spLocks noChangeArrowheads="1"/>
            </p:cNvSpPr>
            <p:nvPr/>
          </p:nvSpPr>
          <p:spPr bwMode="auto">
            <a:xfrm>
              <a:off x="6631611" y="2504299"/>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2" name="Oval 129"/>
            <p:cNvSpPr>
              <a:spLocks noChangeArrowheads="1"/>
            </p:cNvSpPr>
            <p:nvPr/>
          </p:nvSpPr>
          <p:spPr bwMode="auto">
            <a:xfrm>
              <a:off x="5169526" y="2523821"/>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3" name="Oval 133"/>
            <p:cNvSpPr>
              <a:spLocks noChangeArrowheads="1"/>
            </p:cNvSpPr>
            <p:nvPr/>
          </p:nvSpPr>
          <p:spPr bwMode="auto">
            <a:xfrm>
              <a:off x="6631611" y="1482058"/>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4" name="Oval 136"/>
            <p:cNvSpPr>
              <a:spLocks noChangeArrowheads="1"/>
            </p:cNvSpPr>
            <p:nvPr/>
          </p:nvSpPr>
          <p:spPr bwMode="auto">
            <a:xfrm>
              <a:off x="5169526" y="1501580"/>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grpSp>
          <p:nvGrpSpPr>
            <p:cNvPr id="15" name="Group 59"/>
            <p:cNvGrpSpPr/>
            <p:nvPr/>
          </p:nvGrpSpPr>
          <p:grpSpPr>
            <a:xfrm>
              <a:off x="4975202" y="878758"/>
              <a:ext cx="553928" cy="927100"/>
              <a:chOff x="3960186" y="2981504"/>
              <a:chExt cx="553928" cy="927100"/>
            </a:xfrm>
          </p:grpSpPr>
          <p:pic>
            <p:nvPicPr>
              <p:cNvPr id="68" name="Picture 4"/>
              <p:cNvPicPr>
                <a:picLocks noChangeAspect="1" noChangeArrowheads="1"/>
              </p:cNvPicPr>
              <p:nvPr/>
            </p:nvPicPr>
            <p:blipFill>
              <a:blip r:embed="rId2" cstate="print"/>
              <a:srcRect/>
              <a:stretch>
                <a:fillRect/>
              </a:stretch>
            </p:blipFill>
            <p:spPr bwMode="auto">
              <a:xfrm>
                <a:off x="3960186" y="2981504"/>
                <a:ext cx="219075" cy="927100"/>
              </a:xfrm>
              <a:prstGeom prst="rect">
                <a:avLst/>
              </a:prstGeom>
              <a:noFill/>
              <a:ln w="9525">
                <a:noFill/>
                <a:miter lim="800000"/>
                <a:headEnd/>
                <a:tailEnd/>
              </a:ln>
              <a:effectLst/>
            </p:spPr>
          </p:pic>
          <p:pic>
            <p:nvPicPr>
              <p:cNvPr id="69"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grpSp>
          <p:nvGrpSpPr>
            <p:cNvPr id="16" name="Group 60"/>
            <p:cNvGrpSpPr/>
            <p:nvPr/>
          </p:nvGrpSpPr>
          <p:grpSpPr>
            <a:xfrm>
              <a:off x="4973056" y="1894042"/>
              <a:ext cx="553928" cy="927100"/>
              <a:chOff x="3960186" y="2981504"/>
              <a:chExt cx="553928" cy="927100"/>
            </a:xfrm>
          </p:grpSpPr>
          <p:pic>
            <p:nvPicPr>
              <p:cNvPr id="66" name="Picture 4"/>
              <p:cNvPicPr>
                <a:picLocks noChangeAspect="1" noChangeArrowheads="1"/>
              </p:cNvPicPr>
              <p:nvPr/>
            </p:nvPicPr>
            <p:blipFill>
              <a:blip r:embed="rId2" cstate="print"/>
              <a:srcRect/>
              <a:stretch>
                <a:fillRect/>
              </a:stretch>
            </p:blipFill>
            <p:spPr bwMode="auto">
              <a:xfrm>
                <a:off x="3960186" y="2981504"/>
                <a:ext cx="219075" cy="927100"/>
              </a:xfrm>
              <a:prstGeom prst="rect">
                <a:avLst/>
              </a:prstGeom>
              <a:noFill/>
              <a:ln w="9525">
                <a:noFill/>
                <a:miter lim="800000"/>
                <a:headEnd/>
                <a:tailEnd/>
              </a:ln>
              <a:effectLst/>
            </p:spPr>
          </p:pic>
          <p:pic>
            <p:nvPicPr>
              <p:cNvPr id="67"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grpSp>
          <p:nvGrpSpPr>
            <p:cNvPr id="17" name="Group 63"/>
            <p:cNvGrpSpPr/>
            <p:nvPr/>
          </p:nvGrpSpPr>
          <p:grpSpPr>
            <a:xfrm>
              <a:off x="4970910" y="2935084"/>
              <a:ext cx="553928" cy="927100"/>
              <a:chOff x="3960186" y="2981504"/>
              <a:chExt cx="553928" cy="927100"/>
            </a:xfrm>
          </p:grpSpPr>
          <p:pic>
            <p:nvPicPr>
              <p:cNvPr id="64" name="Picture 4"/>
              <p:cNvPicPr>
                <a:picLocks noChangeAspect="1" noChangeArrowheads="1"/>
              </p:cNvPicPr>
              <p:nvPr/>
            </p:nvPicPr>
            <p:blipFill>
              <a:blip r:embed="rId2" cstate="print"/>
              <a:srcRect/>
              <a:stretch>
                <a:fillRect/>
              </a:stretch>
            </p:blipFill>
            <p:spPr bwMode="auto">
              <a:xfrm>
                <a:off x="3960186" y="2981504"/>
                <a:ext cx="219075" cy="927100"/>
              </a:xfrm>
              <a:prstGeom prst="rect">
                <a:avLst/>
              </a:prstGeom>
              <a:noFill/>
              <a:ln w="9525">
                <a:noFill/>
                <a:miter lim="800000"/>
                <a:headEnd/>
                <a:tailEnd/>
              </a:ln>
              <a:effectLst/>
            </p:spPr>
          </p:pic>
          <p:pic>
            <p:nvPicPr>
              <p:cNvPr id="65"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grpSp>
          <p:nvGrpSpPr>
            <p:cNvPr id="20" name="Group 74"/>
            <p:cNvGrpSpPr/>
            <p:nvPr/>
          </p:nvGrpSpPr>
          <p:grpSpPr>
            <a:xfrm>
              <a:off x="6428369" y="876611"/>
              <a:ext cx="553928" cy="927100"/>
              <a:chOff x="3960186" y="2981504"/>
              <a:chExt cx="553928" cy="927100"/>
            </a:xfrm>
          </p:grpSpPr>
          <p:pic>
            <p:nvPicPr>
              <p:cNvPr id="58" name="Picture 4"/>
              <p:cNvPicPr>
                <a:picLocks noChangeAspect="1" noChangeArrowheads="1"/>
              </p:cNvPicPr>
              <p:nvPr/>
            </p:nvPicPr>
            <p:blipFill>
              <a:blip r:embed="rId2" cstate="print"/>
              <a:srcRect/>
              <a:stretch>
                <a:fillRect/>
              </a:stretch>
            </p:blipFill>
            <p:spPr bwMode="auto">
              <a:xfrm>
                <a:off x="3960186" y="2981504"/>
                <a:ext cx="219075" cy="927100"/>
              </a:xfrm>
              <a:prstGeom prst="rect">
                <a:avLst/>
              </a:prstGeom>
              <a:noFill/>
              <a:ln w="9525">
                <a:noFill/>
                <a:miter lim="800000"/>
                <a:headEnd/>
                <a:tailEnd/>
              </a:ln>
              <a:effectLst/>
            </p:spPr>
          </p:pic>
          <p:pic>
            <p:nvPicPr>
              <p:cNvPr id="59"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grpSp>
          <p:nvGrpSpPr>
            <p:cNvPr id="21" name="Group 77"/>
            <p:cNvGrpSpPr/>
            <p:nvPr/>
          </p:nvGrpSpPr>
          <p:grpSpPr>
            <a:xfrm>
              <a:off x="6426223" y="1904774"/>
              <a:ext cx="553928" cy="927100"/>
              <a:chOff x="3960186" y="2981504"/>
              <a:chExt cx="553928" cy="927100"/>
            </a:xfrm>
          </p:grpSpPr>
          <p:pic>
            <p:nvPicPr>
              <p:cNvPr id="56" name="Picture 4"/>
              <p:cNvPicPr>
                <a:picLocks noChangeAspect="1" noChangeArrowheads="1"/>
              </p:cNvPicPr>
              <p:nvPr/>
            </p:nvPicPr>
            <p:blipFill>
              <a:blip r:embed="rId2" cstate="print"/>
              <a:srcRect/>
              <a:stretch>
                <a:fillRect/>
              </a:stretch>
            </p:blipFill>
            <p:spPr bwMode="auto">
              <a:xfrm>
                <a:off x="3960186" y="2981504"/>
                <a:ext cx="219075" cy="927100"/>
              </a:xfrm>
              <a:prstGeom prst="rect">
                <a:avLst/>
              </a:prstGeom>
              <a:noFill/>
              <a:ln w="9525">
                <a:noFill/>
                <a:miter lim="800000"/>
                <a:headEnd/>
                <a:tailEnd/>
              </a:ln>
              <a:effectLst/>
            </p:spPr>
          </p:pic>
          <p:pic>
            <p:nvPicPr>
              <p:cNvPr id="57"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grpSp>
          <p:nvGrpSpPr>
            <p:cNvPr id="22" name="Group 80"/>
            <p:cNvGrpSpPr/>
            <p:nvPr/>
          </p:nvGrpSpPr>
          <p:grpSpPr>
            <a:xfrm>
              <a:off x="6424077" y="2932937"/>
              <a:ext cx="553928" cy="927100"/>
              <a:chOff x="3960186" y="2981504"/>
              <a:chExt cx="553928" cy="927100"/>
            </a:xfrm>
          </p:grpSpPr>
          <p:pic>
            <p:nvPicPr>
              <p:cNvPr id="54" name="Picture 4"/>
              <p:cNvPicPr>
                <a:picLocks noChangeAspect="1" noChangeArrowheads="1"/>
              </p:cNvPicPr>
              <p:nvPr/>
            </p:nvPicPr>
            <p:blipFill>
              <a:blip r:embed="rId2" cstate="print"/>
              <a:srcRect/>
              <a:stretch>
                <a:fillRect/>
              </a:stretch>
            </p:blipFill>
            <p:spPr bwMode="auto">
              <a:xfrm>
                <a:off x="3960186" y="2981504"/>
                <a:ext cx="219075" cy="927100"/>
              </a:xfrm>
              <a:prstGeom prst="rect">
                <a:avLst/>
              </a:prstGeom>
              <a:noFill/>
              <a:ln w="9525">
                <a:noFill/>
                <a:miter lim="800000"/>
                <a:headEnd/>
                <a:tailEnd/>
              </a:ln>
              <a:effectLst/>
            </p:spPr>
          </p:pic>
          <p:pic>
            <p:nvPicPr>
              <p:cNvPr id="55"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cxnSp>
          <p:nvCxnSpPr>
            <p:cNvPr id="25" name="Straight Connector 24"/>
            <p:cNvCxnSpPr>
              <a:stCxn id="31" idx="0"/>
              <a:endCxn id="27" idx="4"/>
            </p:cNvCxnSpPr>
            <p:nvPr/>
          </p:nvCxnSpPr>
          <p:spPr>
            <a:xfrm>
              <a:off x="8164203" y="1454153"/>
              <a:ext cx="0" cy="220065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7" name="Oval 98"/>
            <p:cNvSpPr>
              <a:spLocks noChangeArrowheads="1"/>
            </p:cNvSpPr>
            <p:nvPr/>
          </p:nvSpPr>
          <p:spPr bwMode="auto">
            <a:xfrm>
              <a:off x="8097655" y="3498635"/>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30" name="Oval 126"/>
            <p:cNvSpPr>
              <a:spLocks noChangeArrowheads="1"/>
            </p:cNvSpPr>
            <p:nvPr/>
          </p:nvSpPr>
          <p:spPr bwMode="auto">
            <a:xfrm>
              <a:off x="8097655" y="2476394"/>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31" name="Oval 133"/>
            <p:cNvSpPr>
              <a:spLocks noChangeArrowheads="1"/>
            </p:cNvSpPr>
            <p:nvPr/>
          </p:nvSpPr>
          <p:spPr bwMode="auto">
            <a:xfrm>
              <a:off x="8097655" y="1454153"/>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grpSp>
          <p:nvGrpSpPr>
            <p:cNvPr id="32" name="Group 113"/>
            <p:cNvGrpSpPr/>
            <p:nvPr/>
          </p:nvGrpSpPr>
          <p:grpSpPr>
            <a:xfrm>
              <a:off x="7890612" y="832661"/>
              <a:ext cx="553928" cy="927100"/>
              <a:chOff x="4664723" y="2501819"/>
              <a:chExt cx="553928" cy="927100"/>
            </a:xfrm>
          </p:grpSpPr>
          <p:pic>
            <p:nvPicPr>
              <p:cNvPr id="52" name="Picture 4"/>
              <p:cNvPicPr>
                <a:picLocks noChangeAspect="1" noChangeArrowheads="1"/>
              </p:cNvPicPr>
              <p:nvPr/>
            </p:nvPicPr>
            <p:blipFill>
              <a:blip r:embed="rId2" cstate="print"/>
              <a:srcRect/>
              <a:stretch>
                <a:fillRect/>
              </a:stretch>
            </p:blipFill>
            <p:spPr bwMode="auto">
              <a:xfrm>
                <a:off x="4664723" y="2501819"/>
                <a:ext cx="219075" cy="927100"/>
              </a:xfrm>
              <a:prstGeom prst="rect">
                <a:avLst/>
              </a:prstGeom>
              <a:noFill/>
              <a:ln w="9525">
                <a:noFill/>
                <a:miter lim="800000"/>
                <a:headEnd/>
                <a:tailEnd/>
              </a:ln>
              <a:effectLst/>
            </p:spPr>
          </p:pic>
          <p:pic>
            <p:nvPicPr>
              <p:cNvPr id="53" name="Picture 5"/>
              <p:cNvPicPr>
                <a:picLocks noChangeAspect="1" noChangeArrowheads="1"/>
              </p:cNvPicPr>
              <p:nvPr/>
            </p:nvPicPr>
            <p:blipFill>
              <a:blip r:embed="rId3" cstate="print"/>
              <a:srcRect/>
              <a:stretch>
                <a:fillRect/>
              </a:stretch>
            </p:blipFill>
            <p:spPr bwMode="auto">
              <a:xfrm>
                <a:off x="4999576" y="2501819"/>
                <a:ext cx="219075" cy="927100"/>
              </a:xfrm>
              <a:prstGeom prst="rect">
                <a:avLst/>
              </a:prstGeom>
              <a:noFill/>
              <a:ln w="9525">
                <a:noFill/>
                <a:miter lim="800000"/>
                <a:headEnd/>
                <a:tailEnd/>
              </a:ln>
              <a:effectLst/>
            </p:spPr>
          </p:pic>
        </p:grpSp>
        <p:grpSp>
          <p:nvGrpSpPr>
            <p:cNvPr id="34" name="Group 119"/>
            <p:cNvGrpSpPr/>
            <p:nvPr/>
          </p:nvGrpSpPr>
          <p:grpSpPr>
            <a:xfrm>
              <a:off x="7892267" y="1876869"/>
              <a:ext cx="553928" cy="927100"/>
              <a:chOff x="3960186" y="2981504"/>
              <a:chExt cx="553928" cy="927100"/>
            </a:xfrm>
          </p:grpSpPr>
          <p:pic>
            <p:nvPicPr>
              <p:cNvPr id="48" name="Picture 4"/>
              <p:cNvPicPr>
                <a:picLocks noChangeAspect="1" noChangeArrowheads="1"/>
              </p:cNvPicPr>
              <p:nvPr/>
            </p:nvPicPr>
            <p:blipFill>
              <a:blip r:embed="rId2" cstate="print"/>
              <a:srcRect/>
              <a:stretch>
                <a:fillRect/>
              </a:stretch>
            </p:blipFill>
            <p:spPr bwMode="auto">
              <a:xfrm>
                <a:off x="3960186" y="2981504"/>
                <a:ext cx="219075" cy="927100"/>
              </a:xfrm>
              <a:prstGeom prst="rect">
                <a:avLst/>
              </a:prstGeom>
              <a:noFill/>
              <a:ln w="9525">
                <a:noFill/>
                <a:miter lim="800000"/>
                <a:headEnd/>
                <a:tailEnd/>
              </a:ln>
              <a:effectLst/>
            </p:spPr>
          </p:pic>
          <p:pic>
            <p:nvPicPr>
              <p:cNvPr id="49"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grpSp>
          <p:nvGrpSpPr>
            <p:cNvPr id="35" name="Group 122"/>
            <p:cNvGrpSpPr/>
            <p:nvPr/>
          </p:nvGrpSpPr>
          <p:grpSpPr>
            <a:xfrm>
              <a:off x="7890121" y="2905032"/>
              <a:ext cx="553928" cy="927100"/>
              <a:chOff x="3960186" y="2981504"/>
              <a:chExt cx="553928" cy="927100"/>
            </a:xfrm>
          </p:grpSpPr>
          <p:pic>
            <p:nvPicPr>
              <p:cNvPr id="46" name="Picture 4"/>
              <p:cNvPicPr>
                <a:picLocks noChangeAspect="1" noChangeArrowheads="1"/>
              </p:cNvPicPr>
              <p:nvPr/>
            </p:nvPicPr>
            <p:blipFill>
              <a:blip r:embed="rId2" cstate="print"/>
              <a:srcRect/>
              <a:stretch>
                <a:fillRect/>
              </a:stretch>
            </p:blipFill>
            <p:spPr bwMode="auto">
              <a:xfrm>
                <a:off x="3960186" y="2981504"/>
                <a:ext cx="219075" cy="927100"/>
              </a:xfrm>
              <a:prstGeom prst="rect">
                <a:avLst/>
              </a:prstGeom>
              <a:noFill/>
              <a:ln w="9525">
                <a:noFill/>
                <a:miter lim="800000"/>
                <a:headEnd/>
                <a:tailEnd/>
              </a:ln>
              <a:effectLst/>
            </p:spPr>
          </p:pic>
          <p:pic>
            <p:nvPicPr>
              <p:cNvPr id="47"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sp>
          <p:nvSpPr>
            <p:cNvPr id="38" name="Rectangle 37"/>
            <p:cNvSpPr/>
            <p:nvPr/>
          </p:nvSpPr>
          <p:spPr>
            <a:xfrm>
              <a:off x="6928216" y="3299820"/>
              <a:ext cx="300082" cy="369332"/>
            </a:xfrm>
            <a:prstGeom prst="rect">
              <a:avLst/>
            </a:prstGeom>
          </p:spPr>
          <p:txBody>
            <a:bodyPr wrap="none">
              <a:spAutoFit/>
            </a:bodyPr>
            <a:lstStyle/>
            <a:p>
              <a:r>
                <a:rPr lang="en-US" sz="1800" b="1" i="1" dirty="0" smtClean="0">
                  <a:solidFill>
                    <a:srgbClr val="C00000"/>
                  </a:solidFill>
                </a:rPr>
                <a:t>a</a:t>
              </a:r>
              <a:endParaRPr lang="en-US" sz="1800" b="1" i="1" dirty="0">
                <a:solidFill>
                  <a:srgbClr val="C00000"/>
                </a:solidFill>
              </a:endParaRPr>
            </a:p>
          </p:txBody>
        </p:sp>
      </p:grpSp>
      <p:sp>
        <p:nvSpPr>
          <p:cNvPr id="70" name="Rectangle 69"/>
          <p:cNvSpPr/>
          <p:nvPr/>
        </p:nvSpPr>
        <p:spPr>
          <a:xfrm>
            <a:off x="1695879" y="938026"/>
            <a:ext cx="5694272" cy="461665"/>
          </a:xfrm>
          <a:prstGeom prst="rect">
            <a:avLst/>
          </a:prstGeom>
        </p:spPr>
        <p:txBody>
          <a:bodyPr wrap="square">
            <a:spAutoFit/>
          </a:bodyPr>
          <a:lstStyle/>
          <a:p>
            <a:r>
              <a:rPr lang="en-US" b="1" dirty="0" smtClean="0">
                <a:solidFill>
                  <a:srgbClr val="FF0000"/>
                </a:solidFill>
              </a:rPr>
              <a:t>Internal and external symmetry elements</a:t>
            </a:r>
            <a:endParaRPr lang="en-US" b="1" dirty="0">
              <a:solidFill>
                <a:srgbClr val="FF0000"/>
              </a:solidFill>
            </a:endParaRPr>
          </a:p>
        </p:txBody>
      </p:sp>
      <p:grpSp>
        <p:nvGrpSpPr>
          <p:cNvPr id="138" name="Group 137"/>
          <p:cNvGrpSpPr/>
          <p:nvPr/>
        </p:nvGrpSpPr>
        <p:grpSpPr>
          <a:xfrm>
            <a:off x="4778536" y="985061"/>
            <a:ext cx="3490275" cy="3029523"/>
            <a:chOff x="4955920" y="832661"/>
            <a:chExt cx="3490275" cy="3029523"/>
          </a:xfrm>
        </p:grpSpPr>
        <p:cxnSp>
          <p:nvCxnSpPr>
            <p:cNvPr id="139" name="Straight Connector 138"/>
            <p:cNvCxnSpPr>
              <a:stCxn id="145" idx="0"/>
              <a:endCxn id="141" idx="4"/>
            </p:cNvCxnSpPr>
            <p:nvPr/>
          </p:nvCxnSpPr>
          <p:spPr>
            <a:xfrm>
              <a:off x="6698159" y="1482058"/>
              <a:ext cx="0" cy="2200658"/>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a:stCxn id="146" idx="0"/>
              <a:endCxn id="142" idx="4"/>
            </p:cNvCxnSpPr>
            <p:nvPr/>
          </p:nvCxnSpPr>
          <p:spPr>
            <a:xfrm>
              <a:off x="5236074" y="1501580"/>
              <a:ext cx="0" cy="2200658"/>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141" name="Oval 98"/>
            <p:cNvSpPr>
              <a:spLocks noChangeArrowheads="1"/>
            </p:cNvSpPr>
            <p:nvPr/>
          </p:nvSpPr>
          <p:spPr bwMode="auto">
            <a:xfrm>
              <a:off x="6631611" y="3526540"/>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42" name="Oval 101"/>
            <p:cNvSpPr>
              <a:spLocks noChangeArrowheads="1"/>
            </p:cNvSpPr>
            <p:nvPr/>
          </p:nvSpPr>
          <p:spPr bwMode="auto">
            <a:xfrm>
              <a:off x="5169526" y="3546062"/>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43" name="Oval 126"/>
            <p:cNvSpPr>
              <a:spLocks noChangeArrowheads="1"/>
            </p:cNvSpPr>
            <p:nvPr/>
          </p:nvSpPr>
          <p:spPr bwMode="auto">
            <a:xfrm>
              <a:off x="6631611" y="2504299"/>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44" name="Oval 129"/>
            <p:cNvSpPr>
              <a:spLocks noChangeArrowheads="1"/>
            </p:cNvSpPr>
            <p:nvPr/>
          </p:nvSpPr>
          <p:spPr bwMode="auto">
            <a:xfrm>
              <a:off x="5169526" y="2523821"/>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45" name="Oval 133"/>
            <p:cNvSpPr>
              <a:spLocks noChangeArrowheads="1"/>
            </p:cNvSpPr>
            <p:nvPr/>
          </p:nvSpPr>
          <p:spPr bwMode="auto">
            <a:xfrm>
              <a:off x="6631611" y="1482058"/>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46" name="Oval 136"/>
            <p:cNvSpPr>
              <a:spLocks noChangeArrowheads="1"/>
            </p:cNvSpPr>
            <p:nvPr/>
          </p:nvSpPr>
          <p:spPr bwMode="auto">
            <a:xfrm>
              <a:off x="5169526" y="1501580"/>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pic>
          <p:nvPicPr>
            <p:cNvPr id="178" name="Picture 5"/>
            <p:cNvPicPr>
              <a:picLocks noChangeAspect="1" noChangeArrowheads="1"/>
            </p:cNvPicPr>
            <p:nvPr/>
          </p:nvPicPr>
          <p:blipFill>
            <a:blip r:embed="rId3" cstate="print"/>
            <a:srcRect/>
            <a:stretch>
              <a:fillRect/>
            </a:stretch>
          </p:blipFill>
          <p:spPr bwMode="auto">
            <a:xfrm>
              <a:off x="5310055" y="878758"/>
              <a:ext cx="219075" cy="927100"/>
            </a:xfrm>
            <a:prstGeom prst="rect">
              <a:avLst/>
            </a:prstGeom>
            <a:noFill/>
            <a:ln w="9525">
              <a:noFill/>
              <a:miter lim="800000"/>
              <a:headEnd/>
              <a:tailEnd/>
            </a:ln>
            <a:effectLst/>
          </p:spPr>
        </p:pic>
        <p:grpSp>
          <p:nvGrpSpPr>
            <p:cNvPr id="148" name="Group 60"/>
            <p:cNvGrpSpPr/>
            <p:nvPr/>
          </p:nvGrpSpPr>
          <p:grpSpPr>
            <a:xfrm>
              <a:off x="4958066" y="1414362"/>
              <a:ext cx="568918" cy="1406780"/>
              <a:chOff x="3945196" y="2501824"/>
              <a:chExt cx="568918" cy="1406780"/>
            </a:xfrm>
          </p:grpSpPr>
          <p:pic>
            <p:nvPicPr>
              <p:cNvPr id="175" name="Picture 4"/>
              <p:cNvPicPr>
                <a:picLocks noChangeAspect="1" noChangeArrowheads="1"/>
              </p:cNvPicPr>
              <p:nvPr/>
            </p:nvPicPr>
            <p:blipFill>
              <a:blip r:embed="rId2" cstate="print"/>
              <a:srcRect/>
              <a:stretch>
                <a:fillRect/>
              </a:stretch>
            </p:blipFill>
            <p:spPr bwMode="auto">
              <a:xfrm>
                <a:off x="3945196" y="2501824"/>
                <a:ext cx="219075" cy="927100"/>
              </a:xfrm>
              <a:prstGeom prst="rect">
                <a:avLst/>
              </a:prstGeom>
              <a:noFill/>
              <a:ln w="9525">
                <a:noFill/>
                <a:miter lim="800000"/>
                <a:headEnd/>
                <a:tailEnd/>
              </a:ln>
              <a:effectLst/>
            </p:spPr>
          </p:pic>
          <p:pic>
            <p:nvPicPr>
              <p:cNvPr id="176"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grpSp>
          <p:nvGrpSpPr>
            <p:cNvPr id="149" name="Group 63"/>
            <p:cNvGrpSpPr/>
            <p:nvPr/>
          </p:nvGrpSpPr>
          <p:grpSpPr>
            <a:xfrm>
              <a:off x="4955920" y="2440408"/>
              <a:ext cx="568918" cy="1421776"/>
              <a:chOff x="3945196" y="2486828"/>
              <a:chExt cx="568918" cy="1421776"/>
            </a:xfrm>
          </p:grpSpPr>
          <p:pic>
            <p:nvPicPr>
              <p:cNvPr id="173" name="Picture 4"/>
              <p:cNvPicPr>
                <a:picLocks noChangeAspect="1" noChangeArrowheads="1"/>
              </p:cNvPicPr>
              <p:nvPr/>
            </p:nvPicPr>
            <p:blipFill>
              <a:blip r:embed="rId2" cstate="print"/>
              <a:srcRect/>
              <a:stretch>
                <a:fillRect/>
              </a:stretch>
            </p:blipFill>
            <p:spPr bwMode="auto">
              <a:xfrm>
                <a:off x="3945196" y="2486828"/>
                <a:ext cx="219075" cy="927100"/>
              </a:xfrm>
              <a:prstGeom prst="rect">
                <a:avLst/>
              </a:prstGeom>
              <a:noFill/>
              <a:ln w="9525">
                <a:noFill/>
                <a:miter lim="800000"/>
                <a:headEnd/>
                <a:tailEnd/>
              </a:ln>
              <a:effectLst/>
            </p:spPr>
          </p:pic>
          <p:pic>
            <p:nvPicPr>
              <p:cNvPr id="174"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pic>
          <p:nvPicPr>
            <p:cNvPr id="172" name="Picture 5"/>
            <p:cNvPicPr>
              <a:picLocks noChangeAspect="1" noChangeArrowheads="1"/>
            </p:cNvPicPr>
            <p:nvPr/>
          </p:nvPicPr>
          <p:blipFill>
            <a:blip r:embed="rId3" cstate="print"/>
            <a:srcRect/>
            <a:stretch>
              <a:fillRect/>
            </a:stretch>
          </p:blipFill>
          <p:spPr bwMode="auto">
            <a:xfrm>
              <a:off x="6763222" y="876611"/>
              <a:ext cx="219075" cy="927100"/>
            </a:xfrm>
            <a:prstGeom prst="rect">
              <a:avLst/>
            </a:prstGeom>
            <a:noFill/>
            <a:ln w="9525">
              <a:noFill/>
              <a:miter lim="800000"/>
              <a:headEnd/>
              <a:tailEnd/>
            </a:ln>
            <a:effectLst/>
          </p:spPr>
        </p:pic>
        <p:grpSp>
          <p:nvGrpSpPr>
            <p:cNvPr id="151" name="Group 77"/>
            <p:cNvGrpSpPr/>
            <p:nvPr/>
          </p:nvGrpSpPr>
          <p:grpSpPr>
            <a:xfrm>
              <a:off x="6426223" y="1425094"/>
              <a:ext cx="553928" cy="1406780"/>
              <a:chOff x="3960186" y="2501824"/>
              <a:chExt cx="553928" cy="1406780"/>
            </a:xfrm>
          </p:grpSpPr>
          <p:pic>
            <p:nvPicPr>
              <p:cNvPr id="169" name="Picture 4"/>
              <p:cNvPicPr>
                <a:picLocks noChangeAspect="1" noChangeArrowheads="1"/>
              </p:cNvPicPr>
              <p:nvPr/>
            </p:nvPicPr>
            <p:blipFill>
              <a:blip r:embed="rId2" cstate="print"/>
              <a:srcRect/>
              <a:stretch>
                <a:fillRect/>
              </a:stretch>
            </p:blipFill>
            <p:spPr bwMode="auto">
              <a:xfrm>
                <a:off x="3960186" y="2501824"/>
                <a:ext cx="219075" cy="927100"/>
              </a:xfrm>
              <a:prstGeom prst="rect">
                <a:avLst/>
              </a:prstGeom>
              <a:noFill/>
              <a:ln w="9525">
                <a:noFill/>
                <a:miter lim="800000"/>
                <a:headEnd/>
                <a:tailEnd/>
              </a:ln>
              <a:effectLst/>
            </p:spPr>
          </p:pic>
          <p:pic>
            <p:nvPicPr>
              <p:cNvPr id="170"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grpSp>
          <p:nvGrpSpPr>
            <p:cNvPr id="152" name="Group 80"/>
            <p:cNvGrpSpPr/>
            <p:nvPr/>
          </p:nvGrpSpPr>
          <p:grpSpPr>
            <a:xfrm>
              <a:off x="6424077" y="2438267"/>
              <a:ext cx="553928" cy="1421770"/>
              <a:chOff x="3960186" y="2486834"/>
              <a:chExt cx="553928" cy="1421770"/>
            </a:xfrm>
          </p:grpSpPr>
          <p:pic>
            <p:nvPicPr>
              <p:cNvPr id="167" name="Picture 4"/>
              <p:cNvPicPr>
                <a:picLocks noChangeAspect="1" noChangeArrowheads="1"/>
              </p:cNvPicPr>
              <p:nvPr/>
            </p:nvPicPr>
            <p:blipFill>
              <a:blip r:embed="rId2" cstate="print"/>
              <a:srcRect/>
              <a:stretch>
                <a:fillRect/>
              </a:stretch>
            </p:blipFill>
            <p:spPr bwMode="auto">
              <a:xfrm>
                <a:off x="3960186" y="2486834"/>
                <a:ext cx="219075" cy="927100"/>
              </a:xfrm>
              <a:prstGeom prst="rect">
                <a:avLst/>
              </a:prstGeom>
              <a:noFill/>
              <a:ln w="9525">
                <a:noFill/>
                <a:miter lim="800000"/>
                <a:headEnd/>
                <a:tailEnd/>
              </a:ln>
              <a:effectLst/>
            </p:spPr>
          </p:pic>
          <p:pic>
            <p:nvPicPr>
              <p:cNvPr id="168"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cxnSp>
          <p:nvCxnSpPr>
            <p:cNvPr id="153" name="Straight Connector 152"/>
            <p:cNvCxnSpPr>
              <a:stCxn id="156" idx="0"/>
              <a:endCxn id="154" idx="4"/>
            </p:cNvCxnSpPr>
            <p:nvPr/>
          </p:nvCxnSpPr>
          <p:spPr>
            <a:xfrm>
              <a:off x="8164203" y="1454153"/>
              <a:ext cx="0" cy="2200658"/>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154" name="Oval 98"/>
            <p:cNvSpPr>
              <a:spLocks noChangeArrowheads="1"/>
            </p:cNvSpPr>
            <p:nvPr/>
          </p:nvSpPr>
          <p:spPr bwMode="auto">
            <a:xfrm>
              <a:off x="8097655" y="3498635"/>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55" name="Oval 126"/>
            <p:cNvSpPr>
              <a:spLocks noChangeArrowheads="1"/>
            </p:cNvSpPr>
            <p:nvPr/>
          </p:nvSpPr>
          <p:spPr bwMode="auto">
            <a:xfrm>
              <a:off x="8097655" y="2476394"/>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56" name="Oval 133"/>
            <p:cNvSpPr>
              <a:spLocks noChangeArrowheads="1"/>
            </p:cNvSpPr>
            <p:nvPr/>
          </p:nvSpPr>
          <p:spPr bwMode="auto">
            <a:xfrm>
              <a:off x="8097655" y="1454153"/>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pic>
          <p:nvPicPr>
            <p:cNvPr id="166" name="Picture 5"/>
            <p:cNvPicPr>
              <a:picLocks noChangeAspect="1" noChangeArrowheads="1"/>
            </p:cNvPicPr>
            <p:nvPr/>
          </p:nvPicPr>
          <p:blipFill>
            <a:blip r:embed="rId3" cstate="print"/>
            <a:srcRect/>
            <a:stretch>
              <a:fillRect/>
            </a:stretch>
          </p:blipFill>
          <p:spPr bwMode="auto">
            <a:xfrm>
              <a:off x="8225465" y="832661"/>
              <a:ext cx="219075" cy="927100"/>
            </a:xfrm>
            <a:prstGeom prst="rect">
              <a:avLst/>
            </a:prstGeom>
            <a:noFill/>
            <a:ln w="9525">
              <a:noFill/>
              <a:miter lim="800000"/>
              <a:headEnd/>
              <a:tailEnd/>
            </a:ln>
            <a:effectLst/>
          </p:spPr>
        </p:pic>
        <p:grpSp>
          <p:nvGrpSpPr>
            <p:cNvPr id="158" name="Group 119"/>
            <p:cNvGrpSpPr/>
            <p:nvPr/>
          </p:nvGrpSpPr>
          <p:grpSpPr>
            <a:xfrm>
              <a:off x="7892267" y="1412179"/>
              <a:ext cx="553928" cy="1391790"/>
              <a:chOff x="3960186" y="2516814"/>
              <a:chExt cx="553928" cy="1391790"/>
            </a:xfrm>
          </p:grpSpPr>
          <p:pic>
            <p:nvPicPr>
              <p:cNvPr id="163" name="Picture 4"/>
              <p:cNvPicPr>
                <a:picLocks noChangeAspect="1" noChangeArrowheads="1"/>
              </p:cNvPicPr>
              <p:nvPr/>
            </p:nvPicPr>
            <p:blipFill>
              <a:blip r:embed="rId2" cstate="print"/>
              <a:srcRect/>
              <a:stretch>
                <a:fillRect/>
              </a:stretch>
            </p:blipFill>
            <p:spPr bwMode="auto">
              <a:xfrm>
                <a:off x="3960186" y="2516814"/>
                <a:ext cx="219075" cy="927100"/>
              </a:xfrm>
              <a:prstGeom prst="rect">
                <a:avLst/>
              </a:prstGeom>
              <a:noFill/>
              <a:ln w="9525">
                <a:noFill/>
                <a:miter lim="800000"/>
                <a:headEnd/>
                <a:tailEnd/>
              </a:ln>
              <a:effectLst/>
            </p:spPr>
          </p:pic>
          <p:pic>
            <p:nvPicPr>
              <p:cNvPr id="164"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grpSp>
          <p:nvGrpSpPr>
            <p:cNvPr id="159" name="Group 122"/>
            <p:cNvGrpSpPr/>
            <p:nvPr/>
          </p:nvGrpSpPr>
          <p:grpSpPr>
            <a:xfrm>
              <a:off x="7890121" y="2380382"/>
              <a:ext cx="553928" cy="1451750"/>
              <a:chOff x="3960186" y="2456854"/>
              <a:chExt cx="553928" cy="1451750"/>
            </a:xfrm>
          </p:grpSpPr>
          <p:pic>
            <p:nvPicPr>
              <p:cNvPr id="161" name="Picture 4"/>
              <p:cNvPicPr>
                <a:picLocks noChangeAspect="1" noChangeArrowheads="1"/>
              </p:cNvPicPr>
              <p:nvPr/>
            </p:nvPicPr>
            <p:blipFill>
              <a:blip r:embed="rId2" cstate="print"/>
              <a:srcRect/>
              <a:stretch>
                <a:fillRect/>
              </a:stretch>
            </p:blipFill>
            <p:spPr bwMode="auto">
              <a:xfrm>
                <a:off x="3960186" y="2456854"/>
                <a:ext cx="219075" cy="927100"/>
              </a:xfrm>
              <a:prstGeom prst="rect">
                <a:avLst/>
              </a:prstGeom>
              <a:noFill/>
              <a:ln w="9525">
                <a:noFill/>
                <a:miter lim="800000"/>
                <a:headEnd/>
                <a:tailEnd/>
              </a:ln>
              <a:effectLst/>
            </p:spPr>
          </p:pic>
          <p:pic>
            <p:nvPicPr>
              <p:cNvPr id="162" name="Picture 5"/>
              <p:cNvPicPr>
                <a:picLocks noChangeAspect="1" noChangeArrowheads="1"/>
              </p:cNvPicPr>
              <p:nvPr/>
            </p:nvPicPr>
            <p:blipFill>
              <a:blip r:embed="rId3" cstate="print"/>
              <a:srcRect/>
              <a:stretch>
                <a:fillRect/>
              </a:stretch>
            </p:blipFill>
            <p:spPr bwMode="auto">
              <a:xfrm>
                <a:off x="4295039" y="2981504"/>
                <a:ext cx="219075" cy="927100"/>
              </a:xfrm>
              <a:prstGeom prst="rect">
                <a:avLst/>
              </a:prstGeom>
              <a:noFill/>
              <a:ln w="9525">
                <a:noFill/>
                <a:miter lim="800000"/>
                <a:headEnd/>
                <a:tailEnd/>
              </a:ln>
              <a:effectLst/>
            </p:spPr>
          </p:pic>
        </p:grpSp>
        <p:sp>
          <p:nvSpPr>
            <p:cNvPr id="160" name="Rectangle 159"/>
            <p:cNvSpPr/>
            <p:nvPr/>
          </p:nvSpPr>
          <p:spPr>
            <a:xfrm>
              <a:off x="6928216" y="3374771"/>
              <a:ext cx="300082" cy="369332"/>
            </a:xfrm>
            <a:prstGeom prst="rect">
              <a:avLst/>
            </a:prstGeom>
          </p:spPr>
          <p:txBody>
            <a:bodyPr wrap="none">
              <a:spAutoFit/>
            </a:bodyPr>
            <a:lstStyle/>
            <a:p>
              <a:r>
                <a:rPr lang="en-US" sz="1800" b="1" i="1" dirty="0" smtClean="0">
                  <a:solidFill>
                    <a:srgbClr val="C00000"/>
                  </a:solidFill>
                </a:rPr>
                <a:t>a</a:t>
              </a:r>
              <a:endParaRPr lang="en-US" sz="1800" b="1" i="1" dirty="0">
                <a:solidFill>
                  <a:srgbClr val="C00000"/>
                </a:solidFill>
              </a:endParaRPr>
            </a:p>
          </p:txBody>
        </p:sp>
        <p:sp>
          <p:nvSpPr>
            <p:cNvPr id="179" name="Oval 126"/>
            <p:cNvSpPr>
              <a:spLocks noChangeArrowheads="1"/>
            </p:cNvSpPr>
            <p:nvPr/>
          </p:nvSpPr>
          <p:spPr bwMode="auto">
            <a:xfrm>
              <a:off x="6634111" y="2027119"/>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80" name="Oval 98"/>
            <p:cNvSpPr>
              <a:spLocks noChangeArrowheads="1"/>
            </p:cNvSpPr>
            <p:nvPr/>
          </p:nvSpPr>
          <p:spPr bwMode="auto">
            <a:xfrm>
              <a:off x="6649101" y="3049360"/>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81" name="Oval 126"/>
            <p:cNvSpPr>
              <a:spLocks noChangeArrowheads="1"/>
            </p:cNvSpPr>
            <p:nvPr/>
          </p:nvSpPr>
          <p:spPr bwMode="auto">
            <a:xfrm>
              <a:off x="8100155" y="1999214"/>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82" name="Oval 98"/>
            <p:cNvSpPr>
              <a:spLocks noChangeArrowheads="1"/>
            </p:cNvSpPr>
            <p:nvPr/>
          </p:nvSpPr>
          <p:spPr bwMode="auto">
            <a:xfrm>
              <a:off x="8100155" y="3006465"/>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83" name="Oval 126"/>
            <p:cNvSpPr>
              <a:spLocks noChangeArrowheads="1"/>
            </p:cNvSpPr>
            <p:nvPr/>
          </p:nvSpPr>
          <p:spPr bwMode="auto">
            <a:xfrm>
              <a:off x="5167573" y="2014627"/>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84" name="Oval 98"/>
            <p:cNvSpPr>
              <a:spLocks noChangeArrowheads="1"/>
            </p:cNvSpPr>
            <p:nvPr/>
          </p:nvSpPr>
          <p:spPr bwMode="auto">
            <a:xfrm>
              <a:off x="5152583" y="3036868"/>
              <a:ext cx="133096" cy="156176"/>
            </a:xfrm>
            <a:prstGeom prst="ellipse">
              <a:avLst/>
            </a:prstGeom>
            <a:solidFill>
              <a:srgbClr val="92D050"/>
            </a:solidFill>
            <a:ln w="12700">
              <a:solidFill>
                <a:schemeClr val="tx1"/>
              </a:solidFill>
              <a:round/>
              <a:headEnd/>
              <a:tailEnd/>
            </a:ln>
          </p:spPr>
          <p:txBody>
            <a:bodyPr wrap="none" anchor="ctr"/>
            <a:lstStyle/>
            <a:p>
              <a:endParaRPr lang="en-US"/>
            </a:p>
          </p:txBody>
        </p:sp>
        <p:sp>
          <p:nvSpPr>
            <p:cNvPr id="185" name="Rectangle 184"/>
            <p:cNvSpPr/>
            <p:nvPr/>
          </p:nvSpPr>
          <p:spPr>
            <a:xfrm>
              <a:off x="6136236" y="2897584"/>
              <a:ext cx="415498" cy="369332"/>
            </a:xfrm>
            <a:prstGeom prst="rect">
              <a:avLst/>
            </a:prstGeom>
          </p:spPr>
          <p:txBody>
            <a:bodyPr wrap="none">
              <a:spAutoFit/>
            </a:bodyPr>
            <a:lstStyle/>
            <a:p>
              <a:r>
                <a:rPr lang="en-US" sz="1800" b="1" i="1" dirty="0" smtClean="0">
                  <a:solidFill>
                    <a:srgbClr val="C00000"/>
                  </a:solidFill>
                </a:rPr>
                <a:t>a</a:t>
              </a:r>
              <a:r>
                <a:rPr lang="en-US" sz="1800" b="1" dirty="0" smtClean="0">
                  <a:solidFill>
                    <a:srgbClr val="C00000"/>
                  </a:solidFill>
                </a:rPr>
                <a:t>1</a:t>
              </a:r>
              <a:endParaRPr lang="en-US" sz="1800" b="1" dirty="0">
                <a:solidFill>
                  <a:srgbClr val="C00000"/>
                </a:solidFill>
              </a:endParaRPr>
            </a:p>
          </p:txBody>
        </p:sp>
        <p:sp>
          <p:nvSpPr>
            <p:cNvPr id="186" name="Rectangle 185"/>
            <p:cNvSpPr/>
            <p:nvPr/>
          </p:nvSpPr>
          <p:spPr>
            <a:xfrm>
              <a:off x="6918223" y="2420398"/>
              <a:ext cx="415498" cy="369332"/>
            </a:xfrm>
            <a:prstGeom prst="rect">
              <a:avLst/>
            </a:prstGeom>
          </p:spPr>
          <p:txBody>
            <a:bodyPr wrap="none">
              <a:spAutoFit/>
            </a:bodyPr>
            <a:lstStyle/>
            <a:p>
              <a:r>
                <a:rPr lang="en-US" sz="1800" b="1" i="1" dirty="0" smtClean="0">
                  <a:solidFill>
                    <a:srgbClr val="C00000"/>
                  </a:solidFill>
                </a:rPr>
                <a:t>a</a:t>
              </a:r>
              <a:r>
                <a:rPr lang="en-US" sz="1800" b="1" dirty="0" smtClean="0">
                  <a:solidFill>
                    <a:srgbClr val="C00000"/>
                  </a:solidFill>
                </a:rPr>
                <a:t>2</a:t>
              </a:r>
              <a:endParaRPr lang="en-US" sz="1800" b="1" dirty="0">
                <a:solidFill>
                  <a:srgbClr val="C00000"/>
                </a:solidFill>
              </a:endParaRPr>
            </a:p>
          </p:txBody>
        </p:sp>
      </p:grpSp>
      <p:sp>
        <p:nvSpPr>
          <p:cNvPr id="187" name="Rectangle 186"/>
          <p:cNvSpPr/>
          <p:nvPr/>
        </p:nvSpPr>
        <p:spPr>
          <a:xfrm>
            <a:off x="364251" y="4272677"/>
            <a:ext cx="8524916" cy="2862322"/>
          </a:xfrm>
          <a:prstGeom prst="rect">
            <a:avLst/>
          </a:prstGeom>
        </p:spPr>
        <p:txBody>
          <a:bodyPr wrap="square">
            <a:spAutoFit/>
          </a:bodyPr>
          <a:lstStyle/>
          <a:p>
            <a:pPr marL="457200" indent="-457200">
              <a:buFont typeface="Wingdings" pitchFamily="2" charset="2"/>
              <a:buChar char="v"/>
            </a:pPr>
            <a:r>
              <a:rPr lang="en-US" sz="1800" b="1" dirty="0" smtClean="0">
                <a:solidFill>
                  <a:srgbClr val="0070C0"/>
                </a:solidFill>
              </a:rPr>
              <a:t>Two operation of mirror symmetry bring back object to the original position.</a:t>
            </a:r>
          </a:p>
          <a:p>
            <a:pPr marL="457200" indent="-457200">
              <a:buFont typeface="Wingdings" pitchFamily="2" charset="2"/>
              <a:buChar char="v"/>
            </a:pPr>
            <a:r>
              <a:rPr lang="en-US" sz="1800" b="1" dirty="0" smtClean="0">
                <a:solidFill>
                  <a:srgbClr val="FF0000"/>
                </a:solidFill>
              </a:rPr>
              <a:t>Two successive glide operation moves the object to next unit cell.</a:t>
            </a:r>
          </a:p>
          <a:p>
            <a:pPr marL="457200" indent="-457200">
              <a:buFont typeface="Wingdings" pitchFamily="2" charset="2"/>
              <a:buChar char="v"/>
            </a:pPr>
            <a:r>
              <a:rPr lang="en-US" sz="1800" b="1" dirty="0" smtClean="0">
                <a:solidFill>
                  <a:srgbClr val="7030A0"/>
                </a:solidFill>
              </a:rPr>
              <a:t>Similar is the case of screw operations.</a:t>
            </a:r>
          </a:p>
          <a:p>
            <a:pPr marL="457200" indent="-457200">
              <a:buFont typeface="Wingdings" pitchFamily="2" charset="2"/>
              <a:buChar char="v"/>
            </a:pPr>
            <a:r>
              <a:rPr lang="en-US" sz="1800" b="1" dirty="0" smtClean="0">
                <a:solidFill>
                  <a:srgbClr val="669900"/>
                </a:solidFill>
              </a:rPr>
              <a:t>Successive operation of internal symmetry elements on any object gives rise to an extended pattern.</a:t>
            </a:r>
          </a:p>
          <a:p>
            <a:pPr marL="457200" indent="-457200">
              <a:buFont typeface="Wingdings" pitchFamily="2" charset="2"/>
              <a:buChar char="v"/>
            </a:pPr>
            <a:r>
              <a:rPr lang="en-US" sz="1800" b="1" dirty="0" smtClean="0">
                <a:solidFill>
                  <a:srgbClr val="0070C0"/>
                </a:solidFill>
              </a:rPr>
              <a:t>Whereas  successive operation of external symmetry elements on any object gives rise to limited number of objects and therefore do not lead to an extended pattern: an object is repeated inside the same unit cell as a result of repeated operations of external symmetry elements.</a:t>
            </a:r>
          </a:p>
          <a:p>
            <a:pPr marL="457200" indent="-457200">
              <a:buFont typeface="Wingdings" pitchFamily="2" charset="2"/>
              <a:buChar char="v"/>
            </a:pPr>
            <a:endParaRPr lang="en-US" sz="1800"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3"/>
          <p:cNvPicPr>
            <a:picLocks noChangeAspect="1" noChangeArrowheads="1"/>
          </p:cNvPicPr>
          <p:nvPr/>
        </p:nvPicPr>
        <p:blipFill>
          <a:blip r:embed="rId2" cstate="print"/>
          <a:srcRect/>
          <a:stretch>
            <a:fillRect/>
          </a:stretch>
        </p:blipFill>
        <p:spPr bwMode="auto">
          <a:xfrm>
            <a:off x="381001" y="990600"/>
            <a:ext cx="8229600" cy="4754339"/>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68FD7D93-B8F3-48B9-AAAC-7B51B33759BA}" type="slidenum">
              <a:rPr lang="en-US" smtClean="0"/>
              <a:pPr>
                <a:defRPr/>
              </a:pPr>
              <a:t>66</a:t>
            </a:fld>
            <a:endParaRPr lang="en-US"/>
          </a:p>
        </p:txBody>
      </p:sp>
      <p:sp>
        <p:nvSpPr>
          <p:cNvPr id="5" name="Text Box 4"/>
          <p:cNvSpPr txBox="1">
            <a:spLocks noChangeArrowheads="1"/>
          </p:cNvSpPr>
          <p:nvPr/>
        </p:nvSpPr>
        <p:spPr bwMode="auto">
          <a:xfrm>
            <a:off x="457200" y="914400"/>
            <a:ext cx="2971800" cy="457200"/>
          </a:xfrm>
          <a:prstGeom prst="rect">
            <a:avLst/>
          </a:prstGeom>
          <a:noFill/>
          <a:ln w="9525">
            <a:noFill/>
            <a:miter lim="800000"/>
            <a:headEnd/>
            <a:tailEnd/>
          </a:ln>
          <a:effectLst/>
        </p:spPr>
        <p:txBody>
          <a:bodyPr wrap="square">
            <a:spAutoFit/>
          </a:bodyPr>
          <a:lstStyle/>
          <a:p>
            <a:pPr>
              <a:spcBef>
                <a:spcPct val="50000"/>
              </a:spcBef>
            </a:pPr>
            <a:r>
              <a:rPr lang="en-US" sz="2400" b="1" dirty="0" err="1">
                <a:solidFill>
                  <a:srgbClr val="003399"/>
                </a:solidFill>
              </a:rPr>
              <a:t>Paracetamol</a:t>
            </a:r>
            <a:endParaRPr lang="en-US" sz="2000" b="1" dirty="0">
              <a:solidFill>
                <a:srgbClr val="003399"/>
              </a:solidFill>
              <a:cs typeface="Times New Roman" pitchFamily="18" charset="0"/>
            </a:endParaRPr>
          </a:p>
        </p:txBody>
      </p:sp>
      <p:sp>
        <p:nvSpPr>
          <p:cNvPr id="9" name="Text Box 8"/>
          <p:cNvSpPr txBox="1">
            <a:spLocks noChangeArrowheads="1"/>
          </p:cNvSpPr>
          <p:nvPr/>
        </p:nvSpPr>
        <p:spPr bwMode="auto">
          <a:xfrm>
            <a:off x="5181600" y="1905000"/>
            <a:ext cx="2895600" cy="369332"/>
          </a:xfrm>
          <a:prstGeom prst="rect">
            <a:avLst/>
          </a:prstGeom>
          <a:noFill/>
          <a:ln w="9525">
            <a:noFill/>
            <a:miter lim="800000"/>
            <a:headEnd/>
            <a:tailEnd/>
          </a:ln>
          <a:effectLst/>
        </p:spPr>
        <p:txBody>
          <a:bodyPr>
            <a:spAutoFit/>
          </a:bodyPr>
          <a:lstStyle/>
          <a:p>
            <a:pPr>
              <a:spcBef>
                <a:spcPct val="50000"/>
              </a:spcBef>
            </a:pPr>
            <a:r>
              <a:rPr lang="en-US" b="1" dirty="0">
                <a:solidFill>
                  <a:srgbClr val="003399"/>
                </a:solidFill>
              </a:rPr>
              <a:t>Monoclinic(</a:t>
            </a:r>
            <a:r>
              <a:rPr lang="en-US" b="1" i="1" dirty="0">
                <a:solidFill>
                  <a:srgbClr val="003399"/>
                </a:solidFill>
              </a:rPr>
              <a:t>P</a:t>
            </a:r>
            <a:r>
              <a:rPr lang="en-US" b="1" dirty="0">
                <a:solidFill>
                  <a:srgbClr val="003399"/>
                </a:solidFill>
              </a:rPr>
              <a:t>2</a:t>
            </a:r>
            <a:r>
              <a:rPr lang="en-US" b="1" baseline="-25000" dirty="0">
                <a:solidFill>
                  <a:srgbClr val="003399"/>
                </a:solidFill>
              </a:rPr>
              <a:t>1</a:t>
            </a:r>
            <a:r>
              <a:rPr lang="en-US" b="1" dirty="0">
                <a:solidFill>
                  <a:srgbClr val="003399"/>
                </a:solidFill>
              </a:rPr>
              <a:t>/</a:t>
            </a:r>
            <a:r>
              <a:rPr lang="en-US" b="1" i="1" dirty="0">
                <a:solidFill>
                  <a:srgbClr val="003399"/>
                </a:solidFill>
              </a:rPr>
              <a:t>c</a:t>
            </a:r>
            <a:r>
              <a:rPr lang="en-US" b="1" dirty="0">
                <a:solidFill>
                  <a:srgbClr val="003399"/>
                </a:solidFill>
              </a:rPr>
              <a:t>)</a:t>
            </a:r>
          </a:p>
        </p:txBody>
      </p:sp>
      <p:sp>
        <p:nvSpPr>
          <p:cNvPr id="10" name="Text Box 9"/>
          <p:cNvSpPr txBox="1">
            <a:spLocks noChangeArrowheads="1"/>
          </p:cNvSpPr>
          <p:nvPr/>
        </p:nvSpPr>
        <p:spPr bwMode="auto">
          <a:xfrm>
            <a:off x="609600" y="1905000"/>
            <a:ext cx="3048000" cy="369332"/>
          </a:xfrm>
          <a:prstGeom prst="rect">
            <a:avLst/>
          </a:prstGeom>
          <a:noFill/>
          <a:ln w="9525">
            <a:noFill/>
            <a:miter lim="800000"/>
            <a:headEnd/>
            <a:tailEnd/>
          </a:ln>
          <a:effectLst/>
        </p:spPr>
        <p:txBody>
          <a:bodyPr>
            <a:spAutoFit/>
          </a:bodyPr>
          <a:lstStyle/>
          <a:p>
            <a:pPr>
              <a:spcBef>
                <a:spcPct val="50000"/>
              </a:spcBef>
            </a:pPr>
            <a:r>
              <a:rPr lang="en-US" b="1" dirty="0">
                <a:solidFill>
                  <a:srgbClr val="003399"/>
                </a:solidFill>
              </a:rPr>
              <a:t>Orthorhombic (</a:t>
            </a:r>
            <a:r>
              <a:rPr lang="en-US" b="1" i="1" dirty="0" err="1">
                <a:solidFill>
                  <a:srgbClr val="003399"/>
                </a:solidFill>
              </a:rPr>
              <a:t>Pbca</a:t>
            </a:r>
            <a:r>
              <a:rPr lang="en-US" b="1" dirty="0">
                <a:solidFill>
                  <a:srgbClr val="003399"/>
                </a:solidFill>
              </a:rPr>
              <a:t>)</a:t>
            </a:r>
          </a:p>
        </p:txBody>
      </p:sp>
      <p:sp>
        <p:nvSpPr>
          <p:cNvPr id="11" name="Text Box 10"/>
          <p:cNvSpPr txBox="1">
            <a:spLocks noChangeArrowheads="1"/>
          </p:cNvSpPr>
          <p:nvPr/>
        </p:nvSpPr>
        <p:spPr bwMode="auto">
          <a:xfrm>
            <a:off x="2743200" y="5943600"/>
            <a:ext cx="3276600" cy="366712"/>
          </a:xfrm>
          <a:prstGeom prst="rect">
            <a:avLst/>
          </a:prstGeom>
          <a:noFill/>
          <a:ln w="9525">
            <a:noFill/>
            <a:miter lim="800000"/>
            <a:headEnd/>
            <a:tailEnd/>
          </a:ln>
          <a:effectLst/>
        </p:spPr>
        <p:txBody>
          <a:bodyPr>
            <a:spAutoFit/>
          </a:bodyPr>
          <a:lstStyle/>
          <a:p>
            <a:pPr algn="ctr">
              <a:spcBef>
                <a:spcPct val="50000"/>
              </a:spcBef>
            </a:pPr>
            <a:r>
              <a:rPr lang="en-US" sz="1800" b="1" i="1" dirty="0">
                <a:solidFill>
                  <a:schemeClr val="accent2"/>
                </a:solidFill>
                <a:cs typeface="Times New Roman" pitchFamily="18" charset="0"/>
              </a:rPr>
              <a:t>J. Pharm. Sci</a:t>
            </a:r>
            <a:r>
              <a:rPr lang="en-US" sz="1800" b="1" dirty="0">
                <a:solidFill>
                  <a:schemeClr val="accent2"/>
                </a:solidFill>
                <a:cs typeface="Times New Roman" pitchFamily="18" charset="0"/>
              </a:rPr>
              <a:t>., 1983, 72, 232</a:t>
            </a:r>
          </a:p>
        </p:txBody>
      </p:sp>
      <p:sp>
        <p:nvSpPr>
          <p:cNvPr id="12" name="Text Box 11"/>
          <p:cNvSpPr txBox="1">
            <a:spLocks noChangeArrowheads="1"/>
          </p:cNvSpPr>
          <p:nvPr/>
        </p:nvSpPr>
        <p:spPr bwMode="auto">
          <a:xfrm>
            <a:off x="2514600" y="228600"/>
            <a:ext cx="4572000" cy="519112"/>
          </a:xfrm>
          <a:prstGeom prst="rect">
            <a:avLst/>
          </a:prstGeom>
          <a:noFill/>
          <a:ln w="9525">
            <a:noFill/>
            <a:miter lim="800000"/>
            <a:headEnd/>
            <a:tailEnd/>
          </a:ln>
          <a:effectLst/>
        </p:spPr>
        <p:txBody>
          <a:bodyPr wrap="square">
            <a:spAutoFit/>
          </a:bodyPr>
          <a:lstStyle/>
          <a:p>
            <a:pPr>
              <a:spcBef>
                <a:spcPct val="50000"/>
              </a:spcBef>
            </a:pPr>
            <a:r>
              <a:rPr lang="en-US" sz="2800" b="1" dirty="0">
                <a:solidFill>
                  <a:srgbClr val="C00000"/>
                </a:solidFill>
              </a:rPr>
              <a:t>Packing Polymorph</a:t>
            </a:r>
          </a:p>
        </p:txBody>
      </p:sp>
      <p:pic>
        <p:nvPicPr>
          <p:cNvPr id="13" name="Picture 13" descr="C:\Documents and Settings\Administrator\Desktop\HXACAN13.bmp"/>
          <p:cNvPicPr>
            <a:picLocks noChangeAspect="1" noChangeArrowheads="1"/>
          </p:cNvPicPr>
          <p:nvPr/>
        </p:nvPicPr>
        <p:blipFill>
          <a:blip r:embed="rId3" cstate="print"/>
          <a:srcRect/>
          <a:stretch>
            <a:fillRect/>
          </a:stretch>
        </p:blipFill>
        <p:spPr bwMode="auto">
          <a:xfrm>
            <a:off x="6096000" y="762000"/>
            <a:ext cx="2362200" cy="862013"/>
          </a:xfrm>
          <a:prstGeom prst="rect">
            <a:avLst/>
          </a:prstGeom>
          <a:noFill/>
        </p:spPr>
      </p:pic>
      <p:sp>
        <p:nvSpPr>
          <p:cNvPr id="14" name="Text Box 14"/>
          <p:cNvSpPr txBox="1">
            <a:spLocks noChangeArrowheads="1"/>
          </p:cNvSpPr>
          <p:nvPr/>
        </p:nvSpPr>
        <p:spPr bwMode="auto">
          <a:xfrm>
            <a:off x="136525" y="2373313"/>
            <a:ext cx="184150" cy="304800"/>
          </a:xfrm>
          <a:prstGeom prst="rect">
            <a:avLst/>
          </a:prstGeom>
          <a:noFill/>
          <a:ln w="9525">
            <a:noFill/>
            <a:miter lim="800000"/>
            <a:headEnd/>
            <a:tailEnd/>
          </a:ln>
          <a:effectLst/>
        </p:spPr>
        <p:txBody>
          <a:bodyPr wrap="none">
            <a:spAutoFit/>
          </a:bodyPr>
          <a:lstStyle/>
          <a:p>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82534" y="509664"/>
            <a:ext cx="2753959" cy="646331"/>
          </a:xfrm>
          <a:prstGeom prst="rect">
            <a:avLst/>
          </a:prstGeom>
        </p:spPr>
        <p:txBody>
          <a:bodyPr wrap="none">
            <a:spAutoFit/>
          </a:bodyPr>
          <a:lstStyle/>
          <a:p>
            <a:r>
              <a:rPr lang="en-US" sz="3600" b="1" dirty="0" smtClean="0">
                <a:solidFill>
                  <a:srgbClr val="C00000"/>
                </a:solidFill>
                <a:effectLst>
                  <a:outerShdw blurRad="38100" dist="38100" dir="2700000" algn="tl">
                    <a:srgbClr val="000000">
                      <a:alpha val="43137"/>
                    </a:srgbClr>
                  </a:outerShdw>
                </a:effectLst>
              </a:rPr>
              <a:t>Space Group</a:t>
            </a:r>
            <a:endParaRPr lang="en-US" sz="3600" b="1" dirty="0">
              <a:solidFill>
                <a:srgbClr val="C00000"/>
              </a:solidFill>
              <a:effectLst>
                <a:outerShdw blurRad="38100" dist="38100" dir="2700000" algn="tl">
                  <a:srgbClr val="000000">
                    <a:alpha val="43137"/>
                  </a:srgbClr>
                </a:outerShdw>
              </a:effectLst>
            </a:endParaRPr>
          </a:p>
        </p:txBody>
      </p:sp>
      <p:sp>
        <p:nvSpPr>
          <p:cNvPr id="187" name="Rectangle 186"/>
          <p:cNvSpPr/>
          <p:nvPr/>
        </p:nvSpPr>
        <p:spPr>
          <a:xfrm>
            <a:off x="289300" y="1226327"/>
            <a:ext cx="8524916" cy="4998163"/>
          </a:xfrm>
          <a:prstGeom prst="rect">
            <a:avLst/>
          </a:prstGeom>
        </p:spPr>
        <p:txBody>
          <a:bodyPr wrap="square">
            <a:spAutoFit/>
          </a:bodyPr>
          <a:lstStyle/>
          <a:p>
            <a:pPr marL="457200" indent="-457200" algn="just">
              <a:lnSpc>
                <a:spcPct val="114000"/>
              </a:lnSpc>
              <a:spcBef>
                <a:spcPts val="600"/>
              </a:spcBef>
              <a:spcAft>
                <a:spcPts val="600"/>
              </a:spcAft>
              <a:buFont typeface="Wingdings" pitchFamily="2" charset="2"/>
              <a:buChar char="v"/>
            </a:pPr>
            <a:r>
              <a:rPr lang="en-US" b="1" dirty="0" smtClean="0">
                <a:solidFill>
                  <a:srgbClr val="0070C0"/>
                </a:solidFill>
              </a:rPr>
              <a:t>We know that the external symmetry elements such as </a:t>
            </a:r>
            <a:r>
              <a:rPr lang="en-US" b="1" dirty="0" smtClean="0">
                <a:solidFill>
                  <a:srgbClr val="FF0000"/>
                </a:solidFill>
              </a:rPr>
              <a:t>rotation</a:t>
            </a:r>
            <a:r>
              <a:rPr lang="en-US" b="1" dirty="0" smtClean="0">
                <a:solidFill>
                  <a:srgbClr val="0070C0"/>
                </a:solidFill>
              </a:rPr>
              <a:t>,</a:t>
            </a:r>
            <a:r>
              <a:rPr lang="en-US" b="1" dirty="0" smtClean="0">
                <a:solidFill>
                  <a:srgbClr val="FF0000"/>
                </a:solidFill>
              </a:rPr>
              <a:t> refection </a:t>
            </a:r>
            <a:r>
              <a:rPr lang="en-US" b="1" dirty="0" smtClean="0">
                <a:solidFill>
                  <a:srgbClr val="0070C0"/>
                </a:solidFill>
              </a:rPr>
              <a:t>and</a:t>
            </a:r>
            <a:r>
              <a:rPr lang="en-US" b="1" dirty="0" smtClean="0">
                <a:solidFill>
                  <a:srgbClr val="FF0000"/>
                </a:solidFill>
              </a:rPr>
              <a:t> mirror </a:t>
            </a:r>
            <a:r>
              <a:rPr lang="en-US" b="1" dirty="0" smtClean="0">
                <a:solidFill>
                  <a:srgbClr val="0070C0"/>
                </a:solidFill>
              </a:rPr>
              <a:t>gives rise to </a:t>
            </a:r>
            <a:r>
              <a:rPr lang="en-US" b="1" dirty="0" smtClean="0">
                <a:solidFill>
                  <a:srgbClr val="FF0000"/>
                </a:solidFill>
              </a:rPr>
              <a:t>32</a:t>
            </a:r>
            <a:r>
              <a:rPr lang="en-US" b="1" dirty="0" smtClean="0">
                <a:solidFill>
                  <a:srgbClr val="0070C0"/>
                </a:solidFill>
              </a:rPr>
              <a:t> point groups.</a:t>
            </a:r>
          </a:p>
          <a:p>
            <a:pPr marL="457200" indent="-457200" algn="just">
              <a:lnSpc>
                <a:spcPct val="114000"/>
              </a:lnSpc>
              <a:spcBef>
                <a:spcPts val="600"/>
              </a:spcBef>
              <a:spcAft>
                <a:spcPts val="600"/>
              </a:spcAft>
              <a:buFont typeface="Wingdings" pitchFamily="2" charset="2"/>
              <a:buChar char="v"/>
            </a:pPr>
            <a:r>
              <a:rPr lang="en-US" b="1" dirty="0" smtClean="0">
                <a:solidFill>
                  <a:srgbClr val="0070C0"/>
                </a:solidFill>
              </a:rPr>
              <a:t>The combination of these symmetries with lattice translation including </a:t>
            </a:r>
            <a:r>
              <a:rPr lang="en-US" b="1" dirty="0" smtClean="0">
                <a:solidFill>
                  <a:srgbClr val="00B050"/>
                </a:solidFill>
              </a:rPr>
              <a:t>glide line</a:t>
            </a:r>
            <a:r>
              <a:rPr lang="en-US" b="1" dirty="0" smtClean="0">
                <a:solidFill>
                  <a:srgbClr val="0070C0"/>
                </a:solidFill>
              </a:rPr>
              <a:t> gives rise to extended pattern in </a:t>
            </a:r>
            <a:r>
              <a:rPr lang="en-US" b="1" dirty="0" smtClean="0">
                <a:solidFill>
                  <a:srgbClr val="FF0000"/>
                </a:solidFill>
              </a:rPr>
              <a:t>2D </a:t>
            </a:r>
            <a:r>
              <a:rPr lang="en-US" b="1" dirty="0" smtClean="0">
                <a:solidFill>
                  <a:srgbClr val="0070C0"/>
                </a:solidFill>
              </a:rPr>
              <a:t>led to </a:t>
            </a:r>
            <a:r>
              <a:rPr lang="en-US" b="1" dirty="0" smtClean="0">
                <a:solidFill>
                  <a:srgbClr val="FF0000"/>
                </a:solidFill>
              </a:rPr>
              <a:t>17 </a:t>
            </a:r>
            <a:r>
              <a:rPr lang="en-US" b="1" dirty="0" smtClean="0">
                <a:solidFill>
                  <a:srgbClr val="0070C0"/>
                </a:solidFill>
              </a:rPr>
              <a:t>plane groups.</a:t>
            </a:r>
          </a:p>
          <a:p>
            <a:pPr marL="457200" indent="-457200" algn="just">
              <a:lnSpc>
                <a:spcPct val="114000"/>
              </a:lnSpc>
              <a:spcBef>
                <a:spcPts val="600"/>
              </a:spcBef>
              <a:spcAft>
                <a:spcPts val="600"/>
              </a:spcAft>
              <a:buFont typeface="Wingdings" pitchFamily="2" charset="2"/>
              <a:buChar char="v"/>
            </a:pPr>
            <a:r>
              <a:rPr lang="en-US" b="1" dirty="0" smtClean="0">
                <a:solidFill>
                  <a:srgbClr val="0070C0"/>
                </a:solidFill>
              </a:rPr>
              <a:t>All possible symmetry combination which an extended pattern such as crystal can have, may be obtained by self consistent combination of </a:t>
            </a:r>
            <a:r>
              <a:rPr lang="en-US" b="1" dirty="0" smtClean="0">
                <a:solidFill>
                  <a:srgbClr val="C00000"/>
                </a:solidFill>
              </a:rPr>
              <a:t>all the symmetry elements </a:t>
            </a:r>
            <a:r>
              <a:rPr lang="en-US" b="1" dirty="0" smtClean="0">
                <a:solidFill>
                  <a:srgbClr val="0070C0"/>
                </a:solidFill>
              </a:rPr>
              <a:t>including </a:t>
            </a:r>
            <a:r>
              <a:rPr lang="en-US" b="1" dirty="0" smtClean="0">
                <a:solidFill>
                  <a:srgbClr val="669900"/>
                </a:solidFill>
              </a:rPr>
              <a:t>screw axis </a:t>
            </a:r>
            <a:r>
              <a:rPr lang="en-US" b="1" dirty="0" smtClean="0">
                <a:solidFill>
                  <a:srgbClr val="0070C0"/>
                </a:solidFill>
              </a:rPr>
              <a:t>and </a:t>
            </a:r>
            <a:r>
              <a:rPr lang="en-US" b="1" dirty="0" smtClean="0">
                <a:solidFill>
                  <a:srgbClr val="669900"/>
                </a:solidFill>
              </a:rPr>
              <a:t>glide planes </a:t>
            </a:r>
            <a:r>
              <a:rPr lang="en-US" b="1" dirty="0" smtClean="0">
                <a:solidFill>
                  <a:srgbClr val="0070C0"/>
                </a:solidFill>
              </a:rPr>
              <a:t>and their repetitions by the  space lattice translation in </a:t>
            </a:r>
            <a:r>
              <a:rPr lang="en-US" b="1" dirty="0" smtClean="0">
                <a:solidFill>
                  <a:srgbClr val="FF0000"/>
                </a:solidFill>
              </a:rPr>
              <a:t>3D</a:t>
            </a:r>
            <a:r>
              <a:rPr lang="en-US" b="1" dirty="0" smtClean="0">
                <a:solidFill>
                  <a:srgbClr val="0070C0"/>
                </a:solidFill>
              </a:rPr>
              <a:t>. Total </a:t>
            </a:r>
            <a:r>
              <a:rPr lang="en-US" b="1" dirty="0" smtClean="0">
                <a:solidFill>
                  <a:srgbClr val="669900"/>
                </a:solidFill>
              </a:rPr>
              <a:t>230</a:t>
            </a:r>
            <a:r>
              <a:rPr lang="en-US" b="1" dirty="0" smtClean="0">
                <a:solidFill>
                  <a:srgbClr val="0070C0"/>
                </a:solidFill>
              </a:rPr>
              <a:t> combinations called </a:t>
            </a:r>
            <a:r>
              <a:rPr lang="en-US" b="1" i="1" dirty="0" smtClean="0">
                <a:solidFill>
                  <a:srgbClr val="FF0000"/>
                </a:solidFill>
              </a:rPr>
              <a:t>space groups</a:t>
            </a:r>
            <a:r>
              <a:rPr lang="en-US" b="1" dirty="0" smtClean="0">
                <a:solidFill>
                  <a:srgbClr val="0070C0"/>
                </a:solidFill>
              </a:rPr>
              <a:t>.</a:t>
            </a:r>
            <a:endParaRPr lang="en-US"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00400" y="381000"/>
            <a:ext cx="2574743" cy="461665"/>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US" sz="2400" b="1" cap="none" spc="0" dirty="0" smtClean="0">
                <a:ln/>
                <a:solidFill>
                  <a:srgbClr val="FF0000"/>
                </a:solidFill>
                <a:effectLst/>
              </a:rPr>
              <a:t>32 point groups </a:t>
            </a:r>
            <a:endParaRPr lang="en-US" sz="2400" b="1" cap="none" spc="0" dirty="0">
              <a:ln/>
              <a:solidFill>
                <a:srgbClr val="FF0000"/>
              </a:solidFill>
              <a:effectLst/>
            </a:endParaRPr>
          </a:p>
        </p:txBody>
      </p:sp>
      <p:graphicFrame>
        <p:nvGraphicFramePr>
          <p:cNvPr id="5" name="Table 4"/>
          <p:cNvGraphicFramePr>
            <a:graphicFrameLocks noGrp="1"/>
          </p:cNvGraphicFramePr>
          <p:nvPr/>
        </p:nvGraphicFramePr>
        <p:xfrm>
          <a:off x="457200" y="878840"/>
          <a:ext cx="8153400" cy="5567680"/>
        </p:xfrm>
        <a:graphic>
          <a:graphicData uri="http://schemas.openxmlformats.org/drawingml/2006/table">
            <a:tbl>
              <a:tblPr firstRow="1" bandRow="1">
                <a:tableStyleId>{00A15C55-8517-42AA-B614-E9B94910E393}</a:tableStyleId>
              </a:tblPr>
              <a:tblGrid>
                <a:gridCol w="1905000"/>
                <a:gridCol w="1371600"/>
                <a:gridCol w="762000"/>
                <a:gridCol w="4114800"/>
              </a:tblGrid>
              <a:tr h="447040">
                <a:tc rowSpan="2">
                  <a:txBody>
                    <a:bodyPr/>
                    <a:lstStyle/>
                    <a:p>
                      <a:r>
                        <a:rPr lang="en-US" dirty="0" smtClean="0"/>
                        <a:t>System</a:t>
                      </a:r>
                      <a:endParaRPr lang="en-US" dirty="0"/>
                    </a:p>
                  </a:txBody>
                  <a:tcPr/>
                </a:tc>
                <a:tc gridSpan="2">
                  <a:txBody>
                    <a:bodyPr/>
                    <a:lstStyle/>
                    <a:p>
                      <a:r>
                        <a:rPr lang="en-US" dirty="0" smtClean="0"/>
                        <a:t>Class</a:t>
                      </a:r>
                      <a:endParaRPr lang="en-US" dirty="0"/>
                    </a:p>
                  </a:txBody>
                  <a:tcPr/>
                </a:tc>
                <a:tc hMerge="1">
                  <a:txBody>
                    <a:bodyPr/>
                    <a:lstStyle/>
                    <a:p>
                      <a:endParaRPr lang="en-US" dirty="0"/>
                    </a:p>
                  </a:txBody>
                  <a:tcPr/>
                </a:tc>
                <a:tc rowSpan="2">
                  <a:txBody>
                    <a:bodyPr/>
                    <a:lstStyle/>
                    <a:p>
                      <a:r>
                        <a:rPr lang="en-US" dirty="0" smtClean="0"/>
                        <a:t>Symmetry Clements</a:t>
                      </a:r>
                      <a:endParaRPr lang="en-US" dirty="0"/>
                    </a:p>
                  </a:txBody>
                  <a:tcPr/>
                </a:tc>
              </a:tr>
              <a:tr h="370840">
                <a:tc vMerge="1">
                  <a:txBody>
                    <a:bodyPr/>
                    <a:lstStyle/>
                    <a:p>
                      <a:endParaRPr lang="en-US" dirty="0"/>
                    </a:p>
                  </a:txBody>
                  <a:tcPr/>
                </a:tc>
                <a:tc>
                  <a:txBody>
                    <a:bodyPr/>
                    <a:lstStyle/>
                    <a:p>
                      <a:r>
                        <a:rPr lang="en-US" dirty="0" smtClean="0"/>
                        <a:t>H-B</a:t>
                      </a:r>
                      <a:endParaRPr lang="en-US" dirty="0"/>
                    </a:p>
                  </a:txBody>
                  <a:tcPr>
                    <a:lnR w="12700" cap="flat" cmpd="sng" algn="ctr">
                      <a:solidFill>
                        <a:schemeClr val="bg1"/>
                      </a:solidFill>
                      <a:prstDash val="solid"/>
                      <a:round/>
                      <a:headEnd type="none" w="med" len="med"/>
                      <a:tailEnd type="none" w="med" len="med"/>
                    </a:lnR>
                  </a:tcPr>
                </a:tc>
                <a:tc>
                  <a:txBody>
                    <a:bodyPr/>
                    <a:lstStyle/>
                    <a:p>
                      <a:r>
                        <a:rPr lang="en-US" dirty="0" err="1" smtClean="0">
                          <a:latin typeface="Times New Roman" pitchFamily="18" charset="0"/>
                          <a:cs typeface="Times New Roman" pitchFamily="18" charset="0"/>
                        </a:rPr>
                        <a:t>Schon</a:t>
                      </a:r>
                      <a:r>
                        <a:rPr lang="en-US" dirty="0" smtClean="0">
                          <a:latin typeface="Times New Roman" pitchFamily="18" charset="0"/>
                          <a:cs typeface="Times New Roman" pitchFamily="18" charset="0"/>
                        </a:rPr>
                        <a:t>-flies</a:t>
                      </a:r>
                      <a:endParaRPr lang="en-US" dirty="0"/>
                    </a:p>
                  </a:txBody>
                  <a:tcPr>
                    <a:lnL w="12700" cap="flat" cmpd="sng" algn="ctr">
                      <a:solidFill>
                        <a:schemeClr val="bg1"/>
                      </a:solidFill>
                      <a:prstDash val="solid"/>
                      <a:round/>
                      <a:headEnd type="none" w="med" len="med"/>
                      <a:tailEnd type="none" w="med" len="med"/>
                    </a:lnL>
                  </a:tcPr>
                </a:tc>
                <a:tc vMerge="1">
                  <a:txBody>
                    <a:bodyPr/>
                    <a:lstStyle/>
                    <a:p>
                      <a:endParaRPr lang="en-US" dirty="0"/>
                    </a:p>
                  </a:txBody>
                  <a:tcPr/>
                </a:tc>
              </a:tr>
              <a:tr h="370840">
                <a:tc>
                  <a:txBody>
                    <a:bodyPr/>
                    <a:lstStyle/>
                    <a:p>
                      <a:r>
                        <a:rPr lang="en-US" dirty="0" smtClean="0">
                          <a:solidFill>
                            <a:srgbClr val="00B050"/>
                          </a:solidFill>
                        </a:rPr>
                        <a:t>Triclinic</a:t>
                      </a:r>
                      <a:endParaRPr lang="en-US" dirty="0">
                        <a:solidFill>
                          <a:srgbClr val="00B050"/>
                        </a:solidFill>
                      </a:endParaRPr>
                    </a:p>
                  </a:txBody>
                  <a:tcPr/>
                </a:tc>
                <a:tc>
                  <a:txBody>
                    <a:bodyPr/>
                    <a:lstStyle/>
                    <a:p>
                      <a:r>
                        <a:rPr lang="en-US" dirty="0" smtClean="0">
                          <a:solidFill>
                            <a:srgbClr val="002060"/>
                          </a:solidFill>
                        </a:rPr>
                        <a:t>1</a:t>
                      </a:r>
                    </a:p>
                    <a:p>
                      <a:r>
                        <a:rPr lang="en-US" dirty="0" smtClean="0">
                          <a:solidFill>
                            <a:srgbClr val="002060"/>
                          </a:solidFill>
                        </a:rPr>
                        <a:t>1(bar)</a:t>
                      </a:r>
                      <a:endParaRPr lang="en-US" dirty="0">
                        <a:solidFill>
                          <a:srgbClr val="002060"/>
                        </a:solidFill>
                      </a:endParaRPr>
                    </a:p>
                  </a:txBody>
                  <a:tcPr>
                    <a:lnR w="12700" cap="flat" cmpd="sng" algn="ctr">
                      <a:solidFill>
                        <a:schemeClr val="bg1"/>
                      </a:solidFill>
                      <a:prstDash val="solid"/>
                      <a:round/>
                      <a:headEnd type="none" w="med" len="med"/>
                      <a:tailEnd type="none" w="med" len="med"/>
                    </a:lnR>
                  </a:tcPr>
                </a:tc>
                <a:tc>
                  <a:txBody>
                    <a:bodyPr/>
                    <a:lstStyle/>
                    <a:p>
                      <a:r>
                        <a:rPr lang="en-US" i="1" dirty="0" smtClean="0">
                          <a:solidFill>
                            <a:srgbClr val="FF0000"/>
                          </a:solidFill>
                        </a:rPr>
                        <a:t>C</a:t>
                      </a:r>
                      <a:r>
                        <a:rPr lang="en-US" baseline="-25000" dirty="0" smtClean="0">
                          <a:solidFill>
                            <a:srgbClr val="FF0000"/>
                          </a:solidFill>
                        </a:rPr>
                        <a:t>1</a:t>
                      </a:r>
                    </a:p>
                    <a:p>
                      <a:r>
                        <a:rPr lang="en-US" i="1" dirty="0" err="1" smtClean="0">
                          <a:solidFill>
                            <a:srgbClr val="FF0000"/>
                          </a:solidFill>
                        </a:rPr>
                        <a:t>C</a:t>
                      </a:r>
                      <a:r>
                        <a:rPr lang="en-US" i="1" baseline="-25000" dirty="0" err="1" smtClean="0">
                          <a:solidFill>
                            <a:srgbClr val="FF0000"/>
                          </a:solidFill>
                        </a:rPr>
                        <a:t>i</a:t>
                      </a:r>
                      <a:endParaRPr lang="en-US" i="1" baseline="-25000" dirty="0">
                        <a:solidFill>
                          <a:srgbClr val="FF0000"/>
                        </a:solidFill>
                      </a:endParaRPr>
                    </a:p>
                  </a:txBody>
                  <a:tcPr>
                    <a:lnL w="12700" cap="flat" cmpd="sng" algn="ctr">
                      <a:solidFill>
                        <a:schemeClr val="bg1"/>
                      </a:solidFill>
                      <a:prstDash val="solid"/>
                      <a:round/>
                      <a:headEnd type="none" w="med" len="med"/>
                      <a:tailEnd type="none" w="med" len="med"/>
                    </a:lnL>
                  </a:tcPr>
                </a:tc>
                <a:tc>
                  <a:txBody>
                    <a:bodyPr/>
                    <a:lstStyle/>
                    <a:p>
                      <a:r>
                        <a:rPr lang="en-US" i="1" dirty="0" smtClean="0">
                          <a:solidFill>
                            <a:schemeClr val="tx1"/>
                          </a:solidFill>
                        </a:rPr>
                        <a:t>E</a:t>
                      </a:r>
                    </a:p>
                    <a:p>
                      <a:r>
                        <a:rPr lang="en-US" i="1" dirty="0" smtClean="0">
                          <a:solidFill>
                            <a:schemeClr val="tx1"/>
                          </a:solidFill>
                        </a:rPr>
                        <a:t>E </a:t>
                      </a:r>
                      <a:r>
                        <a:rPr lang="en-US" i="1" dirty="0" err="1" smtClean="0">
                          <a:solidFill>
                            <a:schemeClr val="tx1"/>
                          </a:solidFill>
                        </a:rPr>
                        <a:t>i</a:t>
                      </a:r>
                      <a:endParaRPr lang="en-US" i="1" dirty="0">
                        <a:solidFill>
                          <a:schemeClr val="tx1"/>
                        </a:solidFill>
                      </a:endParaRPr>
                    </a:p>
                  </a:txBody>
                  <a:tcPr/>
                </a:tc>
              </a:tr>
              <a:tr h="370840">
                <a:tc>
                  <a:txBody>
                    <a:bodyPr/>
                    <a:lstStyle/>
                    <a:p>
                      <a:r>
                        <a:rPr lang="en-US" dirty="0" smtClean="0">
                          <a:solidFill>
                            <a:srgbClr val="00B050"/>
                          </a:solidFill>
                        </a:rPr>
                        <a:t>Monoclinic</a:t>
                      </a:r>
                      <a:endParaRPr lang="en-US" dirty="0">
                        <a:solidFill>
                          <a:srgbClr val="00B050"/>
                        </a:solidFill>
                      </a:endParaRPr>
                    </a:p>
                  </a:txBody>
                  <a:tcPr/>
                </a:tc>
                <a:tc>
                  <a:txBody>
                    <a:bodyPr/>
                    <a:lstStyle/>
                    <a:p>
                      <a:r>
                        <a:rPr lang="en-US" i="1" dirty="0" smtClean="0">
                          <a:solidFill>
                            <a:srgbClr val="002060"/>
                          </a:solidFill>
                        </a:rPr>
                        <a:t>m</a:t>
                      </a:r>
                    </a:p>
                    <a:p>
                      <a:r>
                        <a:rPr lang="en-US" dirty="0" smtClean="0">
                          <a:solidFill>
                            <a:srgbClr val="002060"/>
                          </a:solidFill>
                        </a:rPr>
                        <a:t>2</a:t>
                      </a:r>
                    </a:p>
                    <a:p>
                      <a:r>
                        <a:rPr lang="en-US" dirty="0" smtClean="0">
                          <a:solidFill>
                            <a:srgbClr val="002060"/>
                          </a:solidFill>
                        </a:rPr>
                        <a:t>2/</a:t>
                      </a:r>
                      <a:r>
                        <a:rPr lang="en-US" i="1" dirty="0" smtClean="0">
                          <a:solidFill>
                            <a:srgbClr val="002060"/>
                          </a:solidFill>
                        </a:rPr>
                        <a:t>m</a:t>
                      </a:r>
                      <a:endParaRPr lang="en-US" i="1" dirty="0">
                        <a:solidFill>
                          <a:srgbClr val="00206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i="1" baseline="-25000" dirty="0" smtClean="0">
                          <a:solidFill>
                            <a:srgbClr val="FF0000"/>
                          </a:solidFill>
                        </a:rPr>
                        <a:t>s</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i="0" baseline="-25000" dirty="0" smtClean="0">
                          <a:solidFill>
                            <a:srgbClr val="FF0000"/>
                          </a:solidFill>
                        </a:rPr>
                        <a:t>2</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i="0" baseline="-25000" dirty="0" smtClean="0">
                          <a:solidFill>
                            <a:srgbClr val="FF0000"/>
                          </a:solidFill>
                        </a:rPr>
                        <a:t>2</a:t>
                      </a:r>
                      <a:r>
                        <a:rPr lang="en-US" i="1" baseline="-25000" dirty="0" smtClean="0">
                          <a:solidFill>
                            <a:srgbClr val="FF0000"/>
                          </a:solidFill>
                        </a:rPr>
                        <a:t>h</a:t>
                      </a:r>
                      <a:endParaRPr lang="en-US"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 </a:t>
                      </a:r>
                      <a:r>
                        <a:rPr lang="en-US" i="1" dirty="0" smtClean="0">
                          <a:solidFill>
                            <a:schemeClr val="tx1"/>
                          </a:solidFill>
                          <a:sym typeface="Symbol"/>
                        </a:rPr>
                        <a:t></a:t>
                      </a:r>
                      <a:r>
                        <a:rPr lang="en-US" i="1" baseline="-25000" dirty="0" smtClean="0">
                          <a:solidFill>
                            <a:schemeClr val="tx1"/>
                          </a:solidFill>
                        </a:rPr>
                        <a:t>h</a:t>
                      </a:r>
                      <a:endParaRPr lang="en-US" i="1" dirty="0" smtClean="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 C</a:t>
                      </a:r>
                      <a:r>
                        <a:rPr lang="en-US" i="0" baseline="-25000" dirty="0" smtClean="0">
                          <a:solidFill>
                            <a:schemeClr val="tx1"/>
                          </a:solidFill>
                        </a:rPr>
                        <a:t>2</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 C</a:t>
                      </a:r>
                      <a:r>
                        <a:rPr lang="en-US" i="0" baseline="-25000" dirty="0" smtClean="0">
                          <a:solidFill>
                            <a:schemeClr val="tx1"/>
                          </a:solidFill>
                        </a:rPr>
                        <a:t>2 </a:t>
                      </a:r>
                      <a:r>
                        <a:rPr lang="en-US" i="1" dirty="0" smtClean="0">
                          <a:solidFill>
                            <a:schemeClr val="tx1"/>
                          </a:solidFill>
                        </a:rPr>
                        <a:t> </a:t>
                      </a:r>
                      <a:r>
                        <a:rPr lang="en-US" i="1" dirty="0" smtClean="0">
                          <a:solidFill>
                            <a:schemeClr val="tx1"/>
                          </a:solidFill>
                          <a:sym typeface="Symbol"/>
                        </a:rPr>
                        <a:t></a:t>
                      </a:r>
                      <a:r>
                        <a:rPr lang="en-US" i="1" baseline="-25000" dirty="0" smtClean="0">
                          <a:solidFill>
                            <a:schemeClr val="tx1"/>
                          </a:solidFill>
                        </a:rPr>
                        <a:t>h</a:t>
                      </a:r>
                      <a:endParaRPr lang="en-US" dirty="0">
                        <a:solidFill>
                          <a:schemeClr val="tx1"/>
                        </a:solidFill>
                      </a:endParaRPr>
                    </a:p>
                  </a:txBody>
                  <a:tcPr/>
                </a:tc>
              </a:tr>
              <a:tr h="370840">
                <a:tc>
                  <a:txBody>
                    <a:bodyPr/>
                    <a:lstStyle/>
                    <a:p>
                      <a:r>
                        <a:rPr lang="en-US" dirty="0" smtClean="0">
                          <a:solidFill>
                            <a:srgbClr val="00B050"/>
                          </a:solidFill>
                        </a:rPr>
                        <a:t>Orthorhombic</a:t>
                      </a:r>
                      <a:endParaRPr lang="en-US" dirty="0">
                        <a:solidFill>
                          <a:srgbClr val="00B050"/>
                        </a:solidFill>
                      </a:endParaRPr>
                    </a:p>
                  </a:txBody>
                  <a:tcPr/>
                </a:tc>
                <a:tc>
                  <a:txBody>
                    <a:bodyPr/>
                    <a:lstStyle/>
                    <a:p>
                      <a:r>
                        <a:rPr lang="en-US" dirty="0" smtClean="0">
                          <a:solidFill>
                            <a:srgbClr val="002060"/>
                          </a:solidFill>
                        </a:rPr>
                        <a:t>2</a:t>
                      </a:r>
                      <a:r>
                        <a:rPr lang="en-US" i="1" dirty="0" smtClean="0">
                          <a:solidFill>
                            <a:srgbClr val="002060"/>
                          </a:solidFill>
                        </a:rPr>
                        <a:t>mm</a:t>
                      </a:r>
                    </a:p>
                    <a:p>
                      <a:r>
                        <a:rPr lang="en-US" dirty="0" smtClean="0">
                          <a:solidFill>
                            <a:srgbClr val="002060"/>
                          </a:solidFill>
                        </a:rPr>
                        <a:t>222</a:t>
                      </a:r>
                    </a:p>
                    <a:p>
                      <a:r>
                        <a:rPr lang="en-US" i="1" dirty="0" err="1" smtClean="0">
                          <a:solidFill>
                            <a:srgbClr val="002060"/>
                          </a:solidFill>
                        </a:rPr>
                        <a:t>mmm</a:t>
                      </a:r>
                      <a:endParaRPr lang="en-US" i="1" dirty="0">
                        <a:solidFill>
                          <a:srgbClr val="002060"/>
                        </a:solidFill>
                      </a:endParaRPr>
                    </a:p>
                  </a:txBody>
                  <a:tcPr/>
                </a:tc>
                <a:tc>
                  <a:txBody>
                    <a:bodyPr/>
                    <a:lstStyle/>
                    <a:p>
                      <a:r>
                        <a:rPr lang="en-US" dirty="0" smtClean="0">
                          <a:solidFill>
                            <a:srgbClr val="FF0000"/>
                          </a:solidFill>
                        </a:rPr>
                        <a:t>C</a:t>
                      </a:r>
                      <a:r>
                        <a:rPr lang="en-US" baseline="-25000" dirty="0" smtClean="0">
                          <a:solidFill>
                            <a:srgbClr val="FF0000"/>
                          </a:solidFill>
                        </a:rPr>
                        <a:t>2</a:t>
                      </a:r>
                      <a:r>
                        <a:rPr lang="en-US" i="1" baseline="-25000" dirty="0" smtClean="0">
                          <a:solidFill>
                            <a:srgbClr val="FF0000"/>
                          </a:solidFill>
                        </a:rPr>
                        <a:t>v</a:t>
                      </a:r>
                    </a:p>
                    <a:p>
                      <a:r>
                        <a:rPr lang="en-US" i="1" baseline="0" dirty="0" smtClean="0">
                          <a:solidFill>
                            <a:srgbClr val="FF0000"/>
                          </a:solidFill>
                        </a:rPr>
                        <a:t>D</a:t>
                      </a:r>
                      <a:r>
                        <a:rPr lang="en-US" i="1" baseline="-25000" dirty="0" smtClean="0">
                          <a:solidFill>
                            <a:srgbClr val="FF0000"/>
                          </a:solidFill>
                        </a:rPr>
                        <a:t>2</a:t>
                      </a:r>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solidFill>
                            <a:srgbClr val="FF0000"/>
                          </a:solidFill>
                        </a:rPr>
                        <a:t>D</a:t>
                      </a:r>
                      <a:r>
                        <a:rPr lang="en-US" i="1" baseline="-25000" dirty="0" smtClean="0">
                          <a:solidFill>
                            <a:srgbClr val="FF0000"/>
                          </a:solidFill>
                        </a:rPr>
                        <a:t>2h</a:t>
                      </a:r>
                      <a:endParaRPr lang="en-US" i="1" baseline="0" dirty="0">
                        <a:solidFill>
                          <a:srgbClr val="FF0000"/>
                        </a:solidFill>
                      </a:endParaRPr>
                    </a:p>
                  </a:txBody>
                  <a:tcPr/>
                </a:tc>
                <a:tc>
                  <a:txBody>
                    <a:bodyPr/>
                    <a:lstStyle/>
                    <a:p>
                      <a:r>
                        <a:rPr lang="en-US" i="1" dirty="0" smtClean="0">
                          <a:solidFill>
                            <a:schemeClr val="tx1"/>
                          </a:solidFill>
                        </a:rPr>
                        <a:t>E C</a:t>
                      </a:r>
                      <a:r>
                        <a:rPr lang="en-US" i="0" baseline="-25000" dirty="0" smtClean="0">
                          <a:solidFill>
                            <a:schemeClr val="tx1"/>
                          </a:solidFill>
                        </a:rPr>
                        <a:t>2 </a:t>
                      </a:r>
                      <a:r>
                        <a:rPr lang="en-US" i="1" dirty="0" smtClean="0">
                          <a:solidFill>
                            <a:schemeClr val="tx1"/>
                          </a:solidFill>
                          <a:sym typeface="Symbol"/>
                        </a:rPr>
                        <a:t>’</a:t>
                      </a:r>
                      <a:r>
                        <a:rPr lang="en-US" i="1" baseline="-25000" dirty="0" smtClean="0">
                          <a:solidFill>
                            <a:schemeClr val="tx1"/>
                          </a:solidFill>
                        </a:rPr>
                        <a:t>V </a:t>
                      </a:r>
                      <a:r>
                        <a:rPr lang="en-US" i="1" dirty="0" smtClean="0">
                          <a:solidFill>
                            <a:schemeClr val="tx1"/>
                          </a:solidFill>
                          <a:sym typeface="Symbol"/>
                        </a:rPr>
                        <a:t>”</a:t>
                      </a:r>
                      <a:r>
                        <a:rPr lang="en-US" i="1" baseline="-25000" dirty="0" smtClean="0">
                          <a:solidFill>
                            <a:schemeClr val="tx1"/>
                          </a:solidFill>
                        </a:rPr>
                        <a:t>V</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 C</a:t>
                      </a:r>
                      <a:r>
                        <a:rPr lang="en-US" i="0" baseline="-25000" dirty="0" smtClean="0">
                          <a:solidFill>
                            <a:schemeClr val="tx1"/>
                          </a:solidFill>
                        </a:rPr>
                        <a:t>2 </a:t>
                      </a:r>
                      <a:r>
                        <a:rPr lang="en-US" i="1" dirty="0" smtClean="0">
                          <a:solidFill>
                            <a:schemeClr val="tx1"/>
                          </a:solidFill>
                        </a:rPr>
                        <a:t>C’</a:t>
                      </a:r>
                      <a:r>
                        <a:rPr lang="en-US" i="0" baseline="-25000" dirty="0" smtClean="0">
                          <a:solidFill>
                            <a:schemeClr val="tx1"/>
                          </a:solidFill>
                        </a:rPr>
                        <a:t>2 </a:t>
                      </a:r>
                      <a:r>
                        <a:rPr lang="en-US" i="1" dirty="0" smtClean="0">
                          <a:solidFill>
                            <a:schemeClr val="tx1"/>
                          </a:solidFill>
                        </a:rPr>
                        <a:t>C”</a:t>
                      </a:r>
                      <a:r>
                        <a:rPr lang="en-US" i="0" baseline="-25000" dirty="0" smtClean="0">
                          <a:solidFill>
                            <a:schemeClr val="tx1"/>
                          </a:solidFill>
                        </a:rPr>
                        <a:t>2</a:t>
                      </a:r>
                      <a:endParaRPr lang="en-US" dirty="0" smtClean="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 C</a:t>
                      </a:r>
                      <a:r>
                        <a:rPr lang="en-US" i="0" baseline="-25000" dirty="0" smtClean="0">
                          <a:solidFill>
                            <a:schemeClr val="tx1"/>
                          </a:solidFill>
                        </a:rPr>
                        <a:t>2 </a:t>
                      </a:r>
                      <a:r>
                        <a:rPr lang="en-US" i="1" dirty="0" smtClean="0">
                          <a:solidFill>
                            <a:schemeClr val="tx1"/>
                          </a:solidFill>
                        </a:rPr>
                        <a:t>C’</a:t>
                      </a:r>
                      <a:r>
                        <a:rPr lang="en-US" i="0" baseline="-25000" dirty="0" smtClean="0">
                          <a:solidFill>
                            <a:schemeClr val="tx1"/>
                          </a:solidFill>
                        </a:rPr>
                        <a:t>2 </a:t>
                      </a:r>
                      <a:r>
                        <a:rPr lang="en-US" i="1" dirty="0" smtClean="0">
                          <a:solidFill>
                            <a:schemeClr val="tx1"/>
                          </a:solidFill>
                        </a:rPr>
                        <a:t>C”</a:t>
                      </a:r>
                      <a:r>
                        <a:rPr lang="en-US" i="0" baseline="-25000" dirty="0" smtClean="0">
                          <a:solidFill>
                            <a:schemeClr val="tx1"/>
                          </a:solidFill>
                        </a:rPr>
                        <a:t>2 </a:t>
                      </a:r>
                      <a:r>
                        <a:rPr lang="en-US" i="1" baseline="0" dirty="0" err="1" smtClean="0">
                          <a:solidFill>
                            <a:schemeClr val="tx1"/>
                          </a:solidFill>
                        </a:rPr>
                        <a:t>i</a:t>
                      </a:r>
                      <a:r>
                        <a:rPr lang="en-US" i="1" baseline="0" dirty="0" smtClean="0">
                          <a:solidFill>
                            <a:schemeClr val="tx1"/>
                          </a:solidFill>
                        </a:rPr>
                        <a:t> </a:t>
                      </a:r>
                      <a:r>
                        <a:rPr lang="en-US" i="1" dirty="0" smtClean="0">
                          <a:solidFill>
                            <a:schemeClr val="tx1"/>
                          </a:solidFill>
                          <a:sym typeface="Symbol"/>
                        </a:rPr>
                        <a:t></a:t>
                      </a:r>
                      <a:r>
                        <a:rPr lang="en-US" i="1" baseline="-25000" dirty="0" smtClean="0">
                          <a:solidFill>
                            <a:schemeClr val="tx1"/>
                          </a:solidFill>
                        </a:rPr>
                        <a:t>h </a:t>
                      </a:r>
                      <a:r>
                        <a:rPr lang="en-US" i="1" dirty="0" smtClean="0">
                          <a:solidFill>
                            <a:schemeClr val="tx1"/>
                          </a:solidFill>
                          <a:sym typeface="Symbol"/>
                        </a:rPr>
                        <a:t>’</a:t>
                      </a:r>
                      <a:r>
                        <a:rPr lang="en-US" i="1" baseline="-25000" dirty="0" smtClean="0">
                          <a:solidFill>
                            <a:schemeClr val="tx1"/>
                          </a:solidFill>
                        </a:rPr>
                        <a:t>V </a:t>
                      </a:r>
                      <a:r>
                        <a:rPr lang="en-US" i="1" dirty="0" smtClean="0">
                          <a:solidFill>
                            <a:schemeClr val="tx1"/>
                          </a:solidFill>
                          <a:sym typeface="Symbol"/>
                        </a:rPr>
                        <a:t>”</a:t>
                      </a:r>
                      <a:r>
                        <a:rPr lang="en-US" i="1" baseline="-25000" dirty="0" smtClean="0">
                          <a:solidFill>
                            <a:schemeClr val="tx1"/>
                          </a:solidFill>
                        </a:rPr>
                        <a:t>V</a:t>
                      </a:r>
                      <a:endParaRPr lang="en-US" i="1" baseline="0" dirty="0" smtClean="0">
                        <a:solidFill>
                          <a:schemeClr val="tx1"/>
                        </a:solidFill>
                      </a:endParaRPr>
                    </a:p>
                  </a:txBody>
                  <a:tcPr/>
                </a:tc>
              </a:tr>
              <a:tr h="370840">
                <a:tc>
                  <a:txBody>
                    <a:bodyPr/>
                    <a:lstStyle/>
                    <a:p>
                      <a:r>
                        <a:rPr lang="en-US" dirty="0" smtClean="0">
                          <a:solidFill>
                            <a:srgbClr val="00B050"/>
                          </a:solidFill>
                        </a:rPr>
                        <a:t>Tetragonal</a:t>
                      </a:r>
                      <a:endParaRPr lang="en-US" dirty="0">
                        <a:solidFill>
                          <a:srgbClr val="00B050"/>
                        </a:solidFill>
                      </a:endParaRPr>
                    </a:p>
                  </a:txBody>
                  <a:tcPr/>
                </a:tc>
                <a:tc>
                  <a:txBody>
                    <a:bodyPr/>
                    <a:lstStyle/>
                    <a:p>
                      <a:r>
                        <a:rPr lang="en-US" dirty="0" smtClean="0">
                          <a:solidFill>
                            <a:srgbClr val="002060"/>
                          </a:solidFill>
                        </a:rPr>
                        <a:t>4</a:t>
                      </a:r>
                    </a:p>
                    <a:p>
                      <a:r>
                        <a:rPr lang="en-US" dirty="0" smtClean="0">
                          <a:solidFill>
                            <a:srgbClr val="002060"/>
                          </a:solidFill>
                        </a:rPr>
                        <a:t>4(bar)</a:t>
                      </a:r>
                    </a:p>
                    <a:p>
                      <a:r>
                        <a:rPr lang="en-US" dirty="0" smtClean="0">
                          <a:solidFill>
                            <a:srgbClr val="002060"/>
                          </a:solidFill>
                        </a:rPr>
                        <a:t>4/</a:t>
                      </a:r>
                      <a:r>
                        <a:rPr lang="en-US" i="1" dirty="0" smtClean="0">
                          <a:solidFill>
                            <a:srgbClr val="002060"/>
                          </a:solidFill>
                        </a:rPr>
                        <a:t>m</a:t>
                      </a:r>
                    </a:p>
                    <a:p>
                      <a:r>
                        <a:rPr lang="en-US" dirty="0" smtClean="0">
                          <a:solidFill>
                            <a:srgbClr val="002060"/>
                          </a:solidFill>
                        </a:rPr>
                        <a:t>4</a:t>
                      </a:r>
                      <a:r>
                        <a:rPr lang="en-US" i="1" dirty="0" smtClean="0">
                          <a:solidFill>
                            <a:srgbClr val="002060"/>
                          </a:solidFill>
                        </a:rPr>
                        <a:t>mm</a:t>
                      </a:r>
                    </a:p>
                    <a:p>
                      <a:r>
                        <a:rPr lang="en-US" dirty="0" smtClean="0">
                          <a:solidFill>
                            <a:srgbClr val="002060"/>
                          </a:solidFill>
                        </a:rPr>
                        <a:t>4(bar)2</a:t>
                      </a:r>
                      <a:r>
                        <a:rPr lang="en-US" i="1" dirty="0" smtClean="0">
                          <a:solidFill>
                            <a:srgbClr val="002060"/>
                          </a:solidFill>
                        </a:rPr>
                        <a:t>m</a:t>
                      </a:r>
                    </a:p>
                    <a:p>
                      <a:r>
                        <a:rPr lang="en-US" dirty="0" smtClean="0">
                          <a:solidFill>
                            <a:srgbClr val="002060"/>
                          </a:solidFill>
                        </a:rPr>
                        <a:t>422</a:t>
                      </a:r>
                    </a:p>
                    <a:p>
                      <a:r>
                        <a:rPr lang="en-US" dirty="0" smtClean="0">
                          <a:solidFill>
                            <a:srgbClr val="002060"/>
                          </a:solidFill>
                        </a:rPr>
                        <a:t>4/</a:t>
                      </a:r>
                      <a:r>
                        <a:rPr lang="en-US" i="1" dirty="0" err="1" smtClean="0">
                          <a:solidFill>
                            <a:srgbClr val="002060"/>
                          </a:solidFill>
                        </a:rPr>
                        <a:t>mmm</a:t>
                      </a:r>
                      <a:endParaRPr lang="en-US" i="1" dirty="0">
                        <a:solidFill>
                          <a:srgbClr val="00206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i="0" baseline="-25000" dirty="0" smtClean="0">
                          <a:solidFill>
                            <a:srgbClr val="FF0000"/>
                          </a:solidFill>
                        </a:rPr>
                        <a:t>4</a:t>
                      </a:r>
                    </a:p>
                    <a:p>
                      <a:r>
                        <a:rPr lang="en-US" i="1" dirty="0" smtClean="0">
                          <a:solidFill>
                            <a:srgbClr val="FF0000"/>
                          </a:solidFill>
                        </a:rPr>
                        <a:t>S</a:t>
                      </a:r>
                      <a:r>
                        <a:rPr lang="en-US" baseline="-25000" dirty="0" smtClean="0">
                          <a:solidFill>
                            <a:srgbClr val="FF0000"/>
                          </a:solidFill>
                        </a:rPr>
                        <a:t>4</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i="0" baseline="-25000" dirty="0" smtClean="0">
                          <a:solidFill>
                            <a:srgbClr val="FF0000"/>
                          </a:solidFill>
                        </a:rPr>
                        <a:t>4</a:t>
                      </a:r>
                      <a:r>
                        <a:rPr lang="en-US" i="1" baseline="-25000" dirty="0" smtClean="0">
                          <a:solidFill>
                            <a:srgbClr val="FF0000"/>
                          </a:solidFill>
                        </a:rPr>
                        <a:t>h</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i="0" baseline="-25000" dirty="0" smtClean="0">
                          <a:solidFill>
                            <a:srgbClr val="FF0000"/>
                          </a:solidFill>
                        </a:rPr>
                        <a:t>4</a:t>
                      </a:r>
                      <a:r>
                        <a:rPr lang="en-US" i="1" baseline="-25000" dirty="0" smtClean="0">
                          <a:solidFill>
                            <a:srgbClr val="FF0000"/>
                          </a:solidFill>
                        </a:rPr>
                        <a:t>v</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D</a:t>
                      </a:r>
                      <a:r>
                        <a:rPr lang="en-US" i="0" baseline="-25000" dirty="0" smtClean="0">
                          <a:solidFill>
                            <a:srgbClr val="FF0000"/>
                          </a:solidFill>
                        </a:rPr>
                        <a:t>2</a:t>
                      </a:r>
                      <a:r>
                        <a:rPr lang="en-US" i="1" baseline="-25000" dirty="0" smtClean="0">
                          <a:solidFill>
                            <a:srgbClr val="FF0000"/>
                          </a:solidFill>
                        </a:rPr>
                        <a:t>d</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D</a:t>
                      </a:r>
                      <a:r>
                        <a:rPr lang="en-US" i="0" baseline="-25000" dirty="0" smtClean="0">
                          <a:solidFill>
                            <a:srgbClr val="FF0000"/>
                          </a:solidFill>
                        </a:rPr>
                        <a:t>4</a:t>
                      </a:r>
                      <a:endParaRPr lang="en-US" i="1" baseline="-25000" dirty="0" smtClean="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D</a:t>
                      </a:r>
                      <a:r>
                        <a:rPr lang="en-US" i="0" baseline="-25000" dirty="0" smtClean="0">
                          <a:solidFill>
                            <a:srgbClr val="FF0000"/>
                          </a:solidFill>
                        </a:rPr>
                        <a:t>4</a:t>
                      </a:r>
                      <a:r>
                        <a:rPr lang="en-US" i="1" baseline="-25000" dirty="0" smtClean="0">
                          <a:solidFill>
                            <a:srgbClr val="FF0000"/>
                          </a:solidFill>
                        </a:rPr>
                        <a:t>h</a:t>
                      </a:r>
                      <a:endParaRPr lang="en-US" baseline="-25000" dirty="0">
                        <a:solidFill>
                          <a:srgbClr val="FF0000"/>
                        </a:solidFill>
                      </a:endParaRPr>
                    </a:p>
                  </a:txBody>
                  <a:tcPr/>
                </a:tc>
                <a:tc>
                  <a:txBody>
                    <a:bodyPr/>
                    <a:lstStyle/>
                    <a:p>
                      <a:r>
                        <a:rPr lang="en-US" i="1" dirty="0" smtClean="0">
                          <a:solidFill>
                            <a:schemeClr val="tx1"/>
                          </a:solidFill>
                        </a:rPr>
                        <a:t>E</a:t>
                      </a:r>
                      <a:r>
                        <a:rPr lang="en-US" dirty="0" smtClean="0">
                          <a:solidFill>
                            <a:schemeClr val="tx1"/>
                          </a:solidFill>
                        </a:rPr>
                        <a:t> </a:t>
                      </a:r>
                      <a:r>
                        <a:rPr lang="en-US" i="1" dirty="0" smtClean="0">
                          <a:solidFill>
                            <a:schemeClr val="tx1"/>
                          </a:solidFill>
                        </a:rPr>
                        <a:t>C</a:t>
                      </a:r>
                      <a:r>
                        <a:rPr lang="en-US" baseline="-25000" dirty="0" smtClean="0">
                          <a:solidFill>
                            <a:schemeClr val="tx1"/>
                          </a:solidFill>
                        </a:rPr>
                        <a:t>4 </a:t>
                      </a:r>
                      <a:r>
                        <a:rPr lang="en-US" i="1" baseline="0" dirty="0" smtClean="0">
                          <a:solidFill>
                            <a:schemeClr val="tx1"/>
                          </a:solidFill>
                        </a:rPr>
                        <a:t>C</a:t>
                      </a:r>
                      <a:r>
                        <a:rPr lang="en-US" baseline="-25000" dirty="0" smtClean="0">
                          <a:solidFill>
                            <a:schemeClr val="tx1"/>
                          </a:solidFill>
                        </a:rPr>
                        <a:t>2</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a:t>
                      </a:r>
                      <a:r>
                        <a:rPr lang="en-US" dirty="0" smtClean="0">
                          <a:solidFill>
                            <a:schemeClr val="tx1"/>
                          </a:solidFill>
                        </a:rPr>
                        <a:t> </a:t>
                      </a:r>
                      <a:r>
                        <a:rPr lang="en-US" i="1" dirty="0" smtClean="0">
                          <a:solidFill>
                            <a:schemeClr val="tx1"/>
                          </a:solidFill>
                        </a:rPr>
                        <a:t>S</a:t>
                      </a:r>
                      <a:r>
                        <a:rPr lang="en-US" baseline="-25000" dirty="0" smtClean="0">
                          <a:solidFill>
                            <a:schemeClr val="tx1"/>
                          </a:solidFill>
                        </a:rPr>
                        <a:t>4 </a:t>
                      </a:r>
                      <a:r>
                        <a:rPr lang="en-US" i="1" baseline="0" dirty="0" smtClean="0">
                          <a:solidFill>
                            <a:schemeClr val="tx1"/>
                          </a:solidFill>
                        </a:rPr>
                        <a:t>C</a:t>
                      </a:r>
                      <a:r>
                        <a:rPr lang="en-US" baseline="-25000" dirty="0" smtClean="0">
                          <a:solidFill>
                            <a:schemeClr val="tx1"/>
                          </a:solidFill>
                        </a:rPr>
                        <a:t>2</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a:t>
                      </a:r>
                      <a:r>
                        <a:rPr lang="en-US" dirty="0" smtClean="0">
                          <a:solidFill>
                            <a:schemeClr val="tx1"/>
                          </a:solidFill>
                        </a:rPr>
                        <a:t> </a:t>
                      </a:r>
                      <a:r>
                        <a:rPr lang="en-US" i="1" dirty="0" smtClean="0">
                          <a:solidFill>
                            <a:schemeClr val="tx1"/>
                          </a:solidFill>
                        </a:rPr>
                        <a:t>C</a:t>
                      </a:r>
                      <a:r>
                        <a:rPr lang="en-US" baseline="-25000" dirty="0" smtClean="0">
                          <a:solidFill>
                            <a:schemeClr val="tx1"/>
                          </a:solidFill>
                        </a:rPr>
                        <a:t>4 </a:t>
                      </a:r>
                      <a:r>
                        <a:rPr lang="en-US" i="1" baseline="0" dirty="0" smtClean="0">
                          <a:solidFill>
                            <a:schemeClr val="tx1"/>
                          </a:solidFill>
                        </a:rPr>
                        <a:t>C</a:t>
                      </a:r>
                      <a:r>
                        <a:rPr lang="en-US" baseline="-25000" dirty="0" smtClean="0">
                          <a:solidFill>
                            <a:schemeClr val="tx1"/>
                          </a:solidFill>
                        </a:rPr>
                        <a:t>2 </a:t>
                      </a:r>
                      <a:r>
                        <a:rPr lang="en-US" i="1" baseline="0" dirty="0" err="1" smtClean="0">
                          <a:solidFill>
                            <a:schemeClr val="tx1"/>
                          </a:solidFill>
                        </a:rPr>
                        <a:t>i</a:t>
                      </a:r>
                      <a:r>
                        <a:rPr lang="en-US" i="1" baseline="0" dirty="0" smtClean="0">
                          <a:solidFill>
                            <a:schemeClr val="tx1"/>
                          </a:solidFill>
                        </a:rPr>
                        <a:t> </a:t>
                      </a:r>
                      <a:r>
                        <a:rPr lang="en-US" dirty="0" smtClean="0">
                          <a:solidFill>
                            <a:schemeClr val="tx1"/>
                          </a:solidFill>
                        </a:rPr>
                        <a:t>2</a:t>
                      </a:r>
                      <a:r>
                        <a:rPr lang="en-US" i="1" dirty="0" smtClean="0">
                          <a:solidFill>
                            <a:schemeClr val="tx1"/>
                          </a:solidFill>
                        </a:rPr>
                        <a:t>S</a:t>
                      </a:r>
                      <a:r>
                        <a:rPr lang="en-US" baseline="-25000" dirty="0" smtClean="0">
                          <a:solidFill>
                            <a:schemeClr val="tx1"/>
                          </a:solidFill>
                        </a:rPr>
                        <a:t>4 </a:t>
                      </a:r>
                      <a:r>
                        <a:rPr lang="en-US" i="1" dirty="0" smtClean="0">
                          <a:solidFill>
                            <a:schemeClr val="tx1"/>
                          </a:solidFill>
                          <a:sym typeface="Symbol"/>
                        </a:rPr>
                        <a:t></a:t>
                      </a:r>
                      <a:r>
                        <a:rPr lang="en-US" i="1" baseline="-25000" dirty="0" smtClean="0">
                          <a:solidFill>
                            <a:schemeClr val="tx1"/>
                          </a:solidFill>
                        </a:rPr>
                        <a:t>h</a:t>
                      </a:r>
                      <a:endParaRPr lang="en-US" baseline="-25000" dirty="0" smtClean="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a:t>
                      </a:r>
                      <a:r>
                        <a:rPr lang="en-US" dirty="0" smtClean="0">
                          <a:solidFill>
                            <a:schemeClr val="tx1"/>
                          </a:solidFill>
                        </a:rPr>
                        <a:t> </a:t>
                      </a:r>
                      <a:r>
                        <a:rPr lang="en-US" i="1" dirty="0" smtClean="0">
                          <a:solidFill>
                            <a:schemeClr val="tx1"/>
                          </a:solidFill>
                        </a:rPr>
                        <a:t>C</a:t>
                      </a:r>
                      <a:r>
                        <a:rPr lang="en-US" baseline="-25000" dirty="0" smtClean="0">
                          <a:solidFill>
                            <a:schemeClr val="tx1"/>
                          </a:solidFill>
                        </a:rPr>
                        <a:t>4 </a:t>
                      </a:r>
                      <a:r>
                        <a:rPr lang="en-US" i="1" baseline="0" dirty="0" smtClean="0">
                          <a:solidFill>
                            <a:schemeClr val="tx1"/>
                          </a:solidFill>
                        </a:rPr>
                        <a:t>C</a:t>
                      </a:r>
                      <a:r>
                        <a:rPr lang="en-US" baseline="-25000" dirty="0" smtClean="0">
                          <a:solidFill>
                            <a:schemeClr val="tx1"/>
                          </a:solidFill>
                        </a:rPr>
                        <a:t>2 </a:t>
                      </a:r>
                      <a:r>
                        <a:rPr lang="en-US" baseline="0" dirty="0" smtClean="0">
                          <a:solidFill>
                            <a:schemeClr val="tx1"/>
                          </a:solidFill>
                        </a:rPr>
                        <a:t>2</a:t>
                      </a:r>
                      <a:r>
                        <a:rPr lang="en-US" i="1" dirty="0" smtClean="0">
                          <a:solidFill>
                            <a:schemeClr val="tx1"/>
                          </a:solidFill>
                          <a:sym typeface="Symbol"/>
                        </a:rPr>
                        <a:t>’</a:t>
                      </a:r>
                      <a:r>
                        <a:rPr lang="en-US" i="1" baseline="-25000" dirty="0" smtClean="0">
                          <a:solidFill>
                            <a:schemeClr val="tx1"/>
                          </a:solidFill>
                        </a:rPr>
                        <a:t>V  </a:t>
                      </a:r>
                      <a:r>
                        <a:rPr lang="en-US" baseline="0" dirty="0" smtClean="0">
                          <a:solidFill>
                            <a:schemeClr val="tx1"/>
                          </a:solidFill>
                        </a:rPr>
                        <a:t>2</a:t>
                      </a:r>
                      <a:r>
                        <a:rPr lang="en-US" i="1" dirty="0" smtClean="0">
                          <a:solidFill>
                            <a:schemeClr val="tx1"/>
                          </a:solidFill>
                          <a:sym typeface="Symbol"/>
                        </a:rPr>
                        <a:t></a:t>
                      </a:r>
                      <a:r>
                        <a:rPr lang="en-US" i="1" baseline="-25000" dirty="0" smtClean="0">
                          <a:solidFill>
                            <a:schemeClr val="tx1"/>
                          </a:solidFill>
                          <a:sym typeface="Symbol"/>
                        </a:rPr>
                        <a:t>d</a:t>
                      </a:r>
                      <a:r>
                        <a:rPr lang="en-US" i="1" baseline="-25000" dirty="0" smtClean="0">
                          <a:solidFill>
                            <a:schemeClr val="tx1"/>
                          </a:solidFill>
                        </a:rPr>
                        <a:t> </a:t>
                      </a:r>
                      <a:endParaRPr lang="en-US" baseline="-25000" dirty="0" smtClean="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 C</a:t>
                      </a:r>
                      <a:r>
                        <a:rPr lang="en-US" i="0" baseline="-25000" dirty="0" smtClean="0">
                          <a:solidFill>
                            <a:schemeClr val="tx1"/>
                          </a:solidFill>
                        </a:rPr>
                        <a:t>2 </a:t>
                      </a:r>
                      <a:r>
                        <a:rPr lang="en-US" i="1" dirty="0" smtClean="0">
                          <a:solidFill>
                            <a:schemeClr val="tx1"/>
                          </a:solidFill>
                        </a:rPr>
                        <a:t>C’</a:t>
                      </a:r>
                      <a:r>
                        <a:rPr lang="en-US" i="0" baseline="-25000" dirty="0" smtClean="0">
                          <a:solidFill>
                            <a:schemeClr val="tx1"/>
                          </a:solidFill>
                        </a:rPr>
                        <a:t>2 </a:t>
                      </a:r>
                      <a:r>
                        <a:rPr lang="en-US" i="1" dirty="0" smtClean="0">
                          <a:solidFill>
                            <a:schemeClr val="tx1"/>
                          </a:solidFill>
                        </a:rPr>
                        <a:t>C”</a:t>
                      </a:r>
                      <a:r>
                        <a:rPr lang="en-US" i="0" baseline="-25000" dirty="0" smtClean="0">
                          <a:solidFill>
                            <a:schemeClr val="tx1"/>
                          </a:solidFill>
                        </a:rPr>
                        <a:t>2 </a:t>
                      </a:r>
                      <a:r>
                        <a:rPr lang="en-US" baseline="0" dirty="0" smtClean="0">
                          <a:solidFill>
                            <a:schemeClr val="tx1"/>
                          </a:solidFill>
                        </a:rPr>
                        <a:t>2</a:t>
                      </a:r>
                      <a:r>
                        <a:rPr lang="en-US" i="1" dirty="0" smtClean="0">
                          <a:solidFill>
                            <a:schemeClr val="tx1"/>
                          </a:solidFill>
                          <a:sym typeface="Symbol"/>
                        </a:rPr>
                        <a:t></a:t>
                      </a:r>
                      <a:r>
                        <a:rPr lang="en-US" i="1" baseline="-25000" dirty="0" smtClean="0">
                          <a:solidFill>
                            <a:schemeClr val="tx1"/>
                          </a:solidFill>
                          <a:sym typeface="Symbol"/>
                        </a:rPr>
                        <a:t>d </a:t>
                      </a:r>
                      <a:r>
                        <a:rPr lang="en-US" dirty="0" smtClean="0">
                          <a:solidFill>
                            <a:schemeClr val="tx1"/>
                          </a:solidFill>
                        </a:rPr>
                        <a:t>2</a:t>
                      </a:r>
                      <a:r>
                        <a:rPr lang="en-US" i="1" dirty="0" smtClean="0">
                          <a:solidFill>
                            <a:schemeClr val="tx1"/>
                          </a:solidFill>
                        </a:rPr>
                        <a:t>S</a:t>
                      </a:r>
                      <a:r>
                        <a:rPr lang="en-US" baseline="-25000" dirty="0" smtClean="0">
                          <a:solidFill>
                            <a:schemeClr val="tx1"/>
                          </a:solidFill>
                        </a:rPr>
                        <a:t>4</a:t>
                      </a:r>
                      <a:endParaRPr lang="en-US" dirty="0" smtClean="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a:t>
                      </a:r>
                      <a:r>
                        <a:rPr lang="en-US" dirty="0" smtClean="0">
                          <a:solidFill>
                            <a:schemeClr val="tx1"/>
                          </a:solidFill>
                        </a:rPr>
                        <a:t> </a:t>
                      </a:r>
                      <a:r>
                        <a:rPr lang="en-US" i="1" dirty="0" smtClean="0">
                          <a:solidFill>
                            <a:schemeClr val="tx1"/>
                          </a:solidFill>
                        </a:rPr>
                        <a:t>C</a:t>
                      </a:r>
                      <a:r>
                        <a:rPr lang="en-US" baseline="-25000" dirty="0" smtClean="0">
                          <a:solidFill>
                            <a:schemeClr val="tx1"/>
                          </a:solidFill>
                        </a:rPr>
                        <a:t>4 </a:t>
                      </a:r>
                      <a:r>
                        <a:rPr lang="en-US" i="1" baseline="0" dirty="0" smtClean="0">
                          <a:solidFill>
                            <a:schemeClr val="tx1"/>
                          </a:solidFill>
                        </a:rPr>
                        <a:t>C</a:t>
                      </a:r>
                      <a:r>
                        <a:rPr lang="en-US" baseline="-25000" dirty="0" smtClean="0">
                          <a:solidFill>
                            <a:schemeClr val="tx1"/>
                          </a:solidFill>
                        </a:rPr>
                        <a:t>2 </a:t>
                      </a:r>
                      <a:r>
                        <a:rPr lang="en-US" dirty="0" smtClean="0">
                          <a:solidFill>
                            <a:schemeClr val="tx1"/>
                          </a:solidFill>
                        </a:rPr>
                        <a:t>2</a:t>
                      </a:r>
                      <a:r>
                        <a:rPr lang="en-US" i="1" dirty="0" smtClean="0">
                          <a:solidFill>
                            <a:schemeClr val="tx1"/>
                          </a:solidFill>
                        </a:rPr>
                        <a:t>C’</a:t>
                      </a:r>
                      <a:r>
                        <a:rPr lang="en-US" i="0" baseline="-25000" dirty="0" smtClean="0">
                          <a:solidFill>
                            <a:schemeClr val="tx1"/>
                          </a:solidFill>
                        </a:rPr>
                        <a:t>2 </a:t>
                      </a:r>
                      <a:r>
                        <a:rPr lang="en-US" dirty="0" smtClean="0">
                          <a:solidFill>
                            <a:schemeClr val="tx1"/>
                          </a:solidFill>
                        </a:rPr>
                        <a:t>2</a:t>
                      </a:r>
                      <a:r>
                        <a:rPr lang="en-US" i="1" dirty="0" smtClean="0">
                          <a:solidFill>
                            <a:schemeClr val="tx1"/>
                          </a:solidFill>
                        </a:rPr>
                        <a:t>C”</a:t>
                      </a:r>
                      <a:r>
                        <a:rPr lang="en-US" i="0" baseline="-25000" dirty="0" smtClean="0">
                          <a:solidFill>
                            <a:schemeClr val="tx1"/>
                          </a:solidFill>
                        </a:rPr>
                        <a:t>2</a:t>
                      </a:r>
                      <a:endParaRPr lang="en-US" baseline="-25000" dirty="0" smtClean="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chemeClr val="tx1"/>
                          </a:solidFill>
                        </a:rPr>
                        <a:t>E</a:t>
                      </a:r>
                      <a:r>
                        <a:rPr lang="en-US" dirty="0" smtClean="0">
                          <a:solidFill>
                            <a:schemeClr val="tx1"/>
                          </a:solidFill>
                        </a:rPr>
                        <a:t> </a:t>
                      </a:r>
                      <a:r>
                        <a:rPr lang="en-US" i="1" dirty="0" smtClean="0">
                          <a:solidFill>
                            <a:schemeClr val="tx1"/>
                          </a:solidFill>
                        </a:rPr>
                        <a:t>C</a:t>
                      </a:r>
                      <a:r>
                        <a:rPr lang="en-US" baseline="-25000" dirty="0" smtClean="0">
                          <a:solidFill>
                            <a:schemeClr val="tx1"/>
                          </a:solidFill>
                        </a:rPr>
                        <a:t>4 </a:t>
                      </a:r>
                      <a:r>
                        <a:rPr lang="en-US" i="1" baseline="0" dirty="0" smtClean="0">
                          <a:solidFill>
                            <a:schemeClr val="tx1"/>
                          </a:solidFill>
                        </a:rPr>
                        <a:t>C</a:t>
                      </a:r>
                      <a:r>
                        <a:rPr lang="en-US" baseline="-25000" dirty="0" smtClean="0">
                          <a:solidFill>
                            <a:schemeClr val="tx1"/>
                          </a:solidFill>
                        </a:rPr>
                        <a:t>2 </a:t>
                      </a:r>
                      <a:r>
                        <a:rPr lang="en-US" dirty="0" smtClean="0">
                          <a:solidFill>
                            <a:schemeClr val="tx1"/>
                          </a:solidFill>
                        </a:rPr>
                        <a:t>2</a:t>
                      </a:r>
                      <a:r>
                        <a:rPr lang="en-US" i="1" dirty="0" smtClean="0">
                          <a:solidFill>
                            <a:schemeClr val="tx1"/>
                          </a:solidFill>
                        </a:rPr>
                        <a:t>C’</a:t>
                      </a:r>
                      <a:r>
                        <a:rPr lang="en-US" i="0" baseline="-25000" dirty="0" smtClean="0">
                          <a:solidFill>
                            <a:schemeClr val="tx1"/>
                          </a:solidFill>
                        </a:rPr>
                        <a:t>2 </a:t>
                      </a:r>
                      <a:r>
                        <a:rPr lang="en-US" dirty="0" smtClean="0">
                          <a:solidFill>
                            <a:schemeClr val="tx1"/>
                          </a:solidFill>
                        </a:rPr>
                        <a:t>2</a:t>
                      </a:r>
                      <a:r>
                        <a:rPr lang="en-US" i="1" dirty="0" smtClean="0">
                          <a:solidFill>
                            <a:schemeClr val="tx1"/>
                          </a:solidFill>
                        </a:rPr>
                        <a:t>C”</a:t>
                      </a:r>
                      <a:r>
                        <a:rPr lang="en-US" i="0" baseline="-25000" dirty="0" smtClean="0">
                          <a:solidFill>
                            <a:schemeClr val="tx1"/>
                          </a:solidFill>
                        </a:rPr>
                        <a:t>2 </a:t>
                      </a:r>
                      <a:r>
                        <a:rPr lang="en-US" i="1" baseline="0" dirty="0" err="1" smtClean="0">
                          <a:solidFill>
                            <a:schemeClr val="tx1"/>
                          </a:solidFill>
                        </a:rPr>
                        <a:t>i</a:t>
                      </a:r>
                      <a:r>
                        <a:rPr lang="en-US" i="1" baseline="0" dirty="0" smtClean="0">
                          <a:solidFill>
                            <a:schemeClr val="tx1"/>
                          </a:solidFill>
                        </a:rPr>
                        <a:t> </a:t>
                      </a:r>
                      <a:r>
                        <a:rPr lang="en-US" dirty="0" smtClean="0">
                          <a:solidFill>
                            <a:schemeClr val="tx1"/>
                          </a:solidFill>
                        </a:rPr>
                        <a:t>2</a:t>
                      </a:r>
                      <a:r>
                        <a:rPr lang="en-US" i="1" dirty="0" smtClean="0">
                          <a:solidFill>
                            <a:schemeClr val="tx1"/>
                          </a:solidFill>
                        </a:rPr>
                        <a:t>S</a:t>
                      </a:r>
                      <a:r>
                        <a:rPr lang="en-US" baseline="-25000" dirty="0" smtClean="0">
                          <a:solidFill>
                            <a:schemeClr val="tx1"/>
                          </a:solidFill>
                        </a:rPr>
                        <a:t>4 </a:t>
                      </a:r>
                      <a:r>
                        <a:rPr lang="en-US" i="1" dirty="0" smtClean="0">
                          <a:solidFill>
                            <a:schemeClr val="tx1"/>
                          </a:solidFill>
                          <a:sym typeface="Symbol"/>
                        </a:rPr>
                        <a:t></a:t>
                      </a:r>
                      <a:r>
                        <a:rPr lang="en-US" i="1" baseline="-25000" dirty="0" smtClean="0">
                          <a:solidFill>
                            <a:schemeClr val="tx1"/>
                          </a:solidFill>
                        </a:rPr>
                        <a:t>h </a:t>
                      </a:r>
                      <a:r>
                        <a:rPr lang="en-US" baseline="0" dirty="0" smtClean="0">
                          <a:solidFill>
                            <a:schemeClr val="tx1"/>
                          </a:solidFill>
                        </a:rPr>
                        <a:t>2</a:t>
                      </a:r>
                      <a:r>
                        <a:rPr lang="en-US" i="1" dirty="0" smtClean="0">
                          <a:solidFill>
                            <a:schemeClr val="tx1"/>
                          </a:solidFill>
                          <a:sym typeface="Symbol"/>
                        </a:rPr>
                        <a:t>’</a:t>
                      </a:r>
                      <a:r>
                        <a:rPr lang="en-US" i="1" baseline="-25000" dirty="0" smtClean="0">
                          <a:solidFill>
                            <a:schemeClr val="tx1"/>
                          </a:solidFill>
                        </a:rPr>
                        <a:t>V  </a:t>
                      </a:r>
                      <a:r>
                        <a:rPr lang="en-US" baseline="0" dirty="0" smtClean="0">
                          <a:solidFill>
                            <a:schemeClr val="tx1"/>
                          </a:solidFill>
                        </a:rPr>
                        <a:t>2</a:t>
                      </a:r>
                      <a:r>
                        <a:rPr lang="en-US" i="1" dirty="0" smtClean="0">
                          <a:solidFill>
                            <a:schemeClr val="tx1"/>
                          </a:solidFill>
                          <a:sym typeface="Symbol"/>
                        </a:rPr>
                        <a:t></a:t>
                      </a:r>
                      <a:r>
                        <a:rPr lang="en-US" i="1" baseline="-25000" dirty="0" smtClean="0">
                          <a:solidFill>
                            <a:schemeClr val="tx1"/>
                          </a:solidFill>
                        </a:rPr>
                        <a:t>h</a:t>
                      </a:r>
                      <a:endParaRPr lang="en-US" baseline="-25000" dirty="0">
                        <a:solidFill>
                          <a:schemeClr val="tx1"/>
                        </a:solidFill>
                      </a:endParaRPr>
                    </a:p>
                  </a:txBody>
                  <a:tcPr/>
                </a:tc>
              </a:tr>
            </a:tbl>
          </a:graphicData>
        </a:graphic>
      </p:graphicFrame>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0" y="680720"/>
          <a:ext cx="9220200" cy="6024880"/>
        </p:xfrm>
        <a:graphic>
          <a:graphicData uri="http://schemas.openxmlformats.org/drawingml/2006/table">
            <a:tbl>
              <a:tblPr firstRow="1" bandRow="1">
                <a:tableStyleId>{00A15C55-8517-42AA-B614-E9B94910E393}</a:tableStyleId>
              </a:tblPr>
              <a:tblGrid>
                <a:gridCol w="2133600"/>
                <a:gridCol w="1295400"/>
                <a:gridCol w="762000"/>
                <a:gridCol w="5029200"/>
              </a:tblGrid>
              <a:tr h="447040">
                <a:tc rowSpan="2">
                  <a:txBody>
                    <a:bodyPr/>
                    <a:lstStyle/>
                    <a:p>
                      <a:r>
                        <a:rPr lang="en-US" dirty="0" smtClean="0"/>
                        <a:t>System</a:t>
                      </a:r>
                      <a:endParaRPr lang="en-US" dirty="0"/>
                    </a:p>
                  </a:txBody>
                  <a:tcPr/>
                </a:tc>
                <a:tc gridSpan="2">
                  <a:txBody>
                    <a:bodyPr/>
                    <a:lstStyle/>
                    <a:p>
                      <a:r>
                        <a:rPr lang="en-US" dirty="0" smtClean="0"/>
                        <a:t>Class</a:t>
                      </a:r>
                      <a:endParaRPr lang="en-US" dirty="0"/>
                    </a:p>
                  </a:txBody>
                  <a:tcPr/>
                </a:tc>
                <a:tc hMerge="1">
                  <a:txBody>
                    <a:bodyPr/>
                    <a:lstStyle/>
                    <a:p>
                      <a:endParaRPr lang="en-US" dirty="0"/>
                    </a:p>
                  </a:txBody>
                  <a:tcPr/>
                </a:tc>
                <a:tc rowSpan="2">
                  <a:txBody>
                    <a:bodyPr/>
                    <a:lstStyle/>
                    <a:p>
                      <a:r>
                        <a:rPr lang="en-US" dirty="0" smtClean="0"/>
                        <a:t>Symmetry Clements</a:t>
                      </a:r>
                      <a:endParaRPr lang="en-US" dirty="0"/>
                    </a:p>
                  </a:txBody>
                  <a:tcPr/>
                </a:tc>
              </a:tr>
              <a:tr h="370840">
                <a:tc vMerge="1">
                  <a:txBody>
                    <a:bodyPr/>
                    <a:lstStyle/>
                    <a:p>
                      <a:endParaRPr lang="en-US" dirty="0"/>
                    </a:p>
                  </a:txBody>
                  <a:tcPr/>
                </a:tc>
                <a:tc>
                  <a:txBody>
                    <a:bodyPr/>
                    <a:lstStyle/>
                    <a:p>
                      <a:r>
                        <a:rPr lang="en-US" dirty="0" smtClean="0"/>
                        <a:t>H-B</a:t>
                      </a:r>
                      <a:endParaRPr lang="en-US" dirty="0"/>
                    </a:p>
                  </a:txBody>
                  <a:tcPr>
                    <a:lnR w="12700" cap="flat" cmpd="sng" algn="ctr">
                      <a:solidFill>
                        <a:schemeClr val="bg1"/>
                      </a:solidFill>
                      <a:prstDash val="solid"/>
                      <a:round/>
                      <a:headEnd type="none" w="med" len="med"/>
                      <a:tailEnd type="none" w="med" len="med"/>
                    </a:lnR>
                  </a:tcPr>
                </a:tc>
                <a:tc>
                  <a:txBody>
                    <a:bodyPr/>
                    <a:lstStyle/>
                    <a:p>
                      <a:r>
                        <a:rPr lang="en-US" dirty="0" err="1" smtClean="0">
                          <a:latin typeface="Times New Roman" pitchFamily="18" charset="0"/>
                          <a:cs typeface="Times New Roman" pitchFamily="18" charset="0"/>
                        </a:rPr>
                        <a:t>Schon</a:t>
                      </a:r>
                      <a:r>
                        <a:rPr lang="en-US" dirty="0" smtClean="0">
                          <a:latin typeface="Times New Roman" pitchFamily="18" charset="0"/>
                          <a:cs typeface="Times New Roman" pitchFamily="18" charset="0"/>
                        </a:rPr>
                        <a:t>-flies</a:t>
                      </a:r>
                      <a:endParaRPr lang="en-US" dirty="0"/>
                    </a:p>
                  </a:txBody>
                  <a:tcPr>
                    <a:lnL w="12700" cap="flat" cmpd="sng" algn="ctr">
                      <a:solidFill>
                        <a:schemeClr val="bg1"/>
                      </a:solidFill>
                      <a:prstDash val="solid"/>
                      <a:round/>
                      <a:headEnd type="none" w="med" len="med"/>
                      <a:tailEnd type="none" w="med" len="med"/>
                    </a:lnL>
                  </a:tcPr>
                </a:tc>
                <a:tc vMerge="1">
                  <a:txBody>
                    <a:bodyPr/>
                    <a:lstStyle/>
                    <a:p>
                      <a:endParaRPr lang="en-US" dirty="0"/>
                    </a:p>
                  </a:txBody>
                  <a:tcPr/>
                </a:tc>
              </a:tr>
              <a:tr h="370840">
                <a:tc>
                  <a:txBody>
                    <a:bodyPr/>
                    <a:lstStyle/>
                    <a:p>
                      <a:r>
                        <a:rPr lang="en-US" dirty="0" err="1" smtClean="0">
                          <a:solidFill>
                            <a:srgbClr val="00B050"/>
                          </a:solidFill>
                        </a:rPr>
                        <a:t>Trigonal</a:t>
                      </a:r>
                      <a:endParaRPr lang="en-US" dirty="0" smtClean="0">
                        <a:solidFill>
                          <a:srgbClr val="00B050"/>
                        </a:solidFill>
                      </a:endParaRPr>
                    </a:p>
                    <a:p>
                      <a:r>
                        <a:rPr lang="en-US" dirty="0" smtClean="0">
                          <a:solidFill>
                            <a:srgbClr val="00B050"/>
                          </a:solidFill>
                        </a:rPr>
                        <a:t>(</a:t>
                      </a:r>
                      <a:r>
                        <a:rPr lang="en-US" dirty="0" err="1" smtClean="0">
                          <a:solidFill>
                            <a:srgbClr val="00B050"/>
                          </a:solidFill>
                        </a:rPr>
                        <a:t>rhombohedral</a:t>
                      </a:r>
                      <a:r>
                        <a:rPr lang="en-US" dirty="0" smtClean="0">
                          <a:solidFill>
                            <a:srgbClr val="00B050"/>
                          </a:solidFill>
                        </a:rPr>
                        <a:t>)</a:t>
                      </a:r>
                      <a:endParaRPr lang="en-US" dirty="0">
                        <a:solidFill>
                          <a:srgbClr val="00B050"/>
                        </a:solidFill>
                      </a:endParaRPr>
                    </a:p>
                  </a:txBody>
                  <a:tcPr/>
                </a:tc>
                <a:tc>
                  <a:txBody>
                    <a:bodyPr/>
                    <a:lstStyle/>
                    <a:p>
                      <a:r>
                        <a:rPr lang="en-US" dirty="0" smtClean="0">
                          <a:solidFill>
                            <a:srgbClr val="00B0F0"/>
                          </a:solidFill>
                        </a:rPr>
                        <a:t>3</a:t>
                      </a:r>
                    </a:p>
                    <a:p>
                      <a:r>
                        <a:rPr lang="en-US" dirty="0" smtClean="0">
                          <a:solidFill>
                            <a:srgbClr val="00B0F0"/>
                          </a:solidFill>
                        </a:rPr>
                        <a:t>3(bar)</a:t>
                      </a:r>
                    </a:p>
                    <a:p>
                      <a:r>
                        <a:rPr lang="en-US" dirty="0" smtClean="0">
                          <a:solidFill>
                            <a:srgbClr val="00B0F0"/>
                          </a:solidFill>
                        </a:rPr>
                        <a:t>3</a:t>
                      </a:r>
                      <a:r>
                        <a:rPr lang="en-US" i="1" dirty="0" smtClean="0">
                          <a:solidFill>
                            <a:srgbClr val="00B0F0"/>
                          </a:solidFill>
                        </a:rPr>
                        <a:t>m</a:t>
                      </a:r>
                    </a:p>
                    <a:p>
                      <a:r>
                        <a:rPr lang="en-US" dirty="0" smtClean="0">
                          <a:solidFill>
                            <a:srgbClr val="00B0F0"/>
                          </a:solidFill>
                        </a:rPr>
                        <a:t>32</a:t>
                      </a:r>
                      <a:endParaRPr lang="en-US" i="1" dirty="0" smtClean="0">
                        <a:solidFill>
                          <a:srgbClr val="00B0F0"/>
                        </a:solidFill>
                      </a:endParaRPr>
                    </a:p>
                    <a:p>
                      <a:r>
                        <a:rPr lang="en-US" smtClean="0">
                          <a:solidFill>
                            <a:srgbClr val="00B0F0"/>
                          </a:solidFill>
                        </a:rPr>
                        <a:t>3(bar)m</a:t>
                      </a:r>
                      <a:endParaRPr lang="en-US" i="1" dirty="0">
                        <a:solidFill>
                          <a:srgbClr val="00B0F0"/>
                        </a:solidFill>
                      </a:endParaRPr>
                    </a:p>
                  </a:txBody>
                  <a:tcPr>
                    <a:lnR w="12700" cap="flat" cmpd="sng" algn="ctr">
                      <a:solidFill>
                        <a:schemeClr val="bg1"/>
                      </a:solidFill>
                      <a:prstDash val="solid"/>
                      <a:round/>
                      <a:headEnd type="none" w="med" len="med"/>
                      <a:tailEnd type="none" w="med" len="med"/>
                    </a:lnR>
                  </a:tcPr>
                </a:tc>
                <a:tc>
                  <a:txBody>
                    <a:bodyPr/>
                    <a:lstStyle/>
                    <a:p>
                      <a:r>
                        <a:rPr lang="en-US" i="1" dirty="0" smtClean="0">
                          <a:solidFill>
                            <a:srgbClr val="FF0000"/>
                          </a:solidFill>
                        </a:rPr>
                        <a:t>C</a:t>
                      </a:r>
                      <a:r>
                        <a:rPr lang="en-US" baseline="-25000" dirty="0" smtClean="0">
                          <a:solidFill>
                            <a:srgbClr val="FF0000"/>
                          </a:solidFill>
                        </a:rPr>
                        <a:t>3</a:t>
                      </a:r>
                    </a:p>
                    <a:p>
                      <a:r>
                        <a:rPr lang="en-US" i="1" baseline="0" dirty="0" smtClean="0">
                          <a:solidFill>
                            <a:srgbClr val="FF0000"/>
                          </a:solidFill>
                        </a:rPr>
                        <a:t>S</a:t>
                      </a:r>
                      <a:r>
                        <a:rPr lang="en-US" i="1" baseline="-25000" dirty="0" smtClean="0">
                          <a:solidFill>
                            <a:srgbClr val="FF0000"/>
                          </a:solidFill>
                        </a:rPr>
                        <a:t>6</a:t>
                      </a:r>
                    </a:p>
                    <a:p>
                      <a:r>
                        <a:rPr lang="en-US" i="1" dirty="0" smtClean="0">
                          <a:solidFill>
                            <a:srgbClr val="FF0000"/>
                          </a:solidFill>
                        </a:rPr>
                        <a:t>C</a:t>
                      </a:r>
                      <a:r>
                        <a:rPr lang="en-US" baseline="-25000" dirty="0" smtClean="0">
                          <a:solidFill>
                            <a:srgbClr val="FF0000"/>
                          </a:solidFill>
                        </a:rPr>
                        <a:t>3</a:t>
                      </a:r>
                      <a:r>
                        <a:rPr lang="en-US" i="1" baseline="-25000" dirty="0" smtClean="0">
                          <a:solidFill>
                            <a:srgbClr val="FF0000"/>
                          </a:solidFill>
                        </a:rPr>
                        <a:t>v</a:t>
                      </a:r>
                    </a:p>
                    <a:p>
                      <a:r>
                        <a:rPr lang="en-US" i="1" baseline="0" dirty="0" smtClean="0">
                          <a:solidFill>
                            <a:srgbClr val="FF0000"/>
                          </a:solidFill>
                        </a:rPr>
                        <a:t>D</a:t>
                      </a:r>
                      <a:r>
                        <a:rPr lang="en-US" i="1" baseline="-25000" dirty="0" smtClean="0">
                          <a:solidFill>
                            <a:srgbClr val="FF0000"/>
                          </a:solidFill>
                        </a:rPr>
                        <a:t>3</a:t>
                      </a:r>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solidFill>
                            <a:srgbClr val="FF0000"/>
                          </a:solidFill>
                        </a:rPr>
                        <a:t>D</a:t>
                      </a:r>
                      <a:r>
                        <a:rPr lang="en-US" i="1" baseline="-25000" dirty="0" smtClean="0">
                          <a:solidFill>
                            <a:srgbClr val="FF0000"/>
                          </a:solidFill>
                        </a:rPr>
                        <a:t>3d</a:t>
                      </a:r>
                      <a:endParaRPr lang="en-US" i="1" baseline="-25000" dirty="0">
                        <a:solidFill>
                          <a:srgbClr val="FF0000"/>
                        </a:solidFill>
                      </a:endParaRPr>
                    </a:p>
                  </a:txBody>
                  <a:tcPr>
                    <a:lnL w="12700" cap="flat" cmpd="sng" algn="ctr">
                      <a:solidFill>
                        <a:schemeClr val="bg1"/>
                      </a:solidFill>
                      <a:prstDash val="solid"/>
                      <a:round/>
                      <a:headEnd type="none" w="med" len="med"/>
                      <a:tailEnd type="none" w="med" len="med"/>
                    </a:lnL>
                  </a:tcPr>
                </a:tc>
                <a:tc>
                  <a:txBody>
                    <a:bodyPr/>
                    <a:lstStyle/>
                    <a:p>
                      <a:r>
                        <a:rPr lang="en-US" i="1" dirty="0" smtClean="0"/>
                        <a:t>E</a:t>
                      </a:r>
                      <a:r>
                        <a:rPr lang="en-US" dirty="0" smtClean="0"/>
                        <a:t> </a:t>
                      </a:r>
                      <a:r>
                        <a:rPr lang="en-US" i="1" dirty="0" smtClean="0"/>
                        <a:t>C</a:t>
                      </a:r>
                      <a:r>
                        <a:rPr lang="en-US" baseline="-25000" dirty="0" smtClean="0"/>
                        <a:t>3</a:t>
                      </a:r>
                    </a:p>
                    <a:p>
                      <a:r>
                        <a:rPr lang="en-US" i="1" dirty="0" smtClean="0"/>
                        <a:t>E</a:t>
                      </a:r>
                      <a:r>
                        <a:rPr lang="en-US" dirty="0" smtClean="0"/>
                        <a:t> </a:t>
                      </a:r>
                      <a:r>
                        <a:rPr lang="en-US" i="1" dirty="0" smtClean="0"/>
                        <a:t>C</a:t>
                      </a:r>
                      <a:r>
                        <a:rPr lang="en-US" baseline="-25000" dirty="0" smtClean="0"/>
                        <a:t>3 </a:t>
                      </a:r>
                      <a:r>
                        <a:rPr lang="en-US" i="1" baseline="0" dirty="0" err="1" smtClean="0"/>
                        <a:t>i</a:t>
                      </a:r>
                      <a:r>
                        <a:rPr lang="en-US" i="1" baseline="0" dirty="0" smtClean="0"/>
                        <a:t> </a:t>
                      </a:r>
                      <a:r>
                        <a:rPr lang="en-US" dirty="0" smtClean="0"/>
                        <a:t>2</a:t>
                      </a:r>
                      <a:r>
                        <a:rPr lang="en-US" i="1" dirty="0" smtClean="0"/>
                        <a:t>S</a:t>
                      </a:r>
                      <a:r>
                        <a:rPr lang="en-US" baseline="-25000" dirty="0" smtClean="0"/>
                        <a:t>4 </a:t>
                      </a:r>
                    </a:p>
                    <a:p>
                      <a:r>
                        <a:rPr lang="en-US" i="1" dirty="0" smtClean="0"/>
                        <a:t>E</a:t>
                      </a:r>
                      <a:r>
                        <a:rPr lang="en-US" dirty="0" smtClean="0"/>
                        <a:t> </a:t>
                      </a:r>
                      <a:r>
                        <a:rPr lang="en-US" i="1" dirty="0" smtClean="0"/>
                        <a:t>C</a:t>
                      </a:r>
                      <a:r>
                        <a:rPr lang="en-US" baseline="-25000" dirty="0" smtClean="0"/>
                        <a:t>3 </a:t>
                      </a:r>
                      <a:r>
                        <a:rPr lang="en-US" baseline="0" dirty="0" smtClean="0"/>
                        <a:t>3</a:t>
                      </a:r>
                      <a:r>
                        <a:rPr lang="en-US" i="1" dirty="0" smtClean="0">
                          <a:sym typeface="Symbol"/>
                        </a:rPr>
                        <a:t></a:t>
                      </a:r>
                      <a:r>
                        <a:rPr lang="en-US" i="1" baseline="-25000" dirty="0" smtClean="0"/>
                        <a:t>V </a:t>
                      </a:r>
                    </a:p>
                    <a:p>
                      <a:r>
                        <a:rPr lang="en-US" i="1" dirty="0" smtClean="0"/>
                        <a:t>E</a:t>
                      </a:r>
                      <a:r>
                        <a:rPr lang="en-US" dirty="0" smtClean="0"/>
                        <a:t> </a:t>
                      </a:r>
                      <a:r>
                        <a:rPr lang="en-US" i="1" dirty="0" smtClean="0"/>
                        <a:t>C</a:t>
                      </a:r>
                      <a:r>
                        <a:rPr lang="en-US" baseline="-25000" dirty="0" smtClean="0"/>
                        <a:t>3 </a:t>
                      </a:r>
                      <a:r>
                        <a:rPr lang="en-US" dirty="0" smtClean="0"/>
                        <a:t>3</a:t>
                      </a:r>
                      <a:r>
                        <a:rPr lang="en-US" i="1" dirty="0" smtClean="0"/>
                        <a:t>C</a:t>
                      </a:r>
                      <a:r>
                        <a:rPr lang="en-US" baseline="-25000" dirty="0" smtClean="0"/>
                        <a:t>2</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E</a:t>
                      </a:r>
                      <a:r>
                        <a:rPr lang="en-US" dirty="0" smtClean="0"/>
                        <a:t> </a:t>
                      </a:r>
                      <a:r>
                        <a:rPr lang="en-US" i="1" dirty="0" smtClean="0"/>
                        <a:t>C</a:t>
                      </a:r>
                      <a:r>
                        <a:rPr lang="en-US" baseline="-25000" dirty="0" smtClean="0"/>
                        <a:t>3 </a:t>
                      </a:r>
                      <a:r>
                        <a:rPr lang="en-US" dirty="0" smtClean="0"/>
                        <a:t>3</a:t>
                      </a:r>
                      <a:r>
                        <a:rPr lang="en-US" i="1" dirty="0" smtClean="0"/>
                        <a:t>C</a:t>
                      </a:r>
                      <a:r>
                        <a:rPr lang="en-US" baseline="-25000" dirty="0" smtClean="0"/>
                        <a:t>2 </a:t>
                      </a:r>
                      <a:r>
                        <a:rPr lang="en-US" i="1" dirty="0" err="1" smtClean="0"/>
                        <a:t>i</a:t>
                      </a:r>
                      <a:r>
                        <a:rPr lang="en-US" i="1" dirty="0" smtClean="0"/>
                        <a:t> </a:t>
                      </a:r>
                      <a:r>
                        <a:rPr lang="en-US" dirty="0" smtClean="0"/>
                        <a:t>2</a:t>
                      </a:r>
                      <a:r>
                        <a:rPr lang="en-US" i="1" dirty="0" smtClean="0"/>
                        <a:t>S</a:t>
                      </a:r>
                      <a:r>
                        <a:rPr lang="en-US" baseline="-25000" dirty="0" smtClean="0"/>
                        <a:t>6 </a:t>
                      </a:r>
                      <a:r>
                        <a:rPr lang="en-US" baseline="0" dirty="0" smtClean="0"/>
                        <a:t>3</a:t>
                      </a:r>
                      <a:r>
                        <a:rPr lang="en-US" i="1" dirty="0" smtClean="0">
                          <a:sym typeface="Symbol"/>
                        </a:rPr>
                        <a:t></a:t>
                      </a:r>
                      <a:r>
                        <a:rPr lang="en-US" i="1" baseline="-25000" dirty="0" smtClean="0">
                          <a:sym typeface="Symbol"/>
                        </a:rPr>
                        <a:t>d</a:t>
                      </a:r>
                      <a:endParaRPr lang="en-US" i="1" dirty="0"/>
                    </a:p>
                  </a:txBody>
                  <a:tcPr/>
                </a:tc>
              </a:tr>
              <a:tr h="370840">
                <a:tc>
                  <a:txBody>
                    <a:bodyPr/>
                    <a:lstStyle/>
                    <a:p>
                      <a:r>
                        <a:rPr lang="en-US" dirty="0" smtClean="0">
                          <a:solidFill>
                            <a:srgbClr val="00B050"/>
                          </a:solidFill>
                        </a:rPr>
                        <a:t>Hexagonal</a:t>
                      </a:r>
                      <a:endParaRPr lang="en-US" dirty="0">
                        <a:solidFill>
                          <a:srgbClr val="00B050"/>
                        </a:solidFill>
                      </a:endParaRPr>
                    </a:p>
                  </a:txBody>
                  <a:tcPr/>
                </a:tc>
                <a:tc>
                  <a:txBody>
                    <a:bodyPr/>
                    <a:lstStyle/>
                    <a:p>
                      <a:r>
                        <a:rPr lang="en-US" dirty="0" smtClean="0">
                          <a:solidFill>
                            <a:srgbClr val="00B0F0"/>
                          </a:solidFill>
                        </a:rPr>
                        <a:t>6</a:t>
                      </a:r>
                    </a:p>
                    <a:p>
                      <a:r>
                        <a:rPr lang="en-US" dirty="0" smtClean="0">
                          <a:solidFill>
                            <a:srgbClr val="00B0F0"/>
                          </a:solidFill>
                        </a:rPr>
                        <a:t>6(bar)</a:t>
                      </a:r>
                    </a:p>
                    <a:p>
                      <a:r>
                        <a:rPr lang="en-US" dirty="0" smtClean="0">
                          <a:solidFill>
                            <a:srgbClr val="00B0F0"/>
                          </a:solidFill>
                        </a:rPr>
                        <a:t>6/</a:t>
                      </a:r>
                      <a:r>
                        <a:rPr lang="en-US" i="1" dirty="0" smtClean="0">
                          <a:solidFill>
                            <a:srgbClr val="00B0F0"/>
                          </a:solidFill>
                        </a:rPr>
                        <a:t>m</a:t>
                      </a:r>
                    </a:p>
                    <a:p>
                      <a:r>
                        <a:rPr lang="en-US" dirty="0" smtClean="0">
                          <a:solidFill>
                            <a:srgbClr val="00B0F0"/>
                          </a:solidFill>
                        </a:rPr>
                        <a:t>6(bar)</a:t>
                      </a:r>
                      <a:r>
                        <a:rPr lang="en-US" i="1" dirty="0" smtClean="0">
                          <a:solidFill>
                            <a:srgbClr val="00B0F0"/>
                          </a:solidFill>
                        </a:rPr>
                        <a:t>m</a:t>
                      </a:r>
                      <a:r>
                        <a:rPr lang="en-US" dirty="0" smtClean="0">
                          <a:solidFill>
                            <a:srgbClr val="00B0F0"/>
                          </a:solidFill>
                        </a:rPr>
                        <a:t>2</a:t>
                      </a:r>
                      <a:endParaRPr lang="en-US" i="1" dirty="0" smtClean="0">
                        <a:solidFill>
                          <a:srgbClr val="00B0F0"/>
                        </a:solidFill>
                      </a:endParaRPr>
                    </a:p>
                    <a:p>
                      <a:r>
                        <a:rPr lang="en-US" dirty="0" smtClean="0">
                          <a:solidFill>
                            <a:srgbClr val="00B0F0"/>
                          </a:solidFill>
                        </a:rPr>
                        <a:t>6</a:t>
                      </a:r>
                      <a:r>
                        <a:rPr lang="en-US" i="1" dirty="0" smtClean="0">
                          <a:solidFill>
                            <a:srgbClr val="00B0F0"/>
                          </a:solidFill>
                        </a:rPr>
                        <a:t>mm</a:t>
                      </a:r>
                    </a:p>
                    <a:p>
                      <a:r>
                        <a:rPr lang="en-US" i="0" dirty="0" smtClean="0">
                          <a:solidFill>
                            <a:srgbClr val="00B0F0"/>
                          </a:solidFill>
                        </a:rPr>
                        <a:t>622</a:t>
                      </a:r>
                    </a:p>
                    <a:p>
                      <a:r>
                        <a:rPr lang="en-US" dirty="0" smtClean="0">
                          <a:solidFill>
                            <a:srgbClr val="00B0F0"/>
                          </a:solidFill>
                        </a:rPr>
                        <a:t>6/</a:t>
                      </a:r>
                      <a:r>
                        <a:rPr lang="en-US" i="1" dirty="0" err="1" smtClean="0">
                          <a:solidFill>
                            <a:srgbClr val="00B0F0"/>
                          </a:solidFill>
                        </a:rPr>
                        <a:t>mmm</a:t>
                      </a:r>
                      <a:endParaRPr lang="en-US" i="1" dirty="0">
                        <a:solidFill>
                          <a:srgbClr val="00B0F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i="1" baseline="-25000" dirty="0" smtClean="0">
                          <a:solidFill>
                            <a:srgbClr val="FF0000"/>
                          </a:solidFill>
                        </a:rPr>
                        <a:t>6</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i="0" baseline="-25000" dirty="0" smtClean="0">
                          <a:solidFill>
                            <a:srgbClr val="FF0000"/>
                          </a:solidFill>
                        </a:rPr>
                        <a:t>3</a:t>
                      </a:r>
                      <a:r>
                        <a:rPr lang="en-US" i="1" baseline="-25000" dirty="0" smtClean="0">
                          <a:solidFill>
                            <a:srgbClr val="FF0000"/>
                          </a:solidFill>
                        </a:rPr>
                        <a:t>h</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i="0" baseline="-25000" dirty="0" smtClean="0">
                          <a:solidFill>
                            <a:srgbClr val="FF0000"/>
                          </a:solidFill>
                        </a:rPr>
                        <a:t>6</a:t>
                      </a:r>
                      <a:r>
                        <a:rPr lang="en-US" i="1" baseline="-25000" dirty="0" smtClean="0">
                          <a:solidFill>
                            <a:srgbClr val="FF0000"/>
                          </a:solidFill>
                        </a:rPr>
                        <a:t>h</a:t>
                      </a:r>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solidFill>
                            <a:srgbClr val="FF0000"/>
                          </a:solidFill>
                        </a:rPr>
                        <a:t>D</a:t>
                      </a:r>
                      <a:r>
                        <a:rPr lang="en-US" i="1" baseline="-25000" dirty="0" smtClean="0">
                          <a:solidFill>
                            <a:srgbClr val="FF0000"/>
                          </a:solidFill>
                        </a:rPr>
                        <a:t>3h</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C</a:t>
                      </a:r>
                      <a:r>
                        <a:rPr lang="en-US" baseline="-25000" dirty="0" smtClean="0">
                          <a:solidFill>
                            <a:srgbClr val="FF0000"/>
                          </a:solidFill>
                        </a:rPr>
                        <a:t>6</a:t>
                      </a:r>
                      <a:r>
                        <a:rPr lang="en-US" i="1" baseline="-25000" dirty="0" smtClean="0">
                          <a:solidFill>
                            <a:srgbClr val="FF0000"/>
                          </a:solidFill>
                        </a:rPr>
                        <a:t>v</a:t>
                      </a:r>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solidFill>
                            <a:srgbClr val="FF0000"/>
                          </a:solidFill>
                        </a:rPr>
                        <a:t>D</a:t>
                      </a:r>
                      <a:r>
                        <a:rPr lang="en-US" i="1" baseline="-25000" dirty="0" smtClean="0">
                          <a:solidFill>
                            <a:srgbClr val="FF0000"/>
                          </a:solidFill>
                        </a:rPr>
                        <a:t>6</a:t>
                      </a:r>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solidFill>
                            <a:srgbClr val="FF0000"/>
                          </a:solidFill>
                        </a:rPr>
                        <a:t>D</a:t>
                      </a:r>
                      <a:r>
                        <a:rPr lang="en-US" i="1" baseline="-25000" dirty="0" smtClean="0">
                          <a:solidFill>
                            <a:srgbClr val="FF0000"/>
                          </a:solidFill>
                        </a:rPr>
                        <a:t>6h</a:t>
                      </a:r>
                      <a:endParaRPr lang="en-US"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E C</a:t>
                      </a:r>
                      <a:r>
                        <a:rPr lang="en-US" baseline="-25000" dirty="0" smtClean="0"/>
                        <a:t>6 </a:t>
                      </a:r>
                      <a:r>
                        <a:rPr lang="en-US" dirty="0" smtClean="0"/>
                        <a:t>2</a:t>
                      </a:r>
                      <a:r>
                        <a:rPr lang="en-US" i="1" dirty="0" smtClean="0"/>
                        <a:t>C</a:t>
                      </a:r>
                      <a:r>
                        <a:rPr lang="en-US" baseline="-25000" dirty="0" smtClean="0"/>
                        <a:t>3 </a:t>
                      </a:r>
                      <a:r>
                        <a:rPr lang="en-US" i="1" dirty="0" smtClean="0"/>
                        <a:t>C</a:t>
                      </a:r>
                      <a:r>
                        <a:rPr lang="en-US" baseline="-25000" dirty="0" smtClean="0"/>
                        <a:t>2</a:t>
                      </a:r>
                      <a:endParaRPr lang="en-US" i="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E C</a:t>
                      </a:r>
                      <a:r>
                        <a:rPr lang="en-US" i="0" baseline="-25000" dirty="0" smtClean="0"/>
                        <a:t>3 </a:t>
                      </a:r>
                      <a:r>
                        <a:rPr lang="en-US" i="1" dirty="0" smtClean="0">
                          <a:sym typeface="Symbol"/>
                        </a:rPr>
                        <a:t></a:t>
                      </a:r>
                      <a:r>
                        <a:rPr lang="en-US" i="1" baseline="-25000" dirty="0" smtClean="0"/>
                        <a:t>h </a:t>
                      </a:r>
                      <a:r>
                        <a:rPr lang="en-US" dirty="0" smtClean="0"/>
                        <a:t>2</a:t>
                      </a:r>
                      <a:r>
                        <a:rPr lang="en-US" i="1" dirty="0" smtClean="0"/>
                        <a:t>S</a:t>
                      </a:r>
                      <a:r>
                        <a:rPr lang="en-US" i="1" baseline="-25000" dirty="0" smtClean="0"/>
                        <a:t>3</a:t>
                      </a:r>
                      <a:endParaRPr lang="en-US" i="0" baseline="-250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E C</a:t>
                      </a:r>
                      <a:r>
                        <a:rPr lang="en-US" baseline="-25000" dirty="0" smtClean="0"/>
                        <a:t>6 </a:t>
                      </a:r>
                      <a:r>
                        <a:rPr lang="en-US" i="0" dirty="0" smtClean="0"/>
                        <a:t>2</a:t>
                      </a:r>
                      <a:r>
                        <a:rPr lang="en-US" i="1" dirty="0" smtClean="0"/>
                        <a:t>C</a:t>
                      </a:r>
                      <a:r>
                        <a:rPr lang="en-US" i="0" baseline="-25000" dirty="0" smtClean="0"/>
                        <a:t>3 </a:t>
                      </a:r>
                      <a:r>
                        <a:rPr lang="en-US" i="1" dirty="0" smtClean="0"/>
                        <a:t>C</a:t>
                      </a:r>
                      <a:r>
                        <a:rPr lang="en-US" baseline="-25000" dirty="0" smtClean="0"/>
                        <a:t>2 </a:t>
                      </a:r>
                      <a:r>
                        <a:rPr lang="en-US" i="1" dirty="0" err="1" smtClean="0"/>
                        <a:t>i</a:t>
                      </a:r>
                      <a:r>
                        <a:rPr lang="en-US" i="1" dirty="0" smtClean="0"/>
                        <a:t> </a:t>
                      </a:r>
                      <a:r>
                        <a:rPr lang="en-US" dirty="0" smtClean="0"/>
                        <a:t>2</a:t>
                      </a:r>
                      <a:r>
                        <a:rPr lang="en-US" i="1" dirty="0" smtClean="0"/>
                        <a:t>S</a:t>
                      </a:r>
                      <a:r>
                        <a:rPr lang="en-US" baseline="-25000" dirty="0" smtClean="0"/>
                        <a:t>3 </a:t>
                      </a:r>
                      <a:r>
                        <a:rPr lang="en-US" dirty="0" smtClean="0"/>
                        <a:t>2</a:t>
                      </a:r>
                      <a:r>
                        <a:rPr lang="en-US" i="1" dirty="0" smtClean="0"/>
                        <a:t>S</a:t>
                      </a:r>
                      <a:r>
                        <a:rPr lang="en-US" baseline="-25000" dirty="0" smtClean="0"/>
                        <a:t>6 </a:t>
                      </a:r>
                      <a:r>
                        <a:rPr lang="en-US" i="1" dirty="0" smtClean="0">
                          <a:sym typeface="Symbol"/>
                        </a:rPr>
                        <a:t></a:t>
                      </a:r>
                      <a:r>
                        <a:rPr lang="en-US" i="1" baseline="-25000" dirty="0" smtClean="0"/>
                        <a:t>h </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E C</a:t>
                      </a:r>
                      <a:r>
                        <a:rPr lang="en-US" i="0" baseline="-25000" dirty="0" smtClean="0"/>
                        <a:t>3 </a:t>
                      </a:r>
                      <a:r>
                        <a:rPr lang="en-US" i="0" dirty="0" smtClean="0"/>
                        <a:t>3</a:t>
                      </a:r>
                      <a:r>
                        <a:rPr lang="en-US" i="1" dirty="0" smtClean="0"/>
                        <a:t>C</a:t>
                      </a:r>
                      <a:r>
                        <a:rPr lang="en-US" i="0" baseline="-25000" dirty="0" smtClean="0"/>
                        <a:t>2 </a:t>
                      </a:r>
                      <a:r>
                        <a:rPr lang="en-US" i="1" dirty="0" smtClean="0">
                          <a:sym typeface="Symbol"/>
                        </a:rPr>
                        <a:t></a:t>
                      </a:r>
                      <a:r>
                        <a:rPr lang="en-US" i="1" baseline="-25000" dirty="0" smtClean="0"/>
                        <a:t>h </a:t>
                      </a:r>
                      <a:r>
                        <a:rPr lang="en-US" dirty="0" smtClean="0"/>
                        <a:t>2</a:t>
                      </a:r>
                      <a:r>
                        <a:rPr lang="en-US" i="1" dirty="0" smtClean="0"/>
                        <a:t>S</a:t>
                      </a:r>
                      <a:r>
                        <a:rPr lang="en-US" i="1" baseline="-25000" dirty="0" smtClean="0"/>
                        <a:t>3 </a:t>
                      </a:r>
                      <a:r>
                        <a:rPr lang="en-US" baseline="0" dirty="0" smtClean="0"/>
                        <a:t>3</a:t>
                      </a:r>
                      <a:r>
                        <a:rPr lang="en-US" i="1" dirty="0" smtClean="0">
                          <a:sym typeface="Symbol"/>
                        </a:rPr>
                        <a:t></a:t>
                      </a:r>
                      <a:r>
                        <a:rPr lang="en-US" i="1" baseline="-25000" dirty="0" smtClean="0"/>
                        <a:t>V </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E C</a:t>
                      </a:r>
                      <a:r>
                        <a:rPr lang="en-US" baseline="-25000" dirty="0" smtClean="0"/>
                        <a:t>6 </a:t>
                      </a:r>
                      <a:r>
                        <a:rPr lang="en-US" i="0" dirty="0" smtClean="0"/>
                        <a:t>2</a:t>
                      </a:r>
                      <a:r>
                        <a:rPr lang="en-US" i="1" dirty="0" smtClean="0"/>
                        <a:t>C</a:t>
                      </a:r>
                      <a:r>
                        <a:rPr lang="en-US" i="0" baseline="-25000" dirty="0" smtClean="0"/>
                        <a:t>3 </a:t>
                      </a:r>
                      <a:r>
                        <a:rPr lang="en-US" i="1" dirty="0" smtClean="0"/>
                        <a:t>C</a:t>
                      </a:r>
                      <a:r>
                        <a:rPr lang="en-US" baseline="-25000" dirty="0" smtClean="0"/>
                        <a:t>2 </a:t>
                      </a:r>
                      <a:r>
                        <a:rPr lang="en-US" baseline="0" dirty="0" smtClean="0"/>
                        <a:t>3</a:t>
                      </a:r>
                      <a:r>
                        <a:rPr lang="en-US" i="1" dirty="0" smtClean="0">
                          <a:sym typeface="Symbol"/>
                        </a:rPr>
                        <a:t></a:t>
                      </a:r>
                      <a:r>
                        <a:rPr lang="en-US" i="1" baseline="-25000" dirty="0" smtClean="0"/>
                        <a:t>V  </a:t>
                      </a:r>
                      <a:r>
                        <a:rPr lang="en-US" baseline="0" dirty="0" smtClean="0"/>
                        <a:t>3</a:t>
                      </a:r>
                      <a:r>
                        <a:rPr lang="en-US" i="1" dirty="0" smtClean="0">
                          <a:sym typeface="Symbol"/>
                        </a:rPr>
                        <a:t></a:t>
                      </a:r>
                      <a:r>
                        <a:rPr lang="en-US" i="1" baseline="-25000" dirty="0" smtClean="0"/>
                        <a:t>d </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E C</a:t>
                      </a:r>
                      <a:r>
                        <a:rPr lang="en-US" baseline="-25000" dirty="0" smtClean="0"/>
                        <a:t>6 </a:t>
                      </a:r>
                      <a:r>
                        <a:rPr lang="en-US" i="0" dirty="0" smtClean="0"/>
                        <a:t>2</a:t>
                      </a:r>
                      <a:r>
                        <a:rPr lang="en-US" i="1" dirty="0" smtClean="0"/>
                        <a:t>C</a:t>
                      </a:r>
                      <a:r>
                        <a:rPr lang="en-US" i="0" baseline="-25000" dirty="0" smtClean="0"/>
                        <a:t>3 </a:t>
                      </a:r>
                      <a:r>
                        <a:rPr lang="en-US" i="1" dirty="0" smtClean="0"/>
                        <a:t>C</a:t>
                      </a:r>
                      <a:r>
                        <a:rPr lang="en-US" baseline="-25000" dirty="0" smtClean="0"/>
                        <a:t>2 </a:t>
                      </a:r>
                      <a:r>
                        <a:rPr lang="en-US" baseline="0" dirty="0" smtClean="0"/>
                        <a:t>3</a:t>
                      </a:r>
                      <a:r>
                        <a:rPr lang="en-US" i="1" dirty="0" smtClean="0"/>
                        <a:t>C’</a:t>
                      </a:r>
                      <a:r>
                        <a:rPr lang="en-US" baseline="-25000" dirty="0" smtClean="0"/>
                        <a:t>2 </a:t>
                      </a:r>
                      <a:r>
                        <a:rPr lang="en-US" baseline="0" dirty="0" smtClean="0"/>
                        <a:t>3</a:t>
                      </a:r>
                      <a:r>
                        <a:rPr lang="en-US" i="1" dirty="0" smtClean="0"/>
                        <a:t>C”</a:t>
                      </a:r>
                      <a:r>
                        <a:rPr lang="en-US" baseline="-25000" dirty="0" smtClean="0"/>
                        <a:t>2</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E C</a:t>
                      </a:r>
                      <a:r>
                        <a:rPr lang="en-US" baseline="-25000" dirty="0" smtClean="0"/>
                        <a:t>6 </a:t>
                      </a:r>
                      <a:r>
                        <a:rPr lang="en-US" i="0" dirty="0" smtClean="0"/>
                        <a:t>2</a:t>
                      </a:r>
                      <a:r>
                        <a:rPr lang="en-US" i="1" dirty="0" smtClean="0"/>
                        <a:t>C</a:t>
                      </a:r>
                      <a:r>
                        <a:rPr lang="en-US" i="0" baseline="-25000" dirty="0" smtClean="0"/>
                        <a:t>3 </a:t>
                      </a:r>
                      <a:r>
                        <a:rPr lang="en-US" i="1" dirty="0" smtClean="0"/>
                        <a:t>C</a:t>
                      </a:r>
                      <a:r>
                        <a:rPr lang="en-US" baseline="-25000" dirty="0" smtClean="0"/>
                        <a:t>2 </a:t>
                      </a:r>
                      <a:r>
                        <a:rPr lang="en-US" baseline="0" dirty="0" smtClean="0"/>
                        <a:t>3</a:t>
                      </a:r>
                      <a:r>
                        <a:rPr lang="en-US" i="1" dirty="0" smtClean="0"/>
                        <a:t>C’</a:t>
                      </a:r>
                      <a:r>
                        <a:rPr lang="en-US" baseline="-25000" dirty="0" smtClean="0"/>
                        <a:t>2 </a:t>
                      </a:r>
                      <a:r>
                        <a:rPr lang="en-US" baseline="0" dirty="0" smtClean="0"/>
                        <a:t>3</a:t>
                      </a:r>
                      <a:r>
                        <a:rPr lang="en-US" i="1" dirty="0" smtClean="0"/>
                        <a:t>C”</a:t>
                      </a:r>
                      <a:r>
                        <a:rPr lang="en-US" baseline="-25000" dirty="0" smtClean="0"/>
                        <a:t>2 </a:t>
                      </a:r>
                      <a:r>
                        <a:rPr lang="en-US" i="1" dirty="0" err="1" smtClean="0"/>
                        <a:t>i</a:t>
                      </a:r>
                      <a:r>
                        <a:rPr lang="en-US" i="1" dirty="0" smtClean="0"/>
                        <a:t> </a:t>
                      </a:r>
                      <a:r>
                        <a:rPr lang="en-US" dirty="0" smtClean="0"/>
                        <a:t>2</a:t>
                      </a:r>
                      <a:r>
                        <a:rPr lang="en-US" i="1" dirty="0" smtClean="0"/>
                        <a:t>S</a:t>
                      </a:r>
                      <a:r>
                        <a:rPr lang="en-US" baseline="-25000" dirty="0" smtClean="0"/>
                        <a:t>3 </a:t>
                      </a:r>
                      <a:r>
                        <a:rPr lang="en-US" dirty="0" smtClean="0"/>
                        <a:t>2</a:t>
                      </a:r>
                      <a:r>
                        <a:rPr lang="en-US" i="1" dirty="0" smtClean="0"/>
                        <a:t>S</a:t>
                      </a:r>
                      <a:r>
                        <a:rPr lang="en-US" baseline="-25000" dirty="0" smtClean="0"/>
                        <a:t>6 </a:t>
                      </a:r>
                      <a:r>
                        <a:rPr lang="en-US" i="1" dirty="0" smtClean="0">
                          <a:sym typeface="Symbol"/>
                        </a:rPr>
                        <a:t></a:t>
                      </a:r>
                      <a:r>
                        <a:rPr lang="en-US" i="1" baseline="-25000" dirty="0" smtClean="0"/>
                        <a:t>h </a:t>
                      </a:r>
                      <a:r>
                        <a:rPr lang="en-US" baseline="0" dirty="0" smtClean="0"/>
                        <a:t>3</a:t>
                      </a:r>
                      <a:r>
                        <a:rPr lang="en-US" i="1" dirty="0" smtClean="0">
                          <a:sym typeface="Symbol"/>
                        </a:rPr>
                        <a:t></a:t>
                      </a:r>
                      <a:r>
                        <a:rPr lang="en-US" i="1" baseline="-25000" dirty="0" smtClean="0"/>
                        <a:t>d  </a:t>
                      </a:r>
                      <a:r>
                        <a:rPr lang="en-US" baseline="0" dirty="0" smtClean="0"/>
                        <a:t>3</a:t>
                      </a:r>
                      <a:r>
                        <a:rPr lang="en-US" i="1" dirty="0" smtClean="0">
                          <a:sym typeface="Symbol"/>
                        </a:rPr>
                        <a:t></a:t>
                      </a:r>
                      <a:r>
                        <a:rPr lang="en-US" i="1" baseline="-25000" dirty="0" smtClean="0"/>
                        <a:t>v</a:t>
                      </a:r>
                      <a:endParaRPr lang="en-US" dirty="0"/>
                    </a:p>
                  </a:txBody>
                  <a:tcPr/>
                </a:tc>
              </a:tr>
              <a:tr h="370840">
                <a:tc>
                  <a:txBody>
                    <a:bodyPr/>
                    <a:lstStyle/>
                    <a:p>
                      <a:r>
                        <a:rPr lang="en-US" dirty="0" smtClean="0">
                          <a:solidFill>
                            <a:srgbClr val="00B050"/>
                          </a:solidFill>
                        </a:rPr>
                        <a:t>Cubic </a:t>
                      </a:r>
                      <a:endParaRPr lang="en-US" dirty="0">
                        <a:solidFill>
                          <a:srgbClr val="00B050"/>
                        </a:solidFill>
                      </a:endParaRPr>
                    </a:p>
                  </a:txBody>
                  <a:tcPr/>
                </a:tc>
                <a:tc>
                  <a:txBody>
                    <a:bodyPr/>
                    <a:lstStyle/>
                    <a:p>
                      <a:r>
                        <a:rPr lang="en-US" dirty="0" smtClean="0">
                          <a:solidFill>
                            <a:srgbClr val="00B0F0"/>
                          </a:solidFill>
                        </a:rPr>
                        <a:t>23</a:t>
                      </a:r>
                      <a:endParaRPr lang="en-US" i="1" dirty="0" smtClean="0">
                        <a:solidFill>
                          <a:srgbClr val="00B0F0"/>
                        </a:solidFill>
                      </a:endParaRPr>
                    </a:p>
                    <a:p>
                      <a:r>
                        <a:rPr lang="en-US" dirty="0" smtClean="0">
                          <a:solidFill>
                            <a:srgbClr val="00B0F0"/>
                          </a:solidFill>
                        </a:rPr>
                        <a:t>m3</a:t>
                      </a:r>
                    </a:p>
                    <a:p>
                      <a:r>
                        <a:rPr lang="en-US" dirty="0" smtClean="0">
                          <a:solidFill>
                            <a:srgbClr val="00B0F0"/>
                          </a:solidFill>
                        </a:rPr>
                        <a:t>4(bar)3</a:t>
                      </a:r>
                      <a:r>
                        <a:rPr lang="en-US" i="1" dirty="0" smtClean="0">
                          <a:solidFill>
                            <a:srgbClr val="00B0F0"/>
                          </a:solidFill>
                        </a:rPr>
                        <a:t>m</a:t>
                      </a:r>
                    </a:p>
                    <a:p>
                      <a:r>
                        <a:rPr lang="en-US" i="0" dirty="0" smtClean="0">
                          <a:solidFill>
                            <a:srgbClr val="00B0F0"/>
                          </a:solidFill>
                        </a:rPr>
                        <a:t>432</a:t>
                      </a:r>
                    </a:p>
                    <a:p>
                      <a:r>
                        <a:rPr lang="en-US" i="1" dirty="0" smtClean="0">
                          <a:solidFill>
                            <a:srgbClr val="00B0F0"/>
                          </a:solidFill>
                        </a:rPr>
                        <a:t>m</a:t>
                      </a:r>
                      <a:r>
                        <a:rPr lang="en-US" i="0" dirty="0" smtClean="0">
                          <a:solidFill>
                            <a:srgbClr val="00B0F0"/>
                          </a:solidFill>
                        </a:rPr>
                        <a:t>3</a:t>
                      </a:r>
                      <a:r>
                        <a:rPr lang="en-US" i="1" dirty="0" smtClean="0">
                          <a:solidFill>
                            <a:srgbClr val="00B0F0"/>
                          </a:solidFill>
                        </a:rPr>
                        <a:t>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T</a:t>
                      </a:r>
                      <a:endParaRPr lang="en-US" i="0" baseline="-25000" dirty="0" smtClean="0">
                        <a:solidFill>
                          <a:srgbClr val="FF0000"/>
                        </a:solidFill>
                      </a:endParaRPr>
                    </a:p>
                    <a:p>
                      <a:r>
                        <a:rPr lang="en-US" i="1" dirty="0" err="1" smtClean="0">
                          <a:solidFill>
                            <a:srgbClr val="FF0000"/>
                          </a:solidFill>
                        </a:rPr>
                        <a:t>T</a:t>
                      </a:r>
                      <a:r>
                        <a:rPr lang="en-US" i="1" baseline="-25000" dirty="0" err="1" smtClean="0">
                          <a:solidFill>
                            <a:srgbClr val="FF0000"/>
                          </a:solidFill>
                        </a:rPr>
                        <a:t>h</a:t>
                      </a:r>
                      <a:endParaRPr lang="en-US" baseline="-25000" dirty="0" smtClean="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solidFill>
                            <a:srgbClr val="FF0000"/>
                          </a:solidFill>
                        </a:rPr>
                        <a:t>T</a:t>
                      </a:r>
                      <a:r>
                        <a:rPr lang="en-US" i="1" baseline="-25000" dirty="0" smtClean="0">
                          <a:solidFill>
                            <a:srgbClr val="FF0000"/>
                          </a:solidFill>
                        </a:rPr>
                        <a:t>d</a:t>
                      </a:r>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solidFill>
                            <a:srgbClr val="FF0000"/>
                          </a:solidFill>
                        </a:rPr>
                        <a:t>O</a:t>
                      </a:r>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solidFill>
                            <a:srgbClr val="FF0000"/>
                          </a:solidFill>
                        </a:rPr>
                        <a:t>O</a:t>
                      </a:r>
                      <a:r>
                        <a:rPr lang="en-US" i="1" baseline="-25000" dirty="0" smtClean="0">
                          <a:solidFill>
                            <a:srgbClr val="FF0000"/>
                          </a:solidFill>
                        </a:rPr>
                        <a:t>h</a:t>
                      </a:r>
                    </a:p>
                  </a:txBody>
                  <a:tcPr/>
                </a:tc>
                <a:tc>
                  <a:txBody>
                    <a:bodyPr/>
                    <a:lstStyle/>
                    <a:p>
                      <a:r>
                        <a:rPr lang="en-US" i="1" dirty="0" smtClean="0"/>
                        <a:t>E C</a:t>
                      </a:r>
                      <a:r>
                        <a:rPr lang="en-US" i="0" baseline="-25000" dirty="0" smtClean="0"/>
                        <a:t>3 </a:t>
                      </a:r>
                      <a:r>
                        <a:rPr lang="en-US" i="1" dirty="0" smtClean="0"/>
                        <a:t>4C</a:t>
                      </a:r>
                      <a:r>
                        <a:rPr lang="en-US" i="1" baseline="30000" dirty="0" smtClean="0"/>
                        <a:t>2</a:t>
                      </a:r>
                      <a:r>
                        <a:rPr lang="en-US" i="0" baseline="-25000" dirty="0" smtClean="0"/>
                        <a:t>3 </a:t>
                      </a:r>
                      <a:r>
                        <a:rPr lang="en-US" i="1" dirty="0" smtClean="0"/>
                        <a:t>3C</a:t>
                      </a:r>
                      <a:r>
                        <a:rPr lang="en-US" i="0" baseline="-25000" dirty="0" smtClean="0"/>
                        <a:t>2</a:t>
                      </a:r>
                      <a:endParaRPr lang="en-US" i="1" baseline="-25000" dirty="0" smtClean="0"/>
                    </a:p>
                    <a:p>
                      <a:r>
                        <a:rPr lang="en-US" i="1" dirty="0" smtClean="0"/>
                        <a:t>E C</a:t>
                      </a:r>
                      <a:r>
                        <a:rPr lang="en-US" i="0" baseline="-25000" dirty="0" smtClean="0"/>
                        <a:t>3 </a:t>
                      </a:r>
                      <a:r>
                        <a:rPr lang="en-US" i="1" dirty="0" smtClean="0"/>
                        <a:t>4C</a:t>
                      </a:r>
                      <a:r>
                        <a:rPr lang="en-US" i="1" baseline="30000" dirty="0" smtClean="0"/>
                        <a:t>2</a:t>
                      </a:r>
                      <a:r>
                        <a:rPr lang="en-US" i="0" baseline="-25000" dirty="0" smtClean="0"/>
                        <a:t>3 </a:t>
                      </a:r>
                      <a:r>
                        <a:rPr lang="en-US" i="1" dirty="0" smtClean="0"/>
                        <a:t>3C</a:t>
                      </a:r>
                      <a:r>
                        <a:rPr lang="en-US" i="0" baseline="-25000" dirty="0" smtClean="0"/>
                        <a:t>2 </a:t>
                      </a:r>
                      <a:r>
                        <a:rPr lang="en-US" i="1" baseline="0" dirty="0" err="1" smtClean="0"/>
                        <a:t>i</a:t>
                      </a:r>
                      <a:r>
                        <a:rPr lang="en-US" i="1" baseline="0" dirty="0" smtClean="0"/>
                        <a:t> </a:t>
                      </a:r>
                      <a:r>
                        <a:rPr lang="en-US" dirty="0" smtClean="0"/>
                        <a:t>8</a:t>
                      </a:r>
                      <a:r>
                        <a:rPr lang="en-US" i="1" dirty="0" smtClean="0"/>
                        <a:t>S</a:t>
                      </a:r>
                      <a:r>
                        <a:rPr lang="en-US" baseline="-25000" dirty="0" smtClean="0"/>
                        <a:t>6 </a:t>
                      </a:r>
                      <a:r>
                        <a:rPr lang="en-US" baseline="0" dirty="0" smtClean="0"/>
                        <a:t>3</a:t>
                      </a:r>
                      <a:r>
                        <a:rPr lang="en-US" i="1" dirty="0" smtClean="0">
                          <a:sym typeface="Symbol"/>
                        </a:rPr>
                        <a:t></a:t>
                      </a:r>
                      <a:r>
                        <a:rPr lang="en-US" i="1" baseline="-25000" dirty="0" smtClean="0"/>
                        <a:t>h</a:t>
                      </a:r>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t>E </a:t>
                      </a:r>
                      <a:r>
                        <a:rPr lang="en-US" i="1" dirty="0" smtClean="0"/>
                        <a:t>C</a:t>
                      </a:r>
                      <a:r>
                        <a:rPr lang="en-US" i="0" baseline="-25000" dirty="0" smtClean="0"/>
                        <a:t>3 </a:t>
                      </a:r>
                      <a:r>
                        <a:rPr lang="en-US" i="1" dirty="0" smtClean="0"/>
                        <a:t>3C</a:t>
                      </a:r>
                      <a:r>
                        <a:rPr lang="en-US" i="0" baseline="-25000" dirty="0" smtClean="0"/>
                        <a:t>2 </a:t>
                      </a:r>
                      <a:r>
                        <a:rPr lang="en-US" baseline="0" dirty="0" smtClean="0"/>
                        <a:t>6</a:t>
                      </a:r>
                      <a:r>
                        <a:rPr lang="en-US" i="1" dirty="0" smtClean="0">
                          <a:sym typeface="Symbol"/>
                        </a:rPr>
                        <a:t></a:t>
                      </a:r>
                      <a:r>
                        <a:rPr lang="en-US" i="1" baseline="-25000" dirty="0" smtClean="0"/>
                        <a:t>d </a:t>
                      </a:r>
                      <a:r>
                        <a:rPr lang="en-US" dirty="0" smtClean="0"/>
                        <a:t>6</a:t>
                      </a:r>
                      <a:r>
                        <a:rPr lang="en-US" i="1" dirty="0" smtClean="0"/>
                        <a:t>S</a:t>
                      </a:r>
                      <a:r>
                        <a:rPr lang="en-US" baseline="-25000" dirty="0" smtClean="0"/>
                        <a:t>4</a:t>
                      </a:r>
                      <a:endParaRPr lang="en-US" i="1"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t>E </a:t>
                      </a:r>
                      <a:r>
                        <a:rPr lang="en-US" i="1" dirty="0" smtClean="0"/>
                        <a:t>C</a:t>
                      </a:r>
                      <a:r>
                        <a:rPr lang="en-US" i="0" baseline="-25000" dirty="0" smtClean="0"/>
                        <a:t>3 </a:t>
                      </a:r>
                      <a:r>
                        <a:rPr lang="en-US" i="1" dirty="0" smtClean="0"/>
                        <a:t>3C</a:t>
                      </a:r>
                      <a:r>
                        <a:rPr lang="en-US" i="0" baseline="-25000" dirty="0" smtClean="0"/>
                        <a:t>2 </a:t>
                      </a:r>
                      <a:r>
                        <a:rPr lang="en-US" dirty="0" smtClean="0"/>
                        <a:t>6</a:t>
                      </a:r>
                      <a:r>
                        <a:rPr lang="en-US" i="1" dirty="0" smtClean="0"/>
                        <a:t>C’</a:t>
                      </a:r>
                      <a:r>
                        <a:rPr lang="en-US" i="0" baseline="-25000" dirty="0" smtClean="0"/>
                        <a:t>2 </a:t>
                      </a:r>
                      <a:r>
                        <a:rPr lang="en-US" dirty="0" smtClean="0"/>
                        <a:t>6</a:t>
                      </a:r>
                      <a:r>
                        <a:rPr lang="en-US" i="1" dirty="0" smtClean="0"/>
                        <a:t>C</a:t>
                      </a:r>
                      <a:r>
                        <a:rPr lang="en-US" i="0" baseline="-25000" dirty="0" smtClean="0"/>
                        <a:t>4</a:t>
                      </a:r>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t>E </a:t>
                      </a:r>
                      <a:r>
                        <a:rPr lang="en-US" i="1" dirty="0" smtClean="0"/>
                        <a:t>C</a:t>
                      </a:r>
                      <a:r>
                        <a:rPr lang="en-US" i="0" baseline="-25000" dirty="0" smtClean="0"/>
                        <a:t>3 </a:t>
                      </a:r>
                      <a:r>
                        <a:rPr lang="en-US" i="1" dirty="0" smtClean="0"/>
                        <a:t>3C</a:t>
                      </a:r>
                      <a:r>
                        <a:rPr lang="en-US" i="0" baseline="-25000" dirty="0" smtClean="0"/>
                        <a:t>2 </a:t>
                      </a:r>
                      <a:r>
                        <a:rPr lang="en-US" i="1" dirty="0" smtClean="0"/>
                        <a:t>6C</a:t>
                      </a:r>
                      <a:r>
                        <a:rPr lang="en-US" i="0" baseline="-25000" dirty="0" smtClean="0"/>
                        <a:t>2 </a:t>
                      </a:r>
                      <a:r>
                        <a:rPr lang="en-US" dirty="0" smtClean="0"/>
                        <a:t>6</a:t>
                      </a:r>
                      <a:r>
                        <a:rPr lang="en-US" i="1" dirty="0" smtClean="0"/>
                        <a:t>C</a:t>
                      </a:r>
                      <a:r>
                        <a:rPr lang="en-US" i="0" baseline="-25000" dirty="0" smtClean="0"/>
                        <a:t>4 </a:t>
                      </a:r>
                      <a:r>
                        <a:rPr lang="en-US" i="1" baseline="0" dirty="0" err="1" smtClean="0"/>
                        <a:t>i</a:t>
                      </a:r>
                      <a:r>
                        <a:rPr lang="en-US" i="1" baseline="0" dirty="0" smtClean="0"/>
                        <a:t> </a:t>
                      </a:r>
                      <a:r>
                        <a:rPr lang="en-US" dirty="0" smtClean="0"/>
                        <a:t>8</a:t>
                      </a:r>
                      <a:r>
                        <a:rPr lang="en-US" i="1" dirty="0" smtClean="0"/>
                        <a:t>S</a:t>
                      </a:r>
                      <a:r>
                        <a:rPr lang="en-US" baseline="-25000" dirty="0" smtClean="0"/>
                        <a:t>6 </a:t>
                      </a:r>
                      <a:r>
                        <a:rPr lang="en-US" baseline="0" dirty="0" smtClean="0"/>
                        <a:t>3</a:t>
                      </a:r>
                      <a:r>
                        <a:rPr lang="en-US" i="1" dirty="0" smtClean="0">
                          <a:sym typeface="Symbol"/>
                        </a:rPr>
                        <a:t></a:t>
                      </a:r>
                      <a:r>
                        <a:rPr lang="en-US" i="1" baseline="-25000" dirty="0" smtClean="0"/>
                        <a:t>h </a:t>
                      </a:r>
                      <a:r>
                        <a:rPr lang="en-US" baseline="0" dirty="0" smtClean="0"/>
                        <a:t>6</a:t>
                      </a:r>
                      <a:r>
                        <a:rPr lang="en-US" i="1" dirty="0" smtClean="0">
                          <a:sym typeface="Symbol"/>
                        </a:rPr>
                        <a:t></a:t>
                      </a:r>
                      <a:r>
                        <a:rPr lang="en-US" i="1" baseline="-25000" dirty="0" smtClean="0">
                          <a:sym typeface="Symbol"/>
                        </a:rPr>
                        <a:t>d </a:t>
                      </a:r>
                      <a:r>
                        <a:rPr lang="en-US" dirty="0" smtClean="0"/>
                        <a:t>6</a:t>
                      </a:r>
                      <a:r>
                        <a:rPr lang="en-US" i="1" dirty="0" smtClean="0"/>
                        <a:t>S</a:t>
                      </a:r>
                      <a:r>
                        <a:rPr lang="en-US" baseline="-25000" dirty="0" smtClean="0"/>
                        <a:t>4</a:t>
                      </a:r>
                      <a:endParaRPr lang="en-US" i="1" baseline="0" dirty="0" smtClean="0"/>
                    </a:p>
                  </a:txBody>
                  <a:tcPr/>
                </a:tc>
              </a:tr>
            </a:tbl>
          </a:graphicData>
        </a:graphic>
      </p:graphicFrame>
      <p:sp>
        <p:nvSpPr>
          <p:cNvPr id="4" name="Rectangle 3"/>
          <p:cNvSpPr/>
          <p:nvPr/>
        </p:nvSpPr>
        <p:spPr>
          <a:xfrm>
            <a:off x="3200400" y="152400"/>
            <a:ext cx="2574743" cy="461665"/>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US" sz="2400" b="1" cap="none" spc="0" dirty="0" smtClean="0">
                <a:ln/>
                <a:solidFill>
                  <a:srgbClr val="FF0000"/>
                </a:solidFill>
                <a:effectLst/>
              </a:rPr>
              <a:t>32 point groups </a:t>
            </a:r>
            <a:endParaRPr lang="en-US" sz="2400" b="1" cap="none" spc="0" dirty="0">
              <a:ln/>
              <a:solidFill>
                <a:srgbClr val="FF0000"/>
              </a:solidFill>
              <a:effectLst/>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2" name="Picture 2" descr="http://www.chem.ox.ac.uk/icl/heyes/structure_of_solids/lecture1/Bravais.gif"/>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017364" y="825708"/>
            <a:ext cx="4775206" cy="54226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2771373" y="380999"/>
            <a:ext cx="3091359" cy="461665"/>
          </a:xfrm>
          <a:prstGeom prst="rect">
            <a:avLst/>
          </a:prstGeom>
          <a:noFill/>
        </p:spPr>
        <p:txBody>
          <a:bodyPr wrap="none" lIns="91440" tIns="45720" rIns="91440" bIns="45720">
            <a:spAutoFit/>
          </a:bodyPr>
          <a:lstStyle/>
          <a:p>
            <a:pPr algn="ctr"/>
            <a:r>
              <a:rPr lang="en-US" sz="2400" b="1" cap="all" spc="0" dirty="0" err="1" smtClean="0">
                <a:ln w="9000" cmpd="sng">
                  <a:solidFill>
                    <a:schemeClr val="accent4">
                      <a:shade val="50000"/>
                      <a:satMod val="120000"/>
                    </a:schemeClr>
                  </a:solidFill>
                  <a:prstDash val="solid"/>
                </a:ln>
                <a:solidFill>
                  <a:schemeClr val="accent4">
                    <a:lumMod val="75000"/>
                  </a:schemeClr>
                </a:solidFill>
                <a:effectLst>
                  <a:reflection blurRad="12700" stA="28000" endPos="45000" dist="1000" dir="5400000" sy="-100000" algn="bl" rotWithShape="0"/>
                </a:effectLst>
              </a:rPr>
              <a:t>Bravais</a:t>
            </a:r>
            <a:r>
              <a:rPr lang="en-US" sz="2400" b="1" cap="all" spc="0" dirty="0" smtClean="0">
                <a:ln w="9000" cmpd="sng">
                  <a:solidFill>
                    <a:schemeClr val="accent4">
                      <a:shade val="50000"/>
                      <a:satMod val="120000"/>
                    </a:schemeClr>
                  </a:solidFill>
                  <a:prstDash val="solid"/>
                </a:ln>
                <a:solidFill>
                  <a:schemeClr val="accent4">
                    <a:lumMod val="75000"/>
                  </a:schemeClr>
                </a:solidFill>
                <a:effectLst>
                  <a:reflection blurRad="12700" stA="28000" endPos="45000" dist="1000" dir="5400000" sy="-100000" algn="bl" rotWithShape="0"/>
                </a:effectLst>
              </a:rPr>
              <a:t> Lattices</a:t>
            </a:r>
            <a:endParaRPr lang="en-US" sz="2400" b="1" cap="all" spc="0" dirty="0">
              <a:ln w="9000" cmpd="sng">
                <a:solidFill>
                  <a:schemeClr val="accent4">
                    <a:shade val="50000"/>
                    <a:satMod val="120000"/>
                  </a:schemeClr>
                </a:solidFill>
                <a:prstDash val="solid"/>
              </a:ln>
              <a:solidFill>
                <a:schemeClr val="accent4">
                  <a:lumMod val="75000"/>
                </a:schemeClr>
              </a:solidFill>
              <a:effectLst>
                <a:reflection blurRad="12700" stA="28000" endPos="45000" dist="1000" dir="5400000" sy="-100000" algn="bl" rotWithShape="0"/>
              </a:effectLst>
            </a:endParaRPr>
          </a:p>
        </p:txBody>
      </p:sp>
      <p:sp>
        <p:nvSpPr>
          <p:cNvPr id="5" name="TextBox 4"/>
          <p:cNvSpPr txBox="1"/>
          <p:nvPr/>
        </p:nvSpPr>
        <p:spPr>
          <a:xfrm>
            <a:off x="838200" y="1752600"/>
            <a:ext cx="2743518" cy="646331"/>
          </a:xfrm>
          <a:prstGeom prst="rect">
            <a:avLst/>
          </a:prstGeom>
          <a:noFill/>
        </p:spPr>
        <p:txBody>
          <a:bodyPr wrap="square" rtlCol="0">
            <a:spAutoFit/>
          </a:bodyPr>
          <a:lstStyle/>
          <a:p>
            <a:r>
              <a:rPr lang="en-IN" dirty="0" smtClean="0"/>
              <a:t>7 Crystal System</a:t>
            </a:r>
          </a:p>
          <a:p>
            <a:r>
              <a:rPr lang="en-IN" dirty="0" smtClean="0"/>
              <a:t>14 </a:t>
            </a:r>
            <a:r>
              <a:rPr lang="en-IN" dirty="0" err="1" smtClean="0"/>
              <a:t>Bravais</a:t>
            </a:r>
            <a:r>
              <a:rPr lang="en-IN" dirty="0" smtClean="0"/>
              <a:t> Lattices</a:t>
            </a:r>
            <a:endParaRPr lang="en-US" dirty="0"/>
          </a:p>
        </p:txBody>
      </p:sp>
    </p:spTree>
    <p:extLst>
      <p:ext uri="{BB962C8B-B14F-4D97-AF65-F5344CB8AC3E}">
        <p14:creationId xmlns="" xmlns:p14="http://schemas.microsoft.com/office/powerpoint/2010/main" val="27448087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58271" y="269823"/>
            <a:ext cx="5472652" cy="646331"/>
          </a:xfrm>
          <a:prstGeom prst="rect">
            <a:avLst/>
          </a:prstGeom>
        </p:spPr>
        <p:txBody>
          <a:bodyPr wrap="none">
            <a:spAutoFit/>
          </a:bodyPr>
          <a:lstStyle/>
          <a:p>
            <a:r>
              <a:rPr lang="en-US" sz="3600" b="1" dirty="0" smtClean="0">
                <a:solidFill>
                  <a:srgbClr val="C00000"/>
                </a:solidFill>
                <a:effectLst>
                  <a:outerShdw blurRad="38100" dist="38100" dir="2700000" algn="tl">
                    <a:srgbClr val="000000">
                      <a:alpha val="43137"/>
                    </a:srgbClr>
                  </a:outerShdw>
                </a:effectLst>
              </a:rPr>
              <a:t>Derivation of Space Group</a:t>
            </a:r>
            <a:endParaRPr lang="en-US" sz="3600" b="1" dirty="0">
              <a:solidFill>
                <a:srgbClr val="C00000"/>
              </a:solidFill>
              <a:effectLst>
                <a:outerShdw blurRad="38100" dist="38100" dir="2700000" algn="tl">
                  <a:srgbClr val="000000">
                    <a:alpha val="43137"/>
                  </a:srgbClr>
                </a:outerShdw>
              </a:effectLst>
            </a:endParaRPr>
          </a:p>
        </p:txBody>
      </p:sp>
      <p:sp>
        <p:nvSpPr>
          <p:cNvPr id="187" name="Rectangle 186"/>
          <p:cNvSpPr/>
          <p:nvPr/>
        </p:nvSpPr>
        <p:spPr>
          <a:xfrm>
            <a:off x="209863" y="971494"/>
            <a:ext cx="8694294" cy="5651419"/>
          </a:xfrm>
          <a:prstGeom prst="rect">
            <a:avLst/>
          </a:prstGeom>
        </p:spPr>
        <p:txBody>
          <a:bodyPr wrap="square">
            <a:spAutoFit/>
          </a:bodyPr>
          <a:lstStyle/>
          <a:p>
            <a:pPr marL="457200" indent="-457200" algn="just">
              <a:lnSpc>
                <a:spcPct val="114000"/>
              </a:lnSpc>
              <a:spcBef>
                <a:spcPts val="600"/>
              </a:spcBef>
              <a:spcAft>
                <a:spcPts val="600"/>
              </a:spcAft>
              <a:buFont typeface="Wingdings" pitchFamily="2" charset="2"/>
              <a:buChar char="v"/>
            </a:pPr>
            <a:r>
              <a:rPr lang="en-US" sz="2100" b="1" dirty="0" smtClean="0">
                <a:solidFill>
                  <a:srgbClr val="0070C0"/>
                </a:solidFill>
              </a:rPr>
              <a:t>Total seven crystal system; one crystal system at a time.</a:t>
            </a:r>
          </a:p>
          <a:p>
            <a:pPr marL="457200" indent="-457200" algn="just">
              <a:lnSpc>
                <a:spcPct val="114000"/>
              </a:lnSpc>
              <a:spcBef>
                <a:spcPts val="600"/>
              </a:spcBef>
              <a:spcAft>
                <a:spcPts val="600"/>
              </a:spcAft>
              <a:buFont typeface="Wingdings" pitchFamily="2" charset="2"/>
              <a:buChar char="v"/>
            </a:pPr>
            <a:r>
              <a:rPr lang="en-US" sz="2100" b="1" dirty="0" smtClean="0">
                <a:solidFill>
                  <a:srgbClr val="0070C0"/>
                </a:solidFill>
              </a:rPr>
              <a:t>A particular system has definite number of point groups, </a:t>
            </a:r>
            <a:r>
              <a:rPr lang="en-US" sz="2100" b="1" i="1" dirty="0" smtClean="0">
                <a:solidFill>
                  <a:srgbClr val="0070C0"/>
                </a:solidFill>
              </a:rPr>
              <a:t>e.g.</a:t>
            </a:r>
            <a:r>
              <a:rPr lang="en-US" sz="2100" b="1" dirty="0" smtClean="0">
                <a:solidFill>
                  <a:srgbClr val="0070C0"/>
                </a:solidFill>
              </a:rPr>
              <a:t> </a:t>
            </a:r>
            <a:r>
              <a:rPr lang="en-US" sz="2100" b="1" dirty="0" smtClean="0">
                <a:solidFill>
                  <a:srgbClr val="00B050"/>
                </a:solidFill>
              </a:rPr>
              <a:t>monoclinic</a:t>
            </a:r>
            <a:r>
              <a:rPr lang="en-US" sz="2100" b="1" dirty="0" smtClean="0">
                <a:solidFill>
                  <a:srgbClr val="0070C0"/>
                </a:solidFill>
              </a:rPr>
              <a:t> system has </a:t>
            </a:r>
            <a:r>
              <a:rPr lang="en-US" sz="2100" b="1" dirty="0" smtClean="0">
                <a:solidFill>
                  <a:srgbClr val="FF0000"/>
                </a:solidFill>
              </a:rPr>
              <a:t>2</a:t>
            </a:r>
            <a:r>
              <a:rPr lang="en-US" sz="2100" b="1" dirty="0" smtClean="0">
                <a:solidFill>
                  <a:srgbClr val="0070C0"/>
                </a:solidFill>
              </a:rPr>
              <a:t>, </a:t>
            </a:r>
            <a:r>
              <a:rPr lang="en-US" sz="2100" b="1" i="1" dirty="0" smtClean="0">
                <a:solidFill>
                  <a:srgbClr val="FF0000"/>
                </a:solidFill>
              </a:rPr>
              <a:t>m</a:t>
            </a:r>
            <a:r>
              <a:rPr lang="en-US" sz="2100" b="1" dirty="0" smtClean="0">
                <a:solidFill>
                  <a:srgbClr val="0070C0"/>
                </a:solidFill>
              </a:rPr>
              <a:t> and </a:t>
            </a:r>
            <a:r>
              <a:rPr lang="en-US" sz="2100" b="1" dirty="0" smtClean="0">
                <a:solidFill>
                  <a:srgbClr val="FF0000"/>
                </a:solidFill>
              </a:rPr>
              <a:t>2/</a:t>
            </a:r>
            <a:r>
              <a:rPr lang="en-US" sz="2100" b="1" i="1" dirty="0" smtClean="0">
                <a:solidFill>
                  <a:srgbClr val="FF0000"/>
                </a:solidFill>
              </a:rPr>
              <a:t>m</a:t>
            </a:r>
            <a:r>
              <a:rPr lang="en-US" sz="2100" b="1" dirty="0" smtClean="0">
                <a:solidFill>
                  <a:srgbClr val="0070C0"/>
                </a:solidFill>
              </a:rPr>
              <a:t>.</a:t>
            </a:r>
          </a:p>
          <a:p>
            <a:pPr marL="457200" indent="-457200" algn="just">
              <a:lnSpc>
                <a:spcPct val="114000"/>
              </a:lnSpc>
              <a:spcBef>
                <a:spcPts val="600"/>
              </a:spcBef>
              <a:spcAft>
                <a:spcPts val="600"/>
              </a:spcAft>
              <a:buFont typeface="Wingdings" pitchFamily="2" charset="2"/>
              <a:buChar char="v"/>
            </a:pPr>
            <a:r>
              <a:rPr lang="en-US" sz="2100" b="1" dirty="0" smtClean="0">
                <a:solidFill>
                  <a:srgbClr val="0070C0"/>
                </a:solidFill>
              </a:rPr>
              <a:t>Combination of </a:t>
            </a:r>
            <a:r>
              <a:rPr lang="en-US" sz="2100" b="1" dirty="0" smtClean="0">
                <a:solidFill>
                  <a:srgbClr val="669900"/>
                </a:solidFill>
              </a:rPr>
              <a:t>screw axis </a:t>
            </a:r>
            <a:r>
              <a:rPr lang="en-US" sz="2100" b="1" dirty="0" smtClean="0">
                <a:solidFill>
                  <a:srgbClr val="0070C0"/>
                </a:solidFill>
              </a:rPr>
              <a:t>and </a:t>
            </a:r>
            <a:r>
              <a:rPr lang="en-US" sz="2100" b="1" dirty="0" smtClean="0">
                <a:solidFill>
                  <a:srgbClr val="669900"/>
                </a:solidFill>
              </a:rPr>
              <a:t>glide planes </a:t>
            </a:r>
            <a:r>
              <a:rPr lang="en-US" sz="2100" b="1" dirty="0" smtClean="0">
                <a:solidFill>
                  <a:srgbClr val="0070C0"/>
                </a:solidFill>
              </a:rPr>
              <a:t>with the </a:t>
            </a:r>
            <a:r>
              <a:rPr lang="en-US" sz="2100" b="1" dirty="0" smtClean="0">
                <a:solidFill>
                  <a:srgbClr val="FF0000"/>
                </a:solidFill>
              </a:rPr>
              <a:t>point group symmetries</a:t>
            </a:r>
            <a:r>
              <a:rPr lang="en-US" sz="2100" b="1" dirty="0" smtClean="0">
                <a:solidFill>
                  <a:srgbClr val="0070C0"/>
                </a:solidFill>
              </a:rPr>
              <a:t> in </a:t>
            </a:r>
            <a:r>
              <a:rPr lang="en-US" sz="2100" b="1" dirty="0" smtClean="0">
                <a:solidFill>
                  <a:srgbClr val="669900"/>
                </a:solidFill>
              </a:rPr>
              <a:t>monoclinic system </a:t>
            </a:r>
            <a:r>
              <a:rPr lang="en-US" sz="2100" b="1" dirty="0" smtClean="0">
                <a:solidFill>
                  <a:srgbClr val="0070C0"/>
                </a:solidFill>
              </a:rPr>
              <a:t>gives rise to </a:t>
            </a:r>
            <a:r>
              <a:rPr lang="en-US" sz="2100" b="1" dirty="0" smtClean="0">
                <a:solidFill>
                  <a:srgbClr val="FF0000"/>
                </a:solidFill>
              </a:rPr>
              <a:t>2</a:t>
            </a:r>
            <a:r>
              <a:rPr lang="en-US" sz="2100" b="1" dirty="0" smtClean="0">
                <a:solidFill>
                  <a:srgbClr val="0070C0"/>
                </a:solidFill>
              </a:rPr>
              <a:t>, </a:t>
            </a:r>
            <a:r>
              <a:rPr lang="en-US" sz="2100" b="1" dirty="0" smtClean="0">
                <a:solidFill>
                  <a:srgbClr val="FF0000"/>
                </a:solidFill>
              </a:rPr>
              <a:t>2</a:t>
            </a:r>
            <a:r>
              <a:rPr lang="en-US" sz="2100" b="1" baseline="-25000" dirty="0" smtClean="0">
                <a:solidFill>
                  <a:srgbClr val="FF0000"/>
                </a:solidFill>
              </a:rPr>
              <a:t>1</a:t>
            </a:r>
            <a:r>
              <a:rPr lang="en-US" sz="2100" b="1" dirty="0" smtClean="0">
                <a:solidFill>
                  <a:srgbClr val="0070C0"/>
                </a:solidFill>
              </a:rPr>
              <a:t>, </a:t>
            </a:r>
            <a:r>
              <a:rPr lang="en-US" sz="2100" b="1" i="1" dirty="0" smtClean="0">
                <a:solidFill>
                  <a:srgbClr val="FF0000"/>
                </a:solidFill>
              </a:rPr>
              <a:t>m</a:t>
            </a:r>
            <a:r>
              <a:rPr lang="en-US" sz="2100" b="1" dirty="0" smtClean="0">
                <a:solidFill>
                  <a:srgbClr val="0070C0"/>
                </a:solidFill>
              </a:rPr>
              <a:t>, </a:t>
            </a:r>
            <a:r>
              <a:rPr lang="en-US" sz="2100" b="1" i="1" dirty="0" smtClean="0">
                <a:solidFill>
                  <a:srgbClr val="FF0000"/>
                </a:solidFill>
              </a:rPr>
              <a:t>c</a:t>
            </a:r>
            <a:r>
              <a:rPr lang="en-US" sz="2100" b="1" dirty="0" smtClean="0">
                <a:solidFill>
                  <a:srgbClr val="0070C0"/>
                </a:solidFill>
              </a:rPr>
              <a:t>, </a:t>
            </a:r>
            <a:r>
              <a:rPr lang="en-US" sz="2100" b="1" dirty="0" smtClean="0">
                <a:solidFill>
                  <a:srgbClr val="FF0000"/>
                </a:solidFill>
              </a:rPr>
              <a:t>2/</a:t>
            </a:r>
            <a:r>
              <a:rPr lang="en-US" sz="2100" b="1" i="1" dirty="0" smtClean="0">
                <a:solidFill>
                  <a:srgbClr val="FF0000"/>
                </a:solidFill>
              </a:rPr>
              <a:t>m</a:t>
            </a:r>
            <a:r>
              <a:rPr lang="en-US" sz="2100" b="1" dirty="0" smtClean="0">
                <a:solidFill>
                  <a:srgbClr val="0070C0"/>
                </a:solidFill>
              </a:rPr>
              <a:t>, </a:t>
            </a:r>
            <a:r>
              <a:rPr lang="en-US" sz="2100" b="1" dirty="0" smtClean="0">
                <a:solidFill>
                  <a:srgbClr val="FF0000"/>
                </a:solidFill>
              </a:rPr>
              <a:t>2</a:t>
            </a:r>
            <a:r>
              <a:rPr lang="en-US" sz="2100" b="1" baseline="-25000" dirty="0" smtClean="0">
                <a:solidFill>
                  <a:srgbClr val="FF0000"/>
                </a:solidFill>
              </a:rPr>
              <a:t>1</a:t>
            </a:r>
            <a:r>
              <a:rPr lang="en-US" sz="2100" b="1" dirty="0" smtClean="0">
                <a:solidFill>
                  <a:srgbClr val="FF0000"/>
                </a:solidFill>
              </a:rPr>
              <a:t>/</a:t>
            </a:r>
            <a:r>
              <a:rPr lang="en-US" sz="2100" b="1" i="1" dirty="0" smtClean="0">
                <a:solidFill>
                  <a:srgbClr val="FF0000"/>
                </a:solidFill>
              </a:rPr>
              <a:t>m</a:t>
            </a:r>
            <a:r>
              <a:rPr lang="en-US" sz="2100" b="1" dirty="0" smtClean="0">
                <a:solidFill>
                  <a:srgbClr val="0070C0"/>
                </a:solidFill>
              </a:rPr>
              <a:t>, </a:t>
            </a:r>
            <a:r>
              <a:rPr lang="en-US" sz="2100" b="1" dirty="0" smtClean="0">
                <a:solidFill>
                  <a:srgbClr val="FF0000"/>
                </a:solidFill>
              </a:rPr>
              <a:t>2/</a:t>
            </a:r>
            <a:r>
              <a:rPr lang="en-US" sz="2100" b="1" i="1" dirty="0" smtClean="0">
                <a:solidFill>
                  <a:srgbClr val="FF0000"/>
                </a:solidFill>
              </a:rPr>
              <a:t>c</a:t>
            </a:r>
            <a:r>
              <a:rPr lang="en-US" sz="2100" b="1" dirty="0" smtClean="0">
                <a:solidFill>
                  <a:srgbClr val="0070C0"/>
                </a:solidFill>
              </a:rPr>
              <a:t>, </a:t>
            </a:r>
            <a:r>
              <a:rPr lang="en-US" sz="2100" b="1" dirty="0" smtClean="0">
                <a:solidFill>
                  <a:srgbClr val="FF0000"/>
                </a:solidFill>
              </a:rPr>
              <a:t>2</a:t>
            </a:r>
            <a:r>
              <a:rPr lang="en-US" sz="2100" b="1" baseline="-25000" dirty="0" smtClean="0">
                <a:solidFill>
                  <a:srgbClr val="FF0000"/>
                </a:solidFill>
              </a:rPr>
              <a:t>1</a:t>
            </a:r>
            <a:r>
              <a:rPr lang="en-US" sz="2100" b="1" dirty="0" smtClean="0">
                <a:solidFill>
                  <a:srgbClr val="FF0000"/>
                </a:solidFill>
              </a:rPr>
              <a:t>/</a:t>
            </a:r>
            <a:r>
              <a:rPr lang="en-US" sz="2100" b="1" i="1" dirty="0" smtClean="0">
                <a:solidFill>
                  <a:srgbClr val="FF0000"/>
                </a:solidFill>
              </a:rPr>
              <a:t>c</a:t>
            </a:r>
            <a:r>
              <a:rPr lang="en-US" sz="2100" b="1" dirty="0" smtClean="0">
                <a:solidFill>
                  <a:srgbClr val="0070C0"/>
                </a:solidFill>
              </a:rPr>
              <a:t> symmetry group (</a:t>
            </a:r>
            <a:r>
              <a:rPr lang="en-US" sz="2100" b="1" i="1" dirty="0" smtClean="0">
                <a:solidFill>
                  <a:srgbClr val="00B050"/>
                </a:solidFill>
              </a:rPr>
              <a:t>y</a:t>
            </a:r>
            <a:r>
              <a:rPr lang="en-US" sz="2100" b="1" dirty="0" smtClean="0">
                <a:solidFill>
                  <a:srgbClr val="0070C0"/>
                </a:solidFill>
              </a:rPr>
              <a:t>-axis as unique axis).</a:t>
            </a:r>
          </a:p>
          <a:p>
            <a:pPr marL="457200" indent="-457200" algn="just">
              <a:lnSpc>
                <a:spcPct val="114000"/>
              </a:lnSpc>
              <a:spcBef>
                <a:spcPts val="600"/>
              </a:spcBef>
              <a:spcAft>
                <a:spcPts val="600"/>
              </a:spcAft>
              <a:buFont typeface="Wingdings" pitchFamily="2" charset="2"/>
              <a:buChar char="v"/>
            </a:pPr>
            <a:r>
              <a:rPr lang="en-US" sz="2100" b="1" dirty="0" smtClean="0">
                <a:solidFill>
                  <a:srgbClr val="0070C0"/>
                </a:solidFill>
              </a:rPr>
              <a:t>Each of the symmetry groups thus obtained has to be repeated by lattice translations of the </a:t>
            </a:r>
            <a:r>
              <a:rPr lang="en-US" sz="2100" b="1" dirty="0" err="1" smtClean="0">
                <a:solidFill>
                  <a:srgbClr val="669900"/>
                </a:solidFill>
              </a:rPr>
              <a:t>Bravais</a:t>
            </a:r>
            <a:r>
              <a:rPr lang="en-US" sz="2100" b="1" dirty="0" smtClean="0">
                <a:solidFill>
                  <a:srgbClr val="669900"/>
                </a:solidFill>
              </a:rPr>
              <a:t> lattices </a:t>
            </a:r>
            <a:r>
              <a:rPr lang="en-US" sz="2100" b="1" dirty="0" smtClean="0">
                <a:solidFill>
                  <a:srgbClr val="0070C0"/>
                </a:solidFill>
              </a:rPr>
              <a:t>of that crystal systems. In case of monoclinic system </a:t>
            </a:r>
            <a:r>
              <a:rPr lang="en-US" sz="2100" b="1" i="1" dirty="0" smtClean="0">
                <a:solidFill>
                  <a:srgbClr val="FF0000"/>
                </a:solidFill>
              </a:rPr>
              <a:t>P</a:t>
            </a:r>
            <a:r>
              <a:rPr lang="en-US" sz="2100" b="1" dirty="0" smtClean="0">
                <a:solidFill>
                  <a:srgbClr val="0070C0"/>
                </a:solidFill>
              </a:rPr>
              <a:t> and </a:t>
            </a:r>
            <a:r>
              <a:rPr lang="en-US" sz="2100" b="1" i="1" dirty="0" smtClean="0">
                <a:solidFill>
                  <a:srgbClr val="FF0000"/>
                </a:solidFill>
              </a:rPr>
              <a:t>C</a:t>
            </a:r>
            <a:r>
              <a:rPr lang="en-US" sz="2100" b="1" dirty="0" smtClean="0">
                <a:solidFill>
                  <a:srgbClr val="0070C0"/>
                </a:solidFill>
              </a:rPr>
              <a:t> lattices. All the above symmetries will be associated with both </a:t>
            </a:r>
            <a:r>
              <a:rPr lang="en-US" sz="2100" b="1" i="1" dirty="0" smtClean="0">
                <a:solidFill>
                  <a:srgbClr val="FF0000"/>
                </a:solidFill>
              </a:rPr>
              <a:t>P</a:t>
            </a:r>
            <a:r>
              <a:rPr lang="en-US" sz="2100" b="1" dirty="0" smtClean="0">
                <a:solidFill>
                  <a:srgbClr val="0070C0"/>
                </a:solidFill>
              </a:rPr>
              <a:t> and </a:t>
            </a:r>
            <a:r>
              <a:rPr lang="en-US" sz="2100" b="1" i="1" dirty="0" smtClean="0">
                <a:solidFill>
                  <a:srgbClr val="FF0000"/>
                </a:solidFill>
              </a:rPr>
              <a:t>C</a:t>
            </a:r>
            <a:r>
              <a:rPr lang="en-US" sz="2100" b="1" dirty="0" smtClean="0">
                <a:solidFill>
                  <a:srgbClr val="0070C0"/>
                </a:solidFill>
              </a:rPr>
              <a:t> lattice translations.</a:t>
            </a:r>
          </a:p>
          <a:p>
            <a:pPr marL="457200" indent="-457200" algn="just">
              <a:lnSpc>
                <a:spcPct val="114000"/>
              </a:lnSpc>
              <a:spcBef>
                <a:spcPts val="600"/>
              </a:spcBef>
              <a:spcAft>
                <a:spcPts val="600"/>
              </a:spcAft>
              <a:buFont typeface="Wingdings" pitchFamily="2" charset="2"/>
              <a:buChar char="v"/>
            </a:pPr>
            <a:r>
              <a:rPr lang="en-US" sz="2100" b="1" dirty="0" smtClean="0">
                <a:solidFill>
                  <a:srgbClr val="0070C0"/>
                </a:solidFill>
              </a:rPr>
              <a:t>There are total </a:t>
            </a:r>
            <a:r>
              <a:rPr lang="en-US" sz="2100" b="1" dirty="0" smtClean="0">
                <a:solidFill>
                  <a:srgbClr val="669900"/>
                </a:solidFill>
              </a:rPr>
              <a:t>13</a:t>
            </a:r>
            <a:r>
              <a:rPr lang="en-US" sz="2100" b="1" dirty="0" smtClean="0">
                <a:solidFill>
                  <a:srgbClr val="0070C0"/>
                </a:solidFill>
              </a:rPr>
              <a:t> space groups in </a:t>
            </a:r>
            <a:r>
              <a:rPr lang="en-US" sz="2100" b="1" dirty="0" smtClean="0">
                <a:solidFill>
                  <a:srgbClr val="669900"/>
                </a:solidFill>
              </a:rPr>
              <a:t>monoclinic systems</a:t>
            </a:r>
            <a:r>
              <a:rPr lang="en-US" sz="2100" b="1" dirty="0" smtClean="0">
                <a:solidFill>
                  <a:srgbClr val="0070C0"/>
                </a:solidFill>
              </a:rPr>
              <a:t>; </a:t>
            </a:r>
            <a:r>
              <a:rPr lang="en-US" sz="2100" b="1" i="1" dirty="0" smtClean="0">
                <a:solidFill>
                  <a:srgbClr val="FF0000"/>
                </a:solidFill>
              </a:rPr>
              <a:t>Pm</a:t>
            </a:r>
            <a:r>
              <a:rPr lang="en-US" sz="2100" b="1" i="1" dirty="0" smtClean="0">
                <a:solidFill>
                  <a:srgbClr val="002060"/>
                </a:solidFill>
              </a:rPr>
              <a:t>, </a:t>
            </a:r>
            <a:r>
              <a:rPr lang="en-US" sz="2100" b="1" i="1" dirty="0" smtClean="0">
                <a:solidFill>
                  <a:srgbClr val="FF0000"/>
                </a:solidFill>
              </a:rPr>
              <a:t>Pc</a:t>
            </a:r>
            <a:r>
              <a:rPr lang="en-US" sz="2100" b="1" i="1" dirty="0" smtClean="0">
                <a:solidFill>
                  <a:srgbClr val="002060"/>
                </a:solidFill>
              </a:rPr>
              <a:t>, </a:t>
            </a:r>
            <a:r>
              <a:rPr lang="en-US" sz="2100" b="1" i="1" dirty="0" smtClean="0">
                <a:solidFill>
                  <a:srgbClr val="FF0000"/>
                </a:solidFill>
              </a:rPr>
              <a:t>Cm</a:t>
            </a:r>
            <a:r>
              <a:rPr lang="en-US" sz="2100" b="1" i="1" dirty="0" smtClean="0">
                <a:solidFill>
                  <a:srgbClr val="002060"/>
                </a:solidFill>
              </a:rPr>
              <a:t>,</a:t>
            </a:r>
            <a:r>
              <a:rPr lang="en-US" sz="2100" b="1" i="1" dirty="0" smtClean="0">
                <a:solidFill>
                  <a:srgbClr val="FF0000"/>
                </a:solidFill>
              </a:rPr>
              <a:t> Cc</a:t>
            </a:r>
            <a:r>
              <a:rPr lang="en-US" sz="2100" b="1" i="1" dirty="0" smtClean="0">
                <a:solidFill>
                  <a:srgbClr val="002060"/>
                </a:solidFill>
              </a:rPr>
              <a:t>,</a:t>
            </a:r>
            <a:r>
              <a:rPr lang="en-US" sz="2100" b="1" i="1" dirty="0" smtClean="0">
                <a:solidFill>
                  <a:srgbClr val="FF0000"/>
                </a:solidFill>
              </a:rPr>
              <a:t> P2</a:t>
            </a:r>
            <a:r>
              <a:rPr lang="en-US" sz="2100" b="1" i="1" dirty="0" smtClean="0">
                <a:solidFill>
                  <a:srgbClr val="002060"/>
                </a:solidFill>
              </a:rPr>
              <a:t>,</a:t>
            </a:r>
            <a:r>
              <a:rPr lang="en-US" sz="2100" b="1" i="1" dirty="0" smtClean="0">
                <a:solidFill>
                  <a:srgbClr val="FF0000"/>
                </a:solidFill>
              </a:rPr>
              <a:t> P</a:t>
            </a:r>
            <a:r>
              <a:rPr lang="en-US" sz="2100" b="1" dirty="0" smtClean="0">
                <a:solidFill>
                  <a:srgbClr val="FF0000"/>
                </a:solidFill>
              </a:rPr>
              <a:t>2</a:t>
            </a:r>
            <a:r>
              <a:rPr lang="en-US" sz="2100" b="1" baseline="-25000" dirty="0" smtClean="0">
                <a:solidFill>
                  <a:srgbClr val="FF0000"/>
                </a:solidFill>
              </a:rPr>
              <a:t>1</a:t>
            </a:r>
            <a:r>
              <a:rPr lang="en-US" sz="2100" b="1" baseline="-25000" dirty="0" smtClean="0">
                <a:solidFill>
                  <a:srgbClr val="002060"/>
                </a:solidFill>
              </a:rPr>
              <a:t>, </a:t>
            </a:r>
            <a:r>
              <a:rPr lang="en-US" sz="2100" b="1" i="1" dirty="0" smtClean="0">
                <a:solidFill>
                  <a:srgbClr val="FF0000"/>
                </a:solidFill>
              </a:rPr>
              <a:t>C</a:t>
            </a:r>
            <a:r>
              <a:rPr lang="en-US" sz="2100" b="1" dirty="0" smtClean="0">
                <a:solidFill>
                  <a:srgbClr val="FF0000"/>
                </a:solidFill>
              </a:rPr>
              <a:t>2</a:t>
            </a:r>
            <a:r>
              <a:rPr lang="en-US" sz="2100" b="1" dirty="0" smtClean="0">
                <a:solidFill>
                  <a:srgbClr val="002060"/>
                </a:solidFill>
              </a:rPr>
              <a:t>, </a:t>
            </a:r>
            <a:r>
              <a:rPr lang="en-US" sz="2100" b="1" i="1" dirty="0" smtClean="0">
                <a:solidFill>
                  <a:srgbClr val="FF0000"/>
                </a:solidFill>
              </a:rPr>
              <a:t>P</a:t>
            </a:r>
            <a:r>
              <a:rPr lang="en-US" sz="2100" b="1" dirty="0" smtClean="0">
                <a:solidFill>
                  <a:srgbClr val="FF0000"/>
                </a:solidFill>
              </a:rPr>
              <a:t>2/</a:t>
            </a:r>
            <a:r>
              <a:rPr lang="en-US" sz="2100" b="1" i="1" dirty="0" smtClean="0">
                <a:solidFill>
                  <a:srgbClr val="FF0000"/>
                </a:solidFill>
              </a:rPr>
              <a:t>m</a:t>
            </a:r>
            <a:r>
              <a:rPr lang="en-US" sz="2100" b="1" dirty="0" smtClean="0">
                <a:solidFill>
                  <a:srgbClr val="002060"/>
                </a:solidFill>
              </a:rPr>
              <a:t>,</a:t>
            </a:r>
            <a:r>
              <a:rPr lang="en-US" sz="2100" b="1" dirty="0" smtClean="0">
                <a:solidFill>
                  <a:srgbClr val="FF0000"/>
                </a:solidFill>
              </a:rPr>
              <a:t> </a:t>
            </a:r>
            <a:r>
              <a:rPr lang="en-US" sz="2100" b="1" i="1" dirty="0" smtClean="0">
                <a:solidFill>
                  <a:srgbClr val="FF0000"/>
                </a:solidFill>
              </a:rPr>
              <a:t>P</a:t>
            </a:r>
            <a:r>
              <a:rPr lang="en-US" sz="2100" b="1" dirty="0" smtClean="0">
                <a:solidFill>
                  <a:srgbClr val="FF0000"/>
                </a:solidFill>
              </a:rPr>
              <a:t>2</a:t>
            </a:r>
            <a:r>
              <a:rPr lang="en-US" sz="2100" b="1" baseline="-25000" dirty="0" smtClean="0">
                <a:solidFill>
                  <a:srgbClr val="FF0000"/>
                </a:solidFill>
              </a:rPr>
              <a:t>1</a:t>
            </a:r>
            <a:r>
              <a:rPr lang="en-US" sz="2100" b="1" dirty="0" smtClean="0">
                <a:solidFill>
                  <a:srgbClr val="FF0000"/>
                </a:solidFill>
              </a:rPr>
              <a:t>/</a:t>
            </a:r>
            <a:r>
              <a:rPr lang="en-US" sz="2100" b="1" i="1" dirty="0" smtClean="0">
                <a:solidFill>
                  <a:srgbClr val="FF0000"/>
                </a:solidFill>
              </a:rPr>
              <a:t>m</a:t>
            </a:r>
            <a:r>
              <a:rPr lang="en-US" sz="2100" b="1" dirty="0" smtClean="0">
                <a:solidFill>
                  <a:srgbClr val="002060"/>
                </a:solidFill>
              </a:rPr>
              <a:t>,</a:t>
            </a:r>
            <a:r>
              <a:rPr lang="en-US" sz="2100" b="1" dirty="0" smtClean="0">
                <a:solidFill>
                  <a:srgbClr val="FF0000"/>
                </a:solidFill>
              </a:rPr>
              <a:t> </a:t>
            </a:r>
            <a:r>
              <a:rPr lang="en-US" sz="2100" b="1" i="1" dirty="0" smtClean="0">
                <a:solidFill>
                  <a:srgbClr val="FF0000"/>
                </a:solidFill>
              </a:rPr>
              <a:t>C</a:t>
            </a:r>
            <a:r>
              <a:rPr lang="en-US" sz="2100" b="1" dirty="0" smtClean="0">
                <a:solidFill>
                  <a:srgbClr val="FF0000"/>
                </a:solidFill>
              </a:rPr>
              <a:t>2/</a:t>
            </a:r>
            <a:r>
              <a:rPr lang="en-US" sz="2100" b="1" i="1" dirty="0" smtClean="0">
                <a:solidFill>
                  <a:srgbClr val="FF0000"/>
                </a:solidFill>
              </a:rPr>
              <a:t>m</a:t>
            </a:r>
            <a:r>
              <a:rPr lang="en-US" sz="2100" b="1" dirty="0" smtClean="0">
                <a:solidFill>
                  <a:srgbClr val="002060"/>
                </a:solidFill>
              </a:rPr>
              <a:t>, </a:t>
            </a:r>
            <a:r>
              <a:rPr lang="en-US" sz="2100" i="1" dirty="0" smtClean="0">
                <a:solidFill>
                  <a:srgbClr val="FF0000"/>
                </a:solidFill>
              </a:rPr>
              <a:t>P</a:t>
            </a:r>
            <a:r>
              <a:rPr lang="en-US" sz="2100" b="1" dirty="0" smtClean="0">
                <a:solidFill>
                  <a:srgbClr val="FF0000"/>
                </a:solidFill>
              </a:rPr>
              <a:t>2/c</a:t>
            </a:r>
            <a:r>
              <a:rPr lang="en-US" sz="2100" b="1" dirty="0" smtClean="0">
                <a:solidFill>
                  <a:srgbClr val="002060"/>
                </a:solidFill>
              </a:rPr>
              <a:t>,</a:t>
            </a:r>
            <a:r>
              <a:rPr lang="en-US" sz="2100" b="1" dirty="0" smtClean="0">
                <a:solidFill>
                  <a:srgbClr val="FF0000"/>
                </a:solidFill>
              </a:rPr>
              <a:t> P2</a:t>
            </a:r>
            <a:r>
              <a:rPr lang="en-US" sz="2100" b="1" baseline="-25000" dirty="0" smtClean="0">
                <a:solidFill>
                  <a:srgbClr val="FF0000"/>
                </a:solidFill>
              </a:rPr>
              <a:t>1</a:t>
            </a:r>
            <a:r>
              <a:rPr lang="en-US" sz="2100" b="1" dirty="0" smtClean="0">
                <a:solidFill>
                  <a:srgbClr val="FF0000"/>
                </a:solidFill>
              </a:rPr>
              <a:t>/</a:t>
            </a:r>
            <a:r>
              <a:rPr lang="en-US" sz="2100" b="1" i="1" dirty="0" smtClean="0">
                <a:solidFill>
                  <a:srgbClr val="FF0000"/>
                </a:solidFill>
              </a:rPr>
              <a:t>c</a:t>
            </a:r>
            <a:r>
              <a:rPr lang="en-US" sz="2100" b="1" dirty="0" smtClean="0">
                <a:solidFill>
                  <a:srgbClr val="002060"/>
                </a:solidFill>
              </a:rPr>
              <a:t>, </a:t>
            </a:r>
            <a:r>
              <a:rPr lang="en-US" sz="2100" b="1" i="1" dirty="0" smtClean="0">
                <a:solidFill>
                  <a:srgbClr val="FF0000"/>
                </a:solidFill>
              </a:rPr>
              <a:t>C</a:t>
            </a:r>
            <a:r>
              <a:rPr lang="en-US" sz="2100" b="1" dirty="0" smtClean="0">
                <a:solidFill>
                  <a:srgbClr val="FF0000"/>
                </a:solidFill>
              </a:rPr>
              <a:t>2/</a:t>
            </a:r>
            <a:r>
              <a:rPr lang="en-US" sz="2100" b="1" i="1" dirty="0" smtClean="0">
                <a:solidFill>
                  <a:srgbClr val="FF0000"/>
                </a:solidFill>
              </a:rPr>
              <a:t>c</a:t>
            </a:r>
            <a:r>
              <a:rPr lang="en-US" sz="2100" b="1" dirty="0" smtClean="0">
                <a:solidFill>
                  <a:srgbClr val="FF0000"/>
                </a:solidFill>
              </a:rPr>
              <a:t>…</a:t>
            </a:r>
          </a:p>
          <a:p>
            <a:pPr marL="457200" indent="-457200" algn="just">
              <a:lnSpc>
                <a:spcPct val="114000"/>
              </a:lnSpc>
              <a:spcBef>
                <a:spcPts val="600"/>
              </a:spcBef>
              <a:spcAft>
                <a:spcPts val="600"/>
              </a:spcAft>
              <a:buFont typeface="Wingdings" pitchFamily="2" charset="2"/>
              <a:buChar char="v"/>
            </a:pPr>
            <a:r>
              <a:rPr lang="en-US" sz="2100" b="1" dirty="0" smtClean="0">
                <a:solidFill>
                  <a:srgbClr val="002060"/>
                </a:solidFill>
              </a:rPr>
              <a:t>Similarly space groups for other systems can be worked out.</a:t>
            </a:r>
            <a:endParaRPr lang="en-US" sz="2100" b="1"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2"/>
          </p:nvPr>
        </p:nvSpPr>
        <p:spPr/>
        <p:txBody>
          <a:bodyPr/>
          <a:lstStyle/>
          <a:p>
            <a:pPr>
              <a:defRPr/>
            </a:pPr>
            <a:fld id="{775DD261-7903-4D22-A345-22BC9B9C0A9E}" type="slidenum">
              <a:rPr lang="en-US"/>
              <a:pPr>
                <a:defRPr/>
              </a:pPr>
              <a:t>72</a:t>
            </a:fld>
            <a:endParaRPr lang="en-US"/>
          </a:p>
        </p:txBody>
      </p:sp>
      <p:sp>
        <p:nvSpPr>
          <p:cNvPr id="1029" name="Text Box 2050"/>
          <p:cNvSpPr txBox="1">
            <a:spLocks noChangeArrowheads="1"/>
          </p:cNvSpPr>
          <p:nvPr/>
        </p:nvSpPr>
        <p:spPr bwMode="auto">
          <a:xfrm>
            <a:off x="304800" y="3581400"/>
            <a:ext cx="8534400" cy="1754326"/>
          </a:xfrm>
          <a:prstGeom prst="rect">
            <a:avLst/>
          </a:prstGeom>
          <a:noFill/>
          <a:ln w="9525">
            <a:noFill/>
            <a:miter lim="800000"/>
            <a:headEnd/>
            <a:tailEnd/>
          </a:ln>
        </p:spPr>
        <p:txBody>
          <a:bodyPr>
            <a:spAutoFit/>
          </a:bodyPr>
          <a:lstStyle/>
          <a:p>
            <a:pPr algn="just">
              <a:spcBef>
                <a:spcPct val="50000"/>
              </a:spcBef>
            </a:pPr>
            <a:endParaRPr lang="en-US" dirty="0"/>
          </a:p>
          <a:p>
            <a:pPr algn="just">
              <a:spcBef>
                <a:spcPct val="50000"/>
              </a:spcBef>
            </a:pPr>
            <a:r>
              <a:rPr lang="en-US" dirty="0"/>
              <a:t>In the triclinic system, </a:t>
            </a:r>
            <a:r>
              <a:rPr lang="en-US" i="1" dirty="0">
                <a:solidFill>
                  <a:srgbClr val="FF0000"/>
                </a:solidFill>
              </a:rPr>
              <a:t>a</a:t>
            </a:r>
            <a:r>
              <a:rPr lang="en-US" dirty="0"/>
              <a:t> </a:t>
            </a:r>
            <a:r>
              <a:rPr lang="en-US" dirty="0">
                <a:sym typeface="Symbol" pitchFamily="18" charset="2"/>
              </a:rPr>
              <a:t> </a:t>
            </a:r>
            <a:r>
              <a:rPr lang="en-US" i="1" dirty="0">
                <a:solidFill>
                  <a:srgbClr val="FF0000"/>
                </a:solidFill>
                <a:sym typeface="Symbol" pitchFamily="18" charset="2"/>
              </a:rPr>
              <a:t>b</a:t>
            </a:r>
            <a:r>
              <a:rPr lang="en-US" dirty="0">
                <a:sym typeface="Symbol" pitchFamily="18" charset="2"/>
              </a:rPr>
              <a:t>  </a:t>
            </a:r>
            <a:r>
              <a:rPr lang="en-US" i="1" dirty="0">
                <a:solidFill>
                  <a:srgbClr val="FF0000"/>
                </a:solidFill>
                <a:sym typeface="Symbol" pitchFamily="18" charset="2"/>
              </a:rPr>
              <a:t>c</a:t>
            </a:r>
            <a:r>
              <a:rPr lang="en-US" dirty="0">
                <a:sym typeface="Symbol" pitchFamily="18" charset="2"/>
              </a:rPr>
              <a:t>; </a:t>
            </a:r>
            <a:r>
              <a:rPr lang="en-US" i="1" dirty="0">
                <a:solidFill>
                  <a:srgbClr val="FF0000"/>
                </a:solidFill>
                <a:sym typeface="Symbol" pitchFamily="18" charset="2"/>
              </a:rPr>
              <a:t></a:t>
            </a:r>
            <a:r>
              <a:rPr lang="en-US" dirty="0">
                <a:sym typeface="Symbol" pitchFamily="18" charset="2"/>
              </a:rPr>
              <a:t>  </a:t>
            </a:r>
            <a:r>
              <a:rPr lang="en-US" i="1" dirty="0">
                <a:solidFill>
                  <a:srgbClr val="FF0000"/>
                </a:solidFill>
                <a:sym typeface="Symbol" pitchFamily="18" charset="2"/>
              </a:rPr>
              <a:t></a:t>
            </a:r>
            <a:r>
              <a:rPr lang="en-US" dirty="0">
                <a:sym typeface="Symbol" pitchFamily="18" charset="2"/>
              </a:rPr>
              <a:t>  </a:t>
            </a:r>
            <a:r>
              <a:rPr lang="en-US" i="1" dirty="0">
                <a:solidFill>
                  <a:srgbClr val="FF0000"/>
                </a:solidFill>
                <a:sym typeface="Symbol" pitchFamily="18" charset="2"/>
              </a:rPr>
              <a:t></a:t>
            </a:r>
            <a:r>
              <a:rPr lang="en-US" dirty="0">
                <a:sym typeface="Symbol" pitchFamily="18" charset="2"/>
              </a:rPr>
              <a:t>  90</a:t>
            </a:r>
            <a:r>
              <a:rPr lang="en-US" dirty="0">
                <a:cs typeface="Arial" pitchFamily="34" charset="0"/>
                <a:sym typeface="Symbol" pitchFamily="18" charset="2"/>
              </a:rPr>
              <a:t>º.   Triclinic crystals either have only </a:t>
            </a:r>
            <a:r>
              <a:rPr lang="en-US" dirty="0">
                <a:solidFill>
                  <a:srgbClr val="FF0000"/>
                </a:solidFill>
                <a:cs typeface="Arial" pitchFamily="34" charset="0"/>
                <a:sym typeface="Symbol" pitchFamily="18" charset="2"/>
              </a:rPr>
              <a:t>1</a:t>
            </a:r>
            <a:r>
              <a:rPr lang="en-US" dirty="0">
                <a:cs typeface="Arial" pitchFamily="34" charset="0"/>
                <a:sym typeface="Symbol" pitchFamily="18" charset="2"/>
              </a:rPr>
              <a:t> symmetry (a 360° rotation, crystal class 1) or possess a center of inversion (crystal </a:t>
            </a:r>
            <a:r>
              <a:rPr lang="en-US" dirty="0" smtClean="0">
                <a:cs typeface="Arial" pitchFamily="34" charset="0"/>
                <a:sym typeface="Symbol" pitchFamily="18" charset="2"/>
              </a:rPr>
              <a:t>class    ).  </a:t>
            </a:r>
            <a:endParaRPr lang="en-US" dirty="0">
              <a:cs typeface="Arial" pitchFamily="34" charset="0"/>
              <a:sym typeface="Symbol" pitchFamily="18" charset="2"/>
            </a:endParaRPr>
          </a:p>
        </p:txBody>
      </p:sp>
      <p:sp>
        <p:nvSpPr>
          <p:cNvPr id="1030" name="Text Box 2053"/>
          <p:cNvSpPr txBox="1">
            <a:spLocks noChangeArrowheads="1"/>
          </p:cNvSpPr>
          <p:nvPr/>
        </p:nvSpPr>
        <p:spPr bwMode="auto">
          <a:xfrm>
            <a:off x="3903689" y="3276600"/>
            <a:ext cx="1903413" cy="369888"/>
          </a:xfrm>
          <a:prstGeom prst="rect">
            <a:avLst/>
          </a:prstGeom>
          <a:noFill/>
          <a:ln w="9525">
            <a:noFill/>
            <a:miter lim="800000"/>
            <a:headEnd/>
            <a:tailEnd/>
          </a:ln>
        </p:spPr>
        <p:txBody>
          <a:bodyPr wrap="none">
            <a:spAutoFit/>
          </a:bodyPr>
          <a:lstStyle/>
          <a:p>
            <a:pPr algn="l"/>
            <a:r>
              <a:rPr lang="en-US" sz="1800" dirty="0"/>
              <a:t>Primitive Triclinic</a:t>
            </a:r>
          </a:p>
        </p:txBody>
      </p:sp>
      <p:graphicFrame>
        <p:nvGraphicFramePr>
          <p:cNvPr id="1026" name="Object 2056"/>
          <p:cNvGraphicFramePr>
            <a:graphicFrameLocks noChangeAspect="1"/>
          </p:cNvGraphicFramePr>
          <p:nvPr/>
        </p:nvGraphicFramePr>
        <p:xfrm>
          <a:off x="5617069" y="4931113"/>
          <a:ext cx="201612" cy="401637"/>
        </p:xfrm>
        <a:graphic>
          <a:graphicData uri="http://schemas.openxmlformats.org/presentationml/2006/ole">
            <p:oleObj spid="_x0000_s524290" name="Equation" r:id="rId3" imgW="101520" imgH="203040" progId="">
              <p:embed/>
            </p:oleObj>
          </a:graphicData>
        </a:graphic>
      </p:graphicFrame>
      <p:pic>
        <p:nvPicPr>
          <p:cNvPr id="1031" name="Picture 9" descr="triclinic.gif"/>
          <p:cNvPicPr>
            <a:picLocks noChangeAspect="1"/>
          </p:cNvPicPr>
          <p:nvPr/>
        </p:nvPicPr>
        <p:blipFill>
          <a:blip r:embed="rId4" cstate="print"/>
          <a:srcRect/>
          <a:stretch>
            <a:fillRect/>
          </a:stretch>
        </p:blipFill>
        <p:spPr bwMode="auto">
          <a:xfrm>
            <a:off x="3114207" y="745761"/>
            <a:ext cx="3600450" cy="2409825"/>
          </a:xfrm>
          <a:prstGeom prst="rect">
            <a:avLst/>
          </a:prstGeom>
          <a:noFill/>
          <a:ln w="9525">
            <a:noFill/>
            <a:miter lim="800000"/>
            <a:headEnd/>
            <a:tailEnd/>
          </a:ln>
        </p:spPr>
      </p:pic>
      <p:sp>
        <p:nvSpPr>
          <p:cNvPr id="8" name="Rectangle 7"/>
          <p:cNvSpPr/>
          <p:nvPr/>
        </p:nvSpPr>
        <p:spPr>
          <a:xfrm>
            <a:off x="374243" y="584617"/>
            <a:ext cx="2625719" cy="646331"/>
          </a:xfrm>
          <a:prstGeom prst="rect">
            <a:avLst/>
          </a:prstGeom>
        </p:spPr>
        <p:txBody>
          <a:bodyPr wrap="none">
            <a:spAutoFit/>
          </a:bodyPr>
          <a:lstStyle/>
          <a:p>
            <a:r>
              <a:rPr lang="en-US" sz="3600" b="1" dirty="0" smtClean="0">
                <a:solidFill>
                  <a:srgbClr val="C00000"/>
                </a:solidFill>
                <a:effectLst>
                  <a:outerShdw blurRad="38100" dist="38100" dir="2700000" algn="tl">
                    <a:srgbClr val="000000">
                      <a:alpha val="43137"/>
                    </a:srgbClr>
                  </a:outerShdw>
                </a:effectLst>
              </a:rPr>
              <a:t>Space group</a:t>
            </a:r>
            <a:endParaRPr lang="en-US" sz="3600" b="1" dirty="0">
              <a:solidFill>
                <a:srgbClr val="C00000"/>
              </a:solidFill>
              <a:effectLst>
                <a:outerShdw blurRad="38100" dist="38100" dir="2700000" algn="tl">
                  <a:srgbClr val="000000">
                    <a:alpha val="43137"/>
                  </a:srgbClr>
                </a:outerShdw>
              </a:effectLst>
            </a:endParaRPr>
          </a:p>
        </p:txBody>
      </p:sp>
      <p:sp>
        <p:nvSpPr>
          <p:cNvPr id="10" name="Text Box 2053"/>
          <p:cNvSpPr txBox="1">
            <a:spLocks noChangeArrowheads="1"/>
          </p:cNvSpPr>
          <p:nvPr/>
        </p:nvSpPr>
        <p:spPr bwMode="auto">
          <a:xfrm>
            <a:off x="593361" y="1495269"/>
            <a:ext cx="1287147" cy="461665"/>
          </a:xfrm>
          <a:prstGeom prst="rect">
            <a:avLst/>
          </a:prstGeom>
          <a:noFill/>
          <a:ln w="9525">
            <a:noFill/>
            <a:miter lim="800000"/>
            <a:headEnd/>
            <a:tailEnd/>
          </a:ln>
        </p:spPr>
        <p:txBody>
          <a:bodyPr wrap="none">
            <a:spAutoFit/>
          </a:bodyPr>
          <a:lstStyle/>
          <a:p>
            <a:pPr algn="l"/>
            <a:r>
              <a:rPr lang="en-US" b="1" dirty="0" smtClean="0">
                <a:solidFill>
                  <a:srgbClr val="002060"/>
                </a:solidFill>
              </a:rPr>
              <a:t>Triclinic</a:t>
            </a:r>
            <a:endParaRPr lang="en-US" b="1" dirty="0">
              <a:solidFill>
                <a:srgbClr val="002060"/>
              </a:solidFill>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2"/>
          </p:nvPr>
        </p:nvSpPr>
        <p:spPr/>
        <p:txBody>
          <a:bodyPr/>
          <a:lstStyle/>
          <a:p>
            <a:pPr>
              <a:defRPr/>
            </a:pPr>
            <a:fld id="{560E256A-66E4-4150-A5A9-0AAFB39408A6}" type="slidenum">
              <a:rPr lang="en-US"/>
              <a:pPr>
                <a:defRPr/>
              </a:pPr>
              <a:t>73</a:t>
            </a:fld>
            <a:endParaRPr lang="en-US"/>
          </a:p>
        </p:txBody>
      </p:sp>
      <p:sp>
        <p:nvSpPr>
          <p:cNvPr id="17411" name="Text Box 2"/>
          <p:cNvSpPr txBox="1">
            <a:spLocks noChangeArrowheads="1"/>
          </p:cNvSpPr>
          <p:nvPr/>
        </p:nvSpPr>
        <p:spPr bwMode="auto">
          <a:xfrm>
            <a:off x="569626" y="671691"/>
            <a:ext cx="7744918" cy="5632311"/>
          </a:xfrm>
          <a:prstGeom prst="rect">
            <a:avLst/>
          </a:prstGeom>
          <a:noFill/>
          <a:ln w="9525">
            <a:noFill/>
            <a:miter lim="800000"/>
            <a:headEnd/>
            <a:tailEnd/>
          </a:ln>
        </p:spPr>
        <p:txBody>
          <a:bodyPr wrap="square">
            <a:spAutoFit/>
          </a:bodyPr>
          <a:lstStyle/>
          <a:p>
            <a:pPr marL="457200" indent="-457200" algn="just">
              <a:buFont typeface="+mj-lt"/>
              <a:buAutoNum type="arabicPeriod"/>
            </a:pPr>
            <a:r>
              <a:rPr lang="en-US" dirty="0"/>
              <a:t>We’ll start by adding the </a:t>
            </a:r>
            <a:r>
              <a:rPr lang="en-US" dirty="0" smtClean="0"/>
              <a:t>translations component, </a:t>
            </a:r>
            <a:r>
              <a:rPr lang="en-US" dirty="0"/>
              <a:t>and recording the unique set of symmetry position(s) generated for a single atom.  </a:t>
            </a:r>
            <a:endParaRPr lang="en-US" dirty="0" smtClean="0"/>
          </a:p>
          <a:p>
            <a:pPr marL="457200" indent="-457200" algn="just">
              <a:buFont typeface="+mj-lt"/>
              <a:buAutoNum type="arabicPeriod"/>
            </a:pPr>
            <a:r>
              <a:rPr lang="en-US" dirty="0" smtClean="0"/>
              <a:t>Then we can deduce the number of such atoms within unit cell and we will denote this number as </a:t>
            </a:r>
            <a:r>
              <a:rPr lang="en-US" i="1" dirty="0" smtClean="0">
                <a:solidFill>
                  <a:srgbClr val="000099"/>
                </a:solidFill>
              </a:rPr>
              <a:t>Z</a:t>
            </a:r>
            <a:r>
              <a:rPr lang="en-US" dirty="0"/>
              <a:t>.  Beside the number of symmetry related atoms, we’ll list their positions.  </a:t>
            </a:r>
            <a:endParaRPr lang="en-US" dirty="0" smtClean="0"/>
          </a:p>
          <a:p>
            <a:pPr marL="457200" indent="-457200" algn="just">
              <a:buFont typeface="+mj-lt"/>
              <a:buAutoNum type="arabicPeriod"/>
            </a:pPr>
            <a:r>
              <a:rPr lang="en-US" dirty="0" smtClean="0"/>
              <a:t>At a time after all the unique atoms within the cell have been generated we’ll draw a box around the </a:t>
            </a:r>
            <a:r>
              <a:rPr lang="en-US" i="1" dirty="0" smtClean="0">
                <a:solidFill>
                  <a:schemeClr val="accent2"/>
                </a:solidFill>
              </a:rPr>
              <a:t>“General Position”,</a:t>
            </a:r>
            <a:r>
              <a:rPr lang="en-US" dirty="0" smtClean="0"/>
              <a:t> the set within the unit cell equivalent by symmetry.</a:t>
            </a:r>
          </a:p>
          <a:p>
            <a:pPr marL="457200" indent="-457200" algn="just">
              <a:buFont typeface="+mj-lt"/>
              <a:buAutoNum type="arabicPeriod"/>
            </a:pPr>
            <a:r>
              <a:rPr lang="en-US" dirty="0" smtClean="0"/>
              <a:t>The </a:t>
            </a:r>
            <a:r>
              <a:rPr lang="en-US" i="1" dirty="0" smtClean="0">
                <a:solidFill>
                  <a:schemeClr val="accent2"/>
                </a:solidFill>
              </a:rPr>
              <a:t>General Position </a:t>
            </a:r>
            <a:r>
              <a:rPr lang="en-US" dirty="0" smtClean="0"/>
              <a:t>thus contains a certain number of equivalent points per cell; the number is referred to as </a:t>
            </a:r>
            <a:r>
              <a:rPr lang="en-US" i="1" dirty="0" smtClean="0"/>
              <a:t>Z</a:t>
            </a:r>
            <a:r>
              <a:rPr lang="en-US" dirty="0" smtClean="0"/>
              <a:t>.  We will also say that the </a:t>
            </a:r>
            <a:r>
              <a:rPr lang="en-US" i="1" dirty="0" smtClean="0">
                <a:solidFill>
                  <a:schemeClr val="accent2"/>
                </a:solidFill>
              </a:rPr>
              <a:t>multiplicity</a:t>
            </a:r>
            <a:r>
              <a:rPr lang="en-US" dirty="0" smtClean="0"/>
              <a:t> (the number) of the General Position is </a:t>
            </a:r>
            <a:r>
              <a:rPr lang="en-US" i="1" dirty="0" smtClean="0"/>
              <a:t>Z</a:t>
            </a:r>
            <a:r>
              <a:rPr lang="en-US" dirty="0" smtClean="0"/>
              <a:t>.</a:t>
            </a:r>
            <a:endParaRPr lang="en-US" dirty="0"/>
          </a:p>
        </p:txBody>
      </p:sp>
      <p:sp>
        <p:nvSpPr>
          <p:cNvPr id="13315" name="Text Box 3"/>
          <p:cNvSpPr txBox="1">
            <a:spLocks noChangeArrowheads="1"/>
          </p:cNvSpPr>
          <p:nvPr/>
        </p:nvSpPr>
        <p:spPr bwMode="auto">
          <a:xfrm>
            <a:off x="0" y="4796852"/>
            <a:ext cx="8839200" cy="457200"/>
          </a:xfrm>
          <a:prstGeom prst="rect">
            <a:avLst/>
          </a:prstGeom>
          <a:noFill/>
          <a:ln w="9525">
            <a:noFill/>
            <a:miter lim="800000"/>
            <a:headEnd/>
            <a:tailEnd/>
          </a:ln>
        </p:spPr>
        <p:txBody>
          <a:bodyPr>
            <a:spAutoFit/>
          </a:bodyPr>
          <a:lstStyle/>
          <a:p>
            <a:pPr algn="just">
              <a:spcBef>
                <a:spcPct val="50000"/>
              </a:spcBef>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499"/>
                                          </p:stCondLst>
                                        </p:cTn>
                                        <p:tgtEl>
                                          <p:spTgt spid="133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pPr>
              <a:defRPr/>
            </a:pPr>
            <a:fld id="{E13BFE2D-575D-4ABC-9340-86A66C09B5BC}" type="slidenum">
              <a:rPr lang="en-US"/>
              <a:pPr>
                <a:defRPr/>
              </a:pPr>
              <a:t>74</a:t>
            </a:fld>
            <a:endParaRPr lang="en-US"/>
          </a:p>
        </p:txBody>
      </p:sp>
      <p:sp>
        <p:nvSpPr>
          <p:cNvPr id="18435" name="Text Box 2"/>
          <p:cNvSpPr txBox="1">
            <a:spLocks noChangeArrowheads="1"/>
          </p:cNvSpPr>
          <p:nvPr/>
        </p:nvSpPr>
        <p:spPr bwMode="auto">
          <a:xfrm>
            <a:off x="784486" y="829456"/>
            <a:ext cx="7774898" cy="4401205"/>
          </a:xfrm>
          <a:prstGeom prst="rect">
            <a:avLst/>
          </a:prstGeom>
          <a:noFill/>
          <a:ln w="9525">
            <a:noFill/>
            <a:miter lim="800000"/>
            <a:headEnd/>
            <a:tailEnd/>
          </a:ln>
        </p:spPr>
        <p:txBody>
          <a:bodyPr wrap="square">
            <a:spAutoFit/>
          </a:bodyPr>
          <a:lstStyle/>
          <a:p>
            <a:pPr algn="just"/>
            <a:r>
              <a:rPr lang="en-US" dirty="0"/>
              <a:t>In the International tables for X-ray Crystallography, Volume A. section 2.11, the term </a:t>
            </a:r>
            <a:r>
              <a:rPr lang="en-US" dirty="0">
                <a:solidFill>
                  <a:schemeClr val="accent2"/>
                </a:solidFill>
              </a:rPr>
              <a:t>"General Position" </a:t>
            </a:r>
            <a:r>
              <a:rPr lang="en-US" dirty="0"/>
              <a:t>is defined as follows: </a:t>
            </a:r>
          </a:p>
          <a:p>
            <a:pPr algn="just"/>
            <a:endParaRPr lang="en-US" dirty="0">
              <a:latin typeface="Lucida Console" pitchFamily="49" charset="0"/>
            </a:endParaRPr>
          </a:p>
          <a:p>
            <a:pPr algn="just"/>
            <a:r>
              <a:rPr lang="en-US" dirty="0">
                <a:solidFill>
                  <a:srgbClr val="0070C0"/>
                </a:solidFill>
                <a:latin typeface="+mn-lt"/>
              </a:rPr>
              <a:t>A set of </a:t>
            </a:r>
            <a:r>
              <a:rPr lang="en-US" dirty="0">
                <a:solidFill>
                  <a:srgbClr val="669900"/>
                </a:solidFill>
                <a:latin typeface="+mn-lt"/>
              </a:rPr>
              <a:t>symmetrically equivalent points</a:t>
            </a:r>
            <a:r>
              <a:rPr lang="en-US" dirty="0">
                <a:solidFill>
                  <a:srgbClr val="0070C0"/>
                </a:solidFill>
                <a:latin typeface="+mn-lt"/>
              </a:rPr>
              <a:t>...is said to be in </a:t>
            </a:r>
            <a:r>
              <a:rPr lang="en-US" dirty="0">
                <a:solidFill>
                  <a:srgbClr val="FF0000"/>
                </a:solidFill>
                <a:latin typeface="+mn-lt"/>
              </a:rPr>
              <a:t>'general position' </a:t>
            </a:r>
            <a:r>
              <a:rPr lang="en-US" dirty="0">
                <a:solidFill>
                  <a:srgbClr val="0070C0"/>
                </a:solidFill>
                <a:latin typeface="+mn-lt"/>
              </a:rPr>
              <a:t>if each of its </a:t>
            </a:r>
            <a:r>
              <a:rPr lang="en-US" dirty="0">
                <a:solidFill>
                  <a:srgbClr val="669900"/>
                </a:solidFill>
                <a:latin typeface="+mn-lt"/>
              </a:rPr>
              <a:t>points</a:t>
            </a:r>
            <a:r>
              <a:rPr lang="en-US" dirty="0">
                <a:solidFill>
                  <a:srgbClr val="0070C0"/>
                </a:solidFill>
                <a:latin typeface="+mn-lt"/>
              </a:rPr>
              <a:t> is left </a:t>
            </a:r>
            <a:r>
              <a:rPr lang="en-US" dirty="0">
                <a:solidFill>
                  <a:srgbClr val="669900"/>
                </a:solidFill>
                <a:latin typeface="+mn-lt"/>
              </a:rPr>
              <a:t>invariant</a:t>
            </a:r>
            <a:r>
              <a:rPr lang="en-US" dirty="0">
                <a:solidFill>
                  <a:srgbClr val="0070C0"/>
                </a:solidFill>
                <a:latin typeface="+mn-lt"/>
              </a:rPr>
              <a:t> only by the </a:t>
            </a:r>
            <a:r>
              <a:rPr lang="en-US" dirty="0">
                <a:solidFill>
                  <a:srgbClr val="669900"/>
                </a:solidFill>
                <a:latin typeface="+mn-lt"/>
              </a:rPr>
              <a:t>identity operation </a:t>
            </a:r>
            <a:r>
              <a:rPr lang="en-US" dirty="0">
                <a:solidFill>
                  <a:srgbClr val="0070C0"/>
                </a:solidFill>
                <a:latin typeface="+mn-lt"/>
              </a:rPr>
              <a:t>but by no other </a:t>
            </a:r>
            <a:r>
              <a:rPr lang="en-US" dirty="0">
                <a:solidFill>
                  <a:srgbClr val="669900"/>
                </a:solidFill>
                <a:latin typeface="+mn-lt"/>
              </a:rPr>
              <a:t>symmetry operation of the space group</a:t>
            </a:r>
            <a:r>
              <a:rPr lang="en-US" dirty="0">
                <a:solidFill>
                  <a:srgbClr val="0070C0"/>
                </a:solidFill>
                <a:latin typeface="+mn-lt"/>
              </a:rPr>
              <a:t>.  Each space group has only one general position.</a:t>
            </a:r>
          </a:p>
          <a:p>
            <a:pPr algn="just"/>
            <a:endParaRPr lang="en-US" sz="1600" dirty="0">
              <a:latin typeface="Lucida Console" pitchFamily="49" charset="0"/>
            </a:endParaRPr>
          </a:p>
          <a:p>
            <a:pPr algn="just"/>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pPr>
              <a:defRPr/>
            </a:pPr>
            <a:fld id="{050A3FEF-60AF-45BF-A6E3-E5471C8B0AF3}" type="slidenum">
              <a:rPr lang="en-US"/>
              <a:pPr>
                <a:defRPr/>
              </a:pPr>
              <a:t>75</a:t>
            </a:fld>
            <a:endParaRPr lang="en-US"/>
          </a:p>
        </p:txBody>
      </p:sp>
      <p:sp>
        <p:nvSpPr>
          <p:cNvPr id="19459" name="Rectangle 2"/>
          <p:cNvSpPr>
            <a:spLocks noChangeArrowheads="1"/>
          </p:cNvSpPr>
          <p:nvPr/>
        </p:nvSpPr>
        <p:spPr bwMode="auto">
          <a:xfrm>
            <a:off x="547141" y="928141"/>
            <a:ext cx="7848600" cy="3785652"/>
          </a:xfrm>
          <a:prstGeom prst="rect">
            <a:avLst/>
          </a:prstGeom>
          <a:noFill/>
          <a:ln w="9525">
            <a:noFill/>
            <a:miter lim="800000"/>
            <a:headEnd/>
            <a:tailEnd/>
          </a:ln>
        </p:spPr>
        <p:txBody>
          <a:bodyPr>
            <a:spAutoFit/>
          </a:bodyPr>
          <a:lstStyle/>
          <a:p>
            <a:pPr marL="457200" indent="-457200" algn="just">
              <a:spcBef>
                <a:spcPct val="50000"/>
              </a:spcBef>
              <a:buFont typeface="Wingdings" pitchFamily="2" charset="2"/>
              <a:buChar char="v"/>
            </a:pPr>
            <a:r>
              <a:rPr lang="en-US" dirty="0"/>
              <a:t>Our </a:t>
            </a:r>
            <a:r>
              <a:rPr lang="en-US" dirty="0">
                <a:solidFill>
                  <a:schemeClr val="accent2"/>
                </a:solidFill>
              </a:rPr>
              <a:t>first example</a:t>
            </a:r>
            <a:r>
              <a:rPr lang="en-US" dirty="0"/>
              <a:t> is space group </a:t>
            </a:r>
            <a:r>
              <a:rPr lang="en-US" dirty="0">
                <a:solidFill>
                  <a:schemeClr val="accent2"/>
                </a:solidFill>
              </a:rPr>
              <a:t>No. 1, </a:t>
            </a:r>
            <a:r>
              <a:rPr lang="en-US" i="1" dirty="0">
                <a:solidFill>
                  <a:schemeClr val="accent2"/>
                </a:solidFill>
              </a:rPr>
              <a:t>P</a:t>
            </a:r>
            <a:r>
              <a:rPr lang="en-US" dirty="0">
                <a:solidFill>
                  <a:schemeClr val="accent2"/>
                </a:solidFill>
              </a:rPr>
              <a:t>1</a:t>
            </a:r>
            <a:r>
              <a:rPr lang="en-US" dirty="0"/>
              <a:t> – the symbol informs us that we have a primitive lattice, and only “</a:t>
            </a:r>
            <a:r>
              <a:rPr lang="en-US" dirty="0">
                <a:solidFill>
                  <a:srgbClr val="FF0066"/>
                </a:solidFill>
              </a:rPr>
              <a:t>1</a:t>
            </a:r>
            <a:r>
              <a:rPr lang="en-US" dirty="0"/>
              <a:t>” symmetry.  </a:t>
            </a:r>
          </a:p>
          <a:p>
            <a:pPr marL="457200" indent="-457200" algn="just">
              <a:spcBef>
                <a:spcPct val="50000"/>
              </a:spcBef>
              <a:buFont typeface="Wingdings" pitchFamily="2" charset="2"/>
              <a:buChar char="v"/>
            </a:pPr>
            <a:r>
              <a:rPr lang="en-US" dirty="0"/>
              <a:t>A number, </a:t>
            </a:r>
            <a:r>
              <a:rPr lang="en-US" i="1" dirty="0">
                <a:solidFill>
                  <a:srgbClr val="FF0000"/>
                </a:solidFill>
              </a:rPr>
              <a:t>n</a:t>
            </a:r>
            <a:r>
              <a:rPr lang="en-US" dirty="0"/>
              <a:t>, as a symmetry element in Hermann-</a:t>
            </a:r>
            <a:r>
              <a:rPr lang="en-US" dirty="0" err="1"/>
              <a:t>Mauguin</a:t>
            </a:r>
            <a:r>
              <a:rPr lang="en-US" dirty="0"/>
              <a:t> notation (used throughout the tutorial) refers to a rotation by 360/</a:t>
            </a:r>
            <a:r>
              <a:rPr lang="en-US" dirty="0">
                <a:solidFill>
                  <a:srgbClr val="FF0000"/>
                </a:solidFill>
              </a:rPr>
              <a:t>n</a:t>
            </a:r>
            <a:r>
              <a:rPr lang="en-US" dirty="0"/>
              <a:t> degrees. Thus </a:t>
            </a:r>
            <a:r>
              <a:rPr lang="en-US" dirty="0">
                <a:solidFill>
                  <a:srgbClr val="FF0000"/>
                </a:solidFill>
              </a:rPr>
              <a:t>1</a:t>
            </a:r>
            <a:r>
              <a:rPr lang="en-US" dirty="0"/>
              <a:t> refers to a 360</a:t>
            </a:r>
            <a:r>
              <a:rPr lang="en-US" dirty="0">
                <a:cs typeface="Arial" pitchFamily="34" charset="0"/>
              </a:rPr>
              <a:t>° rotation.  </a:t>
            </a:r>
            <a:endParaRPr lang="en-US" dirty="0"/>
          </a:p>
          <a:p>
            <a:pPr marL="457200" indent="-457200" algn="just">
              <a:spcBef>
                <a:spcPct val="50000"/>
              </a:spcBef>
              <a:buFont typeface="Wingdings" pitchFamily="2" charset="2"/>
              <a:buChar char="v"/>
            </a:pPr>
            <a:r>
              <a:rPr lang="en-US" dirty="0"/>
              <a:t>We will consider the effect of symmetry on a molecule or group located at a “general position” in the unit cell, with coordinates (+</a:t>
            </a:r>
            <a:r>
              <a:rPr lang="en-US" i="1" dirty="0"/>
              <a:t>x</a:t>
            </a:r>
            <a:r>
              <a:rPr lang="en-US" dirty="0"/>
              <a:t>, +</a:t>
            </a:r>
            <a:r>
              <a:rPr lang="en-US" i="1" dirty="0"/>
              <a:t>y</a:t>
            </a:r>
            <a:r>
              <a:rPr lang="en-US" dirty="0"/>
              <a:t>, +</a:t>
            </a:r>
            <a:r>
              <a:rPr lang="en-US" i="1" dirty="0"/>
              <a:t>z</a:t>
            </a:r>
            <a:r>
              <a:rPr lang="en-US" dirty="0"/>
              <a:t>).  </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lide Number Placeholder 3"/>
          <p:cNvSpPr>
            <a:spLocks noGrp="1"/>
          </p:cNvSpPr>
          <p:nvPr>
            <p:ph type="sldNum" sz="quarter" idx="12"/>
          </p:nvPr>
        </p:nvSpPr>
        <p:spPr/>
        <p:txBody>
          <a:bodyPr/>
          <a:lstStyle/>
          <a:p>
            <a:pPr>
              <a:defRPr/>
            </a:pPr>
            <a:fld id="{23CE38DA-1F20-44CE-B5C5-B280E96DAC45}" type="slidenum">
              <a:rPr lang="en-US"/>
              <a:pPr>
                <a:defRPr/>
              </a:pPr>
              <a:t>76</a:t>
            </a:fld>
            <a:endParaRPr lang="en-US"/>
          </a:p>
        </p:txBody>
      </p:sp>
      <p:sp>
        <p:nvSpPr>
          <p:cNvPr id="3081" name="Line 2"/>
          <p:cNvSpPr>
            <a:spLocks noChangeShapeType="1"/>
          </p:cNvSpPr>
          <p:nvPr/>
        </p:nvSpPr>
        <p:spPr bwMode="auto">
          <a:xfrm>
            <a:off x="3276600" y="1600200"/>
            <a:ext cx="2667000" cy="0"/>
          </a:xfrm>
          <a:prstGeom prst="line">
            <a:avLst/>
          </a:prstGeom>
          <a:noFill/>
          <a:ln w="19050">
            <a:solidFill>
              <a:schemeClr val="tx1"/>
            </a:solidFill>
            <a:round/>
            <a:headEnd/>
            <a:tailEnd/>
          </a:ln>
        </p:spPr>
        <p:txBody>
          <a:bodyPr/>
          <a:lstStyle/>
          <a:p>
            <a:endParaRPr lang="en-US"/>
          </a:p>
        </p:txBody>
      </p:sp>
      <p:sp>
        <p:nvSpPr>
          <p:cNvPr id="3082" name="Line 3"/>
          <p:cNvSpPr>
            <a:spLocks noChangeShapeType="1"/>
          </p:cNvSpPr>
          <p:nvPr/>
        </p:nvSpPr>
        <p:spPr bwMode="auto">
          <a:xfrm flipH="1">
            <a:off x="5334000" y="1600200"/>
            <a:ext cx="609600" cy="1752600"/>
          </a:xfrm>
          <a:prstGeom prst="line">
            <a:avLst/>
          </a:prstGeom>
          <a:noFill/>
          <a:ln w="19050">
            <a:solidFill>
              <a:schemeClr val="tx1"/>
            </a:solidFill>
            <a:round/>
            <a:headEnd/>
            <a:tailEnd/>
          </a:ln>
        </p:spPr>
        <p:txBody>
          <a:bodyPr/>
          <a:lstStyle/>
          <a:p>
            <a:endParaRPr lang="en-US"/>
          </a:p>
        </p:txBody>
      </p:sp>
      <p:sp>
        <p:nvSpPr>
          <p:cNvPr id="3083" name="Line 4"/>
          <p:cNvSpPr>
            <a:spLocks noChangeShapeType="1"/>
          </p:cNvSpPr>
          <p:nvPr/>
        </p:nvSpPr>
        <p:spPr bwMode="auto">
          <a:xfrm flipH="1">
            <a:off x="2590800" y="1600200"/>
            <a:ext cx="685800" cy="1752600"/>
          </a:xfrm>
          <a:prstGeom prst="line">
            <a:avLst/>
          </a:prstGeom>
          <a:noFill/>
          <a:ln w="19050">
            <a:solidFill>
              <a:schemeClr val="tx1"/>
            </a:solidFill>
            <a:round/>
            <a:headEnd/>
            <a:tailEnd/>
          </a:ln>
        </p:spPr>
        <p:txBody>
          <a:bodyPr/>
          <a:lstStyle/>
          <a:p>
            <a:endParaRPr lang="en-US"/>
          </a:p>
        </p:txBody>
      </p:sp>
      <p:sp>
        <p:nvSpPr>
          <p:cNvPr id="3084" name="Line 5"/>
          <p:cNvSpPr>
            <a:spLocks noChangeShapeType="1"/>
          </p:cNvSpPr>
          <p:nvPr/>
        </p:nvSpPr>
        <p:spPr bwMode="auto">
          <a:xfrm>
            <a:off x="2590800" y="3352800"/>
            <a:ext cx="2743200" cy="0"/>
          </a:xfrm>
          <a:prstGeom prst="line">
            <a:avLst/>
          </a:prstGeom>
          <a:noFill/>
          <a:ln w="19050">
            <a:solidFill>
              <a:schemeClr val="tx1"/>
            </a:solidFill>
            <a:round/>
            <a:headEnd/>
            <a:tailEnd/>
          </a:ln>
        </p:spPr>
        <p:txBody>
          <a:bodyPr/>
          <a:lstStyle/>
          <a:p>
            <a:endParaRPr lang="en-US"/>
          </a:p>
        </p:txBody>
      </p:sp>
      <p:sp>
        <p:nvSpPr>
          <p:cNvPr id="3085" name="Line 6"/>
          <p:cNvSpPr>
            <a:spLocks noChangeShapeType="1"/>
          </p:cNvSpPr>
          <p:nvPr/>
        </p:nvSpPr>
        <p:spPr bwMode="auto">
          <a:xfrm flipH="1">
            <a:off x="3962400" y="1600200"/>
            <a:ext cx="609600" cy="1752600"/>
          </a:xfrm>
          <a:prstGeom prst="line">
            <a:avLst/>
          </a:prstGeom>
          <a:noFill/>
          <a:ln w="19050">
            <a:solidFill>
              <a:schemeClr val="tx1"/>
            </a:solidFill>
            <a:round/>
            <a:headEnd/>
            <a:tailEnd/>
          </a:ln>
        </p:spPr>
        <p:txBody>
          <a:bodyPr/>
          <a:lstStyle/>
          <a:p>
            <a:endParaRPr lang="en-US"/>
          </a:p>
        </p:txBody>
      </p:sp>
      <p:sp>
        <p:nvSpPr>
          <p:cNvPr id="3086" name="Line 7"/>
          <p:cNvSpPr>
            <a:spLocks noChangeShapeType="1"/>
          </p:cNvSpPr>
          <p:nvPr/>
        </p:nvSpPr>
        <p:spPr bwMode="auto">
          <a:xfrm>
            <a:off x="2971800" y="2438400"/>
            <a:ext cx="2667000" cy="0"/>
          </a:xfrm>
          <a:prstGeom prst="line">
            <a:avLst/>
          </a:prstGeom>
          <a:noFill/>
          <a:ln w="19050">
            <a:solidFill>
              <a:schemeClr val="tx1"/>
            </a:solidFill>
            <a:round/>
            <a:headEnd/>
            <a:tailEnd/>
          </a:ln>
        </p:spPr>
        <p:txBody>
          <a:bodyPr/>
          <a:lstStyle/>
          <a:p>
            <a:endParaRPr lang="en-US"/>
          </a:p>
        </p:txBody>
      </p:sp>
      <p:sp>
        <p:nvSpPr>
          <p:cNvPr id="53257" name="Oval 9"/>
          <p:cNvSpPr>
            <a:spLocks noChangeArrowheads="1"/>
          </p:cNvSpPr>
          <p:nvPr/>
        </p:nvSpPr>
        <p:spPr bwMode="auto">
          <a:xfrm>
            <a:off x="3352800" y="1676400"/>
            <a:ext cx="403225" cy="403225"/>
          </a:xfrm>
          <a:prstGeom prst="ellipse">
            <a:avLst/>
          </a:prstGeom>
          <a:noFill/>
          <a:ln w="12700">
            <a:solidFill>
              <a:srgbClr val="000000"/>
            </a:solidFill>
            <a:round/>
            <a:headEnd/>
            <a:tailEnd/>
          </a:ln>
        </p:spPr>
        <p:txBody>
          <a:bodyPr/>
          <a:lstStyle/>
          <a:p>
            <a:endParaRPr lang="en-US"/>
          </a:p>
        </p:txBody>
      </p:sp>
      <p:sp>
        <p:nvSpPr>
          <p:cNvPr id="53258" name="Rectangle 10"/>
          <p:cNvSpPr>
            <a:spLocks noChangeArrowheads="1"/>
          </p:cNvSpPr>
          <p:nvPr/>
        </p:nvSpPr>
        <p:spPr bwMode="auto">
          <a:xfrm>
            <a:off x="3733800" y="1752600"/>
            <a:ext cx="273050" cy="274638"/>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nvGrpSpPr>
          <p:cNvPr id="2" name="Group 11"/>
          <p:cNvGrpSpPr>
            <a:grpSpLocks/>
          </p:cNvGrpSpPr>
          <p:nvPr/>
        </p:nvGrpSpPr>
        <p:grpSpPr bwMode="auto">
          <a:xfrm>
            <a:off x="6019800" y="1676400"/>
            <a:ext cx="654050" cy="403225"/>
            <a:chOff x="3840" y="1056"/>
            <a:chExt cx="412" cy="254"/>
          </a:xfrm>
        </p:grpSpPr>
        <p:sp>
          <p:nvSpPr>
            <p:cNvPr id="3114" name="Oval 12"/>
            <p:cNvSpPr>
              <a:spLocks noChangeArrowheads="1"/>
            </p:cNvSpPr>
            <p:nvPr/>
          </p:nvSpPr>
          <p:spPr bwMode="auto">
            <a:xfrm>
              <a:off x="3840" y="1056"/>
              <a:ext cx="254" cy="254"/>
            </a:xfrm>
            <a:prstGeom prst="ellipse">
              <a:avLst/>
            </a:prstGeom>
            <a:noFill/>
            <a:ln w="12700">
              <a:solidFill>
                <a:srgbClr val="000000"/>
              </a:solidFill>
              <a:round/>
              <a:headEnd/>
              <a:tailEnd/>
            </a:ln>
          </p:spPr>
          <p:txBody>
            <a:bodyPr/>
            <a:lstStyle/>
            <a:p>
              <a:endParaRPr lang="en-US"/>
            </a:p>
          </p:txBody>
        </p:sp>
        <p:sp>
          <p:nvSpPr>
            <p:cNvPr id="3115" name="Rectangle 13"/>
            <p:cNvSpPr>
              <a:spLocks noChangeArrowheads="1"/>
            </p:cNvSpPr>
            <p:nvPr/>
          </p:nvSpPr>
          <p:spPr bwMode="auto">
            <a:xfrm>
              <a:off x="4080" y="1104"/>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3" name="Group 14"/>
          <p:cNvGrpSpPr>
            <a:grpSpLocks/>
          </p:cNvGrpSpPr>
          <p:nvPr/>
        </p:nvGrpSpPr>
        <p:grpSpPr bwMode="auto">
          <a:xfrm>
            <a:off x="5257800" y="3505200"/>
            <a:ext cx="654050" cy="403225"/>
            <a:chOff x="3312" y="2208"/>
            <a:chExt cx="412" cy="254"/>
          </a:xfrm>
        </p:grpSpPr>
        <p:sp>
          <p:nvSpPr>
            <p:cNvPr id="3112" name="Oval 15"/>
            <p:cNvSpPr>
              <a:spLocks noChangeArrowheads="1"/>
            </p:cNvSpPr>
            <p:nvPr/>
          </p:nvSpPr>
          <p:spPr bwMode="auto">
            <a:xfrm>
              <a:off x="3312" y="2208"/>
              <a:ext cx="254" cy="254"/>
            </a:xfrm>
            <a:prstGeom prst="ellipse">
              <a:avLst/>
            </a:prstGeom>
            <a:noFill/>
            <a:ln w="12700">
              <a:solidFill>
                <a:srgbClr val="000000"/>
              </a:solidFill>
              <a:round/>
              <a:headEnd/>
              <a:tailEnd/>
            </a:ln>
          </p:spPr>
          <p:txBody>
            <a:bodyPr/>
            <a:lstStyle/>
            <a:p>
              <a:endParaRPr lang="en-US"/>
            </a:p>
          </p:txBody>
        </p:sp>
        <p:sp>
          <p:nvSpPr>
            <p:cNvPr id="3113" name="Rectangle 16"/>
            <p:cNvSpPr>
              <a:spLocks noChangeArrowheads="1"/>
            </p:cNvSpPr>
            <p:nvPr/>
          </p:nvSpPr>
          <p:spPr bwMode="auto">
            <a:xfrm>
              <a:off x="3552" y="2208"/>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4" name="Group 17"/>
          <p:cNvGrpSpPr>
            <a:grpSpLocks/>
          </p:cNvGrpSpPr>
          <p:nvPr/>
        </p:nvGrpSpPr>
        <p:grpSpPr bwMode="auto">
          <a:xfrm>
            <a:off x="2514600" y="3505200"/>
            <a:ext cx="654050" cy="403225"/>
            <a:chOff x="1584" y="2208"/>
            <a:chExt cx="412" cy="254"/>
          </a:xfrm>
        </p:grpSpPr>
        <p:sp>
          <p:nvSpPr>
            <p:cNvPr id="3110" name="Oval 18"/>
            <p:cNvSpPr>
              <a:spLocks noChangeArrowheads="1"/>
            </p:cNvSpPr>
            <p:nvPr/>
          </p:nvSpPr>
          <p:spPr bwMode="auto">
            <a:xfrm>
              <a:off x="1584" y="2208"/>
              <a:ext cx="254" cy="254"/>
            </a:xfrm>
            <a:prstGeom prst="ellipse">
              <a:avLst/>
            </a:prstGeom>
            <a:noFill/>
            <a:ln w="12700">
              <a:solidFill>
                <a:srgbClr val="000000"/>
              </a:solidFill>
              <a:round/>
              <a:headEnd/>
              <a:tailEnd/>
            </a:ln>
          </p:spPr>
          <p:txBody>
            <a:bodyPr/>
            <a:lstStyle/>
            <a:p>
              <a:endParaRPr lang="en-US"/>
            </a:p>
          </p:txBody>
        </p:sp>
        <p:sp>
          <p:nvSpPr>
            <p:cNvPr id="3111" name="Rectangle 19"/>
            <p:cNvSpPr>
              <a:spLocks noChangeArrowheads="1"/>
            </p:cNvSpPr>
            <p:nvPr/>
          </p:nvSpPr>
          <p:spPr bwMode="auto">
            <a:xfrm>
              <a:off x="1824" y="2256"/>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5" name="Group 20"/>
          <p:cNvGrpSpPr>
            <a:grpSpLocks/>
          </p:cNvGrpSpPr>
          <p:nvPr/>
        </p:nvGrpSpPr>
        <p:grpSpPr bwMode="auto">
          <a:xfrm>
            <a:off x="2819400" y="4800600"/>
            <a:ext cx="2400300" cy="504825"/>
            <a:chOff x="1680" y="3024"/>
            <a:chExt cx="1512" cy="318"/>
          </a:xfrm>
        </p:grpSpPr>
        <p:graphicFrame>
          <p:nvGraphicFramePr>
            <p:cNvPr id="3079" name="Object 21"/>
            <p:cNvGraphicFramePr>
              <a:graphicFrameLocks noChangeAspect="1"/>
            </p:cNvGraphicFramePr>
            <p:nvPr/>
          </p:nvGraphicFramePr>
          <p:xfrm>
            <a:off x="2376" y="3024"/>
            <a:ext cx="816" cy="318"/>
          </p:xfrm>
          <a:graphic>
            <a:graphicData uri="http://schemas.openxmlformats.org/presentationml/2006/ole">
              <p:oleObj spid="_x0000_s526343" name="Equation" r:id="rId3" imgW="520560" imgH="203040" progId="">
                <p:embed/>
              </p:oleObj>
            </a:graphicData>
          </a:graphic>
        </p:graphicFrame>
        <p:sp>
          <p:nvSpPr>
            <p:cNvPr id="3109" name="Rectangle 22"/>
            <p:cNvSpPr>
              <a:spLocks noChangeArrowheads="1"/>
            </p:cNvSpPr>
            <p:nvPr/>
          </p:nvSpPr>
          <p:spPr bwMode="auto">
            <a:xfrm>
              <a:off x="1680" y="3024"/>
              <a:ext cx="502" cy="288"/>
            </a:xfrm>
            <a:prstGeom prst="rect">
              <a:avLst/>
            </a:prstGeom>
            <a:noFill/>
            <a:ln w="9525">
              <a:noFill/>
              <a:miter lim="800000"/>
              <a:headEnd/>
              <a:tailEnd/>
            </a:ln>
          </p:spPr>
          <p:txBody>
            <a:bodyPr wrap="none">
              <a:spAutoFit/>
            </a:bodyPr>
            <a:lstStyle/>
            <a:p>
              <a:pPr algn="l">
                <a:spcBef>
                  <a:spcPct val="50000"/>
                </a:spcBef>
              </a:pPr>
              <a:r>
                <a:rPr lang="en-US" b="1" i="1">
                  <a:solidFill>
                    <a:srgbClr val="FF0000"/>
                  </a:solidFill>
                  <a:latin typeface="Times New Roman" pitchFamily="18" charset="0"/>
                </a:rPr>
                <a:t>Z</a:t>
              </a:r>
              <a:r>
                <a:rPr lang="en-US" b="1">
                  <a:solidFill>
                    <a:srgbClr val="FF0000"/>
                  </a:solidFill>
                  <a:latin typeface="Times New Roman" pitchFamily="18" charset="0"/>
                </a:rPr>
                <a:t>=1;</a:t>
              </a:r>
            </a:p>
          </p:txBody>
        </p:sp>
      </p:grpSp>
      <p:sp>
        <p:nvSpPr>
          <p:cNvPr id="53271" name="Rectangle 23"/>
          <p:cNvSpPr>
            <a:spLocks noChangeArrowheads="1"/>
          </p:cNvSpPr>
          <p:nvPr/>
        </p:nvSpPr>
        <p:spPr bwMode="auto">
          <a:xfrm>
            <a:off x="2590800" y="4648200"/>
            <a:ext cx="2743200" cy="838200"/>
          </a:xfrm>
          <a:prstGeom prst="rect">
            <a:avLst/>
          </a:prstGeom>
          <a:noFill/>
          <a:ln w="9525">
            <a:solidFill>
              <a:srgbClr val="FF0000"/>
            </a:solidFill>
            <a:miter lim="800000"/>
            <a:headEnd/>
            <a:tailEnd/>
          </a:ln>
        </p:spPr>
        <p:txBody>
          <a:bodyPr wrap="none" anchor="ctr"/>
          <a:lstStyle/>
          <a:p>
            <a:endParaRPr lang="en-US"/>
          </a:p>
        </p:txBody>
      </p:sp>
      <p:graphicFrame>
        <p:nvGraphicFramePr>
          <p:cNvPr id="53272" name="Object 24"/>
          <p:cNvGraphicFramePr>
            <a:graphicFrameLocks noChangeAspect="1"/>
          </p:cNvGraphicFramePr>
          <p:nvPr/>
        </p:nvGraphicFramePr>
        <p:xfrm>
          <a:off x="6858000" y="1676400"/>
          <a:ext cx="1770063" cy="504825"/>
        </p:xfrm>
        <a:graphic>
          <a:graphicData uri="http://schemas.openxmlformats.org/presentationml/2006/ole">
            <p:oleObj spid="_x0000_s526338" name="Equation" r:id="rId4" imgW="711000" imgH="203040" progId="">
              <p:embed/>
            </p:oleObj>
          </a:graphicData>
        </a:graphic>
      </p:graphicFrame>
      <p:graphicFrame>
        <p:nvGraphicFramePr>
          <p:cNvPr id="53273" name="Object 25"/>
          <p:cNvGraphicFramePr>
            <a:graphicFrameLocks noChangeAspect="1"/>
          </p:cNvGraphicFramePr>
          <p:nvPr/>
        </p:nvGraphicFramePr>
        <p:xfrm>
          <a:off x="381000" y="3505200"/>
          <a:ext cx="1768475" cy="504825"/>
        </p:xfrm>
        <a:graphic>
          <a:graphicData uri="http://schemas.openxmlformats.org/presentationml/2006/ole">
            <p:oleObj spid="_x0000_s526339" name="Equation" r:id="rId5" imgW="711000" imgH="203040" progId="">
              <p:embed/>
            </p:oleObj>
          </a:graphicData>
        </a:graphic>
      </p:graphicFrame>
      <p:graphicFrame>
        <p:nvGraphicFramePr>
          <p:cNvPr id="53274" name="Object 26"/>
          <p:cNvGraphicFramePr>
            <a:graphicFrameLocks noChangeAspect="1"/>
          </p:cNvGraphicFramePr>
          <p:nvPr/>
        </p:nvGraphicFramePr>
        <p:xfrm>
          <a:off x="6324600" y="3505200"/>
          <a:ext cx="2243138" cy="504825"/>
        </p:xfrm>
        <a:graphic>
          <a:graphicData uri="http://schemas.openxmlformats.org/presentationml/2006/ole">
            <p:oleObj spid="_x0000_s526340" name="Equation" r:id="rId6" imgW="901440" imgH="203040" progId="">
              <p:embed/>
            </p:oleObj>
          </a:graphicData>
        </a:graphic>
      </p:graphicFrame>
      <p:graphicFrame>
        <p:nvGraphicFramePr>
          <p:cNvPr id="53275" name="Object 27"/>
          <p:cNvGraphicFramePr>
            <a:graphicFrameLocks noChangeAspect="1"/>
          </p:cNvGraphicFramePr>
          <p:nvPr/>
        </p:nvGraphicFramePr>
        <p:xfrm>
          <a:off x="1447800" y="1600200"/>
          <a:ext cx="1295400" cy="504825"/>
        </p:xfrm>
        <a:graphic>
          <a:graphicData uri="http://schemas.openxmlformats.org/presentationml/2006/ole">
            <p:oleObj spid="_x0000_s526341" name="Equation" r:id="rId7" imgW="520560" imgH="203040" progId="">
              <p:embed/>
            </p:oleObj>
          </a:graphicData>
        </a:graphic>
      </p:graphicFrame>
      <p:graphicFrame>
        <p:nvGraphicFramePr>
          <p:cNvPr id="3078" name="Object 28"/>
          <p:cNvGraphicFramePr>
            <a:graphicFrameLocks noChangeAspect="1"/>
          </p:cNvGraphicFramePr>
          <p:nvPr/>
        </p:nvGraphicFramePr>
        <p:xfrm>
          <a:off x="6172200" y="457200"/>
          <a:ext cx="1676400" cy="655638"/>
        </p:xfrm>
        <a:graphic>
          <a:graphicData uri="http://schemas.openxmlformats.org/presentationml/2006/ole">
            <p:oleObj spid="_x0000_s526342" name="Equation" r:id="rId8" imgW="520560" imgH="203040" progId="">
              <p:embed/>
            </p:oleObj>
          </a:graphicData>
        </a:graphic>
      </p:graphicFrame>
      <p:sp>
        <p:nvSpPr>
          <p:cNvPr id="3094" name="AutoShape 29"/>
          <p:cNvSpPr>
            <a:spLocks noChangeAspect="1" noChangeArrowheads="1" noTextEdit="1"/>
          </p:cNvSpPr>
          <p:nvPr/>
        </p:nvSpPr>
        <p:spPr bwMode="auto">
          <a:xfrm>
            <a:off x="914400" y="304800"/>
            <a:ext cx="2517775" cy="1724025"/>
          </a:xfrm>
          <a:prstGeom prst="rect">
            <a:avLst/>
          </a:prstGeom>
          <a:noFill/>
          <a:ln w="9525">
            <a:noFill/>
            <a:miter lim="800000"/>
            <a:headEnd/>
            <a:tailEnd/>
          </a:ln>
        </p:spPr>
        <p:txBody>
          <a:bodyPr/>
          <a:lstStyle/>
          <a:p>
            <a:endParaRPr lang="en-US"/>
          </a:p>
        </p:txBody>
      </p:sp>
      <p:grpSp>
        <p:nvGrpSpPr>
          <p:cNvPr id="6" name="Group 33"/>
          <p:cNvGrpSpPr>
            <a:grpSpLocks/>
          </p:cNvGrpSpPr>
          <p:nvPr/>
        </p:nvGrpSpPr>
        <p:grpSpPr bwMode="auto">
          <a:xfrm>
            <a:off x="2006600" y="577850"/>
            <a:ext cx="273050" cy="476250"/>
            <a:chOff x="1264" y="364"/>
            <a:chExt cx="172" cy="300"/>
          </a:xfrm>
        </p:grpSpPr>
        <p:sp>
          <p:nvSpPr>
            <p:cNvPr id="3107" name="Freeform 31"/>
            <p:cNvSpPr>
              <a:spLocks/>
            </p:cNvSpPr>
            <p:nvPr/>
          </p:nvSpPr>
          <p:spPr bwMode="auto">
            <a:xfrm>
              <a:off x="1285" y="364"/>
              <a:ext cx="151" cy="253"/>
            </a:xfrm>
            <a:custGeom>
              <a:avLst/>
              <a:gdLst>
                <a:gd name="T0" fmla="*/ 151 w 151"/>
                <a:gd name="T1" fmla="*/ 4 h 253"/>
                <a:gd name="T2" fmla="*/ 146 w 151"/>
                <a:gd name="T3" fmla="*/ 0 h 253"/>
                <a:gd name="T4" fmla="*/ 0 w 151"/>
                <a:gd name="T5" fmla="*/ 249 h 253"/>
                <a:gd name="T6" fmla="*/ 4 w 151"/>
                <a:gd name="T7" fmla="*/ 253 h 253"/>
                <a:gd name="T8" fmla="*/ 151 w 151"/>
                <a:gd name="T9" fmla="*/ 4 h 253"/>
                <a:gd name="T10" fmla="*/ 0 60000 65536"/>
                <a:gd name="T11" fmla="*/ 0 60000 65536"/>
                <a:gd name="T12" fmla="*/ 0 60000 65536"/>
                <a:gd name="T13" fmla="*/ 0 60000 65536"/>
                <a:gd name="T14" fmla="*/ 0 60000 65536"/>
                <a:gd name="T15" fmla="*/ 0 w 151"/>
                <a:gd name="T16" fmla="*/ 0 h 253"/>
                <a:gd name="T17" fmla="*/ 151 w 151"/>
                <a:gd name="T18" fmla="*/ 253 h 253"/>
              </a:gdLst>
              <a:ahLst/>
              <a:cxnLst>
                <a:cxn ang="T10">
                  <a:pos x="T0" y="T1"/>
                </a:cxn>
                <a:cxn ang="T11">
                  <a:pos x="T2" y="T3"/>
                </a:cxn>
                <a:cxn ang="T12">
                  <a:pos x="T4" y="T5"/>
                </a:cxn>
                <a:cxn ang="T13">
                  <a:pos x="T6" y="T7"/>
                </a:cxn>
                <a:cxn ang="T14">
                  <a:pos x="T8" y="T9"/>
                </a:cxn>
              </a:cxnLst>
              <a:rect l="T15" t="T16" r="T17" b="T18"/>
              <a:pathLst>
                <a:path w="151" h="253">
                  <a:moveTo>
                    <a:pt x="151" y="4"/>
                  </a:moveTo>
                  <a:lnTo>
                    <a:pt x="146" y="0"/>
                  </a:lnTo>
                  <a:lnTo>
                    <a:pt x="0" y="249"/>
                  </a:lnTo>
                  <a:lnTo>
                    <a:pt x="4" y="253"/>
                  </a:lnTo>
                  <a:lnTo>
                    <a:pt x="151" y="4"/>
                  </a:lnTo>
                  <a:close/>
                </a:path>
              </a:pathLst>
            </a:custGeom>
            <a:solidFill>
              <a:srgbClr val="000000"/>
            </a:solidFill>
            <a:ln w="9525">
              <a:noFill/>
              <a:round/>
              <a:headEnd/>
              <a:tailEnd/>
            </a:ln>
          </p:spPr>
          <p:txBody>
            <a:bodyPr/>
            <a:lstStyle/>
            <a:p>
              <a:endParaRPr lang="en-US"/>
            </a:p>
          </p:txBody>
        </p:sp>
        <p:sp>
          <p:nvSpPr>
            <p:cNvPr id="3108" name="Freeform 32"/>
            <p:cNvSpPr>
              <a:spLocks/>
            </p:cNvSpPr>
            <p:nvPr/>
          </p:nvSpPr>
          <p:spPr bwMode="auto">
            <a:xfrm>
              <a:off x="1264" y="587"/>
              <a:ext cx="64" cy="77"/>
            </a:xfrm>
            <a:custGeom>
              <a:avLst/>
              <a:gdLst>
                <a:gd name="T0" fmla="*/ 4 w 64"/>
                <a:gd name="T1" fmla="*/ 0 h 77"/>
                <a:gd name="T2" fmla="*/ 0 w 64"/>
                <a:gd name="T3" fmla="*/ 77 h 77"/>
                <a:gd name="T4" fmla="*/ 64 w 64"/>
                <a:gd name="T5" fmla="*/ 34 h 77"/>
                <a:gd name="T6" fmla="*/ 4 w 64"/>
                <a:gd name="T7" fmla="*/ 0 h 77"/>
                <a:gd name="T8" fmla="*/ 0 60000 65536"/>
                <a:gd name="T9" fmla="*/ 0 60000 65536"/>
                <a:gd name="T10" fmla="*/ 0 60000 65536"/>
                <a:gd name="T11" fmla="*/ 0 60000 65536"/>
                <a:gd name="T12" fmla="*/ 0 w 64"/>
                <a:gd name="T13" fmla="*/ 0 h 77"/>
                <a:gd name="T14" fmla="*/ 64 w 64"/>
                <a:gd name="T15" fmla="*/ 77 h 77"/>
              </a:gdLst>
              <a:ahLst/>
              <a:cxnLst>
                <a:cxn ang="T8">
                  <a:pos x="T0" y="T1"/>
                </a:cxn>
                <a:cxn ang="T9">
                  <a:pos x="T2" y="T3"/>
                </a:cxn>
                <a:cxn ang="T10">
                  <a:pos x="T4" y="T5"/>
                </a:cxn>
                <a:cxn ang="T11">
                  <a:pos x="T6" y="T7"/>
                </a:cxn>
              </a:cxnLst>
              <a:rect l="T12" t="T13" r="T14" b="T15"/>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7" name="Group 36"/>
          <p:cNvGrpSpPr>
            <a:grpSpLocks/>
          </p:cNvGrpSpPr>
          <p:nvPr/>
        </p:nvGrpSpPr>
        <p:grpSpPr bwMode="auto">
          <a:xfrm>
            <a:off x="2271713" y="522288"/>
            <a:ext cx="688975" cy="115887"/>
            <a:chOff x="1431" y="329"/>
            <a:chExt cx="434" cy="73"/>
          </a:xfrm>
        </p:grpSpPr>
        <p:sp>
          <p:nvSpPr>
            <p:cNvPr id="3105" name="Rectangle 34"/>
            <p:cNvSpPr>
              <a:spLocks noChangeArrowheads="1"/>
            </p:cNvSpPr>
            <p:nvPr/>
          </p:nvSpPr>
          <p:spPr bwMode="auto">
            <a:xfrm>
              <a:off x="1431" y="359"/>
              <a:ext cx="370" cy="9"/>
            </a:xfrm>
            <a:prstGeom prst="rect">
              <a:avLst/>
            </a:prstGeom>
            <a:solidFill>
              <a:srgbClr val="000000"/>
            </a:solidFill>
            <a:ln w="9525">
              <a:noFill/>
              <a:miter lim="800000"/>
              <a:headEnd/>
              <a:tailEnd/>
            </a:ln>
          </p:spPr>
          <p:txBody>
            <a:bodyPr/>
            <a:lstStyle/>
            <a:p>
              <a:endParaRPr lang="en-US"/>
            </a:p>
          </p:txBody>
        </p:sp>
        <p:sp>
          <p:nvSpPr>
            <p:cNvPr id="3106" name="Freeform 35"/>
            <p:cNvSpPr>
              <a:spLocks/>
            </p:cNvSpPr>
            <p:nvPr/>
          </p:nvSpPr>
          <p:spPr bwMode="auto">
            <a:xfrm>
              <a:off x="1792" y="329"/>
              <a:ext cx="73" cy="73"/>
            </a:xfrm>
            <a:custGeom>
              <a:avLst/>
              <a:gdLst>
                <a:gd name="T0" fmla="*/ 0 w 73"/>
                <a:gd name="T1" fmla="*/ 73 h 73"/>
                <a:gd name="T2" fmla="*/ 73 w 73"/>
                <a:gd name="T3" fmla="*/ 35 h 73"/>
                <a:gd name="T4" fmla="*/ 0 w 73"/>
                <a:gd name="T5" fmla="*/ 0 h 73"/>
                <a:gd name="T6" fmla="*/ 0 w 73"/>
                <a:gd name="T7" fmla="*/ 73 h 73"/>
                <a:gd name="T8" fmla="*/ 0 60000 65536"/>
                <a:gd name="T9" fmla="*/ 0 60000 65536"/>
                <a:gd name="T10" fmla="*/ 0 60000 65536"/>
                <a:gd name="T11" fmla="*/ 0 60000 65536"/>
                <a:gd name="T12" fmla="*/ 0 w 73"/>
                <a:gd name="T13" fmla="*/ 0 h 73"/>
                <a:gd name="T14" fmla="*/ 73 w 73"/>
                <a:gd name="T15" fmla="*/ 73 h 73"/>
              </a:gdLst>
              <a:ahLst/>
              <a:cxnLst>
                <a:cxn ang="T8">
                  <a:pos x="T0" y="T1"/>
                </a:cxn>
                <a:cxn ang="T9">
                  <a:pos x="T2" y="T3"/>
                </a:cxn>
                <a:cxn ang="T10">
                  <a:pos x="T4" y="T5"/>
                </a:cxn>
                <a:cxn ang="T11">
                  <a:pos x="T6" y="T7"/>
                </a:cxn>
              </a:cxnLst>
              <a:rect l="T12" t="T13" r="T14" b="T15"/>
              <a:pathLst>
                <a:path w="73" h="73">
                  <a:moveTo>
                    <a:pt x="0" y="73"/>
                  </a:moveTo>
                  <a:lnTo>
                    <a:pt x="73" y="35"/>
                  </a:lnTo>
                  <a:lnTo>
                    <a:pt x="0" y="0"/>
                  </a:lnTo>
                  <a:lnTo>
                    <a:pt x="0" y="73"/>
                  </a:lnTo>
                  <a:close/>
                </a:path>
              </a:pathLst>
            </a:custGeom>
            <a:solidFill>
              <a:srgbClr val="000000"/>
            </a:solidFill>
            <a:ln w="9525">
              <a:noFill/>
              <a:round/>
              <a:headEnd/>
              <a:tailEnd/>
            </a:ln>
          </p:spPr>
          <p:txBody>
            <a:bodyPr/>
            <a:lstStyle/>
            <a:p>
              <a:endParaRPr lang="en-US"/>
            </a:p>
          </p:txBody>
        </p:sp>
      </p:grpSp>
      <p:sp>
        <p:nvSpPr>
          <p:cNvPr id="3097" name="Rectangle 37"/>
          <p:cNvSpPr>
            <a:spLocks noChangeArrowheads="1"/>
          </p:cNvSpPr>
          <p:nvPr/>
        </p:nvSpPr>
        <p:spPr bwMode="auto">
          <a:xfrm>
            <a:off x="2354263" y="890588"/>
            <a:ext cx="2586037" cy="654050"/>
          </a:xfrm>
          <a:prstGeom prst="rect">
            <a:avLst/>
          </a:prstGeom>
          <a:noFill/>
          <a:ln w="9525">
            <a:noFill/>
            <a:miter lim="800000"/>
            <a:headEnd/>
            <a:tailEnd/>
          </a:ln>
        </p:spPr>
        <p:txBody>
          <a:bodyPr/>
          <a:lstStyle/>
          <a:p>
            <a:endParaRPr lang="en-US"/>
          </a:p>
        </p:txBody>
      </p:sp>
      <p:sp>
        <p:nvSpPr>
          <p:cNvPr id="3098" name="Rectangle 38"/>
          <p:cNvSpPr>
            <a:spLocks noChangeArrowheads="1"/>
          </p:cNvSpPr>
          <p:nvPr/>
        </p:nvSpPr>
        <p:spPr bwMode="auto">
          <a:xfrm>
            <a:off x="2466975" y="938213"/>
            <a:ext cx="38100" cy="168275"/>
          </a:xfrm>
          <a:prstGeom prst="rect">
            <a:avLst/>
          </a:prstGeom>
          <a:noFill/>
          <a:ln w="9525">
            <a:noFill/>
            <a:miter lim="800000"/>
            <a:headEnd/>
            <a:tailEnd/>
          </a:ln>
        </p:spPr>
        <p:txBody>
          <a:bodyPr wrap="none" lIns="0" tIns="0" rIns="0" bIns="0">
            <a:spAutoFit/>
          </a:bodyPr>
          <a:lstStyle/>
          <a:p>
            <a:r>
              <a:rPr lang="en-US" sz="1100">
                <a:solidFill>
                  <a:srgbClr val="000000"/>
                </a:solidFill>
              </a:rPr>
              <a:t> </a:t>
            </a:r>
            <a:endParaRPr lang="en-US"/>
          </a:p>
        </p:txBody>
      </p:sp>
      <p:sp>
        <p:nvSpPr>
          <p:cNvPr id="3099" name="Rectangle 39"/>
          <p:cNvSpPr>
            <a:spLocks noChangeArrowheads="1"/>
          </p:cNvSpPr>
          <p:nvPr/>
        </p:nvSpPr>
        <p:spPr bwMode="auto">
          <a:xfrm>
            <a:off x="3022600" y="373063"/>
            <a:ext cx="2586038" cy="647700"/>
          </a:xfrm>
          <a:prstGeom prst="rect">
            <a:avLst/>
          </a:prstGeom>
          <a:noFill/>
          <a:ln w="9525">
            <a:noFill/>
            <a:miter lim="800000"/>
            <a:headEnd/>
            <a:tailEnd/>
          </a:ln>
        </p:spPr>
        <p:txBody>
          <a:bodyPr/>
          <a:lstStyle/>
          <a:p>
            <a:endParaRPr lang="en-US"/>
          </a:p>
        </p:txBody>
      </p:sp>
      <p:sp>
        <p:nvSpPr>
          <p:cNvPr id="3100" name="Rectangle 40"/>
          <p:cNvSpPr>
            <a:spLocks noChangeArrowheads="1"/>
          </p:cNvSpPr>
          <p:nvPr/>
        </p:nvSpPr>
        <p:spPr bwMode="auto">
          <a:xfrm>
            <a:off x="3048000" y="412750"/>
            <a:ext cx="155575" cy="334963"/>
          </a:xfrm>
          <a:prstGeom prst="rect">
            <a:avLst/>
          </a:prstGeom>
          <a:noFill/>
          <a:ln w="9525">
            <a:noFill/>
            <a:miter lim="800000"/>
            <a:headEnd/>
            <a:tailEnd/>
          </a:ln>
        </p:spPr>
        <p:txBody>
          <a:bodyPr wrap="none" lIns="0" tIns="0" rIns="0" bIns="0">
            <a:spAutoFit/>
          </a:bodyPr>
          <a:lstStyle/>
          <a:p>
            <a:r>
              <a:rPr lang="en-US" sz="2200" i="1">
                <a:solidFill>
                  <a:srgbClr val="000000"/>
                </a:solidFill>
              </a:rPr>
              <a:t>a</a:t>
            </a:r>
            <a:endParaRPr lang="en-US" i="1"/>
          </a:p>
        </p:txBody>
      </p:sp>
      <p:sp>
        <p:nvSpPr>
          <p:cNvPr id="3101" name="Rectangle 41"/>
          <p:cNvSpPr>
            <a:spLocks noChangeArrowheads="1"/>
          </p:cNvSpPr>
          <p:nvPr/>
        </p:nvSpPr>
        <p:spPr bwMode="auto">
          <a:xfrm>
            <a:off x="3048000" y="457200"/>
            <a:ext cx="77788" cy="334963"/>
          </a:xfrm>
          <a:prstGeom prst="rect">
            <a:avLst/>
          </a:prstGeom>
          <a:noFill/>
          <a:ln w="9525">
            <a:noFill/>
            <a:miter lim="800000"/>
            <a:headEnd/>
            <a:tailEnd/>
          </a:ln>
        </p:spPr>
        <p:txBody>
          <a:bodyPr wrap="none" lIns="0" tIns="0" rIns="0" bIns="0">
            <a:spAutoFit/>
          </a:bodyPr>
          <a:lstStyle/>
          <a:p>
            <a:r>
              <a:rPr lang="en-US" sz="2200">
                <a:solidFill>
                  <a:srgbClr val="000000"/>
                </a:solidFill>
              </a:rPr>
              <a:t> </a:t>
            </a:r>
            <a:endParaRPr lang="en-US"/>
          </a:p>
        </p:txBody>
      </p:sp>
      <p:sp>
        <p:nvSpPr>
          <p:cNvPr id="3102" name="Rectangle 42"/>
          <p:cNvSpPr>
            <a:spLocks noChangeArrowheads="1"/>
          </p:cNvSpPr>
          <p:nvPr/>
        </p:nvSpPr>
        <p:spPr bwMode="auto">
          <a:xfrm>
            <a:off x="1801813" y="1054100"/>
            <a:ext cx="2586037" cy="647700"/>
          </a:xfrm>
          <a:prstGeom prst="rect">
            <a:avLst/>
          </a:prstGeom>
          <a:noFill/>
          <a:ln w="9525">
            <a:noFill/>
            <a:miter lim="800000"/>
            <a:headEnd/>
            <a:tailEnd/>
          </a:ln>
        </p:spPr>
        <p:txBody>
          <a:bodyPr/>
          <a:lstStyle/>
          <a:p>
            <a:endParaRPr lang="en-US"/>
          </a:p>
        </p:txBody>
      </p:sp>
      <p:sp>
        <p:nvSpPr>
          <p:cNvPr id="3103" name="Rectangle 43"/>
          <p:cNvSpPr>
            <a:spLocks noChangeArrowheads="1"/>
          </p:cNvSpPr>
          <p:nvPr/>
        </p:nvSpPr>
        <p:spPr bwMode="auto">
          <a:xfrm>
            <a:off x="1828800" y="1093788"/>
            <a:ext cx="139700" cy="334962"/>
          </a:xfrm>
          <a:prstGeom prst="rect">
            <a:avLst/>
          </a:prstGeom>
          <a:noFill/>
          <a:ln w="9525">
            <a:noFill/>
            <a:miter lim="800000"/>
            <a:headEnd/>
            <a:tailEnd/>
          </a:ln>
        </p:spPr>
        <p:txBody>
          <a:bodyPr wrap="none" lIns="0" tIns="0" rIns="0" bIns="0">
            <a:spAutoFit/>
          </a:bodyPr>
          <a:lstStyle/>
          <a:p>
            <a:r>
              <a:rPr lang="en-US" sz="2200" i="1">
                <a:solidFill>
                  <a:srgbClr val="000000"/>
                </a:solidFill>
              </a:rPr>
              <a:t>c</a:t>
            </a:r>
            <a:endParaRPr lang="en-US" i="1"/>
          </a:p>
        </p:txBody>
      </p:sp>
      <p:sp>
        <p:nvSpPr>
          <p:cNvPr id="3104" name="Rectangle 44"/>
          <p:cNvSpPr>
            <a:spLocks noChangeArrowheads="1"/>
          </p:cNvSpPr>
          <p:nvPr/>
        </p:nvSpPr>
        <p:spPr bwMode="auto">
          <a:xfrm>
            <a:off x="2079625" y="1093788"/>
            <a:ext cx="77788" cy="334962"/>
          </a:xfrm>
          <a:prstGeom prst="rect">
            <a:avLst/>
          </a:prstGeom>
          <a:noFill/>
          <a:ln w="9525">
            <a:noFill/>
            <a:miter lim="800000"/>
            <a:headEnd/>
            <a:tailEnd/>
          </a:ln>
        </p:spPr>
        <p:txBody>
          <a:bodyPr wrap="none" lIns="0" tIns="0" rIns="0" bIns="0">
            <a:spAutoFit/>
          </a:bodyPr>
          <a:lstStyle/>
          <a:p>
            <a:r>
              <a:rPr lang="en-US" sz="2200">
                <a:solidFill>
                  <a:srgbClr val="000000"/>
                </a:solidFill>
              </a:rPr>
              <a:t> </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2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2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32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532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5327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5327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53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7" grpId="0" animBg="1"/>
      <p:bldP spid="53258" grpId="0" autoUpdateAnimBg="0"/>
      <p:bldP spid="53271"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3"/>
          <p:cNvSpPr>
            <a:spLocks noGrp="1"/>
          </p:cNvSpPr>
          <p:nvPr>
            <p:ph type="sldNum" sz="quarter" idx="12"/>
          </p:nvPr>
        </p:nvSpPr>
        <p:spPr/>
        <p:txBody>
          <a:bodyPr/>
          <a:lstStyle/>
          <a:p>
            <a:pPr>
              <a:defRPr/>
            </a:pPr>
            <a:fld id="{E9FA4074-76A6-45F2-A51F-1702ED4EA429}" type="slidenum">
              <a:rPr lang="en-US"/>
              <a:pPr>
                <a:defRPr/>
              </a:pPr>
              <a:t>77</a:t>
            </a:fld>
            <a:endParaRPr lang="en-US"/>
          </a:p>
        </p:txBody>
      </p:sp>
      <p:sp>
        <p:nvSpPr>
          <p:cNvPr id="20483" name="Text Box 2"/>
          <p:cNvSpPr txBox="1">
            <a:spLocks noChangeArrowheads="1"/>
          </p:cNvSpPr>
          <p:nvPr/>
        </p:nvSpPr>
        <p:spPr bwMode="auto">
          <a:xfrm>
            <a:off x="440961" y="587115"/>
            <a:ext cx="6319603" cy="457200"/>
          </a:xfrm>
          <a:prstGeom prst="rect">
            <a:avLst/>
          </a:prstGeom>
          <a:noFill/>
          <a:ln w="9525">
            <a:noFill/>
            <a:miter lim="800000"/>
            <a:headEnd/>
            <a:tailEnd/>
          </a:ln>
        </p:spPr>
        <p:txBody>
          <a:bodyPr wrap="square">
            <a:spAutoFit/>
          </a:bodyPr>
          <a:lstStyle/>
          <a:p>
            <a:pPr algn="l"/>
            <a:r>
              <a:rPr lang="en-US" dirty="0"/>
              <a:t>So, we’ve got one molecule per unit cell (</a:t>
            </a:r>
            <a:r>
              <a:rPr lang="en-US" i="1" dirty="0"/>
              <a:t>Z</a:t>
            </a:r>
            <a:r>
              <a:rPr lang="en-US" dirty="0"/>
              <a:t> = 1).</a:t>
            </a:r>
          </a:p>
        </p:txBody>
      </p:sp>
      <p:sp>
        <p:nvSpPr>
          <p:cNvPr id="15363" name="Text Box 3"/>
          <p:cNvSpPr txBox="1">
            <a:spLocks noChangeArrowheads="1"/>
          </p:cNvSpPr>
          <p:nvPr/>
        </p:nvSpPr>
        <p:spPr bwMode="auto">
          <a:xfrm>
            <a:off x="685800" y="5640049"/>
            <a:ext cx="8458200" cy="822325"/>
          </a:xfrm>
          <a:prstGeom prst="rect">
            <a:avLst/>
          </a:prstGeom>
          <a:noFill/>
          <a:ln w="9525">
            <a:noFill/>
            <a:miter lim="800000"/>
            <a:headEnd/>
            <a:tailEnd/>
          </a:ln>
        </p:spPr>
        <p:txBody>
          <a:bodyPr>
            <a:spAutoFit/>
          </a:bodyPr>
          <a:lstStyle/>
          <a:p>
            <a:pPr algn="l">
              <a:spcBef>
                <a:spcPct val="50000"/>
              </a:spcBef>
            </a:pPr>
            <a:r>
              <a:rPr lang="en-US" dirty="0"/>
              <a:t>Which two phrases describe the properties of handedness and </a:t>
            </a:r>
            <a:r>
              <a:rPr lang="en-US" dirty="0" err="1"/>
              <a:t>centrosymmetry</a:t>
            </a:r>
            <a:r>
              <a:rPr lang="en-US" dirty="0"/>
              <a:t> for </a:t>
            </a:r>
            <a:r>
              <a:rPr lang="en-US" i="1" dirty="0"/>
              <a:t>P</a:t>
            </a:r>
            <a:r>
              <a:rPr lang="en-US" dirty="0"/>
              <a:t>1?</a:t>
            </a:r>
          </a:p>
        </p:txBody>
      </p:sp>
      <p:grpSp>
        <p:nvGrpSpPr>
          <p:cNvPr id="2" name="Group 8"/>
          <p:cNvGrpSpPr>
            <a:grpSpLocks/>
          </p:cNvGrpSpPr>
          <p:nvPr/>
        </p:nvGrpSpPr>
        <p:grpSpPr bwMode="auto">
          <a:xfrm>
            <a:off x="527155" y="1981903"/>
            <a:ext cx="8226425" cy="3500438"/>
            <a:chOff x="96" y="1239"/>
            <a:chExt cx="5182" cy="2205"/>
          </a:xfrm>
        </p:grpSpPr>
        <p:sp>
          <p:nvSpPr>
            <p:cNvPr id="20487" name="Text Box 4"/>
            <p:cNvSpPr txBox="1">
              <a:spLocks noChangeArrowheads="1"/>
            </p:cNvSpPr>
            <p:nvPr/>
          </p:nvSpPr>
          <p:spPr bwMode="auto">
            <a:xfrm>
              <a:off x="144" y="2688"/>
              <a:ext cx="5134" cy="756"/>
            </a:xfrm>
            <a:prstGeom prst="rect">
              <a:avLst/>
            </a:prstGeom>
            <a:noFill/>
            <a:ln w="9525">
              <a:noFill/>
              <a:miter lim="800000"/>
              <a:headEnd/>
              <a:tailEnd/>
            </a:ln>
          </p:spPr>
          <p:txBody>
            <a:bodyPr wrap="square">
              <a:spAutoFit/>
            </a:bodyPr>
            <a:lstStyle/>
            <a:p>
              <a:pPr algn="just">
                <a:spcBef>
                  <a:spcPct val="50000"/>
                </a:spcBef>
              </a:pPr>
              <a:r>
                <a:rPr lang="en-US" dirty="0"/>
                <a:t>A space group that contains a </a:t>
              </a:r>
              <a:r>
                <a:rPr lang="en-US" dirty="0">
                  <a:solidFill>
                    <a:srgbClr val="FF0000"/>
                  </a:solidFill>
                </a:rPr>
                <a:t>center of symmetry</a:t>
              </a:r>
              <a:r>
                <a:rPr lang="en-US" dirty="0"/>
                <a:t> is referred to as </a:t>
              </a:r>
              <a:r>
                <a:rPr lang="en-US" dirty="0">
                  <a:solidFill>
                    <a:srgbClr val="FF0000"/>
                  </a:solidFill>
                </a:rPr>
                <a:t>“</a:t>
              </a:r>
              <a:r>
                <a:rPr lang="en-US" dirty="0" err="1">
                  <a:solidFill>
                    <a:srgbClr val="FF0000"/>
                  </a:solidFill>
                </a:rPr>
                <a:t>Centrosymmetric</a:t>
              </a:r>
              <a:r>
                <a:rPr lang="en-US" dirty="0">
                  <a:solidFill>
                    <a:srgbClr val="FF0000"/>
                  </a:solidFill>
                </a:rPr>
                <a:t>”;</a:t>
              </a:r>
              <a:r>
                <a:rPr lang="en-US" dirty="0"/>
                <a:t> if there is </a:t>
              </a:r>
              <a:r>
                <a:rPr lang="en-US" dirty="0">
                  <a:solidFill>
                    <a:srgbClr val="FF0000"/>
                  </a:solidFill>
                </a:rPr>
                <a:t>no center of symmetry</a:t>
              </a:r>
              <a:r>
                <a:rPr lang="en-US" dirty="0"/>
                <a:t>, it is called </a:t>
              </a:r>
              <a:r>
                <a:rPr lang="en-US" dirty="0">
                  <a:solidFill>
                    <a:srgbClr val="FF0000"/>
                  </a:solidFill>
                </a:rPr>
                <a:t>“Non-</a:t>
              </a:r>
              <a:r>
                <a:rPr lang="en-US" dirty="0" err="1">
                  <a:solidFill>
                    <a:srgbClr val="FF0000"/>
                  </a:solidFill>
                </a:rPr>
                <a:t>centrosymmetric</a:t>
              </a:r>
              <a:r>
                <a:rPr lang="en-US" dirty="0">
                  <a:solidFill>
                    <a:srgbClr val="FF0000"/>
                  </a:solidFill>
                </a:rPr>
                <a:t>”.</a:t>
              </a:r>
            </a:p>
          </p:txBody>
        </p:sp>
        <p:sp>
          <p:nvSpPr>
            <p:cNvPr id="20488" name="Text Box 5"/>
            <p:cNvSpPr txBox="1">
              <a:spLocks noChangeArrowheads="1"/>
            </p:cNvSpPr>
            <p:nvPr/>
          </p:nvSpPr>
          <p:spPr bwMode="auto">
            <a:xfrm>
              <a:off x="96" y="1968"/>
              <a:ext cx="5154" cy="814"/>
            </a:xfrm>
            <a:prstGeom prst="rect">
              <a:avLst/>
            </a:prstGeom>
            <a:noFill/>
            <a:ln w="9525">
              <a:noFill/>
              <a:miter lim="800000"/>
              <a:headEnd/>
              <a:tailEnd/>
            </a:ln>
          </p:spPr>
          <p:txBody>
            <a:bodyPr wrap="square">
              <a:spAutoFit/>
            </a:bodyPr>
            <a:lstStyle/>
            <a:p>
              <a:pPr algn="just"/>
              <a:r>
                <a:rPr lang="en-US" dirty="0"/>
                <a:t>A space group that MUST contain </a:t>
              </a:r>
              <a:r>
                <a:rPr lang="en-US" i="1" dirty="0">
                  <a:solidFill>
                    <a:schemeClr val="accent2"/>
                  </a:solidFill>
                </a:rPr>
                <a:t>pairs of </a:t>
              </a:r>
              <a:r>
                <a:rPr lang="en-US" i="1" dirty="0" err="1">
                  <a:solidFill>
                    <a:schemeClr val="accent2"/>
                  </a:solidFill>
                </a:rPr>
                <a:t>enantiomers</a:t>
              </a:r>
              <a:r>
                <a:rPr lang="en-US" dirty="0"/>
                <a:t> is referred to as </a:t>
              </a:r>
              <a:r>
                <a:rPr lang="en-US" dirty="0">
                  <a:solidFill>
                    <a:schemeClr val="accent2"/>
                  </a:solidFill>
                </a:rPr>
                <a:t>“Non-</a:t>
              </a:r>
              <a:r>
                <a:rPr lang="en-US" dirty="0" err="1">
                  <a:solidFill>
                    <a:schemeClr val="accent2"/>
                  </a:solidFill>
                </a:rPr>
                <a:t>enantiomorphous</a:t>
              </a:r>
              <a:r>
                <a:rPr lang="en-US" dirty="0">
                  <a:solidFill>
                    <a:schemeClr val="accent2"/>
                  </a:solidFill>
                </a:rPr>
                <a:t>”.</a:t>
              </a:r>
              <a:endParaRPr lang="en-US" dirty="0"/>
            </a:p>
            <a:p>
              <a:pPr algn="just">
                <a:spcBef>
                  <a:spcPct val="50000"/>
                </a:spcBef>
              </a:pPr>
              <a:endParaRPr lang="en-US" sz="2000" dirty="0"/>
            </a:p>
          </p:txBody>
        </p:sp>
        <p:sp>
          <p:nvSpPr>
            <p:cNvPr id="20489" name="Text Box 6"/>
            <p:cNvSpPr txBox="1">
              <a:spLocks noChangeArrowheads="1"/>
            </p:cNvSpPr>
            <p:nvPr/>
          </p:nvSpPr>
          <p:spPr bwMode="auto">
            <a:xfrm>
              <a:off x="128" y="1239"/>
              <a:ext cx="4990" cy="523"/>
            </a:xfrm>
            <a:prstGeom prst="rect">
              <a:avLst/>
            </a:prstGeom>
            <a:noFill/>
            <a:ln w="9525">
              <a:noFill/>
              <a:miter lim="800000"/>
              <a:headEnd/>
              <a:tailEnd/>
            </a:ln>
          </p:spPr>
          <p:txBody>
            <a:bodyPr wrap="square">
              <a:spAutoFit/>
            </a:bodyPr>
            <a:lstStyle/>
            <a:p>
              <a:pPr algn="l">
                <a:spcBef>
                  <a:spcPct val="50000"/>
                </a:spcBef>
              </a:pPr>
              <a:r>
                <a:rPr lang="en-US" dirty="0"/>
                <a:t>A space group that may contain </a:t>
              </a:r>
              <a:r>
                <a:rPr lang="en-US" i="1" dirty="0">
                  <a:solidFill>
                    <a:schemeClr val="accent2"/>
                  </a:solidFill>
                </a:rPr>
                <a:t>molecules of one hand only</a:t>
              </a:r>
              <a:r>
                <a:rPr lang="en-US" dirty="0"/>
                <a:t> is referred to as </a:t>
              </a:r>
              <a:r>
                <a:rPr lang="en-US" dirty="0">
                  <a:solidFill>
                    <a:schemeClr val="accent2"/>
                  </a:solidFill>
                </a:rPr>
                <a:t>“</a:t>
              </a:r>
              <a:r>
                <a:rPr lang="en-US" dirty="0" err="1">
                  <a:solidFill>
                    <a:schemeClr val="accent2"/>
                  </a:solidFill>
                </a:rPr>
                <a:t>Enantiomorphous</a:t>
              </a:r>
              <a:r>
                <a:rPr lang="en-US" dirty="0">
                  <a:solidFill>
                    <a:schemeClr val="accent2"/>
                  </a:solidFill>
                </a:rPr>
                <a:t>”.</a:t>
              </a:r>
            </a:p>
          </p:txBody>
        </p:sp>
      </p:grpSp>
      <p:sp>
        <p:nvSpPr>
          <p:cNvPr id="20486" name="Text Box 7"/>
          <p:cNvSpPr txBox="1">
            <a:spLocks noChangeArrowheads="1"/>
          </p:cNvSpPr>
          <p:nvPr/>
        </p:nvSpPr>
        <p:spPr bwMode="auto">
          <a:xfrm>
            <a:off x="689548" y="1123013"/>
            <a:ext cx="7749915" cy="461665"/>
          </a:xfrm>
          <a:prstGeom prst="rect">
            <a:avLst/>
          </a:prstGeom>
          <a:noFill/>
          <a:ln w="9525">
            <a:noFill/>
            <a:miter lim="800000"/>
            <a:headEnd/>
            <a:tailEnd/>
          </a:ln>
        </p:spPr>
        <p:txBody>
          <a:bodyPr wrap="square">
            <a:spAutoFit/>
          </a:bodyPr>
          <a:lstStyle/>
          <a:p>
            <a:pPr algn="l">
              <a:spcBef>
                <a:spcPct val="50000"/>
              </a:spcBef>
            </a:pPr>
            <a:r>
              <a:rPr lang="en-US" dirty="0"/>
              <a:t>Let’s consider some properties of space </a:t>
            </a:r>
            <a:r>
              <a:rPr lang="en-US" dirty="0" smtClean="0"/>
              <a:t>groups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3"/>
          <p:cNvSpPr>
            <a:spLocks noGrp="1"/>
          </p:cNvSpPr>
          <p:nvPr>
            <p:ph type="sldNum" sz="quarter" idx="12"/>
          </p:nvPr>
        </p:nvSpPr>
        <p:spPr/>
        <p:txBody>
          <a:bodyPr/>
          <a:lstStyle/>
          <a:p>
            <a:pPr>
              <a:defRPr/>
            </a:pPr>
            <a:fld id="{B0C55553-22D5-45DA-9049-2FBD74EDE4D1}" type="slidenum">
              <a:rPr lang="en-US"/>
              <a:pPr>
                <a:defRPr/>
              </a:pPr>
              <a:t>78</a:t>
            </a:fld>
            <a:endParaRPr lang="en-US"/>
          </a:p>
        </p:txBody>
      </p:sp>
      <p:sp>
        <p:nvSpPr>
          <p:cNvPr id="4105" name="Line 2"/>
          <p:cNvSpPr>
            <a:spLocks noChangeShapeType="1"/>
          </p:cNvSpPr>
          <p:nvPr/>
        </p:nvSpPr>
        <p:spPr bwMode="auto">
          <a:xfrm>
            <a:off x="3276600" y="1600200"/>
            <a:ext cx="2667000" cy="0"/>
          </a:xfrm>
          <a:prstGeom prst="line">
            <a:avLst/>
          </a:prstGeom>
          <a:noFill/>
          <a:ln w="19050">
            <a:solidFill>
              <a:schemeClr val="tx1"/>
            </a:solidFill>
            <a:round/>
            <a:headEnd/>
            <a:tailEnd/>
          </a:ln>
        </p:spPr>
        <p:txBody>
          <a:bodyPr/>
          <a:lstStyle/>
          <a:p>
            <a:endParaRPr lang="en-US"/>
          </a:p>
        </p:txBody>
      </p:sp>
      <p:sp>
        <p:nvSpPr>
          <p:cNvPr id="4106" name="Line 3"/>
          <p:cNvSpPr>
            <a:spLocks noChangeShapeType="1"/>
          </p:cNvSpPr>
          <p:nvPr/>
        </p:nvSpPr>
        <p:spPr bwMode="auto">
          <a:xfrm flipH="1">
            <a:off x="5334000" y="1600200"/>
            <a:ext cx="609600" cy="1752600"/>
          </a:xfrm>
          <a:prstGeom prst="line">
            <a:avLst/>
          </a:prstGeom>
          <a:noFill/>
          <a:ln w="19050">
            <a:solidFill>
              <a:schemeClr val="tx1"/>
            </a:solidFill>
            <a:round/>
            <a:headEnd/>
            <a:tailEnd/>
          </a:ln>
        </p:spPr>
        <p:txBody>
          <a:bodyPr/>
          <a:lstStyle/>
          <a:p>
            <a:endParaRPr lang="en-US"/>
          </a:p>
        </p:txBody>
      </p:sp>
      <p:sp>
        <p:nvSpPr>
          <p:cNvPr id="4107" name="Line 4"/>
          <p:cNvSpPr>
            <a:spLocks noChangeShapeType="1"/>
          </p:cNvSpPr>
          <p:nvPr/>
        </p:nvSpPr>
        <p:spPr bwMode="auto">
          <a:xfrm flipH="1">
            <a:off x="2590800" y="1600200"/>
            <a:ext cx="685800" cy="1752600"/>
          </a:xfrm>
          <a:prstGeom prst="line">
            <a:avLst/>
          </a:prstGeom>
          <a:noFill/>
          <a:ln w="19050">
            <a:solidFill>
              <a:schemeClr val="tx1"/>
            </a:solidFill>
            <a:round/>
            <a:headEnd/>
            <a:tailEnd/>
          </a:ln>
        </p:spPr>
        <p:txBody>
          <a:bodyPr/>
          <a:lstStyle/>
          <a:p>
            <a:endParaRPr lang="en-US"/>
          </a:p>
        </p:txBody>
      </p:sp>
      <p:sp>
        <p:nvSpPr>
          <p:cNvPr id="4108" name="Line 5"/>
          <p:cNvSpPr>
            <a:spLocks noChangeShapeType="1"/>
          </p:cNvSpPr>
          <p:nvPr/>
        </p:nvSpPr>
        <p:spPr bwMode="auto">
          <a:xfrm>
            <a:off x="2590800" y="3352800"/>
            <a:ext cx="2743200" cy="0"/>
          </a:xfrm>
          <a:prstGeom prst="line">
            <a:avLst/>
          </a:prstGeom>
          <a:noFill/>
          <a:ln w="19050">
            <a:solidFill>
              <a:schemeClr val="tx1"/>
            </a:solidFill>
            <a:round/>
            <a:headEnd/>
            <a:tailEnd/>
          </a:ln>
        </p:spPr>
        <p:txBody>
          <a:bodyPr/>
          <a:lstStyle/>
          <a:p>
            <a:endParaRPr lang="en-US"/>
          </a:p>
        </p:txBody>
      </p:sp>
      <p:sp>
        <p:nvSpPr>
          <p:cNvPr id="4109" name="Line 6"/>
          <p:cNvSpPr>
            <a:spLocks noChangeShapeType="1"/>
          </p:cNvSpPr>
          <p:nvPr/>
        </p:nvSpPr>
        <p:spPr bwMode="auto">
          <a:xfrm flipH="1">
            <a:off x="3962400" y="1600200"/>
            <a:ext cx="609600" cy="1752600"/>
          </a:xfrm>
          <a:prstGeom prst="line">
            <a:avLst/>
          </a:prstGeom>
          <a:noFill/>
          <a:ln w="19050">
            <a:solidFill>
              <a:schemeClr val="tx1"/>
            </a:solidFill>
            <a:round/>
            <a:headEnd/>
            <a:tailEnd/>
          </a:ln>
        </p:spPr>
        <p:txBody>
          <a:bodyPr/>
          <a:lstStyle/>
          <a:p>
            <a:endParaRPr lang="en-US"/>
          </a:p>
        </p:txBody>
      </p:sp>
      <p:sp>
        <p:nvSpPr>
          <p:cNvPr id="4110" name="Line 7"/>
          <p:cNvSpPr>
            <a:spLocks noChangeShapeType="1"/>
          </p:cNvSpPr>
          <p:nvPr/>
        </p:nvSpPr>
        <p:spPr bwMode="auto">
          <a:xfrm>
            <a:off x="2971800" y="2438400"/>
            <a:ext cx="2667000" cy="0"/>
          </a:xfrm>
          <a:prstGeom prst="line">
            <a:avLst/>
          </a:prstGeom>
          <a:noFill/>
          <a:ln w="19050">
            <a:solidFill>
              <a:schemeClr val="tx1"/>
            </a:solidFill>
            <a:round/>
            <a:headEnd/>
            <a:tailEnd/>
          </a:ln>
        </p:spPr>
        <p:txBody>
          <a:bodyPr/>
          <a:lstStyle/>
          <a:p>
            <a:endParaRPr lang="en-US"/>
          </a:p>
        </p:txBody>
      </p:sp>
      <p:sp>
        <p:nvSpPr>
          <p:cNvPr id="4111" name="Oval 9"/>
          <p:cNvSpPr>
            <a:spLocks noChangeArrowheads="1"/>
          </p:cNvSpPr>
          <p:nvPr/>
        </p:nvSpPr>
        <p:spPr bwMode="auto">
          <a:xfrm>
            <a:off x="3352800" y="1676400"/>
            <a:ext cx="403225" cy="403225"/>
          </a:xfrm>
          <a:prstGeom prst="ellipse">
            <a:avLst/>
          </a:prstGeom>
          <a:noFill/>
          <a:ln w="12700">
            <a:solidFill>
              <a:srgbClr val="000000"/>
            </a:solidFill>
            <a:round/>
            <a:headEnd/>
            <a:tailEnd/>
          </a:ln>
        </p:spPr>
        <p:txBody>
          <a:bodyPr/>
          <a:lstStyle/>
          <a:p>
            <a:endParaRPr lang="en-US"/>
          </a:p>
        </p:txBody>
      </p:sp>
      <p:sp>
        <p:nvSpPr>
          <p:cNvPr id="4112" name="Rectangle 10"/>
          <p:cNvSpPr>
            <a:spLocks noChangeArrowheads="1"/>
          </p:cNvSpPr>
          <p:nvPr/>
        </p:nvSpPr>
        <p:spPr bwMode="auto">
          <a:xfrm>
            <a:off x="3733800" y="1752600"/>
            <a:ext cx="273050" cy="274638"/>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nvGrpSpPr>
          <p:cNvPr id="2" name="Group 11"/>
          <p:cNvGrpSpPr>
            <a:grpSpLocks/>
          </p:cNvGrpSpPr>
          <p:nvPr/>
        </p:nvGrpSpPr>
        <p:grpSpPr bwMode="auto">
          <a:xfrm>
            <a:off x="6019800" y="1676400"/>
            <a:ext cx="654050" cy="403225"/>
            <a:chOff x="3840" y="1056"/>
            <a:chExt cx="412" cy="254"/>
          </a:xfrm>
        </p:grpSpPr>
        <p:sp>
          <p:nvSpPr>
            <p:cNvPr id="4135" name="Oval 12"/>
            <p:cNvSpPr>
              <a:spLocks noChangeArrowheads="1"/>
            </p:cNvSpPr>
            <p:nvPr/>
          </p:nvSpPr>
          <p:spPr bwMode="auto">
            <a:xfrm>
              <a:off x="3840" y="1056"/>
              <a:ext cx="254" cy="254"/>
            </a:xfrm>
            <a:prstGeom prst="ellipse">
              <a:avLst/>
            </a:prstGeom>
            <a:noFill/>
            <a:ln w="12700">
              <a:solidFill>
                <a:srgbClr val="000000"/>
              </a:solidFill>
              <a:round/>
              <a:headEnd/>
              <a:tailEnd/>
            </a:ln>
          </p:spPr>
          <p:txBody>
            <a:bodyPr/>
            <a:lstStyle/>
            <a:p>
              <a:endParaRPr lang="en-US"/>
            </a:p>
          </p:txBody>
        </p:sp>
        <p:sp>
          <p:nvSpPr>
            <p:cNvPr id="4136" name="Rectangle 13"/>
            <p:cNvSpPr>
              <a:spLocks noChangeArrowheads="1"/>
            </p:cNvSpPr>
            <p:nvPr/>
          </p:nvSpPr>
          <p:spPr bwMode="auto">
            <a:xfrm>
              <a:off x="4080" y="1104"/>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3" name="Group 14"/>
          <p:cNvGrpSpPr>
            <a:grpSpLocks/>
          </p:cNvGrpSpPr>
          <p:nvPr/>
        </p:nvGrpSpPr>
        <p:grpSpPr bwMode="auto">
          <a:xfrm>
            <a:off x="5257800" y="3505200"/>
            <a:ext cx="654050" cy="403225"/>
            <a:chOff x="3312" y="2208"/>
            <a:chExt cx="412" cy="254"/>
          </a:xfrm>
        </p:grpSpPr>
        <p:sp>
          <p:nvSpPr>
            <p:cNvPr id="4133" name="Oval 15"/>
            <p:cNvSpPr>
              <a:spLocks noChangeArrowheads="1"/>
            </p:cNvSpPr>
            <p:nvPr/>
          </p:nvSpPr>
          <p:spPr bwMode="auto">
            <a:xfrm>
              <a:off x="3312" y="2208"/>
              <a:ext cx="254" cy="254"/>
            </a:xfrm>
            <a:prstGeom prst="ellipse">
              <a:avLst/>
            </a:prstGeom>
            <a:noFill/>
            <a:ln w="12700">
              <a:solidFill>
                <a:srgbClr val="000000"/>
              </a:solidFill>
              <a:round/>
              <a:headEnd/>
              <a:tailEnd/>
            </a:ln>
          </p:spPr>
          <p:txBody>
            <a:bodyPr/>
            <a:lstStyle/>
            <a:p>
              <a:endParaRPr lang="en-US"/>
            </a:p>
          </p:txBody>
        </p:sp>
        <p:sp>
          <p:nvSpPr>
            <p:cNvPr id="4134" name="Rectangle 16"/>
            <p:cNvSpPr>
              <a:spLocks noChangeArrowheads="1"/>
            </p:cNvSpPr>
            <p:nvPr/>
          </p:nvSpPr>
          <p:spPr bwMode="auto">
            <a:xfrm>
              <a:off x="3552" y="2208"/>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4" name="Group 17"/>
          <p:cNvGrpSpPr>
            <a:grpSpLocks/>
          </p:cNvGrpSpPr>
          <p:nvPr/>
        </p:nvGrpSpPr>
        <p:grpSpPr bwMode="auto">
          <a:xfrm>
            <a:off x="2514600" y="3505200"/>
            <a:ext cx="654050" cy="403225"/>
            <a:chOff x="1584" y="2208"/>
            <a:chExt cx="412" cy="254"/>
          </a:xfrm>
        </p:grpSpPr>
        <p:sp>
          <p:nvSpPr>
            <p:cNvPr id="4131" name="Oval 18"/>
            <p:cNvSpPr>
              <a:spLocks noChangeArrowheads="1"/>
            </p:cNvSpPr>
            <p:nvPr/>
          </p:nvSpPr>
          <p:spPr bwMode="auto">
            <a:xfrm>
              <a:off x="1584" y="2208"/>
              <a:ext cx="254" cy="254"/>
            </a:xfrm>
            <a:prstGeom prst="ellipse">
              <a:avLst/>
            </a:prstGeom>
            <a:noFill/>
            <a:ln w="12700">
              <a:solidFill>
                <a:srgbClr val="000000"/>
              </a:solidFill>
              <a:round/>
              <a:headEnd/>
              <a:tailEnd/>
            </a:ln>
          </p:spPr>
          <p:txBody>
            <a:bodyPr/>
            <a:lstStyle/>
            <a:p>
              <a:endParaRPr lang="en-US"/>
            </a:p>
          </p:txBody>
        </p:sp>
        <p:sp>
          <p:nvSpPr>
            <p:cNvPr id="4132" name="Rectangle 19"/>
            <p:cNvSpPr>
              <a:spLocks noChangeArrowheads="1"/>
            </p:cNvSpPr>
            <p:nvPr/>
          </p:nvSpPr>
          <p:spPr bwMode="auto">
            <a:xfrm>
              <a:off x="1824" y="2256"/>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5" name="Group 20"/>
          <p:cNvGrpSpPr>
            <a:grpSpLocks/>
          </p:cNvGrpSpPr>
          <p:nvPr/>
        </p:nvGrpSpPr>
        <p:grpSpPr bwMode="auto">
          <a:xfrm>
            <a:off x="2819400" y="4800600"/>
            <a:ext cx="2400300" cy="504825"/>
            <a:chOff x="1680" y="3024"/>
            <a:chExt cx="1512" cy="318"/>
          </a:xfrm>
        </p:grpSpPr>
        <p:graphicFrame>
          <p:nvGraphicFramePr>
            <p:cNvPr id="4103" name="Object 21"/>
            <p:cNvGraphicFramePr>
              <a:graphicFrameLocks noChangeAspect="1"/>
            </p:cNvGraphicFramePr>
            <p:nvPr/>
          </p:nvGraphicFramePr>
          <p:xfrm>
            <a:off x="2376" y="3024"/>
            <a:ext cx="816" cy="318"/>
          </p:xfrm>
          <a:graphic>
            <a:graphicData uri="http://schemas.openxmlformats.org/presentationml/2006/ole">
              <p:oleObj spid="_x0000_s527367" name="Equation" r:id="rId3" imgW="520560" imgH="203040" progId="">
                <p:embed/>
              </p:oleObj>
            </a:graphicData>
          </a:graphic>
        </p:graphicFrame>
        <p:sp>
          <p:nvSpPr>
            <p:cNvPr id="4130" name="Rectangle 22"/>
            <p:cNvSpPr>
              <a:spLocks noChangeArrowheads="1"/>
            </p:cNvSpPr>
            <p:nvPr/>
          </p:nvSpPr>
          <p:spPr bwMode="auto">
            <a:xfrm>
              <a:off x="1680" y="3024"/>
              <a:ext cx="502" cy="288"/>
            </a:xfrm>
            <a:prstGeom prst="rect">
              <a:avLst/>
            </a:prstGeom>
            <a:noFill/>
            <a:ln w="9525">
              <a:noFill/>
              <a:miter lim="800000"/>
              <a:headEnd/>
              <a:tailEnd/>
            </a:ln>
          </p:spPr>
          <p:txBody>
            <a:bodyPr wrap="none">
              <a:spAutoFit/>
            </a:bodyPr>
            <a:lstStyle/>
            <a:p>
              <a:pPr algn="l">
                <a:spcBef>
                  <a:spcPct val="50000"/>
                </a:spcBef>
              </a:pPr>
              <a:r>
                <a:rPr lang="en-US" b="1" i="1">
                  <a:solidFill>
                    <a:srgbClr val="FF0000"/>
                  </a:solidFill>
                  <a:latin typeface="Times New Roman" pitchFamily="18" charset="0"/>
                </a:rPr>
                <a:t>Z</a:t>
              </a:r>
              <a:r>
                <a:rPr lang="en-US" b="1">
                  <a:solidFill>
                    <a:srgbClr val="FF0000"/>
                  </a:solidFill>
                  <a:latin typeface="Times New Roman" pitchFamily="18" charset="0"/>
                </a:rPr>
                <a:t>=1;</a:t>
              </a:r>
            </a:p>
          </p:txBody>
        </p:sp>
      </p:grpSp>
      <p:sp>
        <p:nvSpPr>
          <p:cNvPr id="4117" name="Rectangle 23"/>
          <p:cNvSpPr>
            <a:spLocks noChangeArrowheads="1"/>
          </p:cNvSpPr>
          <p:nvPr/>
        </p:nvSpPr>
        <p:spPr bwMode="auto">
          <a:xfrm>
            <a:off x="2667000" y="4648200"/>
            <a:ext cx="2667000" cy="838200"/>
          </a:xfrm>
          <a:prstGeom prst="rect">
            <a:avLst/>
          </a:prstGeom>
          <a:noFill/>
          <a:ln w="9525">
            <a:solidFill>
              <a:srgbClr val="FF0000"/>
            </a:solidFill>
            <a:miter lim="800000"/>
            <a:headEnd/>
            <a:tailEnd/>
          </a:ln>
        </p:spPr>
        <p:txBody>
          <a:bodyPr wrap="none" anchor="ctr"/>
          <a:lstStyle/>
          <a:p>
            <a:endParaRPr lang="en-US"/>
          </a:p>
        </p:txBody>
      </p:sp>
      <p:sp>
        <p:nvSpPr>
          <p:cNvPr id="16408" name="Rectangle 24"/>
          <p:cNvSpPr>
            <a:spLocks noChangeArrowheads="1"/>
          </p:cNvSpPr>
          <p:nvPr/>
        </p:nvSpPr>
        <p:spPr bwMode="auto">
          <a:xfrm>
            <a:off x="685800" y="5791200"/>
            <a:ext cx="2895600" cy="457200"/>
          </a:xfrm>
          <a:prstGeom prst="rect">
            <a:avLst/>
          </a:prstGeom>
          <a:noFill/>
          <a:ln w="9525">
            <a:noFill/>
            <a:miter lim="800000"/>
            <a:headEnd/>
            <a:tailEnd/>
          </a:ln>
        </p:spPr>
        <p:txBody>
          <a:bodyPr>
            <a:spAutoFit/>
          </a:bodyPr>
          <a:lstStyle/>
          <a:p>
            <a:pPr algn="l">
              <a:spcBef>
                <a:spcPct val="50000"/>
              </a:spcBef>
            </a:pPr>
            <a:r>
              <a:rPr lang="en-US" b="1"/>
              <a:t>Enantiomorphous</a:t>
            </a:r>
          </a:p>
        </p:txBody>
      </p:sp>
      <p:graphicFrame>
        <p:nvGraphicFramePr>
          <p:cNvPr id="4098" name="Object 25"/>
          <p:cNvGraphicFramePr>
            <a:graphicFrameLocks noChangeAspect="1"/>
          </p:cNvGraphicFramePr>
          <p:nvPr/>
        </p:nvGraphicFramePr>
        <p:xfrm>
          <a:off x="6858000" y="1676400"/>
          <a:ext cx="1770063" cy="504825"/>
        </p:xfrm>
        <a:graphic>
          <a:graphicData uri="http://schemas.openxmlformats.org/presentationml/2006/ole">
            <p:oleObj spid="_x0000_s527362" name="Equation" r:id="rId4" imgW="711000" imgH="203040" progId="">
              <p:embed/>
            </p:oleObj>
          </a:graphicData>
        </a:graphic>
      </p:graphicFrame>
      <p:graphicFrame>
        <p:nvGraphicFramePr>
          <p:cNvPr id="4099" name="Object 26"/>
          <p:cNvGraphicFramePr>
            <a:graphicFrameLocks noChangeAspect="1"/>
          </p:cNvGraphicFramePr>
          <p:nvPr/>
        </p:nvGraphicFramePr>
        <p:xfrm>
          <a:off x="381000" y="3505200"/>
          <a:ext cx="1768475" cy="504825"/>
        </p:xfrm>
        <a:graphic>
          <a:graphicData uri="http://schemas.openxmlformats.org/presentationml/2006/ole">
            <p:oleObj spid="_x0000_s527363" name="Equation" r:id="rId5" imgW="711000" imgH="203040" progId="">
              <p:embed/>
            </p:oleObj>
          </a:graphicData>
        </a:graphic>
      </p:graphicFrame>
      <p:graphicFrame>
        <p:nvGraphicFramePr>
          <p:cNvPr id="4100" name="Object 27"/>
          <p:cNvGraphicFramePr>
            <a:graphicFrameLocks noChangeAspect="1"/>
          </p:cNvGraphicFramePr>
          <p:nvPr/>
        </p:nvGraphicFramePr>
        <p:xfrm>
          <a:off x="6324600" y="3505200"/>
          <a:ext cx="2243138" cy="504825"/>
        </p:xfrm>
        <a:graphic>
          <a:graphicData uri="http://schemas.openxmlformats.org/presentationml/2006/ole">
            <p:oleObj spid="_x0000_s527364" name="Equation" r:id="rId6" imgW="901440" imgH="203040" progId="">
              <p:embed/>
            </p:oleObj>
          </a:graphicData>
        </a:graphic>
      </p:graphicFrame>
      <p:graphicFrame>
        <p:nvGraphicFramePr>
          <p:cNvPr id="4101" name="Object 28"/>
          <p:cNvGraphicFramePr>
            <a:graphicFrameLocks noChangeAspect="1"/>
          </p:cNvGraphicFramePr>
          <p:nvPr/>
        </p:nvGraphicFramePr>
        <p:xfrm>
          <a:off x="1447800" y="1600200"/>
          <a:ext cx="1295400" cy="504825"/>
        </p:xfrm>
        <a:graphic>
          <a:graphicData uri="http://schemas.openxmlformats.org/presentationml/2006/ole">
            <p:oleObj spid="_x0000_s527365" name="Equation" r:id="rId7" imgW="520560" imgH="203040" progId="">
              <p:embed/>
            </p:oleObj>
          </a:graphicData>
        </a:graphic>
      </p:graphicFrame>
      <p:sp>
        <p:nvSpPr>
          <p:cNvPr id="16413" name="Text Box 29"/>
          <p:cNvSpPr txBox="1">
            <a:spLocks noChangeArrowheads="1"/>
          </p:cNvSpPr>
          <p:nvPr/>
        </p:nvSpPr>
        <p:spPr bwMode="auto">
          <a:xfrm>
            <a:off x="4419600" y="5791200"/>
            <a:ext cx="3657600" cy="457200"/>
          </a:xfrm>
          <a:prstGeom prst="rect">
            <a:avLst/>
          </a:prstGeom>
          <a:noFill/>
          <a:ln w="9525">
            <a:noFill/>
            <a:miter lim="800000"/>
            <a:headEnd/>
            <a:tailEnd/>
          </a:ln>
        </p:spPr>
        <p:txBody>
          <a:bodyPr>
            <a:spAutoFit/>
          </a:bodyPr>
          <a:lstStyle/>
          <a:p>
            <a:pPr algn="l">
              <a:spcBef>
                <a:spcPct val="50000"/>
              </a:spcBef>
            </a:pPr>
            <a:r>
              <a:rPr lang="en-US" b="1"/>
              <a:t>Non-centrosymmetric</a:t>
            </a:r>
          </a:p>
        </p:txBody>
      </p:sp>
      <p:graphicFrame>
        <p:nvGraphicFramePr>
          <p:cNvPr id="4102" name="Object 30"/>
          <p:cNvGraphicFramePr>
            <a:graphicFrameLocks noChangeAspect="1"/>
          </p:cNvGraphicFramePr>
          <p:nvPr/>
        </p:nvGraphicFramePr>
        <p:xfrm>
          <a:off x="6172200" y="457200"/>
          <a:ext cx="1676400" cy="655638"/>
        </p:xfrm>
        <a:graphic>
          <a:graphicData uri="http://schemas.openxmlformats.org/presentationml/2006/ole">
            <p:oleObj spid="_x0000_s527366" name="Equation" r:id="rId8" imgW="520560" imgH="203040" progId="">
              <p:embed/>
            </p:oleObj>
          </a:graphicData>
        </a:graphic>
      </p:graphicFrame>
      <p:sp>
        <p:nvSpPr>
          <p:cNvPr id="4120" name="Text Box 31"/>
          <p:cNvSpPr txBox="1">
            <a:spLocks noChangeArrowheads="1"/>
          </p:cNvSpPr>
          <p:nvPr/>
        </p:nvSpPr>
        <p:spPr bwMode="auto">
          <a:xfrm>
            <a:off x="2803525" y="954088"/>
            <a:ext cx="184150" cy="457200"/>
          </a:xfrm>
          <a:prstGeom prst="rect">
            <a:avLst/>
          </a:prstGeom>
          <a:noFill/>
          <a:ln w="9525">
            <a:noFill/>
            <a:miter lim="800000"/>
            <a:headEnd/>
            <a:tailEnd/>
          </a:ln>
        </p:spPr>
        <p:txBody>
          <a:bodyPr wrap="none">
            <a:spAutoFit/>
          </a:bodyPr>
          <a:lstStyle/>
          <a:p>
            <a:pPr algn="l"/>
            <a:endParaRPr lang="en-US">
              <a:solidFill>
                <a:schemeClr val="accent2"/>
              </a:solidFill>
            </a:endParaRPr>
          </a:p>
        </p:txBody>
      </p:sp>
      <p:grpSp>
        <p:nvGrpSpPr>
          <p:cNvPr id="6" name="Group 87"/>
          <p:cNvGrpSpPr>
            <a:grpSpLocks/>
          </p:cNvGrpSpPr>
          <p:nvPr/>
        </p:nvGrpSpPr>
        <p:grpSpPr bwMode="auto">
          <a:xfrm>
            <a:off x="1828800" y="457200"/>
            <a:ext cx="1374775" cy="1016000"/>
            <a:chOff x="1248" y="356"/>
            <a:chExt cx="866" cy="640"/>
          </a:xfrm>
        </p:grpSpPr>
        <p:grpSp>
          <p:nvGrpSpPr>
            <p:cNvPr id="7" name="Group 79"/>
            <p:cNvGrpSpPr>
              <a:grpSpLocks/>
            </p:cNvGrpSpPr>
            <p:nvPr/>
          </p:nvGrpSpPr>
          <p:grpSpPr bwMode="auto">
            <a:xfrm>
              <a:off x="1360" y="460"/>
              <a:ext cx="172" cy="300"/>
              <a:chOff x="1264" y="364"/>
              <a:chExt cx="172" cy="300"/>
            </a:xfrm>
          </p:grpSpPr>
          <p:sp>
            <p:nvSpPr>
              <p:cNvPr id="4128" name="Freeform 80"/>
              <p:cNvSpPr>
                <a:spLocks/>
              </p:cNvSpPr>
              <p:nvPr/>
            </p:nvSpPr>
            <p:spPr bwMode="auto">
              <a:xfrm>
                <a:off x="1285" y="364"/>
                <a:ext cx="151" cy="253"/>
              </a:xfrm>
              <a:custGeom>
                <a:avLst/>
                <a:gdLst>
                  <a:gd name="T0" fmla="*/ 151 w 151"/>
                  <a:gd name="T1" fmla="*/ 4 h 253"/>
                  <a:gd name="T2" fmla="*/ 146 w 151"/>
                  <a:gd name="T3" fmla="*/ 0 h 253"/>
                  <a:gd name="T4" fmla="*/ 0 w 151"/>
                  <a:gd name="T5" fmla="*/ 249 h 253"/>
                  <a:gd name="T6" fmla="*/ 4 w 151"/>
                  <a:gd name="T7" fmla="*/ 253 h 253"/>
                  <a:gd name="T8" fmla="*/ 151 w 151"/>
                  <a:gd name="T9" fmla="*/ 4 h 253"/>
                  <a:gd name="T10" fmla="*/ 0 60000 65536"/>
                  <a:gd name="T11" fmla="*/ 0 60000 65536"/>
                  <a:gd name="T12" fmla="*/ 0 60000 65536"/>
                  <a:gd name="T13" fmla="*/ 0 60000 65536"/>
                  <a:gd name="T14" fmla="*/ 0 60000 65536"/>
                  <a:gd name="T15" fmla="*/ 0 w 151"/>
                  <a:gd name="T16" fmla="*/ 0 h 253"/>
                  <a:gd name="T17" fmla="*/ 151 w 151"/>
                  <a:gd name="T18" fmla="*/ 253 h 253"/>
                </a:gdLst>
                <a:ahLst/>
                <a:cxnLst>
                  <a:cxn ang="T10">
                    <a:pos x="T0" y="T1"/>
                  </a:cxn>
                  <a:cxn ang="T11">
                    <a:pos x="T2" y="T3"/>
                  </a:cxn>
                  <a:cxn ang="T12">
                    <a:pos x="T4" y="T5"/>
                  </a:cxn>
                  <a:cxn ang="T13">
                    <a:pos x="T6" y="T7"/>
                  </a:cxn>
                  <a:cxn ang="T14">
                    <a:pos x="T8" y="T9"/>
                  </a:cxn>
                </a:cxnLst>
                <a:rect l="T15" t="T16" r="T17" b="T18"/>
                <a:pathLst>
                  <a:path w="151" h="253">
                    <a:moveTo>
                      <a:pt x="151" y="4"/>
                    </a:moveTo>
                    <a:lnTo>
                      <a:pt x="146" y="0"/>
                    </a:lnTo>
                    <a:lnTo>
                      <a:pt x="0" y="249"/>
                    </a:lnTo>
                    <a:lnTo>
                      <a:pt x="4" y="253"/>
                    </a:lnTo>
                    <a:lnTo>
                      <a:pt x="151" y="4"/>
                    </a:lnTo>
                    <a:close/>
                  </a:path>
                </a:pathLst>
              </a:custGeom>
              <a:solidFill>
                <a:srgbClr val="000000"/>
              </a:solidFill>
              <a:ln w="9525">
                <a:noFill/>
                <a:round/>
                <a:headEnd/>
                <a:tailEnd/>
              </a:ln>
            </p:spPr>
            <p:txBody>
              <a:bodyPr/>
              <a:lstStyle/>
              <a:p>
                <a:endParaRPr lang="en-US"/>
              </a:p>
            </p:txBody>
          </p:sp>
          <p:sp>
            <p:nvSpPr>
              <p:cNvPr id="4129" name="Freeform 81"/>
              <p:cNvSpPr>
                <a:spLocks/>
              </p:cNvSpPr>
              <p:nvPr/>
            </p:nvSpPr>
            <p:spPr bwMode="auto">
              <a:xfrm>
                <a:off x="1264" y="587"/>
                <a:ext cx="64" cy="77"/>
              </a:xfrm>
              <a:custGeom>
                <a:avLst/>
                <a:gdLst>
                  <a:gd name="T0" fmla="*/ 4 w 64"/>
                  <a:gd name="T1" fmla="*/ 0 h 77"/>
                  <a:gd name="T2" fmla="*/ 0 w 64"/>
                  <a:gd name="T3" fmla="*/ 77 h 77"/>
                  <a:gd name="T4" fmla="*/ 64 w 64"/>
                  <a:gd name="T5" fmla="*/ 34 h 77"/>
                  <a:gd name="T6" fmla="*/ 4 w 64"/>
                  <a:gd name="T7" fmla="*/ 0 h 77"/>
                  <a:gd name="T8" fmla="*/ 0 60000 65536"/>
                  <a:gd name="T9" fmla="*/ 0 60000 65536"/>
                  <a:gd name="T10" fmla="*/ 0 60000 65536"/>
                  <a:gd name="T11" fmla="*/ 0 60000 65536"/>
                  <a:gd name="T12" fmla="*/ 0 w 64"/>
                  <a:gd name="T13" fmla="*/ 0 h 77"/>
                  <a:gd name="T14" fmla="*/ 64 w 64"/>
                  <a:gd name="T15" fmla="*/ 77 h 77"/>
                </a:gdLst>
                <a:ahLst/>
                <a:cxnLst>
                  <a:cxn ang="T8">
                    <a:pos x="T0" y="T1"/>
                  </a:cxn>
                  <a:cxn ang="T9">
                    <a:pos x="T2" y="T3"/>
                  </a:cxn>
                  <a:cxn ang="T10">
                    <a:pos x="T4" y="T5"/>
                  </a:cxn>
                  <a:cxn ang="T11">
                    <a:pos x="T6" y="T7"/>
                  </a:cxn>
                </a:cxnLst>
                <a:rect l="T12" t="T13" r="T14" b="T15"/>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8" name="Group 82"/>
            <p:cNvGrpSpPr>
              <a:grpSpLocks/>
            </p:cNvGrpSpPr>
            <p:nvPr/>
          </p:nvGrpSpPr>
          <p:grpSpPr bwMode="auto">
            <a:xfrm>
              <a:off x="1527" y="425"/>
              <a:ext cx="434" cy="73"/>
              <a:chOff x="1431" y="329"/>
              <a:chExt cx="434" cy="73"/>
            </a:xfrm>
          </p:grpSpPr>
          <p:sp>
            <p:nvSpPr>
              <p:cNvPr id="4126" name="Rectangle 83"/>
              <p:cNvSpPr>
                <a:spLocks noChangeArrowheads="1"/>
              </p:cNvSpPr>
              <p:nvPr/>
            </p:nvSpPr>
            <p:spPr bwMode="auto">
              <a:xfrm>
                <a:off x="1431" y="359"/>
                <a:ext cx="370" cy="9"/>
              </a:xfrm>
              <a:prstGeom prst="rect">
                <a:avLst/>
              </a:prstGeom>
              <a:solidFill>
                <a:srgbClr val="000000"/>
              </a:solidFill>
              <a:ln w="9525">
                <a:noFill/>
                <a:miter lim="800000"/>
                <a:headEnd/>
                <a:tailEnd/>
              </a:ln>
            </p:spPr>
            <p:txBody>
              <a:bodyPr/>
              <a:lstStyle/>
              <a:p>
                <a:endParaRPr lang="en-US"/>
              </a:p>
            </p:txBody>
          </p:sp>
          <p:sp>
            <p:nvSpPr>
              <p:cNvPr id="4127" name="Freeform 84"/>
              <p:cNvSpPr>
                <a:spLocks/>
              </p:cNvSpPr>
              <p:nvPr/>
            </p:nvSpPr>
            <p:spPr bwMode="auto">
              <a:xfrm>
                <a:off x="1792" y="329"/>
                <a:ext cx="73" cy="73"/>
              </a:xfrm>
              <a:custGeom>
                <a:avLst/>
                <a:gdLst>
                  <a:gd name="T0" fmla="*/ 0 w 73"/>
                  <a:gd name="T1" fmla="*/ 73 h 73"/>
                  <a:gd name="T2" fmla="*/ 73 w 73"/>
                  <a:gd name="T3" fmla="*/ 35 h 73"/>
                  <a:gd name="T4" fmla="*/ 0 w 73"/>
                  <a:gd name="T5" fmla="*/ 0 h 73"/>
                  <a:gd name="T6" fmla="*/ 0 w 73"/>
                  <a:gd name="T7" fmla="*/ 73 h 73"/>
                  <a:gd name="T8" fmla="*/ 0 60000 65536"/>
                  <a:gd name="T9" fmla="*/ 0 60000 65536"/>
                  <a:gd name="T10" fmla="*/ 0 60000 65536"/>
                  <a:gd name="T11" fmla="*/ 0 60000 65536"/>
                  <a:gd name="T12" fmla="*/ 0 w 73"/>
                  <a:gd name="T13" fmla="*/ 0 h 73"/>
                  <a:gd name="T14" fmla="*/ 73 w 73"/>
                  <a:gd name="T15" fmla="*/ 73 h 73"/>
                </a:gdLst>
                <a:ahLst/>
                <a:cxnLst>
                  <a:cxn ang="T8">
                    <a:pos x="T0" y="T1"/>
                  </a:cxn>
                  <a:cxn ang="T9">
                    <a:pos x="T2" y="T3"/>
                  </a:cxn>
                  <a:cxn ang="T10">
                    <a:pos x="T4" y="T5"/>
                  </a:cxn>
                  <a:cxn ang="T11">
                    <a:pos x="T6" y="T7"/>
                  </a:cxn>
                </a:cxnLst>
                <a:rect l="T12" t="T13" r="T14" b="T15"/>
                <a:pathLst>
                  <a:path w="73" h="73">
                    <a:moveTo>
                      <a:pt x="0" y="73"/>
                    </a:moveTo>
                    <a:lnTo>
                      <a:pt x="73" y="35"/>
                    </a:lnTo>
                    <a:lnTo>
                      <a:pt x="0" y="0"/>
                    </a:lnTo>
                    <a:lnTo>
                      <a:pt x="0" y="73"/>
                    </a:lnTo>
                    <a:close/>
                  </a:path>
                </a:pathLst>
              </a:custGeom>
              <a:solidFill>
                <a:srgbClr val="000000"/>
              </a:solidFill>
              <a:ln w="9525">
                <a:noFill/>
                <a:round/>
                <a:headEnd/>
                <a:tailEnd/>
              </a:ln>
            </p:spPr>
            <p:txBody>
              <a:bodyPr/>
              <a:lstStyle/>
              <a:p>
                <a:endParaRPr lang="en-US"/>
              </a:p>
            </p:txBody>
          </p:sp>
        </p:grpSp>
        <p:sp>
          <p:nvSpPr>
            <p:cNvPr id="4124" name="Rectangle 85"/>
            <p:cNvSpPr>
              <a:spLocks noChangeArrowheads="1"/>
            </p:cNvSpPr>
            <p:nvPr/>
          </p:nvSpPr>
          <p:spPr bwMode="auto">
            <a:xfrm>
              <a:off x="2016" y="356"/>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rPr>
                <a:t>a</a:t>
              </a:r>
              <a:endParaRPr lang="en-US" i="1"/>
            </a:p>
          </p:txBody>
        </p:sp>
        <p:sp>
          <p:nvSpPr>
            <p:cNvPr id="4125" name="Rectangle 86"/>
            <p:cNvSpPr>
              <a:spLocks noChangeArrowheads="1"/>
            </p:cNvSpPr>
            <p:nvPr/>
          </p:nvSpPr>
          <p:spPr bwMode="auto">
            <a:xfrm>
              <a:off x="1248" y="785"/>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rPr>
                <a:t>c</a:t>
              </a:r>
              <a:endParaRPr lang="en-US" i="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4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8" grpId="0" autoUpdateAnimBg="0"/>
      <p:bldP spid="16413"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lide Number Placeholder 3"/>
          <p:cNvSpPr>
            <a:spLocks noGrp="1"/>
          </p:cNvSpPr>
          <p:nvPr>
            <p:ph type="sldNum" sz="quarter" idx="12"/>
          </p:nvPr>
        </p:nvSpPr>
        <p:spPr/>
        <p:txBody>
          <a:bodyPr/>
          <a:lstStyle/>
          <a:p>
            <a:pPr>
              <a:defRPr/>
            </a:pPr>
            <a:fld id="{0A340857-A89D-449B-B987-3A3CF42253B5}" type="slidenum">
              <a:rPr lang="en-US"/>
              <a:pPr>
                <a:defRPr/>
              </a:pPr>
              <a:t>79</a:t>
            </a:fld>
            <a:endParaRPr lang="en-US"/>
          </a:p>
        </p:txBody>
      </p:sp>
      <p:sp>
        <p:nvSpPr>
          <p:cNvPr id="5129" name="Line 2"/>
          <p:cNvSpPr>
            <a:spLocks noChangeShapeType="1"/>
          </p:cNvSpPr>
          <p:nvPr/>
        </p:nvSpPr>
        <p:spPr bwMode="auto">
          <a:xfrm>
            <a:off x="3276600" y="2438400"/>
            <a:ext cx="2667000" cy="0"/>
          </a:xfrm>
          <a:prstGeom prst="line">
            <a:avLst/>
          </a:prstGeom>
          <a:noFill/>
          <a:ln w="19050">
            <a:solidFill>
              <a:schemeClr val="tx1"/>
            </a:solidFill>
            <a:round/>
            <a:headEnd/>
            <a:tailEnd/>
          </a:ln>
        </p:spPr>
        <p:txBody>
          <a:bodyPr/>
          <a:lstStyle/>
          <a:p>
            <a:endParaRPr lang="en-US"/>
          </a:p>
        </p:txBody>
      </p:sp>
      <p:sp>
        <p:nvSpPr>
          <p:cNvPr id="5130" name="Line 3"/>
          <p:cNvSpPr>
            <a:spLocks noChangeShapeType="1"/>
          </p:cNvSpPr>
          <p:nvPr/>
        </p:nvSpPr>
        <p:spPr bwMode="auto">
          <a:xfrm flipH="1">
            <a:off x="5334000" y="2438400"/>
            <a:ext cx="609600" cy="1752600"/>
          </a:xfrm>
          <a:prstGeom prst="line">
            <a:avLst/>
          </a:prstGeom>
          <a:noFill/>
          <a:ln w="19050">
            <a:solidFill>
              <a:schemeClr val="tx1"/>
            </a:solidFill>
            <a:round/>
            <a:headEnd/>
            <a:tailEnd/>
          </a:ln>
        </p:spPr>
        <p:txBody>
          <a:bodyPr/>
          <a:lstStyle/>
          <a:p>
            <a:endParaRPr lang="en-US"/>
          </a:p>
        </p:txBody>
      </p:sp>
      <p:sp>
        <p:nvSpPr>
          <p:cNvPr id="5131" name="Line 4"/>
          <p:cNvSpPr>
            <a:spLocks noChangeShapeType="1"/>
          </p:cNvSpPr>
          <p:nvPr/>
        </p:nvSpPr>
        <p:spPr bwMode="auto">
          <a:xfrm flipH="1">
            <a:off x="2590800" y="2438400"/>
            <a:ext cx="685800" cy="1752600"/>
          </a:xfrm>
          <a:prstGeom prst="line">
            <a:avLst/>
          </a:prstGeom>
          <a:noFill/>
          <a:ln w="19050">
            <a:solidFill>
              <a:schemeClr val="tx1"/>
            </a:solidFill>
            <a:round/>
            <a:headEnd/>
            <a:tailEnd/>
          </a:ln>
        </p:spPr>
        <p:txBody>
          <a:bodyPr/>
          <a:lstStyle/>
          <a:p>
            <a:endParaRPr lang="en-US"/>
          </a:p>
        </p:txBody>
      </p:sp>
      <p:sp>
        <p:nvSpPr>
          <p:cNvPr id="5132" name="Line 5"/>
          <p:cNvSpPr>
            <a:spLocks noChangeShapeType="1"/>
          </p:cNvSpPr>
          <p:nvPr/>
        </p:nvSpPr>
        <p:spPr bwMode="auto">
          <a:xfrm>
            <a:off x="2590800" y="4191000"/>
            <a:ext cx="2743200" cy="0"/>
          </a:xfrm>
          <a:prstGeom prst="line">
            <a:avLst/>
          </a:prstGeom>
          <a:noFill/>
          <a:ln w="19050">
            <a:solidFill>
              <a:schemeClr val="tx1"/>
            </a:solidFill>
            <a:round/>
            <a:headEnd/>
            <a:tailEnd/>
          </a:ln>
        </p:spPr>
        <p:txBody>
          <a:bodyPr/>
          <a:lstStyle/>
          <a:p>
            <a:endParaRPr lang="en-US"/>
          </a:p>
        </p:txBody>
      </p:sp>
      <p:sp>
        <p:nvSpPr>
          <p:cNvPr id="5133" name="Line 6"/>
          <p:cNvSpPr>
            <a:spLocks noChangeShapeType="1"/>
          </p:cNvSpPr>
          <p:nvPr/>
        </p:nvSpPr>
        <p:spPr bwMode="auto">
          <a:xfrm flipH="1">
            <a:off x="3962400" y="2438400"/>
            <a:ext cx="609600" cy="1752600"/>
          </a:xfrm>
          <a:prstGeom prst="line">
            <a:avLst/>
          </a:prstGeom>
          <a:noFill/>
          <a:ln w="19050">
            <a:solidFill>
              <a:schemeClr val="tx1"/>
            </a:solidFill>
            <a:round/>
            <a:headEnd/>
            <a:tailEnd/>
          </a:ln>
        </p:spPr>
        <p:txBody>
          <a:bodyPr/>
          <a:lstStyle/>
          <a:p>
            <a:endParaRPr lang="en-US"/>
          </a:p>
        </p:txBody>
      </p:sp>
      <p:sp>
        <p:nvSpPr>
          <p:cNvPr id="5134" name="Line 7"/>
          <p:cNvSpPr>
            <a:spLocks noChangeShapeType="1"/>
          </p:cNvSpPr>
          <p:nvPr/>
        </p:nvSpPr>
        <p:spPr bwMode="auto">
          <a:xfrm>
            <a:off x="2971800" y="3276600"/>
            <a:ext cx="2667000" cy="0"/>
          </a:xfrm>
          <a:prstGeom prst="line">
            <a:avLst/>
          </a:prstGeom>
          <a:noFill/>
          <a:ln w="19050">
            <a:solidFill>
              <a:schemeClr val="tx1"/>
            </a:solidFill>
            <a:round/>
            <a:headEnd/>
            <a:tailEnd/>
          </a:ln>
        </p:spPr>
        <p:txBody>
          <a:bodyPr/>
          <a:lstStyle/>
          <a:p>
            <a:endParaRPr lang="en-US"/>
          </a:p>
        </p:txBody>
      </p:sp>
      <p:sp>
        <p:nvSpPr>
          <p:cNvPr id="5135" name="Oval 9"/>
          <p:cNvSpPr>
            <a:spLocks noChangeArrowheads="1"/>
          </p:cNvSpPr>
          <p:nvPr/>
        </p:nvSpPr>
        <p:spPr bwMode="auto">
          <a:xfrm>
            <a:off x="3352800" y="2514600"/>
            <a:ext cx="403225" cy="403225"/>
          </a:xfrm>
          <a:prstGeom prst="ellipse">
            <a:avLst/>
          </a:prstGeom>
          <a:noFill/>
          <a:ln w="12700">
            <a:solidFill>
              <a:srgbClr val="000000"/>
            </a:solidFill>
            <a:round/>
            <a:headEnd/>
            <a:tailEnd/>
          </a:ln>
        </p:spPr>
        <p:txBody>
          <a:bodyPr/>
          <a:lstStyle/>
          <a:p>
            <a:endParaRPr lang="en-US"/>
          </a:p>
        </p:txBody>
      </p:sp>
      <p:sp>
        <p:nvSpPr>
          <p:cNvPr id="5136" name="Rectangle 10"/>
          <p:cNvSpPr>
            <a:spLocks noChangeArrowheads="1"/>
          </p:cNvSpPr>
          <p:nvPr/>
        </p:nvSpPr>
        <p:spPr bwMode="auto">
          <a:xfrm>
            <a:off x="3733800" y="2590800"/>
            <a:ext cx="273050" cy="274638"/>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nvGrpSpPr>
          <p:cNvPr id="2" name="Group 11"/>
          <p:cNvGrpSpPr>
            <a:grpSpLocks/>
          </p:cNvGrpSpPr>
          <p:nvPr/>
        </p:nvGrpSpPr>
        <p:grpSpPr bwMode="auto">
          <a:xfrm>
            <a:off x="6019800" y="2514600"/>
            <a:ext cx="654050" cy="403225"/>
            <a:chOff x="3840" y="1056"/>
            <a:chExt cx="412" cy="254"/>
          </a:xfrm>
        </p:grpSpPr>
        <p:sp>
          <p:nvSpPr>
            <p:cNvPr id="5168" name="Oval 12"/>
            <p:cNvSpPr>
              <a:spLocks noChangeArrowheads="1"/>
            </p:cNvSpPr>
            <p:nvPr/>
          </p:nvSpPr>
          <p:spPr bwMode="auto">
            <a:xfrm>
              <a:off x="3840" y="1056"/>
              <a:ext cx="254" cy="254"/>
            </a:xfrm>
            <a:prstGeom prst="ellipse">
              <a:avLst/>
            </a:prstGeom>
            <a:noFill/>
            <a:ln w="12700">
              <a:solidFill>
                <a:srgbClr val="000000"/>
              </a:solidFill>
              <a:round/>
              <a:headEnd/>
              <a:tailEnd/>
            </a:ln>
          </p:spPr>
          <p:txBody>
            <a:bodyPr/>
            <a:lstStyle/>
            <a:p>
              <a:endParaRPr lang="en-US"/>
            </a:p>
          </p:txBody>
        </p:sp>
        <p:sp>
          <p:nvSpPr>
            <p:cNvPr id="5169" name="Rectangle 13"/>
            <p:cNvSpPr>
              <a:spLocks noChangeArrowheads="1"/>
            </p:cNvSpPr>
            <p:nvPr/>
          </p:nvSpPr>
          <p:spPr bwMode="auto">
            <a:xfrm>
              <a:off x="4080" y="1104"/>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3" name="Group 14"/>
          <p:cNvGrpSpPr>
            <a:grpSpLocks/>
          </p:cNvGrpSpPr>
          <p:nvPr/>
        </p:nvGrpSpPr>
        <p:grpSpPr bwMode="auto">
          <a:xfrm>
            <a:off x="5257800" y="4343400"/>
            <a:ext cx="654050" cy="403225"/>
            <a:chOff x="3312" y="2208"/>
            <a:chExt cx="412" cy="254"/>
          </a:xfrm>
        </p:grpSpPr>
        <p:sp>
          <p:nvSpPr>
            <p:cNvPr id="5166" name="Oval 15"/>
            <p:cNvSpPr>
              <a:spLocks noChangeArrowheads="1"/>
            </p:cNvSpPr>
            <p:nvPr/>
          </p:nvSpPr>
          <p:spPr bwMode="auto">
            <a:xfrm>
              <a:off x="3312" y="2208"/>
              <a:ext cx="254" cy="254"/>
            </a:xfrm>
            <a:prstGeom prst="ellipse">
              <a:avLst/>
            </a:prstGeom>
            <a:noFill/>
            <a:ln w="12700">
              <a:solidFill>
                <a:srgbClr val="000000"/>
              </a:solidFill>
              <a:round/>
              <a:headEnd/>
              <a:tailEnd/>
            </a:ln>
          </p:spPr>
          <p:txBody>
            <a:bodyPr/>
            <a:lstStyle/>
            <a:p>
              <a:endParaRPr lang="en-US"/>
            </a:p>
          </p:txBody>
        </p:sp>
        <p:sp>
          <p:nvSpPr>
            <p:cNvPr id="5167" name="Rectangle 16"/>
            <p:cNvSpPr>
              <a:spLocks noChangeArrowheads="1"/>
            </p:cNvSpPr>
            <p:nvPr/>
          </p:nvSpPr>
          <p:spPr bwMode="auto">
            <a:xfrm>
              <a:off x="3552" y="2208"/>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4" name="Group 17"/>
          <p:cNvGrpSpPr>
            <a:grpSpLocks/>
          </p:cNvGrpSpPr>
          <p:nvPr/>
        </p:nvGrpSpPr>
        <p:grpSpPr bwMode="auto">
          <a:xfrm>
            <a:off x="2514600" y="4343400"/>
            <a:ext cx="654050" cy="403225"/>
            <a:chOff x="1584" y="2208"/>
            <a:chExt cx="412" cy="254"/>
          </a:xfrm>
        </p:grpSpPr>
        <p:sp>
          <p:nvSpPr>
            <p:cNvPr id="5164" name="Oval 18"/>
            <p:cNvSpPr>
              <a:spLocks noChangeArrowheads="1"/>
            </p:cNvSpPr>
            <p:nvPr/>
          </p:nvSpPr>
          <p:spPr bwMode="auto">
            <a:xfrm>
              <a:off x="1584" y="2208"/>
              <a:ext cx="254" cy="254"/>
            </a:xfrm>
            <a:prstGeom prst="ellipse">
              <a:avLst/>
            </a:prstGeom>
            <a:noFill/>
            <a:ln w="12700">
              <a:solidFill>
                <a:srgbClr val="000000"/>
              </a:solidFill>
              <a:round/>
              <a:headEnd/>
              <a:tailEnd/>
            </a:ln>
          </p:spPr>
          <p:txBody>
            <a:bodyPr/>
            <a:lstStyle/>
            <a:p>
              <a:endParaRPr lang="en-US"/>
            </a:p>
          </p:txBody>
        </p:sp>
        <p:sp>
          <p:nvSpPr>
            <p:cNvPr id="5165" name="Rectangle 19"/>
            <p:cNvSpPr>
              <a:spLocks noChangeArrowheads="1"/>
            </p:cNvSpPr>
            <p:nvPr/>
          </p:nvSpPr>
          <p:spPr bwMode="auto">
            <a:xfrm>
              <a:off x="1824" y="2256"/>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5" name="Group 20"/>
          <p:cNvGrpSpPr>
            <a:grpSpLocks/>
          </p:cNvGrpSpPr>
          <p:nvPr/>
        </p:nvGrpSpPr>
        <p:grpSpPr bwMode="auto">
          <a:xfrm>
            <a:off x="2819400" y="5638800"/>
            <a:ext cx="2400300" cy="504825"/>
            <a:chOff x="1680" y="3024"/>
            <a:chExt cx="1512" cy="318"/>
          </a:xfrm>
        </p:grpSpPr>
        <p:graphicFrame>
          <p:nvGraphicFramePr>
            <p:cNvPr id="5127" name="Object 21"/>
            <p:cNvGraphicFramePr>
              <a:graphicFrameLocks noChangeAspect="1"/>
            </p:cNvGraphicFramePr>
            <p:nvPr/>
          </p:nvGraphicFramePr>
          <p:xfrm>
            <a:off x="2376" y="3024"/>
            <a:ext cx="816" cy="318"/>
          </p:xfrm>
          <a:graphic>
            <a:graphicData uri="http://schemas.openxmlformats.org/presentationml/2006/ole">
              <p:oleObj spid="_x0000_s528391" name="Equation" r:id="rId3" imgW="520560" imgH="203040" progId="">
                <p:embed/>
              </p:oleObj>
            </a:graphicData>
          </a:graphic>
        </p:graphicFrame>
        <p:sp>
          <p:nvSpPr>
            <p:cNvPr id="5163" name="Rectangle 22"/>
            <p:cNvSpPr>
              <a:spLocks noChangeArrowheads="1"/>
            </p:cNvSpPr>
            <p:nvPr/>
          </p:nvSpPr>
          <p:spPr bwMode="auto">
            <a:xfrm>
              <a:off x="1680" y="3024"/>
              <a:ext cx="502" cy="288"/>
            </a:xfrm>
            <a:prstGeom prst="rect">
              <a:avLst/>
            </a:prstGeom>
            <a:noFill/>
            <a:ln w="9525">
              <a:noFill/>
              <a:miter lim="800000"/>
              <a:headEnd/>
              <a:tailEnd/>
            </a:ln>
          </p:spPr>
          <p:txBody>
            <a:bodyPr wrap="none">
              <a:spAutoFit/>
            </a:bodyPr>
            <a:lstStyle/>
            <a:p>
              <a:pPr algn="l">
                <a:spcBef>
                  <a:spcPct val="50000"/>
                </a:spcBef>
              </a:pPr>
              <a:r>
                <a:rPr lang="en-US" b="1" i="1">
                  <a:solidFill>
                    <a:srgbClr val="FF0000"/>
                  </a:solidFill>
                  <a:latin typeface="Times New Roman" pitchFamily="18" charset="0"/>
                </a:rPr>
                <a:t>Z</a:t>
              </a:r>
              <a:r>
                <a:rPr lang="en-US" b="1">
                  <a:solidFill>
                    <a:srgbClr val="FF0000"/>
                  </a:solidFill>
                  <a:latin typeface="Times New Roman" pitchFamily="18" charset="0"/>
                </a:rPr>
                <a:t>=1;</a:t>
              </a:r>
            </a:p>
          </p:txBody>
        </p:sp>
      </p:grpSp>
      <p:sp>
        <p:nvSpPr>
          <p:cNvPr id="5141" name="Rectangle 23"/>
          <p:cNvSpPr>
            <a:spLocks noChangeArrowheads="1"/>
          </p:cNvSpPr>
          <p:nvPr/>
        </p:nvSpPr>
        <p:spPr bwMode="auto">
          <a:xfrm>
            <a:off x="2667000" y="5486400"/>
            <a:ext cx="2667000" cy="838200"/>
          </a:xfrm>
          <a:prstGeom prst="rect">
            <a:avLst/>
          </a:prstGeom>
          <a:noFill/>
          <a:ln w="9525">
            <a:solidFill>
              <a:srgbClr val="FF0000"/>
            </a:solidFill>
            <a:miter lim="800000"/>
            <a:headEnd/>
            <a:tailEnd/>
          </a:ln>
        </p:spPr>
        <p:txBody>
          <a:bodyPr wrap="none" anchor="ctr"/>
          <a:lstStyle/>
          <a:p>
            <a:endParaRPr lang="en-US"/>
          </a:p>
        </p:txBody>
      </p:sp>
      <p:graphicFrame>
        <p:nvGraphicFramePr>
          <p:cNvPr id="5122" name="Object 25"/>
          <p:cNvGraphicFramePr>
            <a:graphicFrameLocks noChangeAspect="1"/>
          </p:cNvGraphicFramePr>
          <p:nvPr/>
        </p:nvGraphicFramePr>
        <p:xfrm>
          <a:off x="6858000" y="2514600"/>
          <a:ext cx="1770063" cy="504825"/>
        </p:xfrm>
        <a:graphic>
          <a:graphicData uri="http://schemas.openxmlformats.org/presentationml/2006/ole">
            <p:oleObj spid="_x0000_s528386" name="Equation" r:id="rId4" imgW="711000" imgH="203040" progId="">
              <p:embed/>
            </p:oleObj>
          </a:graphicData>
        </a:graphic>
      </p:graphicFrame>
      <p:graphicFrame>
        <p:nvGraphicFramePr>
          <p:cNvPr id="5123" name="Object 26"/>
          <p:cNvGraphicFramePr>
            <a:graphicFrameLocks noChangeAspect="1"/>
          </p:cNvGraphicFramePr>
          <p:nvPr/>
        </p:nvGraphicFramePr>
        <p:xfrm>
          <a:off x="381000" y="4343400"/>
          <a:ext cx="1768475" cy="504825"/>
        </p:xfrm>
        <a:graphic>
          <a:graphicData uri="http://schemas.openxmlformats.org/presentationml/2006/ole">
            <p:oleObj spid="_x0000_s528387" name="Equation" r:id="rId5" imgW="711000" imgH="203040" progId="">
              <p:embed/>
            </p:oleObj>
          </a:graphicData>
        </a:graphic>
      </p:graphicFrame>
      <p:graphicFrame>
        <p:nvGraphicFramePr>
          <p:cNvPr id="5124" name="Object 27"/>
          <p:cNvGraphicFramePr>
            <a:graphicFrameLocks noChangeAspect="1"/>
          </p:cNvGraphicFramePr>
          <p:nvPr/>
        </p:nvGraphicFramePr>
        <p:xfrm>
          <a:off x="6324600" y="4343400"/>
          <a:ext cx="2243138" cy="504825"/>
        </p:xfrm>
        <a:graphic>
          <a:graphicData uri="http://schemas.openxmlformats.org/presentationml/2006/ole">
            <p:oleObj spid="_x0000_s528388" name="Equation" r:id="rId6" imgW="901440" imgH="203040" progId="">
              <p:embed/>
            </p:oleObj>
          </a:graphicData>
        </a:graphic>
      </p:graphicFrame>
      <p:graphicFrame>
        <p:nvGraphicFramePr>
          <p:cNvPr id="5125" name="Object 28"/>
          <p:cNvGraphicFramePr>
            <a:graphicFrameLocks noChangeAspect="1"/>
          </p:cNvGraphicFramePr>
          <p:nvPr/>
        </p:nvGraphicFramePr>
        <p:xfrm>
          <a:off x="1447800" y="2438400"/>
          <a:ext cx="1295400" cy="504825"/>
        </p:xfrm>
        <a:graphic>
          <a:graphicData uri="http://schemas.openxmlformats.org/presentationml/2006/ole">
            <p:oleObj spid="_x0000_s528389" name="Equation" r:id="rId7" imgW="520560" imgH="203040" progId="">
              <p:embed/>
            </p:oleObj>
          </a:graphicData>
        </a:graphic>
      </p:graphicFrame>
      <p:graphicFrame>
        <p:nvGraphicFramePr>
          <p:cNvPr id="5126" name="Object 30"/>
          <p:cNvGraphicFramePr>
            <a:graphicFrameLocks noChangeAspect="1"/>
          </p:cNvGraphicFramePr>
          <p:nvPr/>
        </p:nvGraphicFramePr>
        <p:xfrm>
          <a:off x="6172200" y="1295400"/>
          <a:ext cx="1676400" cy="655638"/>
        </p:xfrm>
        <a:graphic>
          <a:graphicData uri="http://schemas.openxmlformats.org/presentationml/2006/ole">
            <p:oleObj spid="_x0000_s528390" name="Equation" r:id="rId8" imgW="520560" imgH="203040" progId="">
              <p:embed/>
            </p:oleObj>
          </a:graphicData>
        </a:graphic>
      </p:graphicFrame>
      <p:sp>
        <p:nvSpPr>
          <p:cNvPr id="5142" name="Text Box 31"/>
          <p:cNvSpPr txBox="1">
            <a:spLocks noChangeArrowheads="1"/>
          </p:cNvSpPr>
          <p:nvPr/>
        </p:nvSpPr>
        <p:spPr bwMode="auto">
          <a:xfrm>
            <a:off x="2803525" y="1792288"/>
            <a:ext cx="184150" cy="457200"/>
          </a:xfrm>
          <a:prstGeom prst="rect">
            <a:avLst/>
          </a:prstGeom>
          <a:noFill/>
          <a:ln w="9525">
            <a:noFill/>
            <a:miter lim="800000"/>
            <a:headEnd/>
            <a:tailEnd/>
          </a:ln>
        </p:spPr>
        <p:txBody>
          <a:bodyPr wrap="none">
            <a:spAutoFit/>
          </a:bodyPr>
          <a:lstStyle/>
          <a:p>
            <a:pPr algn="l"/>
            <a:endParaRPr lang="en-US">
              <a:solidFill>
                <a:schemeClr val="accent2"/>
              </a:solidFill>
            </a:endParaRPr>
          </a:p>
        </p:txBody>
      </p:sp>
      <p:sp>
        <p:nvSpPr>
          <p:cNvPr id="40994" name="AutoShape 34"/>
          <p:cNvSpPr>
            <a:spLocks noChangeArrowheads="1"/>
          </p:cNvSpPr>
          <p:nvPr/>
        </p:nvSpPr>
        <p:spPr bwMode="auto">
          <a:xfrm>
            <a:off x="3886200" y="1906588"/>
            <a:ext cx="1828800" cy="333375"/>
          </a:xfrm>
          <a:prstGeom prst="wedgeRoundRectCallout">
            <a:avLst>
              <a:gd name="adj1" fmla="val -70227"/>
              <a:gd name="adj2" fmla="val 181903"/>
              <a:gd name="adj3" fmla="val 16667"/>
            </a:avLst>
          </a:prstGeom>
          <a:solidFill>
            <a:schemeClr val="bg1"/>
          </a:solidFill>
          <a:ln w="9525">
            <a:solidFill>
              <a:srgbClr val="0000FF"/>
            </a:solidFill>
            <a:miter lim="800000"/>
            <a:headEnd/>
            <a:tailEnd/>
          </a:ln>
        </p:spPr>
        <p:txBody>
          <a:bodyPr>
            <a:spAutoFit/>
          </a:bodyPr>
          <a:lstStyle/>
          <a:p>
            <a:r>
              <a:rPr lang="en-US" sz="1400">
                <a:solidFill>
                  <a:schemeClr val="accent2"/>
                </a:solidFill>
              </a:rPr>
              <a:t>Reference atom</a:t>
            </a:r>
          </a:p>
        </p:txBody>
      </p:sp>
      <p:sp>
        <p:nvSpPr>
          <p:cNvPr id="40996" name="AutoShape 36"/>
          <p:cNvSpPr>
            <a:spLocks noChangeArrowheads="1"/>
          </p:cNvSpPr>
          <p:nvPr/>
        </p:nvSpPr>
        <p:spPr bwMode="auto">
          <a:xfrm>
            <a:off x="377252" y="3248208"/>
            <a:ext cx="2209800" cy="333375"/>
          </a:xfrm>
          <a:prstGeom prst="wedgeRoundRectCallout">
            <a:avLst>
              <a:gd name="adj1" fmla="val 41162"/>
              <a:gd name="adj2" fmla="val -167231"/>
              <a:gd name="adj3" fmla="val 16667"/>
            </a:avLst>
          </a:prstGeom>
          <a:solidFill>
            <a:schemeClr val="bg1"/>
          </a:solidFill>
          <a:ln w="9525">
            <a:solidFill>
              <a:srgbClr val="0000FF"/>
            </a:solidFill>
            <a:miter lim="800000"/>
            <a:headEnd/>
            <a:tailEnd/>
          </a:ln>
        </p:spPr>
        <p:txBody>
          <a:bodyPr>
            <a:spAutoFit/>
          </a:bodyPr>
          <a:lstStyle/>
          <a:p>
            <a:r>
              <a:rPr lang="en-US" sz="1400">
                <a:solidFill>
                  <a:schemeClr val="accent2"/>
                </a:solidFill>
              </a:rPr>
              <a:t>An equivalent position</a:t>
            </a:r>
          </a:p>
        </p:txBody>
      </p:sp>
      <p:sp>
        <p:nvSpPr>
          <p:cNvPr id="40997" name="AutoShape 37"/>
          <p:cNvSpPr>
            <a:spLocks noChangeArrowheads="1"/>
          </p:cNvSpPr>
          <p:nvPr/>
        </p:nvSpPr>
        <p:spPr bwMode="auto">
          <a:xfrm>
            <a:off x="2971800" y="3506788"/>
            <a:ext cx="838200" cy="333375"/>
          </a:xfrm>
          <a:prstGeom prst="wedgeRoundRectCallout">
            <a:avLst>
              <a:gd name="adj1" fmla="val 53407"/>
              <a:gd name="adj2" fmla="val -236208"/>
              <a:gd name="adj3" fmla="val 16667"/>
            </a:avLst>
          </a:prstGeom>
          <a:solidFill>
            <a:schemeClr val="bg1"/>
          </a:solidFill>
          <a:ln w="9525">
            <a:solidFill>
              <a:srgbClr val="0000FF"/>
            </a:solidFill>
            <a:miter lim="800000"/>
            <a:headEnd/>
            <a:tailEnd/>
          </a:ln>
        </p:spPr>
        <p:txBody>
          <a:bodyPr>
            <a:spAutoFit/>
          </a:bodyPr>
          <a:lstStyle/>
          <a:p>
            <a:r>
              <a:rPr lang="en-US" sz="1400">
                <a:solidFill>
                  <a:schemeClr val="accent2"/>
                </a:solidFill>
              </a:rPr>
              <a:t>Prefix</a:t>
            </a:r>
          </a:p>
        </p:txBody>
      </p:sp>
      <p:sp>
        <p:nvSpPr>
          <p:cNvPr id="40998" name="AutoShape 38"/>
          <p:cNvSpPr>
            <a:spLocks noChangeArrowheads="1"/>
          </p:cNvSpPr>
          <p:nvPr/>
        </p:nvSpPr>
        <p:spPr bwMode="auto">
          <a:xfrm>
            <a:off x="258580" y="5223760"/>
            <a:ext cx="2286000" cy="895350"/>
          </a:xfrm>
          <a:prstGeom prst="wedgeRoundRectCallout">
            <a:avLst>
              <a:gd name="adj1" fmla="val 65903"/>
              <a:gd name="adj2" fmla="val 17907"/>
              <a:gd name="adj3" fmla="val 16667"/>
            </a:avLst>
          </a:prstGeom>
          <a:solidFill>
            <a:schemeClr val="bg1"/>
          </a:solidFill>
          <a:ln w="9525">
            <a:solidFill>
              <a:srgbClr val="0000FF"/>
            </a:solidFill>
            <a:miter lim="800000"/>
            <a:headEnd/>
            <a:tailEnd/>
          </a:ln>
        </p:spPr>
        <p:txBody>
          <a:bodyPr>
            <a:spAutoFit/>
          </a:bodyPr>
          <a:lstStyle/>
          <a:p>
            <a:r>
              <a:rPr lang="en-US" sz="1600">
                <a:solidFill>
                  <a:schemeClr val="accent2"/>
                </a:solidFill>
              </a:rPr>
              <a:t>Number of equivalent positions contained within one unit cell</a:t>
            </a:r>
          </a:p>
        </p:txBody>
      </p:sp>
      <p:sp>
        <p:nvSpPr>
          <p:cNvPr id="40999" name="Text Box 39"/>
          <p:cNvSpPr txBox="1">
            <a:spLocks noChangeArrowheads="1"/>
          </p:cNvSpPr>
          <p:nvPr/>
        </p:nvSpPr>
        <p:spPr bwMode="auto">
          <a:xfrm>
            <a:off x="1112838" y="881037"/>
            <a:ext cx="6354762" cy="396875"/>
          </a:xfrm>
          <a:prstGeom prst="rect">
            <a:avLst/>
          </a:prstGeom>
          <a:noFill/>
          <a:ln w="9525">
            <a:noFill/>
            <a:miter lim="800000"/>
            <a:headEnd/>
            <a:tailEnd/>
          </a:ln>
        </p:spPr>
        <p:txBody>
          <a:bodyPr wrap="none">
            <a:spAutoFit/>
          </a:bodyPr>
          <a:lstStyle/>
          <a:p>
            <a:pPr algn="l"/>
            <a:r>
              <a:rPr lang="en-US" sz="2000" dirty="0">
                <a:solidFill>
                  <a:schemeClr val="accent2"/>
                </a:solidFill>
              </a:rPr>
              <a:t>Now, let's review some of the jargon introduced earlier:</a:t>
            </a:r>
          </a:p>
        </p:txBody>
      </p:sp>
      <p:sp>
        <p:nvSpPr>
          <p:cNvPr id="41000" name="AutoShape 40"/>
          <p:cNvSpPr>
            <a:spLocks noChangeArrowheads="1"/>
          </p:cNvSpPr>
          <p:nvPr/>
        </p:nvSpPr>
        <p:spPr bwMode="auto">
          <a:xfrm>
            <a:off x="5943600" y="5172075"/>
            <a:ext cx="2286000" cy="1158875"/>
          </a:xfrm>
          <a:prstGeom prst="wedgeRoundRectCallout">
            <a:avLst>
              <a:gd name="adj1" fmla="val -83819"/>
              <a:gd name="adj2" fmla="val 30676"/>
              <a:gd name="adj3" fmla="val 16667"/>
            </a:avLst>
          </a:prstGeom>
          <a:solidFill>
            <a:schemeClr val="bg1"/>
          </a:solidFill>
          <a:ln w="9525">
            <a:solidFill>
              <a:srgbClr val="0000FF"/>
            </a:solidFill>
            <a:miter lim="800000"/>
            <a:headEnd/>
            <a:tailEnd/>
          </a:ln>
        </p:spPr>
        <p:txBody>
          <a:bodyPr>
            <a:spAutoFit/>
          </a:bodyPr>
          <a:lstStyle/>
          <a:p>
            <a:r>
              <a:rPr lang="en-US" sz="1600">
                <a:solidFill>
                  <a:schemeClr val="accent2"/>
                </a:solidFill>
              </a:rPr>
              <a:t>In this area we'll list the set of equivalent points belonging to the general position</a:t>
            </a:r>
          </a:p>
        </p:txBody>
      </p:sp>
      <p:grpSp>
        <p:nvGrpSpPr>
          <p:cNvPr id="6" name="Group 49"/>
          <p:cNvGrpSpPr>
            <a:grpSpLocks/>
          </p:cNvGrpSpPr>
          <p:nvPr/>
        </p:nvGrpSpPr>
        <p:grpSpPr bwMode="auto">
          <a:xfrm>
            <a:off x="338137" y="377825"/>
            <a:ext cx="7815263" cy="4651375"/>
            <a:chOff x="213" y="238"/>
            <a:chExt cx="4923" cy="2930"/>
          </a:xfrm>
        </p:grpSpPr>
        <p:grpSp>
          <p:nvGrpSpPr>
            <p:cNvPr id="7" name="Group 46"/>
            <p:cNvGrpSpPr>
              <a:grpSpLocks/>
            </p:cNvGrpSpPr>
            <p:nvPr/>
          </p:nvGrpSpPr>
          <p:grpSpPr bwMode="auto">
            <a:xfrm>
              <a:off x="2112" y="2112"/>
              <a:ext cx="3024" cy="1056"/>
              <a:chOff x="2112" y="2112"/>
              <a:chExt cx="3024" cy="1056"/>
            </a:xfrm>
          </p:grpSpPr>
          <p:sp>
            <p:nvSpPr>
              <p:cNvPr id="5161" name="AutoShape 44"/>
              <p:cNvSpPr>
                <a:spLocks noChangeArrowheads="1"/>
              </p:cNvSpPr>
              <p:nvPr/>
            </p:nvSpPr>
            <p:spPr bwMode="auto">
              <a:xfrm>
                <a:off x="4032" y="2112"/>
                <a:ext cx="1104" cy="240"/>
              </a:xfrm>
              <a:prstGeom prst="wedgeRoundRectCallout">
                <a:avLst>
                  <a:gd name="adj1" fmla="val -90310"/>
                  <a:gd name="adj2" fmla="val -52917"/>
                  <a:gd name="adj3" fmla="val 16667"/>
                </a:avLst>
              </a:prstGeom>
              <a:noFill/>
              <a:ln w="9525">
                <a:solidFill>
                  <a:schemeClr val="accent2"/>
                </a:solidFill>
                <a:miter lim="800000"/>
                <a:headEnd/>
                <a:tailEnd/>
              </a:ln>
            </p:spPr>
            <p:txBody>
              <a:bodyPr/>
              <a:lstStyle/>
              <a:p>
                <a:r>
                  <a:rPr lang="en-US" sz="1600">
                    <a:solidFill>
                      <a:schemeClr val="accent2"/>
                    </a:solidFill>
                  </a:rPr>
                  <a:t>Gridline for </a:t>
                </a:r>
                <a:r>
                  <a:rPr lang="en-US" sz="1600" i="1">
                    <a:solidFill>
                      <a:srgbClr val="FF0000"/>
                    </a:solidFill>
                  </a:rPr>
                  <a:t>c</a:t>
                </a:r>
                <a:r>
                  <a:rPr lang="en-US" sz="1600">
                    <a:solidFill>
                      <a:srgbClr val="FF0000"/>
                    </a:solidFill>
                  </a:rPr>
                  <a:t>/2 </a:t>
                </a:r>
              </a:p>
            </p:txBody>
          </p:sp>
          <p:sp>
            <p:nvSpPr>
              <p:cNvPr id="5162" name="AutoShape 45"/>
              <p:cNvSpPr>
                <a:spLocks noChangeArrowheads="1"/>
              </p:cNvSpPr>
              <p:nvPr/>
            </p:nvSpPr>
            <p:spPr bwMode="auto">
              <a:xfrm>
                <a:off x="2112" y="2928"/>
                <a:ext cx="1104" cy="240"/>
              </a:xfrm>
              <a:prstGeom prst="wedgeRoundRectCallout">
                <a:avLst>
                  <a:gd name="adj1" fmla="val -15579"/>
                  <a:gd name="adj2" fmla="val -156667"/>
                  <a:gd name="adj3" fmla="val 16667"/>
                </a:avLst>
              </a:prstGeom>
              <a:noFill/>
              <a:ln w="9525">
                <a:solidFill>
                  <a:schemeClr val="accent2"/>
                </a:solidFill>
                <a:miter lim="800000"/>
                <a:headEnd/>
                <a:tailEnd/>
              </a:ln>
            </p:spPr>
            <p:txBody>
              <a:bodyPr/>
              <a:lstStyle/>
              <a:p>
                <a:r>
                  <a:rPr lang="en-US" sz="1600">
                    <a:solidFill>
                      <a:schemeClr val="accent2"/>
                    </a:solidFill>
                  </a:rPr>
                  <a:t>Gridline for </a:t>
                </a:r>
                <a:r>
                  <a:rPr lang="en-US" sz="1600" i="1">
                    <a:solidFill>
                      <a:srgbClr val="FF0000"/>
                    </a:solidFill>
                  </a:rPr>
                  <a:t>a</a:t>
                </a:r>
                <a:r>
                  <a:rPr lang="en-US" sz="1600">
                    <a:solidFill>
                      <a:srgbClr val="FF0000"/>
                    </a:solidFill>
                  </a:rPr>
                  <a:t>/2</a:t>
                </a:r>
                <a:r>
                  <a:rPr lang="en-US" sz="1600">
                    <a:solidFill>
                      <a:schemeClr val="accent2"/>
                    </a:solidFill>
                  </a:rPr>
                  <a:t>  </a:t>
                </a:r>
              </a:p>
            </p:txBody>
          </p:sp>
        </p:grpSp>
        <p:sp>
          <p:nvSpPr>
            <p:cNvPr id="5160" name="Text Box 47"/>
            <p:cNvSpPr txBox="1">
              <a:spLocks noChangeArrowheads="1"/>
            </p:cNvSpPr>
            <p:nvPr/>
          </p:nvSpPr>
          <p:spPr bwMode="auto">
            <a:xfrm>
              <a:off x="213" y="238"/>
              <a:ext cx="4678" cy="250"/>
            </a:xfrm>
            <a:prstGeom prst="rect">
              <a:avLst/>
            </a:prstGeom>
            <a:noFill/>
            <a:ln w="9525">
              <a:noFill/>
              <a:miter lim="800000"/>
              <a:headEnd/>
              <a:tailEnd/>
            </a:ln>
          </p:spPr>
          <p:txBody>
            <a:bodyPr wrap="square">
              <a:spAutoFit/>
            </a:bodyPr>
            <a:lstStyle/>
            <a:p>
              <a:r>
                <a:rPr lang="en-US" sz="2000">
                  <a:solidFill>
                    <a:schemeClr val="accent2"/>
                  </a:solidFill>
                </a:rPr>
                <a:t>Note that there are "halfway marks" on each unit cell , a visual guide:</a:t>
              </a:r>
            </a:p>
          </p:txBody>
        </p:sp>
      </p:grpSp>
      <p:grpSp>
        <p:nvGrpSpPr>
          <p:cNvPr id="8" name="Group 59"/>
          <p:cNvGrpSpPr>
            <a:grpSpLocks/>
          </p:cNvGrpSpPr>
          <p:nvPr/>
        </p:nvGrpSpPr>
        <p:grpSpPr bwMode="auto">
          <a:xfrm>
            <a:off x="1828800" y="1270000"/>
            <a:ext cx="1374775" cy="1016000"/>
            <a:chOff x="1248" y="356"/>
            <a:chExt cx="866" cy="640"/>
          </a:xfrm>
        </p:grpSpPr>
        <p:grpSp>
          <p:nvGrpSpPr>
            <p:cNvPr id="9" name="Group 60"/>
            <p:cNvGrpSpPr>
              <a:grpSpLocks/>
            </p:cNvGrpSpPr>
            <p:nvPr/>
          </p:nvGrpSpPr>
          <p:grpSpPr bwMode="auto">
            <a:xfrm>
              <a:off x="1360" y="460"/>
              <a:ext cx="172" cy="300"/>
              <a:chOff x="1264" y="364"/>
              <a:chExt cx="172" cy="300"/>
            </a:xfrm>
          </p:grpSpPr>
          <p:sp>
            <p:nvSpPr>
              <p:cNvPr id="5157" name="Freeform 61"/>
              <p:cNvSpPr>
                <a:spLocks/>
              </p:cNvSpPr>
              <p:nvPr/>
            </p:nvSpPr>
            <p:spPr bwMode="auto">
              <a:xfrm>
                <a:off x="1285" y="364"/>
                <a:ext cx="151" cy="253"/>
              </a:xfrm>
              <a:custGeom>
                <a:avLst/>
                <a:gdLst>
                  <a:gd name="T0" fmla="*/ 151 w 151"/>
                  <a:gd name="T1" fmla="*/ 4 h 253"/>
                  <a:gd name="T2" fmla="*/ 146 w 151"/>
                  <a:gd name="T3" fmla="*/ 0 h 253"/>
                  <a:gd name="T4" fmla="*/ 0 w 151"/>
                  <a:gd name="T5" fmla="*/ 249 h 253"/>
                  <a:gd name="T6" fmla="*/ 4 w 151"/>
                  <a:gd name="T7" fmla="*/ 253 h 253"/>
                  <a:gd name="T8" fmla="*/ 151 w 151"/>
                  <a:gd name="T9" fmla="*/ 4 h 253"/>
                  <a:gd name="T10" fmla="*/ 0 60000 65536"/>
                  <a:gd name="T11" fmla="*/ 0 60000 65536"/>
                  <a:gd name="T12" fmla="*/ 0 60000 65536"/>
                  <a:gd name="T13" fmla="*/ 0 60000 65536"/>
                  <a:gd name="T14" fmla="*/ 0 60000 65536"/>
                  <a:gd name="T15" fmla="*/ 0 w 151"/>
                  <a:gd name="T16" fmla="*/ 0 h 253"/>
                  <a:gd name="T17" fmla="*/ 151 w 151"/>
                  <a:gd name="T18" fmla="*/ 253 h 253"/>
                </a:gdLst>
                <a:ahLst/>
                <a:cxnLst>
                  <a:cxn ang="T10">
                    <a:pos x="T0" y="T1"/>
                  </a:cxn>
                  <a:cxn ang="T11">
                    <a:pos x="T2" y="T3"/>
                  </a:cxn>
                  <a:cxn ang="T12">
                    <a:pos x="T4" y="T5"/>
                  </a:cxn>
                  <a:cxn ang="T13">
                    <a:pos x="T6" y="T7"/>
                  </a:cxn>
                  <a:cxn ang="T14">
                    <a:pos x="T8" y="T9"/>
                  </a:cxn>
                </a:cxnLst>
                <a:rect l="T15" t="T16" r="T17" b="T18"/>
                <a:pathLst>
                  <a:path w="151" h="253">
                    <a:moveTo>
                      <a:pt x="151" y="4"/>
                    </a:moveTo>
                    <a:lnTo>
                      <a:pt x="146" y="0"/>
                    </a:lnTo>
                    <a:lnTo>
                      <a:pt x="0" y="249"/>
                    </a:lnTo>
                    <a:lnTo>
                      <a:pt x="4" y="253"/>
                    </a:lnTo>
                    <a:lnTo>
                      <a:pt x="151" y="4"/>
                    </a:lnTo>
                    <a:close/>
                  </a:path>
                </a:pathLst>
              </a:custGeom>
              <a:solidFill>
                <a:srgbClr val="000000"/>
              </a:solidFill>
              <a:ln w="9525">
                <a:noFill/>
                <a:round/>
                <a:headEnd/>
                <a:tailEnd/>
              </a:ln>
            </p:spPr>
            <p:txBody>
              <a:bodyPr/>
              <a:lstStyle/>
              <a:p>
                <a:endParaRPr lang="en-US"/>
              </a:p>
            </p:txBody>
          </p:sp>
          <p:sp>
            <p:nvSpPr>
              <p:cNvPr id="5158" name="Freeform 62"/>
              <p:cNvSpPr>
                <a:spLocks/>
              </p:cNvSpPr>
              <p:nvPr/>
            </p:nvSpPr>
            <p:spPr bwMode="auto">
              <a:xfrm>
                <a:off x="1264" y="587"/>
                <a:ext cx="64" cy="77"/>
              </a:xfrm>
              <a:custGeom>
                <a:avLst/>
                <a:gdLst>
                  <a:gd name="T0" fmla="*/ 4 w 64"/>
                  <a:gd name="T1" fmla="*/ 0 h 77"/>
                  <a:gd name="T2" fmla="*/ 0 w 64"/>
                  <a:gd name="T3" fmla="*/ 77 h 77"/>
                  <a:gd name="T4" fmla="*/ 64 w 64"/>
                  <a:gd name="T5" fmla="*/ 34 h 77"/>
                  <a:gd name="T6" fmla="*/ 4 w 64"/>
                  <a:gd name="T7" fmla="*/ 0 h 77"/>
                  <a:gd name="T8" fmla="*/ 0 60000 65536"/>
                  <a:gd name="T9" fmla="*/ 0 60000 65536"/>
                  <a:gd name="T10" fmla="*/ 0 60000 65536"/>
                  <a:gd name="T11" fmla="*/ 0 60000 65536"/>
                  <a:gd name="T12" fmla="*/ 0 w 64"/>
                  <a:gd name="T13" fmla="*/ 0 h 77"/>
                  <a:gd name="T14" fmla="*/ 64 w 64"/>
                  <a:gd name="T15" fmla="*/ 77 h 77"/>
                </a:gdLst>
                <a:ahLst/>
                <a:cxnLst>
                  <a:cxn ang="T8">
                    <a:pos x="T0" y="T1"/>
                  </a:cxn>
                  <a:cxn ang="T9">
                    <a:pos x="T2" y="T3"/>
                  </a:cxn>
                  <a:cxn ang="T10">
                    <a:pos x="T4" y="T5"/>
                  </a:cxn>
                  <a:cxn ang="T11">
                    <a:pos x="T6" y="T7"/>
                  </a:cxn>
                </a:cxnLst>
                <a:rect l="T12" t="T13" r="T14" b="T15"/>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0" name="Group 63"/>
            <p:cNvGrpSpPr>
              <a:grpSpLocks/>
            </p:cNvGrpSpPr>
            <p:nvPr/>
          </p:nvGrpSpPr>
          <p:grpSpPr bwMode="auto">
            <a:xfrm>
              <a:off x="1527" y="425"/>
              <a:ext cx="434" cy="73"/>
              <a:chOff x="1431" y="329"/>
              <a:chExt cx="434" cy="73"/>
            </a:xfrm>
          </p:grpSpPr>
          <p:sp>
            <p:nvSpPr>
              <p:cNvPr id="5155" name="Rectangle 64"/>
              <p:cNvSpPr>
                <a:spLocks noChangeArrowheads="1"/>
              </p:cNvSpPr>
              <p:nvPr/>
            </p:nvSpPr>
            <p:spPr bwMode="auto">
              <a:xfrm>
                <a:off x="1431" y="359"/>
                <a:ext cx="370" cy="9"/>
              </a:xfrm>
              <a:prstGeom prst="rect">
                <a:avLst/>
              </a:prstGeom>
              <a:solidFill>
                <a:srgbClr val="000000"/>
              </a:solidFill>
              <a:ln w="9525">
                <a:noFill/>
                <a:miter lim="800000"/>
                <a:headEnd/>
                <a:tailEnd/>
              </a:ln>
            </p:spPr>
            <p:txBody>
              <a:bodyPr/>
              <a:lstStyle/>
              <a:p>
                <a:endParaRPr lang="en-US"/>
              </a:p>
            </p:txBody>
          </p:sp>
          <p:sp>
            <p:nvSpPr>
              <p:cNvPr id="5156" name="Freeform 65"/>
              <p:cNvSpPr>
                <a:spLocks/>
              </p:cNvSpPr>
              <p:nvPr/>
            </p:nvSpPr>
            <p:spPr bwMode="auto">
              <a:xfrm>
                <a:off x="1792" y="329"/>
                <a:ext cx="73" cy="73"/>
              </a:xfrm>
              <a:custGeom>
                <a:avLst/>
                <a:gdLst>
                  <a:gd name="T0" fmla="*/ 0 w 73"/>
                  <a:gd name="T1" fmla="*/ 73 h 73"/>
                  <a:gd name="T2" fmla="*/ 73 w 73"/>
                  <a:gd name="T3" fmla="*/ 35 h 73"/>
                  <a:gd name="T4" fmla="*/ 0 w 73"/>
                  <a:gd name="T5" fmla="*/ 0 h 73"/>
                  <a:gd name="T6" fmla="*/ 0 w 73"/>
                  <a:gd name="T7" fmla="*/ 73 h 73"/>
                  <a:gd name="T8" fmla="*/ 0 60000 65536"/>
                  <a:gd name="T9" fmla="*/ 0 60000 65536"/>
                  <a:gd name="T10" fmla="*/ 0 60000 65536"/>
                  <a:gd name="T11" fmla="*/ 0 60000 65536"/>
                  <a:gd name="T12" fmla="*/ 0 w 73"/>
                  <a:gd name="T13" fmla="*/ 0 h 73"/>
                  <a:gd name="T14" fmla="*/ 73 w 73"/>
                  <a:gd name="T15" fmla="*/ 73 h 73"/>
                </a:gdLst>
                <a:ahLst/>
                <a:cxnLst>
                  <a:cxn ang="T8">
                    <a:pos x="T0" y="T1"/>
                  </a:cxn>
                  <a:cxn ang="T9">
                    <a:pos x="T2" y="T3"/>
                  </a:cxn>
                  <a:cxn ang="T10">
                    <a:pos x="T4" y="T5"/>
                  </a:cxn>
                  <a:cxn ang="T11">
                    <a:pos x="T6" y="T7"/>
                  </a:cxn>
                </a:cxnLst>
                <a:rect l="T12" t="T13" r="T14" b="T15"/>
                <a:pathLst>
                  <a:path w="73" h="73">
                    <a:moveTo>
                      <a:pt x="0" y="73"/>
                    </a:moveTo>
                    <a:lnTo>
                      <a:pt x="73" y="35"/>
                    </a:lnTo>
                    <a:lnTo>
                      <a:pt x="0" y="0"/>
                    </a:lnTo>
                    <a:lnTo>
                      <a:pt x="0" y="73"/>
                    </a:lnTo>
                    <a:close/>
                  </a:path>
                </a:pathLst>
              </a:custGeom>
              <a:solidFill>
                <a:srgbClr val="000000"/>
              </a:solidFill>
              <a:ln w="9525">
                <a:noFill/>
                <a:round/>
                <a:headEnd/>
                <a:tailEnd/>
              </a:ln>
            </p:spPr>
            <p:txBody>
              <a:bodyPr/>
              <a:lstStyle/>
              <a:p>
                <a:endParaRPr lang="en-US"/>
              </a:p>
            </p:txBody>
          </p:sp>
        </p:grpSp>
        <p:sp>
          <p:nvSpPr>
            <p:cNvPr id="5153" name="Rectangle 66"/>
            <p:cNvSpPr>
              <a:spLocks noChangeArrowheads="1"/>
            </p:cNvSpPr>
            <p:nvPr/>
          </p:nvSpPr>
          <p:spPr bwMode="auto">
            <a:xfrm>
              <a:off x="2016" y="356"/>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rPr>
                <a:t>a</a:t>
              </a:r>
              <a:endParaRPr lang="en-US" i="1"/>
            </a:p>
          </p:txBody>
        </p:sp>
        <p:sp>
          <p:nvSpPr>
            <p:cNvPr id="5154" name="Rectangle 67"/>
            <p:cNvSpPr>
              <a:spLocks noChangeArrowheads="1"/>
            </p:cNvSpPr>
            <p:nvPr/>
          </p:nvSpPr>
          <p:spPr bwMode="auto">
            <a:xfrm>
              <a:off x="1248" y="785"/>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rPr>
                <a:t>c</a:t>
              </a:r>
              <a:endParaRPr lang="en-US" i="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9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99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09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10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4" grpId="0" animBg="1" autoUpdateAnimBg="0"/>
      <p:bldP spid="40996" grpId="0" animBg="1" autoUpdateAnimBg="0"/>
      <p:bldP spid="40997" grpId="0" animBg="1" autoUpdateAnimBg="0"/>
      <p:bldP spid="40998" grpId="0" animBg="1" autoUpdateAnimBg="0"/>
      <p:bldP spid="40999" grpId="0" autoUpdateAnimBg="0"/>
      <p:bldP spid="41000" grpId="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lide Number Placeholder 3"/>
          <p:cNvSpPr>
            <a:spLocks noGrp="1"/>
          </p:cNvSpPr>
          <p:nvPr>
            <p:ph type="sldNum" sz="quarter" idx="12"/>
          </p:nvPr>
        </p:nvSpPr>
        <p:spPr/>
        <p:txBody>
          <a:bodyPr/>
          <a:lstStyle/>
          <a:p>
            <a:pPr>
              <a:defRPr/>
            </a:pPr>
            <a:fld id="{9D8887BB-C37E-4582-BC06-5FB5A1C21DA2}" type="slidenum">
              <a:rPr lang="en-US"/>
              <a:pPr>
                <a:defRPr/>
              </a:pPr>
              <a:t>80</a:t>
            </a:fld>
            <a:endParaRPr lang="en-US"/>
          </a:p>
        </p:txBody>
      </p:sp>
      <p:sp>
        <p:nvSpPr>
          <p:cNvPr id="6151" name="Line 2"/>
          <p:cNvSpPr>
            <a:spLocks noChangeShapeType="1"/>
          </p:cNvSpPr>
          <p:nvPr/>
        </p:nvSpPr>
        <p:spPr bwMode="auto">
          <a:xfrm>
            <a:off x="3276600" y="1600200"/>
            <a:ext cx="2667000" cy="0"/>
          </a:xfrm>
          <a:prstGeom prst="line">
            <a:avLst/>
          </a:prstGeom>
          <a:noFill/>
          <a:ln w="19050">
            <a:solidFill>
              <a:schemeClr val="tx1"/>
            </a:solidFill>
            <a:round/>
            <a:headEnd/>
            <a:tailEnd/>
          </a:ln>
        </p:spPr>
        <p:txBody>
          <a:bodyPr/>
          <a:lstStyle/>
          <a:p>
            <a:endParaRPr lang="en-US"/>
          </a:p>
        </p:txBody>
      </p:sp>
      <p:sp>
        <p:nvSpPr>
          <p:cNvPr id="6152" name="Line 3"/>
          <p:cNvSpPr>
            <a:spLocks noChangeShapeType="1"/>
          </p:cNvSpPr>
          <p:nvPr/>
        </p:nvSpPr>
        <p:spPr bwMode="auto">
          <a:xfrm flipH="1">
            <a:off x="5334000" y="1600200"/>
            <a:ext cx="609600" cy="1752600"/>
          </a:xfrm>
          <a:prstGeom prst="line">
            <a:avLst/>
          </a:prstGeom>
          <a:noFill/>
          <a:ln w="19050">
            <a:solidFill>
              <a:schemeClr val="tx1"/>
            </a:solidFill>
            <a:round/>
            <a:headEnd/>
            <a:tailEnd/>
          </a:ln>
        </p:spPr>
        <p:txBody>
          <a:bodyPr/>
          <a:lstStyle/>
          <a:p>
            <a:endParaRPr lang="en-US"/>
          </a:p>
        </p:txBody>
      </p:sp>
      <p:sp>
        <p:nvSpPr>
          <p:cNvPr id="6153" name="Line 4"/>
          <p:cNvSpPr>
            <a:spLocks noChangeShapeType="1"/>
          </p:cNvSpPr>
          <p:nvPr/>
        </p:nvSpPr>
        <p:spPr bwMode="auto">
          <a:xfrm flipH="1">
            <a:off x="2590800" y="1600200"/>
            <a:ext cx="685800" cy="1752600"/>
          </a:xfrm>
          <a:prstGeom prst="line">
            <a:avLst/>
          </a:prstGeom>
          <a:noFill/>
          <a:ln w="19050">
            <a:solidFill>
              <a:schemeClr val="tx1"/>
            </a:solidFill>
            <a:round/>
            <a:headEnd/>
            <a:tailEnd/>
          </a:ln>
        </p:spPr>
        <p:txBody>
          <a:bodyPr/>
          <a:lstStyle/>
          <a:p>
            <a:endParaRPr lang="en-US"/>
          </a:p>
        </p:txBody>
      </p:sp>
      <p:sp>
        <p:nvSpPr>
          <p:cNvPr id="6154" name="Line 5"/>
          <p:cNvSpPr>
            <a:spLocks noChangeShapeType="1"/>
          </p:cNvSpPr>
          <p:nvPr/>
        </p:nvSpPr>
        <p:spPr bwMode="auto">
          <a:xfrm>
            <a:off x="2590800" y="3352800"/>
            <a:ext cx="2743200" cy="0"/>
          </a:xfrm>
          <a:prstGeom prst="line">
            <a:avLst/>
          </a:prstGeom>
          <a:noFill/>
          <a:ln w="19050">
            <a:solidFill>
              <a:schemeClr val="tx1"/>
            </a:solidFill>
            <a:round/>
            <a:headEnd/>
            <a:tailEnd/>
          </a:ln>
        </p:spPr>
        <p:txBody>
          <a:bodyPr/>
          <a:lstStyle/>
          <a:p>
            <a:endParaRPr lang="en-US"/>
          </a:p>
        </p:txBody>
      </p:sp>
      <p:sp>
        <p:nvSpPr>
          <p:cNvPr id="6155" name="Line 6"/>
          <p:cNvSpPr>
            <a:spLocks noChangeShapeType="1"/>
          </p:cNvSpPr>
          <p:nvPr/>
        </p:nvSpPr>
        <p:spPr bwMode="auto">
          <a:xfrm flipH="1">
            <a:off x="3962400" y="1600200"/>
            <a:ext cx="609600" cy="1752600"/>
          </a:xfrm>
          <a:prstGeom prst="line">
            <a:avLst/>
          </a:prstGeom>
          <a:noFill/>
          <a:ln w="19050">
            <a:solidFill>
              <a:schemeClr val="tx1"/>
            </a:solidFill>
            <a:round/>
            <a:headEnd/>
            <a:tailEnd/>
          </a:ln>
        </p:spPr>
        <p:txBody>
          <a:bodyPr/>
          <a:lstStyle/>
          <a:p>
            <a:endParaRPr lang="en-US"/>
          </a:p>
        </p:txBody>
      </p:sp>
      <p:sp>
        <p:nvSpPr>
          <p:cNvPr id="6156" name="Line 7"/>
          <p:cNvSpPr>
            <a:spLocks noChangeShapeType="1"/>
          </p:cNvSpPr>
          <p:nvPr/>
        </p:nvSpPr>
        <p:spPr bwMode="auto">
          <a:xfrm>
            <a:off x="2933700" y="2438400"/>
            <a:ext cx="2705100" cy="0"/>
          </a:xfrm>
          <a:prstGeom prst="line">
            <a:avLst/>
          </a:prstGeom>
          <a:noFill/>
          <a:ln w="19050">
            <a:solidFill>
              <a:schemeClr val="tx1"/>
            </a:solidFill>
            <a:round/>
            <a:headEnd/>
            <a:tailEnd/>
          </a:ln>
        </p:spPr>
        <p:txBody>
          <a:bodyPr/>
          <a:lstStyle/>
          <a:p>
            <a:endParaRPr lang="en-US"/>
          </a:p>
        </p:txBody>
      </p:sp>
      <p:grpSp>
        <p:nvGrpSpPr>
          <p:cNvPr id="2" name="Group 9"/>
          <p:cNvGrpSpPr>
            <a:grpSpLocks/>
          </p:cNvGrpSpPr>
          <p:nvPr/>
        </p:nvGrpSpPr>
        <p:grpSpPr bwMode="auto">
          <a:xfrm>
            <a:off x="6096000" y="1676400"/>
            <a:ext cx="654050" cy="403225"/>
            <a:chOff x="3792" y="2112"/>
            <a:chExt cx="412" cy="254"/>
          </a:xfrm>
        </p:grpSpPr>
        <p:sp>
          <p:nvSpPr>
            <p:cNvPr id="6214" name="Oval 10"/>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6215" name="Rectangle 11"/>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sp>
        <p:nvSpPr>
          <p:cNvPr id="20492" name="Rectangle 12"/>
          <p:cNvSpPr>
            <a:spLocks noChangeArrowheads="1"/>
          </p:cNvSpPr>
          <p:nvPr/>
        </p:nvSpPr>
        <p:spPr bwMode="auto">
          <a:xfrm>
            <a:off x="2133600" y="4495800"/>
            <a:ext cx="796925" cy="457200"/>
          </a:xfrm>
          <a:prstGeom prst="rect">
            <a:avLst/>
          </a:prstGeom>
          <a:noFill/>
          <a:ln w="9525">
            <a:noFill/>
            <a:miter lim="800000"/>
            <a:headEnd/>
            <a:tailEnd/>
          </a:ln>
        </p:spPr>
        <p:txBody>
          <a:bodyPr wrap="none">
            <a:spAutoFit/>
          </a:bodyPr>
          <a:lstStyle/>
          <a:p>
            <a:pPr algn="l">
              <a:spcBef>
                <a:spcPct val="50000"/>
              </a:spcBef>
            </a:pPr>
            <a:r>
              <a:rPr lang="en-US" b="1" i="1">
                <a:solidFill>
                  <a:srgbClr val="FF0000"/>
                </a:solidFill>
                <a:latin typeface="Times New Roman" pitchFamily="18" charset="0"/>
              </a:rPr>
              <a:t>Z</a:t>
            </a:r>
            <a:r>
              <a:rPr lang="en-US" b="1">
                <a:solidFill>
                  <a:srgbClr val="FF0000"/>
                </a:solidFill>
                <a:latin typeface="Times New Roman" pitchFamily="18" charset="0"/>
              </a:rPr>
              <a:t>=2;</a:t>
            </a:r>
          </a:p>
        </p:txBody>
      </p:sp>
      <p:sp>
        <p:nvSpPr>
          <p:cNvPr id="20493" name="Rectangle 13"/>
          <p:cNvSpPr>
            <a:spLocks noChangeArrowheads="1"/>
          </p:cNvSpPr>
          <p:nvPr/>
        </p:nvSpPr>
        <p:spPr bwMode="auto">
          <a:xfrm>
            <a:off x="1981200" y="4343400"/>
            <a:ext cx="4876800" cy="838200"/>
          </a:xfrm>
          <a:prstGeom prst="rect">
            <a:avLst/>
          </a:prstGeom>
          <a:noFill/>
          <a:ln w="9525">
            <a:solidFill>
              <a:srgbClr val="FF0000"/>
            </a:solidFill>
            <a:miter lim="800000"/>
            <a:headEnd/>
            <a:tailEnd/>
          </a:ln>
        </p:spPr>
        <p:txBody>
          <a:bodyPr wrap="none" anchor="ctr"/>
          <a:lstStyle/>
          <a:p>
            <a:endParaRPr lang="en-US"/>
          </a:p>
        </p:txBody>
      </p:sp>
      <p:graphicFrame>
        <p:nvGraphicFramePr>
          <p:cNvPr id="20494" name="Object 14"/>
          <p:cNvGraphicFramePr>
            <a:graphicFrameLocks noChangeAspect="1"/>
          </p:cNvGraphicFramePr>
          <p:nvPr/>
        </p:nvGraphicFramePr>
        <p:xfrm>
          <a:off x="4876800" y="4419600"/>
          <a:ext cx="1295400" cy="600075"/>
        </p:xfrm>
        <a:graphic>
          <a:graphicData uri="http://schemas.openxmlformats.org/presentationml/2006/ole">
            <p:oleObj spid="_x0000_s532482" name="Equation" r:id="rId3" imgW="520560" imgH="241200" progId="">
              <p:embed/>
            </p:oleObj>
          </a:graphicData>
        </a:graphic>
      </p:graphicFrame>
      <p:sp>
        <p:nvSpPr>
          <p:cNvPr id="20495" name="Oval 15"/>
          <p:cNvSpPr>
            <a:spLocks noChangeArrowheads="1"/>
          </p:cNvSpPr>
          <p:nvPr/>
        </p:nvSpPr>
        <p:spPr bwMode="auto">
          <a:xfrm>
            <a:off x="2819400" y="1066800"/>
            <a:ext cx="381000" cy="403225"/>
          </a:xfrm>
          <a:prstGeom prst="ellipse">
            <a:avLst/>
          </a:prstGeom>
          <a:noFill/>
          <a:ln w="12700">
            <a:solidFill>
              <a:srgbClr val="0000FF"/>
            </a:solidFill>
            <a:round/>
            <a:headEnd/>
            <a:tailEnd/>
          </a:ln>
        </p:spPr>
        <p:txBody>
          <a:bodyPr/>
          <a:lstStyle/>
          <a:p>
            <a:endParaRPr lang="en-US"/>
          </a:p>
        </p:txBody>
      </p:sp>
      <p:sp>
        <p:nvSpPr>
          <p:cNvPr id="20496" name="Rectangle 16"/>
          <p:cNvSpPr>
            <a:spLocks noChangeArrowheads="1"/>
          </p:cNvSpPr>
          <p:nvPr/>
        </p:nvSpPr>
        <p:spPr bwMode="auto">
          <a:xfrm>
            <a:off x="2895600" y="762000"/>
            <a:ext cx="311150" cy="701675"/>
          </a:xfrm>
          <a:prstGeom prst="rect">
            <a:avLst/>
          </a:prstGeom>
          <a:noFill/>
          <a:ln w="9525">
            <a:noFill/>
            <a:miter lim="800000"/>
            <a:headEnd/>
            <a:tailEnd/>
          </a:ln>
        </p:spPr>
        <p:txBody>
          <a:bodyPr wrap="none">
            <a:spAutoFit/>
          </a:bodyPr>
          <a:lstStyle/>
          <a:p>
            <a:pPr algn="l"/>
            <a:r>
              <a:rPr lang="en-US" sz="4000" b="1">
                <a:solidFill>
                  <a:schemeClr val="accent2"/>
                </a:solidFill>
                <a:latin typeface="Times New Roman" pitchFamily="18" charset="0"/>
              </a:rPr>
              <a:t>,</a:t>
            </a:r>
          </a:p>
        </p:txBody>
      </p:sp>
      <p:sp>
        <p:nvSpPr>
          <p:cNvPr id="20497" name="Rectangle 17"/>
          <p:cNvSpPr>
            <a:spLocks noChangeArrowheads="1"/>
          </p:cNvSpPr>
          <p:nvPr/>
        </p:nvSpPr>
        <p:spPr bwMode="auto">
          <a:xfrm>
            <a:off x="2590800" y="1143000"/>
            <a:ext cx="234950" cy="274638"/>
          </a:xfrm>
          <a:prstGeom prst="rect">
            <a:avLst/>
          </a:prstGeom>
          <a:noFill/>
          <a:ln w="9525">
            <a:noFill/>
            <a:miter lim="800000"/>
            <a:headEnd/>
            <a:tailEnd/>
          </a:ln>
        </p:spPr>
        <p:txBody>
          <a:bodyPr wrap="none">
            <a:spAutoFit/>
          </a:bodyPr>
          <a:lstStyle/>
          <a:p>
            <a:pPr algn="l"/>
            <a:r>
              <a:rPr lang="en-US" sz="1200" b="1">
                <a:solidFill>
                  <a:schemeClr val="accent2"/>
                </a:solidFill>
              </a:rPr>
              <a:t>-</a:t>
            </a:r>
          </a:p>
        </p:txBody>
      </p:sp>
      <p:grpSp>
        <p:nvGrpSpPr>
          <p:cNvPr id="3" name="Group 18"/>
          <p:cNvGrpSpPr>
            <a:grpSpLocks/>
          </p:cNvGrpSpPr>
          <p:nvPr/>
        </p:nvGrpSpPr>
        <p:grpSpPr bwMode="auto">
          <a:xfrm>
            <a:off x="5334000" y="762000"/>
            <a:ext cx="631825" cy="708025"/>
            <a:chOff x="3360" y="480"/>
            <a:chExt cx="398" cy="446"/>
          </a:xfrm>
        </p:grpSpPr>
        <p:sp>
          <p:nvSpPr>
            <p:cNvPr id="6210" name="Rectangle 19"/>
            <p:cNvSpPr>
              <a:spLocks noChangeArrowheads="1"/>
            </p:cNvSpPr>
            <p:nvPr/>
          </p:nvSpPr>
          <p:spPr bwMode="auto">
            <a:xfrm>
              <a:off x="3552" y="480"/>
              <a:ext cx="196" cy="442"/>
            </a:xfrm>
            <a:prstGeom prst="rect">
              <a:avLst/>
            </a:prstGeom>
            <a:noFill/>
            <a:ln w="9525">
              <a:noFill/>
              <a:miter lim="800000"/>
              <a:headEnd/>
              <a:tailEnd/>
            </a:ln>
          </p:spPr>
          <p:txBody>
            <a:bodyPr wrap="none">
              <a:spAutoFit/>
            </a:bodyPr>
            <a:lstStyle/>
            <a:p>
              <a:pPr algn="l"/>
              <a:r>
                <a:rPr lang="en-US" sz="4000" b="1">
                  <a:latin typeface="Times New Roman" pitchFamily="18" charset="0"/>
                </a:rPr>
                <a:t>,</a:t>
              </a:r>
            </a:p>
          </p:txBody>
        </p:sp>
        <p:grpSp>
          <p:nvGrpSpPr>
            <p:cNvPr id="4" name="Group 20"/>
            <p:cNvGrpSpPr>
              <a:grpSpLocks/>
            </p:cNvGrpSpPr>
            <p:nvPr/>
          </p:nvGrpSpPr>
          <p:grpSpPr bwMode="auto">
            <a:xfrm>
              <a:off x="3360" y="672"/>
              <a:ext cx="398" cy="254"/>
              <a:chOff x="3360" y="672"/>
              <a:chExt cx="398" cy="254"/>
            </a:xfrm>
          </p:grpSpPr>
          <p:sp>
            <p:nvSpPr>
              <p:cNvPr id="6212" name="Oval 21"/>
              <p:cNvSpPr>
                <a:spLocks noChangeArrowheads="1"/>
              </p:cNvSpPr>
              <p:nvPr/>
            </p:nvSpPr>
            <p:spPr bwMode="auto">
              <a:xfrm>
                <a:off x="3504" y="672"/>
                <a:ext cx="254" cy="254"/>
              </a:xfrm>
              <a:prstGeom prst="ellipse">
                <a:avLst/>
              </a:prstGeom>
              <a:noFill/>
              <a:ln w="12700">
                <a:solidFill>
                  <a:schemeClr val="tx1"/>
                </a:solidFill>
                <a:round/>
                <a:headEnd/>
                <a:tailEnd/>
              </a:ln>
            </p:spPr>
            <p:txBody>
              <a:bodyPr/>
              <a:lstStyle/>
              <a:p>
                <a:endParaRPr lang="en-US"/>
              </a:p>
            </p:txBody>
          </p:sp>
          <p:sp>
            <p:nvSpPr>
              <p:cNvPr id="6213" name="Rectangle 22"/>
              <p:cNvSpPr>
                <a:spLocks noChangeArrowheads="1"/>
              </p:cNvSpPr>
              <p:nvPr/>
            </p:nvSpPr>
            <p:spPr bwMode="auto">
              <a:xfrm>
                <a:off x="3360" y="720"/>
                <a:ext cx="148" cy="173"/>
              </a:xfrm>
              <a:prstGeom prst="rect">
                <a:avLst/>
              </a:prstGeom>
              <a:noFill/>
              <a:ln w="9525">
                <a:noFill/>
                <a:miter lim="800000"/>
                <a:headEnd/>
                <a:tailEnd/>
              </a:ln>
            </p:spPr>
            <p:txBody>
              <a:bodyPr wrap="none">
                <a:spAutoFit/>
              </a:bodyPr>
              <a:lstStyle/>
              <a:p>
                <a:pPr algn="l"/>
                <a:r>
                  <a:rPr lang="en-US" sz="1200" b="1"/>
                  <a:t>-</a:t>
                </a:r>
              </a:p>
            </p:txBody>
          </p:sp>
        </p:grpSp>
      </p:grpSp>
      <p:grpSp>
        <p:nvGrpSpPr>
          <p:cNvPr id="5" name="Group 23"/>
          <p:cNvGrpSpPr>
            <a:grpSpLocks/>
          </p:cNvGrpSpPr>
          <p:nvPr/>
        </p:nvGrpSpPr>
        <p:grpSpPr bwMode="auto">
          <a:xfrm>
            <a:off x="3276600" y="1676400"/>
            <a:ext cx="1295400" cy="3324225"/>
            <a:chOff x="2064" y="1056"/>
            <a:chExt cx="816" cy="2094"/>
          </a:xfrm>
        </p:grpSpPr>
        <p:graphicFrame>
          <p:nvGraphicFramePr>
            <p:cNvPr id="6149" name="Object 24"/>
            <p:cNvGraphicFramePr>
              <a:graphicFrameLocks noChangeAspect="1"/>
            </p:cNvGraphicFramePr>
            <p:nvPr/>
          </p:nvGraphicFramePr>
          <p:xfrm>
            <a:off x="2064" y="2832"/>
            <a:ext cx="816" cy="318"/>
          </p:xfrm>
          <a:graphic>
            <a:graphicData uri="http://schemas.openxmlformats.org/presentationml/2006/ole">
              <p:oleObj spid="_x0000_s532485" name="Equation" r:id="rId4" imgW="520560" imgH="203040" progId="">
                <p:embed/>
              </p:oleObj>
            </a:graphicData>
          </a:graphic>
        </p:graphicFrame>
        <p:grpSp>
          <p:nvGrpSpPr>
            <p:cNvPr id="6" name="Group 25"/>
            <p:cNvGrpSpPr>
              <a:grpSpLocks/>
            </p:cNvGrpSpPr>
            <p:nvPr/>
          </p:nvGrpSpPr>
          <p:grpSpPr bwMode="auto">
            <a:xfrm>
              <a:off x="2112" y="1056"/>
              <a:ext cx="412" cy="254"/>
              <a:chOff x="3792" y="2112"/>
              <a:chExt cx="412" cy="254"/>
            </a:xfrm>
          </p:grpSpPr>
          <p:sp>
            <p:nvSpPr>
              <p:cNvPr id="6208" name="Oval 26"/>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6209" name="Rectangle 27"/>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grpSp>
        <p:nvGrpSpPr>
          <p:cNvPr id="7" name="Group 28"/>
          <p:cNvGrpSpPr>
            <a:grpSpLocks/>
          </p:cNvGrpSpPr>
          <p:nvPr/>
        </p:nvGrpSpPr>
        <p:grpSpPr bwMode="auto">
          <a:xfrm>
            <a:off x="2590800" y="3505200"/>
            <a:ext cx="654050" cy="403225"/>
            <a:chOff x="3792" y="2112"/>
            <a:chExt cx="412" cy="254"/>
          </a:xfrm>
        </p:grpSpPr>
        <p:sp>
          <p:nvSpPr>
            <p:cNvPr id="6205" name="Oval 29"/>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6206" name="Rectangle 30"/>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8" name="Group 31"/>
          <p:cNvGrpSpPr>
            <a:grpSpLocks/>
          </p:cNvGrpSpPr>
          <p:nvPr/>
        </p:nvGrpSpPr>
        <p:grpSpPr bwMode="auto">
          <a:xfrm>
            <a:off x="5410200" y="3505200"/>
            <a:ext cx="654050" cy="403225"/>
            <a:chOff x="3792" y="2112"/>
            <a:chExt cx="412" cy="254"/>
          </a:xfrm>
        </p:grpSpPr>
        <p:sp>
          <p:nvSpPr>
            <p:cNvPr id="6203" name="Oval 32"/>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6204" name="Rectangle 33"/>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sp>
        <p:nvSpPr>
          <p:cNvPr id="20514" name="Oval 34"/>
          <p:cNvSpPr>
            <a:spLocks noChangeAspect="1" noChangeArrowheads="1"/>
          </p:cNvSpPr>
          <p:nvPr/>
        </p:nvSpPr>
        <p:spPr bwMode="auto">
          <a:xfrm>
            <a:off x="4511675" y="1524000"/>
            <a:ext cx="136525" cy="136525"/>
          </a:xfrm>
          <a:prstGeom prst="ellipse">
            <a:avLst/>
          </a:prstGeom>
          <a:solidFill>
            <a:schemeClr val="bg1"/>
          </a:solidFill>
          <a:ln w="9525">
            <a:solidFill>
              <a:srgbClr val="FF0000"/>
            </a:solidFill>
            <a:round/>
            <a:headEnd/>
            <a:tailEnd/>
          </a:ln>
        </p:spPr>
        <p:txBody>
          <a:bodyPr wrap="none" anchor="ctr"/>
          <a:lstStyle/>
          <a:p>
            <a:endParaRPr lang="en-US"/>
          </a:p>
        </p:txBody>
      </p:sp>
      <p:sp>
        <p:nvSpPr>
          <p:cNvPr id="20516" name="Oval 36"/>
          <p:cNvSpPr>
            <a:spLocks noChangeAspect="1" noChangeArrowheads="1"/>
          </p:cNvSpPr>
          <p:nvPr/>
        </p:nvSpPr>
        <p:spPr bwMode="auto">
          <a:xfrm>
            <a:off x="5867400" y="1524000"/>
            <a:ext cx="136525" cy="136525"/>
          </a:xfrm>
          <a:prstGeom prst="ellipse">
            <a:avLst/>
          </a:prstGeom>
          <a:solidFill>
            <a:schemeClr val="bg1"/>
          </a:solidFill>
          <a:ln w="9525">
            <a:solidFill>
              <a:schemeClr val="tx1"/>
            </a:solidFill>
            <a:round/>
            <a:headEnd/>
            <a:tailEnd/>
          </a:ln>
        </p:spPr>
        <p:txBody>
          <a:bodyPr wrap="none" anchor="ctr"/>
          <a:lstStyle/>
          <a:p>
            <a:endParaRPr lang="en-US"/>
          </a:p>
        </p:txBody>
      </p:sp>
      <p:sp>
        <p:nvSpPr>
          <p:cNvPr id="20517" name="Oval 37"/>
          <p:cNvSpPr>
            <a:spLocks noChangeAspect="1" noChangeArrowheads="1"/>
          </p:cNvSpPr>
          <p:nvPr/>
        </p:nvSpPr>
        <p:spPr bwMode="auto">
          <a:xfrm>
            <a:off x="5562600" y="2362200"/>
            <a:ext cx="136525" cy="136525"/>
          </a:xfrm>
          <a:prstGeom prst="ellipse">
            <a:avLst/>
          </a:prstGeom>
          <a:solidFill>
            <a:schemeClr val="bg1"/>
          </a:solidFill>
          <a:ln w="9525">
            <a:solidFill>
              <a:srgbClr val="FF0000"/>
            </a:solidFill>
            <a:round/>
            <a:headEnd/>
            <a:tailEnd/>
          </a:ln>
        </p:spPr>
        <p:txBody>
          <a:bodyPr wrap="none" anchor="ctr"/>
          <a:lstStyle/>
          <a:p>
            <a:endParaRPr lang="en-US"/>
          </a:p>
        </p:txBody>
      </p:sp>
      <p:sp>
        <p:nvSpPr>
          <p:cNvPr id="20518" name="Oval 38"/>
          <p:cNvSpPr>
            <a:spLocks noChangeAspect="1" noChangeArrowheads="1"/>
          </p:cNvSpPr>
          <p:nvPr/>
        </p:nvSpPr>
        <p:spPr bwMode="auto">
          <a:xfrm>
            <a:off x="4191000" y="2362200"/>
            <a:ext cx="152400" cy="152400"/>
          </a:xfrm>
          <a:prstGeom prst="ellipse">
            <a:avLst/>
          </a:prstGeom>
          <a:solidFill>
            <a:schemeClr val="bg1"/>
          </a:solidFill>
          <a:ln w="9525">
            <a:solidFill>
              <a:srgbClr val="FF0000"/>
            </a:solidFill>
            <a:round/>
            <a:headEnd/>
            <a:tailEnd/>
          </a:ln>
        </p:spPr>
        <p:txBody>
          <a:bodyPr wrap="none" anchor="ctr"/>
          <a:lstStyle/>
          <a:p>
            <a:endParaRPr lang="en-US"/>
          </a:p>
        </p:txBody>
      </p:sp>
      <p:sp>
        <p:nvSpPr>
          <p:cNvPr id="20519" name="Oval 39"/>
          <p:cNvSpPr>
            <a:spLocks noChangeAspect="1" noChangeArrowheads="1"/>
          </p:cNvSpPr>
          <p:nvPr/>
        </p:nvSpPr>
        <p:spPr bwMode="auto">
          <a:xfrm>
            <a:off x="2895600" y="2362200"/>
            <a:ext cx="136525" cy="136525"/>
          </a:xfrm>
          <a:prstGeom prst="ellipse">
            <a:avLst/>
          </a:prstGeom>
          <a:solidFill>
            <a:schemeClr val="bg1"/>
          </a:solidFill>
          <a:ln w="9525">
            <a:solidFill>
              <a:srgbClr val="FF0000"/>
            </a:solidFill>
            <a:round/>
            <a:headEnd/>
            <a:tailEnd/>
          </a:ln>
        </p:spPr>
        <p:txBody>
          <a:bodyPr wrap="none" anchor="ctr"/>
          <a:lstStyle/>
          <a:p>
            <a:endParaRPr lang="en-US"/>
          </a:p>
        </p:txBody>
      </p:sp>
      <p:sp>
        <p:nvSpPr>
          <p:cNvPr id="20520" name="Oval 40"/>
          <p:cNvSpPr>
            <a:spLocks noChangeAspect="1" noChangeArrowheads="1"/>
          </p:cNvSpPr>
          <p:nvPr/>
        </p:nvSpPr>
        <p:spPr bwMode="auto">
          <a:xfrm>
            <a:off x="2514600" y="3284538"/>
            <a:ext cx="136525" cy="136525"/>
          </a:xfrm>
          <a:prstGeom prst="ellipse">
            <a:avLst/>
          </a:prstGeom>
          <a:solidFill>
            <a:schemeClr val="bg1"/>
          </a:solidFill>
          <a:ln w="9525">
            <a:solidFill>
              <a:schemeClr val="tx1"/>
            </a:solidFill>
            <a:round/>
            <a:headEnd/>
            <a:tailEnd/>
          </a:ln>
        </p:spPr>
        <p:txBody>
          <a:bodyPr wrap="none" anchor="ctr"/>
          <a:lstStyle/>
          <a:p>
            <a:endParaRPr lang="en-US"/>
          </a:p>
        </p:txBody>
      </p:sp>
      <p:sp>
        <p:nvSpPr>
          <p:cNvPr id="20521" name="Oval 41"/>
          <p:cNvSpPr>
            <a:spLocks noChangeAspect="1" noChangeArrowheads="1"/>
          </p:cNvSpPr>
          <p:nvPr/>
        </p:nvSpPr>
        <p:spPr bwMode="auto">
          <a:xfrm>
            <a:off x="3886200" y="3284538"/>
            <a:ext cx="136525" cy="136525"/>
          </a:xfrm>
          <a:prstGeom prst="ellipse">
            <a:avLst/>
          </a:prstGeom>
          <a:solidFill>
            <a:schemeClr val="bg1"/>
          </a:solidFill>
          <a:ln w="9525">
            <a:solidFill>
              <a:srgbClr val="FF0000"/>
            </a:solidFill>
            <a:round/>
            <a:headEnd/>
            <a:tailEnd/>
          </a:ln>
        </p:spPr>
        <p:txBody>
          <a:bodyPr wrap="none" anchor="ctr"/>
          <a:lstStyle/>
          <a:p>
            <a:endParaRPr lang="en-US"/>
          </a:p>
        </p:txBody>
      </p:sp>
      <p:sp>
        <p:nvSpPr>
          <p:cNvPr id="20522" name="Oval 42"/>
          <p:cNvSpPr>
            <a:spLocks noChangeAspect="1" noChangeArrowheads="1"/>
          </p:cNvSpPr>
          <p:nvPr/>
        </p:nvSpPr>
        <p:spPr bwMode="auto">
          <a:xfrm>
            <a:off x="5257800" y="3284538"/>
            <a:ext cx="136525" cy="136525"/>
          </a:xfrm>
          <a:prstGeom prst="ellipse">
            <a:avLst/>
          </a:prstGeom>
          <a:solidFill>
            <a:schemeClr val="bg1"/>
          </a:solidFill>
          <a:ln w="9525">
            <a:solidFill>
              <a:schemeClr val="tx1"/>
            </a:solidFill>
            <a:round/>
            <a:headEnd/>
            <a:tailEnd/>
          </a:ln>
        </p:spPr>
        <p:txBody>
          <a:bodyPr wrap="none" anchor="ctr"/>
          <a:lstStyle/>
          <a:p>
            <a:endParaRPr lang="en-US"/>
          </a:p>
        </p:txBody>
      </p:sp>
      <p:graphicFrame>
        <p:nvGraphicFramePr>
          <p:cNvPr id="6147" name="Object 43"/>
          <p:cNvGraphicFramePr>
            <a:graphicFrameLocks noChangeAspect="1"/>
          </p:cNvGraphicFramePr>
          <p:nvPr/>
        </p:nvGraphicFramePr>
        <p:xfrm>
          <a:off x="6248400" y="381000"/>
          <a:ext cx="1676400" cy="758825"/>
        </p:xfrm>
        <a:graphic>
          <a:graphicData uri="http://schemas.openxmlformats.org/presentationml/2006/ole">
            <p:oleObj spid="_x0000_s532483" name="Equation" r:id="rId5" imgW="533160" imgH="241200" progId="">
              <p:embed/>
            </p:oleObj>
          </a:graphicData>
        </a:graphic>
      </p:graphicFrame>
      <p:sp>
        <p:nvSpPr>
          <p:cNvPr id="20524" name="Rectangle 44"/>
          <p:cNvSpPr>
            <a:spLocks noChangeArrowheads="1"/>
          </p:cNvSpPr>
          <p:nvPr/>
        </p:nvSpPr>
        <p:spPr bwMode="auto">
          <a:xfrm>
            <a:off x="2743200" y="5943600"/>
            <a:ext cx="2979738" cy="396875"/>
          </a:xfrm>
          <a:prstGeom prst="rect">
            <a:avLst/>
          </a:prstGeom>
          <a:noFill/>
          <a:ln w="9525">
            <a:noFill/>
            <a:miter lim="800000"/>
            <a:headEnd/>
            <a:tailEnd/>
          </a:ln>
        </p:spPr>
        <p:txBody>
          <a:bodyPr wrap="none">
            <a:spAutoFit/>
          </a:bodyPr>
          <a:lstStyle/>
          <a:p>
            <a:pPr algn="l"/>
            <a:r>
              <a:rPr lang="en-US" sz="2000" b="1"/>
              <a:t> Non-enantiomorphous</a:t>
            </a:r>
          </a:p>
        </p:txBody>
      </p:sp>
      <p:grpSp>
        <p:nvGrpSpPr>
          <p:cNvPr id="9" name="Group 45"/>
          <p:cNvGrpSpPr>
            <a:grpSpLocks/>
          </p:cNvGrpSpPr>
          <p:nvPr/>
        </p:nvGrpSpPr>
        <p:grpSpPr bwMode="auto">
          <a:xfrm>
            <a:off x="4648200" y="2514600"/>
            <a:ext cx="631825" cy="708025"/>
            <a:chOff x="3360" y="480"/>
            <a:chExt cx="398" cy="446"/>
          </a:xfrm>
        </p:grpSpPr>
        <p:sp>
          <p:nvSpPr>
            <p:cNvPr id="6199" name="Rectangle 46"/>
            <p:cNvSpPr>
              <a:spLocks noChangeArrowheads="1"/>
            </p:cNvSpPr>
            <p:nvPr/>
          </p:nvSpPr>
          <p:spPr bwMode="auto">
            <a:xfrm>
              <a:off x="3552" y="480"/>
              <a:ext cx="196" cy="442"/>
            </a:xfrm>
            <a:prstGeom prst="rect">
              <a:avLst/>
            </a:prstGeom>
            <a:noFill/>
            <a:ln w="9525">
              <a:noFill/>
              <a:miter lim="800000"/>
              <a:headEnd/>
              <a:tailEnd/>
            </a:ln>
          </p:spPr>
          <p:txBody>
            <a:bodyPr wrap="none">
              <a:spAutoFit/>
            </a:bodyPr>
            <a:lstStyle/>
            <a:p>
              <a:pPr algn="l"/>
              <a:r>
                <a:rPr lang="en-US" sz="4000" b="1">
                  <a:latin typeface="Times New Roman" pitchFamily="18" charset="0"/>
                </a:rPr>
                <a:t>,</a:t>
              </a:r>
            </a:p>
          </p:txBody>
        </p:sp>
        <p:grpSp>
          <p:nvGrpSpPr>
            <p:cNvPr id="10" name="Group 47"/>
            <p:cNvGrpSpPr>
              <a:grpSpLocks/>
            </p:cNvGrpSpPr>
            <p:nvPr/>
          </p:nvGrpSpPr>
          <p:grpSpPr bwMode="auto">
            <a:xfrm>
              <a:off x="3360" y="672"/>
              <a:ext cx="398" cy="254"/>
              <a:chOff x="3360" y="672"/>
              <a:chExt cx="398" cy="254"/>
            </a:xfrm>
          </p:grpSpPr>
          <p:sp>
            <p:nvSpPr>
              <p:cNvPr id="6201" name="Oval 48"/>
              <p:cNvSpPr>
                <a:spLocks noChangeArrowheads="1"/>
              </p:cNvSpPr>
              <p:nvPr/>
            </p:nvSpPr>
            <p:spPr bwMode="auto">
              <a:xfrm>
                <a:off x="3504" y="672"/>
                <a:ext cx="254" cy="254"/>
              </a:xfrm>
              <a:prstGeom prst="ellipse">
                <a:avLst/>
              </a:prstGeom>
              <a:noFill/>
              <a:ln w="12700">
                <a:solidFill>
                  <a:schemeClr val="tx1"/>
                </a:solidFill>
                <a:round/>
                <a:headEnd/>
                <a:tailEnd/>
              </a:ln>
            </p:spPr>
            <p:txBody>
              <a:bodyPr/>
              <a:lstStyle/>
              <a:p>
                <a:endParaRPr lang="en-US"/>
              </a:p>
            </p:txBody>
          </p:sp>
          <p:sp>
            <p:nvSpPr>
              <p:cNvPr id="6202" name="Rectangle 49"/>
              <p:cNvSpPr>
                <a:spLocks noChangeArrowheads="1"/>
              </p:cNvSpPr>
              <p:nvPr/>
            </p:nvSpPr>
            <p:spPr bwMode="auto">
              <a:xfrm>
                <a:off x="3360" y="720"/>
                <a:ext cx="148" cy="173"/>
              </a:xfrm>
              <a:prstGeom prst="rect">
                <a:avLst/>
              </a:prstGeom>
              <a:noFill/>
              <a:ln w="9525">
                <a:noFill/>
                <a:miter lim="800000"/>
                <a:headEnd/>
                <a:tailEnd/>
              </a:ln>
            </p:spPr>
            <p:txBody>
              <a:bodyPr wrap="none">
                <a:spAutoFit/>
              </a:bodyPr>
              <a:lstStyle/>
              <a:p>
                <a:pPr algn="l"/>
                <a:r>
                  <a:rPr lang="en-US" sz="1200" b="1"/>
                  <a:t>-</a:t>
                </a:r>
              </a:p>
            </p:txBody>
          </p:sp>
        </p:grpSp>
      </p:grpSp>
      <p:grpSp>
        <p:nvGrpSpPr>
          <p:cNvPr id="11" name="Group 50"/>
          <p:cNvGrpSpPr>
            <a:grpSpLocks/>
          </p:cNvGrpSpPr>
          <p:nvPr/>
        </p:nvGrpSpPr>
        <p:grpSpPr bwMode="auto">
          <a:xfrm>
            <a:off x="1905000" y="2514600"/>
            <a:ext cx="631825" cy="708025"/>
            <a:chOff x="3360" y="480"/>
            <a:chExt cx="398" cy="446"/>
          </a:xfrm>
        </p:grpSpPr>
        <p:sp>
          <p:nvSpPr>
            <p:cNvPr id="6195" name="Rectangle 51"/>
            <p:cNvSpPr>
              <a:spLocks noChangeArrowheads="1"/>
            </p:cNvSpPr>
            <p:nvPr/>
          </p:nvSpPr>
          <p:spPr bwMode="auto">
            <a:xfrm>
              <a:off x="3552" y="480"/>
              <a:ext cx="196" cy="442"/>
            </a:xfrm>
            <a:prstGeom prst="rect">
              <a:avLst/>
            </a:prstGeom>
            <a:noFill/>
            <a:ln w="9525">
              <a:noFill/>
              <a:miter lim="800000"/>
              <a:headEnd/>
              <a:tailEnd/>
            </a:ln>
          </p:spPr>
          <p:txBody>
            <a:bodyPr wrap="none">
              <a:spAutoFit/>
            </a:bodyPr>
            <a:lstStyle/>
            <a:p>
              <a:pPr algn="l"/>
              <a:r>
                <a:rPr lang="en-US" sz="4000" b="1">
                  <a:latin typeface="Times New Roman" pitchFamily="18" charset="0"/>
                </a:rPr>
                <a:t>,</a:t>
              </a:r>
            </a:p>
          </p:txBody>
        </p:sp>
        <p:grpSp>
          <p:nvGrpSpPr>
            <p:cNvPr id="12" name="Group 52"/>
            <p:cNvGrpSpPr>
              <a:grpSpLocks/>
            </p:cNvGrpSpPr>
            <p:nvPr/>
          </p:nvGrpSpPr>
          <p:grpSpPr bwMode="auto">
            <a:xfrm>
              <a:off x="3360" y="672"/>
              <a:ext cx="398" cy="254"/>
              <a:chOff x="3360" y="672"/>
              <a:chExt cx="398" cy="254"/>
            </a:xfrm>
          </p:grpSpPr>
          <p:sp>
            <p:nvSpPr>
              <p:cNvPr id="6197" name="Oval 53"/>
              <p:cNvSpPr>
                <a:spLocks noChangeArrowheads="1"/>
              </p:cNvSpPr>
              <p:nvPr/>
            </p:nvSpPr>
            <p:spPr bwMode="auto">
              <a:xfrm>
                <a:off x="3504" y="672"/>
                <a:ext cx="254" cy="254"/>
              </a:xfrm>
              <a:prstGeom prst="ellipse">
                <a:avLst/>
              </a:prstGeom>
              <a:noFill/>
              <a:ln w="12700">
                <a:solidFill>
                  <a:schemeClr val="tx1"/>
                </a:solidFill>
                <a:round/>
                <a:headEnd/>
                <a:tailEnd/>
              </a:ln>
            </p:spPr>
            <p:txBody>
              <a:bodyPr/>
              <a:lstStyle/>
              <a:p>
                <a:endParaRPr lang="en-US"/>
              </a:p>
            </p:txBody>
          </p:sp>
          <p:sp>
            <p:nvSpPr>
              <p:cNvPr id="6198" name="Rectangle 54"/>
              <p:cNvSpPr>
                <a:spLocks noChangeArrowheads="1"/>
              </p:cNvSpPr>
              <p:nvPr/>
            </p:nvSpPr>
            <p:spPr bwMode="auto">
              <a:xfrm>
                <a:off x="3360" y="720"/>
                <a:ext cx="148" cy="173"/>
              </a:xfrm>
              <a:prstGeom prst="rect">
                <a:avLst/>
              </a:prstGeom>
              <a:noFill/>
              <a:ln w="9525">
                <a:noFill/>
                <a:miter lim="800000"/>
                <a:headEnd/>
                <a:tailEnd/>
              </a:ln>
            </p:spPr>
            <p:txBody>
              <a:bodyPr wrap="none">
                <a:spAutoFit/>
              </a:bodyPr>
              <a:lstStyle/>
              <a:p>
                <a:pPr algn="l"/>
                <a:r>
                  <a:rPr lang="en-US" sz="1200" b="1"/>
                  <a:t>-</a:t>
                </a:r>
              </a:p>
            </p:txBody>
          </p:sp>
        </p:grpSp>
      </p:grpSp>
      <p:sp>
        <p:nvSpPr>
          <p:cNvPr id="20535" name="Rectangle 55"/>
          <p:cNvSpPr>
            <a:spLocks noChangeArrowheads="1"/>
          </p:cNvSpPr>
          <p:nvPr/>
        </p:nvSpPr>
        <p:spPr bwMode="auto">
          <a:xfrm>
            <a:off x="228600" y="5334000"/>
            <a:ext cx="8766175" cy="457200"/>
          </a:xfrm>
          <a:prstGeom prst="rect">
            <a:avLst/>
          </a:prstGeom>
          <a:noFill/>
          <a:ln w="9525">
            <a:noFill/>
            <a:miter lim="800000"/>
            <a:headEnd/>
            <a:tailEnd/>
          </a:ln>
        </p:spPr>
        <p:txBody>
          <a:bodyPr wrap="none">
            <a:spAutoFit/>
          </a:bodyPr>
          <a:lstStyle/>
          <a:p>
            <a:pPr algn="l"/>
            <a:r>
              <a:rPr lang="en-US"/>
              <a:t>Is this space group enantiomorphous or non-enantiomorphous?</a:t>
            </a:r>
          </a:p>
        </p:txBody>
      </p:sp>
      <p:grpSp>
        <p:nvGrpSpPr>
          <p:cNvPr id="13" name="Group 62"/>
          <p:cNvGrpSpPr>
            <a:grpSpLocks/>
          </p:cNvGrpSpPr>
          <p:nvPr/>
        </p:nvGrpSpPr>
        <p:grpSpPr bwMode="auto">
          <a:xfrm>
            <a:off x="228600" y="1524000"/>
            <a:ext cx="3108325" cy="914400"/>
            <a:chOff x="144" y="960"/>
            <a:chExt cx="1958" cy="576"/>
          </a:xfrm>
        </p:grpSpPr>
        <p:sp>
          <p:nvSpPr>
            <p:cNvPr id="6191" name="Oval 35"/>
            <p:cNvSpPr>
              <a:spLocks noChangeAspect="1" noChangeArrowheads="1"/>
            </p:cNvSpPr>
            <p:nvPr/>
          </p:nvSpPr>
          <p:spPr bwMode="auto">
            <a:xfrm>
              <a:off x="2016" y="960"/>
              <a:ext cx="86" cy="86"/>
            </a:xfrm>
            <a:prstGeom prst="ellipse">
              <a:avLst/>
            </a:prstGeom>
            <a:solidFill>
              <a:schemeClr val="bg1"/>
            </a:solidFill>
            <a:ln w="9525">
              <a:solidFill>
                <a:schemeClr val="tx1"/>
              </a:solidFill>
              <a:round/>
              <a:headEnd/>
              <a:tailEnd/>
            </a:ln>
          </p:spPr>
          <p:txBody>
            <a:bodyPr wrap="none" anchor="ctr"/>
            <a:lstStyle/>
            <a:p>
              <a:endParaRPr lang="en-US"/>
            </a:p>
          </p:txBody>
        </p:sp>
        <p:sp>
          <p:nvSpPr>
            <p:cNvPr id="6190" name="AutoShape 60"/>
            <p:cNvSpPr>
              <a:spLocks noChangeArrowheads="1"/>
            </p:cNvSpPr>
            <p:nvPr/>
          </p:nvSpPr>
          <p:spPr bwMode="auto">
            <a:xfrm>
              <a:off x="144" y="1152"/>
              <a:ext cx="1392" cy="384"/>
            </a:xfrm>
            <a:prstGeom prst="wedgeRoundRectCallout">
              <a:avLst>
                <a:gd name="adj1" fmla="val 83907"/>
                <a:gd name="adj2" fmla="val -77866"/>
                <a:gd name="adj3" fmla="val 16667"/>
              </a:avLst>
            </a:prstGeom>
            <a:noFill/>
            <a:ln w="9525">
              <a:solidFill>
                <a:schemeClr val="accent2"/>
              </a:solidFill>
              <a:miter lim="800000"/>
              <a:headEnd/>
              <a:tailEnd/>
            </a:ln>
          </p:spPr>
          <p:txBody>
            <a:bodyPr/>
            <a:lstStyle/>
            <a:p>
              <a:r>
                <a:rPr lang="en-US" sz="1600" dirty="0">
                  <a:solidFill>
                    <a:schemeClr val="accent2"/>
                  </a:solidFill>
                </a:rPr>
                <a:t>Symbol:     </a:t>
              </a:r>
              <a:r>
                <a:rPr lang="en-US" sz="1600" dirty="0" smtClean="0">
                  <a:solidFill>
                    <a:schemeClr val="accent2"/>
                  </a:solidFill>
                </a:rPr>
                <a:t>  = -1= </a:t>
              </a:r>
              <a:r>
                <a:rPr lang="en-US" sz="1600" dirty="0">
                  <a:solidFill>
                    <a:schemeClr val="accent2"/>
                  </a:solidFill>
                </a:rPr>
                <a:t>inversion center</a:t>
              </a:r>
            </a:p>
          </p:txBody>
        </p:sp>
        <p:graphicFrame>
          <p:nvGraphicFramePr>
            <p:cNvPr id="6148" name="Object 61"/>
            <p:cNvGraphicFramePr>
              <a:graphicFrameLocks noChangeAspect="1"/>
            </p:cNvGraphicFramePr>
            <p:nvPr/>
          </p:nvGraphicFramePr>
          <p:xfrm>
            <a:off x="768" y="1100"/>
            <a:ext cx="92" cy="244"/>
          </p:xfrm>
          <a:graphic>
            <a:graphicData uri="http://schemas.openxmlformats.org/presentationml/2006/ole">
              <p:oleObj spid="_x0000_s532484" name="Equation" r:id="rId6" imgW="152280" imgH="406080" progId="">
                <p:embed/>
              </p:oleObj>
            </a:graphicData>
          </a:graphic>
        </p:graphicFrame>
      </p:grpSp>
      <p:grpSp>
        <p:nvGrpSpPr>
          <p:cNvPr id="15" name="Group 63"/>
          <p:cNvGrpSpPr>
            <a:grpSpLocks/>
          </p:cNvGrpSpPr>
          <p:nvPr/>
        </p:nvGrpSpPr>
        <p:grpSpPr bwMode="auto">
          <a:xfrm>
            <a:off x="1371600" y="508000"/>
            <a:ext cx="1374775" cy="1016000"/>
            <a:chOff x="1248" y="356"/>
            <a:chExt cx="866" cy="640"/>
          </a:xfrm>
        </p:grpSpPr>
        <p:grpSp>
          <p:nvGrpSpPr>
            <p:cNvPr id="16" name="Group 64"/>
            <p:cNvGrpSpPr>
              <a:grpSpLocks/>
            </p:cNvGrpSpPr>
            <p:nvPr/>
          </p:nvGrpSpPr>
          <p:grpSpPr bwMode="auto">
            <a:xfrm>
              <a:off x="1360" y="460"/>
              <a:ext cx="172" cy="300"/>
              <a:chOff x="1264" y="364"/>
              <a:chExt cx="172" cy="300"/>
            </a:xfrm>
          </p:grpSpPr>
          <p:sp>
            <p:nvSpPr>
              <p:cNvPr id="6187" name="Freeform 65"/>
              <p:cNvSpPr>
                <a:spLocks/>
              </p:cNvSpPr>
              <p:nvPr/>
            </p:nvSpPr>
            <p:spPr bwMode="auto">
              <a:xfrm>
                <a:off x="1285" y="364"/>
                <a:ext cx="151" cy="253"/>
              </a:xfrm>
              <a:custGeom>
                <a:avLst/>
                <a:gdLst>
                  <a:gd name="T0" fmla="*/ 151 w 151"/>
                  <a:gd name="T1" fmla="*/ 4 h 253"/>
                  <a:gd name="T2" fmla="*/ 146 w 151"/>
                  <a:gd name="T3" fmla="*/ 0 h 253"/>
                  <a:gd name="T4" fmla="*/ 0 w 151"/>
                  <a:gd name="T5" fmla="*/ 249 h 253"/>
                  <a:gd name="T6" fmla="*/ 4 w 151"/>
                  <a:gd name="T7" fmla="*/ 253 h 253"/>
                  <a:gd name="T8" fmla="*/ 151 w 151"/>
                  <a:gd name="T9" fmla="*/ 4 h 253"/>
                  <a:gd name="T10" fmla="*/ 0 60000 65536"/>
                  <a:gd name="T11" fmla="*/ 0 60000 65536"/>
                  <a:gd name="T12" fmla="*/ 0 60000 65536"/>
                  <a:gd name="T13" fmla="*/ 0 60000 65536"/>
                  <a:gd name="T14" fmla="*/ 0 60000 65536"/>
                  <a:gd name="T15" fmla="*/ 0 w 151"/>
                  <a:gd name="T16" fmla="*/ 0 h 253"/>
                  <a:gd name="T17" fmla="*/ 151 w 151"/>
                  <a:gd name="T18" fmla="*/ 253 h 253"/>
                </a:gdLst>
                <a:ahLst/>
                <a:cxnLst>
                  <a:cxn ang="T10">
                    <a:pos x="T0" y="T1"/>
                  </a:cxn>
                  <a:cxn ang="T11">
                    <a:pos x="T2" y="T3"/>
                  </a:cxn>
                  <a:cxn ang="T12">
                    <a:pos x="T4" y="T5"/>
                  </a:cxn>
                  <a:cxn ang="T13">
                    <a:pos x="T6" y="T7"/>
                  </a:cxn>
                  <a:cxn ang="T14">
                    <a:pos x="T8" y="T9"/>
                  </a:cxn>
                </a:cxnLst>
                <a:rect l="T15" t="T16" r="T17" b="T18"/>
                <a:pathLst>
                  <a:path w="151" h="253">
                    <a:moveTo>
                      <a:pt x="151" y="4"/>
                    </a:moveTo>
                    <a:lnTo>
                      <a:pt x="146" y="0"/>
                    </a:lnTo>
                    <a:lnTo>
                      <a:pt x="0" y="249"/>
                    </a:lnTo>
                    <a:lnTo>
                      <a:pt x="4" y="253"/>
                    </a:lnTo>
                    <a:lnTo>
                      <a:pt x="151" y="4"/>
                    </a:lnTo>
                    <a:close/>
                  </a:path>
                </a:pathLst>
              </a:custGeom>
              <a:solidFill>
                <a:srgbClr val="000000"/>
              </a:solidFill>
              <a:ln w="9525">
                <a:noFill/>
                <a:round/>
                <a:headEnd/>
                <a:tailEnd/>
              </a:ln>
            </p:spPr>
            <p:txBody>
              <a:bodyPr/>
              <a:lstStyle/>
              <a:p>
                <a:endParaRPr lang="en-US"/>
              </a:p>
            </p:txBody>
          </p:sp>
          <p:sp>
            <p:nvSpPr>
              <p:cNvPr id="6188" name="Freeform 66"/>
              <p:cNvSpPr>
                <a:spLocks/>
              </p:cNvSpPr>
              <p:nvPr/>
            </p:nvSpPr>
            <p:spPr bwMode="auto">
              <a:xfrm>
                <a:off x="1264" y="587"/>
                <a:ext cx="64" cy="77"/>
              </a:xfrm>
              <a:custGeom>
                <a:avLst/>
                <a:gdLst>
                  <a:gd name="T0" fmla="*/ 4 w 64"/>
                  <a:gd name="T1" fmla="*/ 0 h 77"/>
                  <a:gd name="T2" fmla="*/ 0 w 64"/>
                  <a:gd name="T3" fmla="*/ 77 h 77"/>
                  <a:gd name="T4" fmla="*/ 64 w 64"/>
                  <a:gd name="T5" fmla="*/ 34 h 77"/>
                  <a:gd name="T6" fmla="*/ 4 w 64"/>
                  <a:gd name="T7" fmla="*/ 0 h 77"/>
                  <a:gd name="T8" fmla="*/ 0 60000 65536"/>
                  <a:gd name="T9" fmla="*/ 0 60000 65536"/>
                  <a:gd name="T10" fmla="*/ 0 60000 65536"/>
                  <a:gd name="T11" fmla="*/ 0 60000 65536"/>
                  <a:gd name="T12" fmla="*/ 0 w 64"/>
                  <a:gd name="T13" fmla="*/ 0 h 77"/>
                  <a:gd name="T14" fmla="*/ 64 w 64"/>
                  <a:gd name="T15" fmla="*/ 77 h 77"/>
                </a:gdLst>
                <a:ahLst/>
                <a:cxnLst>
                  <a:cxn ang="T8">
                    <a:pos x="T0" y="T1"/>
                  </a:cxn>
                  <a:cxn ang="T9">
                    <a:pos x="T2" y="T3"/>
                  </a:cxn>
                  <a:cxn ang="T10">
                    <a:pos x="T4" y="T5"/>
                  </a:cxn>
                  <a:cxn ang="T11">
                    <a:pos x="T6" y="T7"/>
                  </a:cxn>
                </a:cxnLst>
                <a:rect l="T12" t="T13" r="T14" b="T15"/>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7" name="Group 67"/>
            <p:cNvGrpSpPr>
              <a:grpSpLocks/>
            </p:cNvGrpSpPr>
            <p:nvPr/>
          </p:nvGrpSpPr>
          <p:grpSpPr bwMode="auto">
            <a:xfrm>
              <a:off x="1527" y="425"/>
              <a:ext cx="434" cy="73"/>
              <a:chOff x="1431" y="329"/>
              <a:chExt cx="434" cy="73"/>
            </a:xfrm>
          </p:grpSpPr>
          <p:sp>
            <p:nvSpPr>
              <p:cNvPr id="6185" name="Rectangle 68"/>
              <p:cNvSpPr>
                <a:spLocks noChangeArrowheads="1"/>
              </p:cNvSpPr>
              <p:nvPr/>
            </p:nvSpPr>
            <p:spPr bwMode="auto">
              <a:xfrm>
                <a:off x="1431" y="359"/>
                <a:ext cx="370" cy="9"/>
              </a:xfrm>
              <a:prstGeom prst="rect">
                <a:avLst/>
              </a:prstGeom>
              <a:solidFill>
                <a:srgbClr val="000000"/>
              </a:solidFill>
              <a:ln w="9525">
                <a:noFill/>
                <a:miter lim="800000"/>
                <a:headEnd/>
                <a:tailEnd/>
              </a:ln>
            </p:spPr>
            <p:txBody>
              <a:bodyPr/>
              <a:lstStyle/>
              <a:p>
                <a:endParaRPr lang="en-US"/>
              </a:p>
            </p:txBody>
          </p:sp>
          <p:sp>
            <p:nvSpPr>
              <p:cNvPr id="6186" name="Freeform 69"/>
              <p:cNvSpPr>
                <a:spLocks/>
              </p:cNvSpPr>
              <p:nvPr/>
            </p:nvSpPr>
            <p:spPr bwMode="auto">
              <a:xfrm>
                <a:off x="1792" y="329"/>
                <a:ext cx="73" cy="73"/>
              </a:xfrm>
              <a:custGeom>
                <a:avLst/>
                <a:gdLst>
                  <a:gd name="T0" fmla="*/ 0 w 73"/>
                  <a:gd name="T1" fmla="*/ 73 h 73"/>
                  <a:gd name="T2" fmla="*/ 73 w 73"/>
                  <a:gd name="T3" fmla="*/ 35 h 73"/>
                  <a:gd name="T4" fmla="*/ 0 w 73"/>
                  <a:gd name="T5" fmla="*/ 0 h 73"/>
                  <a:gd name="T6" fmla="*/ 0 w 73"/>
                  <a:gd name="T7" fmla="*/ 73 h 73"/>
                  <a:gd name="T8" fmla="*/ 0 60000 65536"/>
                  <a:gd name="T9" fmla="*/ 0 60000 65536"/>
                  <a:gd name="T10" fmla="*/ 0 60000 65536"/>
                  <a:gd name="T11" fmla="*/ 0 60000 65536"/>
                  <a:gd name="T12" fmla="*/ 0 w 73"/>
                  <a:gd name="T13" fmla="*/ 0 h 73"/>
                  <a:gd name="T14" fmla="*/ 73 w 73"/>
                  <a:gd name="T15" fmla="*/ 73 h 73"/>
                </a:gdLst>
                <a:ahLst/>
                <a:cxnLst>
                  <a:cxn ang="T8">
                    <a:pos x="T0" y="T1"/>
                  </a:cxn>
                  <a:cxn ang="T9">
                    <a:pos x="T2" y="T3"/>
                  </a:cxn>
                  <a:cxn ang="T10">
                    <a:pos x="T4" y="T5"/>
                  </a:cxn>
                  <a:cxn ang="T11">
                    <a:pos x="T6" y="T7"/>
                  </a:cxn>
                </a:cxnLst>
                <a:rect l="T12" t="T13" r="T14" b="T15"/>
                <a:pathLst>
                  <a:path w="73" h="73">
                    <a:moveTo>
                      <a:pt x="0" y="73"/>
                    </a:moveTo>
                    <a:lnTo>
                      <a:pt x="73" y="35"/>
                    </a:lnTo>
                    <a:lnTo>
                      <a:pt x="0" y="0"/>
                    </a:lnTo>
                    <a:lnTo>
                      <a:pt x="0" y="73"/>
                    </a:lnTo>
                    <a:close/>
                  </a:path>
                </a:pathLst>
              </a:custGeom>
              <a:solidFill>
                <a:srgbClr val="000000"/>
              </a:solidFill>
              <a:ln w="9525">
                <a:noFill/>
                <a:round/>
                <a:headEnd/>
                <a:tailEnd/>
              </a:ln>
            </p:spPr>
            <p:txBody>
              <a:bodyPr/>
              <a:lstStyle/>
              <a:p>
                <a:endParaRPr lang="en-US"/>
              </a:p>
            </p:txBody>
          </p:sp>
        </p:grpSp>
        <p:sp>
          <p:nvSpPr>
            <p:cNvPr id="6183" name="Rectangle 70"/>
            <p:cNvSpPr>
              <a:spLocks noChangeArrowheads="1"/>
            </p:cNvSpPr>
            <p:nvPr/>
          </p:nvSpPr>
          <p:spPr bwMode="auto">
            <a:xfrm>
              <a:off x="2016" y="356"/>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rPr>
                <a:t>a</a:t>
              </a:r>
              <a:endParaRPr lang="en-US" i="1"/>
            </a:p>
          </p:txBody>
        </p:sp>
        <p:sp>
          <p:nvSpPr>
            <p:cNvPr id="6184" name="Rectangle 71"/>
            <p:cNvSpPr>
              <a:spLocks noChangeArrowheads="1"/>
            </p:cNvSpPr>
            <p:nvPr/>
          </p:nvSpPr>
          <p:spPr bwMode="auto">
            <a:xfrm>
              <a:off x="1248" y="785"/>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rPr>
                <a:t>c</a:t>
              </a:r>
              <a:endParaRPr lang="en-US" i="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4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49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49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049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05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05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05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205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205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499"/>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2051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205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2051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2049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2049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2053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20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2" grpId="0" autoUpdateAnimBg="0"/>
      <p:bldP spid="20493" grpId="0" animBg="1"/>
      <p:bldP spid="20495" grpId="0" animBg="1"/>
      <p:bldP spid="20496" grpId="0" autoUpdateAnimBg="0"/>
      <p:bldP spid="20497" grpId="0" autoUpdateAnimBg="0"/>
      <p:bldP spid="20514" grpId="0" animBg="1"/>
      <p:bldP spid="20516" grpId="0" animBg="1"/>
      <p:bldP spid="20517" grpId="0" animBg="1"/>
      <p:bldP spid="20518" grpId="0" animBg="1"/>
      <p:bldP spid="20519" grpId="0" animBg="1"/>
      <p:bldP spid="20520" grpId="0" animBg="1"/>
      <p:bldP spid="20521" grpId="0" animBg="1"/>
      <p:bldP spid="20522" grpId="0" animBg="1"/>
      <p:bldP spid="20524" grpId="0" autoUpdateAnimBg="0"/>
      <p:bldP spid="20535"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lide Number Placeholder 3"/>
          <p:cNvSpPr>
            <a:spLocks noGrp="1"/>
          </p:cNvSpPr>
          <p:nvPr>
            <p:ph type="sldNum" sz="quarter" idx="12"/>
          </p:nvPr>
        </p:nvSpPr>
        <p:spPr/>
        <p:txBody>
          <a:bodyPr/>
          <a:lstStyle/>
          <a:p>
            <a:pPr>
              <a:defRPr/>
            </a:pPr>
            <a:fld id="{4ED605AA-7F7C-4353-95CE-B2FB2FE9C80A}" type="slidenum">
              <a:rPr lang="en-US"/>
              <a:pPr>
                <a:defRPr/>
              </a:pPr>
              <a:t>81</a:t>
            </a:fld>
            <a:endParaRPr lang="en-US"/>
          </a:p>
        </p:txBody>
      </p:sp>
      <p:sp>
        <p:nvSpPr>
          <p:cNvPr id="7174" name="Rectangle 3"/>
          <p:cNvSpPr>
            <a:spLocks noChangeArrowheads="1"/>
          </p:cNvSpPr>
          <p:nvPr/>
        </p:nvSpPr>
        <p:spPr bwMode="auto">
          <a:xfrm>
            <a:off x="2133600" y="4495800"/>
            <a:ext cx="796925" cy="457200"/>
          </a:xfrm>
          <a:prstGeom prst="rect">
            <a:avLst/>
          </a:prstGeom>
          <a:noFill/>
          <a:ln w="9525">
            <a:noFill/>
            <a:miter lim="800000"/>
            <a:headEnd/>
            <a:tailEnd/>
          </a:ln>
        </p:spPr>
        <p:txBody>
          <a:bodyPr wrap="none">
            <a:spAutoFit/>
          </a:bodyPr>
          <a:lstStyle/>
          <a:p>
            <a:pPr algn="l">
              <a:spcBef>
                <a:spcPct val="50000"/>
              </a:spcBef>
            </a:pPr>
            <a:r>
              <a:rPr lang="en-US" b="1" i="1">
                <a:solidFill>
                  <a:srgbClr val="FF0000"/>
                </a:solidFill>
                <a:latin typeface="Times New Roman" pitchFamily="18" charset="0"/>
              </a:rPr>
              <a:t>Z</a:t>
            </a:r>
            <a:r>
              <a:rPr lang="en-US" b="1">
                <a:solidFill>
                  <a:srgbClr val="FF0000"/>
                </a:solidFill>
                <a:latin typeface="Times New Roman" pitchFamily="18" charset="0"/>
              </a:rPr>
              <a:t>=2;</a:t>
            </a:r>
          </a:p>
        </p:txBody>
      </p:sp>
      <p:sp>
        <p:nvSpPr>
          <p:cNvPr id="7175" name="Rectangle 4"/>
          <p:cNvSpPr>
            <a:spLocks noChangeArrowheads="1"/>
          </p:cNvSpPr>
          <p:nvPr/>
        </p:nvSpPr>
        <p:spPr bwMode="auto">
          <a:xfrm>
            <a:off x="1981200" y="4343400"/>
            <a:ext cx="4876800" cy="838200"/>
          </a:xfrm>
          <a:prstGeom prst="rect">
            <a:avLst/>
          </a:prstGeom>
          <a:noFill/>
          <a:ln w="9525">
            <a:solidFill>
              <a:srgbClr val="FF0000"/>
            </a:solidFill>
            <a:miter lim="800000"/>
            <a:headEnd/>
            <a:tailEnd/>
          </a:ln>
        </p:spPr>
        <p:txBody>
          <a:bodyPr wrap="none" anchor="ctr"/>
          <a:lstStyle/>
          <a:p>
            <a:endParaRPr lang="en-US"/>
          </a:p>
        </p:txBody>
      </p:sp>
      <p:graphicFrame>
        <p:nvGraphicFramePr>
          <p:cNvPr id="7170" name="Object 5"/>
          <p:cNvGraphicFramePr>
            <a:graphicFrameLocks noChangeAspect="1"/>
          </p:cNvGraphicFramePr>
          <p:nvPr/>
        </p:nvGraphicFramePr>
        <p:xfrm>
          <a:off x="4876800" y="4419600"/>
          <a:ext cx="1295400" cy="600075"/>
        </p:xfrm>
        <a:graphic>
          <a:graphicData uri="http://schemas.openxmlformats.org/presentationml/2006/ole">
            <p:oleObj spid="_x0000_s533506" name="Equation" r:id="rId3" imgW="520560" imgH="241200" progId="">
              <p:embed/>
            </p:oleObj>
          </a:graphicData>
        </a:graphic>
      </p:graphicFrame>
      <p:graphicFrame>
        <p:nvGraphicFramePr>
          <p:cNvPr id="7171" name="Object 6"/>
          <p:cNvGraphicFramePr>
            <a:graphicFrameLocks noChangeAspect="1"/>
          </p:cNvGraphicFramePr>
          <p:nvPr/>
        </p:nvGraphicFramePr>
        <p:xfrm>
          <a:off x="3151188" y="4448175"/>
          <a:ext cx="1547812" cy="600075"/>
        </p:xfrm>
        <a:graphic>
          <a:graphicData uri="http://schemas.openxmlformats.org/presentationml/2006/ole">
            <p:oleObj spid="_x0000_s533507" name="Equation" r:id="rId4" imgW="622080" imgH="241200" progId="">
              <p:embed/>
            </p:oleObj>
          </a:graphicData>
        </a:graphic>
      </p:graphicFrame>
      <p:graphicFrame>
        <p:nvGraphicFramePr>
          <p:cNvPr id="7172" name="Object 7"/>
          <p:cNvGraphicFramePr>
            <a:graphicFrameLocks noChangeAspect="1"/>
          </p:cNvGraphicFramePr>
          <p:nvPr/>
        </p:nvGraphicFramePr>
        <p:xfrm>
          <a:off x="6248400" y="381000"/>
          <a:ext cx="1676400" cy="758825"/>
        </p:xfrm>
        <a:graphic>
          <a:graphicData uri="http://schemas.openxmlformats.org/presentationml/2006/ole">
            <p:oleObj spid="_x0000_s533508" name="Equation" r:id="rId5" imgW="533160" imgH="241200" progId="">
              <p:embed/>
            </p:oleObj>
          </a:graphicData>
        </a:graphic>
      </p:graphicFrame>
      <p:grpSp>
        <p:nvGrpSpPr>
          <p:cNvPr id="2" name="Group 8"/>
          <p:cNvGrpSpPr>
            <a:grpSpLocks/>
          </p:cNvGrpSpPr>
          <p:nvPr/>
        </p:nvGrpSpPr>
        <p:grpSpPr bwMode="auto">
          <a:xfrm>
            <a:off x="1905000" y="762000"/>
            <a:ext cx="4845050" cy="3146425"/>
            <a:chOff x="1200" y="480"/>
            <a:chExt cx="3052" cy="1982"/>
          </a:xfrm>
        </p:grpSpPr>
        <p:grpSp>
          <p:nvGrpSpPr>
            <p:cNvPr id="3" name="Group 9"/>
            <p:cNvGrpSpPr>
              <a:grpSpLocks/>
            </p:cNvGrpSpPr>
            <p:nvPr/>
          </p:nvGrpSpPr>
          <p:grpSpPr bwMode="auto">
            <a:xfrm>
              <a:off x="2112" y="1056"/>
              <a:ext cx="412" cy="254"/>
              <a:chOff x="3792" y="2112"/>
              <a:chExt cx="412" cy="254"/>
            </a:xfrm>
          </p:grpSpPr>
          <p:sp>
            <p:nvSpPr>
              <p:cNvPr id="7231" name="Oval 10"/>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232" name="Rectangle 11"/>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sp>
          <p:nvSpPr>
            <p:cNvPr id="7189" name="Line 12"/>
            <p:cNvSpPr>
              <a:spLocks noChangeShapeType="1"/>
            </p:cNvSpPr>
            <p:nvPr/>
          </p:nvSpPr>
          <p:spPr bwMode="auto">
            <a:xfrm>
              <a:off x="2064" y="1008"/>
              <a:ext cx="1680" cy="0"/>
            </a:xfrm>
            <a:prstGeom prst="line">
              <a:avLst/>
            </a:prstGeom>
            <a:noFill/>
            <a:ln w="19050">
              <a:solidFill>
                <a:schemeClr val="tx1"/>
              </a:solidFill>
              <a:round/>
              <a:headEnd/>
              <a:tailEnd/>
            </a:ln>
          </p:spPr>
          <p:txBody>
            <a:bodyPr/>
            <a:lstStyle/>
            <a:p>
              <a:endParaRPr lang="en-US"/>
            </a:p>
          </p:txBody>
        </p:sp>
        <p:sp>
          <p:nvSpPr>
            <p:cNvPr id="7190" name="Line 13"/>
            <p:cNvSpPr>
              <a:spLocks noChangeShapeType="1"/>
            </p:cNvSpPr>
            <p:nvPr/>
          </p:nvSpPr>
          <p:spPr bwMode="auto">
            <a:xfrm flipH="1">
              <a:off x="3360" y="1008"/>
              <a:ext cx="384" cy="1104"/>
            </a:xfrm>
            <a:prstGeom prst="line">
              <a:avLst/>
            </a:prstGeom>
            <a:noFill/>
            <a:ln w="19050">
              <a:solidFill>
                <a:schemeClr val="tx1"/>
              </a:solidFill>
              <a:round/>
              <a:headEnd/>
              <a:tailEnd/>
            </a:ln>
          </p:spPr>
          <p:txBody>
            <a:bodyPr/>
            <a:lstStyle/>
            <a:p>
              <a:endParaRPr lang="en-US"/>
            </a:p>
          </p:txBody>
        </p:sp>
        <p:sp>
          <p:nvSpPr>
            <p:cNvPr id="7191" name="Line 14"/>
            <p:cNvSpPr>
              <a:spLocks noChangeShapeType="1"/>
            </p:cNvSpPr>
            <p:nvPr/>
          </p:nvSpPr>
          <p:spPr bwMode="auto">
            <a:xfrm flipH="1">
              <a:off x="1632" y="1008"/>
              <a:ext cx="432" cy="1104"/>
            </a:xfrm>
            <a:prstGeom prst="line">
              <a:avLst/>
            </a:prstGeom>
            <a:noFill/>
            <a:ln w="19050">
              <a:solidFill>
                <a:schemeClr val="tx1"/>
              </a:solidFill>
              <a:round/>
              <a:headEnd/>
              <a:tailEnd/>
            </a:ln>
          </p:spPr>
          <p:txBody>
            <a:bodyPr/>
            <a:lstStyle/>
            <a:p>
              <a:endParaRPr lang="en-US"/>
            </a:p>
          </p:txBody>
        </p:sp>
        <p:sp>
          <p:nvSpPr>
            <p:cNvPr id="7192" name="Line 15"/>
            <p:cNvSpPr>
              <a:spLocks noChangeShapeType="1"/>
            </p:cNvSpPr>
            <p:nvPr/>
          </p:nvSpPr>
          <p:spPr bwMode="auto">
            <a:xfrm>
              <a:off x="1632" y="2112"/>
              <a:ext cx="1728" cy="0"/>
            </a:xfrm>
            <a:prstGeom prst="line">
              <a:avLst/>
            </a:prstGeom>
            <a:noFill/>
            <a:ln w="19050">
              <a:solidFill>
                <a:schemeClr val="tx1"/>
              </a:solidFill>
              <a:round/>
              <a:headEnd/>
              <a:tailEnd/>
            </a:ln>
          </p:spPr>
          <p:txBody>
            <a:bodyPr/>
            <a:lstStyle/>
            <a:p>
              <a:endParaRPr lang="en-US"/>
            </a:p>
          </p:txBody>
        </p:sp>
        <p:sp>
          <p:nvSpPr>
            <p:cNvPr id="7193" name="Line 16"/>
            <p:cNvSpPr>
              <a:spLocks noChangeShapeType="1"/>
            </p:cNvSpPr>
            <p:nvPr/>
          </p:nvSpPr>
          <p:spPr bwMode="auto">
            <a:xfrm flipH="1">
              <a:off x="2496" y="1008"/>
              <a:ext cx="384" cy="1104"/>
            </a:xfrm>
            <a:prstGeom prst="line">
              <a:avLst/>
            </a:prstGeom>
            <a:noFill/>
            <a:ln w="19050">
              <a:solidFill>
                <a:schemeClr val="tx1"/>
              </a:solidFill>
              <a:round/>
              <a:headEnd/>
              <a:tailEnd/>
            </a:ln>
          </p:spPr>
          <p:txBody>
            <a:bodyPr/>
            <a:lstStyle/>
            <a:p>
              <a:endParaRPr lang="en-US"/>
            </a:p>
          </p:txBody>
        </p:sp>
        <p:sp>
          <p:nvSpPr>
            <p:cNvPr id="7194" name="Line 17"/>
            <p:cNvSpPr>
              <a:spLocks noChangeShapeType="1"/>
            </p:cNvSpPr>
            <p:nvPr/>
          </p:nvSpPr>
          <p:spPr bwMode="auto">
            <a:xfrm>
              <a:off x="1848" y="1536"/>
              <a:ext cx="1704" cy="0"/>
            </a:xfrm>
            <a:prstGeom prst="line">
              <a:avLst/>
            </a:prstGeom>
            <a:noFill/>
            <a:ln w="19050">
              <a:solidFill>
                <a:schemeClr val="tx1"/>
              </a:solidFill>
              <a:round/>
              <a:headEnd/>
              <a:tailEnd/>
            </a:ln>
          </p:spPr>
          <p:txBody>
            <a:bodyPr/>
            <a:lstStyle/>
            <a:p>
              <a:endParaRPr lang="en-US"/>
            </a:p>
          </p:txBody>
        </p:sp>
        <p:grpSp>
          <p:nvGrpSpPr>
            <p:cNvPr id="4" name="Group 18"/>
            <p:cNvGrpSpPr>
              <a:grpSpLocks/>
            </p:cNvGrpSpPr>
            <p:nvPr/>
          </p:nvGrpSpPr>
          <p:grpSpPr bwMode="auto">
            <a:xfrm>
              <a:off x="3840" y="1056"/>
              <a:ext cx="412" cy="254"/>
              <a:chOff x="3792" y="2112"/>
              <a:chExt cx="412" cy="254"/>
            </a:xfrm>
          </p:grpSpPr>
          <p:sp>
            <p:nvSpPr>
              <p:cNvPr id="7229" name="Oval 19"/>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230" name="Rectangle 20"/>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sp>
          <p:nvSpPr>
            <p:cNvPr id="7196" name="Oval 21"/>
            <p:cNvSpPr>
              <a:spLocks noChangeArrowheads="1"/>
            </p:cNvSpPr>
            <p:nvPr/>
          </p:nvSpPr>
          <p:spPr bwMode="auto">
            <a:xfrm>
              <a:off x="1776" y="672"/>
              <a:ext cx="240" cy="254"/>
            </a:xfrm>
            <a:prstGeom prst="ellipse">
              <a:avLst/>
            </a:prstGeom>
            <a:noFill/>
            <a:ln w="12700">
              <a:solidFill>
                <a:srgbClr val="0000FF"/>
              </a:solidFill>
              <a:round/>
              <a:headEnd/>
              <a:tailEnd/>
            </a:ln>
          </p:spPr>
          <p:txBody>
            <a:bodyPr/>
            <a:lstStyle/>
            <a:p>
              <a:endParaRPr lang="en-US"/>
            </a:p>
          </p:txBody>
        </p:sp>
        <p:sp>
          <p:nvSpPr>
            <p:cNvPr id="7197" name="Rectangle 22"/>
            <p:cNvSpPr>
              <a:spLocks noChangeArrowheads="1"/>
            </p:cNvSpPr>
            <p:nvPr/>
          </p:nvSpPr>
          <p:spPr bwMode="auto">
            <a:xfrm>
              <a:off x="1824" y="480"/>
              <a:ext cx="196" cy="442"/>
            </a:xfrm>
            <a:prstGeom prst="rect">
              <a:avLst/>
            </a:prstGeom>
            <a:noFill/>
            <a:ln w="9525">
              <a:noFill/>
              <a:miter lim="800000"/>
              <a:headEnd/>
              <a:tailEnd/>
            </a:ln>
          </p:spPr>
          <p:txBody>
            <a:bodyPr wrap="none">
              <a:spAutoFit/>
            </a:bodyPr>
            <a:lstStyle/>
            <a:p>
              <a:pPr algn="l"/>
              <a:r>
                <a:rPr lang="en-US" sz="4000" b="1">
                  <a:solidFill>
                    <a:schemeClr val="accent2"/>
                  </a:solidFill>
                  <a:latin typeface="Times New Roman" pitchFamily="18" charset="0"/>
                </a:rPr>
                <a:t>,</a:t>
              </a:r>
            </a:p>
          </p:txBody>
        </p:sp>
        <p:sp>
          <p:nvSpPr>
            <p:cNvPr id="7198" name="Rectangle 23"/>
            <p:cNvSpPr>
              <a:spLocks noChangeArrowheads="1"/>
            </p:cNvSpPr>
            <p:nvPr/>
          </p:nvSpPr>
          <p:spPr bwMode="auto">
            <a:xfrm>
              <a:off x="1632" y="720"/>
              <a:ext cx="148" cy="173"/>
            </a:xfrm>
            <a:prstGeom prst="rect">
              <a:avLst/>
            </a:prstGeom>
            <a:noFill/>
            <a:ln w="9525">
              <a:noFill/>
              <a:miter lim="800000"/>
              <a:headEnd/>
              <a:tailEnd/>
            </a:ln>
          </p:spPr>
          <p:txBody>
            <a:bodyPr wrap="none">
              <a:spAutoFit/>
            </a:bodyPr>
            <a:lstStyle/>
            <a:p>
              <a:pPr algn="l"/>
              <a:r>
                <a:rPr lang="en-US" sz="1200" b="1">
                  <a:solidFill>
                    <a:schemeClr val="accent2"/>
                  </a:solidFill>
                </a:rPr>
                <a:t>-</a:t>
              </a:r>
            </a:p>
          </p:txBody>
        </p:sp>
        <p:grpSp>
          <p:nvGrpSpPr>
            <p:cNvPr id="5" name="Group 24"/>
            <p:cNvGrpSpPr>
              <a:grpSpLocks/>
            </p:cNvGrpSpPr>
            <p:nvPr/>
          </p:nvGrpSpPr>
          <p:grpSpPr bwMode="auto">
            <a:xfrm>
              <a:off x="3360" y="480"/>
              <a:ext cx="398" cy="446"/>
              <a:chOff x="3360" y="480"/>
              <a:chExt cx="398" cy="446"/>
            </a:xfrm>
          </p:grpSpPr>
          <p:sp>
            <p:nvSpPr>
              <p:cNvPr id="7225" name="Rectangle 25"/>
              <p:cNvSpPr>
                <a:spLocks noChangeArrowheads="1"/>
              </p:cNvSpPr>
              <p:nvPr/>
            </p:nvSpPr>
            <p:spPr bwMode="auto">
              <a:xfrm>
                <a:off x="3552" y="480"/>
                <a:ext cx="196" cy="442"/>
              </a:xfrm>
              <a:prstGeom prst="rect">
                <a:avLst/>
              </a:prstGeom>
              <a:noFill/>
              <a:ln w="9525">
                <a:noFill/>
                <a:miter lim="800000"/>
                <a:headEnd/>
                <a:tailEnd/>
              </a:ln>
            </p:spPr>
            <p:txBody>
              <a:bodyPr wrap="none">
                <a:spAutoFit/>
              </a:bodyPr>
              <a:lstStyle/>
              <a:p>
                <a:pPr algn="l"/>
                <a:r>
                  <a:rPr lang="en-US" sz="4000" b="1">
                    <a:latin typeface="Times New Roman" pitchFamily="18" charset="0"/>
                  </a:rPr>
                  <a:t>,</a:t>
                </a:r>
              </a:p>
            </p:txBody>
          </p:sp>
          <p:grpSp>
            <p:nvGrpSpPr>
              <p:cNvPr id="6" name="Group 26"/>
              <p:cNvGrpSpPr>
                <a:grpSpLocks/>
              </p:cNvGrpSpPr>
              <p:nvPr/>
            </p:nvGrpSpPr>
            <p:grpSpPr bwMode="auto">
              <a:xfrm>
                <a:off x="3360" y="672"/>
                <a:ext cx="398" cy="254"/>
                <a:chOff x="3360" y="672"/>
                <a:chExt cx="398" cy="254"/>
              </a:xfrm>
            </p:grpSpPr>
            <p:sp>
              <p:nvSpPr>
                <p:cNvPr id="7227" name="Oval 27"/>
                <p:cNvSpPr>
                  <a:spLocks noChangeArrowheads="1"/>
                </p:cNvSpPr>
                <p:nvPr/>
              </p:nvSpPr>
              <p:spPr bwMode="auto">
                <a:xfrm>
                  <a:off x="3504" y="672"/>
                  <a:ext cx="254" cy="254"/>
                </a:xfrm>
                <a:prstGeom prst="ellipse">
                  <a:avLst/>
                </a:prstGeom>
                <a:noFill/>
                <a:ln w="12700">
                  <a:solidFill>
                    <a:schemeClr val="tx1"/>
                  </a:solidFill>
                  <a:round/>
                  <a:headEnd/>
                  <a:tailEnd/>
                </a:ln>
              </p:spPr>
              <p:txBody>
                <a:bodyPr/>
                <a:lstStyle/>
                <a:p>
                  <a:endParaRPr lang="en-US"/>
                </a:p>
              </p:txBody>
            </p:sp>
            <p:sp>
              <p:nvSpPr>
                <p:cNvPr id="7228" name="Rectangle 28"/>
                <p:cNvSpPr>
                  <a:spLocks noChangeArrowheads="1"/>
                </p:cNvSpPr>
                <p:nvPr/>
              </p:nvSpPr>
              <p:spPr bwMode="auto">
                <a:xfrm>
                  <a:off x="3360" y="720"/>
                  <a:ext cx="148" cy="173"/>
                </a:xfrm>
                <a:prstGeom prst="rect">
                  <a:avLst/>
                </a:prstGeom>
                <a:noFill/>
                <a:ln w="9525">
                  <a:noFill/>
                  <a:miter lim="800000"/>
                  <a:headEnd/>
                  <a:tailEnd/>
                </a:ln>
              </p:spPr>
              <p:txBody>
                <a:bodyPr wrap="none">
                  <a:spAutoFit/>
                </a:bodyPr>
                <a:lstStyle/>
                <a:p>
                  <a:pPr algn="l"/>
                  <a:r>
                    <a:rPr lang="en-US" sz="1200" b="1"/>
                    <a:t>-</a:t>
                  </a:r>
                </a:p>
              </p:txBody>
            </p:sp>
          </p:grpSp>
        </p:grpSp>
        <p:grpSp>
          <p:nvGrpSpPr>
            <p:cNvPr id="7" name="Group 29"/>
            <p:cNvGrpSpPr>
              <a:grpSpLocks/>
            </p:cNvGrpSpPr>
            <p:nvPr/>
          </p:nvGrpSpPr>
          <p:grpSpPr bwMode="auto">
            <a:xfrm>
              <a:off x="1632" y="2208"/>
              <a:ext cx="412" cy="254"/>
              <a:chOff x="3792" y="2112"/>
              <a:chExt cx="412" cy="254"/>
            </a:xfrm>
          </p:grpSpPr>
          <p:sp>
            <p:nvSpPr>
              <p:cNvPr id="7223" name="Oval 30"/>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224" name="Rectangle 31"/>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8" name="Group 32"/>
            <p:cNvGrpSpPr>
              <a:grpSpLocks/>
            </p:cNvGrpSpPr>
            <p:nvPr/>
          </p:nvGrpSpPr>
          <p:grpSpPr bwMode="auto">
            <a:xfrm>
              <a:off x="3408" y="2208"/>
              <a:ext cx="412" cy="254"/>
              <a:chOff x="3792" y="2112"/>
              <a:chExt cx="412" cy="254"/>
            </a:xfrm>
          </p:grpSpPr>
          <p:sp>
            <p:nvSpPr>
              <p:cNvPr id="7221" name="Oval 33"/>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222" name="Rectangle 34"/>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sp>
          <p:nvSpPr>
            <p:cNvPr id="7202" name="Oval 35"/>
            <p:cNvSpPr>
              <a:spLocks noChangeAspect="1" noChangeArrowheads="1"/>
            </p:cNvSpPr>
            <p:nvPr/>
          </p:nvSpPr>
          <p:spPr bwMode="auto">
            <a:xfrm>
              <a:off x="2842" y="960"/>
              <a:ext cx="86" cy="86"/>
            </a:xfrm>
            <a:prstGeom prst="ellipse">
              <a:avLst/>
            </a:prstGeom>
            <a:solidFill>
              <a:schemeClr val="bg1"/>
            </a:solidFill>
            <a:ln w="9525">
              <a:solidFill>
                <a:srgbClr val="FF0000"/>
              </a:solidFill>
              <a:round/>
              <a:headEnd/>
              <a:tailEnd/>
            </a:ln>
          </p:spPr>
          <p:txBody>
            <a:bodyPr wrap="none" anchor="ctr"/>
            <a:lstStyle/>
            <a:p>
              <a:endParaRPr lang="en-US"/>
            </a:p>
          </p:txBody>
        </p:sp>
        <p:sp>
          <p:nvSpPr>
            <p:cNvPr id="7203" name="Oval 36"/>
            <p:cNvSpPr>
              <a:spLocks noChangeAspect="1" noChangeArrowheads="1"/>
            </p:cNvSpPr>
            <p:nvPr/>
          </p:nvSpPr>
          <p:spPr bwMode="auto">
            <a:xfrm>
              <a:off x="2016" y="960"/>
              <a:ext cx="86" cy="86"/>
            </a:xfrm>
            <a:prstGeom prst="ellipse">
              <a:avLst/>
            </a:prstGeom>
            <a:solidFill>
              <a:schemeClr val="bg1"/>
            </a:solidFill>
            <a:ln w="9525">
              <a:solidFill>
                <a:schemeClr val="tx1"/>
              </a:solidFill>
              <a:round/>
              <a:headEnd/>
              <a:tailEnd/>
            </a:ln>
          </p:spPr>
          <p:txBody>
            <a:bodyPr wrap="none" anchor="ctr"/>
            <a:lstStyle/>
            <a:p>
              <a:endParaRPr lang="en-US"/>
            </a:p>
          </p:txBody>
        </p:sp>
        <p:sp>
          <p:nvSpPr>
            <p:cNvPr id="7204" name="Oval 37"/>
            <p:cNvSpPr>
              <a:spLocks noChangeAspect="1" noChangeArrowheads="1"/>
            </p:cNvSpPr>
            <p:nvPr/>
          </p:nvSpPr>
          <p:spPr bwMode="auto">
            <a:xfrm>
              <a:off x="3696" y="960"/>
              <a:ext cx="86" cy="86"/>
            </a:xfrm>
            <a:prstGeom prst="ellipse">
              <a:avLst/>
            </a:prstGeom>
            <a:solidFill>
              <a:schemeClr val="bg1"/>
            </a:solidFill>
            <a:ln w="9525">
              <a:solidFill>
                <a:schemeClr val="tx1"/>
              </a:solidFill>
              <a:round/>
              <a:headEnd/>
              <a:tailEnd/>
            </a:ln>
          </p:spPr>
          <p:txBody>
            <a:bodyPr wrap="none" anchor="ctr"/>
            <a:lstStyle/>
            <a:p>
              <a:endParaRPr lang="en-US"/>
            </a:p>
          </p:txBody>
        </p:sp>
        <p:sp>
          <p:nvSpPr>
            <p:cNvPr id="7205" name="Oval 38"/>
            <p:cNvSpPr>
              <a:spLocks noChangeAspect="1" noChangeArrowheads="1"/>
            </p:cNvSpPr>
            <p:nvPr/>
          </p:nvSpPr>
          <p:spPr bwMode="auto">
            <a:xfrm>
              <a:off x="3504" y="1488"/>
              <a:ext cx="86" cy="86"/>
            </a:xfrm>
            <a:prstGeom prst="ellipse">
              <a:avLst/>
            </a:prstGeom>
            <a:solidFill>
              <a:schemeClr val="bg1"/>
            </a:solidFill>
            <a:ln w="9525">
              <a:solidFill>
                <a:srgbClr val="FF0000"/>
              </a:solidFill>
              <a:round/>
              <a:headEnd/>
              <a:tailEnd/>
            </a:ln>
          </p:spPr>
          <p:txBody>
            <a:bodyPr wrap="none" anchor="ctr"/>
            <a:lstStyle/>
            <a:p>
              <a:endParaRPr lang="en-US"/>
            </a:p>
          </p:txBody>
        </p:sp>
        <p:sp>
          <p:nvSpPr>
            <p:cNvPr id="7206" name="Oval 39"/>
            <p:cNvSpPr>
              <a:spLocks noChangeAspect="1" noChangeArrowheads="1"/>
            </p:cNvSpPr>
            <p:nvPr/>
          </p:nvSpPr>
          <p:spPr bwMode="auto">
            <a:xfrm>
              <a:off x="2640" y="1488"/>
              <a:ext cx="96" cy="96"/>
            </a:xfrm>
            <a:prstGeom prst="ellipse">
              <a:avLst/>
            </a:prstGeom>
            <a:solidFill>
              <a:schemeClr val="bg1"/>
            </a:solidFill>
            <a:ln w="9525">
              <a:solidFill>
                <a:srgbClr val="FF0000"/>
              </a:solidFill>
              <a:round/>
              <a:headEnd/>
              <a:tailEnd/>
            </a:ln>
          </p:spPr>
          <p:txBody>
            <a:bodyPr wrap="none" anchor="ctr"/>
            <a:lstStyle/>
            <a:p>
              <a:endParaRPr lang="en-US"/>
            </a:p>
          </p:txBody>
        </p:sp>
        <p:sp>
          <p:nvSpPr>
            <p:cNvPr id="7207" name="Oval 40"/>
            <p:cNvSpPr>
              <a:spLocks noChangeAspect="1" noChangeArrowheads="1"/>
            </p:cNvSpPr>
            <p:nvPr/>
          </p:nvSpPr>
          <p:spPr bwMode="auto">
            <a:xfrm>
              <a:off x="1824" y="1488"/>
              <a:ext cx="86" cy="86"/>
            </a:xfrm>
            <a:prstGeom prst="ellipse">
              <a:avLst/>
            </a:prstGeom>
            <a:solidFill>
              <a:schemeClr val="bg1"/>
            </a:solidFill>
            <a:ln w="9525">
              <a:solidFill>
                <a:srgbClr val="FF0000"/>
              </a:solidFill>
              <a:round/>
              <a:headEnd/>
              <a:tailEnd/>
            </a:ln>
          </p:spPr>
          <p:txBody>
            <a:bodyPr wrap="none" anchor="ctr"/>
            <a:lstStyle/>
            <a:p>
              <a:endParaRPr lang="en-US"/>
            </a:p>
          </p:txBody>
        </p:sp>
        <p:sp>
          <p:nvSpPr>
            <p:cNvPr id="7208" name="Oval 41"/>
            <p:cNvSpPr>
              <a:spLocks noChangeAspect="1" noChangeArrowheads="1"/>
            </p:cNvSpPr>
            <p:nvPr/>
          </p:nvSpPr>
          <p:spPr bwMode="auto">
            <a:xfrm>
              <a:off x="1584" y="2069"/>
              <a:ext cx="86" cy="86"/>
            </a:xfrm>
            <a:prstGeom prst="ellipse">
              <a:avLst/>
            </a:prstGeom>
            <a:solidFill>
              <a:schemeClr val="bg1"/>
            </a:solidFill>
            <a:ln w="9525">
              <a:solidFill>
                <a:schemeClr val="tx1"/>
              </a:solidFill>
              <a:round/>
              <a:headEnd/>
              <a:tailEnd/>
            </a:ln>
          </p:spPr>
          <p:txBody>
            <a:bodyPr wrap="none" anchor="ctr"/>
            <a:lstStyle/>
            <a:p>
              <a:endParaRPr lang="en-US"/>
            </a:p>
          </p:txBody>
        </p:sp>
        <p:sp>
          <p:nvSpPr>
            <p:cNvPr id="7209" name="Oval 42"/>
            <p:cNvSpPr>
              <a:spLocks noChangeAspect="1" noChangeArrowheads="1"/>
            </p:cNvSpPr>
            <p:nvPr/>
          </p:nvSpPr>
          <p:spPr bwMode="auto">
            <a:xfrm>
              <a:off x="2448" y="2069"/>
              <a:ext cx="86" cy="86"/>
            </a:xfrm>
            <a:prstGeom prst="ellipse">
              <a:avLst/>
            </a:prstGeom>
            <a:solidFill>
              <a:schemeClr val="bg1"/>
            </a:solidFill>
            <a:ln w="9525">
              <a:solidFill>
                <a:srgbClr val="FF0000"/>
              </a:solidFill>
              <a:round/>
              <a:headEnd/>
              <a:tailEnd/>
            </a:ln>
          </p:spPr>
          <p:txBody>
            <a:bodyPr wrap="none" anchor="ctr"/>
            <a:lstStyle/>
            <a:p>
              <a:endParaRPr lang="en-US"/>
            </a:p>
          </p:txBody>
        </p:sp>
        <p:sp>
          <p:nvSpPr>
            <p:cNvPr id="7210" name="Oval 43"/>
            <p:cNvSpPr>
              <a:spLocks noChangeAspect="1" noChangeArrowheads="1"/>
            </p:cNvSpPr>
            <p:nvPr/>
          </p:nvSpPr>
          <p:spPr bwMode="auto">
            <a:xfrm>
              <a:off x="3312" y="2069"/>
              <a:ext cx="86" cy="86"/>
            </a:xfrm>
            <a:prstGeom prst="ellipse">
              <a:avLst/>
            </a:prstGeom>
            <a:solidFill>
              <a:schemeClr val="bg1"/>
            </a:solidFill>
            <a:ln w="9525">
              <a:solidFill>
                <a:schemeClr val="tx1"/>
              </a:solidFill>
              <a:round/>
              <a:headEnd/>
              <a:tailEnd/>
            </a:ln>
          </p:spPr>
          <p:txBody>
            <a:bodyPr wrap="none" anchor="ctr"/>
            <a:lstStyle/>
            <a:p>
              <a:endParaRPr lang="en-US"/>
            </a:p>
          </p:txBody>
        </p:sp>
        <p:grpSp>
          <p:nvGrpSpPr>
            <p:cNvPr id="9" name="Group 44"/>
            <p:cNvGrpSpPr>
              <a:grpSpLocks/>
            </p:cNvGrpSpPr>
            <p:nvPr/>
          </p:nvGrpSpPr>
          <p:grpSpPr bwMode="auto">
            <a:xfrm>
              <a:off x="2928" y="1584"/>
              <a:ext cx="398" cy="446"/>
              <a:chOff x="3360" y="480"/>
              <a:chExt cx="398" cy="446"/>
            </a:xfrm>
          </p:grpSpPr>
          <p:sp>
            <p:nvSpPr>
              <p:cNvPr id="7217" name="Rectangle 45"/>
              <p:cNvSpPr>
                <a:spLocks noChangeArrowheads="1"/>
              </p:cNvSpPr>
              <p:nvPr/>
            </p:nvSpPr>
            <p:spPr bwMode="auto">
              <a:xfrm>
                <a:off x="3552" y="480"/>
                <a:ext cx="196" cy="442"/>
              </a:xfrm>
              <a:prstGeom prst="rect">
                <a:avLst/>
              </a:prstGeom>
              <a:noFill/>
              <a:ln w="9525">
                <a:noFill/>
                <a:miter lim="800000"/>
                <a:headEnd/>
                <a:tailEnd/>
              </a:ln>
            </p:spPr>
            <p:txBody>
              <a:bodyPr wrap="none">
                <a:spAutoFit/>
              </a:bodyPr>
              <a:lstStyle/>
              <a:p>
                <a:pPr algn="l"/>
                <a:r>
                  <a:rPr lang="en-US" sz="4000" b="1">
                    <a:latin typeface="Times New Roman" pitchFamily="18" charset="0"/>
                  </a:rPr>
                  <a:t>,</a:t>
                </a:r>
              </a:p>
            </p:txBody>
          </p:sp>
          <p:grpSp>
            <p:nvGrpSpPr>
              <p:cNvPr id="10" name="Group 46"/>
              <p:cNvGrpSpPr>
                <a:grpSpLocks/>
              </p:cNvGrpSpPr>
              <p:nvPr/>
            </p:nvGrpSpPr>
            <p:grpSpPr bwMode="auto">
              <a:xfrm>
                <a:off x="3360" y="672"/>
                <a:ext cx="398" cy="254"/>
                <a:chOff x="3360" y="672"/>
                <a:chExt cx="398" cy="254"/>
              </a:xfrm>
            </p:grpSpPr>
            <p:sp>
              <p:nvSpPr>
                <p:cNvPr id="7219" name="Oval 47"/>
                <p:cNvSpPr>
                  <a:spLocks noChangeArrowheads="1"/>
                </p:cNvSpPr>
                <p:nvPr/>
              </p:nvSpPr>
              <p:spPr bwMode="auto">
                <a:xfrm>
                  <a:off x="3504" y="672"/>
                  <a:ext cx="254" cy="254"/>
                </a:xfrm>
                <a:prstGeom prst="ellipse">
                  <a:avLst/>
                </a:prstGeom>
                <a:noFill/>
                <a:ln w="12700">
                  <a:solidFill>
                    <a:schemeClr val="tx1"/>
                  </a:solidFill>
                  <a:round/>
                  <a:headEnd/>
                  <a:tailEnd/>
                </a:ln>
              </p:spPr>
              <p:txBody>
                <a:bodyPr/>
                <a:lstStyle/>
                <a:p>
                  <a:endParaRPr lang="en-US"/>
                </a:p>
              </p:txBody>
            </p:sp>
            <p:sp>
              <p:nvSpPr>
                <p:cNvPr id="7220" name="Rectangle 48"/>
                <p:cNvSpPr>
                  <a:spLocks noChangeArrowheads="1"/>
                </p:cNvSpPr>
                <p:nvPr/>
              </p:nvSpPr>
              <p:spPr bwMode="auto">
                <a:xfrm>
                  <a:off x="3360" y="720"/>
                  <a:ext cx="148" cy="173"/>
                </a:xfrm>
                <a:prstGeom prst="rect">
                  <a:avLst/>
                </a:prstGeom>
                <a:noFill/>
                <a:ln w="9525">
                  <a:noFill/>
                  <a:miter lim="800000"/>
                  <a:headEnd/>
                  <a:tailEnd/>
                </a:ln>
              </p:spPr>
              <p:txBody>
                <a:bodyPr wrap="none">
                  <a:spAutoFit/>
                </a:bodyPr>
                <a:lstStyle/>
                <a:p>
                  <a:pPr algn="l"/>
                  <a:r>
                    <a:rPr lang="en-US" sz="1200" b="1"/>
                    <a:t>-</a:t>
                  </a:r>
                </a:p>
              </p:txBody>
            </p:sp>
          </p:grpSp>
        </p:grpSp>
        <p:grpSp>
          <p:nvGrpSpPr>
            <p:cNvPr id="11" name="Group 49"/>
            <p:cNvGrpSpPr>
              <a:grpSpLocks/>
            </p:cNvGrpSpPr>
            <p:nvPr/>
          </p:nvGrpSpPr>
          <p:grpSpPr bwMode="auto">
            <a:xfrm>
              <a:off x="1200" y="1584"/>
              <a:ext cx="398" cy="446"/>
              <a:chOff x="3360" y="480"/>
              <a:chExt cx="398" cy="446"/>
            </a:xfrm>
          </p:grpSpPr>
          <p:sp>
            <p:nvSpPr>
              <p:cNvPr id="7213" name="Rectangle 50"/>
              <p:cNvSpPr>
                <a:spLocks noChangeArrowheads="1"/>
              </p:cNvSpPr>
              <p:nvPr/>
            </p:nvSpPr>
            <p:spPr bwMode="auto">
              <a:xfrm>
                <a:off x="3552" y="480"/>
                <a:ext cx="196" cy="442"/>
              </a:xfrm>
              <a:prstGeom prst="rect">
                <a:avLst/>
              </a:prstGeom>
              <a:noFill/>
              <a:ln w="9525">
                <a:noFill/>
                <a:miter lim="800000"/>
                <a:headEnd/>
                <a:tailEnd/>
              </a:ln>
            </p:spPr>
            <p:txBody>
              <a:bodyPr wrap="none">
                <a:spAutoFit/>
              </a:bodyPr>
              <a:lstStyle/>
              <a:p>
                <a:pPr algn="l"/>
                <a:r>
                  <a:rPr lang="en-US" sz="4000" b="1">
                    <a:latin typeface="Times New Roman" pitchFamily="18" charset="0"/>
                  </a:rPr>
                  <a:t>,</a:t>
                </a:r>
              </a:p>
            </p:txBody>
          </p:sp>
          <p:grpSp>
            <p:nvGrpSpPr>
              <p:cNvPr id="12" name="Group 51"/>
              <p:cNvGrpSpPr>
                <a:grpSpLocks/>
              </p:cNvGrpSpPr>
              <p:nvPr/>
            </p:nvGrpSpPr>
            <p:grpSpPr bwMode="auto">
              <a:xfrm>
                <a:off x="3360" y="672"/>
                <a:ext cx="398" cy="254"/>
                <a:chOff x="3360" y="672"/>
                <a:chExt cx="398" cy="254"/>
              </a:xfrm>
            </p:grpSpPr>
            <p:sp>
              <p:nvSpPr>
                <p:cNvPr id="7215" name="Oval 52"/>
                <p:cNvSpPr>
                  <a:spLocks noChangeArrowheads="1"/>
                </p:cNvSpPr>
                <p:nvPr/>
              </p:nvSpPr>
              <p:spPr bwMode="auto">
                <a:xfrm>
                  <a:off x="3504" y="672"/>
                  <a:ext cx="254" cy="254"/>
                </a:xfrm>
                <a:prstGeom prst="ellipse">
                  <a:avLst/>
                </a:prstGeom>
                <a:noFill/>
                <a:ln w="12700">
                  <a:solidFill>
                    <a:schemeClr val="tx1"/>
                  </a:solidFill>
                  <a:round/>
                  <a:headEnd/>
                  <a:tailEnd/>
                </a:ln>
              </p:spPr>
              <p:txBody>
                <a:bodyPr/>
                <a:lstStyle/>
                <a:p>
                  <a:endParaRPr lang="en-US"/>
                </a:p>
              </p:txBody>
            </p:sp>
            <p:sp>
              <p:nvSpPr>
                <p:cNvPr id="7216" name="Rectangle 53"/>
                <p:cNvSpPr>
                  <a:spLocks noChangeArrowheads="1"/>
                </p:cNvSpPr>
                <p:nvPr/>
              </p:nvSpPr>
              <p:spPr bwMode="auto">
                <a:xfrm>
                  <a:off x="3360" y="720"/>
                  <a:ext cx="148" cy="173"/>
                </a:xfrm>
                <a:prstGeom prst="rect">
                  <a:avLst/>
                </a:prstGeom>
                <a:noFill/>
                <a:ln w="9525">
                  <a:noFill/>
                  <a:miter lim="800000"/>
                  <a:headEnd/>
                  <a:tailEnd/>
                </a:ln>
              </p:spPr>
              <p:txBody>
                <a:bodyPr wrap="none">
                  <a:spAutoFit/>
                </a:bodyPr>
                <a:lstStyle/>
                <a:p>
                  <a:pPr algn="l"/>
                  <a:r>
                    <a:rPr lang="en-US" sz="1200" b="1"/>
                    <a:t>-</a:t>
                  </a:r>
                </a:p>
              </p:txBody>
            </p:sp>
          </p:grpSp>
        </p:grpSp>
      </p:grpSp>
      <p:sp>
        <p:nvSpPr>
          <p:cNvPr id="7177" name="Rectangle 54"/>
          <p:cNvSpPr>
            <a:spLocks noChangeArrowheads="1"/>
          </p:cNvSpPr>
          <p:nvPr/>
        </p:nvSpPr>
        <p:spPr bwMode="auto">
          <a:xfrm>
            <a:off x="304800" y="5334000"/>
            <a:ext cx="8521700" cy="457200"/>
          </a:xfrm>
          <a:prstGeom prst="rect">
            <a:avLst/>
          </a:prstGeom>
          <a:noFill/>
          <a:ln w="9525">
            <a:noFill/>
            <a:miter lim="800000"/>
            <a:headEnd/>
            <a:tailEnd/>
          </a:ln>
        </p:spPr>
        <p:txBody>
          <a:bodyPr wrap="none">
            <a:spAutoFit/>
          </a:bodyPr>
          <a:lstStyle/>
          <a:p>
            <a:pPr algn="l"/>
            <a:r>
              <a:rPr lang="en-US"/>
              <a:t>Is this space group centrosymmetric or non-centrosymmetric?</a:t>
            </a:r>
          </a:p>
        </p:txBody>
      </p:sp>
      <p:sp>
        <p:nvSpPr>
          <p:cNvPr id="21559" name="Rectangle 55"/>
          <p:cNvSpPr>
            <a:spLocks noChangeArrowheads="1"/>
          </p:cNvSpPr>
          <p:nvPr/>
        </p:nvSpPr>
        <p:spPr bwMode="auto">
          <a:xfrm>
            <a:off x="2895600" y="5943600"/>
            <a:ext cx="2271713" cy="396875"/>
          </a:xfrm>
          <a:prstGeom prst="rect">
            <a:avLst/>
          </a:prstGeom>
          <a:noFill/>
          <a:ln w="9525">
            <a:noFill/>
            <a:miter lim="800000"/>
            <a:headEnd/>
            <a:tailEnd/>
          </a:ln>
        </p:spPr>
        <p:txBody>
          <a:bodyPr wrap="none">
            <a:spAutoFit/>
          </a:bodyPr>
          <a:lstStyle/>
          <a:p>
            <a:pPr algn="l"/>
            <a:r>
              <a:rPr lang="en-US" sz="2000" b="1"/>
              <a:t>Centrosymmetric</a:t>
            </a:r>
          </a:p>
        </p:txBody>
      </p:sp>
      <p:grpSp>
        <p:nvGrpSpPr>
          <p:cNvPr id="13" name="Group 56"/>
          <p:cNvGrpSpPr>
            <a:grpSpLocks/>
          </p:cNvGrpSpPr>
          <p:nvPr/>
        </p:nvGrpSpPr>
        <p:grpSpPr bwMode="auto">
          <a:xfrm>
            <a:off x="1371600" y="508000"/>
            <a:ext cx="1374775" cy="1016000"/>
            <a:chOff x="1248" y="356"/>
            <a:chExt cx="866" cy="640"/>
          </a:xfrm>
        </p:grpSpPr>
        <p:grpSp>
          <p:nvGrpSpPr>
            <p:cNvPr id="14" name="Group 57"/>
            <p:cNvGrpSpPr>
              <a:grpSpLocks/>
            </p:cNvGrpSpPr>
            <p:nvPr/>
          </p:nvGrpSpPr>
          <p:grpSpPr bwMode="auto">
            <a:xfrm>
              <a:off x="1360" y="460"/>
              <a:ext cx="172" cy="300"/>
              <a:chOff x="1264" y="364"/>
              <a:chExt cx="172" cy="300"/>
            </a:xfrm>
          </p:grpSpPr>
          <p:sp>
            <p:nvSpPr>
              <p:cNvPr id="7186" name="Freeform 58"/>
              <p:cNvSpPr>
                <a:spLocks/>
              </p:cNvSpPr>
              <p:nvPr/>
            </p:nvSpPr>
            <p:spPr bwMode="auto">
              <a:xfrm>
                <a:off x="1285" y="364"/>
                <a:ext cx="151" cy="253"/>
              </a:xfrm>
              <a:custGeom>
                <a:avLst/>
                <a:gdLst>
                  <a:gd name="T0" fmla="*/ 151 w 151"/>
                  <a:gd name="T1" fmla="*/ 4 h 253"/>
                  <a:gd name="T2" fmla="*/ 146 w 151"/>
                  <a:gd name="T3" fmla="*/ 0 h 253"/>
                  <a:gd name="T4" fmla="*/ 0 w 151"/>
                  <a:gd name="T5" fmla="*/ 249 h 253"/>
                  <a:gd name="T6" fmla="*/ 4 w 151"/>
                  <a:gd name="T7" fmla="*/ 253 h 253"/>
                  <a:gd name="T8" fmla="*/ 151 w 151"/>
                  <a:gd name="T9" fmla="*/ 4 h 253"/>
                  <a:gd name="T10" fmla="*/ 0 60000 65536"/>
                  <a:gd name="T11" fmla="*/ 0 60000 65536"/>
                  <a:gd name="T12" fmla="*/ 0 60000 65536"/>
                  <a:gd name="T13" fmla="*/ 0 60000 65536"/>
                  <a:gd name="T14" fmla="*/ 0 60000 65536"/>
                  <a:gd name="T15" fmla="*/ 0 w 151"/>
                  <a:gd name="T16" fmla="*/ 0 h 253"/>
                  <a:gd name="T17" fmla="*/ 151 w 151"/>
                  <a:gd name="T18" fmla="*/ 253 h 253"/>
                </a:gdLst>
                <a:ahLst/>
                <a:cxnLst>
                  <a:cxn ang="T10">
                    <a:pos x="T0" y="T1"/>
                  </a:cxn>
                  <a:cxn ang="T11">
                    <a:pos x="T2" y="T3"/>
                  </a:cxn>
                  <a:cxn ang="T12">
                    <a:pos x="T4" y="T5"/>
                  </a:cxn>
                  <a:cxn ang="T13">
                    <a:pos x="T6" y="T7"/>
                  </a:cxn>
                  <a:cxn ang="T14">
                    <a:pos x="T8" y="T9"/>
                  </a:cxn>
                </a:cxnLst>
                <a:rect l="T15" t="T16" r="T17" b="T18"/>
                <a:pathLst>
                  <a:path w="151" h="253">
                    <a:moveTo>
                      <a:pt x="151" y="4"/>
                    </a:moveTo>
                    <a:lnTo>
                      <a:pt x="146" y="0"/>
                    </a:lnTo>
                    <a:lnTo>
                      <a:pt x="0" y="249"/>
                    </a:lnTo>
                    <a:lnTo>
                      <a:pt x="4" y="253"/>
                    </a:lnTo>
                    <a:lnTo>
                      <a:pt x="151" y="4"/>
                    </a:lnTo>
                    <a:close/>
                  </a:path>
                </a:pathLst>
              </a:custGeom>
              <a:solidFill>
                <a:srgbClr val="000000"/>
              </a:solidFill>
              <a:ln w="9525">
                <a:noFill/>
                <a:round/>
                <a:headEnd/>
                <a:tailEnd/>
              </a:ln>
            </p:spPr>
            <p:txBody>
              <a:bodyPr/>
              <a:lstStyle/>
              <a:p>
                <a:endParaRPr lang="en-US"/>
              </a:p>
            </p:txBody>
          </p:sp>
          <p:sp>
            <p:nvSpPr>
              <p:cNvPr id="7187" name="Freeform 59"/>
              <p:cNvSpPr>
                <a:spLocks/>
              </p:cNvSpPr>
              <p:nvPr/>
            </p:nvSpPr>
            <p:spPr bwMode="auto">
              <a:xfrm>
                <a:off x="1264" y="587"/>
                <a:ext cx="64" cy="77"/>
              </a:xfrm>
              <a:custGeom>
                <a:avLst/>
                <a:gdLst>
                  <a:gd name="T0" fmla="*/ 4 w 64"/>
                  <a:gd name="T1" fmla="*/ 0 h 77"/>
                  <a:gd name="T2" fmla="*/ 0 w 64"/>
                  <a:gd name="T3" fmla="*/ 77 h 77"/>
                  <a:gd name="T4" fmla="*/ 64 w 64"/>
                  <a:gd name="T5" fmla="*/ 34 h 77"/>
                  <a:gd name="T6" fmla="*/ 4 w 64"/>
                  <a:gd name="T7" fmla="*/ 0 h 77"/>
                  <a:gd name="T8" fmla="*/ 0 60000 65536"/>
                  <a:gd name="T9" fmla="*/ 0 60000 65536"/>
                  <a:gd name="T10" fmla="*/ 0 60000 65536"/>
                  <a:gd name="T11" fmla="*/ 0 60000 65536"/>
                  <a:gd name="T12" fmla="*/ 0 w 64"/>
                  <a:gd name="T13" fmla="*/ 0 h 77"/>
                  <a:gd name="T14" fmla="*/ 64 w 64"/>
                  <a:gd name="T15" fmla="*/ 77 h 77"/>
                </a:gdLst>
                <a:ahLst/>
                <a:cxnLst>
                  <a:cxn ang="T8">
                    <a:pos x="T0" y="T1"/>
                  </a:cxn>
                  <a:cxn ang="T9">
                    <a:pos x="T2" y="T3"/>
                  </a:cxn>
                  <a:cxn ang="T10">
                    <a:pos x="T4" y="T5"/>
                  </a:cxn>
                  <a:cxn ang="T11">
                    <a:pos x="T6" y="T7"/>
                  </a:cxn>
                </a:cxnLst>
                <a:rect l="T12" t="T13" r="T14" b="T15"/>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5" name="Group 60"/>
            <p:cNvGrpSpPr>
              <a:grpSpLocks/>
            </p:cNvGrpSpPr>
            <p:nvPr/>
          </p:nvGrpSpPr>
          <p:grpSpPr bwMode="auto">
            <a:xfrm>
              <a:off x="1527" y="425"/>
              <a:ext cx="434" cy="73"/>
              <a:chOff x="1431" y="329"/>
              <a:chExt cx="434" cy="73"/>
            </a:xfrm>
          </p:grpSpPr>
          <p:sp>
            <p:nvSpPr>
              <p:cNvPr id="7184" name="Rectangle 61"/>
              <p:cNvSpPr>
                <a:spLocks noChangeArrowheads="1"/>
              </p:cNvSpPr>
              <p:nvPr/>
            </p:nvSpPr>
            <p:spPr bwMode="auto">
              <a:xfrm>
                <a:off x="1431" y="359"/>
                <a:ext cx="370" cy="9"/>
              </a:xfrm>
              <a:prstGeom prst="rect">
                <a:avLst/>
              </a:prstGeom>
              <a:solidFill>
                <a:srgbClr val="000000"/>
              </a:solidFill>
              <a:ln w="9525">
                <a:noFill/>
                <a:miter lim="800000"/>
                <a:headEnd/>
                <a:tailEnd/>
              </a:ln>
            </p:spPr>
            <p:txBody>
              <a:bodyPr/>
              <a:lstStyle/>
              <a:p>
                <a:endParaRPr lang="en-US"/>
              </a:p>
            </p:txBody>
          </p:sp>
          <p:sp>
            <p:nvSpPr>
              <p:cNvPr id="7185" name="Freeform 62"/>
              <p:cNvSpPr>
                <a:spLocks/>
              </p:cNvSpPr>
              <p:nvPr/>
            </p:nvSpPr>
            <p:spPr bwMode="auto">
              <a:xfrm>
                <a:off x="1792" y="329"/>
                <a:ext cx="73" cy="73"/>
              </a:xfrm>
              <a:custGeom>
                <a:avLst/>
                <a:gdLst>
                  <a:gd name="T0" fmla="*/ 0 w 73"/>
                  <a:gd name="T1" fmla="*/ 73 h 73"/>
                  <a:gd name="T2" fmla="*/ 73 w 73"/>
                  <a:gd name="T3" fmla="*/ 35 h 73"/>
                  <a:gd name="T4" fmla="*/ 0 w 73"/>
                  <a:gd name="T5" fmla="*/ 0 h 73"/>
                  <a:gd name="T6" fmla="*/ 0 w 73"/>
                  <a:gd name="T7" fmla="*/ 73 h 73"/>
                  <a:gd name="T8" fmla="*/ 0 60000 65536"/>
                  <a:gd name="T9" fmla="*/ 0 60000 65536"/>
                  <a:gd name="T10" fmla="*/ 0 60000 65536"/>
                  <a:gd name="T11" fmla="*/ 0 60000 65536"/>
                  <a:gd name="T12" fmla="*/ 0 w 73"/>
                  <a:gd name="T13" fmla="*/ 0 h 73"/>
                  <a:gd name="T14" fmla="*/ 73 w 73"/>
                  <a:gd name="T15" fmla="*/ 73 h 73"/>
                </a:gdLst>
                <a:ahLst/>
                <a:cxnLst>
                  <a:cxn ang="T8">
                    <a:pos x="T0" y="T1"/>
                  </a:cxn>
                  <a:cxn ang="T9">
                    <a:pos x="T2" y="T3"/>
                  </a:cxn>
                  <a:cxn ang="T10">
                    <a:pos x="T4" y="T5"/>
                  </a:cxn>
                  <a:cxn ang="T11">
                    <a:pos x="T6" y="T7"/>
                  </a:cxn>
                </a:cxnLst>
                <a:rect l="T12" t="T13" r="T14" b="T15"/>
                <a:pathLst>
                  <a:path w="73" h="73">
                    <a:moveTo>
                      <a:pt x="0" y="73"/>
                    </a:moveTo>
                    <a:lnTo>
                      <a:pt x="73" y="35"/>
                    </a:lnTo>
                    <a:lnTo>
                      <a:pt x="0" y="0"/>
                    </a:lnTo>
                    <a:lnTo>
                      <a:pt x="0" y="73"/>
                    </a:lnTo>
                    <a:close/>
                  </a:path>
                </a:pathLst>
              </a:custGeom>
              <a:solidFill>
                <a:srgbClr val="000000"/>
              </a:solidFill>
              <a:ln w="9525">
                <a:noFill/>
                <a:round/>
                <a:headEnd/>
                <a:tailEnd/>
              </a:ln>
            </p:spPr>
            <p:txBody>
              <a:bodyPr/>
              <a:lstStyle/>
              <a:p>
                <a:endParaRPr lang="en-US"/>
              </a:p>
            </p:txBody>
          </p:sp>
        </p:grpSp>
        <p:sp>
          <p:nvSpPr>
            <p:cNvPr id="7182" name="Rectangle 63"/>
            <p:cNvSpPr>
              <a:spLocks noChangeArrowheads="1"/>
            </p:cNvSpPr>
            <p:nvPr/>
          </p:nvSpPr>
          <p:spPr bwMode="auto">
            <a:xfrm>
              <a:off x="2016" y="356"/>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rPr>
                <a:t>a</a:t>
              </a:r>
              <a:endParaRPr lang="en-US" i="1"/>
            </a:p>
          </p:txBody>
        </p:sp>
        <p:sp>
          <p:nvSpPr>
            <p:cNvPr id="7183" name="Rectangle 64"/>
            <p:cNvSpPr>
              <a:spLocks noChangeArrowheads="1"/>
            </p:cNvSpPr>
            <p:nvPr/>
          </p:nvSpPr>
          <p:spPr bwMode="auto">
            <a:xfrm>
              <a:off x="1248" y="785"/>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rPr>
                <a:t>c</a:t>
              </a:r>
              <a:endParaRPr lang="en-US" i="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5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59"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3"/>
          <p:cNvSpPr>
            <a:spLocks noGrp="1"/>
          </p:cNvSpPr>
          <p:nvPr>
            <p:ph type="sldNum" sz="quarter" idx="12"/>
          </p:nvPr>
        </p:nvSpPr>
        <p:spPr/>
        <p:txBody>
          <a:bodyPr/>
          <a:lstStyle/>
          <a:p>
            <a:pPr>
              <a:defRPr/>
            </a:pPr>
            <a:fld id="{58E2362E-C086-47A8-B99B-838C4E2B2EA5}" type="slidenum">
              <a:rPr lang="en-US"/>
              <a:pPr>
                <a:defRPr/>
              </a:pPr>
              <a:t>82</a:t>
            </a:fld>
            <a:endParaRPr lang="en-US"/>
          </a:p>
        </p:txBody>
      </p:sp>
      <p:grpSp>
        <p:nvGrpSpPr>
          <p:cNvPr id="2" name="Group 3"/>
          <p:cNvGrpSpPr>
            <a:grpSpLocks/>
          </p:cNvGrpSpPr>
          <p:nvPr/>
        </p:nvGrpSpPr>
        <p:grpSpPr bwMode="auto">
          <a:xfrm>
            <a:off x="914400" y="1447800"/>
            <a:ext cx="1143000" cy="1905000"/>
            <a:chOff x="576" y="912"/>
            <a:chExt cx="720" cy="1200"/>
          </a:xfrm>
        </p:grpSpPr>
        <p:graphicFrame>
          <p:nvGraphicFramePr>
            <p:cNvPr id="8195" name="Object 4"/>
            <p:cNvGraphicFramePr>
              <a:graphicFrameLocks noChangeAspect="1"/>
            </p:cNvGraphicFramePr>
            <p:nvPr/>
          </p:nvGraphicFramePr>
          <p:xfrm>
            <a:off x="624" y="1344"/>
            <a:ext cx="624" cy="244"/>
          </p:xfrm>
          <a:graphic>
            <a:graphicData uri="http://schemas.openxmlformats.org/presentationml/2006/ole">
              <p:oleObj spid="_x0000_s534531" name="Equation" r:id="rId3" imgW="520560" imgH="203040" progId="">
                <p:embed/>
              </p:oleObj>
            </a:graphicData>
          </a:graphic>
        </p:graphicFrame>
        <p:sp>
          <p:nvSpPr>
            <p:cNvPr id="8257" name="Rectangle 5"/>
            <p:cNvSpPr>
              <a:spLocks noChangeArrowheads="1"/>
            </p:cNvSpPr>
            <p:nvPr/>
          </p:nvSpPr>
          <p:spPr bwMode="auto">
            <a:xfrm>
              <a:off x="672" y="1008"/>
              <a:ext cx="528" cy="250"/>
            </a:xfrm>
            <a:prstGeom prst="rect">
              <a:avLst/>
            </a:prstGeom>
            <a:noFill/>
            <a:ln w="9525">
              <a:noFill/>
              <a:miter lim="800000"/>
              <a:headEnd/>
              <a:tailEnd/>
            </a:ln>
          </p:spPr>
          <p:txBody>
            <a:bodyPr>
              <a:spAutoFit/>
            </a:bodyPr>
            <a:lstStyle/>
            <a:p>
              <a:pPr algn="l">
                <a:spcBef>
                  <a:spcPct val="50000"/>
                </a:spcBef>
              </a:pPr>
              <a:r>
                <a:rPr lang="en-US" sz="2000" b="1" i="1">
                  <a:solidFill>
                    <a:srgbClr val="FF0000"/>
                  </a:solidFill>
                  <a:latin typeface="Times New Roman" pitchFamily="18" charset="0"/>
                </a:rPr>
                <a:t>Z</a:t>
              </a:r>
              <a:r>
                <a:rPr lang="en-US" sz="2000" b="1">
                  <a:solidFill>
                    <a:srgbClr val="FF0000"/>
                  </a:solidFill>
                  <a:latin typeface="Times New Roman" pitchFamily="18" charset="0"/>
                </a:rPr>
                <a:t>=2;</a:t>
              </a:r>
            </a:p>
          </p:txBody>
        </p:sp>
        <p:sp>
          <p:nvSpPr>
            <p:cNvPr id="8258" name="Rectangle 6"/>
            <p:cNvSpPr>
              <a:spLocks noChangeArrowheads="1"/>
            </p:cNvSpPr>
            <p:nvPr/>
          </p:nvSpPr>
          <p:spPr bwMode="auto">
            <a:xfrm>
              <a:off x="576" y="912"/>
              <a:ext cx="720" cy="1200"/>
            </a:xfrm>
            <a:prstGeom prst="rect">
              <a:avLst/>
            </a:prstGeom>
            <a:noFill/>
            <a:ln w="9525">
              <a:solidFill>
                <a:srgbClr val="FF0000"/>
              </a:solidFill>
              <a:miter lim="800000"/>
              <a:headEnd/>
              <a:tailEnd/>
            </a:ln>
          </p:spPr>
          <p:txBody>
            <a:bodyPr wrap="none" anchor="ctr"/>
            <a:lstStyle/>
            <a:p>
              <a:endParaRPr lang="en-US"/>
            </a:p>
          </p:txBody>
        </p:sp>
        <p:graphicFrame>
          <p:nvGraphicFramePr>
            <p:cNvPr id="8196" name="Object 7"/>
            <p:cNvGraphicFramePr>
              <a:graphicFrameLocks noChangeAspect="1"/>
            </p:cNvGraphicFramePr>
            <p:nvPr/>
          </p:nvGraphicFramePr>
          <p:xfrm>
            <a:off x="624" y="1728"/>
            <a:ext cx="624" cy="289"/>
          </p:xfrm>
          <a:graphic>
            <a:graphicData uri="http://schemas.openxmlformats.org/presentationml/2006/ole">
              <p:oleObj spid="_x0000_s534532" name="Equation" r:id="rId4" imgW="520560" imgH="241200" progId="">
                <p:embed/>
              </p:oleObj>
            </a:graphicData>
          </a:graphic>
        </p:graphicFrame>
      </p:grpSp>
      <p:sp>
        <p:nvSpPr>
          <p:cNvPr id="22536" name="Rectangle 8"/>
          <p:cNvSpPr>
            <a:spLocks noChangeArrowheads="1"/>
          </p:cNvSpPr>
          <p:nvPr/>
        </p:nvSpPr>
        <p:spPr bwMode="auto">
          <a:xfrm>
            <a:off x="1524000" y="5775325"/>
            <a:ext cx="5257800" cy="854075"/>
          </a:xfrm>
          <a:prstGeom prst="rect">
            <a:avLst/>
          </a:prstGeom>
          <a:noFill/>
          <a:ln w="9525">
            <a:noFill/>
            <a:miter lim="800000"/>
            <a:headEnd/>
            <a:tailEnd/>
          </a:ln>
        </p:spPr>
        <p:txBody>
          <a:bodyPr>
            <a:spAutoFit/>
          </a:bodyPr>
          <a:lstStyle/>
          <a:p>
            <a:pPr algn="l">
              <a:spcBef>
                <a:spcPct val="50000"/>
              </a:spcBef>
            </a:pPr>
            <a:r>
              <a:rPr lang="en-US" sz="2000" b="1" dirty="0"/>
              <a:t>(0, 0, 0) ;   (½, 0, 0);    (0, 0, ½);   (½, 0, ½); </a:t>
            </a:r>
          </a:p>
          <a:p>
            <a:pPr algn="l">
              <a:spcBef>
                <a:spcPct val="50000"/>
              </a:spcBef>
            </a:pPr>
            <a:r>
              <a:rPr lang="en-US" sz="2000" b="1" dirty="0"/>
              <a:t>(0, ½, 0);   (½, ½, 0);   (0, ½, ½);  (½, ½, ½) </a:t>
            </a:r>
          </a:p>
        </p:txBody>
      </p:sp>
      <p:sp>
        <p:nvSpPr>
          <p:cNvPr id="8200" name="Rectangle 9"/>
          <p:cNvSpPr>
            <a:spLocks noChangeArrowheads="1"/>
          </p:cNvSpPr>
          <p:nvPr/>
        </p:nvSpPr>
        <p:spPr bwMode="auto">
          <a:xfrm>
            <a:off x="304800" y="4114800"/>
            <a:ext cx="7924800" cy="1006475"/>
          </a:xfrm>
          <a:prstGeom prst="rect">
            <a:avLst/>
          </a:prstGeom>
          <a:noFill/>
          <a:ln w="9525">
            <a:noFill/>
            <a:miter lim="800000"/>
            <a:headEnd/>
            <a:tailEnd/>
          </a:ln>
        </p:spPr>
        <p:txBody>
          <a:bodyPr>
            <a:spAutoFit/>
          </a:bodyPr>
          <a:lstStyle/>
          <a:p>
            <a:pPr algn="l"/>
            <a:r>
              <a:rPr lang="en-US" sz="2000"/>
              <a:t>Note that there are </a:t>
            </a:r>
            <a:r>
              <a:rPr lang="en-US" sz="2000">
                <a:solidFill>
                  <a:schemeClr val="accent2"/>
                </a:solidFill>
              </a:rPr>
              <a:t>two molecules per unit cell</a:t>
            </a:r>
            <a:r>
              <a:rPr lang="en-US" sz="2000"/>
              <a:t>, and that other centers of symmetry (at </a:t>
            </a:r>
            <a:r>
              <a:rPr lang="en-US" sz="2000" i="1">
                <a:solidFill>
                  <a:srgbClr val="FF0000"/>
                </a:solidFill>
              </a:rPr>
              <a:t>a/2, b/2, c/2</a:t>
            </a:r>
            <a:r>
              <a:rPr lang="en-US" sz="2000"/>
              <a:t> and combinations thereof) were generated as we added atoms or groups.</a:t>
            </a:r>
          </a:p>
        </p:txBody>
      </p:sp>
      <p:sp>
        <p:nvSpPr>
          <p:cNvPr id="22538" name="Rectangle 10"/>
          <p:cNvSpPr>
            <a:spLocks noChangeArrowheads="1"/>
          </p:cNvSpPr>
          <p:nvPr/>
        </p:nvSpPr>
        <p:spPr bwMode="auto">
          <a:xfrm>
            <a:off x="342900" y="5165725"/>
            <a:ext cx="8153400" cy="396875"/>
          </a:xfrm>
          <a:prstGeom prst="rect">
            <a:avLst/>
          </a:prstGeom>
          <a:noFill/>
          <a:ln w="9525">
            <a:noFill/>
            <a:miter lim="800000"/>
            <a:headEnd/>
            <a:tailEnd/>
          </a:ln>
        </p:spPr>
        <p:txBody>
          <a:bodyPr>
            <a:spAutoFit/>
          </a:bodyPr>
          <a:lstStyle/>
          <a:p>
            <a:pPr algn="l"/>
            <a:r>
              <a:rPr lang="en-US" sz="2000"/>
              <a:t>It turns out that there are </a:t>
            </a:r>
            <a:r>
              <a:rPr lang="en-US" sz="2000">
                <a:solidFill>
                  <a:schemeClr val="accent2"/>
                </a:solidFill>
              </a:rPr>
              <a:t>eight centers of symmetry</a:t>
            </a:r>
            <a:r>
              <a:rPr lang="en-US" sz="2000"/>
              <a:t>: where are they?</a:t>
            </a:r>
          </a:p>
        </p:txBody>
      </p:sp>
      <p:graphicFrame>
        <p:nvGraphicFramePr>
          <p:cNvPr id="8194" name="Object 11"/>
          <p:cNvGraphicFramePr>
            <a:graphicFrameLocks noChangeAspect="1"/>
          </p:cNvGraphicFramePr>
          <p:nvPr/>
        </p:nvGraphicFramePr>
        <p:xfrm>
          <a:off x="6400800" y="228600"/>
          <a:ext cx="1676400" cy="758825"/>
        </p:xfrm>
        <a:graphic>
          <a:graphicData uri="http://schemas.openxmlformats.org/presentationml/2006/ole">
            <p:oleObj spid="_x0000_s534530" name="Equation" r:id="rId5" imgW="533160" imgH="241200" progId="">
              <p:embed/>
            </p:oleObj>
          </a:graphicData>
        </a:graphic>
      </p:graphicFrame>
      <p:grpSp>
        <p:nvGrpSpPr>
          <p:cNvPr id="3" name="Group 12"/>
          <p:cNvGrpSpPr>
            <a:grpSpLocks/>
          </p:cNvGrpSpPr>
          <p:nvPr/>
        </p:nvGrpSpPr>
        <p:grpSpPr bwMode="auto">
          <a:xfrm>
            <a:off x="2819400" y="838200"/>
            <a:ext cx="4845050" cy="3146425"/>
            <a:chOff x="1200" y="480"/>
            <a:chExt cx="3052" cy="1982"/>
          </a:xfrm>
        </p:grpSpPr>
        <p:grpSp>
          <p:nvGrpSpPr>
            <p:cNvPr id="4" name="Group 13"/>
            <p:cNvGrpSpPr>
              <a:grpSpLocks/>
            </p:cNvGrpSpPr>
            <p:nvPr/>
          </p:nvGrpSpPr>
          <p:grpSpPr bwMode="auto">
            <a:xfrm>
              <a:off x="2112" y="1056"/>
              <a:ext cx="412" cy="254"/>
              <a:chOff x="3792" y="2112"/>
              <a:chExt cx="412" cy="254"/>
            </a:xfrm>
          </p:grpSpPr>
          <p:sp>
            <p:nvSpPr>
              <p:cNvPr id="8255" name="Oval 14"/>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8256" name="Rectangle 15"/>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sp>
          <p:nvSpPr>
            <p:cNvPr id="8213" name="Line 16"/>
            <p:cNvSpPr>
              <a:spLocks noChangeShapeType="1"/>
            </p:cNvSpPr>
            <p:nvPr/>
          </p:nvSpPr>
          <p:spPr bwMode="auto">
            <a:xfrm>
              <a:off x="2064" y="1008"/>
              <a:ext cx="1680" cy="0"/>
            </a:xfrm>
            <a:prstGeom prst="line">
              <a:avLst/>
            </a:prstGeom>
            <a:noFill/>
            <a:ln w="19050">
              <a:solidFill>
                <a:schemeClr val="tx1"/>
              </a:solidFill>
              <a:round/>
              <a:headEnd/>
              <a:tailEnd/>
            </a:ln>
          </p:spPr>
          <p:txBody>
            <a:bodyPr/>
            <a:lstStyle/>
            <a:p>
              <a:endParaRPr lang="en-US"/>
            </a:p>
          </p:txBody>
        </p:sp>
        <p:sp>
          <p:nvSpPr>
            <p:cNvPr id="8214" name="Line 17"/>
            <p:cNvSpPr>
              <a:spLocks noChangeShapeType="1"/>
            </p:cNvSpPr>
            <p:nvPr/>
          </p:nvSpPr>
          <p:spPr bwMode="auto">
            <a:xfrm flipH="1">
              <a:off x="3360" y="1008"/>
              <a:ext cx="384" cy="1104"/>
            </a:xfrm>
            <a:prstGeom prst="line">
              <a:avLst/>
            </a:prstGeom>
            <a:noFill/>
            <a:ln w="19050">
              <a:solidFill>
                <a:schemeClr val="tx1"/>
              </a:solidFill>
              <a:round/>
              <a:headEnd/>
              <a:tailEnd/>
            </a:ln>
          </p:spPr>
          <p:txBody>
            <a:bodyPr/>
            <a:lstStyle/>
            <a:p>
              <a:endParaRPr lang="en-US"/>
            </a:p>
          </p:txBody>
        </p:sp>
        <p:sp>
          <p:nvSpPr>
            <p:cNvPr id="8215" name="Line 18"/>
            <p:cNvSpPr>
              <a:spLocks noChangeShapeType="1"/>
            </p:cNvSpPr>
            <p:nvPr/>
          </p:nvSpPr>
          <p:spPr bwMode="auto">
            <a:xfrm flipH="1">
              <a:off x="1632" y="1008"/>
              <a:ext cx="432" cy="1104"/>
            </a:xfrm>
            <a:prstGeom prst="line">
              <a:avLst/>
            </a:prstGeom>
            <a:noFill/>
            <a:ln w="19050">
              <a:solidFill>
                <a:schemeClr val="tx1"/>
              </a:solidFill>
              <a:round/>
              <a:headEnd/>
              <a:tailEnd/>
            </a:ln>
          </p:spPr>
          <p:txBody>
            <a:bodyPr/>
            <a:lstStyle/>
            <a:p>
              <a:endParaRPr lang="en-US"/>
            </a:p>
          </p:txBody>
        </p:sp>
        <p:sp>
          <p:nvSpPr>
            <p:cNvPr id="8216" name="Line 19"/>
            <p:cNvSpPr>
              <a:spLocks noChangeShapeType="1"/>
            </p:cNvSpPr>
            <p:nvPr/>
          </p:nvSpPr>
          <p:spPr bwMode="auto">
            <a:xfrm>
              <a:off x="1632" y="2112"/>
              <a:ext cx="1728" cy="0"/>
            </a:xfrm>
            <a:prstGeom prst="line">
              <a:avLst/>
            </a:prstGeom>
            <a:noFill/>
            <a:ln w="19050">
              <a:solidFill>
                <a:schemeClr val="tx1"/>
              </a:solidFill>
              <a:round/>
              <a:headEnd/>
              <a:tailEnd/>
            </a:ln>
          </p:spPr>
          <p:txBody>
            <a:bodyPr/>
            <a:lstStyle/>
            <a:p>
              <a:endParaRPr lang="en-US"/>
            </a:p>
          </p:txBody>
        </p:sp>
        <p:sp>
          <p:nvSpPr>
            <p:cNvPr id="8217" name="Line 20"/>
            <p:cNvSpPr>
              <a:spLocks noChangeShapeType="1"/>
            </p:cNvSpPr>
            <p:nvPr/>
          </p:nvSpPr>
          <p:spPr bwMode="auto">
            <a:xfrm flipH="1">
              <a:off x="2496" y="1008"/>
              <a:ext cx="384" cy="1104"/>
            </a:xfrm>
            <a:prstGeom prst="line">
              <a:avLst/>
            </a:prstGeom>
            <a:noFill/>
            <a:ln w="19050">
              <a:solidFill>
                <a:schemeClr val="tx1"/>
              </a:solidFill>
              <a:round/>
              <a:headEnd/>
              <a:tailEnd/>
            </a:ln>
          </p:spPr>
          <p:txBody>
            <a:bodyPr/>
            <a:lstStyle/>
            <a:p>
              <a:endParaRPr lang="en-US"/>
            </a:p>
          </p:txBody>
        </p:sp>
        <p:sp>
          <p:nvSpPr>
            <p:cNvPr id="8218" name="Line 21"/>
            <p:cNvSpPr>
              <a:spLocks noChangeShapeType="1"/>
            </p:cNvSpPr>
            <p:nvPr/>
          </p:nvSpPr>
          <p:spPr bwMode="auto">
            <a:xfrm>
              <a:off x="1848" y="1536"/>
              <a:ext cx="1704" cy="0"/>
            </a:xfrm>
            <a:prstGeom prst="line">
              <a:avLst/>
            </a:prstGeom>
            <a:noFill/>
            <a:ln w="19050">
              <a:solidFill>
                <a:schemeClr val="tx1"/>
              </a:solidFill>
              <a:round/>
              <a:headEnd/>
              <a:tailEnd/>
            </a:ln>
          </p:spPr>
          <p:txBody>
            <a:bodyPr/>
            <a:lstStyle/>
            <a:p>
              <a:endParaRPr lang="en-US"/>
            </a:p>
          </p:txBody>
        </p:sp>
        <p:grpSp>
          <p:nvGrpSpPr>
            <p:cNvPr id="5" name="Group 22"/>
            <p:cNvGrpSpPr>
              <a:grpSpLocks/>
            </p:cNvGrpSpPr>
            <p:nvPr/>
          </p:nvGrpSpPr>
          <p:grpSpPr bwMode="auto">
            <a:xfrm>
              <a:off x="3840" y="1056"/>
              <a:ext cx="412" cy="254"/>
              <a:chOff x="3792" y="2112"/>
              <a:chExt cx="412" cy="254"/>
            </a:xfrm>
          </p:grpSpPr>
          <p:sp>
            <p:nvSpPr>
              <p:cNvPr id="8253" name="Oval 23"/>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8254" name="Rectangle 24"/>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sp>
          <p:nvSpPr>
            <p:cNvPr id="8220" name="Oval 25"/>
            <p:cNvSpPr>
              <a:spLocks noChangeArrowheads="1"/>
            </p:cNvSpPr>
            <p:nvPr/>
          </p:nvSpPr>
          <p:spPr bwMode="auto">
            <a:xfrm>
              <a:off x="1776" y="672"/>
              <a:ext cx="240" cy="254"/>
            </a:xfrm>
            <a:prstGeom prst="ellipse">
              <a:avLst/>
            </a:prstGeom>
            <a:noFill/>
            <a:ln w="12700">
              <a:solidFill>
                <a:srgbClr val="0000FF"/>
              </a:solidFill>
              <a:round/>
              <a:headEnd/>
              <a:tailEnd/>
            </a:ln>
          </p:spPr>
          <p:txBody>
            <a:bodyPr/>
            <a:lstStyle/>
            <a:p>
              <a:endParaRPr lang="en-US"/>
            </a:p>
          </p:txBody>
        </p:sp>
        <p:sp>
          <p:nvSpPr>
            <p:cNvPr id="8221" name="Rectangle 26"/>
            <p:cNvSpPr>
              <a:spLocks noChangeArrowheads="1"/>
            </p:cNvSpPr>
            <p:nvPr/>
          </p:nvSpPr>
          <p:spPr bwMode="auto">
            <a:xfrm>
              <a:off x="1824" y="480"/>
              <a:ext cx="196" cy="442"/>
            </a:xfrm>
            <a:prstGeom prst="rect">
              <a:avLst/>
            </a:prstGeom>
            <a:noFill/>
            <a:ln w="9525">
              <a:noFill/>
              <a:miter lim="800000"/>
              <a:headEnd/>
              <a:tailEnd/>
            </a:ln>
          </p:spPr>
          <p:txBody>
            <a:bodyPr wrap="none">
              <a:spAutoFit/>
            </a:bodyPr>
            <a:lstStyle/>
            <a:p>
              <a:pPr algn="l"/>
              <a:r>
                <a:rPr lang="en-US" sz="4000" b="1">
                  <a:solidFill>
                    <a:schemeClr val="accent2"/>
                  </a:solidFill>
                  <a:latin typeface="Times New Roman" pitchFamily="18" charset="0"/>
                </a:rPr>
                <a:t>,</a:t>
              </a:r>
            </a:p>
          </p:txBody>
        </p:sp>
        <p:sp>
          <p:nvSpPr>
            <p:cNvPr id="8222" name="Rectangle 27"/>
            <p:cNvSpPr>
              <a:spLocks noChangeArrowheads="1"/>
            </p:cNvSpPr>
            <p:nvPr/>
          </p:nvSpPr>
          <p:spPr bwMode="auto">
            <a:xfrm>
              <a:off x="1632" y="720"/>
              <a:ext cx="148" cy="173"/>
            </a:xfrm>
            <a:prstGeom prst="rect">
              <a:avLst/>
            </a:prstGeom>
            <a:noFill/>
            <a:ln w="9525">
              <a:noFill/>
              <a:miter lim="800000"/>
              <a:headEnd/>
              <a:tailEnd/>
            </a:ln>
          </p:spPr>
          <p:txBody>
            <a:bodyPr wrap="none">
              <a:spAutoFit/>
            </a:bodyPr>
            <a:lstStyle/>
            <a:p>
              <a:pPr algn="l"/>
              <a:r>
                <a:rPr lang="en-US" sz="1200" b="1">
                  <a:solidFill>
                    <a:schemeClr val="accent2"/>
                  </a:solidFill>
                </a:rPr>
                <a:t>-</a:t>
              </a:r>
            </a:p>
          </p:txBody>
        </p:sp>
        <p:grpSp>
          <p:nvGrpSpPr>
            <p:cNvPr id="6" name="Group 28"/>
            <p:cNvGrpSpPr>
              <a:grpSpLocks/>
            </p:cNvGrpSpPr>
            <p:nvPr/>
          </p:nvGrpSpPr>
          <p:grpSpPr bwMode="auto">
            <a:xfrm>
              <a:off x="3360" y="480"/>
              <a:ext cx="398" cy="446"/>
              <a:chOff x="3360" y="480"/>
              <a:chExt cx="398" cy="446"/>
            </a:xfrm>
          </p:grpSpPr>
          <p:sp>
            <p:nvSpPr>
              <p:cNvPr id="8249" name="Rectangle 29"/>
              <p:cNvSpPr>
                <a:spLocks noChangeArrowheads="1"/>
              </p:cNvSpPr>
              <p:nvPr/>
            </p:nvSpPr>
            <p:spPr bwMode="auto">
              <a:xfrm>
                <a:off x="3552" y="480"/>
                <a:ext cx="196" cy="442"/>
              </a:xfrm>
              <a:prstGeom prst="rect">
                <a:avLst/>
              </a:prstGeom>
              <a:noFill/>
              <a:ln w="9525">
                <a:noFill/>
                <a:miter lim="800000"/>
                <a:headEnd/>
                <a:tailEnd/>
              </a:ln>
            </p:spPr>
            <p:txBody>
              <a:bodyPr wrap="none">
                <a:spAutoFit/>
              </a:bodyPr>
              <a:lstStyle/>
              <a:p>
                <a:pPr algn="l"/>
                <a:r>
                  <a:rPr lang="en-US" sz="4000" b="1">
                    <a:latin typeface="Times New Roman" pitchFamily="18" charset="0"/>
                  </a:rPr>
                  <a:t>,</a:t>
                </a:r>
              </a:p>
            </p:txBody>
          </p:sp>
          <p:grpSp>
            <p:nvGrpSpPr>
              <p:cNvPr id="7" name="Group 30"/>
              <p:cNvGrpSpPr>
                <a:grpSpLocks/>
              </p:cNvGrpSpPr>
              <p:nvPr/>
            </p:nvGrpSpPr>
            <p:grpSpPr bwMode="auto">
              <a:xfrm>
                <a:off x="3360" y="672"/>
                <a:ext cx="398" cy="254"/>
                <a:chOff x="3360" y="672"/>
                <a:chExt cx="398" cy="254"/>
              </a:xfrm>
            </p:grpSpPr>
            <p:sp>
              <p:nvSpPr>
                <p:cNvPr id="8251" name="Oval 31"/>
                <p:cNvSpPr>
                  <a:spLocks noChangeArrowheads="1"/>
                </p:cNvSpPr>
                <p:nvPr/>
              </p:nvSpPr>
              <p:spPr bwMode="auto">
                <a:xfrm>
                  <a:off x="3504" y="672"/>
                  <a:ext cx="254" cy="254"/>
                </a:xfrm>
                <a:prstGeom prst="ellipse">
                  <a:avLst/>
                </a:prstGeom>
                <a:noFill/>
                <a:ln w="12700">
                  <a:solidFill>
                    <a:schemeClr val="tx1"/>
                  </a:solidFill>
                  <a:round/>
                  <a:headEnd/>
                  <a:tailEnd/>
                </a:ln>
              </p:spPr>
              <p:txBody>
                <a:bodyPr/>
                <a:lstStyle/>
                <a:p>
                  <a:endParaRPr lang="en-US"/>
                </a:p>
              </p:txBody>
            </p:sp>
            <p:sp>
              <p:nvSpPr>
                <p:cNvPr id="8252" name="Rectangle 32"/>
                <p:cNvSpPr>
                  <a:spLocks noChangeArrowheads="1"/>
                </p:cNvSpPr>
                <p:nvPr/>
              </p:nvSpPr>
              <p:spPr bwMode="auto">
                <a:xfrm>
                  <a:off x="3360" y="720"/>
                  <a:ext cx="148" cy="173"/>
                </a:xfrm>
                <a:prstGeom prst="rect">
                  <a:avLst/>
                </a:prstGeom>
                <a:noFill/>
                <a:ln w="9525">
                  <a:noFill/>
                  <a:miter lim="800000"/>
                  <a:headEnd/>
                  <a:tailEnd/>
                </a:ln>
              </p:spPr>
              <p:txBody>
                <a:bodyPr wrap="none">
                  <a:spAutoFit/>
                </a:bodyPr>
                <a:lstStyle/>
                <a:p>
                  <a:pPr algn="l"/>
                  <a:r>
                    <a:rPr lang="en-US" sz="1200" b="1"/>
                    <a:t>-</a:t>
                  </a:r>
                </a:p>
              </p:txBody>
            </p:sp>
          </p:grpSp>
        </p:grpSp>
        <p:grpSp>
          <p:nvGrpSpPr>
            <p:cNvPr id="8" name="Group 33"/>
            <p:cNvGrpSpPr>
              <a:grpSpLocks/>
            </p:cNvGrpSpPr>
            <p:nvPr/>
          </p:nvGrpSpPr>
          <p:grpSpPr bwMode="auto">
            <a:xfrm>
              <a:off x="1632" y="2208"/>
              <a:ext cx="412" cy="254"/>
              <a:chOff x="3792" y="2112"/>
              <a:chExt cx="412" cy="254"/>
            </a:xfrm>
          </p:grpSpPr>
          <p:sp>
            <p:nvSpPr>
              <p:cNvPr id="8247" name="Oval 34"/>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8248" name="Rectangle 35"/>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grpSp>
          <p:nvGrpSpPr>
            <p:cNvPr id="9" name="Group 36"/>
            <p:cNvGrpSpPr>
              <a:grpSpLocks/>
            </p:cNvGrpSpPr>
            <p:nvPr/>
          </p:nvGrpSpPr>
          <p:grpSpPr bwMode="auto">
            <a:xfrm>
              <a:off x="3408" y="2208"/>
              <a:ext cx="412" cy="254"/>
              <a:chOff x="3792" y="2112"/>
              <a:chExt cx="412" cy="254"/>
            </a:xfrm>
          </p:grpSpPr>
          <p:sp>
            <p:nvSpPr>
              <p:cNvPr id="8245" name="Oval 37"/>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8246" name="Rectangle 38"/>
              <p:cNvSpPr>
                <a:spLocks noChangeArrowheads="1"/>
              </p:cNvSpPr>
              <p:nvPr/>
            </p:nvSpPr>
            <p:spPr bwMode="auto">
              <a:xfrm>
                <a:off x="4032" y="2131"/>
                <a:ext cx="172" cy="173"/>
              </a:xfrm>
              <a:prstGeom prst="rect">
                <a:avLst/>
              </a:prstGeom>
              <a:noFill/>
              <a:ln w="9525">
                <a:noFill/>
                <a:miter lim="800000"/>
                <a:headEnd/>
                <a:tailEnd/>
              </a:ln>
            </p:spPr>
            <p:txBody>
              <a:bodyPr wrap="none">
                <a:spAutoFit/>
              </a:bodyPr>
              <a:lstStyle/>
              <a:p>
                <a:pPr algn="l"/>
                <a:r>
                  <a:rPr lang="en-US" sz="1200" b="1">
                    <a:solidFill>
                      <a:srgbClr val="000000"/>
                    </a:solidFill>
                  </a:rPr>
                  <a:t>+</a:t>
                </a:r>
              </a:p>
            </p:txBody>
          </p:sp>
        </p:grpSp>
        <p:sp>
          <p:nvSpPr>
            <p:cNvPr id="8226" name="Oval 39"/>
            <p:cNvSpPr>
              <a:spLocks noChangeAspect="1" noChangeArrowheads="1"/>
            </p:cNvSpPr>
            <p:nvPr/>
          </p:nvSpPr>
          <p:spPr bwMode="auto">
            <a:xfrm>
              <a:off x="2842" y="960"/>
              <a:ext cx="86" cy="86"/>
            </a:xfrm>
            <a:prstGeom prst="ellipse">
              <a:avLst/>
            </a:prstGeom>
            <a:solidFill>
              <a:schemeClr val="bg1"/>
            </a:solidFill>
            <a:ln w="9525">
              <a:solidFill>
                <a:srgbClr val="FF0000"/>
              </a:solidFill>
              <a:round/>
              <a:headEnd/>
              <a:tailEnd/>
            </a:ln>
          </p:spPr>
          <p:txBody>
            <a:bodyPr wrap="none" anchor="ctr"/>
            <a:lstStyle/>
            <a:p>
              <a:endParaRPr lang="en-US"/>
            </a:p>
          </p:txBody>
        </p:sp>
        <p:sp>
          <p:nvSpPr>
            <p:cNvPr id="8227" name="Oval 40"/>
            <p:cNvSpPr>
              <a:spLocks noChangeAspect="1" noChangeArrowheads="1"/>
            </p:cNvSpPr>
            <p:nvPr/>
          </p:nvSpPr>
          <p:spPr bwMode="auto">
            <a:xfrm>
              <a:off x="2016" y="960"/>
              <a:ext cx="86" cy="86"/>
            </a:xfrm>
            <a:prstGeom prst="ellipse">
              <a:avLst/>
            </a:prstGeom>
            <a:solidFill>
              <a:schemeClr val="bg1"/>
            </a:solidFill>
            <a:ln w="9525">
              <a:solidFill>
                <a:schemeClr val="tx1"/>
              </a:solidFill>
              <a:round/>
              <a:headEnd/>
              <a:tailEnd/>
            </a:ln>
          </p:spPr>
          <p:txBody>
            <a:bodyPr wrap="none" anchor="ctr"/>
            <a:lstStyle/>
            <a:p>
              <a:endParaRPr lang="en-US"/>
            </a:p>
          </p:txBody>
        </p:sp>
        <p:sp>
          <p:nvSpPr>
            <p:cNvPr id="8228" name="Oval 41"/>
            <p:cNvSpPr>
              <a:spLocks noChangeAspect="1" noChangeArrowheads="1"/>
            </p:cNvSpPr>
            <p:nvPr/>
          </p:nvSpPr>
          <p:spPr bwMode="auto">
            <a:xfrm>
              <a:off x="3696" y="960"/>
              <a:ext cx="86" cy="86"/>
            </a:xfrm>
            <a:prstGeom prst="ellipse">
              <a:avLst/>
            </a:prstGeom>
            <a:solidFill>
              <a:schemeClr val="bg1"/>
            </a:solidFill>
            <a:ln w="9525">
              <a:solidFill>
                <a:schemeClr val="tx1"/>
              </a:solidFill>
              <a:round/>
              <a:headEnd/>
              <a:tailEnd/>
            </a:ln>
          </p:spPr>
          <p:txBody>
            <a:bodyPr wrap="none" anchor="ctr"/>
            <a:lstStyle/>
            <a:p>
              <a:endParaRPr lang="en-US"/>
            </a:p>
          </p:txBody>
        </p:sp>
        <p:sp>
          <p:nvSpPr>
            <p:cNvPr id="8229" name="Oval 42"/>
            <p:cNvSpPr>
              <a:spLocks noChangeAspect="1" noChangeArrowheads="1"/>
            </p:cNvSpPr>
            <p:nvPr/>
          </p:nvSpPr>
          <p:spPr bwMode="auto">
            <a:xfrm>
              <a:off x="3504" y="1488"/>
              <a:ext cx="86" cy="86"/>
            </a:xfrm>
            <a:prstGeom prst="ellipse">
              <a:avLst/>
            </a:prstGeom>
            <a:solidFill>
              <a:schemeClr val="bg1"/>
            </a:solidFill>
            <a:ln w="9525">
              <a:solidFill>
                <a:srgbClr val="FF0000"/>
              </a:solidFill>
              <a:round/>
              <a:headEnd/>
              <a:tailEnd/>
            </a:ln>
          </p:spPr>
          <p:txBody>
            <a:bodyPr wrap="none" anchor="ctr"/>
            <a:lstStyle/>
            <a:p>
              <a:endParaRPr lang="en-US"/>
            </a:p>
          </p:txBody>
        </p:sp>
        <p:sp>
          <p:nvSpPr>
            <p:cNvPr id="8230" name="Oval 43"/>
            <p:cNvSpPr>
              <a:spLocks noChangeAspect="1" noChangeArrowheads="1"/>
            </p:cNvSpPr>
            <p:nvPr/>
          </p:nvSpPr>
          <p:spPr bwMode="auto">
            <a:xfrm>
              <a:off x="2640" y="1488"/>
              <a:ext cx="96" cy="96"/>
            </a:xfrm>
            <a:prstGeom prst="ellipse">
              <a:avLst/>
            </a:prstGeom>
            <a:solidFill>
              <a:schemeClr val="bg1"/>
            </a:solidFill>
            <a:ln w="9525">
              <a:solidFill>
                <a:srgbClr val="FF0000"/>
              </a:solidFill>
              <a:round/>
              <a:headEnd/>
              <a:tailEnd/>
            </a:ln>
          </p:spPr>
          <p:txBody>
            <a:bodyPr wrap="none" anchor="ctr"/>
            <a:lstStyle/>
            <a:p>
              <a:endParaRPr lang="en-US"/>
            </a:p>
          </p:txBody>
        </p:sp>
        <p:sp>
          <p:nvSpPr>
            <p:cNvPr id="8231" name="Oval 44"/>
            <p:cNvSpPr>
              <a:spLocks noChangeAspect="1" noChangeArrowheads="1"/>
            </p:cNvSpPr>
            <p:nvPr/>
          </p:nvSpPr>
          <p:spPr bwMode="auto">
            <a:xfrm>
              <a:off x="1824" y="1488"/>
              <a:ext cx="86" cy="86"/>
            </a:xfrm>
            <a:prstGeom prst="ellipse">
              <a:avLst/>
            </a:prstGeom>
            <a:solidFill>
              <a:schemeClr val="bg1"/>
            </a:solidFill>
            <a:ln w="9525">
              <a:solidFill>
                <a:srgbClr val="FF0000"/>
              </a:solidFill>
              <a:round/>
              <a:headEnd/>
              <a:tailEnd/>
            </a:ln>
          </p:spPr>
          <p:txBody>
            <a:bodyPr wrap="none" anchor="ctr"/>
            <a:lstStyle/>
            <a:p>
              <a:endParaRPr lang="en-US"/>
            </a:p>
          </p:txBody>
        </p:sp>
        <p:sp>
          <p:nvSpPr>
            <p:cNvPr id="8232" name="Oval 45"/>
            <p:cNvSpPr>
              <a:spLocks noChangeAspect="1" noChangeArrowheads="1"/>
            </p:cNvSpPr>
            <p:nvPr/>
          </p:nvSpPr>
          <p:spPr bwMode="auto">
            <a:xfrm>
              <a:off x="1584" y="2069"/>
              <a:ext cx="86" cy="86"/>
            </a:xfrm>
            <a:prstGeom prst="ellipse">
              <a:avLst/>
            </a:prstGeom>
            <a:solidFill>
              <a:schemeClr val="bg1"/>
            </a:solidFill>
            <a:ln w="9525">
              <a:solidFill>
                <a:schemeClr val="tx1"/>
              </a:solidFill>
              <a:round/>
              <a:headEnd/>
              <a:tailEnd/>
            </a:ln>
          </p:spPr>
          <p:txBody>
            <a:bodyPr wrap="none" anchor="ctr"/>
            <a:lstStyle/>
            <a:p>
              <a:endParaRPr lang="en-US"/>
            </a:p>
          </p:txBody>
        </p:sp>
        <p:sp>
          <p:nvSpPr>
            <p:cNvPr id="8233" name="Oval 46"/>
            <p:cNvSpPr>
              <a:spLocks noChangeAspect="1" noChangeArrowheads="1"/>
            </p:cNvSpPr>
            <p:nvPr/>
          </p:nvSpPr>
          <p:spPr bwMode="auto">
            <a:xfrm>
              <a:off x="2448" y="2069"/>
              <a:ext cx="86" cy="86"/>
            </a:xfrm>
            <a:prstGeom prst="ellipse">
              <a:avLst/>
            </a:prstGeom>
            <a:solidFill>
              <a:schemeClr val="bg1"/>
            </a:solidFill>
            <a:ln w="9525">
              <a:solidFill>
                <a:srgbClr val="FF0000"/>
              </a:solidFill>
              <a:round/>
              <a:headEnd/>
              <a:tailEnd/>
            </a:ln>
          </p:spPr>
          <p:txBody>
            <a:bodyPr wrap="none" anchor="ctr"/>
            <a:lstStyle/>
            <a:p>
              <a:endParaRPr lang="en-US"/>
            </a:p>
          </p:txBody>
        </p:sp>
        <p:sp>
          <p:nvSpPr>
            <p:cNvPr id="8234" name="Oval 47"/>
            <p:cNvSpPr>
              <a:spLocks noChangeAspect="1" noChangeArrowheads="1"/>
            </p:cNvSpPr>
            <p:nvPr/>
          </p:nvSpPr>
          <p:spPr bwMode="auto">
            <a:xfrm>
              <a:off x="3312" y="2069"/>
              <a:ext cx="86" cy="86"/>
            </a:xfrm>
            <a:prstGeom prst="ellipse">
              <a:avLst/>
            </a:prstGeom>
            <a:solidFill>
              <a:schemeClr val="bg1"/>
            </a:solidFill>
            <a:ln w="9525">
              <a:solidFill>
                <a:schemeClr val="tx1"/>
              </a:solidFill>
              <a:round/>
              <a:headEnd/>
              <a:tailEnd/>
            </a:ln>
          </p:spPr>
          <p:txBody>
            <a:bodyPr wrap="none" anchor="ctr"/>
            <a:lstStyle/>
            <a:p>
              <a:endParaRPr lang="en-US"/>
            </a:p>
          </p:txBody>
        </p:sp>
        <p:grpSp>
          <p:nvGrpSpPr>
            <p:cNvPr id="10" name="Group 48"/>
            <p:cNvGrpSpPr>
              <a:grpSpLocks/>
            </p:cNvGrpSpPr>
            <p:nvPr/>
          </p:nvGrpSpPr>
          <p:grpSpPr bwMode="auto">
            <a:xfrm>
              <a:off x="2928" y="1584"/>
              <a:ext cx="398" cy="446"/>
              <a:chOff x="3360" y="480"/>
              <a:chExt cx="398" cy="446"/>
            </a:xfrm>
          </p:grpSpPr>
          <p:sp>
            <p:nvSpPr>
              <p:cNvPr id="8241" name="Rectangle 49"/>
              <p:cNvSpPr>
                <a:spLocks noChangeArrowheads="1"/>
              </p:cNvSpPr>
              <p:nvPr/>
            </p:nvSpPr>
            <p:spPr bwMode="auto">
              <a:xfrm>
                <a:off x="3552" y="480"/>
                <a:ext cx="196" cy="442"/>
              </a:xfrm>
              <a:prstGeom prst="rect">
                <a:avLst/>
              </a:prstGeom>
              <a:noFill/>
              <a:ln w="9525">
                <a:noFill/>
                <a:miter lim="800000"/>
                <a:headEnd/>
                <a:tailEnd/>
              </a:ln>
            </p:spPr>
            <p:txBody>
              <a:bodyPr wrap="none">
                <a:spAutoFit/>
              </a:bodyPr>
              <a:lstStyle/>
              <a:p>
                <a:pPr algn="l"/>
                <a:r>
                  <a:rPr lang="en-US" sz="4000" b="1">
                    <a:latin typeface="Times New Roman" pitchFamily="18" charset="0"/>
                  </a:rPr>
                  <a:t>,</a:t>
                </a:r>
              </a:p>
            </p:txBody>
          </p:sp>
          <p:grpSp>
            <p:nvGrpSpPr>
              <p:cNvPr id="11" name="Group 50"/>
              <p:cNvGrpSpPr>
                <a:grpSpLocks/>
              </p:cNvGrpSpPr>
              <p:nvPr/>
            </p:nvGrpSpPr>
            <p:grpSpPr bwMode="auto">
              <a:xfrm>
                <a:off x="3360" y="672"/>
                <a:ext cx="398" cy="254"/>
                <a:chOff x="3360" y="672"/>
                <a:chExt cx="398" cy="254"/>
              </a:xfrm>
            </p:grpSpPr>
            <p:sp>
              <p:nvSpPr>
                <p:cNvPr id="8243" name="Oval 51"/>
                <p:cNvSpPr>
                  <a:spLocks noChangeArrowheads="1"/>
                </p:cNvSpPr>
                <p:nvPr/>
              </p:nvSpPr>
              <p:spPr bwMode="auto">
                <a:xfrm>
                  <a:off x="3504" y="672"/>
                  <a:ext cx="254" cy="254"/>
                </a:xfrm>
                <a:prstGeom prst="ellipse">
                  <a:avLst/>
                </a:prstGeom>
                <a:noFill/>
                <a:ln w="12700">
                  <a:solidFill>
                    <a:schemeClr val="tx1"/>
                  </a:solidFill>
                  <a:round/>
                  <a:headEnd/>
                  <a:tailEnd/>
                </a:ln>
              </p:spPr>
              <p:txBody>
                <a:bodyPr/>
                <a:lstStyle/>
                <a:p>
                  <a:endParaRPr lang="en-US"/>
                </a:p>
              </p:txBody>
            </p:sp>
            <p:sp>
              <p:nvSpPr>
                <p:cNvPr id="8244" name="Rectangle 52"/>
                <p:cNvSpPr>
                  <a:spLocks noChangeArrowheads="1"/>
                </p:cNvSpPr>
                <p:nvPr/>
              </p:nvSpPr>
              <p:spPr bwMode="auto">
                <a:xfrm>
                  <a:off x="3360" y="720"/>
                  <a:ext cx="148" cy="173"/>
                </a:xfrm>
                <a:prstGeom prst="rect">
                  <a:avLst/>
                </a:prstGeom>
                <a:noFill/>
                <a:ln w="9525">
                  <a:noFill/>
                  <a:miter lim="800000"/>
                  <a:headEnd/>
                  <a:tailEnd/>
                </a:ln>
              </p:spPr>
              <p:txBody>
                <a:bodyPr wrap="none">
                  <a:spAutoFit/>
                </a:bodyPr>
                <a:lstStyle/>
                <a:p>
                  <a:pPr algn="l"/>
                  <a:r>
                    <a:rPr lang="en-US" sz="1200" b="1"/>
                    <a:t>-</a:t>
                  </a:r>
                </a:p>
              </p:txBody>
            </p:sp>
          </p:grpSp>
        </p:grpSp>
        <p:grpSp>
          <p:nvGrpSpPr>
            <p:cNvPr id="12" name="Group 53"/>
            <p:cNvGrpSpPr>
              <a:grpSpLocks/>
            </p:cNvGrpSpPr>
            <p:nvPr/>
          </p:nvGrpSpPr>
          <p:grpSpPr bwMode="auto">
            <a:xfrm>
              <a:off x="1200" y="1584"/>
              <a:ext cx="398" cy="446"/>
              <a:chOff x="3360" y="480"/>
              <a:chExt cx="398" cy="446"/>
            </a:xfrm>
          </p:grpSpPr>
          <p:sp>
            <p:nvSpPr>
              <p:cNvPr id="8237" name="Rectangle 54"/>
              <p:cNvSpPr>
                <a:spLocks noChangeArrowheads="1"/>
              </p:cNvSpPr>
              <p:nvPr/>
            </p:nvSpPr>
            <p:spPr bwMode="auto">
              <a:xfrm>
                <a:off x="3552" y="480"/>
                <a:ext cx="196" cy="442"/>
              </a:xfrm>
              <a:prstGeom prst="rect">
                <a:avLst/>
              </a:prstGeom>
              <a:noFill/>
              <a:ln w="9525">
                <a:noFill/>
                <a:miter lim="800000"/>
                <a:headEnd/>
                <a:tailEnd/>
              </a:ln>
            </p:spPr>
            <p:txBody>
              <a:bodyPr wrap="none">
                <a:spAutoFit/>
              </a:bodyPr>
              <a:lstStyle/>
              <a:p>
                <a:pPr algn="l"/>
                <a:r>
                  <a:rPr lang="en-US" sz="4000" b="1">
                    <a:latin typeface="Times New Roman" pitchFamily="18" charset="0"/>
                  </a:rPr>
                  <a:t>,</a:t>
                </a:r>
              </a:p>
            </p:txBody>
          </p:sp>
          <p:grpSp>
            <p:nvGrpSpPr>
              <p:cNvPr id="13" name="Group 55"/>
              <p:cNvGrpSpPr>
                <a:grpSpLocks/>
              </p:cNvGrpSpPr>
              <p:nvPr/>
            </p:nvGrpSpPr>
            <p:grpSpPr bwMode="auto">
              <a:xfrm>
                <a:off x="3360" y="672"/>
                <a:ext cx="398" cy="254"/>
                <a:chOff x="3360" y="672"/>
                <a:chExt cx="398" cy="254"/>
              </a:xfrm>
            </p:grpSpPr>
            <p:sp>
              <p:nvSpPr>
                <p:cNvPr id="8239" name="Oval 56"/>
                <p:cNvSpPr>
                  <a:spLocks noChangeArrowheads="1"/>
                </p:cNvSpPr>
                <p:nvPr/>
              </p:nvSpPr>
              <p:spPr bwMode="auto">
                <a:xfrm>
                  <a:off x="3504" y="672"/>
                  <a:ext cx="254" cy="254"/>
                </a:xfrm>
                <a:prstGeom prst="ellipse">
                  <a:avLst/>
                </a:prstGeom>
                <a:noFill/>
                <a:ln w="12700">
                  <a:solidFill>
                    <a:schemeClr val="tx1"/>
                  </a:solidFill>
                  <a:round/>
                  <a:headEnd/>
                  <a:tailEnd/>
                </a:ln>
              </p:spPr>
              <p:txBody>
                <a:bodyPr/>
                <a:lstStyle/>
                <a:p>
                  <a:endParaRPr lang="en-US"/>
                </a:p>
              </p:txBody>
            </p:sp>
            <p:sp>
              <p:nvSpPr>
                <p:cNvPr id="8240" name="Rectangle 57"/>
                <p:cNvSpPr>
                  <a:spLocks noChangeArrowheads="1"/>
                </p:cNvSpPr>
                <p:nvPr/>
              </p:nvSpPr>
              <p:spPr bwMode="auto">
                <a:xfrm>
                  <a:off x="3360" y="720"/>
                  <a:ext cx="148" cy="173"/>
                </a:xfrm>
                <a:prstGeom prst="rect">
                  <a:avLst/>
                </a:prstGeom>
                <a:noFill/>
                <a:ln w="9525">
                  <a:noFill/>
                  <a:miter lim="800000"/>
                  <a:headEnd/>
                  <a:tailEnd/>
                </a:ln>
              </p:spPr>
              <p:txBody>
                <a:bodyPr wrap="none">
                  <a:spAutoFit/>
                </a:bodyPr>
                <a:lstStyle/>
                <a:p>
                  <a:pPr algn="l"/>
                  <a:r>
                    <a:rPr lang="en-US" sz="1200" b="1"/>
                    <a:t>-</a:t>
                  </a:r>
                </a:p>
              </p:txBody>
            </p:sp>
          </p:grpSp>
        </p:grpSp>
      </p:grpSp>
      <p:grpSp>
        <p:nvGrpSpPr>
          <p:cNvPr id="14" name="Group 58"/>
          <p:cNvGrpSpPr>
            <a:grpSpLocks/>
          </p:cNvGrpSpPr>
          <p:nvPr/>
        </p:nvGrpSpPr>
        <p:grpSpPr bwMode="auto">
          <a:xfrm>
            <a:off x="2816225" y="457200"/>
            <a:ext cx="1374775" cy="1016000"/>
            <a:chOff x="1248" y="356"/>
            <a:chExt cx="866" cy="640"/>
          </a:xfrm>
        </p:grpSpPr>
        <p:grpSp>
          <p:nvGrpSpPr>
            <p:cNvPr id="15" name="Group 59"/>
            <p:cNvGrpSpPr>
              <a:grpSpLocks/>
            </p:cNvGrpSpPr>
            <p:nvPr/>
          </p:nvGrpSpPr>
          <p:grpSpPr bwMode="auto">
            <a:xfrm>
              <a:off x="1360" y="460"/>
              <a:ext cx="172" cy="300"/>
              <a:chOff x="1264" y="364"/>
              <a:chExt cx="172" cy="300"/>
            </a:xfrm>
          </p:grpSpPr>
          <p:sp>
            <p:nvSpPr>
              <p:cNvPr id="8210" name="Freeform 60"/>
              <p:cNvSpPr>
                <a:spLocks/>
              </p:cNvSpPr>
              <p:nvPr/>
            </p:nvSpPr>
            <p:spPr bwMode="auto">
              <a:xfrm>
                <a:off x="1285" y="364"/>
                <a:ext cx="151" cy="253"/>
              </a:xfrm>
              <a:custGeom>
                <a:avLst/>
                <a:gdLst>
                  <a:gd name="T0" fmla="*/ 151 w 151"/>
                  <a:gd name="T1" fmla="*/ 4 h 253"/>
                  <a:gd name="T2" fmla="*/ 146 w 151"/>
                  <a:gd name="T3" fmla="*/ 0 h 253"/>
                  <a:gd name="T4" fmla="*/ 0 w 151"/>
                  <a:gd name="T5" fmla="*/ 249 h 253"/>
                  <a:gd name="T6" fmla="*/ 4 w 151"/>
                  <a:gd name="T7" fmla="*/ 253 h 253"/>
                  <a:gd name="T8" fmla="*/ 151 w 151"/>
                  <a:gd name="T9" fmla="*/ 4 h 253"/>
                  <a:gd name="T10" fmla="*/ 0 60000 65536"/>
                  <a:gd name="T11" fmla="*/ 0 60000 65536"/>
                  <a:gd name="T12" fmla="*/ 0 60000 65536"/>
                  <a:gd name="T13" fmla="*/ 0 60000 65536"/>
                  <a:gd name="T14" fmla="*/ 0 60000 65536"/>
                  <a:gd name="T15" fmla="*/ 0 w 151"/>
                  <a:gd name="T16" fmla="*/ 0 h 253"/>
                  <a:gd name="T17" fmla="*/ 151 w 151"/>
                  <a:gd name="T18" fmla="*/ 253 h 253"/>
                </a:gdLst>
                <a:ahLst/>
                <a:cxnLst>
                  <a:cxn ang="T10">
                    <a:pos x="T0" y="T1"/>
                  </a:cxn>
                  <a:cxn ang="T11">
                    <a:pos x="T2" y="T3"/>
                  </a:cxn>
                  <a:cxn ang="T12">
                    <a:pos x="T4" y="T5"/>
                  </a:cxn>
                  <a:cxn ang="T13">
                    <a:pos x="T6" y="T7"/>
                  </a:cxn>
                  <a:cxn ang="T14">
                    <a:pos x="T8" y="T9"/>
                  </a:cxn>
                </a:cxnLst>
                <a:rect l="T15" t="T16" r="T17" b="T18"/>
                <a:pathLst>
                  <a:path w="151" h="253">
                    <a:moveTo>
                      <a:pt x="151" y="4"/>
                    </a:moveTo>
                    <a:lnTo>
                      <a:pt x="146" y="0"/>
                    </a:lnTo>
                    <a:lnTo>
                      <a:pt x="0" y="249"/>
                    </a:lnTo>
                    <a:lnTo>
                      <a:pt x="4" y="253"/>
                    </a:lnTo>
                    <a:lnTo>
                      <a:pt x="151" y="4"/>
                    </a:lnTo>
                    <a:close/>
                  </a:path>
                </a:pathLst>
              </a:custGeom>
              <a:solidFill>
                <a:srgbClr val="000000"/>
              </a:solidFill>
              <a:ln w="9525">
                <a:noFill/>
                <a:round/>
                <a:headEnd/>
                <a:tailEnd/>
              </a:ln>
            </p:spPr>
            <p:txBody>
              <a:bodyPr/>
              <a:lstStyle/>
              <a:p>
                <a:endParaRPr lang="en-US"/>
              </a:p>
            </p:txBody>
          </p:sp>
          <p:sp>
            <p:nvSpPr>
              <p:cNvPr id="8211" name="Freeform 61"/>
              <p:cNvSpPr>
                <a:spLocks/>
              </p:cNvSpPr>
              <p:nvPr/>
            </p:nvSpPr>
            <p:spPr bwMode="auto">
              <a:xfrm>
                <a:off x="1264" y="587"/>
                <a:ext cx="64" cy="77"/>
              </a:xfrm>
              <a:custGeom>
                <a:avLst/>
                <a:gdLst>
                  <a:gd name="T0" fmla="*/ 4 w 64"/>
                  <a:gd name="T1" fmla="*/ 0 h 77"/>
                  <a:gd name="T2" fmla="*/ 0 w 64"/>
                  <a:gd name="T3" fmla="*/ 77 h 77"/>
                  <a:gd name="T4" fmla="*/ 64 w 64"/>
                  <a:gd name="T5" fmla="*/ 34 h 77"/>
                  <a:gd name="T6" fmla="*/ 4 w 64"/>
                  <a:gd name="T7" fmla="*/ 0 h 77"/>
                  <a:gd name="T8" fmla="*/ 0 60000 65536"/>
                  <a:gd name="T9" fmla="*/ 0 60000 65536"/>
                  <a:gd name="T10" fmla="*/ 0 60000 65536"/>
                  <a:gd name="T11" fmla="*/ 0 60000 65536"/>
                  <a:gd name="T12" fmla="*/ 0 w 64"/>
                  <a:gd name="T13" fmla="*/ 0 h 77"/>
                  <a:gd name="T14" fmla="*/ 64 w 64"/>
                  <a:gd name="T15" fmla="*/ 77 h 77"/>
                </a:gdLst>
                <a:ahLst/>
                <a:cxnLst>
                  <a:cxn ang="T8">
                    <a:pos x="T0" y="T1"/>
                  </a:cxn>
                  <a:cxn ang="T9">
                    <a:pos x="T2" y="T3"/>
                  </a:cxn>
                  <a:cxn ang="T10">
                    <a:pos x="T4" y="T5"/>
                  </a:cxn>
                  <a:cxn ang="T11">
                    <a:pos x="T6" y="T7"/>
                  </a:cxn>
                </a:cxnLst>
                <a:rect l="T12" t="T13" r="T14" b="T15"/>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6" name="Group 62"/>
            <p:cNvGrpSpPr>
              <a:grpSpLocks/>
            </p:cNvGrpSpPr>
            <p:nvPr/>
          </p:nvGrpSpPr>
          <p:grpSpPr bwMode="auto">
            <a:xfrm>
              <a:off x="1527" y="425"/>
              <a:ext cx="434" cy="73"/>
              <a:chOff x="1431" y="329"/>
              <a:chExt cx="434" cy="73"/>
            </a:xfrm>
          </p:grpSpPr>
          <p:sp>
            <p:nvSpPr>
              <p:cNvPr id="8208" name="Rectangle 63"/>
              <p:cNvSpPr>
                <a:spLocks noChangeArrowheads="1"/>
              </p:cNvSpPr>
              <p:nvPr/>
            </p:nvSpPr>
            <p:spPr bwMode="auto">
              <a:xfrm>
                <a:off x="1431" y="359"/>
                <a:ext cx="370" cy="9"/>
              </a:xfrm>
              <a:prstGeom prst="rect">
                <a:avLst/>
              </a:prstGeom>
              <a:solidFill>
                <a:srgbClr val="000000"/>
              </a:solidFill>
              <a:ln w="9525">
                <a:noFill/>
                <a:miter lim="800000"/>
                <a:headEnd/>
                <a:tailEnd/>
              </a:ln>
            </p:spPr>
            <p:txBody>
              <a:bodyPr/>
              <a:lstStyle/>
              <a:p>
                <a:endParaRPr lang="en-US"/>
              </a:p>
            </p:txBody>
          </p:sp>
          <p:sp>
            <p:nvSpPr>
              <p:cNvPr id="8209" name="Freeform 64"/>
              <p:cNvSpPr>
                <a:spLocks/>
              </p:cNvSpPr>
              <p:nvPr/>
            </p:nvSpPr>
            <p:spPr bwMode="auto">
              <a:xfrm>
                <a:off x="1792" y="329"/>
                <a:ext cx="73" cy="73"/>
              </a:xfrm>
              <a:custGeom>
                <a:avLst/>
                <a:gdLst>
                  <a:gd name="T0" fmla="*/ 0 w 73"/>
                  <a:gd name="T1" fmla="*/ 73 h 73"/>
                  <a:gd name="T2" fmla="*/ 73 w 73"/>
                  <a:gd name="T3" fmla="*/ 35 h 73"/>
                  <a:gd name="T4" fmla="*/ 0 w 73"/>
                  <a:gd name="T5" fmla="*/ 0 h 73"/>
                  <a:gd name="T6" fmla="*/ 0 w 73"/>
                  <a:gd name="T7" fmla="*/ 73 h 73"/>
                  <a:gd name="T8" fmla="*/ 0 60000 65536"/>
                  <a:gd name="T9" fmla="*/ 0 60000 65536"/>
                  <a:gd name="T10" fmla="*/ 0 60000 65536"/>
                  <a:gd name="T11" fmla="*/ 0 60000 65536"/>
                  <a:gd name="T12" fmla="*/ 0 w 73"/>
                  <a:gd name="T13" fmla="*/ 0 h 73"/>
                  <a:gd name="T14" fmla="*/ 73 w 73"/>
                  <a:gd name="T15" fmla="*/ 73 h 73"/>
                </a:gdLst>
                <a:ahLst/>
                <a:cxnLst>
                  <a:cxn ang="T8">
                    <a:pos x="T0" y="T1"/>
                  </a:cxn>
                  <a:cxn ang="T9">
                    <a:pos x="T2" y="T3"/>
                  </a:cxn>
                  <a:cxn ang="T10">
                    <a:pos x="T4" y="T5"/>
                  </a:cxn>
                  <a:cxn ang="T11">
                    <a:pos x="T6" y="T7"/>
                  </a:cxn>
                </a:cxnLst>
                <a:rect l="T12" t="T13" r="T14" b="T15"/>
                <a:pathLst>
                  <a:path w="73" h="73">
                    <a:moveTo>
                      <a:pt x="0" y="73"/>
                    </a:moveTo>
                    <a:lnTo>
                      <a:pt x="73" y="35"/>
                    </a:lnTo>
                    <a:lnTo>
                      <a:pt x="0" y="0"/>
                    </a:lnTo>
                    <a:lnTo>
                      <a:pt x="0" y="73"/>
                    </a:lnTo>
                    <a:close/>
                  </a:path>
                </a:pathLst>
              </a:custGeom>
              <a:solidFill>
                <a:srgbClr val="000000"/>
              </a:solidFill>
              <a:ln w="9525">
                <a:noFill/>
                <a:round/>
                <a:headEnd/>
                <a:tailEnd/>
              </a:ln>
            </p:spPr>
            <p:txBody>
              <a:bodyPr/>
              <a:lstStyle/>
              <a:p>
                <a:endParaRPr lang="en-US"/>
              </a:p>
            </p:txBody>
          </p:sp>
        </p:grpSp>
        <p:sp>
          <p:nvSpPr>
            <p:cNvPr id="8206" name="Rectangle 65"/>
            <p:cNvSpPr>
              <a:spLocks noChangeArrowheads="1"/>
            </p:cNvSpPr>
            <p:nvPr/>
          </p:nvSpPr>
          <p:spPr bwMode="auto">
            <a:xfrm>
              <a:off x="2016" y="356"/>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rPr>
                <a:t>a</a:t>
              </a:r>
              <a:endParaRPr lang="en-US" i="1"/>
            </a:p>
          </p:txBody>
        </p:sp>
        <p:sp>
          <p:nvSpPr>
            <p:cNvPr id="8207" name="Rectangle 66"/>
            <p:cNvSpPr>
              <a:spLocks noChangeArrowheads="1"/>
            </p:cNvSpPr>
            <p:nvPr/>
          </p:nvSpPr>
          <p:spPr bwMode="auto">
            <a:xfrm>
              <a:off x="1248" y="785"/>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rPr>
                <a:t>c</a:t>
              </a:r>
              <a:endParaRPr lang="en-US" i="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5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autoUpdateAnimBg="0"/>
      <p:bldP spid="22538"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D6931CB6-7D82-4D47-AD8A-6AFE0949B32F}" type="slidenum">
              <a:rPr lang="en-US"/>
              <a:pPr/>
              <a:t>83</a:t>
            </a:fld>
            <a:endParaRPr lang="en-US"/>
          </a:p>
        </p:txBody>
      </p:sp>
      <p:sp>
        <p:nvSpPr>
          <p:cNvPr id="2050" name="Text Box 2"/>
          <p:cNvSpPr txBox="1">
            <a:spLocks noChangeArrowheads="1"/>
          </p:cNvSpPr>
          <p:nvPr/>
        </p:nvSpPr>
        <p:spPr bwMode="auto">
          <a:xfrm>
            <a:off x="381000" y="1387475"/>
            <a:ext cx="8382000" cy="822325"/>
          </a:xfrm>
          <a:prstGeom prst="rect">
            <a:avLst/>
          </a:prstGeom>
          <a:noFill/>
          <a:ln w="9525">
            <a:noFill/>
            <a:miter lim="800000"/>
            <a:headEnd/>
            <a:tailEnd/>
          </a:ln>
          <a:effectLst/>
        </p:spPr>
        <p:txBody>
          <a:bodyPr>
            <a:spAutoFit/>
          </a:bodyPr>
          <a:lstStyle/>
          <a:p>
            <a:pPr>
              <a:spcBef>
                <a:spcPct val="50000"/>
              </a:spcBef>
            </a:pPr>
            <a:r>
              <a:rPr lang="en-US">
                <a:latin typeface="Arial" pitchFamily="34" charset="0"/>
              </a:rPr>
              <a:t>We are now ready to move to the </a:t>
            </a:r>
            <a:r>
              <a:rPr lang="en-US" i="1">
                <a:solidFill>
                  <a:schemeClr val="accent2"/>
                </a:solidFill>
                <a:latin typeface="Arial" pitchFamily="34" charset="0"/>
              </a:rPr>
              <a:t>monoclinic system</a:t>
            </a:r>
            <a:r>
              <a:rPr lang="en-US">
                <a:latin typeface="Arial" pitchFamily="34" charset="0"/>
              </a:rPr>
              <a:t>.  There are </a:t>
            </a:r>
            <a:r>
              <a:rPr lang="en-US">
                <a:solidFill>
                  <a:schemeClr val="accent2"/>
                </a:solidFill>
                <a:latin typeface="Arial" pitchFamily="34" charset="0"/>
              </a:rPr>
              <a:t>13 monoclinic space groups</a:t>
            </a:r>
            <a:r>
              <a:rPr lang="en-US">
                <a:latin typeface="Arial" pitchFamily="34" charset="0"/>
              </a:rPr>
              <a:t>.  </a:t>
            </a:r>
            <a:endParaRPr lang="en-US">
              <a:latin typeface="Arial" pitchFamily="34" charset="0"/>
              <a:cs typeface="Arial" pitchFamily="34" charset="0"/>
              <a:sym typeface="Symbol" pitchFamily="18" charset="2"/>
            </a:endParaRPr>
          </a:p>
        </p:txBody>
      </p:sp>
      <p:sp>
        <p:nvSpPr>
          <p:cNvPr id="2052" name="Text Box 4"/>
          <p:cNvSpPr txBox="1">
            <a:spLocks noChangeArrowheads="1"/>
          </p:cNvSpPr>
          <p:nvPr/>
        </p:nvSpPr>
        <p:spPr bwMode="auto">
          <a:xfrm>
            <a:off x="381000" y="2898775"/>
            <a:ext cx="8305800" cy="2282825"/>
          </a:xfrm>
          <a:prstGeom prst="rect">
            <a:avLst/>
          </a:prstGeom>
          <a:noFill/>
          <a:ln w="9525">
            <a:noFill/>
            <a:miter lim="800000"/>
            <a:headEnd/>
            <a:tailEnd/>
          </a:ln>
          <a:effectLst/>
        </p:spPr>
        <p:txBody>
          <a:bodyPr>
            <a:spAutoFit/>
          </a:bodyPr>
          <a:lstStyle/>
          <a:p>
            <a:pPr>
              <a:spcBef>
                <a:spcPct val="50000"/>
              </a:spcBef>
            </a:pPr>
            <a:r>
              <a:rPr lang="en-US">
                <a:latin typeface="Arial" pitchFamily="34" charset="0"/>
                <a:cs typeface="Arial" pitchFamily="34" charset="0"/>
                <a:sym typeface="Symbol" pitchFamily="18" charset="2"/>
              </a:rPr>
              <a:t>Monoclinic crystals belong to </a:t>
            </a:r>
            <a:r>
              <a:rPr lang="en-US">
                <a:solidFill>
                  <a:schemeClr val="accent2"/>
                </a:solidFill>
                <a:latin typeface="Arial" pitchFamily="34" charset="0"/>
                <a:cs typeface="Arial" pitchFamily="34" charset="0"/>
                <a:sym typeface="Symbol" pitchFamily="18" charset="2"/>
              </a:rPr>
              <a:t>crystal classes 2, </a:t>
            </a:r>
            <a:r>
              <a:rPr lang="en-US" i="1">
                <a:solidFill>
                  <a:schemeClr val="accent2"/>
                </a:solidFill>
                <a:latin typeface="Arial" pitchFamily="34" charset="0"/>
                <a:cs typeface="Arial" pitchFamily="34" charset="0"/>
                <a:sym typeface="Symbol" pitchFamily="18" charset="2"/>
              </a:rPr>
              <a:t>m</a:t>
            </a:r>
            <a:r>
              <a:rPr lang="en-US">
                <a:solidFill>
                  <a:schemeClr val="accent2"/>
                </a:solidFill>
                <a:latin typeface="Arial" pitchFamily="34" charset="0"/>
                <a:cs typeface="Arial" pitchFamily="34" charset="0"/>
                <a:sym typeface="Symbol" pitchFamily="18" charset="2"/>
              </a:rPr>
              <a:t> or 2/</a:t>
            </a:r>
            <a:r>
              <a:rPr lang="en-US" i="1">
                <a:solidFill>
                  <a:schemeClr val="accent2"/>
                </a:solidFill>
                <a:latin typeface="Arial" pitchFamily="34" charset="0"/>
                <a:cs typeface="Arial" pitchFamily="34" charset="0"/>
                <a:sym typeface="Symbol" pitchFamily="18" charset="2"/>
              </a:rPr>
              <a:t>m</a:t>
            </a:r>
            <a:r>
              <a:rPr lang="en-US">
                <a:latin typeface="Arial" pitchFamily="34" charset="0"/>
                <a:cs typeface="Arial" pitchFamily="34" charset="0"/>
                <a:sym typeface="Symbol" pitchFamily="18" charset="2"/>
              </a:rPr>
              <a:t>.  In this section we’ll consider space groups </a:t>
            </a:r>
            <a:r>
              <a:rPr lang="en-US" i="1">
                <a:latin typeface="Arial" pitchFamily="34" charset="0"/>
                <a:cs typeface="Arial" pitchFamily="34" charset="0"/>
                <a:sym typeface="Symbol" pitchFamily="18" charset="2"/>
              </a:rPr>
              <a:t>P</a:t>
            </a:r>
            <a:r>
              <a:rPr lang="en-US">
                <a:latin typeface="Arial" pitchFamily="34" charset="0"/>
                <a:cs typeface="Arial" pitchFamily="34" charset="0"/>
                <a:sym typeface="Symbol" pitchFamily="18" charset="2"/>
              </a:rPr>
              <a:t>2, </a:t>
            </a:r>
            <a:r>
              <a:rPr lang="en-US" i="1">
                <a:latin typeface="Arial" pitchFamily="34" charset="0"/>
                <a:cs typeface="Arial" pitchFamily="34" charset="0"/>
                <a:sym typeface="Symbol" pitchFamily="18" charset="2"/>
              </a:rPr>
              <a:t>C</a:t>
            </a:r>
            <a:r>
              <a:rPr lang="en-US">
                <a:latin typeface="Arial" pitchFamily="34" charset="0"/>
                <a:cs typeface="Arial" pitchFamily="34" charset="0"/>
                <a:sym typeface="Symbol" pitchFamily="18" charset="2"/>
              </a:rPr>
              <a:t>2, and </a:t>
            </a:r>
            <a:r>
              <a:rPr lang="en-US" i="1">
                <a:latin typeface="Arial" pitchFamily="34" charset="0"/>
                <a:cs typeface="Arial" pitchFamily="34" charset="0"/>
                <a:sym typeface="Symbol" pitchFamily="18" charset="2"/>
              </a:rPr>
              <a:t>P</a:t>
            </a:r>
            <a:r>
              <a:rPr lang="en-US">
                <a:latin typeface="Arial" pitchFamily="34" charset="0"/>
                <a:cs typeface="Arial" pitchFamily="34" charset="0"/>
                <a:sym typeface="Symbol" pitchFamily="18" charset="2"/>
              </a:rPr>
              <a:t>2</a:t>
            </a:r>
            <a:r>
              <a:rPr lang="en-US" baseline="-25000">
                <a:latin typeface="Arial" pitchFamily="34" charset="0"/>
                <a:cs typeface="Arial" pitchFamily="34" charset="0"/>
                <a:sym typeface="Symbol" pitchFamily="18" charset="2"/>
              </a:rPr>
              <a:t>1</a:t>
            </a:r>
            <a:r>
              <a:rPr lang="en-US">
                <a:latin typeface="Arial" pitchFamily="34" charset="0"/>
                <a:cs typeface="Arial" pitchFamily="34" charset="0"/>
                <a:sym typeface="Symbol" pitchFamily="18" charset="2"/>
              </a:rPr>
              <a:t>.  </a:t>
            </a:r>
            <a:endParaRPr lang="en-US">
              <a:latin typeface="Arial" pitchFamily="34" charset="0"/>
            </a:endParaRPr>
          </a:p>
          <a:p>
            <a:pPr>
              <a:spcBef>
                <a:spcPct val="50000"/>
              </a:spcBef>
            </a:pPr>
            <a:r>
              <a:rPr lang="en-US">
                <a:latin typeface="Arial" pitchFamily="34" charset="0"/>
              </a:rPr>
              <a:t>We’ll start with space group </a:t>
            </a:r>
            <a:r>
              <a:rPr lang="en-US" i="1">
                <a:solidFill>
                  <a:schemeClr val="accent2"/>
                </a:solidFill>
                <a:latin typeface="Arial" pitchFamily="34" charset="0"/>
              </a:rPr>
              <a:t>P</a:t>
            </a:r>
            <a:r>
              <a:rPr lang="en-US">
                <a:solidFill>
                  <a:schemeClr val="accent2"/>
                </a:solidFill>
                <a:latin typeface="Arial" pitchFamily="34" charset="0"/>
              </a:rPr>
              <a:t>2</a:t>
            </a:r>
            <a:r>
              <a:rPr lang="en-US" i="1">
                <a:solidFill>
                  <a:schemeClr val="accent2"/>
                </a:solidFill>
                <a:latin typeface="Arial" pitchFamily="34" charset="0"/>
              </a:rPr>
              <a:t>, </a:t>
            </a:r>
            <a:r>
              <a:rPr lang="en-US">
                <a:solidFill>
                  <a:schemeClr val="accent2"/>
                </a:solidFill>
                <a:latin typeface="Arial" pitchFamily="34" charset="0"/>
              </a:rPr>
              <a:t>No. 3.</a:t>
            </a:r>
            <a:r>
              <a:rPr lang="en-US">
                <a:latin typeface="Arial" pitchFamily="34" charset="0"/>
              </a:rPr>
              <a:t>  In this case we have a primitive monoclinic unit, with a twofold axis.</a:t>
            </a:r>
            <a:endParaRPr lang="en-US">
              <a:latin typeface="Arial" pitchFamily="34" charset="0"/>
              <a:cs typeface="Arial" pitchFamily="34" charset="0"/>
              <a:sym typeface="Symbol" pitchFamily="18" charset="2"/>
            </a:endParaRPr>
          </a:p>
          <a:p>
            <a:pPr>
              <a:spcBef>
                <a:spcPct val="50000"/>
              </a:spcBef>
            </a:pPr>
            <a:endParaRPr lang="en-US">
              <a:latin typeface="Arial" pitchFamily="34" charset="0"/>
              <a:cs typeface="Arial" pitchFamily="34" charset="0"/>
              <a:sym typeface="Symbol" pitchFamily="18" charset="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2"/>
          </p:nvPr>
        </p:nvSpPr>
        <p:spPr/>
        <p:txBody>
          <a:bodyPr/>
          <a:lstStyle/>
          <a:p>
            <a:fld id="{96C1B2C5-8DF4-4474-BECB-7294DEF41040}" type="slidenum">
              <a:rPr lang="en-US"/>
              <a:pPr/>
              <a:t>84</a:t>
            </a:fld>
            <a:endParaRPr lang="en-US"/>
          </a:p>
        </p:txBody>
      </p:sp>
      <p:sp>
        <p:nvSpPr>
          <p:cNvPr id="25603" name="Text Box 3"/>
          <p:cNvSpPr txBox="1">
            <a:spLocks noChangeArrowheads="1"/>
          </p:cNvSpPr>
          <p:nvPr/>
        </p:nvSpPr>
        <p:spPr bwMode="auto">
          <a:xfrm>
            <a:off x="469692" y="3566410"/>
            <a:ext cx="8209613" cy="2708434"/>
          </a:xfrm>
          <a:prstGeom prst="rect">
            <a:avLst/>
          </a:prstGeom>
          <a:noFill/>
          <a:ln w="9525">
            <a:noFill/>
            <a:miter lim="800000"/>
            <a:headEnd/>
            <a:tailEnd/>
          </a:ln>
          <a:effectLst/>
        </p:spPr>
        <p:txBody>
          <a:bodyPr wrap="square">
            <a:spAutoFit/>
          </a:bodyPr>
          <a:lstStyle/>
          <a:p>
            <a:pPr>
              <a:spcBef>
                <a:spcPct val="50000"/>
              </a:spcBef>
            </a:pPr>
            <a:r>
              <a:rPr lang="en-US" dirty="0">
                <a:latin typeface="Arial" pitchFamily="34" charset="0"/>
              </a:rPr>
              <a:t>In the monoclinic system, </a:t>
            </a:r>
            <a:r>
              <a:rPr lang="en-US" i="1" dirty="0">
                <a:solidFill>
                  <a:srgbClr val="FF0066"/>
                </a:solidFill>
                <a:latin typeface="Arial" pitchFamily="34" charset="0"/>
              </a:rPr>
              <a:t>a</a:t>
            </a:r>
            <a:r>
              <a:rPr lang="en-US" dirty="0">
                <a:latin typeface="Arial" pitchFamily="34" charset="0"/>
              </a:rPr>
              <a:t> </a:t>
            </a:r>
            <a:r>
              <a:rPr lang="en-US" dirty="0">
                <a:latin typeface="Arial" pitchFamily="34" charset="0"/>
                <a:sym typeface="Symbol" pitchFamily="18" charset="2"/>
              </a:rPr>
              <a:t> </a:t>
            </a:r>
            <a:r>
              <a:rPr lang="en-US" i="1" dirty="0">
                <a:solidFill>
                  <a:srgbClr val="FF0066"/>
                </a:solidFill>
                <a:latin typeface="Arial" pitchFamily="34" charset="0"/>
                <a:sym typeface="Symbol" pitchFamily="18" charset="2"/>
              </a:rPr>
              <a:t>b</a:t>
            </a:r>
            <a:r>
              <a:rPr lang="en-US" dirty="0">
                <a:latin typeface="Arial" pitchFamily="34" charset="0"/>
                <a:sym typeface="Symbol" pitchFamily="18" charset="2"/>
              </a:rPr>
              <a:t>  </a:t>
            </a:r>
            <a:r>
              <a:rPr lang="en-US" i="1" dirty="0">
                <a:solidFill>
                  <a:srgbClr val="FF0066"/>
                </a:solidFill>
                <a:latin typeface="Arial" pitchFamily="34" charset="0"/>
                <a:sym typeface="Symbol" pitchFamily="18" charset="2"/>
              </a:rPr>
              <a:t>c</a:t>
            </a:r>
            <a:r>
              <a:rPr lang="en-US" dirty="0">
                <a:latin typeface="Arial" pitchFamily="34" charset="0"/>
                <a:sym typeface="Symbol" pitchFamily="18" charset="2"/>
              </a:rPr>
              <a:t>; </a:t>
            </a:r>
            <a:r>
              <a:rPr lang="en-US" i="1" dirty="0">
                <a:solidFill>
                  <a:srgbClr val="FF0066"/>
                </a:solidFill>
                <a:latin typeface="Arial" pitchFamily="34" charset="0"/>
                <a:sym typeface="Symbol" pitchFamily="18" charset="2"/>
              </a:rPr>
              <a:t></a:t>
            </a:r>
            <a:r>
              <a:rPr lang="en-US" dirty="0">
                <a:latin typeface="Arial" pitchFamily="34" charset="0"/>
                <a:sym typeface="Symbol" pitchFamily="18" charset="2"/>
              </a:rPr>
              <a:t> = </a:t>
            </a:r>
            <a:r>
              <a:rPr lang="en-US" i="1" dirty="0">
                <a:solidFill>
                  <a:srgbClr val="FF0066"/>
                </a:solidFill>
                <a:latin typeface="Arial" pitchFamily="34" charset="0"/>
                <a:sym typeface="Symbol" pitchFamily="18" charset="2"/>
              </a:rPr>
              <a:t></a:t>
            </a:r>
            <a:r>
              <a:rPr lang="en-US" dirty="0">
                <a:latin typeface="Arial" pitchFamily="34" charset="0"/>
                <a:sym typeface="Symbol" pitchFamily="18" charset="2"/>
              </a:rPr>
              <a:t> = 90</a:t>
            </a:r>
            <a:r>
              <a:rPr lang="en-US" dirty="0">
                <a:latin typeface="Arial" pitchFamily="34" charset="0"/>
                <a:cs typeface="Arial" pitchFamily="34" charset="0"/>
                <a:sym typeface="Symbol" pitchFamily="18" charset="2"/>
              </a:rPr>
              <a:t>º, and </a:t>
            </a:r>
            <a:r>
              <a:rPr lang="en-US" i="1" dirty="0">
                <a:solidFill>
                  <a:srgbClr val="FF0066"/>
                </a:solidFill>
                <a:latin typeface="Arial" pitchFamily="34" charset="0"/>
                <a:sym typeface="Symbol" pitchFamily="18" charset="2"/>
              </a:rPr>
              <a:t></a:t>
            </a:r>
            <a:r>
              <a:rPr lang="en-US" dirty="0">
                <a:latin typeface="Arial" pitchFamily="34" charset="0"/>
                <a:sym typeface="Symbol" pitchFamily="18" charset="2"/>
              </a:rPr>
              <a:t>  90</a:t>
            </a:r>
            <a:r>
              <a:rPr lang="en-US" dirty="0">
                <a:latin typeface="Arial" pitchFamily="34" charset="0"/>
                <a:cs typeface="Arial" pitchFamily="34" charset="0"/>
                <a:sym typeface="Symbol" pitchFamily="18" charset="2"/>
              </a:rPr>
              <a:t>º.  The </a:t>
            </a:r>
            <a:r>
              <a:rPr lang="en-US" i="1" dirty="0">
                <a:solidFill>
                  <a:srgbClr val="FF0066"/>
                </a:solidFill>
                <a:latin typeface="Arial" pitchFamily="34" charset="0"/>
                <a:cs typeface="Arial" pitchFamily="34" charset="0"/>
                <a:sym typeface="Symbol" pitchFamily="18" charset="2"/>
              </a:rPr>
              <a:t>b</a:t>
            </a:r>
            <a:r>
              <a:rPr lang="en-US" dirty="0">
                <a:latin typeface="Arial" pitchFamily="34" charset="0"/>
                <a:cs typeface="Arial" pitchFamily="34" charset="0"/>
                <a:sym typeface="Symbol" pitchFamily="18" charset="2"/>
              </a:rPr>
              <a:t> axis is perpendicular to </a:t>
            </a:r>
            <a:r>
              <a:rPr lang="en-US" i="1" dirty="0">
                <a:solidFill>
                  <a:srgbClr val="FF0066"/>
                </a:solidFill>
                <a:latin typeface="Arial" pitchFamily="34" charset="0"/>
                <a:cs typeface="Arial" pitchFamily="34" charset="0"/>
                <a:sym typeface="Symbol" pitchFamily="18" charset="2"/>
              </a:rPr>
              <a:t>a</a:t>
            </a:r>
            <a:r>
              <a:rPr lang="en-US" dirty="0">
                <a:latin typeface="Arial" pitchFamily="34" charset="0"/>
                <a:cs typeface="Arial" pitchFamily="34" charset="0"/>
                <a:sym typeface="Symbol" pitchFamily="18" charset="2"/>
              </a:rPr>
              <a:t> and </a:t>
            </a:r>
            <a:r>
              <a:rPr lang="en-US" i="1" dirty="0">
                <a:solidFill>
                  <a:srgbClr val="FF0066"/>
                </a:solidFill>
                <a:latin typeface="Arial" pitchFamily="34" charset="0"/>
                <a:cs typeface="Arial" pitchFamily="34" charset="0"/>
                <a:sym typeface="Symbol" pitchFamily="18" charset="2"/>
              </a:rPr>
              <a:t>c</a:t>
            </a:r>
            <a:r>
              <a:rPr lang="en-US" dirty="0">
                <a:latin typeface="Arial" pitchFamily="34" charset="0"/>
                <a:cs typeface="Arial" pitchFamily="34" charset="0"/>
                <a:sym typeface="Symbol" pitchFamily="18" charset="2"/>
              </a:rPr>
              <a:t>, and we thus call it the </a:t>
            </a:r>
            <a:r>
              <a:rPr lang="en-US" i="1" dirty="0">
                <a:solidFill>
                  <a:schemeClr val="accent2"/>
                </a:solidFill>
                <a:latin typeface="Arial" pitchFamily="34" charset="0"/>
                <a:cs typeface="Arial" pitchFamily="34" charset="0"/>
                <a:sym typeface="Symbol" pitchFamily="18" charset="2"/>
              </a:rPr>
              <a:t>unique</a:t>
            </a:r>
            <a:r>
              <a:rPr lang="en-US" dirty="0">
                <a:latin typeface="Arial" pitchFamily="34" charset="0"/>
                <a:cs typeface="Arial" pitchFamily="34" charset="0"/>
                <a:sym typeface="Symbol" pitchFamily="18" charset="2"/>
              </a:rPr>
              <a:t> axis.</a:t>
            </a:r>
          </a:p>
          <a:p>
            <a:pPr>
              <a:spcBef>
                <a:spcPct val="50000"/>
              </a:spcBef>
            </a:pPr>
            <a:r>
              <a:rPr lang="en-US" dirty="0">
                <a:latin typeface="Arial" pitchFamily="34" charset="0"/>
                <a:cs typeface="Arial" pitchFamily="34" charset="0"/>
                <a:sym typeface="Symbol" pitchFamily="18" charset="2"/>
              </a:rPr>
              <a:t>It is only possible to place a </a:t>
            </a:r>
            <a:r>
              <a:rPr lang="en-US" dirty="0">
                <a:solidFill>
                  <a:srgbClr val="FF0066"/>
                </a:solidFill>
                <a:latin typeface="Arial" pitchFamily="34" charset="0"/>
                <a:cs typeface="Arial" pitchFamily="34" charset="0"/>
                <a:sym typeface="Symbol" pitchFamily="18" charset="2"/>
              </a:rPr>
              <a:t>2</a:t>
            </a:r>
            <a:r>
              <a:rPr lang="en-US" dirty="0">
                <a:latin typeface="Arial" pitchFamily="34" charset="0"/>
                <a:cs typeface="Arial" pitchFamily="34" charset="0"/>
                <a:sym typeface="Symbol" pitchFamily="18" charset="2"/>
              </a:rPr>
              <a:t> </a:t>
            </a:r>
            <a:r>
              <a:rPr lang="en-US" i="1" dirty="0">
                <a:solidFill>
                  <a:schemeClr val="accent2"/>
                </a:solidFill>
                <a:latin typeface="Arial" pitchFamily="34" charset="0"/>
                <a:cs typeface="Arial" pitchFamily="34" charset="0"/>
                <a:sym typeface="Symbol" pitchFamily="18" charset="2"/>
              </a:rPr>
              <a:t>along</a:t>
            </a:r>
            <a:r>
              <a:rPr lang="en-US" dirty="0">
                <a:latin typeface="Arial" pitchFamily="34" charset="0"/>
                <a:cs typeface="Arial" pitchFamily="34" charset="0"/>
                <a:sym typeface="Symbol" pitchFamily="18" charset="2"/>
              </a:rPr>
              <a:t> the </a:t>
            </a:r>
            <a:r>
              <a:rPr lang="en-US" i="1" dirty="0">
                <a:solidFill>
                  <a:srgbClr val="FF0066"/>
                </a:solidFill>
                <a:latin typeface="Arial" pitchFamily="34" charset="0"/>
                <a:cs typeface="Arial" pitchFamily="34" charset="0"/>
                <a:sym typeface="Symbol" pitchFamily="18" charset="2"/>
              </a:rPr>
              <a:t>b</a:t>
            </a:r>
            <a:r>
              <a:rPr lang="en-US" dirty="0">
                <a:latin typeface="Arial" pitchFamily="34" charset="0"/>
                <a:cs typeface="Arial" pitchFamily="34" charset="0"/>
                <a:sym typeface="Symbol" pitchFamily="18" charset="2"/>
              </a:rPr>
              <a:t> axis, and only possible to place a mirror plane (</a:t>
            </a:r>
            <a:r>
              <a:rPr lang="en-US" i="1" dirty="0">
                <a:latin typeface="Arial" pitchFamily="34" charset="0"/>
                <a:cs typeface="Arial" pitchFamily="34" charset="0"/>
                <a:sym typeface="Symbol" pitchFamily="18" charset="2"/>
              </a:rPr>
              <a:t>m</a:t>
            </a:r>
            <a:r>
              <a:rPr lang="en-US" dirty="0">
                <a:latin typeface="Arial" pitchFamily="34" charset="0"/>
                <a:cs typeface="Arial" pitchFamily="34" charset="0"/>
                <a:sym typeface="Symbol" pitchFamily="18" charset="2"/>
              </a:rPr>
              <a:t>)</a:t>
            </a:r>
            <a:r>
              <a:rPr lang="en-US" i="1" dirty="0">
                <a:latin typeface="Arial" pitchFamily="34" charset="0"/>
                <a:cs typeface="Arial" pitchFamily="34" charset="0"/>
                <a:sym typeface="Symbol" pitchFamily="18" charset="2"/>
              </a:rPr>
              <a:t> </a:t>
            </a:r>
            <a:r>
              <a:rPr lang="en-US" i="1" dirty="0">
                <a:solidFill>
                  <a:schemeClr val="accent2"/>
                </a:solidFill>
                <a:latin typeface="Arial" pitchFamily="34" charset="0"/>
                <a:cs typeface="Arial" pitchFamily="34" charset="0"/>
                <a:sym typeface="Symbol" pitchFamily="18" charset="2"/>
              </a:rPr>
              <a:t>perpendicular</a:t>
            </a:r>
            <a:r>
              <a:rPr lang="en-US" dirty="0">
                <a:latin typeface="Arial" pitchFamily="34" charset="0"/>
                <a:cs typeface="Arial" pitchFamily="34" charset="0"/>
                <a:sym typeface="Symbol" pitchFamily="18" charset="2"/>
              </a:rPr>
              <a:t> to the </a:t>
            </a:r>
            <a:r>
              <a:rPr lang="en-US" i="1" dirty="0">
                <a:solidFill>
                  <a:srgbClr val="FF0066"/>
                </a:solidFill>
                <a:latin typeface="Arial" pitchFamily="34" charset="0"/>
                <a:cs typeface="Arial" pitchFamily="34" charset="0"/>
                <a:sym typeface="Symbol" pitchFamily="18" charset="2"/>
              </a:rPr>
              <a:t>b</a:t>
            </a:r>
            <a:r>
              <a:rPr lang="en-US" dirty="0">
                <a:latin typeface="Arial" pitchFamily="34" charset="0"/>
                <a:cs typeface="Arial" pitchFamily="34" charset="0"/>
                <a:sym typeface="Symbol" pitchFamily="18" charset="2"/>
              </a:rPr>
              <a:t> axis.</a:t>
            </a:r>
            <a:endParaRPr lang="en-US" dirty="0"/>
          </a:p>
          <a:p>
            <a:pPr>
              <a:spcBef>
                <a:spcPct val="50000"/>
              </a:spcBef>
            </a:pPr>
            <a:endParaRPr lang="en-US" sz="1400" baseline="30000" dirty="0">
              <a:latin typeface="Arial" pitchFamily="34" charset="0"/>
            </a:endParaRPr>
          </a:p>
        </p:txBody>
      </p:sp>
      <p:pic>
        <p:nvPicPr>
          <p:cNvPr id="25607" name="Picture 7" descr="monoc"/>
          <p:cNvPicPr>
            <a:picLocks noChangeAspect="1" noChangeArrowheads="1"/>
          </p:cNvPicPr>
          <p:nvPr/>
        </p:nvPicPr>
        <p:blipFill>
          <a:blip r:embed="rId2" cstate="print"/>
          <a:srcRect/>
          <a:stretch>
            <a:fillRect/>
          </a:stretch>
        </p:blipFill>
        <p:spPr bwMode="auto">
          <a:xfrm>
            <a:off x="742013" y="860685"/>
            <a:ext cx="3379788" cy="2262188"/>
          </a:xfrm>
          <a:prstGeom prst="rect">
            <a:avLst/>
          </a:prstGeom>
          <a:noFill/>
        </p:spPr>
      </p:pic>
      <p:pic>
        <p:nvPicPr>
          <p:cNvPr id="25608" name="Picture 8" descr="basemono"/>
          <p:cNvPicPr>
            <a:picLocks noChangeAspect="1" noChangeArrowheads="1"/>
          </p:cNvPicPr>
          <p:nvPr/>
        </p:nvPicPr>
        <p:blipFill>
          <a:blip r:embed="rId3" cstate="print"/>
          <a:srcRect/>
          <a:stretch>
            <a:fillRect/>
          </a:stretch>
        </p:blipFill>
        <p:spPr bwMode="auto">
          <a:xfrm>
            <a:off x="4635708" y="965616"/>
            <a:ext cx="3227388" cy="2160588"/>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lide Number Placeholder 3"/>
          <p:cNvSpPr>
            <a:spLocks noGrp="1"/>
          </p:cNvSpPr>
          <p:nvPr>
            <p:ph type="sldNum" sz="quarter" idx="12"/>
          </p:nvPr>
        </p:nvSpPr>
        <p:spPr/>
        <p:txBody>
          <a:bodyPr/>
          <a:lstStyle/>
          <a:p>
            <a:fld id="{49A1126B-CA39-479C-8D83-C8DC71C941D6}" type="slidenum">
              <a:rPr lang="en-US"/>
              <a:pPr/>
              <a:t>85</a:t>
            </a:fld>
            <a:endParaRPr lang="en-US"/>
          </a:p>
        </p:txBody>
      </p:sp>
      <p:sp>
        <p:nvSpPr>
          <p:cNvPr id="7170" name="Line 2"/>
          <p:cNvSpPr>
            <a:spLocks noChangeShapeType="1"/>
          </p:cNvSpPr>
          <p:nvPr/>
        </p:nvSpPr>
        <p:spPr bwMode="auto">
          <a:xfrm>
            <a:off x="3276600" y="1600200"/>
            <a:ext cx="2667000" cy="0"/>
          </a:xfrm>
          <a:prstGeom prst="line">
            <a:avLst/>
          </a:prstGeom>
          <a:noFill/>
          <a:ln w="19050">
            <a:solidFill>
              <a:schemeClr val="tx1"/>
            </a:solidFill>
            <a:round/>
            <a:headEnd/>
            <a:tailEnd/>
          </a:ln>
          <a:effectLst/>
        </p:spPr>
        <p:txBody>
          <a:bodyPr/>
          <a:lstStyle/>
          <a:p>
            <a:endParaRPr lang="en-US"/>
          </a:p>
        </p:txBody>
      </p:sp>
      <p:sp>
        <p:nvSpPr>
          <p:cNvPr id="7171" name="Line 3"/>
          <p:cNvSpPr>
            <a:spLocks noChangeShapeType="1"/>
          </p:cNvSpPr>
          <p:nvPr/>
        </p:nvSpPr>
        <p:spPr bwMode="auto">
          <a:xfrm flipH="1">
            <a:off x="5334000" y="1600200"/>
            <a:ext cx="609600" cy="1752600"/>
          </a:xfrm>
          <a:prstGeom prst="line">
            <a:avLst/>
          </a:prstGeom>
          <a:noFill/>
          <a:ln w="19050">
            <a:solidFill>
              <a:schemeClr val="tx1"/>
            </a:solidFill>
            <a:round/>
            <a:headEnd/>
            <a:tailEnd/>
          </a:ln>
          <a:effectLst/>
        </p:spPr>
        <p:txBody>
          <a:bodyPr/>
          <a:lstStyle/>
          <a:p>
            <a:endParaRPr lang="en-US"/>
          </a:p>
        </p:txBody>
      </p:sp>
      <p:sp>
        <p:nvSpPr>
          <p:cNvPr id="7172" name="Line 4"/>
          <p:cNvSpPr>
            <a:spLocks noChangeShapeType="1"/>
          </p:cNvSpPr>
          <p:nvPr/>
        </p:nvSpPr>
        <p:spPr bwMode="auto">
          <a:xfrm flipH="1">
            <a:off x="2590800" y="1600200"/>
            <a:ext cx="685800" cy="1752600"/>
          </a:xfrm>
          <a:prstGeom prst="line">
            <a:avLst/>
          </a:prstGeom>
          <a:noFill/>
          <a:ln w="19050">
            <a:solidFill>
              <a:schemeClr val="tx1"/>
            </a:solidFill>
            <a:round/>
            <a:headEnd/>
            <a:tailEnd/>
          </a:ln>
          <a:effectLst/>
        </p:spPr>
        <p:txBody>
          <a:bodyPr/>
          <a:lstStyle/>
          <a:p>
            <a:endParaRPr lang="en-US"/>
          </a:p>
        </p:txBody>
      </p:sp>
      <p:sp>
        <p:nvSpPr>
          <p:cNvPr id="7173" name="Line 5"/>
          <p:cNvSpPr>
            <a:spLocks noChangeShapeType="1"/>
          </p:cNvSpPr>
          <p:nvPr/>
        </p:nvSpPr>
        <p:spPr bwMode="auto">
          <a:xfrm>
            <a:off x="2590800" y="3352800"/>
            <a:ext cx="2743200" cy="0"/>
          </a:xfrm>
          <a:prstGeom prst="line">
            <a:avLst/>
          </a:prstGeom>
          <a:noFill/>
          <a:ln w="19050">
            <a:solidFill>
              <a:schemeClr val="tx1"/>
            </a:solidFill>
            <a:round/>
            <a:headEnd/>
            <a:tailEnd/>
          </a:ln>
          <a:effectLst/>
        </p:spPr>
        <p:txBody>
          <a:bodyPr/>
          <a:lstStyle/>
          <a:p>
            <a:endParaRPr lang="en-US"/>
          </a:p>
        </p:txBody>
      </p:sp>
      <p:sp>
        <p:nvSpPr>
          <p:cNvPr id="7174" name="Line 6"/>
          <p:cNvSpPr>
            <a:spLocks noChangeShapeType="1"/>
          </p:cNvSpPr>
          <p:nvPr/>
        </p:nvSpPr>
        <p:spPr bwMode="auto">
          <a:xfrm flipH="1">
            <a:off x="3962400" y="1600200"/>
            <a:ext cx="609600" cy="1752600"/>
          </a:xfrm>
          <a:prstGeom prst="line">
            <a:avLst/>
          </a:prstGeom>
          <a:noFill/>
          <a:ln w="19050">
            <a:solidFill>
              <a:schemeClr val="tx1"/>
            </a:solidFill>
            <a:round/>
            <a:headEnd/>
            <a:tailEnd/>
          </a:ln>
          <a:effectLst/>
        </p:spPr>
        <p:txBody>
          <a:bodyPr/>
          <a:lstStyle/>
          <a:p>
            <a:endParaRPr lang="en-US"/>
          </a:p>
        </p:txBody>
      </p:sp>
      <p:grpSp>
        <p:nvGrpSpPr>
          <p:cNvPr id="2" name="Group 8"/>
          <p:cNvGrpSpPr>
            <a:grpSpLocks/>
          </p:cNvGrpSpPr>
          <p:nvPr/>
        </p:nvGrpSpPr>
        <p:grpSpPr bwMode="auto">
          <a:xfrm>
            <a:off x="6096000" y="1676400"/>
            <a:ext cx="654050" cy="403225"/>
            <a:chOff x="3792" y="2112"/>
            <a:chExt cx="412" cy="254"/>
          </a:xfrm>
        </p:grpSpPr>
        <p:sp>
          <p:nvSpPr>
            <p:cNvPr id="7177" name="Oval 9"/>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178" name="Rectangle 10"/>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7179" name="Rectangle 11"/>
          <p:cNvSpPr>
            <a:spLocks noChangeArrowheads="1"/>
          </p:cNvSpPr>
          <p:nvPr/>
        </p:nvSpPr>
        <p:spPr bwMode="auto">
          <a:xfrm>
            <a:off x="2157413" y="4495800"/>
            <a:ext cx="796925" cy="457200"/>
          </a:xfrm>
          <a:prstGeom prst="rect">
            <a:avLst/>
          </a:prstGeom>
          <a:noFill/>
          <a:ln w="9525">
            <a:noFill/>
            <a:miter lim="800000"/>
            <a:headEnd/>
            <a:tailEnd/>
          </a:ln>
          <a:effectLst/>
        </p:spPr>
        <p:txBody>
          <a:bodyPr wrap="none">
            <a:spAutoFit/>
          </a:bodyPr>
          <a:lstStyle/>
          <a:p>
            <a:pPr>
              <a:spcBef>
                <a:spcPct val="50000"/>
              </a:spcBef>
            </a:pPr>
            <a:r>
              <a:rPr lang="en-US" b="1" i="1">
                <a:solidFill>
                  <a:srgbClr val="FF0000"/>
                </a:solidFill>
              </a:rPr>
              <a:t>Z</a:t>
            </a:r>
            <a:r>
              <a:rPr lang="en-US" b="1">
                <a:solidFill>
                  <a:srgbClr val="FF0000"/>
                </a:solidFill>
              </a:rPr>
              <a:t>=2;</a:t>
            </a:r>
          </a:p>
        </p:txBody>
      </p:sp>
      <p:sp>
        <p:nvSpPr>
          <p:cNvPr id="7180" name="Rectangle 12"/>
          <p:cNvSpPr>
            <a:spLocks noChangeArrowheads="1"/>
          </p:cNvSpPr>
          <p:nvPr/>
        </p:nvSpPr>
        <p:spPr bwMode="auto">
          <a:xfrm>
            <a:off x="1905000" y="4343400"/>
            <a:ext cx="5029200" cy="838200"/>
          </a:xfrm>
          <a:prstGeom prst="rect">
            <a:avLst/>
          </a:prstGeom>
          <a:noFill/>
          <a:ln w="9525">
            <a:solidFill>
              <a:srgbClr val="FF0000"/>
            </a:solidFill>
            <a:miter lim="800000"/>
            <a:headEnd/>
            <a:tailEnd/>
          </a:ln>
          <a:effectLst/>
        </p:spPr>
        <p:txBody>
          <a:bodyPr wrap="none" anchor="ctr"/>
          <a:lstStyle/>
          <a:p>
            <a:endParaRPr lang="en-US"/>
          </a:p>
        </p:txBody>
      </p:sp>
      <p:grpSp>
        <p:nvGrpSpPr>
          <p:cNvPr id="3" name="Group 13"/>
          <p:cNvGrpSpPr>
            <a:grpSpLocks/>
          </p:cNvGrpSpPr>
          <p:nvPr/>
        </p:nvGrpSpPr>
        <p:grpSpPr bwMode="auto">
          <a:xfrm>
            <a:off x="2590800" y="1066800"/>
            <a:ext cx="3581400" cy="3952875"/>
            <a:chOff x="1632" y="672"/>
            <a:chExt cx="2256" cy="2490"/>
          </a:xfrm>
        </p:grpSpPr>
        <p:graphicFrame>
          <p:nvGraphicFramePr>
            <p:cNvPr id="7182" name="Object 14"/>
            <p:cNvGraphicFramePr>
              <a:graphicFrameLocks noChangeAspect="1"/>
            </p:cNvGraphicFramePr>
            <p:nvPr/>
          </p:nvGraphicFramePr>
          <p:xfrm>
            <a:off x="3072" y="2784"/>
            <a:ext cx="816" cy="378"/>
          </p:xfrm>
          <a:graphic>
            <a:graphicData uri="http://schemas.openxmlformats.org/presentationml/2006/ole">
              <p:oleObj spid="_x0000_s802829" name="Equation" r:id="rId3" imgW="520560" imgH="241200" progId="">
                <p:embed/>
              </p:oleObj>
            </a:graphicData>
          </a:graphic>
        </p:graphicFrame>
        <p:grpSp>
          <p:nvGrpSpPr>
            <p:cNvPr id="4" name="Group 15"/>
            <p:cNvGrpSpPr>
              <a:grpSpLocks/>
            </p:cNvGrpSpPr>
            <p:nvPr/>
          </p:nvGrpSpPr>
          <p:grpSpPr bwMode="auto">
            <a:xfrm>
              <a:off x="1632" y="672"/>
              <a:ext cx="384" cy="254"/>
              <a:chOff x="1632" y="672"/>
              <a:chExt cx="384" cy="254"/>
            </a:xfrm>
          </p:grpSpPr>
          <p:sp>
            <p:nvSpPr>
              <p:cNvPr id="7184" name="Oval 16"/>
              <p:cNvSpPr>
                <a:spLocks noChangeArrowheads="1"/>
              </p:cNvSpPr>
              <p:nvPr/>
            </p:nvSpPr>
            <p:spPr bwMode="auto">
              <a:xfrm>
                <a:off x="1776" y="672"/>
                <a:ext cx="240" cy="254"/>
              </a:xfrm>
              <a:prstGeom prst="ellipse">
                <a:avLst/>
              </a:prstGeom>
              <a:noFill/>
              <a:ln w="12700">
                <a:solidFill>
                  <a:srgbClr val="0000FF"/>
                </a:solidFill>
                <a:round/>
                <a:headEnd/>
                <a:tailEnd/>
              </a:ln>
            </p:spPr>
            <p:txBody>
              <a:bodyPr/>
              <a:lstStyle/>
              <a:p>
                <a:endParaRPr lang="en-US"/>
              </a:p>
            </p:txBody>
          </p:sp>
          <p:sp>
            <p:nvSpPr>
              <p:cNvPr id="7185" name="Rectangle 17"/>
              <p:cNvSpPr>
                <a:spLocks noChangeArrowheads="1"/>
              </p:cNvSpPr>
              <p:nvPr/>
            </p:nvSpPr>
            <p:spPr bwMode="auto">
              <a:xfrm>
                <a:off x="1632" y="720"/>
                <a:ext cx="172" cy="173"/>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grpSp>
      </p:grpSp>
      <p:grpSp>
        <p:nvGrpSpPr>
          <p:cNvPr id="5" name="Group 18"/>
          <p:cNvGrpSpPr>
            <a:grpSpLocks/>
          </p:cNvGrpSpPr>
          <p:nvPr/>
        </p:nvGrpSpPr>
        <p:grpSpPr bwMode="auto">
          <a:xfrm>
            <a:off x="3276600" y="1676400"/>
            <a:ext cx="1295400" cy="3324225"/>
            <a:chOff x="2064" y="1056"/>
            <a:chExt cx="816" cy="2094"/>
          </a:xfrm>
        </p:grpSpPr>
        <p:graphicFrame>
          <p:nvGraphicFramePr>
            <p:cNvPr id="7187" name="Object 19"/>
            <p:cNvGraphicFramePr>
              <a:graphicFrameLocks noChangeAspect="1"/>
            </p:cNvGraphicFramePr>
            <p:nvPr/>
          </p:nvGraphicFramePr>
          <p:xfrm>
            <a:off x="2064" y="2832"/>
            <a:ext cx="816" cy="318"/>
          </p:xfrm>
          <a:graphic>
            <a:graphicData uri="http://schemas.openxmlformats.org/presentationml/2006/ole">
              <p:oleObj spid="_x0000_s802828" name="Equation" r:id="rId4" imgW="520560" imgH="203040" progId="">
                <p:embed/>
              </p:oleObj>
            </a:graphicData>
          </a:graphic>
        </p:graphicFrame>
        <p:grpSp>
          <p:nvGrpSpPr>
            <p:cNvPr id="6" name="Group 20"/>
            <p:cNvGrpSpPr>
              <a:grpSpLocks/>
            </p:cNvGrpSpPr>
            <p:nvPr/>
          </p:nvGrpSpPr>
          <p:grpSpPr bwMode="auto">
            <a:xfrm>
              <a:off x="2112" y="1056"/>
              <a:ext cx="412" cy="254"/>
              <a:chOff x="3792" y="2112"/>
              <a:chExt cx="412" cy="254"/>
            </a:xfrm>
          </p:grpSpPr>
          <p:sp>
            <p:nvSpPr>
              <p:cNvPr id="7189" name="Oval 21"/>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190" name="Rectangle 22"/>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grpSp>
        <p:nvGrpSpPr>
          <p:cNvPr id="7" name="Group 23"/>
          <p:cNvGrpSpPr>
            <a:grpSpLocks/>
          </p:cNvGrpSpPr>
          <p:nvPr/>
        </p:nvGrpSpPr>
        <p:grpSpPr bwMode="auto">
          <a:xfrm>
            <a:off x="2590800" y="3505200"/>
            <a:ext cx="654050" cy="403225"/>
            <a:chOff x="3792" y="2112"/>
            <a:chExt cx="412" cy="254"/>
          </a:xfrm>
        </p:grpSpPr>
        <p:sp>
          <p:nvSpPr>
            <p:cNvPr id="7192" name="Oval 24"/>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193" name="Rectangle 25"/>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8" name="Group 26"/>
          <p:cNvGrpSpPr>
            <a:grpSpLocks/>
          </p:cNvGrpSpPr>
          <p:nvPr/>
        </p:nvGrpSpPr>
        <p:grpSpPr bwMode="auto">
          <a:xfrm>
            <a:off x="5410200" y="3505200"/>
            <a:ext cx="654050" cy="403225"/>
            <a:chOff x="3792" y="2112"/>
            <a:chExt cx="412" cy="254"/>
          </a:xfrm>
        </p:grpSpPr>
        <p:sp>
          <p:nvSpPr>
            <p:cNvPr id="7195" name="Oval 27"/>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196" name="Rectangle 28"/>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aphicFrame>
        <p:nvGraphicFramePr>
          <p:cNvPr id="7197" name="Object 29"/>
          <p:cNvGraphicFramePr>
            <a:graphicFrameLocks noChangeAspect="1"/>
          </p:cNvGraphicFramePr>
          <p:nvPr/>
        </p:nvGraphicFramePr>
        <p:xfrm>
          <a:off x="6248400" y="457200"/>
          <a:ext cx="1716088" cy="639763"/>
        </p:xfrm>
        <a:graphic>
          <a:graphicData uri="http://schemas.openxmlformats.org/presentationml/2006/ole">
            <p:oleObj spid="_x0000_s802818" name="Equation" r:id="rId5" imgW="545760" imgH="203040" progId="">
              <p:embed/>
            </p:oleObj>
          </a:graphicData>
        </a:graphic>
      </p:graphicFrame>
      <p:sp>
        <p:nvSpPr>
          <p:cNvPr id="7198" name="Line 30"/>
          <p:cNvSpPr>
            <a:spLocks noChangeShapeType="1"/>
          </p:cNvSpPr>
          <p:nvPr/>
        </p:nvSpPr>
        <p:spPr bwMode="auto">
          <a:xfrm>
            <a:off x="2971800" y="2438400"/>
            <a:ext cx="2667000" cy="0"/>
          </a:xfrm>
          <a:prstGeom prst="line">
            <a:avLst/>
          </a:prstGeom>
          <a:noFill/>
          <a:ln w="19050">
            <a:solidFill>
              <a:schemeClr val="tx1"/>
            </a:solidFill>
            <a:round/>
            <a:headEnd/>
            <a:tailEnd/>
          </a:ln>
          <a:effectLst/>
        </p:spPr>
        <p:txBody>
          <a:bodyPr/>
          <a:lstStyle/>
          <a:p>
            <a:endParaRPr lang="en-US"/>
          </a:p>
        </p:txBody>
      </p:sp>
      <p:graphicFrame>
        <p:nvGraphicFramePr>
          <p:cNvPr id="7199" name="Object 31"/>
          <p:cNvGraphicFramePr>
            <a:graphicFrameLocks noChangeAspect="1"/>
          </p:cNvGraphicFramePr>
          <p:nvPr/>
        </p:nvGraphicFramePr>
        <p:xfrm>
          <a:off x="3937000" y="3171825"/>
          <a:ext cx="101600" cy="361950"/>
        </p:xfrm>
        <a:graphic>
          <a:graphicData uri="http://schemas.openxmlformats.org/presentationml/2006/ole">
            <p:oleObj spid="_x0000_s802819" name="CS ChemDraw Drawing" r:id="rId6" imgW="65879" imgH="232916" progId="">
              <p:embed/>
            </p:oleObj>
          </a:graphicData>
        </a:graphic>
      </p:graphicFrame>
      <p:graphicFrame>
        <p:nvGraphicFramePr>
          <p:cNvPr id="7200" name="Object 32"/>
          <p:cNvGraphicFramePr>
            <a:graphicFrameLocks noChangeAspect="1"/>
          </p:cNvGraphicFramePr>
          <p:nvPr/>
        </p:nvGraphicFramePr>
        <p:xfrm>
          <a:off x="3200400" y="1447800"/>
          <a:ext cx="104775" cy="371475"/>
        </p:xfrm>
        <a:graphic>
          <a:graphicData uri="http://schemas.openxmlformats.org/presentationml/2006/ole">
            <p:oleObj spid="_x0000_s802820" name="CS ChemDraw Drawing" r:id="rId7" imgW="65521" imgH="230037" progId="">
              <p:embed/>
            </p:oleObj>
          </a:graphicData>
        </a:graphic>
      </p:graphicFrame>
      <p:grpSp>
        <p:nvGrpSpPr>
          <p:cNvPr id="9" name="Group 33"/>
          <p:cNvGrpSpPr>
            <a:grpSpLocks/>
          </p:cNvGrpSpPr>
          <p:nvPr/>
        </p:nvGrpSpPr>
        <p:grpSpPr bwMode="auto">
          <a:xfrm>
            <a:off x="2514600" y="1447800"/>
            <a:ext cx="3457575" cy="2124075"/>
            <a:chOff x="1584" y="912"/>
            <a:chExt cx="2178" cy="1338"/>
          </a:xfrm>
        </p:grpSpPr>
        <p:graphicFrame>
          <p:nvGraphicFramePr>
            <p:cNvPr id="7202" name="Object 34"/>
            <p:cNvGraphicFramePr>
              <a:graphicFrameLocks noChangeAspect="1"/>
            </p:cNvGraphicFramePr>
            <p:nvPr/>
          </p:nvGraphicFramePr>
          <p:xfrm>
            <a:off x="3360" y="2016"/>
            <a:ext cx="66" cy="234"/>
          </p:xfrm>
          <a:graphic>
            <a:graphicData uri="http://schemas.openxmlformats.org/presentationml/2006/ole">
              <p:oleObj spid="_x0000_s802825" name="CS ChemDraw Drawing" r:id="rId8" imgW="65521" imgH="230037" progId="">
                <p:embed/>
              </p:oleObj>
            </a:graphicData>
          </a:graphic>
        </p:graphicFrame>
        <p:graphicFrame>
          <p:nvGraphicFramePr>
            <p:cNvPr id="7203" name="Object 35"/>
            <p:cNvGraphicFramePr>
              <a:graphicFrameLocks noChangeAspect="1"/>
            </p:cNvGraphicFramePr>
            <p:nvPr/>
          </p:nvGraphicFramePr>
          <p:xfrm>
            <a:off x="1584" y="1995"/>
            <a:ext cx="66" cy="234"/>
          </p:xfrm>
          <a:graphic>
            <a:graphicData uri="http://schemas.openxmlformats.org/presentationml/2006/ole">
              <p:oleObj spid="_x0000_s802826" name="CS ChemDraw Drawing" r:id="rId9" imgW="65521" imgH="230037" progId="">
                <p:embed/>
              </p:oleObj>
            </a:graphicData>
          </a:graphic>
        </p:graphicFrame>
        <p:graphicFrame>
          <p:nvGraphicFramePr>
            <p:cNvPr id="7204" name="Object 36"/>
            <p:cNvGraphicFramePr>
              <a:graphicFrameLocks noChangeAspect="1"/>
            </p:cNvGraphicFramePr>
            <p:nvPr/>
          </p:nvGraphicFramePr>
          <p:xfrm>
            <a:off x="3696" y="912"/>
            <a:ext cx="66" cy="234"/>
          </p:xfrm>
          <a:graphic>
            <a:graphicData uri="http://schemas.openxmlformats.org/presentationml/2006/ole">
              <p:oleObj spid="_x0000_s802827" name="CS ChemDraw Drawing" r:id="rId10" imgW="65521" imgH="230037" progId="">
                <p:embed/>
              </p:oleObj>
            </a:graphicData>
          </a:graphic>
        </p:graphicFrame>
      </p:grpSp>
      <p:graphicFrame>
        <p:nvGraphicFramePr>
          <p:cNvPr id="7205" name="Object 37"/>
          <p:cNvGraphicFramePr>
            <a:graphicFrameLocks noChangeAspect="1"/>
          </p:cNvGraphicFramePr>
          <p:nvPr/>
        </p:nvGraphicFramePr>
        <p:xfrm>
          <a:off x="5613400" y="2286000"/>
          <a:ext cx="101600" cy="361950"/>
        </p:xfrm>
        <a:graphic>
          <a:graphicData uri="http://schemas.openxmlformats.org/presentationml/2006/ole">
            <p:oleObj spid="_x0000_s802821" name="CS ChemDraw Drawing" r:id="rId11" imgW="65879" imgH="232916" progId="">
              <p:embed/>
            </p:oleObj>
          </a:graphicData>
        </a:graphic>
      </p:graphicFrame>
      <p:graphicFrame>
        <p:nvGraphicFramePr>
          <p:cNvPr id="7206" name="Object 38"/>
          <p:cNvGraphicFramePr>
            <a:graphicFrameLocks noChangeAspect="1"/>
          </p:cNvGraphicFramePr>
          <p:nvPr/>
        </p:nvGraphicFramePr>
        <p:xfrm>
          <a:off x="4495800" y="1447800"/>
          <a:ext cx="101600" cy="361950"/>
        </p:xfrm>
        <a:graphic>
          <a:graphicData uri="http://schemas.openxmlformats.org/presentationml/2006/ole">
            <p:oleObj spid="_x0000_s802822" name="CS ChemDraw Drawing" r:id="rId12" imgW="65879" imgH="232916" progId="">
              <p:embed/>
            </p:oleObj>
          </a:graphicData>
        </a:graphic>
      </p:graphicFrame>
      <p:graphicFrame>
        <p:nvGraphicFramePr>
          <p:cNvPr id="7207" name="Object 39"/>
          <p:cNvGraphicFramePr>
            <a:graphicFrameLocks noChangeAspect="1"/>
          </p:cNvGraphicFramePr>
          <p:nvPr/>
        </p:nvGraphicFramePr>
        <p:xfrm>
          <a:off x="2895600" y="2286000"/>
          <a:ext cx="101600" cy="361950"/>
        </p:xfrm>
        <a:graphic>
          <a:graphicData uri="http://schemas.openxmlformats.org/presentationml/2006/ole">
            <p:oleObj spid="_x0000_s802823" name="CS ChemDraw Drawing" r:id="rId13" imgW="65879" imgH="232916" progId="">
              <p:embed/>
            </p:oleObj>
          </a:graphicData>
        </a:graphic>
      </p:graphicFrame>
      <p:graphicFrame>
        <p:nvGraphicFramePr>
          <p:cNvPr id="7208" name="Object 40"/>
          <p:cNvGraphicFramePr>
            <a:graphicFrameLocks noChangeAspect="1"/>
          </p:cNvGraphicFramePr>
          <p:nvPr/>
        </p:nvGraphicFramePr>
        <p:xfrm>
          <a:off x="4241800" y="2286000"/>
          <a:ext cx="101600" cy="361950"/>
        </p:xfrm>
        <a:graphic>
          <a:graphicData uri="http://schemas.openxmlformats.org/presentationml/2006/ole">
            <p:oleObj spid="_x0000_s802824" name="CS ChemDraw Drawing" r:id="rId14" imgW="65879" imgH="232916" progId="">
              <p:embed/>
            </p:oleObj>
          </a:graphicData>
        </a:graphic>
      </p:graphicFrame>
      <p:grpSp>
        <p:nvGrpSpPr>
          <p:cNvPr id="10" name="Group 41"/>
          <p:cNvGrpSpPr>
            <a:grpSpLocks/>
          </p:cNvGrpSpPr>
          <p:nvPr/>
        </p:nvGrpSpPr>
        <p:grpSpPr bwMode="auto">
          <a:xfrm>
            <a:off x="5181600" y="1066800"/>
            <a:ext cx="676275" cy="403225"/>
            <a:chOff x="4004" y="1858"/>
            <a:chExt cx="426" cy="254"/>
          </a:xfrm>
        </p:grpSpPr>
        <p:sp>
          <p:nvSpPr>
            <p:cNvPr id="7210" name="Oval 42"/>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7211" name="Rectangle 43"/>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1" name="Group 44"/>
          <p:cNvGrpSpPr>
            <a:grpSpLocks/>
          </p:cNvGrpSpPr>
          <p:nvPr/>
        </p:nvGrpSpPr>
        <p:grpSpPr bwMode="auto">
          <a:xfrm>
            <a:off x="1752600" y="2819400"/>
            <a:ext cx="676275" cy="403225"/>
            <a:chOff x="4004" y="1858"/>
            <a:chExt cx="426" cy="254"/>
          </a:xfrm>
        </p:grpSpPr>
        <p:sp>
          <p:nvSpPr>
            <p:cNvPr id="7213" name="Oval 45"/>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7214" name="Rectangle 46"/>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2" name="Group 47"/>
          <p:cNvGrpSpPr>
            <a:grpSpLocks/>
          </p:cNvGrpSpPr>
          <p:nvPr/>
        </p:nvGrpSpPr>
        <p:grpSpPr bwMode="auto">
          <a:xfrm>
            <a:off x="4648200" y="2819400"/>
            <a:ext cx="676275" cy="403225"/>
            <a:chOff x="4004" y="1858"/>
            <a:chExt cx="426" cy="254"/>
          </a:xfrm>
        </p:grpSpPr>
        <p:sp>
          <p:nvSpPr>
            <p:cNvPr id="7216" name="Oval 48"/>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7217" name="Rectangle 49"/>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3" name="Group 63"/>
          <p:cNvGrpSpPr>
            <a:grpSpLocks noChangeAspect="1"/>
          </p:cNvGrpSpPr>
          <p:nvPr/>
        </p:nvGrpSpPr>
        <p:grpSpPr bwMode="auto">
          <a:xfrm>
            <a:off x="457200" y="381000"/>
            <a:ext cx="4689475" cy="1714500"/>
            <a:chOff x="288" y="240"/>
            <a:chExt cx="2954" cy="1080"/>
          </a:xfrm>
        </p:grpSpPr>
        <p:sp>
          <p:nvSpPr>
            <p:cNvPr id="7230" name="AutoShape 62"/>
            <p:cNvSpPr>
              <a:spLocks noChangeAspect="1" noChangeArrowheads="1" noTextEdit="1"/>
            </p:cNvSpPr>
            <p:nvPr/>
          </p:nvSpPr>
          <p:spPr bwMode="auto">
            <a:xfrm>
              <a:off x="288" y="240"/>
              <a:ext cx="1593" cy="1080"/>
            </a:xfrm>
            <a:prstGeom prst="rect">
              <a:avLst/>
            </a:prstGeom>
            <a:noFill/>
            <a:ln w="9525">
              <a:noFill/>
              <a:miter lim="800000"/>
              <a:headEnd/>
              <a:tailEnd/>
            </a:ln>
          </p:spPr>
          <p:txBody>
            <a:bodyPr/>
            <a:lstStyle/>
            <a:p>
              <a:endParaRPr lang="en-US"/>
            </a:p>
          </p:txBody>
        </p:sp>
        <p:grpSp>
          <p:nvGrpSpPr>
            <p:cNvPr id="14" name="Group 66"/>
            <p:cNvGrpSpPr>
              <a:grpSpLocks/>
            </p:cNvGrpSpPr>
            <p:nvPr/>
          </p:nvGrpSpPr>
          <p:grpSpPr bwMode="auto">
            <a:xfrm>
              <a:off x="975" y="412"/>
              <a:ext cx="172" cy="301"/>
              <a:chOff x="975" y="412"/>
              <a:chExt cx="172" cy="301"/>
            </a:xfrm>
          </p:grpSpPr>
          <p:sp>
            <p:nvSpPr>
              <p:cNvPr id="7232" name="Freeform 64"/>
              <p:cNvSpPr>
                <a:spLocks/>
              </p:cNvSpPr>
              <p:nvPr/>
            </p:nvSpPr>
            <p:spPr bwMode="auto">
              <a:xfrm>
                <a:off x="996" y="412"/>
                <a:ext cx="151" cy="254"/>
              </a:xfrm>
              <a:custGeom>
                <a:avLst/>
                <a:gdLst/>
                <a:ahLst/>
                <a:cxnLst>
                  <a:cxn ang="0">
                    <a:pos x="151" y="4"/>
                  </a:cxn>
                  <a:cxn ang="0">
                    <a:pos x="146" y="0"/>
                  </a:cxn>
                  <a:cxn ang="0">
                    <a:pos x="0" y="250"/>
                  </a:cxn>
                  <a:cxn ang="0">
                    <a:pos x="5" y="254"/>
                  </a:cxn>
                  <a:cxn ang="0">
                    <a:pos x="151" y="4"/>
                  </a:cxn>
                </a:cxnLst>
                <a:rect l="0" t="0" r="r" b="b"/>
                <a:pathLst>
                  <a:path w="151" h="254">
                    <a:moveTo>
                      <a:pt x="151" y="4"/>
                    </a:moveTo>
                    <a:lnTo>
                      <a:pt x="146" y="0"/>
                    </a:lnTo>
                    <a:lnTo>
                      <a:pt x="0" y="250"/>
                    </a:lnTo>
                    <a:lnTo>
                      <a:pt x="5" y="254"/>
                    </a:lnTo>
                    <a:lnTo>
                      <a:pt x="151" y="4"/>
                    </a:lnTo>
                    <a:close/>
                  </a:path>
                </a:pathLst>
              </a:custGeom>
              <a:solidFill>
                <a:srgbClr val="000000"/>
              </a:solidFill>
              <a:ln w="9525">
                <a:noFill/>
                <a:round/>
                <a:headEnd/>
                <a:tailEnd/>
              </a:ln>
            </p:spPr>
            <p:txBody>
              <a:bodyPr/>
              <a:lstStyle/>
              <a:p>
                <a:endParaRPr lang="en-US"/>
              </a:p>
            </p:txBody>
          </p:sp>
          <p:sp>
            <p:nvSpPr>
              <p:cNvPr id="7233" name="Freeform 65"/>
              <p:cNvSpPr>
                <a:spLocks/>
              </p:cNvSpPr>
              <p:nvPr/>
            </p:nvSpPr>
            <p:spPr bwMode="auto">
              <a:xfrm>
                <a:off x="975" y="636"/>
                <a:ext cx="64" cy="77"/>
              </a:xfrm>
              <a:custGeom>
                <a:avLst/>
                <a:gdLst/>
                <a:ahLst/>
                <a:cxnLst>
                  <a:cxn ang="0">
                    <a:pos x="4" y="0"/>
                  </a:cxn>
                  <a:cxn ang="0">
                    <a:pos x="0" y="77"/>
                  </a:cxn>
                  <a:cxn ang="0">
                    <a:pos x="64" y="34"/>
                  </a:cxn>
                  <a:cxn ang="0">
                    <a:pos x="4" y="0"/>
                  </a:cxn>
                </a:cxnLst>
                <a:rect l="0" t="0" r="r" b="b"/>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5" name="Group 69"/>
            <p:cNvGrpSpPr>
              <a:grpSpLocks/>
            </p:cNvGrpSpPr>
            <p:nvPr/>
          </p:nvGrpSpPr>
          <p:grpSpPr bwMode="auto">
            <a:xfrm>
              <a:off x="1142" y="378"/>
              <a:ext cx="434" cy="73"/>
              <a:chOff x="1142" y="378"/>
              <a:chExt cx="434" cy="73"/>
            </a:xfrm>
          </p:grpSpPr>
          <p:sp>
            <p:nvSpPr>
              <p:cNvPr id="7235" name="Rectangle 67"/>
              <p:cNvSpPr>
                <a:spLocks noChangeArrowheads="1"/>
              </p:cNvSpPr>
              <p:nvPr/>
            </p:nvSpPr>
            <p:spPr bwMode="auto">
              <a:xfrm>
                <a:off x="1142" y="408"/>
                <a:ext cx="370" cy="8"/>
              </a:xfrm>
              <a:prstGeom prst="rect">
                <a:avLst/>
              </a:prstGeom>
              <a:solidFill>
                <a:srgbClr val="000000"/>
              </a:solidFill>
              <a:ln w="9525">
                <a:noFill/>
                <a:miter lim="800000"/>
                <a:headEnd/>
                <a:tailEnd/>
              </a:ln>
            </p:spPr>
            <p:txBody>
              <a:bodyPr/>
              <a:lstStyle/>
              <a:p>
                <a:endParaRPr lang="en-US"/>
              </a:p>
            </p:txBody>
          </p:sp>
          <p:sp>
            <p:nvSpPr>
              <p:cNvPr id="7236" name="Freeform 68"/>
              <p:cNvSpPr>
                <a:spLocks/>
              </p:cNvSpPr>
              <p:nvPr/>
            </p:nvSpPr>
            <p:spPr bwMode="auto">
              <a:xfrm>
                <a:off x="1503" y="378"/>
                <a:ext cx="73" cy="73"/>
              </a:xfrm>
              <a:custGeom>
                <a:avLst/>
                <a:gdLst/>
                <a:ahLst/>
                <a:cxnLst>
                  <a:cxn ang="0">
                    <a:pos x="0" y="73"/>
                  </a:cxn>
                  <a:cxn ang="0">
                    <a:pos x="73" y="34"/>
                  </a:cxn>
                  <a:cxn ang="0">
                    <a:pos x="0" y="0"/>
                  </a:cxn>
                  <a:cxn ang="0">
                    <a:pos x="0" y="73"/>
                  </a:cxn>
                </a:cxnLst>
                <a:rect l="0" t="0" r="r" b="b"/>
                <a:pathLst>
                  <a:path w="73" h="73">
                    <a:moveTo>
                      <a:pt x="0" y="73"/>
                    </a:moveTo>
                    <a:lnTo>
                      <a:pt x="73" y="34"/>
                    </a:lnTo>
                    <a:lnTo>
                      <a:pt x="0" y="0"/>
                    </a:lnTo>
                    <a:lnTo>
                      <a:pt x="0" y="73"/>
                    </a:lnTo>
                    <a:close/>
                  </a:path>
                </a:pathLst>
              </a:custGeom>
              <a:solidFill>
                <a:srgbClr val="000000"/>
              </a:solidFill>
              <a:ln w="9525">
                <a:noFill/>
                <a:round/>
                <a:headEnd/>
                <a:tailEnd/>
              </a:ln>
            </p:spPr>
            <p:txBody>
              <a:bodyPr/>
              <a:lstStyle/>
              <a:p>
                <a:endParaRPr lang="en-US"/>
              </a:p>
            </p:txBody>
          </p:sp>
        </p:grpSp>
        <p:sp>
          <p:nvSpPr>
            <p:cNvPr id="7238" name="Rectangle 70"/>
            <p:cNvSpPr>
              <a:spLocks noChangeArrowheads="1"/>
            </p:cNvSpPr>
            <p:nvPr/>
          </p:nvSpPr>
          <p:spPr bwMode="auto">
            <a:xfrm>
              <a:off x="1194" y="610"/>
              <a:ext cx="1627" cy="413"/>
            </a:xfrm>
            <a:prstGeom prst="rect">
              <a:avLst/>
            </a:prstGeom>
            <a:noFill/>
            <a:ln w="9525">
              <a:noFill/>
              <a:miter lim="800000"/>
              <a:headEnd/>
              <a:tailEnd/>
            </a:ln>
          </p:spPr>
          <p:txBody>
            <a:bodyPr/>
            <a:lstStyle/>
            <a:p>
              <a:endParaRPr lang="en-US"/>
            </a:p>
          </p:txBody>
        </p:sp>
        <p:sp>
          <p:nvSpPr>
            <p:cNvPr id="7239" name="Rectangle 71"/>
            <p:cNvSpPr>
              <a:spLocks noChangeArrowheads="1"/>
            </p:cNvSpPr>
            <p:nvPr/>
          </p:nvSpPr>
          <p:spPr bwMode="auto">
            <a:xfrm>
              <a:off x="1246" y="640"/>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7240" name="Rectangle 72"/>
            <p:cNvSpPr>
              <a:spLocks noChangeArrowheads="1"/>
            </p:cNvSpPr>
            <p:nvPr/>
          </p:nvSpPr>
          <p:spPr bwMode="auto">
            <a:xfrm>
              <a:off x="1615" y="283"/>
              <a:ext cx="1627" cy="409"/>
            </a:xfrm>
            <a:prstGeom prst="rect">
              <a:avLst/>
            </a:prstGeom>
            <a:noFill/>
            <a:ln w="9525">
              <a:noFill/>
              <a:miter lim="800000"/>
              <a:headEnd/>
              <a:tailEnd/>
            </a:ln>
          </p:spPr>
          <p:txBody>
            <a:bodyPr/>
            <a:lstStyle/>
            <a:p>
              <a:endParaRPr lang="en-US"/>
            </a:p>
          </p:txBody>
        </p:sp>
        <p:sp>
          <p:nvSpPr>
            <p:cNvPr id="7241" name="Rectangle 73"/>
            <p:cNvSpPr>
              <a:spLocks noChangeArrowheads="1"/>
            </p:cNvSpPr>
            <p:nvPr/>
          </p:nvSpPr>
          <p:spPr bwMode="auto">
            <a:xfrm>
              <a:off x="1666" y="309"/>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7242" name="Rectangle 74"/>
            <p:cNvSpPr>
              <a:spLocks noChangeArrowheads="1"/>
            </p:cNvSpPr>
            <p:nvPr/>
          </p:nvSpPr>
          <p:spPr bwMode="auto">
            <a:xfrm>
              <a:off x="1761" y="30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7243" name="Rectangle 75"/>
            <p:cNvSpPr>
              <a:spLocks noChangeArrowheads="1"/>
            </p:cNvSpPr>
            <p:nvPr/>
          </p:nvSpPr>
          <p:spPr bwMode="auto">
            <a:xfrm>
              <a:off x="846" y="713"/>
              <a:ext cx="1628" cy="409"/>
            </a:xfrm>
            <a:prstGeom prst="rect">
              <a:avLst/>
            </a:prstGeom>
            <a:noFill/>
            <a:ln w="9525">
              <a:noFill/>
              <a:miter lim="800000"/>
              <a:headEnd/>
              <a:tailEnd/>
            </a:ln>
          </p:spPr>
          <p:txBody>
            <a:bodyPr/>
            <a:lstStyle/>
            <a:p>
              <a:endParaRPr lang="en-US"/>
            </a:p>
          </p:txBody>
        </p:sp>
        <p:sp>
          <p:nvSpPr>
            <p:cNvPr id="7244" name="Rectangle 76"/>
            <p:cNvSpPr>
              <a:spLocks noChangeArrowheads="1"/>
            </p:cNvSpPr>
            <p:nvPr/>
          </p:nvSpPr>
          <p:spPr bwMode="auto">
            <a:xfrm>
              <a:off x="898" y="739"/>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7245" name="Rectangle 77"/>
            <p:cNvSpPr>
              <a:spLocks noChangeArrowheads="1"/>
            </p:cNvSpPr>
            <p:nvPr/>
          </p:nvSpPr>
          <p:spPr bwMode="auto">
            <a:xfrm>
              <a:off x="984" y="73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2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72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720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719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720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720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717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7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9" grpId="0" autoUpdateAnimBg="0"/>
      <p:bldP spid="7180"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lide Number Placeholder 3"/>
          <p:cNvSpPr>
            <a:spLocks noGrp="1"/>
          </p:cNvSpPr>
          <p:nvPr>
            <p:ph type="sldNum" sz="quarter" idx="12"/>
          </p:nvPr>
        </p:nvSpPr>
        <p:spPr/>
        <p:txBody>
          <a:bodyPr/>
          <a:lstStyle/>
          <a:p>
            <a:fld id="{49A1126B-CA39-479C-8D83-C8DC71C941D6}" type="slidenum">
              <a:rPr lang="en-US"/>
              <a:pPr/>
              <a:t>86</a:t>
            </a:fld>
            <a:endParaRPr lang="en-US"/>
          </a:p>
        </p:txBody>
      </p:sp>
      <p:sp>
        <p:nvSpPr>
          <p:cNvPr id="7170" name="Line 2"/>
          <p:cNvSpPr>
            <a:spLocks noChangeShapeType="1"/>
          </p:cNvSpPr>
          <p:nvPr/>
        </p:nvSpPr>
        <p:spPr bwMode="auto">
          <a:xfrm>
            <a:off x="3276600" y="1600200"/>
            <a:ext cx="2667000" cy="0"/>
          </a:xfrm>
          <a:prstGeom prst="line">
            <a:avLst/>
          </a:prstGeom>
          <a:noFill/>
          <a:ln w="19050">
            <a:solidFill>
              <a:schemeClr val="tx1"/>
            </a:solidFill>
            <a:round/>
            <a:headEnd/>
            <a:tailEnd/>
          </a:ln>
          <a:effectLst/>
        </p:spPr>
        <p:txBody>
          <a:bodyPr/>
          <a:lstStyle/>
          <a:p>
            <a:endParaRPr lang="en-US"/>
          </a:p>
        </p:txBody>
      </p:sp>
      <p:sp>
        <p:nvSpPr>
          <p:cNvPr id="7171" name="Line 3"/>
          <p:cNvSpPr>
            <a:spLocks noChangeShapeType="1"/>
          </p:cNvSpPr>
          <p:nvPr/>
        </p:nvSpPr>
        <p:spPr bwMode="auto">
          <a:xfrm flipH="1">
            <a:off x="5334000" y="1600200"/>
            <a:ext cx="609600" cy="1752600"/>
          </a:xfrm>
          <a:prstGeom prst="line">
            <a:avLst/>
          </a:prstGeom>
          <a:noFill/>
          <a:ln w="19050">
            <a:solidFill>
              <a:schemeClr val="tx1"/>
            </a:solidFill>
            <a:round/>
            <a:headEnd/>
            <a:tailEnd/>
          </a:ln>
          <a:effectLst/>
        </p:spPr>
        <p:txBody>
          <a:bodyPr/>
          <a:lstStyle/>
          <a:p>
            <a:endParaRPr lang="en-US"/>
          </a:p>
        </p:txBody>
      </p:sp>
      <p:sp>
        <p:nvSpPr>
          <p:cNvPr id="7172" name="Line 4"/>
          <p:cNvSpPr>
            <a:spLocks noChangeShapeType="1"/>
          </p:cNvSpPr>
          <p:nvPr/>
        </p:nvSpPr>
        <p:spPr bwMode="auto">
          <a:xfrm flipH="1">
            <a:off x="2590800" y="1600200"/>
            <a:ext cx="685800" cy="1752600"/>
          </a:xfrm>
          <a:prstGeom prst="line">
            <a:avLst/>
          </a:prstGeom>
          <a:noFill/>
          <a:ln w="19050">
            <a:solidFill>
              <a:schemeClr val="tx1"/>
            </a:solidFill>
            <a:round/>
            <a:headEnd/>
            <a:tailEnd/>
          </a:ln>
          <a:effectLst/>
        </p:spPr>
        <p:txBody>
          <a:bodyPr/>
          <a:lstStyle/>
          <a:p>
            <a:endParaRPr lang="en-US"/>
          </a:p>
        </p:txBody>
      </p:sp>
      <p:sp>
        <p:nvSpPr>
          <p:cNvPr id="7173" name="Line 5"/>
          <p:cNvSpPr>
            <a:spLocks noChangeShapeType="1"/>
          </p:cNvSpPr>
          <p:nvPr/>
        </p:nvSpPr>
        <p:spPr bwMode="auto">
          <a:xfrm>
            <a:off x="2590800" y="3352800"/>
            <a:ext cx="2743200" cy="0"/>
          </a:xfrm>
          <a:prstGeom prst="line">
            <a:avLst/>
          </a:prstGeom>
          <a:noFill/>
          <a:ln w="19050">
            <a:solidFill>
              <a:schemeClr val="tx1"/>
            </a:solidFill>
            <a:round/>
            <a:headEnd/>
            <a:tailEnd/>
          </a:ln>
          <a:effectLst/>
        </p:spPr>
        <p:txBody>
          <a:bodyPr/>
          <a:lstStyle/>
          <a:p>
            <a:endParaRPr lang="en-US"/>
          </a:p>
        </p:txBody>
      </p:sp>
      <p:sp>
        <p:nvSpPr>
          <p:cNvPr id="7174" name="Line 6"/>
          <p:cNvSpPr>
            <a:spLocks noChangeShapeType="1"/>
          </p:cNvSpPr>
          <p:nvPr/>
        </p:nvSpPr>
        <p:spPr bwMode="auto">
          <a:xfrm flipH="1">
            <a:off x="3962400" y="1600200"/>
            <a:ext cx="609600" cy="1752600"/>
          </a:xfrm>
          <a:prstGeom prst="line">
            <a:avLst/>
          </a:prstGeom>
          <a:noFill/>
          <a:ln w="19050">
            <a:solidFill>
              <a:schemeClr val="tx1"/>
            </a:solidFill>
            <a:round/>
            <a:headEnd/>
            <a:tailEnd/>
          </a:ln>
          <a:effectLst/>
        </p:spPr>
        <p:txBody>
          <a:bodyPr/>
          <a:lstStyle/>
          <a:p>
            <a:endParaRPr lang="en-US"/>
          </a:p>
        </p:txBody>
      </p:sp>
      <p:grpSp>
        <p:nvGrpSpPr>
          <p:cNvPr id="2" name="Group 8"/>
          <p:cNvGrpSpPr>
            <a:grpSpLocks/>
          </p:cNvGrpSpPr>
          <p:nvPr/>
        </p:nvGrpSpPr>
        <p:grpSpPr bwMode="auto">
          <a:xfrm>
            <a:off x="6096000" y="1676400"/>
            <a:ext cx="654050" cy="403225"/>
            <a:chOff x="3792" y="2112"/>
            <a:chExt cx="412" cy="254"/>
          </a:xfrm>
        </p:grpSpPr>
        <p:sp>
          <p:nvSpPr>
            <p:cNvPr id="7177" name="Oval 9"/>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178" name="Rectangle 10"/>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7179" name="Rectangle 11"/>
          <p:cNvSpPr>
            <a:spLocks noChangeArrowheads="1"/>
          </p:cNvSpPr>
          <p:nvPr/>
        </p:nvSpPr>
        <p:spPr bwMode="auto">
          <a:xfrm>
            <a:off x="2157413" y="4495800"/>
            <a:ext cx="796925" cy="457200"/>
          </a:xfrm>
          <a:prstGeom prst="rect">
            <a:avLst/>
          </a:prstGeom>
          <a:noFill/>
          <a:ln w="9525">
            <a:noFill/>
            <a:miter lim="800000"/>
            <a:headEnd/>
            <a:tailEnd/>
          </a:ln>
          <a:effectLst/>
        </p:spPr>
        <p:txBody>
          <a:bodyPr wrap="none">
            <a:spAutoFit/>
          </a:bodyPr>
          <a:lstStyle/>
          <a:p>
            <a:pPr>
              <a:spcBef>
                <a:spcPct val="50000"/>
              </a:spcBef>
            </a:pPr>
            <a:r>
              <a:rPr lang="en-US" b="1" i="1">
                <a:solidFill>
                  <a:srgbClr val="FF0000"/>
                </a:solidFill>
              </a:rPr>
              <a:t>Z</a:t>
            </a:r>
            <a:r>
              <a:rPr lang="en-US" b="1">
                <a:solidFill>
                  <a:srgbClr val="FF0000"/>
                </a:solidFill>
              </a:rPr>
              <a:t>=2;</a:t>
            </a:r>
          </a:p>
        </p:txBody>
      </p:sp>
      <p:sp>
        <p:nvSpPr>
          <p:cNvPr id="7180" name="Rectangle 12"/>
          <p:cNvSpPr>
            <a:spLocks noChangeArrowheads="1"/>
          </p:cNvSpPr>
          <p:nvPr/>
        </p:nvSpPr>
        <p:spPr bwMode="auto">
          <a:xfrm>
            <a:off x="1905000" y="4343400"/>
            <a:ext cx="5029200" cy="838200"/>
          </a:xfrm>
          <a:prstGeom prst="rect">
            <a:avLst/>
          </a:prstGeom>
          <a:noFill/>
          <a:ln w="9525">
            <a:solidFill>
              <a:srgbClr val="FF0000"/>
            </a:solidFill>
            <a:miter lim="800000"/>
            <a:headEnd/>
            <a:tailEnd/>
          </a:ln>
          <a:effectLst/>
        </p:spPr>
        <p:txBody>
          <a:bodyPr wrap="none" anchor="ctr"/>
          <a:lstStyle/>
          <a:p>
            <a:endParaRPr lang="en-US"/>
          </a:p>
        </p:txBody>
      </p:sp>
      <p:grpSp>
        <p:nvGrpSpPr>
          <p:cNvPr id="3" name="Group 13"/>
          <p:cNvGrpSpPr>
            <a:grpSpLocks/>
          </p:cNvGrpSpPr>
          <p:nvPr/>
        </p:nvGrpSpPr>
        <p:grpSpPr bwMode="auto">
          <a:xfrm>
            <a:off x="2590800" y="1066800"/>
            <a:ext cx="3581400" cy="3952875"/>
            <a:chOff x="1632" y="672"/>
            <a:chExt cx="2256" cy="2490"/>
          </a:xfrm>
        </p:grpSpPr>
        <p:graphicFrame>
          <p:nvGraphicFramePr>
            <p:cNvPr id="7182" name="Object 14"/>
            <p:cNvGraphicFramePr>
              <a:graphicFrameLocks noChangeAspect="1"/>
            </p:cNvGraphicFramePr>
            <p:nvPr/>
          </p:nvGraphicFramePr>
          <p:xfrm>
            <a:off x="3072" y="2784"/>
            <a:ext cx="816" cy="378"/>
          </p:xfrm>
          <a:graphic>
            <a:graphicData uri="http://schemas.openxmlformats.org/presentationml/2006/ole">
              <p:oleObj spid="_x0000_s537613" name="Equation" r:id="rId3" imgW="520560" imgH="241200" progId="">
                <p:embed/>
              </p:oleObj>
            </a:graphicData>
          </a:graphic>
        </p:graphicFrame>
        <p:grpSp>
          <p:nvGrpSpPr>
            <p:cNvPr id="4" name="Group 15"/>
            <p:cNvGrpSpPr>
              <a:grpSpLocks/>
            </p:cNvGrpSpPr>
            <p:nvPr/>
          </p:nvGrpSpPr>
          <p:grpSpPr bwMode="auto">
            <a:xfrm>
              <a:off x="1632" y="672"/>
              <a:ext cx="384" cy="254"/>
              <a:chOff x="1632" y="672"/>
              <a:chExt cx="384" cy="254"/>
            </a:xfrm>
          </p:grpSpPr>
          <p:sp>
            <p:nvSpPr>
              <p:cNvPr id="7184" name="Oval 16"/>
              <p:cNvSpPr>
                <a:spLocks noChangeArrowheads="1"/>
              </p:cNvSpPr>
              <p:nvPr/>
            </p:nvSpPr>
            <p:spPr bwMode="auto">
              <a:xfrm>
                <a:off x="1776" y="672"/>
                <a:ext cx="240" cy="254"/>
              </a:xfrm>
              <a:prstGeom prst="ellipse">
                <a:avLst/>
              </a:prstGeom>
              <a:noFill/>
              <a:ln w="12700">
                <a:solidFill>
                  <a:srgbClr val="0000FF"/>
                </a:solidFill>
                <a:round/>
                <a:headEnd/>
                <a:tailEnd/>
              </a:ln>
            </p:spPr>
            <p:txBody>
              <a:bodyPr/>
              <a:lstStyle/>
              <a:p>
                <a:endParaRPr lang="en-US"/>
              </a:p>
            </p:txBody>
          </p:sp>
          <p:sp>
            <p:nvSpPr>
              <p:cNvPr id="7185" name="Rectangle 17"/>
              <p:cNvSpPr>
                <a:spLocks noChangeArrowheads="1"/>
              </p:cNvSpPr>
              <p:nvPr/>
            </p:nvSpPr>
            <p:spPr bwMode="auto">
              <a:xfrm>
                <a:off x="1632" y="720"/>
                <a:ext cx="172" cy="173"/>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grpSp>
      </p:grpSp>
      <p:grpSp>
        <p:nvGrpSpPr>
          <p:cNvPr id="5" name="Group 18"/>
          <p:cNvGrpSpPr>
            <a:grpSpLocks/>
          </p:cNvGrpSpPr>
          <p:nvPr/>
        </p:nvGrpSpPr>
        <p:grpSpPr bwMode="auto">
          <a:xfrm>
            <a:off x="3276600" y="1676400"/>
            <a:ext cx="1295400" cy="3324225"/>
            <a:chOff x="2064" y="1056"/>
            <a:chExt cx="816" cy="2094"/>
          </a:xfrm>
        </p:grpSpPr>
        <p:graphicFrame>
          <p:nvGraphicFramePr>
            <p:cNvPr id="7187" name="Object 19"/>
            <p:cNvGraphicFramePr>
              <a:graphicFrameLocks noChangeAspect="1"/>
            </p:cNvGraphicFramePr>
            <p:nvPr/>
          </p:nvGraphicFramePr>
          <p:xfrm>
            <a:off x="2064" y="2832"/>
            <a:ext cx="816" cy="318"/>
          </p:xfrm>
          <a:graphic>
            <a:graphicData uri="http://schemas.openxmlformats.org/presentationml/2006/ole">
              <p:oleObj spid="_x0000_s537612" name="Equation" r:id="rId4" imgW="520560" imgH="203040" progId="">
                <p:embed/>
              </p:oleObj>
            </a:graphicData>
          </a:graphic>
        </p:graphicFrame>
        <p:grpSp>
          <p:nvGrpSpPr>
            <p:cNvPr id="6" name="Group 20"/>
            <p:cNvGrpSpPr>
              <a:grpSpLocks/>
            </p:cNvGrpSpPr>
            <p:nvPr/>
          </p:nvGrpSpPr>
          <p:grpSpPr bwMode="auto">
            <a:xfrm>
              <a:off x="2112" y="1056"/>
              <a:ext cx="412" cy="254"/>
              <a:chOff x="3792" y="2112"/>
              <a:chExt cx="412" cy="254"/>
            </a:xfrm>
          </p:grpSpPr>
          <p:sp>
            <p:nvSpPr>
              <p:cNvPr id="7189" name="Oval 21"/>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190" name="Rectangle 22"/>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grpSp>
        <p:nvGrpSpPr>
          <p:cNvPr id="7" name="Group 23"/>
          <p:cNvGrpSpPr>
            <a:grpSpLocks/>
          </p:cNvGrpSpPr>
          <p:nvPr/>
        </p:nvGrpSpPr>
        <p:grpSpPr bwMode="auto">
          <a:xfrm>
            <a:off x="2590800" y="3505200"/>
            <a:ext cx="654050" cy="403225"/>
            <a:chOff x="3792" y="2112"/>
            <a:chExt cx="412" cy="254"/>
          </a:xfrm>
        </p:grpSpPr>
        <p:sp>
          <p:nvSpPr>
            <p:cNvPr id="7192" name="Oval 24"/>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193" name="Rectangle 25"/>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8" name="Group 26"/>
          <p:cNvGrpSpPr>
            <a:grpSpLocks/>
          </p:cNvGrpSpPr>
          <p:nvPr/>
        </p:nvGrpSpPr>
        <p:grpSpPr bwMode="auto">
          <a:xfrm>
            <a:off x="5410200" y="3505200"/>
            <a:ext cx="654050" cy="403225"/>
            <a:chOff x="3792" y="2112"/>
            <a:chExt cx="412" cy="254"/>
          </a:xfrm>
        </p:grpSpPr>
        <p:sp>
          <p:nvSpPr>
            <p:cNvPr id="7195" name="Oval 27"/>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7196" name="Rectangle 28"/>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aphicFrame>
        <p:nvGraphicFramePr>
          <p:cNvPr id="7197" name="Object 29"/>
          <p:cNvGraphicFramePr>
            <a:graphicFrameLocks noChangeAspect="1"/>
          </p:cNvGraphicFramePr>
          <p:nvPr/>
        </p:nvGraphicFramePr>
        <p:xfrm>
          <a:off x="6248400" y="457200"/>
          <a:ext cx="1716088" cy="639763"/>
        </p:xfrm>
        <a:graphic>
          <a:graphicData uri="http://schemas.openxmlformats.org/presentationml/2006/ole">
            <p:oleObj spid="_x0000_s537602" name="Equation" r:id="rId5" imgW="545760" imgH="203040" progId="">
              <p:embed/>
            </p:oleObj>
          </a:graphicData>
        </a:graphic>
      </p:graphicFrame>
      <p:sp>
        <p:nvSpPr>
          <p:cNvPr id="7198" name="Line 30"/>
          <p:cNvSpPr>
            <a:spLocks noChangeShapeType="1"/>
          </p:cNvSpPr>
          <p:nvPr/>
        </p:nvSpPr>
        <p:spPr bwMode="auto">
          <a:xfrm>
            <a:off x="2971800" y="2438400"/>
            <a:ext cx="2667000" cy="0"/>
          </a:xfrm>
          <a:prstGeom prst="line">
            <a:avLst/>
          </a:prstGeom>
          <a:noFill/>
          <a:ln w="19050">
            <a:solidFill>
              <a:schemeClr val="tx1"/>
            </a:solidFill>
            <a:round/>
            <a:headEnd/>
            <a:tailEnd/>
          </a:ln>
          <a:effectLst/>
        </p:spPr>
        <p:txBody>
          <a:bodyPr/>
          <a:lstStyle/>
          <a:p>
            <a:endParaRPr lang="en-US"/>
          </a:p>
        </p:txBody>
      </p:sp>
      <p:graphicFrame>
        <p:nvGraphicFramePr>
          <p:cNvPr id="7199" name="Object 31"/>
          <p:cNvGraphicFramePr>
            <a:graphicFrameLocks noChangeAspect="1"/>
          </p:cNvGraphicFramePr>
          <p:nvPr/>
        </p:nvGraphicFramePr>
        <p:xfrm>
          <a:off x="3937000" y="3171825"/>
          <a:ext cx="101600" cy="361950"/>
        </p:xfrm>
        <a:graphic>
          <a:graphicData uri="http://schemas.openxmlformats.org/presentationml/2006/ole">
            <p:oleObj spid="_x0000_s537603" name="CS ChemDraw Drawing" r:id="rId6" imgW="65879" imgH="232916" progId="">
              <p:embed/>
            </p:oleObj>
          </a:graphicData>
        </a:graphic>
      </p:graphicFrame>
      <p:graphicFrame>
        <p:nvGraphicFramePr>
          <p:cNvPr id="7200" name="Object 32"/>
          <p:cNvGraphicFramePr>
            <a:graphicFrameLocks noChangeAspect="1"/>
          </p:cNvGraphicFramePr>
          <p:nvPr/>
        </p:nvGraphicFramePr>
        <p:xfrm>
          <a:off x="3200400" y="1447800"/>
          <a:ext cx="104775" cy="371475"/>
        </p:xfrm>
        <a:graphic>
          <a:graphicData uri="http://schemas.openxmlformats.org/presentationml/2006/ole">
            <p:oleObj spid="_x0000_s537604" name="CS ChemDraw Drawing" r:id="rId7" imgW="65521" imgH="230037" progId="">
              <p:embed/>
            </p:oleObj>
          </a:graphicData>
        </a:graphic>
      </p:graphicFrame>
      <p:grpSp>
        <p:nvGrpSpPr>
          <p:cNvPr id="9" name="Group 33"/>
          <p:cNvGrpSpPr>
            <a:grpSpLocks/>
          </p:cNvGrpSpPr>
          <p:nvPr/>
        </p:nvGrpSpPr>
        <p:grpSpPr bwMode="auto">
          <a:xfrm>
            <a:off x="2514600" y="1447800"/>
            <a:ext cx="3457575" cy="2124075"/>
            <a:chOff x="1584" y="912"/>
            <a:chExt cx="2178" cy="1338"/>
          </a:xfrm>
        </p:grpSpPr>
        <p:graphicFrame>
          <p:nvGraphicFramePr>
            <p:cNvPr id="7202" name="Object 34"/>
            <p:cNvGraphicFramePr>
              <a:graphicFrameLocks noChangeAspect="1"/>
            </p:cNvGraphicFramePr>
            <p:nvPr/>
          </p:nvGraphicFramePr>
          <p:xfrm>
            <a:off x="3360" y="2016"/>
            <a:ext cx="66" cy="234"/>
          </p:xfrm>
          <a:graphic>
            <a:graphicData uri="http://schemas.openxmlformats.org/presentationml/2006/ole">
              <p:oleObj spid="_x0000_s537609" name="CS ChemDraw Drawing" r:id="rId8" imgW="65521" imgH="230037" progId="">
                <p:embed/>
              </p:oleObj>
            </a:graphicData>
          </a:graphic>
        </p:graphicFrame>
        <p:graphicFrame>
          <p:nvGraphicFramePr>
            <p:cNvPr id="7203" name="Object 35"/>
            <p:cNvGraphicFramePr>
              <a:graphicFrameLocks noChangeAspect="1"/>
            </p:cNvGraphicFramePr>
            <p:nvPr/>
          </p:nvGraphicFramePr>
          <p:xfrm>
            <a:off x="1584" y="1995"/>
            <a:ext cx="66" cy="234"/>
          </p:xfrm>
          <a:graphic>
            <a:graphicData uri="http://schemas.openxmlformats.org/presentationml/2006/ole">
              <p:oleObj spid="_x0000_s537610" name="CS ChemDraw Drawing" r:id="rId9" imgW="65521" imgH="230037" progId="">
                <p:embed/>
              </p:oleObj>
            </a:graphicData>
          </a:graphic>
        </p:graphicFrame>
        <p:graphicFrame>
          <p:nvGraphicFramePr>
            <p:cNvPr id="7204" name="Object 36"/>
            <p:cNvGraphicFramePr>
              <a:graphicFrameLocks noChangeAspect="1"/>
            </p:cNvGraphicFramePr>
            <p:nvPr/>
          </p:nvGraphicFramePr>
          <p:xfrm>
            <a:off x="3696" y="912"/>
            <a:ext cx="66" cy="234"/>
          </p:xfrm>
          <a:graphic>
            <a:graphicData uri="http://schemas.openxmlformats.org/presentationml/2006/ole">
              <p:oleObj spid="_x0000_s537611" name="CS ChemDraw Drawing" r:id="rId10" imgW="65521" imgH="230037" progId="">
                <p:embed/>
              </p:oleObj>
            </a:graphicData>
          </a:graphic>
        </p:graphicFrame>
      </p:grpSp>
      <p:graphicFrame>
        <p:nvGraphicFramePr>
          <p:cNvPr id="7205" name="Object 37"/>
          <p:cNvGraphicFramePr>
            <a:graphicFrameLocks noChangeAspect="1"/>
          </p:cNvGraphicFramePr>
          <p:nvPr/>
        </p:nvGraphicFramePr>
        <p:xfrm>
          <a:off x="5613400" y="2286000"/>
          <a:ext cx="101600" cy="361950"/>
        </p:xfrm>
        <a:graphic>
          <a:graphicData uri="http://schemas.openxmlformats.org/presentationml/2006/ole">
            <p:oleObj spid="_x0000_s537605" name="CS ChemDraw Drawing" r:id="rId11" imgW="65879" imgH="232916" progId="">
              <p:embed/>
            </p:oleObj>
          </a:graphicData>
        </a:graphic>
      </p:graphicFrame>
      <p:graphicFrame>
        <p:nvGraphicFramePr>
          <p:cNvPr id="7206" name="Object 38"/>
          <p:cNvGraphicFramePr>
            <a:graphicFrameLocks noChangeAspect="1"/>
          </p:cNvGraphicFramePr>
          <p:nvPr/>
        </p:nvGraphicFramePr>
        <p:xfrm>
          <a:off x="4495800" y="1447800"/>
          <a:ext cx="101600" cy="361950"/>
        </p:xfrm>
        <a:graphic>
          <a:graphicData uri="http://schemas.openxmlformats.org/presentationml/2006/ole">
            <p:oleObj spid="_x0000_s537606" name="CS ChemDraw Drawing" r:id="rId12" imgW="65879" imgH="232916" progId="">
              <p:embed/>
            </p:oleObj>
          </a:graphicData>
        </a:graphic>
      </p:graphicFrame>
      <p:graphicFrame>
        <p:nvGraphicFramePr>
          <p:cNvPr id="7207" name="Object 39"/>
          <p:cNvGraphicFramePr>
            <a:graphicFrameLocks noChangeAspect="1"/>
          </p:cNvGraphicFramePr>
          <p:nvPr/>
        </p:nvGraphicFramePr>
        <p:xfrm>
          <a:off x="2895600" y="2286000"/>
          <a:ext cx="101600" cy="361950"/>
        </p:xfrm>
        <a:graphic>
          <a:graphicData uri="http://schemas.openxmlformats.org/presentationml/2006/ole">
            <p:oleObj spid="_x0000_s537607" name="CS ChemDraw Drawing" r:id="rId13" imgW="65879" imgH="232916" progId="">
              <p:embed/>
            </p:oleObj>
          </a:graphicData>
        </a:graphic>
      </p:graphicFrame>
      <p:graphicFrame>
        <p:nvGraphicFramePr>
          <p:cNvPr id="7208" name="Object 40"/>
          <p:cNvGraphicFramePr>
            <a:graphicFrameLocks noChangeAspect="1"/>
          </p:cNvGraphicFramePr>
          <p:nvPr/>
        </p:nvGraphicFramePr>
        <p:xfrm>
          <a:off x="4241800" y="2286000"/>
          <a:ext cx="101600" cy="361950"/>
        </p:xfrm>
        <a:graphic>
          <a:graphicData uri="http://schemas.openxmlformats.org/presentationml/2006/ole">
            <p:oleObj spid="_x0000_s537608" name="CS ChemDraw Drawing" r:id="rId14" imgW="65879" imgH="232916" progId="">
              <p:embed/>
            </p:oleObj>
          </a:graphicData>
        </a:graphic>
      </p:graphicFrame>
      <p:grpSp>
        <p:nvGrpSpPr>
          <p:cNvPr id="10" name="Group 41"/>
          <p:cNvGrpSpPr>
            <a:grpSpLocks/>
          </p:cNvGrpSpPr>
          <p:nvPr/>
        </p:nvGrpSpPr>
        <p:grpSpPr bwMode="auto">
          <a:xfrm>
            <a:off x="5181600" y="1066800"/>
            <a:ext cx="676275" cy="403225"/>
            <a:chOff x="4004" y="1858"/>
            <a:chExt cx="426" cy="254"/>
          </a:xfrm>
        </p:grpSpPr>
        <p:sp>
          <p:nvSpPr>
            <p:cNvPr id="7210" name="Oval 42"/>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7211" name="Rectangle 43"/>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1" name="Group 44"/>
          <p:cNvGrpSpPr>
            <a:grpSpLocks/>
          </p:cNvGrpSpPr>
          <p:nvPr/>
        </p:nvGrpSpPr>
        <p:grpSpPr bwMode="auto">
          <a:xfrm>
            <a:off x="1752600" y="2819400"/>
            <a:ext cx="676275" cy="403225"/>
            <a:chOff x="4004" y="1858"/>
            <a:chExt cx="426" cy="254"/>
          </a:xfrm>
        </p:grpSpPr>
        <p:sp>
          <p:nvSpPr>
            <p:cNvPr id="7213" name="Oval 45"/>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7214" name="Rectangle 46"/>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2" name="Group 47"/>
          <p:cNvGrpSpPr>
            <a:grpSpLocks/>
          </p:cNvGrpSpPr>
          <p:nvPr/>
        </p:nvGrpSpPr>
        <p:grpSpPr bwMode="auto">
          <a:xfrm>
            <a:off x="4648200" y="2819400"/>
            <a:ext cx="676275" cy="403225"/>
            <a:chOff x="4004" y="1858"/>
            <a:chExt cx="426" cy="254"/>
          </a:xfrm>
        </p:grpSpPr>
        <p:sp>
          <p:nvSpPr>
            <p:cNvPr id="7216" name="Oval 48"/>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7217" name="Rectangle 49"/>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5" name="Group 63"/>
          <p:cNvGrpSpPr>
            <a:grpSpLocks noChangeAspect="1"/>
          </p:cNvGrpSpPr>
          <p:nvPr/>
        </p:nvGrpSpPr>
        <p:grpSpPr bwMode="auto">
          <a:xfrm>
            <a:off x="457200" y="381000"/>
            <a:ext cx="4689475" cy="1714500"/>
            <a:chOff x="288" y="240"/>
            <a:chExt cx="2954" cy="1080"/>
          </a:xfrm>
        </p:grpSpPr>
        <p:sp>
          <p:nvSpPr>
            <p:cNvPr id="7230" name="AutoShape 62"/>
            <p:cNvSpPr>
              <a:spLocks noChangeAspect="1" noChangeArrowheads="1" noTextEdit="1"/>
            </p:cNvSpPr>
            <p:nvPr/>
          </p:nvSpPr>
          <p:spPr bwMode="auto">
            <a:xfrm>
              <a:off x="288" y="240"/>
              <a:ext cx="1593" cy="1080"/>
            </a:xfrm>
            <a:prstGeom prst="rect">
              <a:avLst/>
            </a:prstGeom>
            <a:noFill/>
            <a:ln w="9525">
              <a:noFill/>
              <a:miter lim="800000"/>
              <a:headEnd/>
              <a:tailEnd/>
            </a:ln>
          </p:spPr>
          <p:txBody>
            <a:bodyPr/>
            <a:lstStyle/>
            <a:p>
              <a:endParaRPr lang="en-US"/>
            </a:p>
          </p:txBody>
        </p:sp>
        <p:grpSp>
          <p:nvGrpSpPr>
            <p:cNvPr id="16" name="Group 66"/>
            <p:cNvGrpSpPr>
              <a:grpSpLocks/>
            </p:cNvGrpSpPr>
            <p:nvPr/>
          </p:nvGrpSpPr>
          <p:grpSpPr bwMode="auto">
            <a:xfrm>
              <a:off x="975" y="412"/>
              <a:ext cx="172" cy="301"/>
              <a:chOff x="975" y="412"/>
              <a:chExt cx="172" cy="301"/>
            </a:xfrm>
          </p:grpSpPr>
          <p:sp>
            <p:nvSpPr>
              <p:cNvPr id="7232" name="Freeform 64"/>
              <p:cNvSpPr>
                <a:spLocks/>
              </p:cNvSpPr>
              <p:nvPr/>
            </p:nvSpPr>
            <p:spPr bwMode="auto">
              <a:xfrm>
                <a:off x="996" y="412"/>
                <a:ext cx="151" cy="254"/>
              </a:xfrm>
              <a:custGeom>
                <a:avLst/>
                <a:gdLst/>
                <a:ahLst/>
                <a:cxnLst>
                  <a:cxn ang="0">
                    <a:pos x="151" y="4"/>
                  </a:cxn>
                  <a:cxn ang="0">
                    <a:pos x="146" y="0"/>
                  </a:cxn>
                  <a:cxn ang="0">
                    <a:pos x="0" y="250"/>
                  </a:cxn>
                  <a:cxn ang="0">
                    <a:pos x="5" y="254"/>
                  </a:cxn>
                  <a:cxn ang="0">
                    <a:pos x="151" y="4"/>
                  </a:cxn>
                </a:cxnLst>
                <a:rect l="0" t="0" r="r" b="b"/>
                <a:pathLst>
                  <a:path w="151" h="254">
                    <a:moveTo>
                      <a:pt x="151" y="4"/>
                    </a:moveTo>
                    <a:lnTo>
                      <a:pt x="146" y="0"/>
                    </a:lnTo>
                    <a:lnTo>
                      <a:pt x="0" y="250"/>
                    </a:lnTo>
                    <a:lnTo>
                      <a:pt x="5" y="254"/>
                    </a:lnTo>
                    <a:lnTo>
                      <a:pt x="151" y="4"/>
                    </a:lnTo>
                    <a:close/>
                  </a:path>
                </a:pathLst>
              </a:custGeom>
              <a:solidFill>
                <a:srgbClr val="000000"/>
              </a:solidFill>
              <a:ln w="9525">
                <a:noFill/>
                <a:round/>
                <a:headEnd/>
                <a:tailEnd/>
              </a:ln>
            </p:spPr>
            <p:txBody>
              <a:bodyPr/>
              <a:lstStyle/>
              <a:p>
                <a:endParaRPr lang="en-US"/>
              </a:p>
            </p:txBody>
          </p:sp>
          <p:sp>
            <p:nvSpPr>
              <p:cNvPr id="7233" name="Freeform 65"/>
              <p:cNvSpPr>
                <a:spLocks/>
              </p:cNvSpPr>
              <p:nvPr/>
            </p:nvSpPr>
            <p:spPr bwMode="auto">
              <a:xfrm>
                <a:off x="975" y="636"/>
                <a:ext cx="64" cy="77"/>
              </a:xfrm>
              <a:custGeom>
                <a:avLst/>
                <a:gdLst/>
                <a:ahLst/>
                <a:cxnLst>
                  <a:cxn ang="0">
                    <a:pos x="4" y="0"/>
                  </a:cxn>
                  <a:cxn ang="0">
                    <a:pos x="0" y="77"/>
                  </a:cxn>
                  <a:cxn ang="0">
                    <a:pos x="64" y="34"/>
                  </a:cxn>
                  <a:cxn ang="0">
                    <a:pos x="4" y="0"/>
                  </a:cxn>
                </a:cxnLst>
                <a:rect l="0" t="0" r="r" b="b"/>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7" name="Group 69"/>
            <p:cNvGrpSpPr>
              <a:grpSpLocks/>
            </p:cNvGrpSpPr>
            <p:nvPr/>
          </p:nvGrpSpPr>
          <p:grpSpPr bwMode="auto">
            <a:xfrm>
              <a:off x="1142" y="378"/>
              <a:ext cx="434" cy="73"/>
              <a:chOff x="1142" y="378"/>
              <a:chExt cx="434" cy="73"/>
            </a:xfrm>
          </p:grpSpPr>
          <p:sp>
            <p:nvSpPr>
              <p:cNvPr id="7235" name="Rectangle 67"/>
              <p:cNvSpPr>
                <a:spLocks noChangeArrowheads="1"/>
              </p:cNvSpPr>
              <p:nvPr/>
            </p:nvSpPr>
            <p:spPr bwMode="auto">
              <a:xfrm>
                <a:off x="1142" y="408"/>
                <a:ext cx="370" cy="8"/>
              </a:xfrm>
              <a:prstGeom prst="rect">
                <a:avLst/>
              </a:prstGeom>
              <a:solidFill>
                <a:srgbClr val="000000"/>
              </a:solidFill>
              <a:ln w="9525">
                <a:noFill/>
                <a:miter lim="800000"/>
                <a:headEnd/>
                <a:tailEnd/>
              </a:ln>
            </p:spPr>
            <p:txBody>
              <a:bodyPr/>
              <a:lstStyle/>
              <a:p>
                <a:endParaRPr lang="en-US"/>
              </a:p>
            </p:txBody>
          </p:sp>
          <p:sp>
            <p:nvSpPr>
              <p:cNvPr id="7236" name="Freeform 68"/>
              <p:cNvSpPr>
                <a:spLocks/>
              </p:cNvSpPr>
              <p:nvPr/>
            </p:nvSpPr>
            <p:spPr bwMode="auto">
              <a:xfrm>
                <a:off x="1503" y="378"/>
                <a:ext cx="73" cy="73"/>
              </a:xfrm>
              <a:custGeom>
                <a:avLst/>
                <a:gdLst/>
                <a:ahLst/>
                <a:cxnLst>
                  <a:cxn ang="0">
                    <a:pos x="0" y="73"/>
                  </a:cxn>
                  <a:cxn ang="0">
                    <a:pos x="73" y="34"/>
                  </a:cxn>
                  <a:cxn ang="0">
                    <a:pos x="0" y="0"/>
                  </a:cxn>
                  <a:cxn ang="0">
                    <a:pos x="0" y="73"/>
                  </a:cxn>
                </a:cxnLst>
                <a:rect l="0" t="0" r="r" b="b"/>
                <a:pathLst>
                  <a:path w="73" h="73">
                    <a:moveTo>
                      <a:pt x="0" y="73"/>
                    </a:moveTo>
                    <a:lnTo>
                      <a:pt x="73" y="34"/>
                    </a:lnTo>
                    <a:lnTo>
                      <a:pt x="0" y="0"/>
                    </a:lnTo>
                    <a:lnTo>
                      <a:pt x="0" y="73"/>
                    </a:lnTo>
                    <a:close/>
                  </a:path>
                </a:pathLst>
              </a:custGeom>
              <a:solidFill>
                <a:srgbClr val="000000"/>
              </a:solidFill>
              <a:ln w="9525">
                <a:noFill/>
                <a:round/>
                <a:headEnd/>
                <a:tailEnd/>
              </a:ln>
            </p:spPr>
            <p:txBody>
              <a:bodyPr/>
              <a:lstStyle/>
              <a:p>
                <a:endParaRPr lang="en-US"/>
              </a:p>
            </p:txBody>
          </p:sp>
        </p:grpSp>
        <p:sp>
          <p:nvSpPr>
            <p:cNvPr id="7238" name="Rectangle 70"/>
            <p:cNvSpPr>
              <a:spLocks noChangeArrowheads="1"/>
            </p:cNvSpPr>
            <p:nvPr/>
          </p:nvSpPr>
          <p:spPr bwMode="auto">
            <a:xfrm>
              <a:off x="1194" y="610"/>
              <a:ext cx="1627" cy="413"/>
            </a:xfrm>
            <a:prstGeom prst="rect">
              <a:avLst/>
            </a:prstGeom>
            <a:noFill/>
            <a:ln w="9525">
              <a:noFill/>
              <a:miter lim="800000"/>
              <a:headEnd/>
              <a:tailEnd/>
            </a:ln>
          </p:spPr>
          <p:txBody>
            <a:bodyPr/>
            <a:lstStyle/>
            <a:p>
              <a:endParaRPr lang="en-US"/>
            </a:p>
          </p:txBody>
        </p:sp>
        <p:sp>
          <p:nvSpPr>
            <p:cNvPr id="7239" name="Rectangle 71"/>
            <p:cNvSpPr>
              <a:spLocks noChangeArrowheads="1"/>
            </p:cNvSpPr>
            <p:nvPr/>
          </p:nvSpPr>
          <p:spPr bwMode="auto">
            <a:xfrm>
              <a:off x="1246" y="640"/>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7240" name="Rectangle 72"/>
            <p:cNvSpPr>
              <a:spLocks noChangeArrowheads="1"/>
            </p:cNvSpPr>
            <p:nvPr/>
          </p:nvSpPr>
          <p:spPr bwMode="auto">
            <a:xfrm>
              <a:off x="1615" y="283"/>
              <a:ext cx="1627" cy="409"/>
            </a:xfrm>
            <a:prstGeom prst="rect">
              <a:avLst/>
            </a:prstGeom>
            <a:noFill/>
            <a:ln w="9525">
              <a:noFill/>
              <a:miter lim="800000"/>
              <a:headEnd/>
              <a:tailEnd/>
            </a:ln>
          </p:spPr>
          <p:txBody>
            <a:bodyPr/>
            <a:lstStyle/>
            <a:p>
              <a:endParaRPr lang="en-US"/>
            </a:p>
          </p:txBody>
        </p:sp>
        <p:sp>
          <p:nvSpPr>
            <p:cNvPr id="7241" name="Rectangle 73"/>
            <p:cNvSpPr>
              <a:spLocks noChangeArrowheads="1"/>
            </p:cNvSpPr>
            <p:nvPr/>
          </p:nvSpPr>
          <p:spPr bwMode="auto">
            <a:xfrm>
              <a:off x="1666" y="309"/>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7242" name="Rectangle 74"/>
            <p:cNvSpPr>
              <a:spLocks noChangeArrowheads="1"/>
            </p:cNvSpPr>
            <p:nvPr/>
          </p:nvSpPr>
          <p:spPr bwMode="auto">
            <a:xfrm>
              <a:off x="1761" y="30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7243" name="Rectangle 75"/>
            <p:cNvSpPr>
              <a:spLocks noChangeArrowheads="1"/>
            </p:cNvSpPr>
            <p:nvPr/>
          </p:nvSpPr>
          <p:spPr bwMode="auto">
            <a:xfrm>
              <a:off x="846" y="713"/>
              <a:ext cx="1628" cy="409"/>
            </a:xfrm>
            <a:prstGeom prst="rect">
              <a:avLst/>
            </a:prstGeom>
            <a:noFill/>
            <a:ln w="9525">
              <a:noFill/>
              <a:miter lim="800000"/>
              <a:headEnd/>
              <a:tailEnd/>
            </a:ln>
          </p:spPr>
          <p:txBody>
            <a:bodyPr/>
            <a:lstStyle/>
            <a:p>
              <a:endParaRPr lang="en-US"/>
            </a:p>
          </p:txBody>
        </p:sp>
        <p:sp>
          <p:nvSpPr>
            <p:cNvPr id="7244" name="Rectangle 76"/>
            <p:cNvSpPr>
              <a:spLocks noChangeArrowheads="1"/>
            </p:cNvSpPr>
            <p:nvPr/>
          </p:nvSpPr>
          <p:spPr bwMode="auto">
            <a:xfrm>
              <a:off x="898" y="739"/>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7245" name="Rectangle 77"/>
            <p:cNvSpPr>
              <a:spLocks noChangeArrowheads="1"/>
            </p:cNvSpPr>
            <p:nvPr/>
          </p:nvSpPr>
          <p:spPr bwMode="auto">
            <a:xfrm>
              <a:off x="984" y="73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2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72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720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719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720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720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717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7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9" grpId="0" autoUpdateAnimBg="0"/>
      <p:bldP spid="7180"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lide Number Placeholder 3"/>
          <p:cNvSpPr>
            <a:spLocks noGrp="1"/>
          </p:cNvSpPr>
          <p:nvPr>
            <p:ph type="sldNum" sz="quarter" idx="12"/>
          </p:nvPr>
        </p:nvSpPr>
        <p:spPr/>
        <p:txBody>
          <a:bodyPr/>
          <a:lstStyle/>
          <a:p>
            <a:fld id="{8A2F27EA-C86D-4B27-907A-EE6D1342B5CB}" type="slidenum">
              <a:rPr lang="en-US"/>
              <a:pPr/>
              <a:t>87</a:t>
            </a:fld>
            <a:endParaRPr lang="en-US"/>
          </a:p>
        </p:txBody>
      </p:sp>
      <p:sp>
        <p:nvSpPr>
          <p:cNvPr id="8194" name="Line 2"/>
          <p:cNvSpPr>
            <a:spLocks noChangeShapeType="1"/>
          </p:cNvSpPr>
          <p:nvPr/>
        </p:nvSpPr>
        <p:spPr bwMode="auto">
          <a:xfrm>
            <a:off x="3276600" y="1600200"/>
            <a:ext cx="2667000" cy="0"/>
          </a:xfrm>
          <a:prstGeom prst="line">
            <a:avLst/>
          </a:prstGeom>
          <a:noFill/>
          <a:ln w="19050">
            <a:solidFill>
              <a:schemeClr val="tx1"/>
            </a:solidFill>
            <a:round/>
            <a:headEnd/>
            <a:tailEnd/>
          </a:ln>
          <a:effectLst/>
        </p:spPr>
        <p:txBody>
          <a:bodyPr/>
          <a:lstStyle/>
          <a:p>
            <a:endParaRPr lang="en-US"/>
          </a:p>
        </p:txBody>
      </p:sp>
      <p:sp>
        <p:nvSpPr>
          <p:cNvPr id="8195" name="Line 3"/>
          <p:cNvSpPr>
            <a:spLocks noChangeShapeType="1"/>
          </p:cNvSpPr>
          <p:nvPr/>
        </p:nvSpPr>
        <p:spPr bwMode="auto">
          <a:xfrm flipH="1">
            <a:off x="5334000" y="1600200"/>
            <a:ext cx="609600" cy="1752600"/>
          </a:xfrm>
          <a:prstGeom prst="line">
            <a:avLst/>
          </a:prstGeom>
          <a:noFill/>
          <a:ln w="19050">
            <a:solidFill>
              <a:schemeClr val="tx1"/>
            </a:solidFill>
            <a:round/>
            <a:headEnd/>
            <a:tailEnd/>
          </a:ln>
          <a:effectLst/>
        </p:spPr>
        <p:txBody>
          <a:bodyPr/>
          <a:lstStyle/>
          <a:p>
            <a:endParaRPr lang="en-US"/>
          </a:p>
        </p:txBody>
      </p:sp>
      <p:sp>
        <p:nvSpPr>
          <p:cNvPr id="8196" name="Line 4"/>
          <p:cNvSpPr>
            <a:spLocks noChangeShapeType="1"/>
          </p:cNvSpPr>
          <p:nvPr/>
        </p:nvSpPr>
        <p:spPr bwMode="auto">
          <a:xfrm flipH="1">
            <a:off x="2590800" y="1600200"/>
            <a:ext cx="685800" cy="1752600"/>
          </a:xfrm>
          <a:prstGeom prst="line">
            <a:avLst/>
          </a:prstGeom>
          <a:noFill/>
          <a:ln w="19050">
            <a:solidFill>
              <a:schemeClr val="tx1"/>
            </a:solidFill>
            <a:round/>
            <a:headEnd/>
            <a:tailEnd/>
          </a:ln>
          <a:effectLst/>
        </p:spPr>
        <p:txBody>
          <a:bodyPr/>
          <a:lstStyle/>
          <a:p>
            <a:endParaRPr lang="en-US"/>
          </a:p>
        </p:txBody>
      </p:sp>
      <p:sp>
        <p:nvSpPr>
          <p:cNvPr id="8197" name="Line 5"/>
          <p:cNvSpPr>
            <a:spLocks noChangeShapeType="1"/>
          </p:cNvSpPr>
          <p:nvPr/>
        </p:nvSpPr>
        <p:spPr bwMode="auto">
          <a:xfrm>
            <a:off x="2590800" y="3352800"/>
            <a:ext cx="2743200" cy="0"/>
          </a:xfrm>
          <a:prstGeom prst="line">
            <a:avLst/>
          </a:prstGeom>
          <a:noFill/>
          <a:ln w="19050">
            <a:solidFill>
              <a:schemeClr val="tx1"/>
            </a:solidFill>
            <a:round/>
            <a:headEnd/>
            <a:tailEnd/>
          </a:ln>
          <a:effectLst/>
        </p:spPr>
        <p:txBody>
          <a:bodyPr/>
          <a:lstStyle/>
          <a:p>
            <a:endParaRPr lang="en-US"/>
          </a:p>
        </p:txBody>
      </p:sp>
      <p:sp>
        <p:nvSpPr>
          <p:cNvPr id="8198" name="Line 6"/>
          <p:cNvSpPr>
            <a:spLocks noChangeShapeType="1"/>
          </p:cNvSpPr>
          <p:nvPr/>
        </p:nvSpPr>
        <p:spPr bwMode="auto">
          <a:xfrm flipH="1">
            <a:off x="3962400" y="1600200"/>
            <a:ext cx="609600" cy="1752600"/>
          </a:xfrm>
          <a:prstGeom prst="line">
            <a:avLst/>
          </a:prstGeom>
          <a:noFill/>
          <a:ln w="19050">
            <a:solidFill>
              <a:schemeClr val="tx1"/>
            </a:solidFill>
            <a:round/>
            <a:headEnd/>
            <a:tailEnd/>
          </a:ln>
          <a:effectLst/>
        </p:spPr>
        <p:txBody>
          <a:bodyPr/>
          <a:lstStyle/>
          <a:p>
            <a:endParaRPr lang="en-US"/>
          </a:p>
        </p:txBody>
      </p:sp>
      <p:grpSp>
        <p:nvGrpSpPr>
          <p:cNvPr id="2" name="Group 8"/>
          <p:cNvGrpSpPr>
            <a:grpSpLocks/>
          </p:cNvGrpSpPr>
          <p:nvPr/>
        </p:nvGrpSpPr>
        <p:grpSpPr bwMode="auto">
          <a:xfrm>
            <a:off x="6096000" y="1676400"/>
            <a:ext cx="654050" cy="403225"/>
            <a:chOff x="3792" y="2112"/>
            <a:chExt cx="412" cy="254"/>
          </a:xfrm>
        </p:grpSpPr>
        <p:sp>
          <p:nvSpPr>
            <p:cNvPr id="8201" name="Oval 9"/>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8202" name="Rectangle 10"/>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aphicFrame>
        <p:nvGraphicFramePr>
          <p:cNvPr id="8203" name="Object 11"/>
          <p:cNvGraphicFramePr>
            <a:graphicFrameLocks noChangeAspect="1"/>
          </p:cNvGraphicFramePr>
          <p:nvPr/>
        </p:nvGraphicFramePr>
        <p:xfrm>
          <a:off x="3276600" y="4495800"/>
          <a:ext cx="1295400" cy="504825"/>
        </p:xfrm>
        <a:graphic>
          <a:graphicData uri="http://schemas.openxmlformats.org/presentationml/2006/ole">
            <p:oleObj spid="_x0000_s538626" name="Equation" r:id="rId3" imgW="520560" imgH="203040" progId="">
              <p:embed/>
            </p:oleObj>
          </a:graphicData>
        </a:graphic>
      </p:graphicFrame>
      <p:sp>
        <p:nvSpPr>
          <p:cNvPr id="8204" name="Rectangle 12"/>
          <p:cNvSpPr>
            <a:spLocks noChangeArrowheads="1"/>
          </p:cNvSpPr>
          <p:nvPr/>
        </p:nvSpPr>
        <p:spPr bwMode="auto">
          <a:xfrm>
            <a:off x="2133600" y="4495800"/>
            <a:ext cx="796925" cy="457200"/>
          </a:xfrm>
          <a:prstGeom prst="rect">
            <a:avLst/>
          </a:prstGeom>
          <a:noFill/>
          <a:ln w="9525">
            <a:noFill/>
            <a:miter lim="800000"/>
            <a:headEnd/>
            <a:tailEnd/>
          </a:ln>
          <a:effectLst/>
        </p:spPr>
        <p:txBody>
          <a:bodyPr wrap="none">
            <a:spAutoFit/>
          </a:bodyPr>
          <a:lstStyle/>
          <a:p>
            <a:pPr>
              <a:spcBef>
                <a:spcPct val="50000"/>
              </a:spcBef>
            </a:pPr>
            <a:r>
              <a:rPr lang="en-US" b="1" i="1">
                <a:solidFill>
                  <a:srgbClr val="FF0000"/>
                </a:solidFill>
              </a:rPr>
              <a:t>Z</a:t>
            </a:r>
            <a:r>
              <a:rPr lang="en-US" b="1">
                <a:solidFill>
                  <a:srgbClr val="FF0000"/>
                </a:solidFill>
              </a:rPr>
              <a:t>=2;</a:t>
            </a:r>
          </a:p>
        </p:txBody>
      </p:sp>
      <p:sp>
        <p:nvSpPr>
          <p:cNvPr id="8205" name="Rectangle 13"/>
          <p:cNvSpPr>
            <a:spLocks noChangeArrowheads="1"/>
          </p:cNvSpPr>
          <p:nvPr/>
        </p:nvSpPr>
        <p:spPr bwMode="auto">
          <a:xfrm>
            <a:off x="1905000" y="4343400"/>
            <a:ext cx="5029200" cy="838200"/>
          </a:xfrm>
          <a:prstGeom prst="rect">
            <a:avLst/>
          </a:prstGeom>
          <a:noFill/>
          <a:ln w="9525">
            <a:solidFill>
              <a:srgbClr val="FF0000"/>
            </a:solidFill>
            <a:miter lim="800000"/>
            <a:headEnd/>
            <a:tailEnd/>
          </a:ln>
          <a:effectLst/>
        </p:spPr>
        <p:txBody>
          <a:bodyPr wrap="none" anchor="ctr"/>
          <a:lstStyle/>
          <a:p>
            <a:endParaRPr lang="en-US"/>
          </a:p>
        </p:txBody>
      </p:sp>
      <p:graphicFrame>
        <p:nvGraphicFramePr>
          <p:cNvPr id="8206" name="Object 14"/>
          <p:cNvGraphicFramePr>
            <a:graphicFrameLocks noChangeAspect="1"/>
          </p:cNvGraphicFramePr>
          <p:nvPr/>
        </p:nvGraphicFramePr>
        <p:xfrm>
          <a:off x="4876800" y="4419600"/>
          <a:ext cx="1295400" cy="600075"/>
        </p:xfrm>
        <a:graphic>
          <a:graphicData uri="http://schemas.openxmlformats.org/presentationml/2006/ole">
            <p:oleObj spid="_x0000_s538627" name="Equation" r:id="rId4" imgW="520560" imgH="241200" progId="">
              <p:embed/>
            </p:oleObj>
          </a:graphicData>
        </a:graphic>
      </p:graphicFrame>
      <p:sp>
        <p:nvSpPr>
          <p:cNvPr id="8207" name="Oval 15"/>
          <p:cNvSpPr>
            <a:spLocks noChangeArrowheads="1"/>
          </p:cNvSpPr>
          <p:nvPr/>
        </p:nvSpPr>
        <p:spPr bwMode="auto">
          <a:xfrm>
            <a:off x="2819400" y="1066800"/>
            <a:ext cx="381000" cy="403225"/>
          </a:xfrm>
          <a:prstGeom prst="ellipse">
            <a:avLst/>
          </a:prstGeom>
          <a:noFill/>
          <a:ln w="12700">
            <a:solidFill>
              <a:srgbClr val="0000FF"/>
            </a:solidFill>
            <a:round/>
            <a:headEnd/>
            <a:tailEnd/>
          </a:ln>
        </p:spPr>
        <p:txBody>
          <a:bodyPr/>
          <a:lstStyle/>
          <a:p>
            <a:endParaRPr lang="en-US"/>
          </a:p>
        </p:txBody>
      </p:sp>
      <p:sp>
        <p:nvSpPr>
          <p:cNvPr id="8208" name="Rectangle 16"/>
          <p:cNvSpPr>
            <a:spLocks noChangeArrowheads="1"/>
          </p:cNvSpPr>
          <p:nvPr/>
        </p:nvSpPr>
        <p:spPr bwMode="auto">
          <a:xfrm>
            <a:off x="2590800" y="1143000"/>
            <a:ext cx="273050" cy="274638"/>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grpSp>
        <p:nvGrpSpPr>
          <p:cNvPr id="3" name="Group 17"/>
          <p:cNvGrpSpPr>
            <a:grpSpLocks/>
          </p:cNvGrpSpPr>
          <p:nvPr/>
        </p:nvGrpSpPr>
        <p:grpSpPr bwMode="auto">
          <a:xfrm>
            <a:off x="3352800" y="1676400"/>
            <a:ext cx="654050" cy="403225"/>
            <a:chOff x="3792" y="2112"/>
            <a:chExt cx="412" cy="254"/>
          </a:xfrm>
        </p:grpSpPr>
        <p:sp>
          <p:nvSpPr>
            <p:cNvPr id="8210" name="Oval 18"/>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8211" name="Rectangle 19"/>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4" name="Group 20"/>
          <p:cNvGrpSpPr>
            <a:grpSpLocks/>
          </p:cNvGrpSpPr>
          <p:nvPr/>
        </p:nvGrpSpPr>
        <p:grpSpPr bwMode="auto">
          <a:xfrm>
            <a:off x="2590800" y="3505200"/>
            <a:ext cx="654050" cy="403225"/>
            <a:chOff x="3792" y="2112"/>
            <a:chExt cx="412" cy="254"/>
          </a:xfrm>
        </p:grpSpPr>
        <p:sp>
          <p:nvSpPr>
            <p:cNvPr id="8213" name="Oval 21"/>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8214" name="Rectangle 22"/>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5" name="Group 23"/>
          <p:cNvGrpSpPr>
            <a:grpSpLocks/>
          </p:cNvGrpSpPr>
          <p:nvPr/>
        </p:nvGrpSpPr>
        <p:grpSpPr bwMode="auto">
          <a:xfrm>
            <a:off x="5410200" y="3505200"/>
            <a:ext cx="654050" cy="403225"/>
            <a:chOff x="3792" y="2112"/>
            <a:chExt cx="412" cy="254"/>
          </a:xfrm>
        </p:grpSpPr>
        <p:sp>
          <p:nvSpPr>
            <p:cNvPr id="8216" name="Oval 24"/>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8217" name="Rectangle 25"/>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aphicFrame>
        <p:nvGraphicFramePr>
          <p:cNvPr id="8218" name="Object 26"/>
          <p:cNvGraphicFramePr>
            <a:graphicFrameLocks noChangeAspect="1"/>
          </p:cNvGraphicFramePr>
          <p:nvPr/>
        </p:nvGraphicFramePr>
        <p:xfrm>
          <a:off x="6248400" y="457200"/>
          <a:ext cx="1716088" cy="639763"/>
        </p:xfrm>
        <a:graphic>
          <a:graphicData uri="http://schemas.openxmlformats.org/presentationml/2006/ole">
            <p:oleObj spid="_x0000_s538628" name="Equation" r:id="rId5" imgW="545760" imgH="203040" progId="">
              <p:embed/>
            </p:oleObj>
          </a:graphicData>
        </a:graphic>
      </p:graphicFrame>
      <p:sp>
        <p:nvSpPr>
          <p:cNvPr id="8219" name="Line 27"/>
          <p:cNvSpPr>
            <a:spLocks noChangeShapeType="1"/>
          </p:cNvSpPr>
          <p:nvPr/>
        </p:nvSpPr>
        <p:spPr bwMode="auto">
          <a:xfrm>
            <a:off x="2971800" y="2438400"/>
            <a:ext cx="2667000" cy="0"/>
          </a:xfrm>
          <a:prstGeom prst="line">
            <a:avLst/>
          </a:prstGeom>
          <a:noFill/>
          <a:ln w="19050">
            <a:solidFill>
              <a:schemeClr val="tx1"/>
            </a:solidFill>
            <a:round/>
            <a:headEnd/>
            <a:tailEnd/>
          </a:ln>
          <a:effectLst/>
        </p:spPr>
        <p:txBody>
          <a:bodyPr/>
          <a:lstStyle/>
          <a:p>
            <a:endParaRPr lang="en-US"/>
          </a:p>
        </p:txBody>
      </p:sp>
      <p:graphicFrame>
        <p:nvGraphicFramePr>
          <p:cNvPr id="8220" name="Object 28"/>
          <p:cNvGraphicFramePr>
            <a:graphicFrameLocks noChangeAspect="1"/>
          </p:cNvGraphicFramePr>
          <p:nvPr/>
        </p:nvGraphicFramePr>
        <p:xfrm>
          <a:off x="5334000" y="3200400"/>
          <a:ext cx="104775" cy="371475"/>
        </p:xfrm>
        <a:graphic>
          <a:graphicData uri="http://schemas.openxmlformats.org/presentationml/2006/ole">
            <p:oleObj spid="_x0000_s538629" name="CS ChemDraw Drawing" r:id="rId6" imgW="65521" imgH="230037" progId="">
              <p:embed/>
            </p:oleObj>
          </a:graphicData>
        </a:graphic>
      </p:graphicFrame>
      <p:graphicFrame>
        <p:nvGraphicFramePr>
          <p:cNvPr id="8221" name="Object 29"/>
          <p:cNvGraphicFramePr>
            <a:graphicFrameLocks noChangeAspect="1"/>
          </p:cNvGraphicFramePr>
          <p:nvPr/>
        </p:nvGraphicFramePr>
        <p:xfrm>
          <a:off x="3937000" y="3171825"/>
          <a:ext cx="101600" cy="361950"/>
        </p:xfrm>
        <a:graphic>
          <a:graphicData uri="http://schemas.openxmlformats.org/presentationml/2006/ole">
            <p:oleObj spid="_x0000_s538630" name="CS ChemDraw Drawing" r:id="rId7" imgW="65879" imgH="232916" progId="">
              <p:embed/>
            </p:oleObj>
          </a:graphicData>
        </a:graphic>
      </p:graphicFrame>
      <p:graphicFrame>
        <p:nvGraphicFramePr>
          <p:cNvPr id="8222" name="Object 30"/>
          <p:cNvGraphicFramePr>
            <a:graphicFrameLocks noChangeAspect="1"/>
          </p:cNvGraphicFramePr>
          <p:nvPr/>
        </p:nvGraphicFramePr>
        <p:xfrm>
          <a:off x="2514600" y="3167063"/>
          <a:ext cx="104775" cy="371475"/>
        </p:xfrm>
        <a:graphic>
          <a:graphicData uri="http://schemas.openxmlformats.org/presentationml/2006/ole">
            <p:oleObj spid="_x0000_s538631" name="CS ChemDraw Drawing" r:id="rId8" imgW="65521" imgH="230037" progId="">
              <p:embed/>
            </p:oleObj>
          </a:graphicData>
        </a:graphic>
      </p:graphicFrame>
      <p:graphicFrame>
        <p:nvGraphicFramePr>
          <p:cNvPr id="8223" name="Object 31"/>
          <p:cNvGraphicFramePr>
            <a:graphicFrameLocks noChangeAspect="1"/>
          </p:cNvGraphicFramePr>
          <p:nvPr/>
        </p:nvGraphicFramePr>
        <p:xfrm>
          <a:off x="3200400" y="1447800"/>
          <a:ext cx="104775" cy="371475"/>
        </p:xfrm>
        <a:graphic>
          <a:graphicData uri="http://schemas.openxmlformats.org/presentationml/2006/ole">
            <p:oleObj spid="_x0000_s538632" name="CS ChemDraw Drawing" r:id="rId9" imgW="65521" imgH="230037" progId="">
              <p:embed/>
            </p:oleObj>
          </a:graphicData>
        </a:graphic>
      </p:graphicFrame>
      <p:graphicFrame>
        <p:nvGraphicFramePr>
          <p:cNvPr id="8224" name="Object 32"/>
          <p:cNvGraphicFramePr>
            <a:graphicFrameLocks noChangeAspect="1"/>
          </p:cNvGraphicFramePr>
          <p:nvPr/>
        </p:nvGraphicFramePr>
        <p:xfrm>
          <a:off x="5867400" y="1447800"/>
          <a:ext cx="104775" cy="371475"/>
        </p:xfrm>
        <a:graphic>
          <a:graphicData uri="http://schemas.openxmlformats.org/presentationml/2006/ole">
            <p:oleObj spid="_x0000_s538633" name="CS ChemDraw Drawing" r:id="rId10" imgW="65521" imgH="230037" progId="">
              <p:embed/>
            </p:oleObj>
          </a:graphicData>
        </a:graphic>
      </p:graphicFrame>
      <p:graphicFrame>
        <p:nvGraphicFramePr>
          <p:cNvPr id="8225" name="Object 33"/>
          <p:cNvGraphicFramePr>
            <a:graphicFrameLocks noChangeAspect="1"/>
          </p:cNvGraphicFramePr>
          <p:nvPr/>
        </p:nvGraphicFramePr>
        <p:xfrm>
          <a:off x="5613400" y="2286000"/>
          <a:ext cx="101600" cy="361950"/>
        </p:xfrm>
        <a:graphic>
          <a:graphicData uri="http://schemas.openxmlformats.org/presentationml/2006/ole">
            <p:oleObj spid="_x0000_s538634" name="CS ChemDraw Drawing" r:id="rId11" imgW="65879" imgH="232916" progId="">
              <p:embed/>
            </p:oleObj>
          </a:graphicData>
        </a:graphic>
      </p:graphicFrame>
      <p:graphicFrame>
        <p:nvGraphicFramePr>
          <p:cNvPr id="8226" name="Object 34"/>
          <p:cNvGraphicFramePr>
            <a:graphicFrameLocks noChangeAspect="1"/>
          </p:cNvGraphicFramePr>
          <p:nvPr/>
        </p:nvGraphicFramePr>
        <p:xfrm>
          <a:off x="4495800" y="1447800"/>
          <a:ext cx="101600" cy="361950"/>
        </p:xfrm>
        <a:graphic>
          <a:graphicData uri="http://schemas.openxmlformats.org/presentationml/2006/ole">
            <p:oleObj spid="_x0000_s538635" name="CS ChemDraw Drawing" r:id="rId12" imgW="65879" imgH="232916" progId="">
              <p:embed/>
            </p:oleObj>
          </a:graphicData>
        </a:graphic>
      </p:graphicFrame>
      <p:graphicFrame>
        <p:nvGraphicFramePr>
          <p:cNvPr id="8227" name="Object 35"/>
          <p:cNvGraphicFramePr>
            <a:graphicFrameLocks noChangeAspect="1"/>
          </p:cNvGraphicFramePr>
          <p:nvPr/>
        </p:nvGraphicFramePr>
        <p:xfrm>
          <a:off x="2895600" y="2286000"/>
          <a:ext cx="101600" cy="361950"/>
        </p:xfrm>
        <a:graphic>
          <a:graphicData uri="http://schemas.openxmlformats.org/presentationml/2006/ole">
            <p:oleObj spid="_x0000_s538636" name="CS ChemDraw Drawing" r:id="rId13" imgW="65879" imgH="232916" progId="">
              <p:embed/>
            </p:oleObj>
          </a:graphicData>
        </a:graphic>
      </p:graphicFrame>
      <p:graphicFrame>
        <p:nvGraphicFramePr>
          <p:cNvPr id="8228" name="Object 36"/>
          <p:cNvGraphicFramePr>
            <a:graphicFrameLocks noChangeAspect="1"/>
          </p:cNvGraphicFramePr>
          <p:nvPr/>
        </p:nvGraphicFramePr>
        <p:xfrm>
          <a:off x="4241800" y="2286000"/>
          <a:ext cx="101600" cy="361950"/>
        </p:xfrm>
        <a:graphic>
          <a:graphicData uri="http://schemas.openxmlformats.org/presentationml/2006/ole">
            <p:oleObj spid="_x0000_s538637" name="CS ChemDraw Drawing" r:id="rId14" imgW="65879" imgH="232916" progId="">
              <p:embed/>
            </p:oleObj>
          </a:graphicData>
        </a:graphic>
      </p:graphicFrame>
      <p:grpSp>
        <p:nvGrpSpPr>
          <p:cNvPr id="6" name="Group 37"/>
          <p:cNvGrpSpPr>
            <a:grpSpLocks/>
          </p:cNvGrpSpPr>
          <p:nvPr/>
        </p:nvGrpSpPr>
        <p:grpSpPr bwMode="auto">
          <a:xfrm>
            <a:off x="5181600" y="1066800"/>
            <a:ext cx="676275" cy="403225"/>
            <a:chOff x="4004" y="1858"/>
            <a:chExt cx="426" cy="254"/>
          </a:xfrm>
        </p:grpSpPr>
        <p:sp>
          <p:nvSpPr>
            <p:cNvPr id="8230" name="Oval 38"/>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8231" name="Rectangle 39"/>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7" name="Group 40"/>
          <p:cNvGrpSpPr>
            <a:grpSpLocks/>
          </p:cNvGrpSpPr>
          <p:nvPr/>
        </p:nvGrpSpPr>
        <p:grpSpPr bwMode="auto">
          <a:xfrm>
            <a:off x="1752600" y="2819400"/>
            <a:ext cx="676275" cy="403225"/>
            <a:chOff x="4004" y="1858"/>
            <a:chExt cx="426" cy="254"/>
          </a:xfrm>
        </p:grpSpPr>
        <p:sp>
          <p:nvSpPr>
            <p:cNvPr id="8233" name="Oval 41"/>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8234" name="Rectangle 42"/>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8" name="Group 43"/>
          <p:cNvGrpSpPr>
            <a:grpSpLocks/>
          </p:cNvGrpSpPr>
          <p:nvPr/>
        </p:nvGrpSpPr>
        <p:grpSpPr bwMode="auto">
          <a:xfrm>
            <a:off x="4648200" y="2819400"/>
            <a:ext cx="676275" cy="403225"/>
            <a:chOff x="4004" y="1858"/>
            <a:chExt cx="426" cy="254"/>
          </a:xfrm>
        </p:grpSpPr>
        <p:sp>
          <p:nvSpPr>
            <p:cNvPr id="8236" name="Oval 44"/>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8237" name="Rectangle 45"/>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8238" name="Rectangle 46"/>
          <p:cNvSpPr>
            <a:spLocks noChangeArrowheads="1"/>
          </p:cNvSpPr>
          <p:nvPr/>
        </p:nvSpPr>
        <p:spPr bwMode="auto">
          <a:xfrm>
            <a:off x="620713" y="5334000"/>
            <a:ext cx="7867650" cy="457200"/>
          </a:xfrm>
          <a:prstGeom prst="rect">
            <a:avLst/>
          </a:prstGeom>
          <a:noFill/>
          <a:ln w="9525">
            <a:noFill/>
            <a:miter lim="800000"/>
            <a:headEnd/>
            <a:tailEnd/>
          </a:ln>
          <a:effectLst/>
        </p:spPr>
        <p:txBody>
          <a:bodyPr wrap="none">
            <a:spAutoFit/>
          </a:bodyPr>
          <a:lstStyle/>
          <a:p>
            <a:r>
              <a:rPr lang="en-US">
                <a:latin typeface="Arial" pitchFamily="34" charset="0"/>
              </a:rPr>
              <a:t>Is this group enantiomorphous or non-enantiomorphous?</a:t>
            </a:r>
          </a:p>
        </p:txBody>
      </p:sp>
      <p:sp>
        <p:nvSpPr>
          <p:cNvPr id="8239" name="Rectangle 47"/>
          <p:cNvSpPr>
            <a:spLocks noChangeArrowheads="1"/>
          </p:cNvSpPr>
          <p:nvPr/>
        </p:nvSpPr>
        <p:spPr bwMode="auto">
          <a:xfrm>
            <a:off x="2819400" y="5943600"/>
            <a:ext cx="2359025" cy="396875"/>
          </a:xfrm>
          <a:prstGeom prst="rect">
            <a:avLst/>
          </a:prstGeom>
          <a:noFill/>
          <a:ln w="9525">
            <a:noFill/>
            <a:miter lim="800000"/>
            <a:headEnd/>
            <a:tailEnd/>
          </a:ln>
          <a:effectLst/>
        </p:spPr>
        <p:txBody>
          <a:bodyPr wrap="none">
            <a:spAutoFit/>
          </a:bodyPr>
          <a:lstStyle/>
          <a:p>
            <a:r>
              <a:rPr lang="en-US" sz="2000" b="1">
                <a:latin typeface="Arial" pitchFamily="34" charset="0"/>
              </a:rPr>
              <a:t>Enantiomorphous</a:t>
            </a:r>
          </a:p>
        </p:txBody>
      </p:sp>
      <p:grpSp>
        <p:nvGrpSpPr>
          <p:cNvPr id="9" name="Group 49"/>
          <p:cNvGrpSpPr>
            <a:grpSpLocks noChangeAspect="1"/>
          </p:cNvGrpSpPr>
          <p:nvPr/>
        </p:nvGrpSpPr>
        <p:grpSpPr bwMode="auto">
          <a:xfrm>
            <a:off x="457200" y="381000"/>
            <a:ext cx="4689475" cy="1714500"/>
            <a:chOff x="288" y="240"/>
            <a:chExt cx="2954" cy="1080"/>
          </a:xfrm>
        </p:grpSpPr>
        <p:sp>
          <p:nvSpPr>
            <p:cNvPr id="8240" name="AutoShape 48"/>
            <p:cNvSpPr>
              <a:spLocks noChangeAspect="1" noChangeArrowheads="1" noTextEdit="1"/>
            </p:cNvSpPr>
            <p:nvPr/>
          </p:nvSpPr>
          <p:spPr bwMode="auto">
            <a:xfrm>
              <a:off x="288" y="240"/>
              <a:ext cx="1593" cy="1080"/>
            </a:xfrm>
            <a:prstGeom prst="rect">
              <a:avLst/>
            </a:prstGeom>
            <a:noFill/>
            <a:ln w="9525">
              <a:noFill/>
              <a:miter lim="800000"/>
              <a:headEnd/>
              <a:tailEnd/>
            </a:ln>
          </p:spPr>
          <p:txBody>
            <a:bodyPr/>
            <a:lstStyle/>
            <a:p>
              <a:endParaRPr lang="en-US"/>
            </a:p>
          </p:txBody>
        </p:sp>
        <p:grpSp>
          <p:nvGrpSpPr>
            <p:cNvPr id="10" name="Group 52"/>
            <p:cNvGrpSpPr>
              <a:grpSpLocks/>
            </p:cNvGrpSpPr>
            <p:nvPr/>
          </p:nvGrpSpPr>
          <p:grpSpPr bwMode="auto">
            <a:xfrm>
              <a:off x="975" y="412"/>
              <a:ext cx="172" cy="301"/>
              <a:chOff x="975" y="412"/>
              <a:chExt cx="172" cy="301"/>
            </a:xfrm>
          </p:grpSpPr>
          <p:sp>
            <p:nvSpPr>
              <p:cNvPr id="8242" name="Freeform 50"/>
              <p:cNvSpPr>
                <a:spLocks/>
              </p:cNvSpPr>
              <p:nvPr/>
            </p:nvSpPr>
            <p:spPr bwMode="auto">
              <a:xfrm>
                <a:off x="996" y="412"/>
                <a:ext cx="151" cy="254"/>
              </a:xfrm>
              <a:custGeom>
                <a:avLst/>
                <a:gdLst/>
                <a:ahLst/>
                <a:cxnLst>
                  <a:cxn ang="0">
                    <a:pos x="151" y="4"/>
                  </a:cxn>
                  <a:cxn ang="0">
                    <a:pos x="146" y="0"/>
                  </a:cxn>
                  <a:cxn ang="0">
                    <a:pos x="0" y="250"/>
                  </a:cxn>
                  <a:cxn ang="0">
                    <a:pos x="5" y="254"/>
                  </a:cxn>
                  <a:cxn ang="0">
                    <a:pos x="151" y="4"/>
                  </a:cxn>
                </a:cxnLst>
                <a:rect l="0" t="0" r="r" b="b"/>
                <a:pathLst>
                  <a:path w="151" h="254">
                    <a:moveTo>
                      <a:pt x="151" y="4"/>
                    </a:moveTo>
                    <a:lnTo>
                      <a:pt x="146" y="0"/>
                    </a:lnTo>
                    <a:lnTo>
                      <a:pt x="0" y="250"/>
                    </a:lnTo>
                    <a:lnTo>
                      <a:pt x="5" y="254"/>
                    </a:lnTo>
                    <a:lnTo>
                      <a:pt x="151" y="4"/>
                    </a:lnTo>
                    <a:close/>
                  </a:path>
                </a:pathLst>
              </a:custGeom>
              <a:solidFill>
                <a:srgbClr val="000000"/>
              </a:solidFill>
              <a:ln w="9525">
                <a:noFill/>
                <a:round/>
                <a:headEnd/>
                <a:tailEnd/>
              </a:ln>
            </p:spPr>
            <p:txBody>
              <a:bodyPr/>
              <a:lstStyle/>
              <a:p>
                <a:endParaRPr lang="en-US"/>
              </a:p>
            </p:txBody>
          </p:sp>
          <p:sp>
            <p:nvSpPr>
              <p:cNvPr id="8243" name="Freeform 51"/>
              <p:cNvSpPr>
                <a:spLocks/>
              </p:cNvSpPr>
              <p:nvPr/>
            </p:nvSpPr>
            <p:spPr bwMode="auto">
              <a:xfrm>
                <a:off x="975" y="636"/>
                <a:ext cx="64" cy="77"/>
              </a:xfrm>
              <a:custGeom>
                <a:avLst/>
                <a:gdLst/>
                <a:ahLst/>
                <a:cxnLst>
                  <a:cxn ang="0">
                    <a:pos x="4" y="0"/>
                  </a:cxn>
                  <a:cxn ang="0">
                    <a:pos x="0" y="77"/>
                  </a:cxn>
                  <a:cxn ang="0">
                    <a:pos x="64" y="34"/>
                  </a:cxn>
                  <a:cxn ang="0">
                    <a:pos x="4" y="0"/>
                  </a:cxn>
                </a:cxnLst>
                <a:rect l="0" t="0" r="r" b="b"/>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1" name="Group 55"/>
            <p:cNvGrpSpPr>
              <a:grpSpLocks/>
            </p:cNvGrpSpPr>
            <p:nvPr/>
          </p:nvGrpSpPr>
          <p:grpSpPr bwMode="auto">
            <a:xfrm>
              <a:off x="1142" y="378"/>
              <a:ext cx="434" cy="73"/>
              <a:chOff x="1142" y="378"/>
              <a:chExt cx="434" cy="73"/>
            </a:xfrm>
          </p:grpSpPr>
          <p:sp>
            <p:nvSpPr>
              <p:cNvPr id="8245" name="Rectangle 53"/>
              <p:cNvSpPr>
                <a:spLocks noChangeArrowheads="1"/>
              </p:cNvSpPr>
              <p:nvPr/>
            </p:nvSpPr>
            <p:spPr bwMode="auto">
              <a:xfrm>
                <a:off x="1142" y="408"/>
                <a:ext cx="370" cy="8"/>
              </a:xfrm>
              <a:prstGeom prst="rect">
                <a:avLst/>
              </a:prstGeom>
              <a:solidFill>
                <a:srgbClr val="000000"/>
              </a:solidFill>
              <a:ln w="9525">
                <a:noFill/>
                <a:miter lim="800000"/>
                <a:headEnd/>
                <a:tailEnd/>
              </a:ln>
            </p:spPr>
            <p:txBody>
              <a:bodyPr/>
              <a:lstStyle/>
              <a:p>
                <a:endParaRPr lang="en-US"/>
              </a:p>
            </p:txBody>
          </p:sp>
          <p:sp>
            <p:nvSpPr>
              <p:cNvPr id="8246" name="Freeform 54"/>
              <p:cNvSpPr>
                <a:spLocks/>
              </p:cNvSpPr>
              <p:nvPr/>
            </p:nvSpPr>
            <p:spPr bwMode="auto">
              <a:xfrm>
                <a:off x="1503" y="378"/>
                <a:ext cx="73" cy="73"/>
              </a:xfrm>
              <a:custGeom>
                <a:avLst/>
                <a:gdLst/>
                <a:ahLst/>
                <a:cxnLst>
                  <a:cxn ang="0">
                    <a:pos x="0" y="73"/>
                  </a:cxn>
                  <a:cxn ang="0">
                    <a:pos x="73" y="34"/>
                  </a:cxn>
                  <a:cxn ang="0">
                    <a:pos x="0" y="0"/>
                  </a:cxn>
                  <a:cxn ang="0">
                    <a:pos x="0" y="73"/>
                  </a:cxn>
                </a:cxnLst>
                <a:rect l="0" t="0" r="r" b="b"/>
                <a:pathLst>
                  <a:path w="73" h="73">
                    <a:moveTo>
                      <a:pt x="0" y="73"/>
                    </a:moveTo>
                    <a:lnTo>
                      <a:pt x="73" y="34"/>
                    </a:lnTo>
                    <a:lnTo>
                      <a:pt x="0" y="0"/>
                    </a:lnTo>
                    <a:lnTo>
                      <a:pt x="0" y="73"/>
                    </a:lnTo>
                    <a:close/>
                  </a:path>
                </a:pathLst>
              </a:custGeom>
              <a:solidFill>
                <a:srgbClr val="000000"/>
              </a:solidFill>
              <a:ln w="9525">
                <a:noFill/>
                <a:round/>
                <a:headEnd/>
                <a:tailEnd/>
              </a:ln>
            </p:spPr>
            <p:txBody>
              <a:bodyPr/>
              <a:lstStyle/>
              <a:p>
                <a:endParaRPr lang="en-US"/>
              </a:p>
            </p:txBody>
          </p:sp>
        </p:grpSp>
        <p:sp>
          <p:nvSpPr>
            <p:cNvPr id="8248" name="Rectangle 56"/>
            <p:cNvSpPr>
              <a:spLocks noChangeArrowheads="1"/>
            </p:cNvSpPr>
            <p:nvPr/>
          </p:nvSpPr>
          <p:spPr bwMode="auto">
            <a:xfrm>
              <a:off x="1194" y="610"/>
              <a:ext cx="1627" cy="413"/>
            </a:xfrm>
            <a:prstGeom prst="rect">
              <a:avLst/>
            </a:prstGeom>
            <a:noFill/>
            <a:ln w="9525">
              <a:noFill/>
              <a:miter lim="800000"/>
              <a:headEnd/>
              <a:tailEnd/>
            </a:ln>
          </p:spPr>
          <p:txBody>
            <a:bodyPr/>
            <a:lstStyle/>
            <a:p>
              <a:endParaRPr lang="en-US"/>
            </a:p>
          </p:txBody>
        </p:sp>
        <p:sp>
          <p:nvSpPr>
            <p:cNvPr id="8249" name="Rectangle 57"/>
            <p:cNvSpPr>
              <a:spLocks noChangeArrowheads="1"/>
            </p:cNvSpPr>
            <p:nvPr/>
          </p:nvSpPr>
          <p:spPr bwMode="auto">
            <a:xfrm>
              <a:off x="1246" y="640"/>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8250" name="Rectangle 58"/>
            <p:cNvSpPr>
              <a:spLocks noChangeArrowheads="1"/>
            </p:cNvSpPr>
            <p:nvPr/>
          </p:nvSpPr>
          <p:spPr bwMode="auto">
            <a:xfrm>
              <a:off x="1615" y="283"/>
              <a:ext cx="1627" cy="409"/>
            </a:xfrm>
            <a:prstGeom prst="rect">
              <a:avLst/>
            </a:prstGeom>
            <a:noFill/>
            <a:ln w="9525">
              <a:noFill/>
              <a:miter lim="800000"/>
              <a:headEnd/>
              <a:tailEnd/>
            </a:ln>
          </p:spPr>
          <p:txBody>
            <a:bodyPr/>
            <a:lstStyle/>
            <a:p>
              <a:endParaRPr lang="en-US"/>
            </a:p>
          </p:txBody>
        </p:sp>
        <p:sp>
          <p:nvSpPr>
            <p:cNvPr id="8251" name="Rectangle 59"/>
            <p:cNvSpPr>
              <a:spLocks noChangeArrowheads="1"/>
            </p:cNvSpPr>
            <p:nvPr/>
          </p:nvSpPr>
          <p:spPr bwMode="auto">
            <a:xfrm>
              <a:off x="1666" y="309"/>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8252" name="Rectangle 60"/>
            <p:cNvSpPr>
              <a:spLocks noChangeArrowheads="1"/>
            </p:cNvSpPr>
            <p:nvPr/>
          </p:nvSpPr>
          <p:spPr bwMode="auto">
            <a:xfrm>
              <a:off x="1761" y="30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8253" name="Rectangle 61"/>
            <p:cNvSpPr>
              <a:spLocks noChangeArrowheads="1"/>
            </p:cNvSpPr>
            <p:nvPr/>
          </p:nvSpPr>
          <p:spPr bwMode="auto">
            <a:xfrm>
              <a:off x="846" y="713"/>
              <a:ext cx="1628" cy="409"/>
            </a:xfrm>
            <a:prstGeom prst="rect">
              <a:avLst/>
            </a:prstGeom>
            <a:noFill/>
            <a:ln w="9525">
              <a:noFill/>
              <a:miter lim="800000"/>
              <a:headEnd/>
              <a:tailEnd/>
            </a:ln>
          </p:spPr>
          <p:txBody>
            <a:bodyPr/>
            <a:lstStyle/>
            <a:p>
              <a:endParaRPr lang="en-US"/>
            </a:p>
          </p:txBody>
        </p:sp>
        <p:sp>
          <p:nvSpPr>
            <p:cNvPr id="8254" name="Rectangle 62"/>
            <p:cNvSpPr>
              <a:spLocks noChangeArrowheads="1"/>
            </p:cNvSpPr>
            <p:nvPr/>
          </p:nvSpPr>
          <p:spPr bwMode="auto">
            <a:xfrm>
              <a:off x="898" y="739"/>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8255" name="Rectangle 63"/>
            <p:cNvSpPr>
              <a:spLocks noChangeArrowheads="1"/>
            </p:cNvSpPr>
            <p:nvPr/>
          </p:nvSpPr>
          <p:spPr bwMode="auto">
            <a:xfrm>
              <a:off x="984" y="73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9"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lide Number Placeholder 3"/>
          <p:cNvSpPr>
            <a:spLocks noGrp="1"/>
          </p:cNvSpPr>
          <p:nvPr>
            <p:ph type="sldNum" sz="quarter" idx="12"/>
          </p:nvPr>
        </p:nvSpPr>
        <p:spPr/>
        <p:txBody>
          <a:bodyPr/>
          <a:lstStyle/>
          <a:p>
            <a:fld id="{37B55BEB-69DE-44E0-A128-7C6B22BD937B}" type="slidenum">
              <a:rPr lang="en-US"/>
              <a:pPr/>
              <a:t>88</a:t>
            </a:fld>
            <a:endParaRPr lang="en-US"/>
          </a:p>
        </p:txBody>
      </p:sp>
      <p:sp>
        <p:nvSpPr>
          <p:cNvPr id="9218" name="Line 2"/>
          <p:cNvSpPr>
            <a:spLocks noChangeShapeType="1"/>
          </p:cNvSpPr>
          <p:nvPr/>
        </p:nvSpPr>
        <p:spPr bwMode="auto">
          <a:xfrm>
            <a:off x="3276600" y="1600200"/>
            <a:ext cx="2667000" cy="0"/>
          </a:xfrm>
          <a:prstGeom prst="line">
            <a:avLst/>
          </a:prstGeom>
          <a:noFill/>
          <a:ln w="19050">
            <a:solidFill>
              <a:schemeClr val="tx1"/>
            </a:solidFill>
            <a:round/>
            <a:headEnd/>
            <a:tailEnd/>
          </a:ln>
          <a:effectLst/>
        </p:spPr>
        <p:txBody>
          <a:bodyPr/>
          <a:lstStyle/>
          <a:p>
            <a:endParaRPr lang="en-US"/>
          </a:p>
        </p:txBody>
      </p:sp>
      <p:sp>
        <p:nvSpPr>
          <p:cNvPr id="9219" name="Line 3"/>
          <p:cNvSpPr>
            <a:spLocks noChangeShapeType="1"/>
          </p:cNvSpPr>
          <p:nvPr/>
        </p:nvSpPr>
        <p:spPr bwMode="auto">
          <a:xfrm flipH="1">
            <a:off x="5334000" y="1600200"/>
            <a:ext cx="609600" cy="1752600"/>
          </a:xfrm>
          <a:prstGeom prst="line">
            <a:avLst/>
          </a:prstGeom>
          <a:noFill/>
          <a:ln w="19050">
            <a:solidFill>
              <a:schemeClr val="tx1"/>
            </a:solidFill>
            <a:round/>
            <a:headEnd/>
            <a:tailEnd/>
          </a:ln>
          <a:effectLst/>
        </p:spPr>
        <p:txBody>
          <a:bodyPr/>
          <a:lstStyle/>
          <a:p>
            <a:endParaRPr lang="en-US"/>
          </a:p>
        </p:txBody>
      </p:sp>
      <p:sp>
        <p:nvSpPr>
          <p:cNvPr id="9220" name="Line 4"/>
          <p:cNvSpPr>
            <a:spLocks noChangeShapeType="1"/>
          </p:cNvSpPr>
          <p:nvPr/>
        </p:nvSpPr>
        <p:spPr bwMode="auto">
          <a:xfrm flipH="1">
            <a:off x="2590800" y="1600200"/>
            <a:ext cx="685800" cy="1752600"/>
          </a:xfrm>
          <a:prstGeom prst="line">
            <a:avLst/>
          </a:prstGeom>
          <a:noFill/>
          <a:ln w="19050">
            <a:solidFill>
              <a:schemeClr val="tx1"/>
            </a:solidFill>
            <a:round/>
            <a:headEnd/>
            <a:tailEnd/>
          </a:ln>
          <a:effectLst/>
        </p:spPr>
        <p:txBody>
          <a:bodyPr/>
          <a:lstStyle/>
          <a:p>
            <a:endParaRPr lang="en-US"/>
          </a:p>
        </p:txBody>
      </p:sp>
      <p:sp>
        <p:nvSpPr>
          <p:cNvPr id="9221" name="Line 5"/>
          <p:cNvSpPr>
            <a:spLocks noChangeShapeType="1"/>
          </p:cNvSpPr>
          <p:nvPr/>
        </p:nvSpPr>
        <p:spPr bwMode="auto">
          <a:xfrm>
            <a:off x="2590800" y="3352800"/>
            <a:ext cx="2743200" cy="0"/>
          </a:xfrm>
          <a:prstGeom prst="line">
            <a:avLst/>
          </a:prstGeom>
          <a:noFill/>
          <a:ln w="19050">
            <a:solidFill>
              <a:schemeClr val="tx1"/>
            </a:solidFill>
            <a:round/>
            <a:headEnd/>
            <a:tailEnd/>
          </a:ln>
          <a:effectLst/>
        </p:spPr>
        <p:txBody>
          <a:bodyPr/>
          <a:lstStyle/>
          <a:p>
            <a:endParaRPr lang="en-US"/>
          </a:p>
        </p:txBody>
      </p:sp>
      <p:sp>
        <p:nvSpPr>
          <p:cNvPr id="9222" name="Line 6"/>
          <p:cNvSpPr>
            <a:spLocks noChangeShapeType="1"/>
          </p:cNvSpPr>
          <p:nvPr/>
        </p:nvSpPr>
        <p:spPr bwMode="auto">
          <a:xfrm flipH="1">
            <a:off x="3962400" y="1600200"/>
            <a:ext cx="609600" cy="1752600"/>
          </a:xfrm>
          <a:prstGeom prst="line">
            <a:avLst/>
          </a:prstGeom>
          <a:noFill/>
          <a:ln w="19050">
            <a:solidFill>
              <a:schemeClr val="tx1"/>
            </a:solidFill>
            <a:round/>
            <a:headEnd/>
            <a:tailEnd/>
          </a:ln>
          <a:effectLst/>
        </p:spPr>
        <p:txBody>
          <a:bodyPr/>
          <a:lstStyle/>
          <a:p>
            <a:endParaRPr lang="en-US"/>
          </a:p>
        </p:txBody>
      </p:sp>
      <p:grpSp>
        <p:nvGrpSpPr>
          <p:cNvPr id="2" name="Group 8"/>
          <p:cNvGrpSpPr>
            <a:grpSpLocks/>
          </p:cNvGrpSpPr>
          <p:nvPr/>
        </p:nvGrpSpPr>
        <p:grpSpPr bwMode="auto">
          <a:xfrm>
            <a:off x="6096000" y="1676400"/>
            <a:ext cx="654050" cy="403225"/>
            <a:chOff x="3792" y="2112"/>
            <a:chExt cx="412" cy="254"/>
          </a:xfrm>
        </p:grpSpPr>
        <p:sp>
          <p:nvSpPr>
            <p:cNvPr id="9225" name="Oval 9"/>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9226" name="Rectangle 10"/>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aphicFrame>
        <p:nvGraphicFramePr>
          <p:cNvPr id="9227" name="Object 11"/>
          <p:cNvGraphicFramePr>
            <a:graphicFrameLocks noChangeAspect="1"/>
          </p:cNvGraphicFramePr>
          <p:nvPr/>
        </p:nvGraphicFramePr>
        <p:xfrm>
          <a:off x="3276600" y="4495800"/>
          <a:ext cx="1295400" cy="504825"/>
        </p:xfrm>
        <a:graphic>
          <a:graphicData uri="http://schemas.openxmlformats.org/presentationml/2006/ole">
            <p:oleObj spid="_x0000_s539650" name="Equation" r:id="rId3" imgW="520560" imgH="203040" progId="">
              <p:embed/>
            </p:oleObj>
          </a:graphicData>
        </a:graphic>
      </p:graphicFrame>
      <p:sp>
        <p:nvSpPr>
          <p:cNvPr id="9228" name="Rectangle 12"/>
          <p:cNvSpPr>
            <a:spLocks noChangeArrowheads="1"/>
          </p:cNvSpPr>
          <p:nvPr/>
        </p:nvSpPr>
        <p:spPr bwMode="auto">
          <a:xfrm>
            <a:off x="2133600" y="4495800"/>
            <a:ext cx="796925" cy="457200"/>
          </a:xfrm>
          <a:prstGeom prst="rect">
            <a:avLst/>
          </a:prstGeom>
          <a:noFill/>
          <a:ln w="9525">
            <a:noFill/>
            <a:miter lim="800000"/>
            <a:headEnd/>
            <a:tailEnd/>
          </a:ln>
          <a:effectLst/>
        </p:spPr>
        <p:txBody>
          <a:bodyPr wrap="none">
            <a:spAutoFit/>
          </a:bodyPr>
          <a:lstStyle/>
          <a:p>
            <a:pPr>
              <a:spcBef>
                <a:spcPct val="50000"/>
              </a:spcBef>
            </a:pPr>
            <a:r>
              <a:rPr lang="en-US" b="1" i="1">
                <a:solidFill>
                  <a:srgbClr val="FF0000"/>
                </a:solidFill>
              </a:rPr>
              <a:t>Z</a:t>
            </a:r>
            <a:r>
              <a:rPr lang="en-US" b="1">
                <a:solidFill>
                  <a:srgbClr val="FF0000"/>
                </a:solidFill>
              </a:rPr>
              <a:t>=2;</a:t>
            </a:r>
          </a:p>
        </p:txBody>
      </p:sp>
      <p:sp>
        <p:nvSpPr>
          <p:cNvPr id="9229" name="Rectangle 13"/>
          <p:cNvSpPr>
            <a:spLocks noChangeArrowheads="1"/>
          </p:cNvSpPr>
          <p:nvPr/>
        </p:nvSpPr>
        <p:spPr bwMode="auto">
          <a:xfrm>
            <a:off x="1905000" y="4343400"/>
            <a:ext cx="5029200" cy="838200"/>
          </a:xfrm>
          <a:prstGeom prst="rect">
            <a:avLst/>
          </a:prstGeom>
          <a:noFill/>
          <a:ln w="9525">
            <a:solidFill>
              <a:srgbClr val="FF0000"/>
            </a:solidFill>
            <a:miter lim="800000"/>
            <a:headEnd/>
            <a:tailEnd/>
          </a:ln>
          <a:effectLst/>
        </p:spPr>
        <p:txBody>
          <a:bodyPr wrap="none" anchor="ctr"/>
          <a:lstStyle/>
          <a:p>
            <a:endParaRPr lang="en-US"/>
          </a:p>
        </p:txBody>
      </p:sp>
      <p:graphicFrame>
        <p:nvGraphicFramePr>
          <p:cNvPr id="9230" name="Object 14"/>
          <p:cNvGraphicFramePr>
            <a:graphicFrameLocks noChangeAspect="1"/>
          </p:cNvGraphicFramePr>
          <p:nvPr/>
        </p:nvGraphicFramePr>
        <p:xfrm>
          <a:off x="4876800" y="4419600"/>
          <a:ext cx="1295400" cy="600075"/>
        </p:xfrm>
        <a:graphic>
          <a:graphicData uri="http://schemas.openxmlformats.org/presentationml/2006/ole">
            <p:oleObj spid="_x0000_s539651" name="Equation" r:id="rId4" imgW="520560" imgH="241200" progId="">
              <p:embed/>
            </p:oleObj>
          </a:graphicData>
        </a:graphic>
      </p:graphicFrame>
      <p:sp>
        <p:nvSpPr>
          <p:cNvPr id="9231" name="Oval 15"/>
          <p:cNvSpPr>
            <a:spLocks noChangeArrowheads="1"/>
          </p:cNvSpPr>
          <p:nvPr/>
        </p:nvSpPr>
        <p:spPr bwMode="auto">
          <a:xfrm>
            <a:off x="2819400" y="1066800"/>
            <a:ext cx="381000" cy="403225"/>
          </a:xfrm>
          <a:prstGeom prst="ellipse">
            <a:avLst/>
          </a:prstGeom>
          <a:noFill/>
          <a:ln w="12700">
            <a:solidFill>
              <a:srgbClr val="0000FF"/>
            </a:solidFill>
            <a:round/>
            <a:headEnd/>
            <a:tailEnd/>
          </a:ln>
        </p:spPr>
        <p:txBody>
          <a:bodyPr/>
          <a:lstStyle/>
          <a:p>
            <a:endParaRPr lang="en-US"/>
          </a:p>
        </p:txBody>
      </p:sp>
      <p:sp>
        <p:nvSpPr>
          <p:cNvPr id="9232" name="Rectangle 16"/>
          <p:cNvSpPr>
            <a:spLocks noChangeArrowheads="1"/>
          </p:cNvSpPr>
          <p:nvPr/>
        </p:nvSpPr>
        <p:spPr bwMode="auto">
          <a:xfrm>
            <a:off x="2590800" y="1143000"/>
            <a:ext cx="273050" cy="274638"/>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grpSp>
        <p:nvGrpSpPr>
          <p:cNvPr id="3" name="Group 17"/>
          <p:cNvGrpSpPr>
            <a:grpSpLocks/>
          </p:cNvGrpSpPr>
          <p:nvPr/>
        </p:nvGrpSpPr>
        <p:grpSpPr bwMode="auto">
          <a:xfrm>
            <a:off x="3352800" y="1676400"/>
            <a:ext cx="654050" cy="403225"/>
            <a:chOff x="3792" y="2112"/>
            <a:chExt cx="412" cy="254"/>
          </a:xfrm>
        </p:grpSpPr>
        <p:sp>
          <p:nvSpPr>
            <p:cNvPr id="9234" name="Oval 18"/>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9235" name="Rectangle 19"/>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4" name="Group 20"/>
          <p:cNvGrpSpPr>
            <a:grpSpLocks/>
          </p:cNvGrpSpPr>
          <p:nvPr/>
        </p:nvGrpSpPr>
        <p:grpSpPr bwMode="auto">
          <a:xfrm>
            <a:off x="2590800" y="3505200"/>
            <a:ext cx="654050" cy="403225"/>
            <a:chOff x="3792" y="2112"/>
            <a:chExt cx="412" cy="254"/>
          </a:xfrm>
        </p:grpSpPr>
        <p:sp>
          <p:nvSpPr>
            <p:cNvPr id="9237" name="Oval 21"/>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9238" name="Rectangle 22"/>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5" name="Group 23"/>
          <p:cNvGrpSpPr>
            <a:grpSpLocks/>
          </p:cNvGrpSpPr>
          <p:nvPr/>
        </p:nvGrpSpPr>
        <p:grpSpPr bwMode="auto">
          <a:xfrm>
            <a:off x="5410200" y="3505200"/>
            <a:ext cx="654050" cy="403225"/>
            <a:chOff x="3792" y="2112"/>
            <a:chExt cx="412" cy="254"/>
          </a:xfrm>
        </p:grpSpPr>
        <p:sp>
          <p:nvSpPr>
            <p:cNvPr id="9240" name="Oval 24"/>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9241" name="Rectangle 25"/>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9242" name="Text Box 26"/>
          <p:cNvSpPr txBox="1">
            <a:spLocks noChangeArrowheads="1"/>
          </p:cNvSpPr>
          <p:nvPr/>
        </p:nvSpPr>
        <p:spPr bwMode="auto">
          <a:xfrm>
            <a:off x="2743200" y="5943600"/>
            <a:ext cx="2819400" cy="396875"/>
          </a:xfrm>
          <a:prstGeom prst="rect">
            <a:avLst/>
          </a:prstGeom>
          <a:noFill/>
          <a:ln w="9525">
            <a:noFill/>
            <a:miter lim="800000"/>
            <a:headEnd/>
            <a:tailEnd/>
          </a:ln>
          <a:effectLst/>
        </p:spPr>
        <p:txBody>
          <a:bodyPr>
            <a:spAutoFit/>
          </a:bodyPr>
          <a:lstStyle/>
          <a:p>
            <a:pPr>
              <a:spcBef>
                <a:spcPct val="50000"/>
              </a:spcBef>
            </a:pPr>
            <a:r>
              <a:rPr lang="en-US" sz="2000" b="1">
                <a:latin typeface="Arial" pitchFamily="34" charset="0"/>
              </a:rPr>
              <a:t>Non-centrosymmetric</a:t>
            </a:r>
          </a:p>
        </p:txBody>
      </p:sp>
      <p:sp>
        <p:nvSpPr>
          <p:cNvPr id="9243" name="Rectangle 27"/>
          <p:cNvSpPr>
            <a:spLocks noChangeArrowheads="1"/>
          </p:cNvSpPr>
          <p:nvPr/>
        </p:nvSpPr>
        <p:spPr bwMode="auto">
          <a:xfrm>
            <a:off x="762000" y="5334000"/>
            <a:ext cx="7623175" cy="457200"/>
          </a:xfrm>
          <a:prstGeom prst="rect">
            <a:avLst/>
          </a:prstGeom>
          <a:noFill/>
          <a:ln w="9525">
            <a:noFill/>
            <a:miter lim="800000"/>
            <a:headEnd/>
            <a:tailEnd/>
          </a:ln>
          <a:effectLst/>
        </p:spPr>
        <p:txBody>
          <a:bodyPr wrap="none">
            <a:spAutoFit/>
          </a:bodyPr>
          <a:lstStyle/>
          <a:p>
            <a:r>
              <a:rPr lang="en-US">
                <a:latin typeface="Arial" pitchFamily="34" charset="0"/>
              </a:rPr>
              <a:t>Is this group centrosymmetric or non-centrosymmetric?</a:t>
            </a:r>
          </a:p>
        </p:txBody>
      </p:sp>
      <p:graphicFrame>
        <p:nvGraphicFramePr>
          <p:cNvPr id="9244" name="Object 28"/>
          <p:cNvGraphicFramePr>
            <a:graphicFrameLocks noChangeAspect="1"/>
          </p:cNvGraphicFramePr>
          <p:nvPr/>
        </p:nvGraphicFramePr>
        <p:xfrm>
          <a:off x="6248400" y="457200"/>
          <a:ext cx="1716088" cy="639763"/>
        </p:xfrm>
        <a:graphic>
          <a:graphicData uri="http://schemas.openxmlformats.org/presentationml/2006/ole">
            <p:oleObj spid="_x0000_s539652" name="Equation" r:id="rId5" imgW="545760" imgH="203040" progId="">
              <p:embed/>
            </p:oleObj>
          </a:graphicData>
        </a:graphic>
      </p:graphicFrame>
      <p:sp>
        <p:nvSpPr>
          <p:cNvPr id="9245" name="Line 29"/>
          <p:cNvSpPr>
            <a:spLocks noChangeShapeType="1"/>
          </p:cNvSpPr>
          <p:nvPr/>
        </p:nvSpPr>
        <p:spPr bwMode="auto">
          <a:xfrm>
            <a:off x="2971800" y="2438400"/>
            <a:ext cx="2667000" cy="0"/>
          </a:xfrm>
          <a:prstGeom prst="line">
            <a:avLst/>
          </a:prstGeom>
          <a:noFill/>
          <a:ln w="19050">
            <a:solidFill>
              <a:schemeClr val="tx1"/>
            </a:solidFill>
            <a:round/>
            <a:headEnd/>
            <a:tailEnd/>
          </a:ln>
          <a:effectLst/>
        </p:spPr>
        <p:txBody>
          <a:bodyPr/>
          <a:lstStyle/>
          <a:p>
            <a:endParaRPr lang="en-US"/>
          </a:p>
        </p:txBody>
      </p:sp>
      <p:graphicFrame>
        <p:nvGraphicFramePr>
          <p:cNvPr id="9246" name="Object 30"/>
          <p:cNvGraphicFramePr>
            <a:graphicFrameLocks noChangeAspect="1"/>
          </p:cNvGraphicFramePr>
          <p:nvPr/>
        </p:nvGraphicFramePr>
        <p:xfrm>
          <a:off x="5334000" y="3200400"/>
          <a:ext cx="104775" cy="371475"/>
        </p:xfrm>
        <a:graphic>
          <a:graphicData uri="http://schemas.openxmlformats.org/presentationml/2006/ole">
            <p:oleObj spid="_x0000_s539653" name="CS ChemDraw Drawing" r:id="rId6" imgW="65521" imgH="230037" progId="">
              <p:embed/>
            </p:oleObj>
          </a:graphicData>
        </a:graphic>
      </p:graphicFrame>
      <p:graphicFrame>
        <p:nvGraphicFramePr>
          <p:cNvPr id="9247" name="Object 31"/>
          <p:cNvGraphicFramePr>
            <a:graphicFrameLocks noChangeAspect="1"/>
          </p:cNvGraphicFramePr>
          <p:nvPr/>
        </p:nvGraphicFramePr>
        <p:xfrm>
          <a:off x="3937000" y="3171825"/>
          <a:ext cx="101600" cy="361950"/>
        </p:xfrm>
        <a:graphic>
          <a:graphicData uri="http://schemas.openxmlformats.org/presentationml/2006/ole">
            <p:oleObj spid="_x0000_s539654" name="CS ChemDraw Drawing" r:id="rId7" imgW="65879" imgH="232916" progId="">
              <p:embed/>
            </p:oleObj>
          </a:graphicData>
        </a:graphic>
      </p:graphicFrame>
      <p:graphicFrame>
        <p:nvGraphicFramePr>
          <p:cNvPr id="9248" name="Object 32"/>
          <p:cNvGraphicFramePr>
            <a:graphicFrameLocks noChangeAspect="1"/>
          </p:cNvGraphicFramePr>
          <p:nvPr/>
        </p:nvGraphicFramePr>
        <p:xfrm>
          <a:off x="2514600" y="3167063"/>
          <a:ext cx="104775" cy="371475"/>
        </p:xfrm>
        <a:graphic>
          <a:graphicData uri="http://schemas.openxmlformats.org/presentationml/2006/ole">
            <p:oleObj spid="_x0000_s539655" name="CS ChemDraw Drawing" r:id="rId8" imgW="65521" imgH="230037" progId="">
              <p:embed/>
            </p:oleObj>
          </a:graphicData>
        </a:graphic>
      </p:graphicFrame>
      <p:graphicFrame>
        <p:nvGraphicFramePr>
          <p:cNvPr id="9249" name="Object 33"/>
          <p:cNvGraphicFramePr>
            <a:graphicFrameLocks noChangeAspect="1"/>
          </p:cNvGraphicFramePr>
          <p:nvPr/>
        </p:nvGraphicFramePr>
        <p:xfrm>
          <a:off x="3200400" y="1447800"/>
          <a:ext cx="104775" cy="371475"/>
        </p:xfrm>
        <a:graphic>
          <a:graphicData uri="http://schemas.openxmlformats.org/presentationml/2006/ole">
            <p:oleObj spid="_x0000_s539656" name="CS ChemDraw Drawing" r:id="rId9" imgW="65521" imgH="230037" progId="">
              <p:embed/>
            </p:oleObj>
          </a:graphicData>
        </a:graphic>
      </p:graphicFrame>
      <p:graphicFrame>
        <p:nvGraphicFramePr>
          <p:cNvPr id="9250" name="Object 34"/>
          <p:cNvGraphicFramePr>
            <a:graphicFrameLocks noChangeAspect="1"/>
          </p:cNvGraphicFramePr>
          <p:nvPr/>
        </p:nvGraphicFramePr>
        <p:xfrm>
          <a:off x="5867400" y="1447800"/>
          <a:ext cx="104775" cy="371475"/>
        </p:xfrm>
        <a:graphic>
          <a:graphicData uri="http://schemas.openxmlformats.org/presentationml/2006/ole">
            <p:oleObj spid="_x0000_s539657" name="CS ChemDraw Drawing" r:id="rId10" imgW="65521" imgH="230037" progId="">
              <p:embed/>
            </p:oleObj>
          </a:graphicData>
        </a:graphic>
      </p:graphicFrame>
      <p:graphicFrame>
        <p:nvGraphicFramePr>
          <p:cNvPr id="9251" name="Object 35"/>
          <p:cNvGraphicFramePr>
            <a:graphicFrameLocks noChangeAspect="1"/>
          </p:cNvGraphicFramePr>
          <p:nvPr/>
        </p:nvGraphicFramePr>
        <p:xfrm>
          <a:off x="5613400" y="2286000"/>
          <a:ext cx="101600" cy="361950"/>
        </p:xfrm>
        <a:graphic>
          <a:graphicData uri="http://schemas.openxmlformats.org/presentationml/2006/ole">
            <p:oleObj spid="_x0000_s539658" name="CS ChemDraw Drawing" r:id="rId11" imgW="65879" imgH="232916" progId="">
              <p:embed/>
            </p:oleObj>
          </a:graphicData>
        </a:graphic>
      </p:graphicFrame>
      <p:graphicFrame>
        <p:nvGraphicFramePr>
          <p:cNvPr id="9252" name="Object 36"/>
          <p:cNvGraphicFramePr>
            <a:graphicFrameLocks noChangeAspect="1"/>
          </p:cNvGraphicFramePr>
          <p:nvPr/>
        </p:nvGraphicFramePr>
        <p:xfrm>
          <a:off x="4495800" y="1447800"/>
          <a:ext cx="101600" cy="361950"/>
        </p:xfrm>
        <a:graphic>
          <a:graphicData uri="http://schemas.openxmlformats.org/presentationml/2006/ole">
            <p:oleObj spid="_x0000_s539659" name="CS ChemDraw Drawing" r:id="rId12" imgW="65879" imgH="232916" progId="">
              <p:embed/>
            </p:oleObj>
          </a:graphicData>
        </a:graphic>
      </p:graphicFrame>
      <p:graphicFrame>
        <p:nvGraphicFramePr>
          <p:cNvPr id="9253" name="Object 37"/>
          <p:cNvGraphicFramePr>
            <a:graphicFrameLocks noChangeAspect="1"/>
          </p:cNvGraphicFramePr>
          <p:nvPr/>
        </p:nvGraphicFramePr>
        <p:xfrm>
          <a:off x="2895600" y="2286000"/>
          <a:ext cx="101600" cy="361950"/>
        </p:xfrm>
        <a:graphic>
          <a:graphicData uri="http://schemas.openxmlformats.org/presentationml/2006/ole">
            <p:oleObj spid="_x0000_s539660" name="CS ChemDraw Drawing" r:id="rId13" imgW="65879" imgH="232916" progId="">
              <p:embed/>
            </p:oleObj>
          </a:graphicData>
        </a:graphic>
      </p:graphicFrame>
      <p:graphicFrame>
        <p:nvGraphicFramePr>
          <p:cNvPr id="9254" name="Object 38"/>
          <p:cNvGraphicFramePr>
            <a:graphicFrameLocks noChangeAspect="1"/>
          </p:cNvGraphicFramePr>
          <p:nvPr/>
        </p:nvGraphicFramePr>
        <p:xfrm>
          <a:off x="4241800" y="2286000"/>
          <a:ext cx="101600" cy="361950"/>
        </p:xfrm>
        <a:graphic>
          <a:graphicData uri="http://schemas.openxmlformats.org/presentationml/2006/ole">
            <p:oleObj spid="_x0000_s539661" name="CS ChemDraw Drawing" r:id="rId14" imgW="65879" imgH="232916" progId="">
              <p:embed/>
            </p:oleObj>
          </a:graphicData>
        </a:graphic>
      </p:graphicFrame>
      <p:grpSp>
        <p:nvGrpSpPr>
          <p:cNvPr id="6" name="Group 39"/>
          <p:cNvGrpSpPr>
            <a:grpSpLocks/>
          </p:cNvGrpSpPr>
          <p:nvPr/>
        </p:nvGrpSpPr>
        <p:grpSpPr bwMode="auto">
          <a:xfrm>
            <a:off x="5181600" y="1066800"/>
            <a:ext cx="676275" cy="403225"/>
            <a:chOff x="4004" y="1858"/>
            <a:chExt cx="426" cy="254"/>
          </a:xfrm>
        </p:grpSpPr>
        <p:sp>
          <p:nvSpPr>
            <p:cNvPr id="9256" name="Oval 40"/>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9257" name="Rectangle 41"/>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7" name="Group 42"/>
          <p:cNvGrpSpPr>
            <a:grpSpLocks/>
          </p:cNvGrpSpPr>
          <p:nvPr/>
        </p:nvGrpSpPr>
        <p:grpSpPr bwMode="auto">
          <a:xfrm>
            <a:off x="1752600" y="2819400"/>
            <a:ext cx="676275" cy="403225"/>
            <a:chOff x="4004" y="1858"/>
            <a:chExt cx="426" cy="254"/>
          </a:xfrm>
        </p:grpSpPr>
        <p:sp>
          <p:nvSpPr>
            <p:cNvPr id="9259" name="Oval 43"/>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9260" name="Rectangle 44"/>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8" name="Group 45"/>
          <p:cNvGrpSpPr>
            <a:grpSpLocks/>
          </p:cNvGrpSpPr>
          <p:nvPr/>
        </p:nvGrpSpPr>
        <p:grpSpPr bwMode="auto">
          <a:xfrm>
            <a:off x="4648200" y="2819400"/>
            <a:ext cx="676275" cy="403225"/>
            <a:chOff x="4004" y="1858"/>
            <a:chExt cx="426" cy="254"/>
          </a:xfrm>
        </p:grpSpPr>
        <p:sp>
          <p:nvSpPr>
            <p:cNvPr id="9262" name="Oval 46"/>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9263" name="Rectangle 47"/>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9" name="Group 49"/>
          <p:cNvGrpSpPr>
            <a:grpSpLocks noChangeAspect="1"/>
          </p:cNvGrpSpPr>
          <p:nvPr/>
        </p:nvGrpSpPr>
        <p:grpSpPr bwMode="auto">
          <a:xfrm>
            <a:off x="457200" y="381000"/>
            <a:ext cx="4689475" cy="1714500"/>
            <a:chOff x="288" y="240"/>
            <a:chExt cx="2954" cy="1080"/>
          </a:xfrm>
        </p:grpSpPr>
        <p:sp>
          <p:nvSpPr>
            <p:cNvPr id="9264" name="AutoShape 48"/>
            <p:cNvSpPr>
              <a:spLocks noChangeAspect="1" noChangeArrowheads="1" noTextEdit="1"/>
            </p:cNvSpPr>
            <p:nvPr/>
          </p:nvSpPr>
          <p:spPr bwMode="auto">
            <a:xfrm>
              <a:off x="288" y="240"/>
              <a:ext cx="1593" cy="1080"/>
            </a:xfrm>
            <a:prstGeom prst="rect">
              <a:avLst/>
            </a:prstGeom>
            <a:noFill/>
            <a:ln w="9525">
              <a:noFill/>
              <a:miter lim="800000"/>
              <a:headEnd/>
              <a:tailEnd/>
            </a:ln>
          </p:spPr>
          <p:txBody>
            <a:bodyPr/>
            <a:lstStyle/>
            <a:p>
              <a:endParaRPr lang="en-US"/>
            </a:p>
          </p:txBody>
        </p:sp>
        <p:grpSp>
          <p:nvGrpSpPr>
            <p:cNvPr id="10" name="Group 52"/>
            <p:cNvGrpSpPr>
              <a:grpSpLocks/>
            </p:cNvGrpSpPr>
            <p:nvPr/>
          </p:nvGrpSpPr>
          <p:grpSpPr bwMode="auto">
            <a:xfrm>
              <a:off x="975" y="412"/>
              <a:ext cx="172" cy="301"/>
              <a:chOff x="975" y="412"/>
              <a:chExt cx="172" cy="301"/>
            </a:xfrm>
          </p:grpSpPr>
          <p:sp>
            <p:nvSpPr>
              <p:cNvPr id="9266" name="Freeform 50"/>
              <p:cNvSpPr>
                <a:spLocks/>
              </p:cNvSpPr>
              <p:nvPr/>
            </p:nvSpPr>
            <p:spPr bwMode="auto">
              <a:xfrm>
                <a:off x="996" y="412"/>
                <a:ext cx="151" cy="254"/>
              </a:xfrm>
              <a:custGeom>
                <a:avLst/>
                <a:gdLst/>
                <a:ahLst/>
                <a:cxnLst>
                  <a:cxn ang="0">
                    <a:pos x="151" y="4"/>
                  </a:cxn>
                  <a:cxn ang="0">
                    <a:pos x="146" y="0"/>
                  </a:cxn>
                  <a:cxn ang="0">
                    <a:pos x="0" y="250"/>
                  </a:cxn>
                  <a:cxn ang="0">
                    <a:pos x="5" y="254"/>
                  </a:cxn>
                  <a:cxn ang="0">
                    <a:pos x="151" y="4"/>
                  </a:cxn>
                </a:cxnLst>
                <a:rect l="0" t="0" r="r" b="b"/>
                <a:pathLst>
                  <a:path w="151" h="254">
                    <a:moveTo>
                      <a:pt x="151" y="4"/>
                    </a:moveTo>
                    <a:lnTo>
                      <a:pt x="146" y="0"/>
                    </a:lnTo>
                    <a:lnTo>
                      <a:pt x="0" y="250"/>
                    </a:lnTo>
                    <a:lnTo>
                      <a:pt x="5" y="254"/>
                    </a:lnTo>
                    <a:lnTo>
                      <a:pt x="151" y="4"/>
                    </a:lnTo>
                    <a:close/>
                  </a:path>
                </a:pathLst>
              </a:custGeom>
              <a:solidFill>
                <a:srgbClr val="000000"/>
              </a:solidFill>
              <a:ln w="9525">
                <a:noFill/>
                <a:round/>
                <a:headEnd/>
                <a:tailEnd/>
              </a:ln>
            </p:spPr>
            <p:txBody>
              <a:bodyPr/>
              <a:lstStyle/>
              <a:p>
                <a:endParaRPr lang="en-US"/>
              </a:p>
            </p:txBody>
          </p:sp>
          <p:sp>
            <p:nvSpPr>
              <p:cNvPr id="9267" name="Freeform 51"/>
              <p:cNvSpPr>
                <a:spLocks/>
              </p:cNvSpPr>
              <p:nvPr/>
            </p:nvSpPr>
            <p:spPr bwMode="auto">
              <a:xfrm>
                <a:off x="975" y="636"/>
                <a:ext cx="64" cy="77"/>
              </a:xfrm>
              <a:custGeom>
                <a:avLst/>
                <a:gdLst/>
                <a:ahLst/>
                <a:cxnLst>
                  <a:cxn ang="0">
                    <a:pos x="4" y="0"/>
                  </a:cxn>
                  <a:cxn ang="0">
                    <a:pos x="0" y="77"/>
                  </a:cxn>
                  <a:cxn ang="0">
                    <a:pos x="64" y="34"/>
                  </a:cxn>
                  <a:cxn ang="0">
                    <a:pos x="4" y="0"/>
                  </a:cxn>
                </a:cxnLst>
                <a:rect l="0" t="0" r="r" b="b"/>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1" name="Group 55"/>
            <p:cNvGrpSpPr>
              <a:grpSpLocks/>
            </p:cNvGrpSpPr>
            <p:nvPr/>
          </p:nvGrpSpPr>
          <p:grpSpPr bwMode="auto">
            <a:xfrm>
              <a:off x="1142" y="378"/>
              <a:ext cx="434" cy="73"/>
              <a:chOff x="1142" y="378"/>
              <a:chExt cx="434" cy="73"/>
            </a:xfrm>
          </p:grpSpPr>
          <p:sp>
            <p:nvSpPr>
              <p:cNvPr id="9269" name="Rectangle 53"/>
              <p:cNvSpPr>
                <a:spLocks noChangeArrowheads="1"/>
              </p:cNvSpPr>
              <p:nvPr/>
            </p:nvSpPr>
            <p:spPr bwMode="auto">
              <a:xfrm>
                <a:off x="1142" y="408"/>
                <a:ext cx="370" cy="8"/>
              </a:xfrm>
              <a:prstGeom prst="rect">
                <a:avLst/>
              </a:prstGeom>
              <a:solidFill>
                <a:srgbClr val="000000"/>
              </a:solidFill>
              <a:ln w="9525">
                <a:noFill/>
                <a:miter lim="800000"/>
                <a:headEnd/>
                <a:tailEnd/>
              </a:ln>
            </p:spPr>
            <p:txBody>
              <a:bodyPr/>
              <a:lstStyle/>
              <a:p>
                <a:endParaRPr lang="en-US"/>
              </a:p>
            </p:txBody>
          </p:sp>
          <p:sp>
            <p:nvSpPr>
              <p:cNvPr id="9270" name="Freeform 54"/>
              <p:cNvSpPr>
                <a:spLocks/>
              </p:cNvSpPr>
              <p:nvPr/>
            </p:nvSpPr>
            <p:spPr bwMode="auto">
              <a:xfrm>
                <a:off x="1503" y="378"/>
                <a:ext cx="73" cy="73"/>
              </a:xfrm>
              <a:custGeom>
                <a:avLst/>
                <a:gdLst/>
                <a:ahLst/>
                <a:cxnLst>
                  <a:cxn ang="0">
                    <a:pos x="0" y="73"/>
                  </a:cxn>
                  <a:cxn ang="0">
                    <a:pos x="73" y="34"/>
                  </a:cxn>
                  <a:cxn ang="0">
                    <a:pos x="0" y="0"/>
                  </a:cxn>
                  <a:cxn ang="0">
                    <a:pos x="0" y="73"/>
                  </a:cxn>
                </a:cxnLst>
                <a:rect l="0" t="0" r="r" b="b"/>
                <a:pathLst>
                  <a:path w="73" h="73">
                    <a:moveTo>
                      <a:pt x="0" y="73"/>
                    </a:moveTo>
                    <a:lnTo>
                      <a:pt x="73" y="34"/>
                    </a:lnTo>
                    <a:lnTo>
                      <a:pt x="0" y="0"/>
                    </a:lnTo>
                    <a:lnTo>
                      <a:pt x="0" y="73"/>
                    </a:lnTo>
                    <a:close/>
                  </a:path>
                </a:pathLst>
              </a:custGeom>
              <a:solidFill>
                <a:srgbClr val="000000"/>
              </a:solidFill>
              <a:ln w="9525">
                <a:noFill/>
                <a:round/>
                <a:headEnd/>
                <a:tailEnd/>
              </a:ln>
            </p:spPr>
            <p:txBody>
              <a:bodyPr/>
              <a:lstStyle/>
              <a:p>
                <a:endParaRPr lang="en-US"/>
              </a:p>
            </p:txBody>
          </p:sp>
        </p:grpSp>
        <p:sp>
          <p:nvSpPr>
            <p:cNvPr id="9272" name="Rectangle 56"/>
            <p:cNvSpPr>
              <a:spLocks noChangeArrowheads="1"/>
            </p:cNvSpPr>
            <p:nvPr/>
          </p:nvSpPr>
          <p:spPr bwMode="auto">
            <a:xfrm>
              <a:off x="1194" y="610"/>
              <a:ext cx="1627" cy="413"/>
            </a:xfrm>
            <a:prstGeom prst="rect">
              <a:avLst/>
            </a:prstGeom>
            <a:noFill/>
            <a:ln w="9525">
              <a:noFill/>
              <a:miter lim="800000"/>
              <a:headEnd/>
              <a:tailEnd/>
            </a:ln>
          </p:spPr>
          <p:txBody>
            <a:bodyPr/>
            <a:lstStyle/>
            <a:p>
              <a:endParaRPr lang="en-US"/>
            </a:p>
          </p:txBody>
        </p:sp>
        <p:sp>
          <p:nvSpPr>
            <p:cNvPr id="9273" name="Rectangle 57"/>
            <p:cNvSpPr>
              <a:spLocks noChangeArrowheads="1"/>
            </p:cNvSpPr>
            <p:nvPr/>
          </p:nvSpPr>
          <p:spPr bwMode="auto">
            <a:xfrm>
              <a:off x="1246" y="640"/>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9274" name="Rectangle 58"/>
            <p:cNvSpPr>
              <a:spLocks noChangeArrowheads="1"/>
            </p:cNvSpPr>
            <p:nvPr/>
          </p:nvSpPr>
          <p:spPr bwMode="auto">
            <a:xfrm>
              <a:off x="1615" y="283"/>
              <a:ext cx="1627" cy="409"/>
            </a:xfrm>
            <a:prstGeom prst="rect">
              <a:avLst/>
            </a:prstGeom>
            <a:noFill/>
            <a:ln w="9525">
              <a:noFill/>
              <a:miter lim="800000"/>
              <a:headEnd/>
              <a:tailEnd/>
            </a:ln>
          </p:spPr>
          <p:txBody>
            <a:bodyPr/>
            <a:lstStyle/>
            <a:p>
              <a:endParaRPr lang="en-US"/>
            </a:p>
          </p:txBody>
        </p:sp>
        <p:sp>
          <p:nvSpPr>
            <p:cNvPr id="9275" name="Rectangle 59"/>
            <p:cNvSpPr>
              <a:spLocks noChangeArrowheads="1"/>
            </p:cNvSpPr>
            <p:nvPr/>
          </p:nvSpPr>
          <p:spPr bwMode="auto">
            <a:xfrm>
              <a:off x="1666" y="309"/>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9276" name="Rectangle 60"/>
            <p:cNvSpPr>
              <a:spLocks noChangeArrowheads="1"/>
            </p:cNvSpPr>
            <p:nvPr/>
          </p:nvSpPr>
          <p:spPr bwMode="auto">
            <a:xfrm>
              <a:off x="1761" y="30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9277" name="Rectangle 61"/>
            <p:cNvSpPr>
              <a:spLocks noChangeArrowheads="1"/>
            </p:cNvSpPr>
            <p:nvPr/>
          </p:nvSpPr>
          <p:spPr bwMode="auto">
            <a:xfrm>
              <a:off x="846" y="713"/>
              <a:ext cx="1628" cy="409"/>
            </a:xfrm>
            <a:prstGeom prst="rect">
              <a:avLst/>
            </a:prstGeom>
            <a:noFill/>
            <a:ln w="9525">
              <a:noFill/>
              <a:miter lim="800000"/>
              <a:headEnd/>
              <a:tailEnd/>
            </a:ln>
          </p:spPr>
          <p:txBody>
            <a:bodyPr/>
            <a:lstStyle/>
            <a:p>
              <a:endParaRPr lang="en-US"/>
            </a:p>
          </p:txBody>
        </p:sp>
        <p:sp>
          <p:nvSpPr>
            <p:cNvPr id="9278" name="Rectangle 62"/>
            <p:cNvSpPr>
              <a:spLocks noChangeArrowheads="1"/>
            </p:cNvSpPr>
            <p:nvPr/>
          </p:nvSpPr>
          <p:spPr bwMode="auto">
            <a:xfrm>
              <a:off x="898" y="739"/>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9279" name="Rectangle 63"/>
            <p:cNvSpPr>
              <a:spLocks noChangeArrowheads="1"/>
            </p:cNvSpPr>
            <p:nvPr/>
          </p:nvSpPr>
          <p:spPr bwMode="auto">
            <a:xfrm>
              <a:off x="984" y="73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2"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lide Number Placeholder 3"/>
          <p:cNvSpPr>
            <a:spLocks noGrp="1"/>
          </p:cNvSpPr>
          <p:nvPr>
            <p:ph type="sldNum" sz="quarter" idx="12"/>
          </p:nvPr>
        </p:nvSpPr>
        <p:spPr/>
        <p:txBody>
          <a:bodyPr/>
          <a:lstStyle/>
          <a:p>
            <a:fld id="{F44969BE-9ED3-4F93-9627-2FD81E1BE424}" type="slidenum">
              <a:rPr lang="en-US"/>
              <a:pPr/>
              <a:t>89</a:t>
            </a:fld>
            <a:endParaRPr lang="en-US"/>
          </a:p>
        </p:txBody>
      </p:sp>
      <p:graphicFrame>
        <p:nvGraphicFramePr>
          <p:cNvPr id="10243" name="Object 3"/>
          <p:cNvGraphicFramePr>
            <a:graphicFrameLocks noChangeAspect="1"/>
          </p:cNvGraphicFramePr>
          <p:nvPr/>
        </p:nvGraphicFramePr>
        <p:xfrm>
          <a:off x="1066800" y="2133600"/>
          <a:ext cx="1295400" cy="504825"/>
        </p:xfrm>
        <a:graphic>
          <a:graphicData uri="http://schemas.openxmlformats.org/presentationml/2006/ole">
            <p:oleObj spid="_x0000_s540674" name="Equation" r:id="rId3" imgW="520560" imgH="203040" progId="">
              <p:embed/>
            </p:oleObj>
          </a:graphicData>
        </a:graphic>
      </p:graphicFrame>
      <p:sp>
        <p:nvSpPr>
          <p:cNvPr id="10244" name="Rectangle 4"/>
          <p:cNvSpPr>
            <a:spLocks noChangeArrowheads="1"/>
          </p:cNvSpPr>
          <p:nvPr/>
        </p:nvSpPr>
        <p:spPr bwMode="auto">
          <a:xfrm>
            <a:off x="1219200" y="1600200"/>
            <a:ext cx="796925" cy="457200"/>
          </a:xfrm>
          <a:prstGeom prst="rect">
            <a:avLst/>
          </a:prstGeom>
          <a:noFill/>
          <a:ln w="9525">
            <a:noFill/>
            <a:miter lim="800000"/>
            <a:headEnd/>
            <a:tailEnd/>
          </a:ln>
          <a:effectLst/>
        </p:spPr>
        <p:txBody>
          <a:bodyPr wrap="none">
            <a:spAutoFit/>
          </a:bodyPr>
          <a:lstStyle/>
          <a:p>
            <a:pPr>
              <a:spcBef>
                <a:spcPct val="50000"/>
              </a:spcBef>
            </a:pPr>
            <a:r>
              <a:rPr lang="en-US" b="1" i="1">
                <a:solidFill>
                  <a:srgbClr val="FF0000"/>
                </a:solidFill>
              </a:rPr>
              <a:t>Z</a:t>
            </a:r>
            <a:r>
              <a:rPr lang="en-US" b="1">
                <a:solidFill>
                  <a:srgbClr val="FF0000"/>
                </a:solidFill>
              </a:rPr>
              <a:t>=2;</a:t>
            </a:r>
          </a:p>
        </p:txBody>
      </p:sp>
      <p:sp>
        <p:nvSpPr>
          <p:cNvPr id="10245" name="Rectangle 5"/>
          <p:cNvSpPr>
            <a:spLocks noChangeArrowheads="1"/>
          </p:cNvSpPr>
          <p:nvPr/>
        </p:nvSpPr>
        <p:spPr bwMode="auto">
          <a:xfrm>
            <a:off x="990600" y="1447800"/>
            <a:ext cx="1371600" cy="2057400"/>
          </a:xfrm>
          <a:prstGeom prst="rect">
            <a:avLst/>
          </a:prstGeom>
          <a:noFill/>
          <a:ln w="9525">
            <a:solidFill>
              <a:srgbClr val="FF0000"/>
            </a:solidFill>
            <a:miter lim="800000"/>
            <a:headEnd/>
            <a:tailEnd/>
          </a:ln>
          <a:effectLst/>
        </p:spPr>
        <p:txBody>
          <a:bodyPr wrap="none" anchor="ctr"/>
          <a:lstStyle/>
          <a:p>
            <a:endParaRPr lang="en-US"/>
          </a:p>
        </p:txBody>
      </p:sp>
      <p:graphicFrame>
        <p:nvGraphicFramePr>
          <p:cNvPr id="10246" name="Object 6"/>
          <p:cNvGraphicFramePr>
            <a:graphicFrameLocks noChangeAspect="1"/>
          </p:cNvGraphicFramePr>
          <p:nvPr/>
        </p:nvGraphicFramePr>
        <p:xfrm>
          <a:off x="1066800" y="2752725"/>
          <a:ext cx="1295400" cy="600075"/>
        </p:xfrm>
        <a:graphic>
          <a:graphicData uri="http://schemas.openxmlformats.org/presentationml/2006/ole">
            <p:oleObj spid="_x0000_s540675" name="Equation" r:id="rId4" imgW="520560" imgH="241200" progId="">
              <p:embed/>
            </p:oleObj>
          </a:graphicData>
        </a:graphic>
      </p:graphicFrame>
      <p:graphicFrame>
        <p:nvGraphicFramePr>
          <p:cNvPr id="10247" name="Object 7"/>
          <p:cNvGraphicFramePr>
            <a:graphicFrameLocks noChangeAspect="1"/>
          </p:cNvGraphicFramePr>
          <p:nvPr/>
        </p:nvGraphicFramePr>
        <p:xfrm>
          <a:off x="6324600" y="304800"/>
          <a:ext cx="1716088" cy="639763"/>
        </p:xfrm>
        <a:graphic>
          <a:graphicData uri="http://schemas.openxmlformats.org/presentationml/2006/ole">
            <p:oleObj spid="_x0000_s540676" name="Equation" r:id="rId5" imgW="545760" imgH="203040" progId="">
              <p:embed/>
            </p:oleObj>
          </a:graphicData>
        </a:graphic>
      </p:graphicFrame>
      <p:grpSp>
        <p:nvGrpSpPr>
          <p:cNvPr id="2" name="Group 8"/>
          <p:cNvGrpSpPr>
            <a:grpSpLocks/>
          </p:cNvGrpSpPr>
          <p:nvPr/>
        </p:nvGrpSpPr>
        <p:grpSpPr bwMode="auto">
          <a:xfrm>
            <a:off x="2895600" y="1066800"/>
            <a:ext cx="4997450" cy="2841625"/>
            <a:chOff x="1824" y="672"/>
            <a:chExt cx="3148" cy="1790"/>
          </a:xfrm>
        </p:grpSpPr>
        <p:sp>
          <p:nvSpPr>
            <p:cNvPr id="10249" name="Line 9"/>
            <p:cNvSpPr>
              <a:spLocks noChangeShapeType="1"/>
            </p:cNvSpPr>
            <p:nvPr/>
          </p:nvSpPr>
          <p:spPr bwMode="auto">
            <a:xfrm>
              <a:off x="2784" y="1008"/>
              <a:ext cx="1680" cy="0"/>
            </a:xfrm>
            <a:prstGeom prst="line">
              <a:avLst/>
            </a:prstGeom>
            <a:noFill/>
            <a:ln w="19050">
              <a:solidFill>
                <a:schemeClr val="tx1"/>
              </a:solidFill>
              <a:round/>
              <a:headEnd/>
              <a:tailEnd/>
            </a:ln>
            <a:effectLst/>
          </p:spPr>
          <p:txBody>
            <a:bodyPr/>
            <a:lstStyle/>
            <a:p>
              <a:endParaRPr lang="en-US"/>
            </a:p>
          </p:txBody>
        </p:sp>
        <p:sp>
          <p:nvSpPr>
            <p:cNvPr id="10250" name="Line 10"/>
            <p:cNvSpPr>
              <a:spLocks noChangeShapeType="1"/>
            </p:cNvSpPr>
            <p:nvPr/>
          </p:nvSpPr>
          <p:spPr bwMode="auto">
            <a:xfrm flipH="1">
              <a:off x="4080" y="1008"/>
              <a:ext cx="384" cy="1104"/>
            </a:xfrm>
            <a:prstGeom prst="line">
              <a:avLst/>
            </a:prstGeom>
            <a:noFill/>
            <a:ln w="19050">
              <a:solidFill>
                <a:schemeClr val="tx1"/>
              </a:solidFill>
              <a:round/>
              <a:headEnd/>
              <a:tailEnd/>
            </a:ln>
            <a:effectLst/>
          </p:spPr>
          <p:txBody>
            <a:bodyPr/>
            <a:lstStyle/>
            <a:p>
              <a:endParaRPr lang="en-US"/>
            </a:p>
          </p:txBody>
        </p:sp>
        <p:sp>
          <p:nvSpPr>
            <p:cNvPr id="10251" name="Line 11"/>
            <p:cNvSpPr>
              <a:spLocks noChangeShapeType="1"/>
            </p:cNvSpPr>
            <p:nvPr/>
          </p:nvSpPr>
          <p:spPr bwMode="auto">
            <a:xfrm flipH="1">
              <a:off x="2352" y="1008"/>
              <a:ext cx="432" cy="1104"/>
            </a:xfrm>
            <a:prstGeom prst="line">
              <a:avLst/>
            </a:prstGeom>
            <a:noFill/>
            <a:ln w="19050">
              <a:solidFill>
                <a:schemeClr val="tx1"/>
              </a:solidFill>
              <a:round/>
              <a:headEnd/>
              <a:tailEnd/>
            </a:ln>
            <a:effectLst/>
          </p:spPr>
          <p:txBody>
            <a:bodyPr/>
            <a:lstStyle/>
            <a:p>
              <a:endParaRPr lang="en-US"/>
            </a:p>
          </p:txBody>
        </p:sp>
        <p:sp>
          <p:nvSpPr>
            <p:cNvPr id="10252" name="Line 12"/>
            <p:cNvSpPr>
              <a:spLocks noChangeShapeType="1"/>
            </p:cNvSpPr>
            <p:nvPr/>
          </p:nvSpPr>
          <p:spPr bwMode="auto">
            <a:xfrm>
              <a:off x="2352" y="2112"/>
              <a:ext cx="1728" cy="0"/>
            </a:xfrm>
            <a:prstGeom prst="line">
              <a:avLst/>
            </a:prstGeom>
            <a:noFill/>
            <a:ln w="19050">
              <a:solidFill>
                <a:schemeClr val="tx1"/>
              </a:solidFill>
              <a:round/>
              <a:headEnd/>
              <a:tailEnd/>
            </a:ln>
            <a:effectLst/>
          </p:spPr>
          <p:txBody>
            <a:bodyPr/>
            <a:lstStyle/>
            <a:p>
              <a:endParaRPr lang="en-US"/>
            </a:p>
          </p:txBody>
        </p:sp>
        <p:sp>
          <p:nvSpPr>
            <p:cNvPr id="10253" name="Line 13"/>
            <p:cNvSpPr>
              <a:spLocks noChangeShapeType="1"/>
            </p:cNvSpPr>
            <p:nvPr/>
          </p:nvSpPr>
          <p:spPr bwMode="auto">
            <a:xfrm flipH="1">
              <a:off x="3216" y="1008"/>
              <a:ext cx="384" cy="1104"/>
            </a:xfrm>
            <a:prstGeom prst="line">
              <a:avLst/>
            </a:prstGeom>
            <a:noFill/>
            <a:ln w="19050">
              <a:solidFill>
                <a:schemeClr val="tx1"/>
              </a:solidFill>
              <a:round/>
              <a:headEnd/>
              <a:tailEnd/>
            </a:ln>
            <a:effectLst/>
          </p:spPr>
          <p:txBody>
            <a:bodyPr/>
            <a:lstStyle/>
            <a:p>
              <a:endParaRPr lang="en-US"/>
            </a:p>
          </p:txBody>
        </p:sp>
        <p:grpSp>
          <p:nvGrpSpPr>
            <p:cNvPr id="3" name="Group 14"/>
            <p:cNvGrpSpPr>
              <a:grpSpLocks/>
            </p:cNvGrpSpPr>
            <p:nvPr/>
          </p:nvGrpSpPr>
          <p:grpSpPr bwMode="auto">
            <a:xfrm>
              <a:off x="4560" y="1056"/>
              <a:ext cx="412" cy="254"/>
              <a:chOff x="3792" y="2112"/>
              <a:chExt cx="412" cy="254"/>
            </a:xfrm>
          </p:grpSpPr>
          <p:sp>
            <p:nvSpPr>
              <p:cNvPr id="10255" name="Oval 15"/>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0256" name="Rectangle 16"/>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0257" name="Oval 17"/>
            <p:cNvSpPr>
              <a:spLocks noChangeArrowheads="1"/>
            </p:cNvSpPr>
            <p:nvPr/>
          </p:nvSpPr>
          <p:spPr bwMode="auto">
            <a:xfrm>
              <a:off x="2496" y="672"/>
              <a:ext cx="240" cy="254"/>
            </a:xfrm>
            <a:prstGeom prst="ellipse">
              <a:avLst/>
            </a:prstGeom>
            <a:noFill/>
            <a:ln w="12700">
              <a:solidFill>
                <a:srgbClr val="0000FF"/>
              </a:solidFill>
              <a:round/>
              <a:headEnd/>
              <a:tailEnd/>
            </a:ln>
          </p:spPr>
          <p:txBody>
            <a:bodyPr/>
            <a:lstStyle/>
            <a:p>
              <a:endParaRPr lang="en-US"/>
            </a:p>
          </p:txBody>
        </p:sp>
        <p:sp>
          <p:nvSpPr>
            <p:cNvPr id="10258" name="Rectangle 18"/>
            <p:cNvSpPr>
              <a:spLocks noChangeArrowheads="1"/>
            </p:cNvSpPr>
            <p:nvPr/>
          </p:nvSpPr>
          <p:spPr bwMode="auto">
            <a:xfrm>
              <a:off x="2352" y="720"/>
              <a:ext cx="172" cy="173"/>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grpSp>
          <p:nvGrpSpPr>
            <p:cNvPr id="4" name="Group 19"/>
            <p:cNvGrpSpPr>
              <a:grpSpLocks/>
            </p:cNvGrpSpPr>
            <p:nvPr/>
          </p:nvGrpSpPr>
          <p:grpSpPr bwMode="auto">
            <a:xfrm>
              <a:off x="2832" y="1056"/>
              <a:ext cx="412" cy="254"/>
              <a:chOff x="3792" y="2112"/>
              <a:chExt cx="412" cy="254"/>
            </a:xfrm>
          </p:grpSpPr>
          <p:sp>
            <p:nvSpPr>
              <p:cNvPr id="10260" name="Oval 20"/>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0261" name="Rectangle 21"/>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5" name="Group 22"/>
            <p:cNvGrpSpPr>
              <a:grpSpLocks/>
            </p:cNvGrpSpPr>
            <p:nvPr/>
          </p:nvGrpSpPr>
          <p:grpSpPr bwMode="auto">
            <a:xfrm>
              <a:off x="2352" y="2208"/>
              <a:ext cx="412" cy="254"/>
              <a:chOff x="3792" y="2112"/>
              <a:chExt cx="412" cy="254"/>
            </a:xfrm>
          </p:grpSpPr>
          <p:sp>
            <p:nvSpPr>
              <p:cNvPr id="10263" name="Oval 23"/>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0264" name="Rectangle 24"/>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6" name="Group 25"/>
            <p:cNvGrpSpPr>
              <a:grpSpLocks/>
            </p:cNvGrpSpPr>
            <p:nvPr/>
          </p:nvGrpSpPr>
          <p:grpSpPr bwMode="auto">
            <a:xfrm>
              <a:off x="4128" y="2208"/>
              <a:ext cx="412" cy="254"/>
              <a:chOff x="3792" y="2112"/>
              <a:chExt cx="412" cy="254"/>
            </a:xfrm>
          </p:grpSpPr>
          <p:sp>
            <p:nvSpPr>
              <p:cNvPr id="10266" name="Oval 26"/>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0267" name="Rectangle 27"/>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0268" name="Line 28"/>
            <p:cNvSpPr>
              <a:spLocks noChangeShapeType="1"/>
            </p:cNvSpPr>
            <p:nvPr/>
          </p:nvSpPr>
          <p:spPr bwMode="auto">
            <a:xfrm>
              <a:off x="2592" y="1536"/>
              <a:ext cx="1680" cy="0"/>
            </a:xfrm>
            <a:prstGeom prst="line">
              <a:avLst/>
            </a:prstGeom>
            <a:noFill/>
            <a:ln w="19050">
              <a:solidFill>
                <a:schemeClr val="tx1"/>
              </a:solidFill>
              <a:round/>
              <a:headEnd/>
              <a:tailEnd/>
            </a:ln>
            <a:effectLst/>
          </p:spPr>
          <p:txBody>
            <a:bodyPr/>
            <a:lstStyle/>
            <a:p>
              <a:endParaRPr lang="en-US"/>
            </a:p>
          </p:txBody>
        </p:sp>
        <p:graphicFrame>
          <p:nvGraphicFramePr>
            <p:cNvPr id="10269" name="Object 29"/>
            <p:cNvGraphicFramePr>
              <a:graphicFrameLocks noChangeAspect="1"/>
            </p:cNvGraphicFramePr>
            <p:nvPr/>
          </p:nvGraphicFramePr>
          <p:xfrm>
            <a:off x="4080" y="2016"/>
            <a:ext cx="66" cy="234"/>
          </p:xfrm>
          <a:graphic>
            <a:graphicData uri="http://schemas.openxmlformats.org/presentationml/2006/ole">
              <p:oleObj spid="_x0000_s540677" name="CS ChemDraw Drawing" r:id="rId6" imgW="65521" imgH="230037" progId="">
                <p:embed/>
              </p:oleObj>
            </a:graphicData>
          </a:graphic>
        </p:graphicFrame>
        <p:graphicFrame>
          <p:nvGraphicFramePr>
            <p:cNvPr id="10270" name="Object 30"/>
            <p:cNvGraphicFramePr>
              <a:graphicFrameLocks noChangeAspect="1"/>
            </p:cNvGraphicFramePr>
            <p:nvPr/>
          </p:nvGraphicFramePr>
          <p:xfrm>
            <a:off x="3200" y="1998"/>
            <a:ext cx="64" cy="228"/>
          </p:xfrm>
          <a:graphic>
            <a:graphicData uri="http://schemas.openxmlformats.org/presentationml/2006/ole">
              <p:oleObj spid="_x0000_s540678" name="CS ChemDraw Drawing" r:id="rId7" imgW="65879" imgH="232916" progId="">
                <p:embed/>
              </p:oleObj>
            </a:graphicData>
          </a:graphic>
        </p:graphicFrame>
        <p:graphicFrame>
          <p:nvGraphicFramePr>
            <p:cNvPr id="10271" name="Object 31"/>
            <p:cNvGraphicFramePr>
              <a:graphicFrameLocks noChangeAspect="1"/>
            </p:cNvGraphicFramePr>
            <p:nvPr/>
          </p:nvGraphicFramePr>
          <p:xfrm>
            <a:off x="2304" y="1995"/>
            <a:ext cx="66" cy="234"/>
          </p:xfrm>
          <a:graphic>
            <a:graphicData uri="http://schemas.openxmlformats.org/presentationml/2006/ole">
              <p:oleObj spid="_x0000_s540679" name="CS ChemDraw Drawing" r:id="rId8" imgW="65521" imgH="230037" progId="">
                <p:embed/>
              </p:oleObj>
            </a:graphicData>
          </a:graphic>
        </p:graphicFrame>
        <p:graphicFrame>
          <p:nvGraphicFramePr>
            <p:cNvPr id="10272" name="Object 32"/>
            <p:cNvGraphicFramePr>
              <a:graphicFrameLocks noChangeAspect="1"/>
            </p:cNvGraphicFramePr>
            <p:nvPr/>
          </p:nvGraphicFramePr>
          <p:xfrm>
            <a:off x="2736" y="912"/>
            <a:ext cx="66" cy="234"/>
          </p:xfrm>
          <a:graphic>
            <a:graphicData uri="http://schemas.openxmlformats.org/presentationml/2006/ole">
              <p:oleObj spid="_x0000_s540680" name="CS ChemDraw Drawing" r:id="rId9" imgW="65521" imgH="230037" progId="">
                <p:embed/>
              </p:oleObj>
            </a:graphicData>
          </a:graphic>
        </p:graphicFrame>
        <p:graphicFrame>
          <p:nvGraphicFramePr>
            <p:cNvPr id="10273" name="Object 33"/>
            <p:cNvGraphicFramePr>
              <a:graphicFrameLocks noChangeAspect="1"/>
            </p:cNvGraphicFramePr>
            <p:nvPr/>
          </p:nvGraphicFramePr>
          <p:xfrm>
            <a:off x="4416" y="912"/>
            <a:ext cx="66" cy="234"/>
          </p:xfrm>
          <a:graphic>
            <a:graphicData uri="http://schemas.openxmlformats.org/presentationml/2006/ole">
              <p:oleObj spid="_x0000_s540681" name="CS ChemDraw Drawing" r:id="rId10" imgW="65521" imgH="230037" progId="">
                <p:embed/>
              </p:oleObj>
            </a:graphicData>
          </a:graphic>
        </p:graphicFrame>
        <p:graphicFrame>
          <p:nvGraphicFramePr>
            <p:cNvPr id="10274" name="Object 34"/>
            <p:cNvGraphicFramePr>
              <a:graphicFrameLocks noChangeAspect="1"/>
            </p:cNvGraphicFramePr>
            <p:nvPr/>
          </p:nvGraphicFramePr>
          <p:xfrm>
            <a:off x="4256" y="1440"/>
            <a:ext cx="64" cy="228"/>
          </p:xfrm>
          <a:graphic>
            <a:graphicData uri="http://schemas.openxmlformats.org/presentationml/2006/ole">
              <p:oleObj spid="_x0000_s540682" name="CS ChemDraw Drawing" r:id="rId11" imgW="65879" imgH="232916" progId="">
                <p:embed/>
              </p:oleObj>
            </a:graphicData>
          </a:graphic>
        </p:graphicFrame>
        <p:graphicFrame>
          <p:nvGraphicFramePr>
            <p:cNvPr id="10275" name="Object 35"/>
            <p:cNvGraphicFramePr>
              <a:graphicFrameLocks noChangeAspect="1"/>
            </p:cNvGraphicFramePr>
            <p:nvPr/>
          </p:nvGraphicFramePr>
          <p:xfrm>
            <a:off x="3552" y="912"/>
            <a:ext cx="64" cy="228"/>
          </p:xfrm>
          <a:graphic>
            <a:graphicData uri="http://schemas.openxmlformats.org/presentationml/2006/ole">
              <p:oleObj spid="_x0000_s540683" name="CS ChemDraw Drawing" r:id="rId12" imgW="65879" imgH="232916" progId="">
                <p:embed/>
              </p:oleObj>
            </a:graphicData>
          </a:graphic>
        </p:graphicFrame>
        <p:graphicFrame>
          <p:nvGraphicFramePr>
            <p:cNvPr id="10276" name="Object 36"/>
            <p:cNvGraphicFramePr>
              <a:graphicFrameLocks noChangeAspect="1"/>
            </p:cNvGraphicFramePr>
            <p:nvPr/>
          </p:nvGraphicFramePr>
          <p:xfrm>
            <a:off x="2544" y="1440"/>
            <a:ext cx="64" cy="228"/>
          </p:xfrm>
          <a:graphic>
            <a:graphicData uri="http://schemas.openxmlformats.org/presentationml/2006/ole">
              <p:oleObj spid="_x0000_s540684" name="CS ChemDraw Drawing" r:id="rId13" imgW="65879" imgH="232916" progId="">
                <p:embed/>
              </p:oleObj>
            </a:graphicData>
          </a:graphic>
        </p:graphicFrame>
        <p:graphicFrame>
          <p:nvGraphicFramePr>
            <p:cNvPr id="10277" name="Object 37"/>
            <p:cNvGraphicFramePr>
              <a:graphicFrameLocks noChangeAspect="1"/>
            </p:cNvGraphicFramePr>
            <p:nvPr/>
          </p:nvGraphicFramePr>
          <p:xfrm>
            <a:off x="3392" y="1440"/>
            <a:ext cx="64" cy="228"/>
          </p:xfrm>
          <a:graphic>
            <a:graphicData uri="http://schemas.openxmlformats.org/presentationml/2006/ole">
              <p:oleObj spid="_x0000_s540685" name="CS ChemDraw Drawing" r:id="rId14" imgW="65879" imgH="232916" progId="">
                <p:embed/>
              </p:oleObj>
            </a:graphicData>
          </a:graphic>
        </p:graphicFrame>
        <p:grpSp>
          <p:nvGrpSpPr>
            <p:cNvPr id="7" name="Group 38"/>
            <p:cNvGrpSpPr>
              <a:grpSpLocks/>
            </p:cNvGrpSpPr>
            <p:nvPr/>
          </p:nvGrpSpPr>
          <p:grpSpPr bwMode="auto">
            <a:xfrm>
              <a:off x="3984" y="672"/>
              <a:ext cx="426" cy="254"/>
              <a:chOff x="4004" y="1858"/>
              <a:chExt cx="426" cy="254"/>
            </a:xfrm>
          </p:grpSpPr>
          <p:sp>
            <p:nvSpPr>
              <p:cNvPr id="10279" name="Oval 39"/>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10280" name="Rectangle 40"/>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8" name="Group 41"/>
            <p:cNvGrpSpPr>
              <a:grpSpLocks/>
            </p:cNvGrpSpPr>
            <p:nvPr/>
          </p:nvGrpSpPr>
          <p:grpSpPr bwMode="auto">
            <a:xfrm>
              <a:off x="1824" y="1776"/>
              <a:ext cx="426" cy="254"/>
              <a:chOff x="4004" y="1858"/>
              <a:chExt cx="426" cy="254"/>
            </a:xfrm>
          </p:grpSpPr>
          <p:sp>
            <p:nvSpPr>
              <p:cNvPr id="10282" name="Oval 42"/>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10283" name="Rectangle 43"/>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9" name="Group 44"/>
            <p:cNvGrpSpPr>
              <a:grpSpLocks/>
            </p:cNvGrpSpPr>
            <p:nvPr/>
          </p:nvGrpSpPr>
          <p:grpSpPr bwMode="auto">
            <a:xfrm>
              <a:off x="3648" y="1776"/>
              <a:ext cx="426" cy="254"/>
              <a:chOff x="4004" y="1858"/>
              <a:chExt cx="426" cy="254"/>
            </a:xfrm>
          </p:grpSpPr>
          <p:sp>
            <p:nvSpPr>
              <p:cNvPr id="10285" name="Oval 45"/>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10286" name="Rectangle 46"/>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sp>
        <p:nvSpPr>
          <p:cNvPr id="10287" name="Rectangle 47"/>
          <p:cNvSpPr>
            <a:spLocks noChangeArrowheads="1"/>
          </p:cNvSpPr>
          <p:nvPr/>
        </p:nvSpPr>
        <p:spPr bwMode="auto">
          <a:xfrm>
            <a:off x="457200" y="4191000"/>
            <a:ext cx="7924800" cy="1006475"/>
          </a:xfrm>
          <a:prstGeom prst="rect">
            <a:avLst/>
          </a:prstGeom>
          <a:noFill/>
          <a:ln w="9525">
            <a:noFill/>
            <a:miter lim="800000"/>
            <a:headEnd/>
            <a:tailEnd/>
          </a:ln>
          <a:effectLst/>
        </p:spPr>
        <p:txBody>
          <a:bodyPr>
            <a:spAutoFit/>
          </a:bodyPr>
          <a:lstStyle/>
          <a:p>
            <a:r>
              <a:rPr lang="en-US" sz="2000">
                <a:latin typeface="Arial" pitchFamily="34" charset="0"/>
              </a:rPr>
              <a:t>Note that there are </a:t>
            </a:r>
            <a:r>
              <a:rPr lang="en-US" sz="2000">
                <a:solidFill>
                  <a:schemeClr val="accent2"/>
                </a:solidFill>
                <a:latin typeface="Arial" pitchFamily="34" charset="0"/>
              </a:rPr>
              <a:t>two molecules per unit cell</a:t>
            </a:r>
            <a:r>
              <a:rPr lang="en-US" sz="2000">
                <a:latin typeface="Arial" pitchFamily="34" charset="0"/>
              </a:rPr>
              <a:t>, and that </a:t>
            </a:r>
            <a:r>
              <a:rPr lang="en-US" sz="2000">
                <a:solidFill>
                  <a:schemeClr val="accent2"/>
                </a:solidFill>
                <a:latin typeface="Arial" pitchFamily="34" charset="0"/>
              </a:rPr>
              <a:t>other 2-fold rotation axes</a:t>
            </a:r>
            <a:r>
              <a:rPr lang="en-US" sz="2000">
                <a:latin typeface="Arial" pitchFamily="34" charset="0"/>
              </a:rPr>
              <a:t> </a:t>
            </a:r>
            <a:r>
              <a:rPr lang="en-US" sz="2000">
                <a:solidFill>
                  <a:schemeClr val="accent2"/>
                </a:solidFill>
                <a:latin typeface="Arial" pitchFamily="34" charset="0"/>
              </a:rPr>
              <a:t>were generated</a:t>
            </a:r>
            <a:r>
              <a:rPr lang="en-US" sz="2000">
                <a:latin typeface="Arial" pitchFamily="34" charset="0"/>
              </a:rPr>
              <a:t> at </a:t>
            </a:r>
            <a:r>
              <a:rPr lang="en-US" sz="2000" i="1">
                <a:solidFill>
                  <a:srgbClr val="FF0000"/>
                </a:solidFill>
                <a:latin typeface="Arial" pitchFamily="34" charset="0"/>
              </a:rPr>
              <a:t>a</a:t>
            </a:r>
            <a:r>
              <a:rPr lang="en-US" sz="2000">
                <a:solidFill>
                  <a:srgbClr val="FF0000"/>
                </a:solidFill>
                <a:latin typeface="Arial" pitchFamily="34" charset="0"/>
              </a:rPr>
              <a:t>/2</a:t>
            </a:r>
            <a:r>
              <a:rPr lang="en-US" sz="2000">
                <a:latin typeface="Arial" pitchFamily="34" charset="0"/>
              </a:rPr>
              <a:t> and </a:t>
            </a:r>
            <a:r>
              <a:rPr lang="en-US" sz="2000" i="1">
                <a:solidFill>
                  <a:srgbClr val="FF0000"/>
                </a:solidFill>
                <a:latin typeface="Arial" pitchFamily="34" charset="0"/>
              </a:rPr>
              <a:t>b</a:t>
            </a:r>
            <a:r>
              <a:rPr lang="en-US" sz="2000">
                <a:solidFill>
                  <a:srgbClr val="FF0000"/>
                </a:solidFill>
                <a:latin typeface="Arial" pitchFamily="34" charset="0"/>
              </a:rPr>
              <a:t>/2</a:t>
            </a:r>
            <a:r>
              <a:rPr lang="en-US" sz="2000">
                <a:latin typeface="Arial" pitchFamily="34" charset="0"/>
              </a:rPr>
              <a:t> as we added atoms or groups.</a:t>
            </a:r>
          </a:p>
        </p:txBody>
      </p:sp>
      <p:sp>
        <p:nvSpPr>
          <p:cNvPr id="10288" name="Rectangle 48"/>
          <p:cNvSpPr>
            <a:spLocks noChangeArrowheads="1"/>
          </p:cNvSpPr>
          <p:nvPr/>
        </p:nvSpPr>
        <p:spPr bwMode="auto">
          <a:xfrm>
            <a:off x="212725" y="5257800"/>
            <a:ext cx="8412163" cy="396875"/>
          </a:xfrm>
          <a:prstGeom prst="rect">
            <a:avLst/>
          </a:prstGeom>
          <a:noFill/>
          <a:ln w="9525">
            <a:noFill/>
            <a:miter lim="800000"/>
            <a:headEnd/>
            <a:tailEnd/>
          </a:ln>
          <a:effectLst/>
        </p:spPr>
        <p:txBody>
          <a:bodyPr wrap="none">
            <a:spAutoFit/>
          </a:bodyPr>
          <a:lstStyle/>
          <a:p>
            <a:r>
              <a:rPr lang="en-US" sz="2000">
                <a:latin typeface="Arial" pitchFamily="34" charset="0"/>
              </a:rPr>
              <a:t>It turns out that there are </a:t>
            </a:r>
            <a:r>
              <a:rPr lang="en-US" sz="2000">
                <a:solidFill>
                  <a:schemeClr val="accent2"/>
                </a:solidFill>
                <a:latin typeface="Arial" pitchFamily="34" charset="0"/>
              </a:rPr>
              <a:t>four independent rotation axes</a:t>
            </a:r>
            <a:r>
              <a:rPr lang="en-US" sz="2000">
                <a:latin typeface="Arial" pitchFamily="34" charset="0"/>
              </a:rPr>
              <a:t>: where are they?</a:t>
            </a:r>
          </a:p>
        </p:txBody>
      </p:sp>
      <p:sp>
        <p:nvSpPr>
          <p:cNvPr id="10289" name="Rectangle 49"/>
          <p:cNvSpPr>
            <a:spLocks noChangeArrowheads="1"/>
          </p:cNvSpPr>
          <p:nvPr/>
        </p:nvSpPr>
        <p:spPr bwMode="auto">
          <a:xfrm>
            <a:off x="1050925" y="5791200"/>
            <a:ext cx="7031038" cy="762000"/>
          </a:xfrm>
          <a:prstGeom prst="rect">
            <a:avLst/>
          </a:prstGeom>
          <a:noFill/>
          <a:ln w="9525">
            <a:noFill/>
            <a:miter lim="800000"/>
            <a:headEnd/>
            <a:tailEnd/>
          </a:ln>
          <a:effectLst/>
        </p:spPr>
        <p:txBody>
          <a:bodyPr wrap="none">
            <a:spAutoFit/>
          </a:bodyPr>
          <a:lstStyle/>
          <a:p>
            <a:pPr algn="ctr"/>
            <a:r>
              <a:rPr lang="en-US" sz="2000" b="1">
                <a:latin typeface="Arial" pitchFamily="34" charset="0"/>
              </a:rPr>
              <a:t>(0, </a:t>
            </a:r>
            <a:r>
              <a:rPr lang="en-US" sz="2000" b="1" i="1">
                <a:latin typeface="Arial" pitchFamily="34" charset="0"/>
              </a:rPr>
              <a:t>y</a:t>
            </a:r>
            <a:r>
              <a:rPr lang="en-US" sz="2000" b="1">
                <a:latin typeface="Arial" pitchFamily="34" charset="0"/>
              </a:rPr>
              <a:t>, 0);  (0, </a:t>
            </a:r>
            <a:r>
              <a:rPr lang="en-US" sz="2000" b="1" i="1">
                <a:latin typeface="Arial" pitchFamily="34" charset="0"/>
              </a:rPr>
              <a:t>y</a:t>
            </a:r>
            <a:r>
              <a:rPr lang="en-US" sz="2000" b="1">
                <a:latin typeface="Arial" pitchFamily="34" charset="0"/>
              </a:rPr>
              <a:t>, ½); (½, </a:t>
            </a:r>
            <a:r>
              <a:rPr lang="en-US" sz="2000" b="1" i="1">
                <a:latin typeface="Arial" pitchFamily="34" charset="0"/>
              </a:rPr>
              <a:t>y</a:t>
            </a:r>
            <a:r>
              <a:rPr lang="en-US" sz="2000" b="1">
                <a:latin typeface="Arial" pitchFamily="34" charset="0"/>
              </a:rPr>
              <a:t>, 0); (½, </a:t>
            </a:r>
            <a:r>
              <a:rPr lang="en-US" sz="2000" b="1" i="1">
                <a:latin typeface="Arial" pitchFamily="34" charset="0"/>
              </a:rPr>
              <a:t>y</a:t>
            </a:r>
            <a:r>
              <a:rPr lang="en-US" sz="2000" b="1">
                <a:latin typeface="Arial" pitchFamily="34" charset="0"/>
              </a:rPr>
              <a:t>, ½)</a:t>
            </a:r>
          </a:p>
          <a:p>
            <a:pPr algn="ctr">
              <a:lnSpc>
                <a:spcPct val="120000"/>
              </a:lnSpc>
            </a:pPr>
            <a:r>
              <a:rPr lang="en-US" sz="2000" b="1">
                <a:solidFill>
                  <a:schemeClr val="accent2"/>
                </a:solidFill>
                <a:latin typeface="Arial" pitchFamily="34" charset="0"/>
              </a:rPr>
              <a:t>Note that (0, </a:t>
            </a:r>
            <a:r>
              <a:rPr lang="en-US" sz="2000" b="1" i="1">
                <a:solidFill>
                  <a:schemeClr val="accent2"/>
                </a:solidFill>
                <a:latin typeface="Arial" pitchFamily="34" charset="0"/>
              </a:rPr>
              <a:t>y</a:t>
            </a:r>
            <a:r>
              <a:rPr lang="en-US" sz="2000" b="1">
                <a:solidFill>
                  <a:schemeClr val="accent2"/>
                </a:solidFill>
                <a:latin typeface="Arial" pitchFamily="34" charset="0"/>
              </a:rPr>
              <a:t>, 0);… represents a line rather than a point!</a:t>
            </a:r>
          </a:p>
        </p:txBody>
      </p:sp>
      <p:grpSp>
        <p:nvGrpSpPr>
          <p:cNvPr id="10" name="Group 52"/>
          <p:cNvGrpSpPr>
            <a:grpSpLocks noChangeAspect="1"/>
          </p:cNvGrpSpPr>
          <p:nvPr/>
        </p:nvGrpSpPr>
        <p:grpSpPr bwMode="auto">
          <a:xfrm>
            <a:off x="1890713" y="304800"/>
            <a:ext cx="4689475" cy="1714500"/>
            <a:chOff x="1191" y="192"/>
            <a:chExt cx="2954" cy="1080"/>
          </a:xfrm>
        </p:grpSpPr>
        <p:sp>
          <p:nvSpPr>
            <p:cNvPr id="10291" name="AutoShape 51"/>
            <p:cNvSpPr>
              <a:spLocks noChangeAspect="1" noChangeArrowheads="1" noTextEdit="1"/>
            </p:cNvSpPr>
            <p:nvPr/>
          </p:nvSpPr>
          <p:spPr bwMode="auto">
            <a:xfrm>
              <a:off x="1191" y="192"/>
              <a:ext cx="1593" cy="1080"/>
            </a:xfrm>
            <a:prstGeom prst="rect">
              <a:avLst/>
            </a:prstGeom>
            <a:noFill/>
            <a:ln w="9525">
              <a:noFill/>
              <a:miter lim="800000"/>
              <a:headEnd/>
              <a:tailEnd/>
            </a:ln>
          </p:spPr>
          <p:txBody>
            <a:bodyPr/>
            <a:lstStyle/>
            <a:p>
              <a:endParaRPr lang="en-US"/>
            </a:p>
          </p:txBody>
        </p:sp>
        <p:grpSp>
          <p:nvGrpSpPr>
            <p:cNvPr id="11" name="Group 55"/>
            <p:cNvGrpSpPr>
              <a:grpSpLocks/>
            </p:cNvGrpSpPr>
            <p:nvPr/>
          </p:nvGrpSpPr>
          <p:grpSpPr bwMode="auto">
            <a:xfrm>
              <a:off x="1878" y="364"/>
              <a:ext cx="172" cy="301"/>
              <a:chOff x="1878" y="364"/>
              <a:chExt cx="172" cy="301"/>
            </a:xfrm>
          </p:grpSpPr>
          <p:sp>
            <p:nvSpPr>
              <p:cNvPr id="10293" name="Freeform 53"/>
              <p:cNvSpPr>
                <a:spLocks/>
              </p:cNvSpPr>
              <p:nvPr/>
            </p:nvSpPr>
            <p:spPr bwMode="auto">
              <a:xfrm>
                <a:off x="1899" y="364"/>
                <a:ext cx="151" cy="254"/>
              </a:xfrm>
              <a:custGeom>
                <a:avLst/>
                <a:gdLst/>
                <a:ahLst/>
                <a:cxnLst>
                  <a:cxn ang="0">
                    <a:pos x="151" y="4"/>
                  </a:cxn>
                  <a:cxn ang="0">
                    <a:pos x="146" y="0"/>
                  </a:cxn>
                  <a:cxn ang="0">
                    <a:pos x="0" y="250"/>
                  </a:cxn>
                  <a:cxn ang="0">
                    <a:pos x="5" y="254"/>
                  </a:cxn>
                  <a:cxn ang="0">
                    <a:pos x="151" y="4"/>
                  </a:cxn>
                </a:cxnLst>
                <a:rect l="0" t="0" r="r" b="b"/>
                <a:pathLst>
                  <a:path w="151" h="254">
                    <a:moveTo>
                      <a:pt x="151" y="4"/>
                    </a:moveTo>
                    <a:lnTo>
                      <a:pt x="146" y="0"/>
                    </a:lnTo>
                    <a:lnTo>
                      <a:pt x="0" y="250"/>
                    </a:lnTo>
                    <a:lnTo>
                      <a:pt x="5" y="254"/>
                    </a:lnTo>
                    <a:lnTo>
                      <a:pt x="151" y="4"/>
                    </a:lnTo>
                    <a:close/>
                  </a:path>
                </a:pathLst>
              </a:custGeom>
              <a:solidFill>
                <a:srgbClr val="000000"/>
              </a:solidFill>
              <a:ln w="9525">
                <a:noFill/>
                <a:round/>
                <a:headEnd/>
                <a:tailEnd/>
              </a:ln>
            </p:spPr>
            <p:txBody>
              <a:bodyPr/>
              <a:lstStyle/>
              <a:p>
                <a:endParaRPr lang="en-US"/>
              </a:p>
            </p:txBody>
          </p:sp>
          <p:sp>
            <p:nvSpPr>
              <p:cNvPr id="10294" name="Freeform 54"/>
              <p:cNvSpPr>
                <a:spLocks/>
              </p:cNvSpPr>
              <p:nvPr/>
            </p:nvSpPr>
            <p:spPr bwMode="auto">
              <a:xfrm>
                <a:off x="1878" y="588"/>
                <a:ext cx="64" cy="77"/>
              </a:xfrm>
              <a:custGeom>
                <a:avLst/>
                <a:gdLst/>
                <a:ahLst/>
                <a:cxnLst>
                  <a:cxn ang="0">
                    <a:pos x="4" y="0"/>
                  </a:cxn>
                  <a:cxn ang="0">
                    <a:pos x="0" y="77"/>
                  </a:cxn>
                  <a:cxn ang="0">
                    <a:pos x="64" y="34"/>
                  </a:cxn>
                  <a:cxn ang="0">
                    <a:pos x="4" y="0"/>
                  </a:cxn>
                </a:cxnLst>
                <a:rect l="0" t="0" r="r" b="b"/>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2" name="Group 58"/>
            <p:cNvGrpSpPr>
              <a:grpSpLocks/>
            </p:cNvGrpSpPr>
            <p:nvPr/>
          </p:nvGrpSpPr>
          <p:grpSpPr bwMode="auto">
            <a:xfrm>
              <a:off x="2045" y="330"/>
              <a:ext cx="434" cy="73"/>
              <a:chOff x="2045" y="330"/>
              <a:chExt cx="434" cy="73"/>
            </a:xfrm>
          </p:grpSpPr>
          <p:sp>
            <p:nvSpPr>
              <p:cNvPr id="10296" name="Rectangle 56"/>
              <p:cNvSpPr>
                <a:spLocks noChangeArrowheads="1"/>
              </p:cNvSpPr>
              <p:nvPr/>
            </p:nvSpPr>
            <p:spPr bwMode="auto">
              <a:xfrm>
                <a:off x="2045" y="360"/>
                <a:ext cx="370" cy="8"/>
              </a:xfrm>
              <a:prstGeom prst="rect">
                <a:avLst/>
              </a:prstGeom>
              <a:solidFill>
                <a:srgbClr val="000000"/>
              </a:solidFill>
              <a:ln w="9525">
                <a:noFill/>
                <a:miter lim="800000"/>
                <a:headEnd/>
                <a:tailEnd/>
              </a:ln>
            </p:spPr>
            <p:txBody>
              <a:bodyPr/>
              <a:lstStyle/>
              <a:p>
                <a:endParaRPr lang="en-US"/>
              </a:p>
            </p:txBody>
          </p:sp>
          <p:sp>
            <p:nvSpPr>
              <p:cNvPr id="10297" name="Freeform 57"/>
              <p:cNvSpPr>
                <a:spLocks/>
              </p:cNvSpPr>
              <p:nvPr/>
            </p:nvSpPr>
            <p:spPr bwMode="auto">
              <a:xfrm>
                <a:off x="2406" y="330"/>
                <a:ext cx="73" cy="73"/>
              </a:xfrm>
              <a:custGeom>
                <a:avLst/>
                <a:gdLst/>
                <a:ahLst/>
                <a:cxnLst>
                  <a:cxn ang="0">
                    <a:pos x="0" y="73"/>
                  </a:cxn>
                  <a:cxn ang="0">
                    <a:pos x="73" y="34"/>
                  </a:cxn>
                  <a:cxn ang="0">
                    <a:pos x="0" y="0"/>
                  </a:cxn>
                  <a:cxn ang="0">
                    <a:pos x="0" y="73"/>
                  </a:cxn>
                </a:cxnLst>
                <a:rect l="0" t="0" r="r" b="b"/>
                <a:pathLst>
                  <a:path w="73" h="73">
                    <a:moveTo>
                      <a:pt x="0" y="73"/>
                    </a:moveTo>
                    <a:lnTo>
                      <a:pt x="73" y="34"/>
                    </a:lnTo>
                    <a:lnTo>
                      <a:pt x="0" y="0"/>
                    </a:lnTo>
                    <a:lnTo>
                      <a:pt x="0" y="73"/>
                    </a:lnTo>
                    <a:close/>
                  </a:path>
                </a:pathLst>
              </a:custGeom>
              <a:solidFill>
                <a:srgbClr val="000000"/>
              </a:solidFill>
              <a:ln w="9525">
                <a:noFill/>
                <a:round/>
                <a:headEnd/>
                <a:tailEnd/>
              </a:ln>
            </p:spPr>
            <p:txBody>
              <a:bodyPr/>
              <a:lstStyle/>
              <a:p>
                <a:endParaRPr lang="en-US"/>
              </a:p>
            </p:txBody>
          </p:sp>
        </p:grpSp>
        <p:sp>
          <p:nvSpPr>
            <p:cNvPr id="10299" name="Rectangle 59"/>
            <p:cNvSpPr>
              <a:spLocks noChangeArrowheads="1"/>
            </p:cNvSpPr>
            <p:nvPr/>
          </p:nvSpPr>
          <p:spPr bwMode="auto">
            <a:xfrm>
              <a:off x="2097" y="562"/>
              <a:ext cx="1627" cy="413"/>
            </a:xfrm>
            <a:prstGeom prst="rect">
              <a:avLst/>
            </a:prstGeom>
            <a:noFill/>
            <a:ln w="9525">
              <a:noFill/>
              <a:miter lim="800000"/>
              <a:headEnd/>
              <a:tailEnd/>
            </a:ln>
          </p:spPr>
          <p:txBody>
            <a:bodyPr/>
            <a:lstStyle/>
            <a:p>
              <a:endParaRPr lang="en-US"/>
            </a:p>
          </p:txBody>
        </p:sp>
        <p:sp>
          <p:nvSpPr>
            <p:cNvPr id="10300" name="Rectangle 60"/>
            <p:cNvSpPr>
              <a:spLocks noChangeArrowheads="1"/>
            </p:cNvSpPr>
            <p:nvPr/>
          </p:nvSpPr>
          <p:spPr bwMode="auto">
            <a:xfrm>
              <a:off x="2149" y="592"/>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10301" name="Rectangle 61"/>
            <p:cNvSpPr>
              <a:spLocks noChangeArrowheads="1"/>
            </p:cNvSpPr>
            <p:nvPr/>
          </p:nvSpPr>
          <p:spPr bwMode="auto">
            <a:xfrm>
              <a:off x="2518" y="235"/>
              <a:ext cx="1627" cy="409"/>
            </a:xfrm>
            <a:prstGeom prst="rect">
              <a:avLst/>
            </a:prstGeom>
            <a:noFill/>
            <a:ln w="9525">
              <a:noFill/>
              <a:miter lim="800000"/>
              <a:headEnd/>
              <a:tailEnd/>
            </a:ln>
          </p:spPr>
          <p:txBody>
            <a:bodyPr/>
            <a:lstStyle/>
            <a:p>
              <a:endParaRPr lang="en-US"/>
            </a:p>
          </p:txBody>
        </p:sp>
        <p:sp>
          <p:nvSpPr>
            <p:cNvPr id="10302" name="Rectangle 62"/>
            <p:cNvSpPr>
              <a:spLocks noChangeArrowheads="1"/>
            </p:cNvSpPr>
            <p:nvPr/>
          </p:nvSpPr>
          <p:spPr bwMode="auto">
            <a:xfrm>
              <a:off x="2569" y="261"/>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10303" name="Rectangle 63"/>
            <p:cNvSpPr>
              <a:spLocks noChangeArrowheads="1"/>
            </p:cNvSpPr>
            <p:nvPr/>
          </p:nvSpPr>
          <p:spPr bwMode="auto">
            <a:xfrm>
              <a:off x="2664" y="261"/>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10304" name="Rectangle 64"/>
            <p:cNvSpPr>
              <a:spLocks noChangeArrowheads="1"/>
            </p:cNvSpPr>
            <p:nvPr/>
          </p:nvSpPr>
          <p:spPr bwMode="auto">
            <a:xfrm>
              <a:off x="1749" y="665"/>
              <a:ext cx="1628" cy="409"/>
            </a:xfrm>
            <a:prstGeom prst="rect">
              <a:avLst/>
            </a:prstGeom>
            <a:noFill/>
            <a:ln w="9525">
              <a:noFill/>
              <a:miter lim="800000"/>
              <a:headEnd/>
              <a:tailEnd/>
            </a:ln>
          </p:spPr>
          <p:txBody>
            <a:bodyPr/>
            <a:lstStyle/>
            <a:p>
              <a:endParaRPr lang="en-US"/>
            </a:p>
          </p:txBody>
        </p:sp>
        <p:sp>
          <p:nvSpPr>
            <p:cNvPr id="10305" name="Rectangle 65"/>
            <p:cNvSpPr>
              <a:spLocks noChangeArrowheads="1"/>
            </p:cNvSpPr>
            <p:nvPr/>
          </p:nvSpPr>
          <p:spPr bwMode="auto">
            <a:xfrm>
              <a:off x="1801" y="691"/>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10306" name="Rectangle 66"/>
            <p:cNvSpPr>
              <a:spLocks noChangeArrowheads="1"/>
            </p:cNvSpPr>
            <p:nvPr/>
          </p:nvSpPr>
          <p:spPr bwMode="auto">
            <a:xfrm>
              <a:off x="1887" y="691"/>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8" grpId="0" autoUpdateAnimBg="0"/>
      <p:bldP spid="10289"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lide Number Placeholder 3"/>
          <p:cNvSpPr>
            <a:spLocks noGrp="1"/>
          </p:cNvSpPr>
          <p:nvPr>
            <p:ph type="sldNum" sz="quarter" idx="12"/>
          </p:nvPr>
        </p:nvSpPr>
        <p:spPr/>
        <p:txBody>
          <a:bodyPr/>
          <a:lstStyle/>
          <a:p>
            <a:fld id="{B86B034B-E63F-4670-B262-3B015414D101}" type="slidenum">
              <a:rPr lang="en-US"/>
              <a:pPr/>
              <a:t>90</a:t>
            </a:fld>
            <a:endParaRPr lang="en-US"/>
          </a:p>
        </p:txBody>
      </p:sp>
      <p:sp>
        <p:nvSpPr>
          <p:cNvPr id="26627" name="Rectangle 3"/>
          <p:cNvSpPr>
            <a:spLocks noChangeArrowheads="1"/>
          </p:cNvSpPr>
          <p:nvPr/>
        </p:nvSpPr>
        <p:spPr bwMode="auto">
          <a:xfrm>
            <a:off x="1295400" y="5029200"/>
            <a:ext cx="5791200" cy="396875"/>
          </a:xfrm>
          <a:prstGeom prst="rect">
            <a:avLst/>
          </a:prstGeom>
          <a:noFill/>
          <a:ln w="9525">
            <a:noFill/>
            <a:miter lim="800000"/>
            <a:headEnd/>
            <a:tailEnd/>
          </a:ln>
          <a:effectLst/>
        </p:spPr>
        <p:txBody>
          <a:bodyPr>
            <a:spAutoFit/>
          </a:bodyPr>
          <a:lstStyle/>
          <a:p>
            <a:pPr>
              <a:spcBef>
                <a:spcPct val="50000"/>
              </a:spcBef>
            </a:pPr>
            <a:r>
              <a:rPr lang="en-US" sz="2000" b="1">
                <a:latin typeface="Arial" pitchFamily="34" charset="0"/>
              </a:rPr>
              <a:t>  M</a:t>
            </a:r>
            <a:r>
              <a:rPr lang="en-US" sz="2000" b="1" baseline="-25000">
                <a:latin typeface="Arial" pitchFamily="34" charset="0"/>
              </a:rPr>
              <a:t>sp</a:t>
            </a:r>
            <a:r>
              <a:rPr lang="en-US" sz="2000" b="1">
                <a:latin typeface="Arial" pitchFamily="34" charset="0"/>
              </a:rPr>
              <a:t>		                   Coordinates</a:t>
            </a:r>
          </a:p>
        </p:txBody>
      </p:sp>
      <p:sp>
        <p:nvSpPr>
          <p:cNvPr id="26628" name="Text Box 4"/>
          <p:cNvSpPr txBox="1">
            <a:spLocks noChangeArrowheads="1"/>
          </p:cNvSpPr>
          <p:nvPr/>
        </p:nvSpPr>
        <p:spPr bwMode="auto">
          <a:xfrm>
            <a:off x="762000" y="4953000"/>
            <a:ext cx="6019800" cy="457200"/>
          </a:xfrm>
          <a:prstGeom prst="rect">
            <a:avLst/>
          </a:prstGeom>
          <a:noFill/>
          <a:ln w="9525">
            <a:noFill/>
            <a:miter lim="800000"/>
            <a:headEnd/>
            <a:tailEnd/>
          </a:ln>
          <a:effectLst/>
        </p:spPr>
        <p:txBody>
          <a:bodyPr>
            <a:spAutoFit/>
          </a:bodyPr>
          <a:lstStyle/>
          <a:p>
            <a:pPr>
              <a:spcBef>
                <a:spcPct val="50000"/>
              </a:spcBef>
            </a:pPr>
            <a:endParaRPr lang="en-US"/>
          </a:p>
        </p:txBody>
      </p:sp>
      <p:graphicFrame>
        <p:nvGraphicFramePr>
          <p:cNvPr id="26629" name="Object 5"/>
          <p:cNvGraphicFramePr>
            <a:graphicFrameLocks noChangeAspect="1"/>
          </p:cNvGraphicFramePr>
          <p:nvPr/>
        </p:nvGraphicFramePr>
        <p:xfrm>
          <a:off x="6248400" y="457200"/>
          <a:ext cx="1716088" cy="638175"/>
        </p:xfrm>
        <a:graphic>
          <a:graphicData uri="http://schemas.openxmlformats.org/presentationml/2006/ole">
            <p:oleObj spid="_x0000_s541698" name="Equation" r:id="rId3" imgW="545760" imgH="203040" progId="">
              <p:embed/>
            </p:oleObj>
          </a:graphicData>
        </a:graphic>
      </p:graphicFrame>
      <p:grpSp>
        <p:nvGrpSpPr>
          <p:cNvPr id="2" name="Group 6"/>
          <p:cNvGrpSpPr>
            <a:grpSpLocks/>
          </p:cNvGrpSpPr>
          <p:nvPr/>
        </p:nvGrpSpPr>
        <p:grpSpPr bwMode="auto">
          <a:xfrm>
            <a:off x="1752600" y="1066800"/>
            <a:ext cx="4997450" cy="2841625"/>
            <a:chOff x="1104" y="672"/>
            <a:chExt cx="3148" cy="1790"/>
          </a:xfrm>
        </p:grpSpPr>
        <p:sp>
          <p:nvSpPr>
            <p:cNvPr id="26631" name="Line 7"/>
            <p:cNvSpPr>
              <a:spLocks noChangeShapeType="1"/>
            </p:cNvSpPr>
            <p:nvPr/>
          </p:nvSpPr>
          <p:spPr bwMode="auto">
            <a:xfrm>
              <a:off x="2064" y="1008"/>
              <a:ext cx="1680" cy="0"/>
            </a:xfrm>
            <a:prstGeom prst="line">
              <a:avLst/>
            </a:prstGeom>
            <a:noFill/>
            <a:ln w="19050">
              <a:solidFill>
                <a:schemeClr val="tx1"/>
              </a:solidFill>
              <a:round/>
              <a:headEnd/>
              <a:tailEnd/>
            </a:ln>
            <a:effectLst/>
          </p:spPr>
          <p:txBody>
            <a:bodyPr/>
            <a:lstStyle/>
            <a:p>
              <a:endParaRPr lang="en-US"/>
            </a:p>
          </p:txBody>
        </p:sp>
        <p:sp>
          <p:nvSpPr>
            <p:cNvPr id="26632" name="Line 8"/>
            <p:cNvSpPr>
              <a:spLocks noChangeShapeType="1"/>
            </p:cNvSpPr>
            <p:nvPr/>
          </p:nvSpPr>
          <p:spPr bwMode="auto">
            <a:xfrm flipH="1">
              <a:off x="3360" y="1008"/>
              <a:ext cx="384" cy="1104"/>
            </a:xfrm>
            <a:prstGeom prst="line">
              <a:avLst/>
            </a:prstGeom>
            <a:noFill/>
            <a:ln w="19050">
              <a:solidFill>
                <a:schemeClr val="tx1"/>
              </a:solidFill>
              <a:round/>
              <a:headEnd/>
              <a:tailEnd/>
            </a:ln>
            <a:effectLst/>
          </p:spPr>
          <p:txBody>
            <a:bodyPr/>
            <a:lstStyle/>
            <a:p>
              <a:endParaRPr lang="en-US"/>
            </a:p>
          </p:txBody>
        </p:sp>
        <p:sp>
          <p:nvSpPr>
            <p:cNvPr id="26633" name="Line 9"/>
            <p:cNvSpPr>
              <a:spLocks noChangeShapeType="1"/>
            </p:cNvSpPr>
            <p:nvPr/>
          </p:nvSpPr>
          <p:spPr bwMode="auto">
            <a:xfrm flipH="1">
              <a:off x="1632" y="1008"/>
              <a:ext cx="432" cy="1104"/>
            </a:xfrm>
            <a:prstGeom prst="line">
              <a:avLst/>
            </a:prstGeom>
            <a:noFill/>
            <a:ln w="19050">
              <a:solidFill>
                <a:schemeClr val="tx1"/>
              </a:solidFill>
              <a:round/>
              <a:headEnd/>
              <a:tailEnd/>
            </a:ln>
            <a:effectLst/>
          </p:spPr>
          <p:txBody>
            <a:bodyPr/>
            <a:lstStyle/>
            <a:p>
              <a:endParaRPr lang="en-US"/>
            </a:p>
          </p:txBody>
        </p:sp>
        <p:sp>
          <p:nvSpPr>
            <p:cNvPr id="26634" name="Line 10"/>
            <p:cNvSpPr>
              <a:spLocks noChangeShapeType="1"/>
            </p:cNvSpPr>
            <p:nvPr/>
          </p:nvSpPr>
          <p:spPr bwMode="auto">
            <a:xfrm>
              <a:off x="1632" y="2112"/>
              <a:ext cx="1728" cy="0"/>
            </a:xfrm>
            <a:prstGeom prst="line">
              <a:avLst/>
            </a:prstGeom>
            <a:noFill/>
            <a:ln w="19050">
              <a:solidFill>
                <a:schemeClr val="tx1"/>
              </a:solidFill>
              <a:round/>
              <a:headEnd/>
              <a:tailEnd/>
            </a:ln>
            <a:effectLst/>
          </p:spPr>
          <p:txBody>
            <a:bodyPr/>
            <a:lstStyle/>
            <a:p>
              <a:endParaRPr lang="en-US"/>
            </a:p>
          </p:txBody>
        </p:sp>
        <p:sp>
          <p:nvSpPr>
            <p:cNvPr id="26635" name="Line 11"/>
            <p:cNvSpPr>
              <a:spLocks noChangeShapeType="1"/>
            </p:cNvSpPr>
            <p:nvPr/>
          </p:nvSpPr>
          <p:spPr bwMode="auto">
            <a:xfrm flipH="1">
              <a:off x="2496" y="1008"/>
              <a:ext cx="384" cy="1104"/>
            </a:xfrm>
            <a:prstGeom prst="line">
              <a:avLst/>
            </a:prstGeom>
            <a:noFill/>
            <a:ln w="19050">
              <a:solidFill>
                <a:schemeClr val="tx1"/>
              </a:solidFill>
              <a:round/>
              <a:headEnd/>
              <a:tailEnd/>
            </a:ln>
            <a:effectLst/>
          </p:spPr>
          <p:txBody>
            <a:bodyPr/>
            <a:lstStyle/>
            <a:p>
              <a:endParaRPr lang="en-US"/>
            </a:p>
          </p:txBody>
        </p:sp>
        <p:grpSp>
          <p:nvGrpSpPr>
            <p:cNvPr id="3" name="Group 12"/>
            <p:cNvGrpSpPr>
              <a:grpSpLocks/>
            </p:cNvGrpSpPr>
            <p:nvPr/>
          </p:nvGrpSpPr>
          <p:grpSpPr bwMode="auto">
            <a:xfrm>
              <a:off x="3840" y="1056"/>
              <a:ext cx="412" cy="254"/>
              <a:chOff x="3792" y="2112"/>
              <a:chExt cx="412" cy="254"/>
            </a:xfrm>
          </p:grpSpPr>
          <p:sp>
            <p:nvSpPr>
              <p:cNvPr id="26637" name="Oval 13"/>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26638" name="Rectangle 14"/>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26639" name="Oval 15"/>
            <p:cNvSpPr>
              <a:spLocks noChangeArrowheads="1"/>
            </p:cNvSpPr>
            <p:nvPr/>
          </p:nvSpPr>
          <p:spPr bwMode="auto">
            <a:xfrm>
              <a:off x="1776" y="672"/>
              <a:ext cx="240" cy="254"/>
            </a:xfrm>
            <a:prstGeom prst="ellipse">
              <a:avLst/>
            </a:prstGeom>
            <a:noFill/>
            <a:ln w="12700">
              <a:solidFill>
                <a:srgbClr val="0000FF"/>
              </a:solidFill>
              <a:round/>
              <a:headEnd/>
              <a:tailEnd/>
            </a:ln>
          </p:spPr>
          <p:txBody>
            <a:bodyPr/>
            <a:lstStyle/>
            <a:p>
              <a:endParaRPr lang="en-US"/>
            </a:p>
          </p:txBody>
        </p:sp>
        <p:sp>
          <p:nvSpPr>
            <p:cNvPr id="26640" name="Rectangle 16"/>
            <p:cNvSpPr>
              <a:spLocks noChangeArrowheads="1"/>
            </p:cNvSpPr>
            <p:nvPr/>
          </p:nvSpPr>
          <p:spPr bwMode="auto">
            <a:xfrm>
              <a:off x="1632" y="720"/>
              <a:ext cx="172" cy="173"/>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grpSp>
          <p:nvGrpSpPr>
            <p:cNvPr id="4" name="Group 17"/>
            <p:cNvGrpSpPr>
              <a:grpSpLocks/>
            </p:cNvGrpSpPr>
            <p:nvPr/>
          </p:nvGrpSpPr>
          <p:grpSpPr bwMode="auto">
            <a:xfrm>
              <a:off x="2112" y="1056"/>
              <a:ext cx="412" cy="254"/>
              <a:chOff x="3792" y="2112"/>
              <a:chExt cx="412" cy="254"/>
            </a:xfrm>
          </p:grpSpPr>
          <p:sp>
            <p:nvSpPr>
              <p:cNvPr id="26642" name="Oval 18"/>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26643" name="Rectangle 19"/>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5" name="Group 20"/>
            <p:cNvGrpSpPr>
              <a:grpSpLocks/>
            </p:cNvGrpSpPr>
            <p:nvPr/>
          </p:nvGrpSpPr>
          <p:grpSpPr bwMode="auto">
            <a:xfrm>
              <a:off x="1632" y="2208"/>
              <a:ext cx="412" cy="254"/>
              <a:chOff x="3792" y="2112"/>
              <a:chExt cx="412" cy="254"/>
            </a:xfrm>
          </p:grpSpPr>
          <p:sp>
            <p:nvSpPr>
              <p:cNvPr id="26645" name="Oval 21"/>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26646" name="Rectangle 22"/>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6" name="Group 23"/>
            <p:cNvGrpSpPr>
              <a:grpSpLocks/>
            </p:cNvGrpSpPr>
            <p:nvPr/>
          </p:nvGrpSpPr>
          <p:grpSpPr bwMode="auto">
            <a:xfrm>
              <a:off x="3408" y="2208"/>
              <a:ext cx="412" cy="254"/>
              <a:chOff x="3792" y="2112"/>
              <a:chExt cx="412" cy="254"/>
            </a:xfrm>
          </p:grpSpPr>
          <p:sp>
            <p:nvSpPr>
              <p:cNvPr id="26648" name="Oval 24"/>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26649" name="Rectangle 25"/>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26650" name="Line 26"/>
            <p:cNvSpPr>
              <a:spLocks noChangeShapeType="1"/>
            </p:cNvSpPr>
            <p:nvPr/>
          </p:nvSpPr>
          <p:spPr bwMode="auto">
            <a:xfrm>
              <a:off x="1872" y="1536"/>
              <a:ext cx="1680" cy="0"/>
            </a:xfrm>
            <a:prstGeom prst="line">
              <a:avLst/>
            </a:prstGeom>
            <a:noFill/>
            <a:ln w="19050">
              <a:solidFill>
                <a:schemeClr val="tx1"/>
              </a:solidFill>
              <a:round/>
              <a:headEnd/>
              <a:tailEnd/>
            </a:ln>
            <a:effectLst/>
          </p:spPr>
          <p:txBody>
            <a:bodyPr/>
            <a:lstStyle/>
            <a:p>
              <a:endParaRPr lang="en-US"/>
            </a:p>
          </p:txBody>
        </p:sp>
        <p:graphicFrame>
          <p:nvGraphicFramePr>
            <p:cNvPr id="26651" name="Object 27"/>
            <p:cNvGraphicFramePr>
              <a:graphicFrameLocks noChangeAspect="1"/>
            </p:cNvGraphicFramePr>
            <p:nvPr/>
          </p:nvGraphicFramePr>
          <p:xfrm>
            <a:off x="3360" y="2016"/>
            <a:ext cx="66" cy="234"/>
          </p:xfrm>
          <a:graphic>
            <a:graphicData uri="http://schemas.openxmlformats.org/presentationml/2006/ole">
              <p:oleObj spid="_x0000_s541699" name="CS ChemDraw Drawing" r:id="rId4" imgW="65521" imgH="230037" progId="">
                <p:embed/>
              </p:oleObj>
            </a:graphicData>
          </a:graphic>
        </p:graphicFrame>
        <p:graphicFrame>
          <p:nvGraphicFramePr>
            <p:cNvPr id="26652" name="Object 28"/>
            <p:cNvGraphicFramePr>
              <a:graphicFrameLocks noChangeAspect="1"/>
            </p:cNvGraphicFramePr>
            <p:nvPr/>
          </p:nvGraphicFramePr>
          <p:xfrm>
            <a:off x="2448" y="1998"/>
            <a:ext cx="64" cy="228"/>
          </p:xfrm>
          <a:graphic>
            <a:graphicData uri="http://schemas.openxmlformats.org/presentationml/2006/ole">
              <p:oleObj spid="_x0000_s541700" name="CS ChemDraw Drawing" r:id="rId5" imgW="65879" imgH="232916" progId="">
                <p:embed/>
              </p:oleObj>
            </a:graphicData>
          </a:graphic>
        </p:graphicFrame>
        <p:graphicFrame>
          <p:nvGraphicFramePr>
            <p:cNvPr id="26653" name="Object 29"/>
            <p:cNvGraphicFramePr>
              <a:graphicFrameLocks noChangeAspect="1"/>
            </p:cNvGraphicFramePr>
            <p:nvPr/>
          </p:nvGraphicFramePr>
          <p:xfrm>
            <a:off x="1584" y="1995"/>
            <a:ext cx="66" cy="234"/>
          </p:xfrm>
          <a:graphic>
            <a:graphicData uri="http://schemas.openxmlformats.org/presentationml/2006/ole">
              <p:oleObj spid="_x0000_s541701" name="CS ChemDraw Drawing" r:id="rId6" imgW="65521" imgH="230037" progId="">
                <p:embed/>
              </p:oleObj>
            </a:graphicData>
          </a:graphic>
        </p:graphicFrame>
        <p:graphicFrame>
          <p:nvGraphicFramePr>
            <p:cNvPr id="26654" name="Object 30"/>
            <p:cNvGraphicFramePr>
              <a:graphicFrameLocks noChangeAspect="1"/>
            </p:cNvGraphicFramePr>
            <p:nvPr/>
          </p:nvGraphicFramePr>
          <p:xfrm>
            <a:off x="2016" y="912"/>
            <a:ext cx="66" cy="234"/>
          </p:xfrm>
          <a:graphic>
            <a:graphicData uri="http://schemas.openxmlformats.org/presentationml/2006/ole">
              <p:oleObj spid="_x0000_s541702" name="CS ChemDraw Drawing" r:id="rId7" imgW="65521" imgH="230037" progId="">
                <p:embed/>
              </p:oleObj>
            </a:graphicData>
          </a:graphic>
        </p:graphicFrame>
        <p:graphicFrame>
          <p:nvGraphicFramePr>
            <p:cNvPr id="26655" name="Object 31"/>
            <p:cNvGraphicFramePr>
              <a:graphicFrameLocks noChangeAspect="1"/>
            </p:cNvGraphicFramePr>
            <p:nvPr/>
          </p:nvGraphicFramePr>
          <p:xfrm>
            <a:off x="3696" y="912"/>
            <a:ext cx="66" cy="234"/>
          </p:xfrm>
          <a:graphic>
            <a:graphicData uri="http://schemas.openxmlformats.org/presentationml/2006/ole">
              <p:oleObj spid="_x0000_s541703" name="CS ChemDraw Drawing" r:id="rId8" imgW="65521" imgH="230037" progId="">
                <p:embed/>
              </p:oleObj>
            </a:graphicData>
          </a:graphic>
        </p:graphicFrame>
        <p:graphicFrame>
          <p:nvGraphicFramePr>
            <p:cNvPr id="26656" name="Object 32"/>
            <p:cNvGraphicFramePr>
              <a:graphicFrameLocks noChangeAspect="1"/>
            </p:cNvGraphicFramePr>
            <p:nvPr/>
          </p:nvGraphicFramePr>
          <p:xfrm>
            <a:off x="3536" y="1440"/>
            <a:ext cx="64" cy="228"/>
          </p:xfrm>
          <a:graphic>
            <a:graphicData uri="http://schemas.openxmlformats.org/presentationml/2006/ole">
              <p:oleObj spid="_x0000_s541704" name="CS ChemDraw Drawing" r:id="rId9" imgW="65879" imgH="232916" progId="">
                <p:embed/>
              </p:oleObj>
            </a:graphicData>
          </a:graphic>
        </p:graphicFrame>
        <p:graphicFrame>
          <p:nvGraphicFramePr>
            <p:cNvPr id="26657" name="Object 33"/>
            <p:cNvGraphicFramePr>
              <a:graphicFrameLocks noChangeAspect="1"/>
            </p:cNvGraphicFramePr>
            <p:nvPr/>
          </p:nvGraphicFramePr>
          <p:xfrm>
            <a:off x="2832" y="912"/>
            <a:ext cx="64" cy="228"/>
          </p:xfrm>
          <a:graphic>
            <a:graphicData uri="http://schemas.openxmlformats.org/presentationml/2006/ole">
              <p:oleObj spid="_x0000_s541705" name="CS ChemDraw Drawing" r:id="rId10" imgW="65879" imgH="232916" progId="">
                <p:embed/>
              </p:oleObj>
            </a:graphicData>
          </a:graphic>
        </p:graphicFrame>
        <p:graphicFrame>
          <p:nvGraphicFramePr>
            <p:cNvPr id="26658" name="Object 34"/>
            <p:cNvGraphicFramePr>
              <a:graphicFrameLocks noChangeAspect="1"/>
            </p:cNvGraphicFramePr>
            <p:nvPr/>
          </p:nvGraphicFramePr>
          <p:xfrm>
            <a:off x="1824" y="1440"/>
            <a:ext cx="64" cy="228"/>
          </p:xfrm>
          <a:graphic>
            <a:graphicData uri="http://schemas.openxmlformats.org/presentationml/2006/ole">
              <p:oleObj spid="_x0000_s541706" name="CS ChemDraw Drawing" r:id="rId11" imgW="65879" imgH="232916" progId="">
                <p:embed/>
              </p:oleObj>
            </a:graphicData>
          </a:graphic>
        </p:graphicFrame>
        <p:graphicFrame>
          <p:nvGraphicFramePr>
            <p:cNvPr id="26659" name="Object 35"/>
            <p:cNvGraphicFramePr>
              <a:graphicFrameLocks noChangeAspect="1"/>
            </p:cNvGraphicFramePr>
            <p:nvPr/>
          </p:nvGraphicFramePr>
          <p:xfrm>
            <a:off x="2672" y="1440"/>
            <a:ext cx="64" cy="228"/>
          </p:xfrm>
          <a:graphic>
            <a:graphicData uri="http://schemas.openxmlformats.org/presentationml/2006/ole">
              <p:oleObj spid="_x0000_s541707" name="CS ChemDraw Drawing" r:id="rId12" imgW="65879" imgH="232916" progId="">
                <p:embed/>
              </p:oleObj>
            </a:graphicData>
          </a:graphic>
        </p:graphicFrame>
        <p:grpSp>
          <p:nvGrpSpPr>
            <p:cNvPr id="7" name="Group 36"/>
            <p:cNvGrpSpPr>
              <a:grpSpLocks/>
            </p:cNvGrpSpPr>
            <p:nvPr/>
          </p:nvGrpSpPr>
          <p:grpSpPr bwMode="auto">
            <a:xfrm>
              <a:off x="3264" y="672"/>
              <a:ext cx="426" cy="254"/>
              <a:chOff x="4004" y="1858"/>
              <a:chExt cx="426" cy="254"/>
            </a:xfrm>
          </p:grpSpPr>
          <p:sp>
            <p:nvSpPr>
              <p:cNvPr id="26661" name="Oval 37"/>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26662" name="Rectangle 38"/>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8" name="Group 39"/>
            <p:cNvGrpSpPr>
              <a:grpSpLocks/>
            </p:cNvGrpSpPr>
            <p:nvPr/>
          </p:nvGrpSpPr>
          <p:grpSpPr bwMode="auto">
            <a:xfrm>
              <a:off x="1104" y="1776"/>
              <a:ext cx="426" cy="254"/>
              <a:chOff x="4004" y="1858"/>
              <a:chExt cx="426" cy="254"/>
            </a:xfrm>
          </p:grpSpPr>
          <p:sp>
            <p:nvSpPr>
              <p:cNvPr id="26664" name="Oval 40"/>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26665" name="Rectangle 41"/>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9" name="Group 42"/>
            <p:cNvGrpSpPr>
              <a:grpSpLocks/>
            </p:cNvGrpSpPr>
            <p:nvPr/>
          </p:nvGrpSpPr>
          <p:grpSpPr bwMode="auto">
            <a:xfrm>
              <a:off x="2928" y="1776"/>
              <a:ext cx="426" cy="254"/>
              <a:chOff x="4004" y="1858"/>
              <a:chExt cx="426" cy="254"/>
            </a:xfrm>
          </p:grpSpPr>
          <p:sp>
            <p:nvSpPr>
              <p:cNvPr id="26667" name="Oval 43"/>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26668" name="Rectangle 44"/>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sp>
        <p:nvSpPr>
          <p:cNvPr id="26669" name="Text Box 45"/>
          <p:cNvSpPr txBox="1">
            <a:spLocks noChangeArrowheads="1"/>
          </p:cNvSpPr>
          <p:nvPr/>
        </p:nvSpPr>
        <p:spPr bwMode="auto">
          <a:xfrm>
            <a:off x="838200" y="4038600"/>
            <a:ext cx="7924800" cy="762000"/>
          </a:xfrm>
          <a:prstGeom prst="rect">
            <a:avLst/>
          </a:prstGeom>
          <a:noFill/>
          <a:ln w="9525">
            <a:noFill/>
            <a:miter lim="800000"/>
            <a:headEnd/>
            <a:tailEnd/>
          </a:ln>
          <a:effectLst/>
        </p:spPr>
        <p:txBody>
          <a:bodyPr>
            <a:spAutoFit/>
          </a:bodyPr>
          <a:lstStyle/>
          <a:p>
            <a:r>
              <a:rPr lang="en-US" sz="2000">
                <a:latin typeface="Arial" pitchFamily="34" charset="0"/>
              </a:rPr>
              <a:t>These four independent twofold rotation axes correspond to the four separate </a:t>
            </a:r>
            <a:r>
              <a:rPr lang="en-US" sz="2000" i="1">
                <a:solidFill>
                  <a:schemeClr val="accent2"/>
                </a:solidFill>
                <a:latin typeface="Arial" pitchFamily="34" charset="0"/>
              </a:rPr>
              <a:t>special positions</a:t>
            </a:r>
            <a:r>
              <a:rPr lang="en-US" sz="2000">
                <a:latin typeface="Arial" pitchFamily="34" charset="0"/>
              </a:rPr>
              <a:t> for </a:t>
            </a:r>
            <a:r>
              <a:rPr lang="en-US" sz="2000" i="1">
                <a:latin typeface="Arial" pitchFamily="34" charset="0"/>
              </a:rPr>
              <a:t>P</a:t>
            </a:r>
            <a:r>
              <a:rPr lang="en-US" sz="2000">
                <a:latin typeface="Arial" pitchFamily="34" charset="0"/>
              </a:rPr>
              <a:t>2, each with a multiplicity (M</a:t>
            </a:r>
            <a:r>
              <a:rPr lang="en-US" sz="2000" baseline="-25000">
                <a:latin typeface="Arial" pitchFamily="34" charset="0"/>
              </a:rPr>
              <a:t>sp</a:t>
            </a:r>
            <a:r>
              <a:rPr lang="en-US" sz="2000">
                <a:latin typeface="Arial" pitchFamily="34" charset="0"/>
              </a:rPr>
              <a:t>) of 1  </a:t>
            </a:r>
            <a:r>
              <a:rPr lang="en-US"/>
              <a:t>          </a:t>
            </a:r>
          </a:p>
        </p:txBody>
      </p:sp>
      <p:graphicFrame>
        <p:nvGraphicFramePr>
          <p:cNvPr id="26711" name="Group 87"/>
          <p:cNvGraphicFramePr>
            <a:graphicFrameLocks noGrp="1"/>
          </p:cNvGraphicFramePr>
          <p:nvPr/>
        </p:nvGraphicFramePr>
        <p:xfrm>
          <a:off x="990600" y="5486400"/>
          <a:ext cx="7010400" cy="533400"/>
        </p:xfrm>
        <a:graphic>
          <a:graphicData uri="http://schemas.openxmlformats.org/drawingml/2006/table">
            <a:tbl>
              <a:tblPr/>
              <a:tblGrid>
                <a:gridCol w="1216025"/>
                <a:gridCol w="1587500"/>
                <a:gridCol w="1387475"/>
                <a:gridCol w="1371600"/>
                <a:gridCol w="1447800"/>
              </a:tblGrid>
              <a:tr h="533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      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Arial" pitchFamily="34" charset="0"/>
                        </a:rPr>
                        <a:t>   (0, </a:t>
                      </a:r>
                      <a:r>
                        <a:rPr kumimoji="0" lang="en-US" sz="2000" b="1" i="1" u="none" strike="noStrike" cap="none" normalizeH="0" baseline="0" smtClean="0">
                          <a:ln>
                            <a:noFill/>
                          </a:ln>
                          <a:solidFill>
                            <a:schemeClr val="tx1"/>
                          </a:solidFill>
                          <a:effectLst/>
                          <a:latin typeface="Arial" pitchFamily="34" charset="0"/>
                        </a:rPr>
                        <a:t>y</a:t>
                      </a:r>
                      <a:r>
                        <a:rPr kumimoji="0" lang="en-US" sz="2000" b="1" i="0" u="none" strike="noStrike" cap="none" normalizeH="0" baseline="0" smtClean="0">
                          <a:ln>
                            <a:noFill/>
                          </a:ln>
                          <a:solidFill>
                            <a:schemeClr val="tx1"/>
                          </a:solidFill>
                          <a:effectLst/>
                          <a:latin typeface="Arial" pitchFamily="34"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Arial" pitchFamily="34" charset="0"/>
                        </a:rPr>
                        <a:t>  (0, </a:t>
                      </a:r>
                      <a:r>
                        <a:rPr kumimoji="0" lang="en-US" sz="2000" b="1" i="1" u="none" strike="noStrike" cap="none" normalizeH="0" baseline="0" smtClean="0">
                          <a:ln>
                            <a:noFill/>
                          </a:ln>
                          <a:solidFill>
                            <a:srgbClr val="FF0000"/>
                          </a:solidFill>
                          <a:effectLst/>
                          <a:latin typeface="Arial" pitchFamily="34" charset="0"/>
                        </a:rPr>
                        <a:t>y</a:t>
                      </a:r>
                      <a:r>
                        <a:rPr kumimoji="0" lang="en-US" sz="2000" b="1" i="0" u="none" strike="noStrike" cap="none" normalizeH="0" baseline="0" smtClean="0">
                          <a:ln>
                            <a:noFill/>
                          </a:ln>
                          <a:solidFill>
                            <a:srgbClr val="FF0000"/>
                          </a:solidFill>
                          <a:effectLst/>
                          <a:latin typeface="Arial" pitchFamily="34" charset="0"/>
                        </a:rPr>
                        <a:t>, ½)</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Arial" pitchFamily="34" charset="0"/>
                        </a:rPr>
                        <a:t>  (½, </a:t>
                      </a:r>
                      <a:r>
                        <a:rPr kumimoji="0" lang="en-US" sz="2000" b="1" i="1" u="none" strike="noStrike" cap="none" normalizeH="0" baseline="0" smtClean="0">
                          <a:ln>
                            <a:noFill/>
                          </a:ln>
                          <a:solidFill>
                            <a:srgbClr val="FF0000"/>
                          </a:solidFill>
                          <a:effectLst/>
                          <a:latin typeface="Arial" pitchFamily="34" charset="0"/>
                        </a:rPr>
                        <a:t>y</a:t>
                      </a:r>
                      <a:r>
                        <a:rPr kumimoji="0" lang="en-US" sz="2000" b="1" i="0" u="none" strike="noStrike" cap="none" normalizeH="0" baseline="0" smtClean="0">
                          <a:ln>
                            <a:noFill/>
                          </a:ln>
                          <a:solidFill>
                            <a:srgbClr val="FF0000"/>
                          </a:solidFill>
                          <a:effectLst/>
                          <a:latin typeface="Arial" pitchFamily="34"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Arial" pitchFamily="34" charset="0"/>
                        </a:rPr>
                        <a:t>  (½, </a:t>
                      </a:r>
                      <a:r>
                        <a:rPr kumimoji="0" lang="en-US" sz="2000" b="1" i="1" u="none" strike="noStrike" cap="none" normalizeH="0" baseline="0" smtClean="0">
                          <a:ln>
                            <a:noFill/>
                          </a:ln>
                          <a:solidFill>
                            <a:srgbClr val="FF0000"/>
                          </a:solidFill>
                          <a:effectLst/>
                          <a:latin typeface="Arial" pitchFamily="34" charset="0"/>
                        </a:rPr>
                        <a:t>y</a:t>
                      </a:r>
                      <a:r>
                        <a:rPr kumimoji="0" lang="en-US" sz="2000" b="1" i="0" u="none" strike="noStrike" cap="none" normalizeH="0" baseline="0" smtClean="0">
                          <a:ln>
                            <a:noFill/>
                          </a:ln>
                          <a:solidFill>
                            <a:srgbClr val="FF0000"/>
                          </a:solidFill>
                          <a:effectLst/>
                          <a:latin typeface="Arial" pitchFamily="34" charset="0"/>
                        </a:rPr>
                        <a:t>, ½)</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10" name="Group 89"/>
          <p:cNvGrpSpPr>
            <a:grpSpLocks noChangeAspect="1"/>
          </p:cNvGrpSpPr>
          <p:nvPr/>
        </p:nvGrpSpPr>
        <p:grpSpPr bwMode="auto">
          <a:xfrm>
            <a:off x="457200" y="381000"/>
            <a:ext cx="4687888" cy="1735138"/>
            <a:chOff x="288" y="240"/>
            <a:chExt cx="2953" cy="1093"/>
          </a:xfrm>
        </p:grpSpPr>
        <p:sp>
          <p:nvSpPr>
            <p:cNvPr id="26712" name="AutoShape 88"/>
            <p:cNvSpPr>
              <a:spLocks noChangeAspect="1" noChangeArrowheads="1" noTextEdit="1"/>
            </p:cNvSpPr>
            <p:nvPr/>
          </p:nvSpPr>
          <p:spPr bwMode="auto">
            <a:xfrm>
              <a:off x="288" y="240"/>
              <a:ext cx="1575" cy="1093"/>
            </a:xfrm>
            <a:prstGeom prst="rect">
              <a:avLst/>
            </a:prstGeom>
            <a:noFill/>
            <a:ln w="9525">
              <a:noFill/>
              <a:miter lim="800000"/>
              <a:headEnd/>
              <a:tailEnd/>
            </a:ln>
          </p:spPr>
          <p:txBody>
            <a:bodyPr/>
            <a:lstStyle/>
            <a:p>
              <a:endParaRPr lang="en-US"/>
            </a:p>
          </p:txBody>
        </p:sp>
        <p:grpSp>
          <p:nvGrpSpPr>
            <p:cNvPr id="11" name="Group 92"/>
            <p:cNvGrpSpPr>
              <a:grpSpLocks/>
            </p:cNvGrpSpPr>
            <p:nvPr/>
          </p:nvGrpSpPr>
          <p:grpSpPr bwMode="auto">
            <a:xfrm>
              <a:off x="975" y="412"/>
              <a:ext cx="171" cy="301"/>
              <a:chOff x="975" y="412"/>
              <a:chExt cx="171" cy="301"/>
            </a:xfrm>
          </p:grpSpPr>
          <p:sp>
            <p:nvSpPr>
              <p:cNvPr id="26714" name="Freeform 90"/>
              <p:cNvSpPr>
                <a:spLocks/>
              </p:cNvSpPr>
              <p:nvPr/>
            </p:nvSpPr>
            <p:spPr bwMode="auto">
              <a:xfrm>
                <a:off x="996" y="412"/>
                <a:ext cx="150" cy="254"/>
              </a:xfrm>
              <a:custGeom>
                <a:avLst/>
                <a:gdLst/>
                <a:ahLst/>
                <a:cxnLst>
                  <a:cxn ang="0">
                    <a:pos x="150" y="4"/>
                  </a:cxn>
                  <a:cxn ang="0">
                    <a:pos x="146" y="0"/>
                  </a:cxn>
                  <a:cxn ang="0">
                    <a:pos x="0" y="250"/>
                  </a:cxn>
                  <a:cxn ang="0">
                    <a:pos x="4" y="254"/>
                  </a:cxn>
                  <a:cxn ang="0">
                    <a:pos x="150" y="4"/>
                  </a:cxn>
                </a:cxnLst>
                <a:rect l="0" t="0" r="r" b="b"/>
                <a:pathLst>
                  <a:path w="150" h="254">
                    <a:moveTo>
                      <a:pt x="150" y="4"/>
                    </a:moveTo>
                    <a:lnTo>
                      <a:pt x="146" y="0"/>
                    </a:lnTo>
                    <a:lnTo>
                      <a:pt x="0" y="250"/>
                    </a:lnTo>
                    <a:lnTo>
                      <a:pt x="4" y="254"/>
                    </a:lnTo>
                    <a:lnTo>
                      <a:pt x="150" y="4"/>
                    </a:lnTo>
                    <a:close/>
                  </a:path>
                </a:pathLst>
              </a:custGeom>
              <a:solidFill>
                <a:srgbClr val="000000"/>
              </a:solidFill>
              <a:ln w="9525">
                <a:noFill/>
                <a:round/>
                <a:headEnd/>
                <a:tailEnd/>
              </a:ln>
            </p:spPr>
            <p:txBody>
              <a:bodyPr/>
              <a:lstStyle/>
              <a:p>
                <a:endParaRPr lang="en-US"/>
              </a:p>
            </p:txBody>
          </p:sp>
          <p:sp>
            <p:nvSpPr>
              <p:cNvPr id="26715" name="Freeform 91"/>
              <p:cNvSpPr>
                <a:spLocks/>
              </p:cNvSpPr>
              <p:nvPr/>
            </p:nvSpPr>
            <p:spPr bwMode="auto">
              <a:xfrm>
                <a:off x="975" y="636"/>
                <a:ext cx="64" cy="77"/>
              </a:xfrm>
              <a:custGeom>
                <a:avLst/>
                <a:gdLst/>
                <a:ahLst/>
                <a:cxnLst>
                  <a:cxn ang="0">
                    <a:pos x="4" y="0"/>
                  </a:cxn>
                  <a:cxn ang="0">
                    <a:pos x="0" y="77"/>
                  </a:cxn>
                  <a:cxn ang="0">
                    <a:pos x="64" y="34"/>
                  </a:cxn>
                  <a:cxn ang="0">
                    <a:pos x="4" y="0"/>
                  </a:cxn>
                </a:cxnLst>
                <a:rect l="0" t="0" r="r" b="b"/>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2" name="Group 95"/>
            <p:cNvGrpSpPr>
              <a:grpSpLocks/>
            </p:cNvGrpSpPr>
            <p:nvPr/>
          </p:nvGrpSpPr>
          <p:grpSpPr bwMode="auto">
            <a:xfrm>
              <a:off x="1142" y="378"/>
              <a:ext cx="433" cy="73"/>
              <a:chOff x="1142" y="378"/>
              <a:chExt cx="433" cy="73"/>
            </a:xfrm>
          </p:grpSpPr>
          <p:sp>
            <p:nvSpPr>
              <p:cNvPr id="26717" name="Rectangle 93"/>
              <p:cNvSpPr>
                <a:spLocks noChangeArrowheads="1"/>
              </p:cNvSpPr>
              <p:nvPr/>
            </p:nvSpPr>
            <p:spPr bwMode="auto">
              <a:xfrm>
                <a:off x="1142" y="408"/>
                <a:ext cx="369" cy="8"/>
              </a:xfrm>
              <a:prstGeom prst="rect">
                <a:avLst/>
              </a:prstGeom>
              <a:solidFill>
                <a:srgbClr val="000000"/>
              </a:solidFill>
              <a:ln w="9525">
                <a:noFill/>
                <a:miter lim="800000"/>
                <a:headEnd/>
                <a:tailEnd/>
              </a:ln>
            </p:spPr>
            <p:txBody>
              <a:bodyPr/>
              <a:lstStyle/>
              <a:p>
                <a:endParaRPr lang="en-US"/>
              </a:p>
            </p:txBody>
          </p:sp>
          <p:sp>
            <p:nvSpPr>
              <p:cNvPr id="26718" name="Freeform 94"/>
              <p:cNvSpPr>
                <a:spLocks/>
              </p:cNvSpPr>
              <p:nvPr/>
            </p:nvSpPr>
            <p:spPr bwMode="auto">
              <a:xfrm>
                <a:off x="1503" y="378"/>
                <a:ext cx="72" cy="73"/>
              </a:xfrm>
              <a:custGeom>
                <a:avLst/>
                <a:gdLst/>
                <a:ahLst/>
                <a:cxnLst>
                  <a:cxn ang="0">
                    <a:pos x="0" y="73"/>
                  </a:cxn>
                  <a:cxn ang="0">
                    <a:pos x="72" y="34"/>
                  </a:cxn>
                  <a:cxn ang="0">
                    <a:pos x="0" y="0"/>
                  </a:cxn>
                  <a:cxn ang="0">
                    <a:pos x="0" y="73"/>
                  </a:cxn>
                </a:cxnLst>
                <a:rect l="0" t="0" r="r" b="b"/>
                <a:pathLst>
                  <a:path w="72" h="73">
                    <a:moveTo>
                      <a:pt x="0" y="73"/>
                    </a:moveTo>
                    <a:lnTo>
                      <a:pt x="72" y="34"/>
                    </a:lnTo>
                    <a:lnTo>
                      <a:pt x="0" y="0"/>
                    </a:lnTo>
                    <a:lnTo>
                      <a:pt x="0" y="73"/>
                    </a:lnTo>
                    <a:close/>
                  </a:path>
                </a:pathLst>
              </a:custGeom>
              <a:solidFill>
                <a:srgbClr val="000000"/>
              </a:solidFill>
              <a:ln w="9525">
                <a:noFill/>
                <a:round/>
                <a:headEnd/>
                <a:tailEnd/>
              </a:ln>
            </p:spPr>
            <p:txBody>
              <a:bodyPr/>
              <a:lstStyle/>
              <a:p>
                <a:endParaRPr lang="en-US"/>
              </a:p>
            </p:txBody>
          </p:sp>
        </p:grpSp>
        <p:sp>
          <p:nvSpPr>
            <p:cNvPr id="26720" name="Rectangle 96"/>
            <p:cNvSpPr>
              <a:spLocks noChangeArrowheads="1"/>
            </p:cNvSpPr>
            <p:nvPr/>
          </p:nvSpPr>
          <p:spPr bwMode="auto">
            <a:xfrm>
              <a:off x="1194" y="610"/>
              <a:ext cx="1626" cy="413"/>
            </a:xfrm>
            <a:prstGeom prst="rect">
              <a:avLst/>
            </a:prstGeom>
            <a:noFill/>
            <a:ln w="9525">
              <a:noFill/>
              <a:miter lim="800000"/>
              <a:headEnd/>
              <a:tailEnd/>
            </a:ln>
          </p:spPr>
          <p:txBody>
            <a:bodyPr/>
            <a:lstStyle/>
            <a:p>
              <a:endParaRPr lang="en-US"/>
            </a:p>
          </p:txBody>
        </p:sp>
        <p:sp>
          <p:nvSpPr>
            <p:cNvPr id="26721" name="Rectangle 97"/>
            <p:cNvSpPr>
              <a:spLocks noChangeArrowheads="1"/>
            </p:cNvSpPr>
            <p:nvPr/>
          </p:nvSpPr>
          <p:spPr bwMode="auto">
            <a:xfrm>
              <a:off x="1245" y="640"/>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26722" name="Rectangle 98"/>
            <p:cNvSpPr>
              <a:spLocks noChangeArrowheads="1"/>
            </p:cNvSpPr>
            <p:nvPr/>
          </p:nvSpPr>
          <p:spPr bwMode="auto">
            <a:xfrm>
              <a:off x="1614" y="283"/>
              <a:ext cx="1627" cy="409"/>
            </a:xfrm>
            <a:prstGeom prst="rect">
              <a:avLst/>
            </a:prstGeom>
            <a:noFill/>
            <a:ln w="9525">
              <a:noFill/>
              <a:miter lim="800000"/>
              <a:headEnd/>
              <a:tailEnd/>
            </a:ln>
          </p:spPr>
          <p:txBody>
            <a:bodyPr/>
            <a:lstStyle/>
            <a:p>
              <a:endParaRPr lang="en-US"/>
            </a:p>
          </p:txBody>
        </p:sp>
        <p:sp>
          <p:nvSpPr>
            <p:cNvPr id="26723" name="Rectangle 99"/>
            <p:cNvSpPr>
              <a:spLocks noChangeArrowheads="1"/>
            </p:cNvSpPr>
            <p:nvPr/>
          </p:nvSpPr>
          <p:spPr bwMode="auto">
            <a:xfrm>
              <a:off x="1666" y="309"/>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26724" name="Rectangle 100"/>
            <p:cNvSpPr>
              <a:spLocks noChangeArrowheads="1"/>
            </p:cNvSpPr>
            <p:nvPr/>
          </p:nvSpPr>
          <p:spPr bwMode="auto">
            <a:xfrm>
              <a:off x="1760" y="309"/>
              <a:ext cx="124"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26725" name="Rectangle 101"/>
            <p:cNvSpPr>
              <a:spLocks noChangeArrowheads="1"/>
            </p:cNvSpPr>
            <p:nvPr/>
          </p:nvSpPr>
          <p:spPr bwMode="auto">
            <a:xfrm>
              <a:off x="846" y="713"/>
              <a:ext cx="1626" cy="409"/>
            </a:xfrm>
            <a:prstGeom prst="rect">
              <a:avLst/>
            </a:prstGeom>
            <a:noFill/>
            <a:ln w="9525">
              <a:noFill/>
              <a:miter lim="800000"/>
              <a:headEnd/>
              <a:tailEnd/>
            </a:ln>
          </p:spPr>
          <p:txBody>
            <a:bodyPr/>
            <a:lstStyle/>
            <a:p>
              <a:endParaRPr lang="en-US"/>
            </a:p>
          </p:txBody>
        </p:sp>
        <p:sp>
          <p:nvSpPr>
            <p:cNvPr id="26726" name="Rectangle 102"/>
            <p:cNvSpPr>
              <a:spLocks noChangeArrowheads="1"/>
            </p:cNvSpPr>
            <p:nvPr/>
          </p:nvSpPr>
          <p:spPr bwMode="auto">
            <a:xfrm>
              <a:off x="897" y="739"/>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26727" name="Rectangle 103"/>
            <p:cNvSpPr>
              <a:spLocks noChangeArrowheads="1"/>
            </p:cNvSpPr>
            <p:nvPr/>
          </p:nvSpPr>
          <p:spPr bwMode="auto">
            <a:xfrm>
              <a:off x="983" y="739"/>
              <a:ext cx="124"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pPr>
              <a:defRPr/>
            </a:pPr>
            <a:fld id="{EB60F244-F141-49A8-A942-4F8E3BAA6636}" type="slidenum">
              <a:rPr lang="en-US"/>
              <a:pPr>
                <a:defRPr/>
              </a:pPr>
              <a:t>91</a:t>
            </a:fld>
            <a:endParaRPr lang="en-US"/>
          </a:p>
        </p:txBody>
      </p:sp>
      <p:sp>
        <p:nvSpPr>
          <p:cNvPr id="2052" name="Text Box 2"/>
          <p:cNvSpPr txBox="1">
            <a:spLocks noChangeArrowheads="1"/>
          </p:cNvSpPr>
          <p:nvPr/>
        </p:nvSpPr>
        <p:spPr bwMode="auto">
          <a:xfrm>
            <a:off x="434714" y="513413"/>
            <a:ext cx="8304552" cy="2431435"/>
          </a:xfrm>
          <a:prstGeom prst="rect">
            <a:avLst/>
          </a:prstGeom>
          <a:noFill/>
          <a:ln w="9525">
            <a:noFill/>
            <a:miter lim="800000"/>
            <a:headEnd/>
            <a:tailEnd/>
          </a:ln>
        </p:spPr>
        <p:txBody>
          <a:bodyPr wrap="square">
            <a:spAutoFit/>
          </a:bodyPr>
          <a:lstStyle/>
          <a:p>
            <a:pPr algn="just"/>
            <a:endParaRPr lang="en-US" dirty="0"/>
          </a:p>
          <a:p>
            <a:pPr algn="just"/>
            <a:r>
              <a:rPr lang="en-US" dirty="0"/>
              <a:t>The term </a:t>
            </a:r>
            <a:r>
              <a:rPr lang="en-US" dirty="0">
                <a:solidFill>
                  <a:schemeClr val="accent2"/>
                </a:solidFill>
              </a:rPr>
              <a:t>"Special </a:t>
            </a:r>
            <a:r>
              <a:rPr lang="en-US" dirty="0" smtClean="0">
                <a:solidFill>
                  <a:schemeClr val="accent2"/>
                </a:solidFill>
              </a:rPr>
              <a:t>Position“</a:t>
            </a:r>
            <a:r>
              <a:rPr lang="en-US" dirty="0" smtClean="0"/>
              <a:t> is </a:t>
            </a:r>
            <a:r>
              <a:rPr lang="en-US" dirty="0"/>
              <a:t>defined as follows:</a:t>
            </a:r>
          </a:p>
          <a:p>
            <a:pPr algn="just"/>
            <a:endParaRPr lang="en-US" sz="1600" dirty="0">
              <a:latin typeface="Lucida Console" pitchFamily="49" charset="0"/>
            </a:endParaRPr>
          </a:p>
          <a:p>
            <a:pPr algn="just"/>
            <a:r>
              <a:rPr lang="en-US" dirty="0">
                <a:solidFill>
                  <a:srgbClr val="FF0000"/>
                </a:solidFill>
                <a:latin typeface="Arial" pitchFamily="34" charset="0"/>
                <a:cs typeface="Arial" pitchFamily="34" charset="0"/>
              </a:rPr>
              <a:t>A set of symmetrically equivalent points...is said to be in 'special position' if each of its points is mapped onto itself by at least one further symmetry operation of the space group.</a:t>
            </a:r>
          </a:p>
          <a:p>
            <a:pPr algn="just"/>
            <a:endParaRPr lang="en-US" sz="1600" dirty="0">
              <a:latin typeface="Lucida Console" pitchFamily="49" charset="0"/>
            </a:endParaRPr>
          </a:p>
        </p:txBody>
      </p:sp>
      <p:sp>
        <p:nvSpPr>
          <p:cNvPr id="7" name="Text Box 2"/>
          <p:cNvSpPr txBox="1">
            <a:spLocks noChangeArrowheads="1"/>
          </p:cNvSpPr>
          <p:nvPr/>
        </p:nvSpPr>
        <p:spPr bwMode="auto">
          <a:xfrm>
            <a:off x="509665" y="3080478"/>
            <a:ext cx="7989758" cy="3046988"/>
          </a:xfrm>
          <a:prstGeom prst="rect">
            <a:avLst/>
          </a:prstGeom>
          <a:noFill/>
          <a:ln w="9525">
            <a:noFill/>
            <a:miter lim="800000"/>
            <a:headEnd/>
            <a:tailEnd/>
          </a:ln>
          <a:effectLst/>
        </p:spPr>
        <p:txBody>
          <a:bodyPr wrap="square">
            <a:spAutoFit/>
          </a:bodyPr>
          <a:lstStyle/>
          <a:p>
            <a:r>
              <a:rPr lang="en-US" dirty="0">
                <a:latin typeface="Arial" pitchFamily="34" charset="0"/>
              </a:rPr>
              <a:t>Each of the four twofold axes corresponds to a </a:t>
            </a:r>
            <a:r>
              <a:rPr lang="en-US" i="1" dirty="0">
                <a:solidFill>
                  <a:schemeClr val="accent2"/>
                </a:solidFill>
                <a:latin typeface="Arial" pitchFamily="34" charset="0"/>
              </a:rPr>
              <a:t>special position</a:t>
            </a:r>
            <a:r>
              <a:rPr lang="en-US" dirty="0">
                <a:latin typeface="Arial" pitchFamily="34" charset="0"/>
              </a:rPr>
              <a:t> in </a:t>
            </a:r>
            <a:r>
              <a:rPr lang="en-US" i="1" dirty="0">
                <a:latin typeface="Arial" pitchFamily="34" charset="0"/>
              </a:rPr>
              <a:t>P</a:t>
            </a:r>
            <a:r>
              <a:rPr lang="en-US" dirty="0">
                <a:latin typeface="Arial" pitchFamily="34" charset="0"/>
              </a:rPr>
              <a:t>2.</a:t>
            </a:r>
          </a:p>
          <a:p>
            <a:endParaRPr lang="en-US" dirty="0">
              <a:latin typeface="Arial" pitchFamily="34" charset="0"/>
            </a:endParaRPr>
          </a:p>
          <a:p>
            <a:pPr algn="just"/>
            <a:r>
              <a:rPr lang="en-US" dirty="0">
                <a:latin typeface="Arial" pitchFamily="34" charset="0"/>
              </a:rPr>
              <a:t>Recall that special positions </a:t>
            </a:r>
            <a:r>
              <a:rPr lang="en-US" i="1" dirty="0">
                <a:solidFill>
                  <a:schemeClr val="accent2"/>
                </a:solidFill>
                <a:latin typeface="Arial" pitchFamily="34" charset="0"/>
              </a:rPr>
              <a:t>always</a:t>
            </a:r>
            <a:r>
              <a:rPr lang="en-US" dirty="0">
                <a:latin typeface="Arial" pitchFamily="34" charset="0"/>
              </a:rPr>
              <a:t> correspond to a </a:t>
            </a:r>
            <a:r>
              <a:rPr lang="en-US" i="1" dirty="0">
                <a:solidFill>
                  <a:schemeClr val="accent2"/>
                </a:solidFill>
                <a:latin typeface="Arial" pitchFamily="34" charset="0"/>
              </a:rPr>
              <a:t>point group symmetry element, </a:t>
            </a:r>
            <a:r>
              <a:rPr lang="en-US" i="1" dirty="0" err="1">
                <a:solidFill>
                  <a:schemeClr val="accent2"/>
                </a:solidFill>
                <a:latin typeface="Arial" pitchFamily="34" charset="0"/>
              </a:rPr>
              <a:t>i</a:t>
            </a:r>
            <a:r>
              <a:rPr lang="en-US" i="1" dirty="0">
                <a:solidFill>
                  <a:schemeClr val="accent2"/>
                </a:solidFill>
                <a:latin typeface="Arial" pitchFamily="34" charset="0"/>
              </a:rPr>
              <a:t>. e. a rotation axis, reflection, inversion or rotary inversion axis</a:t>
            </a:r>
            <a:r>
              <a:rPr lang="en-US" dirty="0">
                <a:solidFill>
                  <a:schemeClr val="accent2"/>
                </a:solidFill>
                <a:latin typeface="Arial" pitchFamily="34" charset="0"/>
              </a:rPr>
              <a:t>.</a:t>
            </a:r>
            <a:r>
              <a:rPr lang="en-US" dirty="0">
                <a:latin typeface="Arial" pitchFamily="34" charset="0"/>
              </a:rPr>
              <a:t>  A special position </a:t>
            </a:r>
            <a:r>
              <a:rPr lang="en-US" i="1" dirty="0">
                <a:solidFill>
                  <a:schemeClr val="accent2"/>
                </a:solidFill>
                <a:latin typeface="Arial" pitchFamily="34" charset="0"/>
              </a:rPr>
              <a:t>always</a:t>
            </a:r>
            <a:r>
              <a:rPr lang="en-US" dirty="0">
                <a:latin typeface="Arial" pitchFamily="34" charset="0"/>
              </a:rPr>
              <a:t> has reduced multiplicity compared to the general position.</a:t>
            </a:r>
            <a:endParaRPr lang="en-US" i="1" dirty="0">
              <a:latin typeface="Arial" pitchFamily="34"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lide Number Placeholder 3"/>
          <p:cNvSpPr>
            <a:spLocks noGrp="1"/>
          </p:cNvSpPr>
          <p:nvPr>
            <p:ph type="sldNum" sz="quarter" idx="12"/>
          </p:nvPr>
        </p:nvSpPr>
        <p:spPr/>
        <p:txBody>
          <a:bodyPr/>
          <a:lstStyle/>
          <a:p>
            <a:fld id="{DEF76255-2DFD-44DF-B61A-B38F9DEF2504}" type="slidenum">
              <a:rPr lang="en-US"/>
              <a:pPr/>
              <a:t>92</a:t>
            </a:fld>
            <a:endParaRPr lang="en-US"/>
          </a:p>
        </p:txBody>
      </p:sp>
      <p:graphicFrame>
        <p:nvGraphicFramePr>
          <p:cNvPr id="15362" name="Object 2"/>
          <p:cNvGraphicFramePr>
            <a:graphicFrameLocks noChangeAspect="1"/>
          </p:cNvGraphicFramePr>
          <p:nvPr/>
        </p:nvGraphicFramePr>
        <p:xfrm>
          <a:off x="4724400" y="4486275"/>
          <a:ext cx="1676400" cy="515938"/>
        </p:xfrm>
        <a:graphic>
          <a:graphicData uri="http://schemas.openxmlformats.org/presentationml/2006/ole">
            <p:oleObj spid="_x0000_s543746" name="Equation" r:id="rId3" imgW="876240" imgH="241200" progId="">
              <p:embed/>
            </p:oleObj>
          </a:graphicData>
        </a:graphic>
      </p:graphicFrame>
      <p:sp>
        <p:nvSpPr>
          <p:cNvPr id="15363" name="Text Box 3"/>
          <p:cNvSpPr txBox="1">
            <a:spLocks noChangeArrowheads="1"/>
          </p:cNvSpPr>
          <p:nvPr/>
        </p:nvSpPr>
        <p:spPr bwMode="auto">
          <a:xfrm>
            <a:off x="2971800" y="6019800"/>
            <a:ext cx="2895600" cy="396875"/>
          </a:xfrm>
          <a:prstGeom prst="rect">
            <a:avLst/>
          </a:prstGeom>
          <a:noFill/>
          <a:ln w="9525">
            <a:noFill/>
            <a:miter lim="800000"/>
            <a:headEnd/>
            <a:tailEnd/>
          </a:ln>
          <a:effectLst/>
        </p:spPr>
        <p:txBody>
          <a:bodyPr>
            <a:spAutoFit/>
          </a:bodyPr>
          <a:lstStyle/>
          <a:p>
            <a:pPr>
              <a:spcBef>
                <a:spcPct val="50000"/>
              </a:spcBef>
            </a:pPr>
            <a:r>
              <a:rPr lang="en-US" sz="2000" b="1">
                <a:latin typeface="Arial" pitchFamily="34" charset="0"/>
              </a:rPr>
              <a:t> Enantiomorphous</a:t>
            </a:r>
          </a:p>
        </p:txBody>
      </p:sp>
      <p:sp>
        <p:nvSpPr>
          <p:cNvPr id="15364" name="Rectangle 4"/>
          <p:cNvSpPr>
            <a:spLocks noChangeArrowheads="1"/>
          </p:cNvSpPr>
          <p:nvPr/>
        </p:nvSpPr>
        <p:spPr bwMode="auto">
          <a:xfrm>
            <a:off x="1981200" y="4343400"/>
            <a:ext cx="4495800" cy="838200"/>
          </a:xfrm>
          <a:prstGeom prst="rect">
            <a:avLst/>
          </a:prstGeom>
          <a:noFill/>
          <a:ln w="9525">
            <a:solidFill>
              <a:srgbClr val="FF0000"/>
            </a:solidFill>
            <a:miter lim="800000"/>
            <a:headEnd/>
            <a:tailEnd/>
          </a:ln>
          <a:effectLst/>
        </p:spPr>
        <p:txBody>
          <a:bodyPr wrap="none" anchor="ctr"/>
          <a:lstStyle/>
          <a:p>
            <a:pPr algn="ctr"/>
            <a:endParaRPr lang="en-US" b="1"/>
          </a:p>
        </p:txBody>
      </p:sp>
      <p:sp>
        <p:nvSpPr>
          <p:cNvPr id="15365" name="Rectangle 5"/>
          <p:cNvSpPr>
            <a:spLocks noChangeArrowheads="1"/>
          </p:cNvSpPr>
          <p:nvPr/>
        </p:nvSpPr>
        <p:spPr bwMode="auto">
          <a:xfrm>
            <a:off x="152400" y="4724400"/>
            <a:ext cx="304800" cy="396875"/>
          </a:xfrm>
          <a:prstGeom prst="rect">
            <a:avLst/>
          </a:prstGeom>
          <a:noFill/>
          <a:ln w="9525">
            <a:noFill/>
            <a:miter lim="800000"/>
            <a:headEnd/>
            <a:tailEnd/>
          </a:ln>
          <a:effectLst/>
        </p:spPr>
        <p:txBody>
          <a:bodyPr>
            <a:spAutoFit/>
          </a:bodyPr>
          <a:lstStyle/>
          <a:p>
            <a:endParaRPr lang="en-US" sz="2000" b="1">
              <a:latin typeface="Arial" pitchFamily="34" charset="0"/>
            </a:endParaRPr>
          </a:p>
        </p:txBody>
      </p:sp>
      <p:sp>
        <p:nvSpPr>
          <p:cNvPr id="15366" name="Rectangle 6"/>
          <p:cNvSpPr>
            <a:spLocks noChangeArrowheads="1"/>
          </p:cNvSpPr>
          <p:nvPr/>
        </p:nvSpPr>
        <p:spPr bwMode="auto">
          <a:xfrm>
            <a:off x="457200" y="5410200"/>
            <a:ext cx="533400" cy="396875"/>
          </a:xfrm>
          <a:prstGeom prst="rect">
            <a:avLst/>
          </a:prstGeom>
          <a:noFill/>
          <a:ln w="9525">
            <a:noFill/>
            <a:miter lim="800000"/>
            <a:headEnd/>
            <a:tailEnd/>
          </a:ln>
          <a:effectLst/>
        </p:spPr>
        <p:txBody>
          <a:bodyPr>
            <a:spAutoFit/>
          </a:bodyPr>
          <a:lstStyle/>
          <a:p>
            <a:endParaRPr lang="en-US" sz="2000" b="1">
              <a:latin typeface="Arial" pitchFamily="34" charset="0"/>
            </a:endParaRPr>
          </a:p>
        </p:txBody>
      </p:sp>
      <p:graphicFrame>
        <p:nvGraphicFramePr>
          <p:cNvPr id="15367" name="Object 7"/>
          <p:cNvGraphicFramePr>
            <a:graphicFrameLocks noChangeAspect="1"/>
          </p:cNvGraphicFramePr>
          <p:nvPr/>
        </p:nvGraphicFramePr>
        <p:xfrm>
          <a:off x="6172200" y="457200"/>
          <a:ext cx="1905000" cy="647700"/>
        </p:xfrm>
        <a:graphic>
          <a:graphicData uri="http://schemas.openxmlformats.org/presentationml/2006/ole">
            <p:oleObj spid="_x0000_s543747" name="Equation" r:id="rId4" imgW="596880" imgH="203040" progId="">
              <p:embed/>
            </p:oleObj>
          </a:graphicData>
        </a:graphic>
      </p:graphicFrame>
      <p:sp>
        <p:nvSpPr>
          <p:cNvPr id="15368" name="Line 8"/>
          <p:cNvSpPr>
            <a:spLocks noChangeShapeType="1"/>
          </p:cNvSpPr>
          <p:nvPr/>
        </p:nvSpPr>
        <p:spPr bwMode="auto">
          <a:xfrm>
            <a:off x="3276600" y="1600200"/>
            <a:ext cx="2667000" cy="0"/>
          </a:xfrm>
          <a:prstGeom prst="line">
            <a:avLst/>
          </a:prstGeom>
          <a:noFill/>
          <a:ln w="19050">
            <a:solidFill>
              <a:schemeClr val="tx1"/>
            </a:solidFill>
            <a:round/>
            <a:headEnd/>
            <a:tailEnd/>
          </a:ln>
          <a:effectLst/>
        </p:spPr>
        <p:txBody>
          <a:bodyPr/>
          <a:lstStyle/>
          <a:p>
            <a:endParaRPr lang="en-US"/>
          </a:p>
        </p:txBody>
      </p:sp>
      <p:sp>
        <p:nvSpPr>
          <p:cNvPr id="15369" name="Line 9"/>
          <p:cNvSpPr>
            <a:spLocks noChangeShapeType="1"/>
          </p:cNvSpPr>
          <p:nvPr/>
        </p:nvSpPr>
        <p:spPr bwMode="auto">
          <a:xfrm flipH="1">
            <a:off x="5334000" y="1600200"/>
            <a:ext cx="609600" cy="1752600"/>
          </a:xfrm>
          <a:prstGeom prst="line">
            <a:avLst/>
          </a:prstGeom>
          <a:noFill/>
          <a:ln w="19050">
            <a:solidFill>
              <a:schemeClr val="tx1"/>
            </a:solidFill>
            <a:round/>
            <a:headEnd/>
            <a:tailEnd/>
          </a:ln>
          <a:effectLst/>
        </p:spPr>
        <p:txBody>
          <a:bodyPr/>
          <a:lstStyle/>
          <a:p>
            <a:endParaRPr lang="en-US"/>
          </a:p>
        </p:txBody>
      </p:sp>
      <p:sp>
        <p:nvSpPr>
          <p:cNvPr id="15370" name="Line 10"/>
          <p:cNvSpPr>
            <a:spLocks noChangeShapeType="1"/>
          </p:cNvSpPr>
          <p:nvPr/>
        </p:nvSpPr>
        <p:spPr bwMode="auto">
          <a:xfrm flipH="1">
            <a:off x="2590800" y="1600200"/>
            <a:ext cx="685800" cy="1752600"/>
          </a:xfrm>
          <a:prstGeom prst="line">
            <a:avLst/>
          </a:prstGeom>
          <a:noFill/>
          <a:ln w="19050">
            <a:solidFill>
              <a:schemeClr val="tx1"/>
            </a:solidFill>
            <a:round/>
            <a:headEnd/>
            <a:tailEnd/>
          </a:ln>
          <a:effectLst/>
        </p:spPr>
        <p:txBody>
          <a:bodyPr/>
          <a:lstStyle/>
          <a:p>
            <a:endParaRPr lang="en-US"/>
          </a:p>
        </p:txBody>
      </p:sp>
      <p:sp>
        <p:nvSpPr>
          <p:cNvPr id="15371" name="Line 11"/>
          <p:cNvSpPr>
            <a:spLocks noChangeShapeType="1"/>
          </p:cNvSpPr>
          <p:nvPr/>
        </p:nvSpPr>
        <p:spPr bwMode="auto">
          <a:xfrm>
            <a:off x="2590800" y="3352800"/>
            <a:ext cx="2743200" cy="0"/>
          </a:xfrm>
          <a:prstGeom prst="line">
            <a:avLst/>
          </a:prstGeom>
          <a:noFill/>
          <a:ln w="19050">
            <a:solidFill>
              <a:schemeClr val="tx1"/>
            </a:solidFill>
            <a:round/>
            <a:headEnd/>
            <a:tailEnd/>
          </a:ln>
          <a:effectLst/>
        </p:spPr>
        <p:txBody>
          <a:bodyPr/>
          <a:lstStyle/>
          <a:p>
            <a:endParaRPr lang="en-US"/>
          </a:p>
        </p:txBody>
      </p:sp>
      <p:sp>
        <p:nvSpPr>
          <p:cNvPr id="15372" name="Line 12"/>
          <p:cNvSpPr>
            <a:spLocks noChangeShapeType="1"/>
          </p:cNvSpPr>
          <p:nvPr/>
        </p:nvSpPr>
        <p:spPr bwMode="auto">
          <a:xfrm flipH="1">
            <a:off x="3962400" y="1600200"/>
            <a:ext cx="609600" cy="1752600"/>
          </a:xfrm>
          <a:prstGeom prst="line">
            <a:avLst/>
          </a:prstGeom>
          <a:noFill/>
          <a:ln w="19050">
            <a:solidFill>
              <a:schemeClr val="tx1"/>
            </a:solidFill>
            <a:round/>
            <a:headEnd/>
            <a:tailEnd/>
          </a:ln>
          <a:effectLst/>
        </p:spPr>
        <p:txBody>
          <a:bodyPr/>
          <a:lstStyle/>
          <a:p>
            <a:endParaRPr lang="en-US"/>
          </a:p>
        </p:txBody>
      </p:sp>
      <p:grpSp>
        <p:nvGrpSpPr>
          <p:cNvPr id="2" name="Group 13"/>
          <p:cNvGrpSpPr>
            <a:grpSpLocks/>
          </p:cNvGrpSpPr>
          <p:nvPr/>
        </p:nvGrpSpPr>
        <p:grpSpPr bwMode="auto">
          <a:xfrm>
            <a:off x="6096000" y="1676400"/>
            <a:ext cx="654050" cy="403225"/>
            <a:chOff x="3792" y="2112"/>
            <a:chExt cx="412" cy="254"/>
          </a:xfrm>
        </p:grpSpPr>
        <p:sp>
          <p:nvSpPr>
            <p:cNvPr id="15374" name="Oval 14"/>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5375" name="Rectangle 15"/>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3" name="Group 16"/>
          <p:cNvGrpSpPr>
            <a:grpSpLocks/>
          </p:cNvGrpSpPr>
          <p:nvPr/>
        </p:nvGrpSpPr>
        <p:grpSpPr bwMode="auto">
          <a:xfrm>
            <a:off x="2590800" y="3505200"/>
            <a:ext cx="654050" cy="403225"/>
            <a:chOff x="3792" y="2112"/>
            <a:chExt cx="412" cy="254"/>
          </a:xfrm>
        </p:grpSpPr>
        <p:sp>
          <p:nvSpPr>
            <p:cNvPr id="15377" name="Oval 17"/>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5378" name="Rectangle 18"/>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4" name="Group 19"/>
          <p:cNvGrpSpPr>
            <a:grpSpLocks/>
          </p:cNvGrpSpPr>
          <p:nvPr/>
        </p:nvGrpSpPr>
        <p:grpSpPr bwMode="auto">
          <a:xfrm>
            <a:off x="5410200" y="3505200"/>
            <a:ext cx="654050" cy="403225"/>
            <a:chOff x="3792" y="2112"/>
            <a:chExt cx="412" cy="254"/>
          </a:xfrm>
        </p:grpSpPr>
        <p:sp>
          <p:nvSpPr>
            <p:cNvPr id="15380" name="Oval 20"/>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5381" name="Rectangle 21"/>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5382" name="Line 22"/>
          <p:cNvSpPr>
            <a:spLocks noChangeShapeType="1"/>
          </p:cNvSpPr>
          <p:nvPr/>
        </p:nvSpPr>
        <p:spPr bwMode="auto">
          <a:xfrm>
            <a:off x="2971800" y="2438400"/>
            <a:ext cx="2667000" cy="0"/>
          </a:xfrm>
          <a:prstGeom prst="line">
            <a:avLst/>
          </a:prstGeom>
          <a:noFill/>
          <a:ln w="19050">
            <a:solidFill>
              <a:schemeClr val="tx1"/>
            </a:solidFill>
            <a:round/>
            <a:headEnd/>
            <a:tailEnd/>
          </a:ln>
          <a:effectLst/>
        </p:spPr>
        <p:txBody>
          <a:bodyPr/>
          <a:lstStyle/>
          <a:p>
            <a:endParaRPr lang="en-US"/>
          </a:p>
        </p:txBody>
      </p:sp>
      <p:grpSp>
        <p:nvGrpSpPr>
          <p:cNvPr id="5" name="Group 23"/>
          <p:cNvGrpSpPr>
            <a:grpSpLocks/>
          </p:cNvGrpSpPr>
          <p:nvPr/>
        </p:nvGrpSpPr>
        <p:grpSpPr bwMode="auto">
          <a:xfrm>
            <a:off x="1600200" y="2819400"/>
            <a:ext cx="828675" cy="403225"/>
            <a:chOff x="1008" y="1776"/>
            <a:chExt cx="522" cy="254"/>
          </a:xfrm>
        </p:grpSpPr>
        <p:grpSp>
          <p:nvGrpSpPr>
            <p:cNvPr id="6" name="Group 24"/>
            <p:cNvGrpSpPr>
              <a:grpSpLocks/>
            </p:cNvGrpSpPr>
            <p:nvPr/>
          </p:nvGrpSpPr>
          <p:grpSpPr bwMode="auto">
            <a:xfrm>
              <a:off x="1104" y="1776"/>
              <a:ext cx="426" cy="254"/>
              <a:chOff x="4004" y="1858"/>
              <a:chExt cx="426" cy="254"/>
            </a:xfrm>
          </p:grpSpPr>
          <p:sp>
            <p:nvSpPr>
              <p:cNvPr id="15385" name="Oval 25"/>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15386" name="Rectangle 26"/>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5387" name="Rectangle 27"/>
            <p:cNvSpPr>
              <a:spLocks noChangeArrowheads="1"/>
            </p:cNvSpPr>
            <p:nvPr/>
          </p:nvSpPr>
          <p:spPr bwMode="auto">
            <a:xfrm>
              <a:off x="1008" y="1824"/>
              <a:ext cx="196"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½</a:t>
              </a:r>
            </a:p>
          </p:txBody>
        </p:sp>
      </p:grpSp>
      <p:grpSp>
        <p:nvGrpSpPr>
          <p:cNvPr id="7" name="Group 28"/>
          <p:cNvGrpSpPr>
            <a:grpSpLocks/>
          </p:cNvGrpSpPr>
          <p:nvPr/>
        </p:nvGrpSpPr>
        <p:grpSpPr bwMode="auto">
          <a:xfrm>
            <a:off x="4419600" y="2819400"/>
            <a:ext cx="828675" cy="403225"/>
            <a:chOff x="1008" y="1776"/>
            <a:chExt cx="522" cy="254"/>
          </a:xfrm>
        </p:grpSpPr>
        <p:grpSp>
          <p:nvGrpSpPr>
            <p:cNvPr id="8" name="Group 29"/>
            <p:cNvGrpSpPr>
              <a:grpSpLocks/>
            </p:cNvGrpSpPr>
            <p:nvPr/>
          </p:nvGrpSpPr>
          <p:grpSpPr bwMode="auto">
            <a:xfrm>
              <a:off x="1104" y="1776"/>
              <a:ext cx="426" cy="254"/>
              <a:chOff x="4004" y="1858"/>
              <a:chExt cx="426" cy="254"/>
            </a:xfrm>
          </p:grpSpPr>
          <p:sp>
            <p:nvSpPr>
              <p:cNvPr id="15390" name="Oval 30"/>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15391" name="Rectangle 31"/>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5392" name="Rectangle 32"/>
            <p:cNvSpPr>
              <a:spLocks noChangeArrowheads="1"/>
            </p:cNvSpPr>
            <p:nvPr/>
          </p:nvSpPr>
          <p:spPr bwMode="auto">
            <a:xfrm>
              <a:off x="1008" y="1824"/>
              <a:ext cx="196"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½</a:t>
              </a:r>
            </a:p>
          </p:txBody>
        </p:sp>
      </p:grpSp>
      <p:grpSp>
        <p:nvGrpSpPr>
          <p:cNvPr id="9" name="Group 33"/>
          <p:cNvGrpSpPr>
            <a:grpSpLocks/>
          </p:cNvGrpSpPr>
          <p:nvPr/>
        </p:nvGrpSpPr>
        <p:grpSpPr bwMode="auto">
          <a:xfrm>
            <a:off x="4953000" y="1066800"/>
            <a:ext cx="828675" cy="403225"/>
            <a:chOff x="1008" y="1776"/>
            <a:chExt cx="522" cy="254"/>
          </a:xfrm>
        </p:grpSpPr>
        <p:grpSp>
          <p:nvGrpSpPr>
            <p:cNvPr id="10" name="Group 34"/>
            <p:cNvGrpSpPr>
              <a:grpSpLocks/>
            </p:cNvGrpSpPr>
            <p:nvPr/>
          </p:nvGrpSpPr>
          <p:grpSpPr bwMode="auto">
            <a:xfrm>
              <a:off x="1104" y="1776"/>
              <a:ext cx="426" cy="254"/>
              <a:chOff x="4004" y="1858"/>
              <a:chExt cx="426" cy="254"/>
            </a:xfrm>
          </p:grpSpPr>
          <p:sp>
            <p:nvSpPr>
              <p:cNvPr id="15395" name="Oval 35"/>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15396" name="Rectangle 36"/>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5397" name="Rectangle 37"/>
            <p:cNvSpPr>
              <a:spLocks noChangeArrowheads="1"/>
            </p:cNvSpPr>
            <p:nvPr/>
          </p:nvSpPr>
          <p:spPr bwMode="auto">
            <a:xfrm>
              <a:off x="1008" y="1824"/>
              <a:ext cx="196"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½</a:t>
              </a:r>
            </a:p>
          </p:txBody>
        </p:sp>
      </p:grpSp>
      <p:sp>
        <p:nvSpPr>
          <p:cNvPr id="15398" name="Rectangle 38"/>
          <p:cNvSpPr>
            <a:spLocks noChangeArrowheads="1"/>
          </p:cNvSpPr>
          <p:nvPr/>
        </p:nvSpPr>
        <p:spPr bwMode="auto">
          <a:xfrm>
            <a:off x="2133600" y="4572000"/>
            <a:ext cx="796925" cy="457200"/>
          </a:xfrm>
          <a:prstGeom prst="rect">
            <a:avLst/>
          </a:prstGeom>
          <a:noFill/>
          <a:ln w="9525">
            <a:noFill/>
            <a:miter lim="800000"/>
            <a:headEnd/>
            <a:tailEnd/>
          </a:ln>
          <a:effectLst/>
        </p:spPr>
        <p:txBody>
          <a:bodyPr wrap="none">
            <a:spAutoFit/>
          </a:bodyPr>
          <a:lstStyle/>
          <a:p>
            <a:r>
              <a:rPr lang="en-US" b="1" i="1">
                <a:solidFill>
                  <a:srgbClr val="FF0000"/>
                </a:solidFill>
              </a:rPr>
              <a:t>Z</a:t>
            </a:r>
            <a:r>
              <a:rPr lang="en-US" b="1">
                <a:solidFill>
                  <a:srgbClr val="FF0000"/>
                </a:solidFill>
              </a:rPr>
              <a:t>=2;</a:t>
            </a:r>
          </a:p>
        </p:txBody>
      </p:sp>
      <p:sp>
        <p:nvSpPr>
          <p:cNvPr id="15399" name="Rectangle 39"/>
          <p:cNvSpPr>
            <a:spLocks noChangeArrowheads="1"/>
          </p:cNvSpPr>
          <p:nvPr/>
        </p:nvSpPr>
        <p:spPr bwMode="auto">
          <a:xfrm>
            <a:off x="620713" y="5410200"/>
            <a:ext cx="7867650" cy="457200"/>
          </a:xfrm>
          <a:prstGeom prst="rect">
            <a:avLst/>
          </a:prstGeom>
          <a:noFill/>
          <a:ln w="9525">
            <a:noFill/>
            <a:miter lim="800000"/>
            <a:headEnd/>
            <a:tailEnd/>
          </a:ln>
          <a:effectLst/>
        </p:spPr>
        <p:txBody>
          <a:bodyPr wrap="none">
            <a:spAutoFit/>
          </a:bodyPr>
          <a:lstStyle/>
          <a:p>
            <a:r>
              <a:rPr lang="en-US">
                <a:latin typeface="Arial" pitchFamily="34" charset="0"/>
              </a:rPr>
              <a:t>Is this group enantiomorphous or non-enantiomorphous?</a:t>
            </a:r>
          </a:p>
        </p:txBody>
      </p:sp>
      <p:grpSp>
        <p:nvGrpSpPr>
          <p:cNvPr id="11" name="Group 40"/>
          <p:cNvGrpSpPr>
            <a:grpSpLocks/>
          </p:cNvGrpSpPr>
          <p:nvPr/>
        </p:nvGrpSpPr>
        <p:grpSpPr bwMode="auto">
          <a:xfrm>
            <a:off x="2438400" y="1066800"/>
            <a:ext cx="762000" cy="403225"/>
            <a:chOff x="1536" y="672"/>
            <a:chExt cx="480" cy="254"/>
          </a:xfrm>
        </p:grpSpPr>
        <p:sp>
          <p:nvSpPr>
            <p:cNvPr id="15401" name="Oval 41"/>
            <p:cNvSpPr>
              <a:spLocks noChangeArrowheads="1"/>
            </p:cNvSpPr>
            <p:nvPr/>
          </p:nvSpPr>
          <p:spPr bwMode="auto">
            <a:xfrm>
              <a:off x="1776" y="672"/>
              <a:ext cx="240" cy="254"/>
            </a:xfrm>
            <a:prstGeom prst="ellipse">
              <a:avLst/>
            </a:prstGeom>
            <a:noFill/>
            <a:ln w="12700">
              <a:solidFill>
                <a:srgbClr val="0000FF"/>
              </a:solidFill>
              <a:round/>
              <a:headEnd/>
              <a:tailEnd/>
            </a:ln>
          </p:spPr>
          <p:txBody>
            <a:bodyPr/>
            <a:lstStyle/>
            <a:p>
              <a:endParaRPr lang="en-US"/>
            </a:p>
          </p:txBody>
        </p:sp>
        <p:sp>
          <p:nvSpPr>
            <p:cNvPr id="15402" name="Rectangle 42"/>
            <p:cNvSpPr>
              <a:spLocks noChangeArrowheads="1"/>
            </p:cNvSpPr>
            <p:nvPr/>
          </p:nvSpPr>
          <p:spPr bwMode="auto">
            <a:xfrm>
              <a:off x="1632" y="720"/>
              <a:ext cx="172" cy="173"/>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sp>
          <p:nvSpPr>
            <p:cNvPr id="15403" name="Rectangle 43"/>
            <p:cNvSpPr>
              <a:spLocks noChangeArrowheads="1"/>
            </p:cNvSpPr>
            <p:nvPr/>
          </p:nvSpPr>
          <p:spPr bwMode="auto">
            <a:xfrm>
              <a:off x="1536" y="720"/>
              <a:ext cx="196"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½</a:t>
              </a:r>
            </a:p>
          </p:txBody>
        </p:sp>
      </p:grpSp>
      <p:pic>
        <p:nvPicPr>
          <p:cNvPr id="15404" name="Picture 44"/>
          <p:cNvPicPr>
            <a:picLocks noChangeAspect="1" noChangeArrowheads="1"/>
          </p:cNvPicPr>
          <p:nvPr/>
        </p:nvPicPr>
        <p:blipFill>
          <a:blip r:embed="rId5" cstate="print"/>
          <a:srcRect/>
          <a:stretch>
            <a:fillRect/>
          </a:stretch>
        </p:blipFill>
        <p:spPr bwMode="auto">
          <a:xfrm>
            <a:off x="3200400" y="1447800"/>
            <a:ext cx="150813" cy="304800"/>
          </a:xfrm>
          <a:prstGeom prst="rect">
            <a:avLst/>
          </a:prstGeom>
          <a:noFill/>
          <a:ln w="9525">
            <a:noFill/>
            <a:miter lim="800000"/>
            <a:headEnd/>
            <a:tailEnd/>
          </a:ln>
        </p:spPr>
      </p:pic>
      <p:grpSp>
        <p:nvGrpSpPr>
          <p:cNvPr id="12" name="Group 45"/>
          <p:cNvGrpSpPr>
            <a:grpSpLocks/>
          </p:cNvGrpSpPr>
          <p:nvPr/>
        </p:nvGrpSpPr>
        <p:grpSpPr bwMode="auto">
          <a:xfrm>
            <a:off x="3048000" y="1676400"/>
            <a:ext cx="1524000" cy="3400425"/>
            <a:chOff x="1920" y="1056"/>
            <a:chExt cx="960" cy="2142"/>
          </a:xfrm>
        </p:grpSpPr>
        <p:graphicFrame>
          <p:nvGraphicFramePr>
            <p:cNvPr id="15406" name="Object 46"/>
            <p:cNvGraphicFramePr>
              <a:graphicFrameLocks noChangeAspect="1"/>
            </p:cNvGraphicFramePr>
            <p:nvPr/>
          </p:nvGraphicFramePr>
          <p:xfrm>
            <a:off x="1920" y="2832"/>
            <a:ext cx="960" cy="366"/>
          </p:xfrm>
          <a:graphic>
            <a:graphicData uri="http://schemas.openxmlformats.org/presentationml/2006/ole">
              <p:oleObj spid="_x0000_s543748" name="Equation" r:id="rId6" imgW="533160" imgH="203040" progId="">
                <p:embed/>
              </p:oleObj>
            </a:graphicData>
          </a:graphic>
        </p:graphicFrame>
        <p:grpSp>
          <p:nvGrpSpPr>
            <p:cNvPr id="13" name="Group 47"/>
            <p:cNvGrpSpPr>
              <a:grpSpLocks/>
            </p:cNvGrpSpPr>
            <p:nvPr/>
          </p:nvGrpSpPr>
          <p:grpSpPr bwMode="auto">
            <a:xfrm>
              <a:off x="2112" y="1056"/>
              <a:ext cx="412" cy="254"/>
              <a:chOff x="3792" y="2112"/>
              <a:chExt cx="412" cy="254"/>
            </a:xfrm>
          </p:grpSpPr>
          <p:sp>
            <p:nvSpPr>
              <p:cNvPr id="15408" name="Oval 48"/>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5409" name="Rectangle 49"/>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grpSp>
        <p:nvGrpSpPr>
          <p:cNvPr id="14" name="Group 50"/>
          <p:cNvGrpSpPr>
            <a:grpSpLocks/>
          </p:cNvGrpSpPr>
          <p:nvPr/>
        </p:nvGrpSpPr>
        <p:grpSpPr bwMode="auto">
          <a:xfrm>
            <a:off x="2514600" y="1447800"/>
            <a:ext cx="3503613" cy="2057400"/>
            <a:chOff x="1584" y="912"/>
            <a:chExt cx="2207" cy="1296"/>
          </a:xfrm>
        </p:grpSpPr>
        <p:pic>
          <p:nvPicPr>
            <p:cNvPr id="15411" name="Picture 51"/>
            <p:cNvPicPr>
              <a:picLocks noChangeAspect="1" noChangeArrowheads="1"/>
            </p:cNvPicPr>
            <p:nvPr/>
          </p:nvPicPr>
          <p:blipFill>
            <a:blip r:embed="rId5" cstate="print"/>
            <a:srcRect/>
            <a:stretch>
              <a:fillRect/>
            </a:stretch>
          </p:blipFill>
          <p:spPr bwMode="auto">
            <a:xfrm>
              <a:off x="3312" y="2016"/>
              <a:ext cx="95" cy="192"/>
            </a:xfrm>
            <a:prstGeom prst="rect">
              <a:avLst/>
            </a:prstGeom>
            <a:noFill/>
            <a:ln w="9525">
              <a:noFill/>
              <a:miter lim="800000"/>
              <a:headEnd/>
              <a:tailEnd/>
            </a:ln>
          </p:spPr>
        </p:pic>
        <p:pic>
          <p:nvPicPr>
            <p:cNvPr id="15412" name="Picture 52"/>
            <p:cNvPicPr>
              <a:picLocks noChangeAspect="1" noChangeArrowheads="1"/>
            </p:cNvPicPr>
            <p:nvPr/>
          </p:nvPicPr>
          <p:blipFill>
            <a:blip r:embed="rId5" cstate="print"/>
            <a:srcRect/>
            <a:stretch>
              <a:fillRect/>
            </a:stretch>
          </p:blipFill>
          <p:spPr bwMode="auto">
            <a:xfrm>
              <a:off x="1584" y="2016"/>
              <a:ext cx="95" cy="192"/>
            </a:xfrm>
            <a:prstGeom prst="rect">
              <a:avLst/>
            </a:prstGeom>
            <a:noFill/>
            <a:ln w="9525">
              <a:noFill/>
              <a:miter lim="800000"/>
              <a:headEnd/>
              <a:tailEnd/>
            </a:ln>
          </p:spPr>
        </p:pic>
        <p:pic>
          <p:nvPicPr>
            <p:cNvPr id="15413" name="Picture 53"/>
            <p:cNvPicPr>
              <a:picLocks noChangeAspect="1" noChangeArrowheads="1"/>
            </p:cNvPicPr>
            <p:nvPr/>
          </p:nvPicPr>
          <p:blipFill>
            <a:blip r:embed="rId5" cstate="print"/>
            <a:srcRect/>
            <a:stretch>
              <a:fillRect/>
            </a:stretch>
          </p:blipFill>
          <p:spPr bwMode="auto">
            <a:xfrm>
              <a:off x="3696" y="912"/>
              <a:ext cx="95" cy="192"/>
            </a:xfrm>
            <a:prstGeom prst="rect">
              <a:avLst/>
            </a:prstGeom>
            <a:noFill/>
            <a:ln w="9525">
              <a:noFill/>
              <a:miter lim="800000"/>
              <a:headEnd/>
              <a:tailEnd/>
            </a:ln>
          </p:spPr>
        </p:pic>
      </p:grpSp>
      <p:pic>
        <p:nvPicPr>
          <p:cNvPr id="15414" name="Picture 54"/>
          <p:cNvPicPr>
            <a:picLocks noChangeAspect="1" noChangeArrowheads="1"/>
          </p:cNvPicPr>
          <p:nvPr/>
        </p:nvPicPr>
        <p:blipFill>
          <a:blip r:embed="rId7" cstate="print"/>
          <a:srcRect t="43166" r="30534"/>
          <a:stretch>
            <a:fillRect/>
          </a:stretch>
        </p:blipFill>
        <p:spPr bwMode="auto">
          <a:xfrm>
            <a:off x="4456113" y="1447800"/>
            <a:ext cx="192087" cy="338138"/>
          </a:xfrm>
          <a:prstGeom prst="rect">
            <a:avLst/>
          </a:prstGeom>
          <a:noFill/>
          <a:ln w="9525">
            <a:noFill/>
            <a:miter lim="800000"/>
            <a:headEnd/>
            <a:tailEnd/>
          </a:ln>
        </p:spPr>
      </p:pic>
      <p:pic>
        <p:nvPicPr>
          <p:cNvPr id="15415" name="Picture 55"/>
          <p:cNvPicPr>
            <a:picLocks noChangeAspect="1" noChangeArrowheads="1"/>
          </p:cNvPicPr>
          <p:nvPr/>
        </p:nvPicPr>
        <p:blipFill>
          <a:blip r:embed="rId7" cstate="print"/>
          <a:srcRect t="43166" r="30534"/>
          <a:stretch>
            <a:fillRect/>
          </a:stretch>
        </p:blipFill>
        <p:spPr bwMode="auto">
          <a:xfrm>
            <a:off x="5562600" y="2252663"/>
            <a:ext cx="192088" cy="338137"/>
          </a:xfrm>
          <a:prstGeom prst="rect">
            <a:avLst/>
          </a:prstGeom>
          <a:noFill/>
          <a:ln w="9525">
            <a:noFill/>
            <a:miter lim="800000"/>
            <a:headEnd/>
            <a:tailEnd/>
          </a:ln>
        </p:spPr>
      </p:pic>
      <p:pic>
        <p:nvPicPr>
          <p:cNvPr id="15416" name="Picture 56"/>
          <p:cNvPicPr>
            <a:picLocks noChangeAspect="1" noChangeArrowheads="1"/>
          </p:cNvPicPr>
          <p:nvPr/>
        </p:nvPicPr>
        <p:blipFill>
          <a:blip r:embed="rId7" cstate="print"/>
          <a:srcRect t="43166" r="30534"/>
          <a:stretch>
            <a:fillRect/>
          </a:stretch>
        </p:blipFill>
        <p:spPr bwMode="auto">
          <a:xfrm>
            <a:off x="4191000" y="2252663"/>
            <a:ext cx="192088" cy="338137"/>
          </a:xfrm>
          <a:prstGeom prst="rect">
            <a:avLst/>
          </a:prstGeom>
          <a:noFill/>
          <a:ln w="9525">
            <a:noFill/>
            <a:miter lim="800000"/>
            <a:headEnd/>
            <a:tailEnd/>
          </a:ln>
        </p:spPr>
      </p:pic>
      <p:pic>
        <p:nvPicPr>
          <p:cNvPr id="15417" name="Picture 57"/>
          <p:cNvPicPr>
            <a:picLocks noChangeAspect="1" noChangeArrowheads="1"/>
          </p:cNvPicPr>
          <p:nvPr/>
        </p:nvPicPr>
        <p:blipFill>
          <a:blip r:embed="rId7" cstate="print"/>
          <a:srcRect t="43166" r="30534"/>
          <a:stretch>
            <a:fillRect/>
          </a:stretch>
        </p:blipFill>
        <p:spPr bwMode="auto">
          <a:xfrm>
            <a:off x="2855913" y="2252663"/>
            <a:ext cx="192087" cy="338137"/>
          </a:xfrm>
          <a:prstGeom prst="rect">
            <a:avLst/>
          </a:prstGeom>
          <a:noFill/>
          <a:ln w="9525">
            <a:noFill/>
            <a:miter lim="800000"/>
            <a:headEnd/>
            <a:tailEnd/>
          </a:ln>
        </p:spPr>
      </p:pic>
      <p:pic>
        <p:nvPicPr>
          <p:cNvPr id="15418" name="Picture 58"/>
          <p:cNvPicPr>
            <a:picLocks noChangeAspect="1" noChangeArrowheads="1"/>
          </p:cNvPicPr>
          <p:nvPr/>
        </p:nvPicPr>
        <p:blipFill>
          <a:blip r:embed="rId7" cstate="print"/>
          <a:srcRect t="43166" r="30534"/>
          <a:stretch>
            <a:fillRect/>
          </a:stretch>
        </p:blipFill>
        <p:spPr bwMode="auto">
          <a:xfrm>
            <a:off x="3886200" y="3182938"/>
            <a:ext cx="192088" cy="338137"/>
          </a:xfrm>
          <a:prstGeom prst="rect">
            <a:avLst/>
          </a:prstGeom>
          <a:noFill/>
          <a:ln w="9525">
            <a:noFill/>
            <a:miter lim="800000"/>
            <a:headEnd/>
            <a:tailEnd/>
          </a:ln>
        </p:spPr>
      </p:pic>
      <p:grpSp>
        <p:nvGrpSpPr>
          <p:cNvPr id="16" name="Group 65"/>
          <p:cNvGrpSpPr>
            <a:grpSpLocks noChangeAspect="1"/>
          </p:cNvGrpSpPr>
          <p:nvPr/>
        </p:nvGrpSpPr>
        <p:grpSpPr bwMode="auto">
          <a:xfrm>
            <a:off x="457200" y="381000"/>
            <a:ext cx="4692650" cy="1735138"/>
            <a:chOff x="288" y="240"/>
            <a:chExt cx="2956" cy="1093"/>
          </a:xfrm>
        </p:grpSpPr>
        <p:sp>
          <p:nvSpPr>
            <p:cNvPr id="15424" name="AutoShape 64"/>
            <p:cNvSpPr>
              <a:spLocks noChangeAspect="1" noChangeArrowheads="1" noTextEdit="1"/>
            </p:cNvSpPr>
            <p:nvPr/>
          </p:nvSpPr>
          <p:spPr bwMode="auto">
            <a:xfrm>
              <a:off x="288" y="240"/>
              <a:ext cx="1577" cy="1093"/>
            </a:xfrm>
            <a:prstGeom prst="rect">
              <a:avLst/>
            </a:prstGeom>
            <a:noFill/>
            <a:ln w="9525">
              <a:noFill/>
              <a:miter lim="800000"/>
              <a:headEnd/>
              <a:tailEnd/>
            </a:ln>
          </p:spPr>
          <p:txBody>
            <a:bodyPr/>
            <a:lstStyle/>
            <a:p>
              <a:endParaRPr lang="en-US"/>
            </a:p>
          </p:txBody>
        </p:sp>
        <p:grpSp>
          <p:nvGrpSpPr>
            <p:cNvPr id="17" name="Group 68"/>
            <p:cNvGrpSpPr>
              <a:grpSpLocks/>
            </p:cNvGrpSpPr>
            <p:nvPr/>
          </p:nvGrpSpPr>
          <p:grpSpPr bwMode="auto">
            <a:xfrm>
              <a:off x="976" y="412"/>
              <a:ext cx="171" cy="301"/>
              <a:chOff x="976" y="412"/>
              <a:chExt cx="171" cy="301"/>
            </a:xfrm>
          </p:grpSpPr>
          <p:sp>
            <p:nvSpPr>
              <p:cNvPr id="15426" name="Freeform 66"/>
              <p:cNvSpPr>
                <a:spLocks/>
              </p:cNvSpPr>
              <p:nvPr/>
            </p:nvSpPr>
            <p:spPr bwMode="auto">
              <a:xfrm>
                <a:off x="997" y="412"/>
                <a:ext cx="150" cy="254"/>
              </a:xfrm>
              <a:custGeom>
                <a:avLst/>
                <a:gdLst/>
                <a:ahLst/>
                <a:cxnLst>
                  <a:cxn ang="0">
                    <a:pos x="150" y="4"/>
                  </a:cxn>
                  <a:cxn ang="0">
                    <a:pos x="146" y="0"/>
                  </a:cxn>
                  <a:cxn ang="0">
                    <a:pos x="0" y="250"/>
                  </a:cxn>
                  <a:cxn ang="0">
                    <a:pos x="4" y="254"/>
                  </a:cxn>
                  <a:cxn ang="0">
                    <a:pos x="150" y="4"/>
                  </a:cxn>
                </a:cxnLst>
                <a:rect l="0" t="0" r="r" b="b"/>
                <a:pathLst>
                  <a:path w="150" h="254">
                    <a:moveTo>
                      <a:pt x="150" y="4"/>
                    </a:moveTo>
                    <a:lnTo>
                      <a:pt x="146" y="0"/>
                    </a:lnTo>
                    <a:lnTo>
                      <a:pt x="0" y="250"/>
                    </a:lnTo>
                    <a:lnTo>
                      <a:pt x="4" y="254"/>
                    </a:lnTo>
                    <a:lnTo>
                      <a:pt x="150" y="4"/>
                    </a:lnTo>
                    <a:close/>
                  </a:path>
                </a:pathLst>
              </a:custGeom>
              <a:solidFill>
                <a:srgbClr val="000000"/>
              </a:solidFill>
              <a:ln w="9525">
                <a:noFill/>
                <a:round/>
                <a:headEnd/>
                <a:tailEnd/>
              </a:ln>
            </p:spPr>
            <p:txBody>
              <a:bodyPr/>
              <a:lstStyle/>
              <a:p>
                <a:endParaRPr lang="en-US"/>
              </a:p>
            </p:txBody>
          </p:sp>
          <p:sp>
            <p:nvSpPr>
              <p:cNvPr id="15427" name="Freeform 67"/>
              <p:cNvSpPr>
                <a:spLocks/>
              </p:cNvSpPr>
              <p:nvPr/>
            </p:nvSpPr>
            <p:spPr bwMode="auto">
              <a:xfrm>
                <a:off x="976" y="636"/>
                <a:ext cx="64" cy="77"/>
              </a:xfrm>
              <a:custGeom>
                <a:avLst/>
                <a:gdLst/>
                <a:ahLst/>
                <a:cxnLst>
                  <a:cxn ang="0">
                    <a:pos x="4" y="0"/>
                  </a:cxn>
                  <a:cxn ang="0">
                    <a:pos x="0" y="77"/>
                  </a:cxn>
                  <a:cxn ang="0">
                    <a:pos x="64" y="34"/>
                  </a:cxn>
                  <a:cxn ang="0">
                    <a:pos x="4" y="0"/>
                  </a:cxn>
                </a:cxnLst>
                <a:rect l="0" t="0" r="r" b="b"/>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8" name="Group 71"/>
            <p:cNvGrpSpPr>
              <a:grpSpLocks/>
            </p:cNvGrpSpPr>
            <p:nvPr/>
          </p:nvGrpSpPr>
          <p:grpSpPr bwMode="auto">
            <a:xfrm>
              <a:off x="1143" y="378"/>
              <a:ext cx="434" cy="73"/>
              <a:chOff x="1143" y="378"/>
              <a:chExt cx="434" cy="73"/>
            </a:xfrm>
          </p:grpSpPr>
          <p:sp>
            <p:nvSpPr>
              <p:cNvPr id="15429" name="Rectangle 69"/>
              <p:cNvSpPr>
                <a:spLocks noChangeArrowheads="1"/>
              </p:cNvSpPr>
              <p:nvPr/>
            </p:nvSpPr>
            <p:spPr bwMode="auto">
              <a:xfrm>
                <a:off x="1143" y="408"/>
                <a:ext cx="370" cy="8"/>
              </a:xfrm>
              <a:prstGeom prst="rect">
                <a:avLst/>
              </a:prstGeom>
              <a:solidFill>
                <a:srgbClr val="000000"/>
              </a:solidFill>
              <a:ln w="9525">
                <a:noFill/>
                <a:miter lim="800000"/>
                <a:headEnd/>
                <a:tailEnd/>
              </a:ln>
            </p:spPr>
            <p:txBody>
              <a:bodyPr/>
              <a:lstStyle/>
              <a:p>
                <a:endParaRPr lang="en-US"/>
              </a:p>
            </p:txBody>
          </p:sp>
          <p:sp>
            <p:nvSpPr>
              <p:cNvPr id="15430" name="Freeform 70"/>
              <p:cNvSpPr>
                <a:spLocks/>
              </p:cNvSpPr>
              <p:nvPr/>
            </p:nvSpPr>
            <p:spPr bwMode="auto">
              <a:xfrm>
                <a:off x="1504" y="378"/>
                <a:ext cx="73" cy="73"/>
              </a:xfrm>
              <a:custGeom>
                <a:avLst/>
                <a:gdLst/>
                <a:ahLst/>
                <a:cxnLst>
                  <a:cxn ang="0">
                    <a:pos x="0" y="73"/>
                  </a:cxn>
                  <a:cxn ang="0">
                    <a:pos x="73" y="34"/>
                  </a:cxn>
                  <a:cxn ang="0">
                    <a:pos x="0" y="0"/>
                  </a:cxn>
                  <a:cxn ang="0">
                    <a:pos x="0" y="73"/>
                  </a:cxn>
                </a:cxnLst>
                <a:rect l="0" t="0" r="r" b="b"/>
                <a:pathLst>
                  <a:path w="73" h="73">
                    <a:moveTo>
                      <a:pt x="0" y="73"/>
                    </a:moveTo>
                    <a:lnTo>
                      <a:pt x="73" y="34"/>
                    </a:lnTo>
                    <a:lnTo>
                      <a:pt x="0" y="0"/>
                    </a:lnTo>
                    <a:lnTo>
                      <a:pt x="0" y="73"/>
                    </a:lnTo>
                    <a:close/>
                  </a:path>
                </a:pathLst>
              </a:custGeom>
              <a:solidFill>
                <a:srgbClr val="000000"/>
              </a:solidFill>
              <a:ln w="9525">
                <a:noFill/>
                <a:round/>
                <a:headEnd/>
                <a:tailEnd/>
              </a:ln>
            </p:spPr>
            <p:txBody>
              <a:bodyPr/>
              <a:lstStyle/>
              <a:p>
                <a:endParaRPr lang="en-US"/>
              </a:p>
            </p:txBody>
          </p:sp>
        </p:grpSp>
        <p:sp>
          <p:nvSpPr>
            <p:cNvPr id="15432" name="Rectangle 72"/>
            <p:cNvSpPr>
              <a:spLocks noChangeArrowheads="1"/>
            </p:cNvSpPr>
            <p:nvPr/>
          </p:nvSpPr>
          <p:spPr bwMode="auto">
            <a:xfrm>
              <a:off x="1195" y="610"/>
              <a:ext cx="1628" cy="413"/>
            </a:xfrm>
            <a:prstGeom prst="rect">
              <a:avLst/>
            </a:prstGeom>
            <a:noFill/>
            <a:ln w="9525">
              <a:noFill/>
              <a:miter lim="800000"/>
              <a:headEnd/>
              <a:tailEnd/>
            </a:ln>
          </p:spPr>
          <p:txBody>
            <a:bodyPr/>
            <a:lstStyle/>
            <a:p>
              <a:endParaRPr lang="en-US"/>
            </a:p>
          </p:txBody>
        </p:sp>
        <p:sp>
          <p:nvSpPr>
            <p:cNvPr id="15433" name="Rectangle 73"/>
            <p:cNvSpPr>
              <a:spLocks noChangeArrowheads="1"/>
            </p:cNvSpPr>
            <p:nvPr/>
          </p:nvSpPr>
          <p:spPr bwMode="auto">
            <a:xfrm>
              <a:off x="1246" y="640"/>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15434" name="Rectangle 74"/>
            <p:cNvSpPr>
              <a:spLocks noChangeArrowheads="1"/>
            </p:cNvSpPr>
            <p:nvPr/>
          </p:nvSpPr>
          <p:spPr bwMode="auto">
            <a:xfrm>
              <a:off x="1616" y="283"/>
              <a:ext cx="1628" cy="409"/>
            </a:xfrm>
            <a:prstGeom prst="rect">
              <a:avLst/>
            </a:prstGeom>
            <a:noFill/>
            <a:ln w="9525">
              <a:noFill/>
              <a:miter lim="800000"/>
              <a:headEnd/>
              <a:tailEnd/>
            </a:ln>
          </p:spPr>
          <p:txBody>
            <a:bodyPr/>
            <a:lstStyle/>
            <a:p>
              <a:endParaRPr lang="en-US"/>
            </a:p>
          </p:txBody>
        </p:sp>
        <p:sp>
          <p:nvSpPr>
            <p:cNvPr id="15435" name="Rectangle 75"/>
            <p:cNvSpPr>
              <a:spLocks noChangeArrowheads="1"/>
            </p:cNvSpPr>
            <p:nvPr/>
          </p:nvSpPr>
          <p:spPr bwMode="auto">
            <a:xfrm>
              <a:off x="1667" y="309"/>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15436" name="Rectangle 76"/>
            <p:cNvSpPr>
              <a:spLocks noChangeArrowheads="1"/>
            </p:cNvSpPr>
            <p:nvPr/>
          </p:nvSpPr>
          <p:spPr bwMode="auto">
            <a:xfrm>
              <a:off x="1762" y="30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15437" name="Rectangle 77"/>
            <p:cNvSpPr>
              <a:spLocks noChangeArrowheads="1"/>
            </p:cNvSpPr>
            <p:nvPr/>
          </p:nvSpPr>
          <p:spPr bwMode="auto">
            <a:xfrm>
              <a:off x="847" y="713"/>
              <a:ext cx="1628" cy="409"/>
            </a:xfrm>
            <a:prstGeom prst="rect">
              <a:avLst/>
            </a:prstGeom>
            <a:noFill/>
            <a:ln w="9525">
              <a:noFill/>
              <a:miter lim="800000"/>
              <a:headEnd/>
              <a:tailEnd/>
            </a:ln>
          </p:spPr>
          <p:txBody>
            <a:bodyPr/>
            <a:lstStyle/>
            <a:p>
              <a:endParaRPr lang="en-US"/>
            </a:p>
          </p:txBody>
        </p:sp>
        <p:sp>
          <p:nvSpPr>
            <p:cNvPr id="15438" name="Rectangle 78"/>
            <p:cNvSpPr>
              <a:spLocks noChangeArrowheads="1"/>
            </p:cNvSpPr>
            <p:nvPr/>
          </p:nvSpPr>
          <p:spPr bwMode="auto">
            <a:xfrm>
              <a:off x="898" y="739"/>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15439" name="Rectangle 79"/>
            <p:cNvSpPr>
              <a:spLocks noChangeArrowheads="1"/>
            </p:cNvSpPr>
            <p:nvPr/>
          </p:nvSpPr>
          <p:spPr bwMode="auto">
            <a:xfrm>
              <a:off x="984" y="73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54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53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54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54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154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154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499"/>
                                          </p:stCondLst>
                                        </p:cTn>
                                        <p:tgtEl>
                                          <p:spTgt spid="154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539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536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539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5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p:bldP spid="15364" grpId="0" animBg="1" autoUpdateAnimBg="0"/>
      <p:bldP spid="15398" grpId="0" autoUpdateAnimBg="0"/>
      <p:bldP spid="15399"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lide Number Placeholder 3"/>
          <p:cNvSpPr>
            <a:spLocks noGrp="1"/>
          </p:cNvSpPr>
          <p:nvPr>
            <p:ph type="sldNum" sz="quarter" idx="12"/>
          </p:nvPr>
        </p:nvSpPr>
        <p:spPr/>
        <p:txBody>
          <a:bodyPr/>
          <a:lstStyle/>
          <a:p>
            <a:fld id="{C361C413-868F-4D3F-AB0B-F5749C0F750A}" type="slidenum">
              <a:rPr lang="en-US"/>
              <a:pPr/>
              <a:t>93</a:t>
            </a:fld>
            <a:endParaRPr lang="en-US"/>
          </a:p>
        </p:txBody>
      </p:sp>
      <p:graphicFrame>
        <p:nvGraphicFramePr>
          <p:cNvPr id="17411" name="Object 3"/>
          <p:cNvGraphicFramePr>
            <a:graphicFrameLocks noChangeAspect="1"/>
          </p:cNvGraphicFramePr>
          <p:nvPr/>
        </p:nvGraphicFramePr>
        <p:xfrm>
          <a:off x="4724400" y="4486275"/>
          <a:ext cx="1676400" cy="515938"/>
        </p:xfrm>
        <a:graphic>
          <a:graphicData uri="http://schemas.openxmlformats.org/presentationml/2006/ole">
            <p:oleObj spid="_x0000_s544770" name="Equation" r:id="rId3" imgW="876240" imgH="241200" progId="">
              <p:embed/>
            </p:oleObj>
          </a:graphicData>
        </a:graphic>
      </p:graphicFrame>
      <p:graphicFrame>
        <p:nvGraphicFramePr>
          <p:cNvPr id="17412" name="Object 4"/>
          <p:cNvGraphicFramePr>
            <a:graphicFrameLocks noChangeAspect="1"/>
          </p:cNvGraphicFramePr>
          <p:nvPr/>
        </p:nvGraphicFramePr>
        <p:xfrm>
          <a:off x="3048000" y="4495800"/>
          <a:ext cx="1524000" cy="581025"/>
        </p:xfrm>
        <a:graphic>
          <a:graphicData uri="http://schemas.openxmlformats.org/presentationml/2006/ole">
            <p:oleObj spid="_x0000_s544771" name="Equation" r:id="rId4" imgW="533160" imgH="203040" progId="">
              <p:embed/>
            </p:oleObj>
          </a:graphicData>
        </a:graphic>
      </p:graphicFrame>
      <p:sp>
        <p:nvSpPr>
          <p:cNvPr id="17413" name="Rectangle 5"/>
          <p:cNvSpPr>
            <a:spLocks noChangeArrowheads="1"/>
          </p:cNvSpPr>
          <p:nvPr/>
        </p:nvSpPr>
        <p:spPr bwMode="auto">
          <a:xfrm>
            <a:off x="1981200" y="4343400"/>
            <a:ext cx="4495800" cy="838200"/>
          </a:xfrm>
          <a:prstGeom prst="rect">
            <a:avLst/>
          </a:prstGeom>
          <a:noFill/>
          <a:ln w="9525">
            <a:solidFill>
              <a:srgbClr val="FF0000"/>
            </a:solidFill>
            <a:miter lim="800000"/>
            <a:headEnd/>
            <a:tailEnd/>
          </a:ln>
          <a:effectLst/>
        </p:spPr>
        <p:txBody>
          <a:bodyPr wrap="none" anchor="ctr"/>
          <a:lstStyle/>
          <a:p>
            <a:pPr algn="ctr"/>
            <a:endParaRPr lang="en-US" b="1"/>
          </a:p>
        </p:txBody>
      </p:sp>
      <p:sp>
        <p:nvSpPr>
          <p:cNvPr id="17414" name="Rectangle 6"/>
          <p:cNvSpPr>
            <a:spLocks noChangeArrowheads="1"/>
          </p:cNvSpPr>
          <p:nvPr/>
        </p:nvSpPr>
        <p:spPr bwMode="auto">
          <a:xfrm>
            <a:off x="152400" y="4724400"/>
            <a:ext cx="304800" cy="396875"/>
          </a:xfrm>
          <a:prstGeom prst="rect">
            <a:avLst/>
          </a:prstGeom>
          <a:noFill/>
          <a:ln w="9525">
            <a:noFill/>
            <a:miter lim="800000"/>
            <a:headEnd/>
            <a:tailEnd/>
          </a:ln>
          <a:effectLst/>
        </p:spPr>
        <p:txBody>
          <a:bodyPr>
            <a:spAutoFit/>
          </a:bodyPr>
          <a:lstStyle/>
          <a:p>
            <a:endParaRPr lang="en-US" sz="2000" b="1">
              <a:latin typeface="Arial" pitchFamily="34" charset="0"/>
            </a:endParaRPr>
          </a:p>
        </p:txBody>
      </p:sp>
      <p:sp>
        <p:nvSpPr>
          <p:cNvPr id="17415" name="Rectangle 7"/>
          <p:cNvSpPr>
            <a:spLocks noChangeArrowheads="1"/>
          </p:cNvSpPr>
          <p:nvPr/>
        </p:nvSpPr>
        <p:spPr bwMode="auto">
          <a:xfrm>
            <a:off x="457200" y="5410200"/>
            <a:ext cx="533400" cy="396875"/>
          </a:xfrm>
          <a:prstGeom prst="rect">
            <a:avLst/>
          </a:prstGeom>
          <a:noFill/>
          <a:ln w="9525">
            <a:noFill/>
            <a:miter lim="800000"/>
            <a:headEnd/>
            <a:tailEnd/>
          </a:ln>
          <a:effectLst/>
        </p:spPr>
        <p:txBody>
          <a:bodyPr>
            <a:spAutoFit/>
          </a:bodyPr>
          <a:lstStyle/>
          <a:p>
            <a:endParaRPr lang="en-US" sz="2000" b="1">
              <a:latin typeface="Arial" pitchFamily="34" charset="0"/>
            </a:endParaRPr>
          </a:p>
        </p:txBody>
      </p:sp>
      <p:graphicFrame>
        <p:nvGraphicFramePr>
          <p:cNvPr id="17416" name="Object 8"/>
          <p:cNvGraphicFramePr>
            <a:graphicFrameLocks noChangeAspect="1"/>
          </p:cNvGraphicFramePr>
          <p:nvPr/>
        </p:nvGraphicFramePr>
        <p:xfrm>
          <a:off x="6172200" y="457200"/>
          <a:ext cx="1905000" cy="647700"/>
        </p:xfrm>
        <a:graphic>
          <a:graphicData uri="http://schemas.openxmlformats.org/presentationml/2006/ole">
            <p:oleObj spid="_x0000_s544772" name="Equation" r:id="rId5" imgW="596880" imgH="203040" progId="">
              <p:embed/>
            </p:oleObj>
          </a:graphicData>
        </a:graphic>
      </p:graphicFrame>
      <p:sp>
        <p:nvSpPr>
          <p:cNvPr id="17417" name="Rectangle 9"/>
          <p:cNvSpPr>
            <a:spLocks noChangeArrowheads="1"/>
          </p:cNvSpPr>
          <p:nvPr/>
        </p:nvSpPr>
        <p:spPr bwMode="auto">
          <a:xfrm>
            <a:off x="2133600" y="4572000"/>
            <a:ext cx="796925" cy="457200"/>
          </a:xfrm>
          <a:prstGeom prst="rect">
            <a:avLst/>
          </a:prstGeom>
          <a:noFill/>
          <a:ln w="9525">
            <a:noFill/>
            <a:miter lim="800000"/>
            <a:headEnd/>
            <a:tailEnd/>
          </a:ln>
          <a:effectLst/>
        </p:spPr>
        <p:txBody>
          <a:bodyPr wrap="none">
            <a:spAutoFit/>
          </a:bodyPr>
          <a:lstStyle/>
          <a:p>
            <a:r>
              <a:rPr lang="en-US" b="1" i="1">
                <a:solidFill>
                  <a:srgbClr val="FF0000"/>
                </a:solidFill>
              </a:rPr>
              <a:t>Z</a:t>
            </a:r>
            <a:r>
              <a:rPr lang="en-US" b="1">
                <a:solidFill>
                  <a:srgbClr val="FF0000"/>
                </a:solidFill>
              </a:rPr>
              <a:t>=2;</a:t>
            </a:r>
          </a:p>
        </p:txBody>
      </p:sp>
      <p:sp>
        <p:nvSpPr>
          <p:cNvPr id="17418" name="Rectangle 10"/>
          <p:cNvSpPr>
            <a:spLocks noChangeArrowheads="1"/>
          </p:cNvSpPr>
          <p:nvPr/>
        </p:nvSpPr>
        <p:spPr bwMode="auto">
          <a:xfrm>
            <a:off x="685800" y="5410200"/>
            <a:ext cx="7623175" cy="457200"/>
          </a:xfrm>
          <a:prstGeom prst="rect">
            <a:avLst/>
          </a:prstGeom>
          <a:noFill/>
          <a:ln w="9525">
            <a:noFill/>
            <a:miter lim="800000"/>
            <a:headEnd/>
            <a:tailEnd/>
          </a:ln>
          <a:effectLst/>
        </p:spPr>
        <p:txBody>
          <a:bodyPr wrap="none">
            <a:spAutoFit/>
          </a:bodyPr>
          <a:lstStyle/>
          <a:p>
            <a:r>
              <a:rPr lang="en-US">
                <a:latin typeface="Arial" pitchFamily="34" charset="0"/>
              </a:rPr>
              <a:t>Is this group centrosymmetric or non-centrosymmetric?</a:t>
            </a:r>
          </a:p>
        </p:txBody>
      </p:sp>
      <p:sp>
        <p:nvSpPr>
          <p:cNvPr id="17419" name="Rectangle 11"/>
          <p:cNvSpPr>
            <a:spLocks noChangeArrowheads="1"/>
          </p:cNvSpPr>
          <p:nvPr/>
        </p:nvSpPr>
        <p:spPr bwMode="auto">
          <a:xfrm>
            <a:off x="3014663" y="6019800"/>
            <a:ext cx="2808287" cy="396875"/>
          </a:xfrm>
          <a:prstGeom prst="rect">
            <a:avLst/>
          </a:prstGeom>
          <a:noFill/>
          <a:ln w="9525">
            <a:noFill/>
            <a:miter lim="800000"/>
            <a:headEnd/>
            <a:tailEnd/>
          </a:ln>
          <a:effectLst/>
        </p:spPr>
        <p:txBody>
          <a:bodyPr wrap="none">
            <a:spAutoFit/>
          </a:bodyPr>
          <a:lstStyle/>
          <a:p>
            <a:r>
              <a:rPr lang="en-US" sz="2000" b="1">
                <a:latin typeface="Arial" pitchFamily="34" charset="0"/>
              </a:rPr>
              <a:t>Non-centrosymmetric</a:t>
            </a:r>
          </a:p>
        </p:txBody>
      </p:sp>
      <p:grpSp>
        <p:nvGrpSpPr>
          <p:cNvPr id="2" name="Group 12"/>
          <p:cNvGrpSpPr>
            <a:grpSpLocks/>
          </p:cNvGrpSpPr>
          <p:nvPr/>
        </p:nvGrpSpPr>
        <p:grpSpPr bwMode="auto">
          <a:xfrm>
            <a:off x="1600200" y="1066800"/>
            <a:ext cx="5149850" cy="2841625"/>
            <a:chOff x="1008" y="672"/>
            <a:chExt cx="3244" cy="1790"/>
          </a:xfrm>
        </p:grpSpPr>
        <p:sp>
          <p:nvSpPr>
            <p:cNvPr id="17421" name="Line 13"/>
            <p:cNvSpPr>
              <a:spLocks noChangeShapeType="1"/>
            </p:cNvSpPr>
            <p:nvPr/>
          </p:nvSpPr>
          <p:spPr bwMode="auto">
            <a:xfrm>
              <a:off x="2064" y="1008"/>
              <a:ext cx="1680" cy="0"/>
            </a:xfrm>
            <a:prstGeom prst="line">
              <a:avLst/>
            </a:prstGeom>
            <a:noFill/>
            <a:ln w="19050">
              <a:solidFill>
                <a:schemeClr val="tx1"/>
              </a:solidFill>
              <a:round/>
              <a:headEnd/>
              <a:tailEnd/>
            </a:ln>
            <a:effectLst/>
          </p:spPr>
          <p:txBody>
            <a:bodyPr/>
            <a:lstStyle/>
            <a:p>
              <a:endParaRPr lang="en-US"/>
            </a:p>
          </p:txBody>
        </p:sp>
        <p:sp>
          <p:nvSpPr>
            <p:cNvPr id="17422" name="Line 14"/>
            <p:cNvSpPr>
              <a:spLocks noChangeShapeType="1"/>
            </p:cNvSpPr>
            <p:nvPr/>
          </p:nvSpPr>
          <p:spPr bwMode="auto">
            <a:xfrm flipH="1">
              <a:off x="3360" y="1008"/>
              <a:ext cx="384" cy="1104"/>
            </a:xfrm>
            <a:prstGeom prst="line">
              <a:avLst/>
            </a:prstGeom>
            <a:noFill/>
            <a:ln w="19050">
              <a:solidFill>
                <a:schemeClr val="tx1"/>
              </a:solidFill>
              <a:round/>
              <a:headEnd/>
              <a:tailEnd/>
            </a:ln>
            <a:effectLst/>
          </p:spPr>
          <p:txBody>
            <a:bodyPr/>
            <a:lstStyle/>
            <a:p>
              <a:endParaRPr lang="en-US"/>
            </a:p>
          </p:txBody>
        </p:sp>
        <p:sp>
          <p:nvSpPr>
            <p:cNvPr id="17423" name="Line 15"/>
            <p:cNvSpPr>
              <a:spLocks noChangeShapeType="1"/>
            </p:cNvSpPr>
            <p:nvPr/>
          </p:nvSpPr>
          <p:spPr bwMode="auto">
            <a:xfrm flipH="1">
              <a:off x="1632" y="1008"/>
              <a:ext cx="432" cy="1104"/>
            </a:xfrm>
            <a:prstGeom prst="line">
              <a:avLst/>
            </a:prstGeom>
            <a:noFill/>
            <a:ln w="19050">
              <a:solidFill>
                <a:schemeClr val="tx1"/>
              </a:solidFill>
              <a:round/>
              <a:headEnd/>
              <a:tailEnd/>
            </a:ln>
            <a:effectLst/>
          </p:spPr>
          <p:txBody>
            <a:bodyPr/>
            <a:lstStyle/>
            <a:p>
              <a:endParaRPr lang="en-US"/>
            </a:p>
          </p:txBody>
        </p:sp>
        <p:sp>
          <p:nvSpPr>
            <p:cNvPr id="17424" name="Line 16"/>
            <p:cNvSpPr>
              <a:spLocks noChangeShapeType="1"/>
            </p:cNvSpPr>
            <p:nvPr/>
          </p:nvSpPr>
          <p:spPr bwMode="auto">
            <a:xfrm>
              <a:off x="1632" y="2112"/>
              <a:ext cx="1728" cy="0"/>
            </a:xfrm>
            <a:prstGeom prst="line">
              <a:avLst/>
            </a:prstGeom>
            <a:noFill/>
            <a:ln w="19050">
              <a:solidFill>
                <a:schemeClr val="tx1"/>
              </a:solidFill>
              <a:round/>
              <a:headEnd/>
              <a:tailEnd/>
            </a:ln>
            <a:effectLst/>
          </p:spPr>
          <p:txBody>
            <a:bodyPr/>
            <a:lstStyle/>
            <a:p>
              <a:endParaRPr lang="en-US"/>
            </a:p>
          </p:txBody>
        </p:sp>
        <p:sp>
          <p:nvSpPr>
            <p:cNvPr id="17425" name="Line 17"/>
            <p:cNvSpPr>
              <a:spLocks noChangeShapeType="1"/>
            </p:cNvSpPr>
            <p:nvPr/>
          </p:nvSpPr>
          <p:spPr bwMode="auto">
            <a:xfrm flipH="1">
              <a:off x="2496" y="1008"/>
              <a:ext cx="384" cy="1104"/>
            </a:xfrm>
            <a:prstGeom prst="line">
              <a:avLst/>
            </a:prstGeom>
            <a:noFill/>
            <a:ln w="19050">
              <a:solidFill>
                <a:schemeClr val="tx1"/>
              </a:solidFill>
              <a:round/>
              <a:headEnd/>
              <a:tailEnd/>
            </a:ln>
            <a:effectLst/>
          </p:spPr>
          <p:txBody>
            <a:bodyPr/>
            <a:lstStyle/>
            <a:p>
              <a:endParaRPr lang="en-US"/>
            </a:p>
          </p:txBody>
        </p:sp>
        <p:grpSp>
          <p:nvGrpSpPr>
            <p:cNvPr id="3" name="Group 18"/>
            <p:cNvGrpSpPr>
              <a:grpSpLocks/>
            </p:cNvGrpSpPr>
            <p:nvPr/>
          </p:nvGrpSpPr>
          <p:grpSpPr bwMode="auto">
            <a:xfrm>
              <a:off x="3840" y="1056"/>
              <a:ext cx="412" cy="254"/>
              <a:chOff x="3792" y="2112"/>
              <a:chExt cx="412" cy="254"/>
            </a:xfrm>
          </p:grpSpPr>
          <p:sp>
            <p:nvSpPr>
              <p:cNvPr id="17427" name="Oval 19"/>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7428" name="Rectangle 20"/>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7429" name="Oval 21"/>
            <p:cNvSpPr>
              <a:spLocks noChangeArrowheads="1"/>
            </p:cNvSpPr>
            <p:nvPr/>
          </p:nvSpPr>
          <p:spPr bwMode="auto">
            <a:xfrm>
              <a:off x="1776" y="672"/>
              <a:ext cx="240" cy="254"/>
            </a:xfrm>
            <a:prstGeom prst="ellipse">
              <a:avLst/>
            </a:prstGeom>
            <a:noFill/>
            <a:ln w="12700">
              <a:solidFill>
                <a:srgbClr val="0000FF"/>
              </a:solidFill>
              <a:round/>
              <a:headEnd/>
              <a:tailEnd/>
            </a:ln>
          </p:spPr>
          <p:txBody>
            <a:bodyPr/>
            <a:lstStyle/>
            <a:p>
              <a:endParaRPr lang="en-US"/>
            </a:p>
          </p:txBody>
        </p:sp>
        <p:sp>
          <p:nvSpPr>
            <p:cNvPr id="17430" name="Rectangle 22"/>
            <p:cNvSpPr>
              <a:spLocks noChangeArrowheads="1"/>
            </p:cNvSpPr>
            <p:nvPr/>
          </p:nvSpPr>
          <p:spPr bwMode="auto">
            <a:xfrm>
              <a:off x="1632" y="720"/>
              <a:ext cx="172" cy="173"/>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grpSp>
          <p:nvGrpSpPr>
            <p:cNvPr id="4" name="Group 23"/>
            <p:cNvGrpSpPr>
              <a:grpSpLocks/>
            </p:cNvGrpSpPr>
            <p:nvPr/>
          </p:nvGrpSpPr>
          <p:grpSpPr bwMode="auto">
            <a:xfrm>
              <a:off x="2112" y="1056"/>
              <a:ext cx="412" cy="254"/>
              <a:chOff x="3792" y="2112"/>
              <a:chExt cx="412" cy="254"/>
            </a:xfrm>
          </p:grpSpPr>
          <p:sp>
            <p:nvSpPr>
              <p:cNvPr id="17432" name="Oval 24"/>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7433" name="Rectangle 25"/>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5" name="Group 26"/>
            <p:cNvGrpSpPr>
              <a:grpSpLocks/>
            </p:cNvGrpSpPr>
            <p:nvPr/>
          </p:nvGrpSpPr>
          <p:grpSpPr bwMode="auto">
            <a:xfrm>
              <a:off x="1632" y="2208"/>
              <a:ext cx="412" cy="254"/>
              <a:chOff x="3792" y="2112"/>
              <a:chExt cx="412" cy="254"/>
            </a:xfrm>
          </p:grpSpPr>
          <p:sp>
            <p:nvSpPr>
              <p:cNvPr id="17435" name="Oval 27"/>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7436" name="Rectangle 28"/>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6" name="Group 29"/>
            <p:cNvGrpSpPr>
              <a:grpSpLocks/>
            </p:cNvGrpSpPr>
            <p:nvPr/>
          </p:nvGrpSpPr>
          <p:grpSpPr bwMode="auto">
            <a:xfrm>
              <a:off x="3408" y="2208"/>
              <a:ext cx="412" cy="254"/>
              <a:chOff x="3792" y="2112"/>
              <a:chExt cx="412" cy="254"/>
            </a:xfrm>
          </p:grpSpPr>
          <p:sp>
            <p:nvSpPr>
              <p:cNvPr id="17438" name="Oval 30"/>
              <p:cNvSpPr>
                <a:spLocks noChangeArrowheads="1"/>
              </p:cNvSpPr>
              <p:nvPr/>
            </p:nvSpPr>
            <p:spPr bwMode="auto">
              <a:xfrm>
                <a:off x="3792" y="2112"/>
                <a:ext cx="254" cy="254"/>
              </a:xfrm>
              <a:prstGeom prst="ellipse">
                <a:avLst/>
              </a:prstGeom>
              <a:noFill/>
              <a:ln w="12700">
                <a:solidFill>
                  <a:srgbClr val="000000"/>
                </a:solidFill>
                <a:round/>
                <a:headEnd/>
                <a:tailEnd/>
              </a:ln>
            </p:spPr>
            <p:txBody>
              <a:bodyPr/>
              <a:lstStyle/>
              <a:p>
                <a:endParaRPr lang="en-US"/>
              </a:p>
            </p:txBody>
          </p:sp>
          <p:sp>
            <p:nvSpPr>
              <p:cNvPr id="17439" name="Rectangle 31"/>
              <p:cNvSpPr>
                <a:spLocks noChangeArrowheads="1"/>
              </p:cNvSpPr>
              <p:nvPr/>
            </p:nvSpPr>
            <p:spPr bwMode="auto">
              <a:xfrm>
                <a:off x="4032" y="213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7440" name="Line 32"/>
            <p:cNvSpPr>
              <a:spLocks noChangeShapeType="1"/>
            </p:cNvSpPr>
            <p:nvPr/>
          </p:nvSpPr>
          <p:spPr bwMode="auto">
            <a:xfrm>
              <a:off x="1872" y="1536"/>
              <a:ext cx="1680" cy="0"/>
            </a:xfrm>
            <a:prstGeom prst="line">
              <a:avLst/>
            </a:prstGeom>
            <a:noFill/>
            <a:ln w="19050">
              <a:solidFill>
                <a:schemeClr val="tx1"/>
              </a:solidFill>
              <a:round/>
              <a:headEnd/>
              <a:tailEnd/>
            </a:ln>
            <a:effectLst/>
          </p:spPr>
          <p:txBody>
            <a:bodyPr/>
            <a:lstStyle/>
            <a:p>
              <a:endParaRPr lang="en-US"/>
            </a:p>
          </p:txBody>
        </p:sp>
        <p:sp>
          <p:nvSpPr>
            <p:cNvPr id="17441" name="Rectangle 33"/>
            <p:cNvSpPr>
              <a:spLocks noChangeArrowheads="1"/>
            </p:cNvSpPr>
            <p:nvPr/>
          </p:nvSpPr>
          <p:spPr bwMode="auto">
            <a:xfrm>
              <a:off x="1536" y="720"/>
              <a:ext cx="196"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½</a:t>
              </a:r>
            </a:p>
          </p:txBody>
        </p:sp>
        <p:grpSp>
          <p:nvGrpSpPr>
            <p:cNvPr id="7" name="Group 34"/>
            <p:cNvGrpSpPr>
              <a:grpSpLocks/>
            </p:cNvGrpSpPr>
            <p:nvPr/>
          </p:nvGrpSpPr>
          <p:grpSpPr bwMode="auto">
            <a:xfrm>
              <a:off x="1008" y="1776"/>
              <a:ext cx="522" cy="254"/>
              <a:chOff x="1008" y="1776"/>
              <a:chExt cx="522" cy="254"/>
            </a:xfrm>
          </p:grpSpPr>
          <p:grpSp>
            <p:nvGrpSpPr>
              <p:cNvPr id="8" name="Group 35"/>
              <p:cNvGrpSpPr>
                <a:grpSpLocks/>
              </p:cNvGrpSpPr>
              <p:nvPr/>
            </p:nvGrpSpPr>
            <p:grpSpPr bwMode="auto">
              <a:xfrm>
                <a:off x="1104" y="1776"/>
                <a:ext cx="426" cy="254"/>
                <a:chOff x="4004" y="1858"/>
                <a:chExt cx="426" cy="254"/>
              </a:xfrm>
            </p:grpSpPr>
            <p:sp>
              <p:nvSpPr>
                <p:cNvPr id="17444" name="Oval 36"/>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17445" name="Rectangle 37"/>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7446" name="Rectangle 38"/>
              <p:cNvSpPr>
                <a:spLocks noChangeArrowheads="1"/>
              </p:cNvSpPr>
              <p:nvPr/>
            </p:nvSpPr>
            <p:spPr bwMode="auto">
              <a:xfrm>
                <a:off x="1008" y="1824"/>
                <a:ext cx="196"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½</a:t>
                </a:r>
              </a:p>
            </p:txBody>
          </p:sp>
        </p:grpSp>
        <p:grpSp>
          <p:nvGrpSpPr>
            <p:cNvPr id="9" name="Group 39"/>
            <p:cNvGrpSpPr>
              <a:grpSpLocks/>
            </p:cNvGrpSpPr>
            <p:nvPr/>
          </p:nvGrpSpPr>
          <p:grpSpPr bwMode="auto">
            <a:xfrm>
              <a:off x="2784" y="1776"/>
              <a:ext cx="522" cy="254"/>
              <a:chOff x="1008" y="1776"/>
              <a:chExt cx="522" cy="254"/>
            </a:xfrm>
          </p:grpSpPr>
          <p:grpSp>
            <p:nvGrpSpPr>
              <p:cNvPr id="10" name="Group 40"/>
              <p:cNvGrpSpPr>
                <a:grpSpLocks/>
              </p:cNvGrpSpPr>
              <p:nvPr/>
            </p:nvGrpSpPr>
            <p:grpSpPr bwMode="auto">
              <a:xfrm>
                <a:off x="1104" y="1776"/>
                <a:ext cx="426" cy="254"/>
                <a:chOff x="4004" y="1858"/>
                <a:chExt cx="426" cy="254"/>
              </a:xfrm>
            </p:grpSpPr>
            <p:sp>
              <p:nvSpPr>
                <p:cNvPr id="17449" name="Oval 41"/>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17450" name="Rectangle 42"/>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7451" name="Rectangle 43"/>
              <p:cNvSpPr>
                <a:spLocks noChangeArrowheads="1"/>
              </p:cNvSpPr>
              <p:nvPr/>
            </p:nvSpPr>
            <p:spPr bwMode="auto">
              <a:xfrm>
                <a:off x="1008" y="1824"/>
                <a:ext cx="196"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½</a:t>
                </a:r>
              </a:p>
            </p:txBody>
          </p:sp>
        </p:grpSp>
        <p:grpSp>
          <p:nvGrpSpPr>
            <p:cNvPr id="11" name="Group 44"/>
            <p:cNvGrpSpPr>
              <a:grpSpLocks/>
            </p:cNvGrpSpPr>
            <p:nvPr/>
          </p:nvGrpSpPr>
          <p:grpSpPr bwMode="auto">
            <a:xfrm>
              <a:off x="3120" y="672"/>
              <a:ext cx="522" cy="254"/>
              <a:chOff x="1008" y="1776"/>
              <a:chExt cx="522" cy="254"/>
            </a:xfrm>
          </p:grpSpPr>
          <p:grpSp>
            <p:nvGrpSpPr>
              <p:cNvPr id="12" name="Group 45"/>
              <p:cNvGrpSpPr>
                <a:grpSpLocks/>
              </p:cNvGrpSpPr>
              <p:nvPr/>
            </p:nvGrpSpPr>
            <p:grpSpPr bwMode="auto">
              <a:xfrm>
                <a:off x="1104" y="1776"/>
                <a:ext cx="426" cy="254"/>
                <a:chOff x="4004" y="1858"/>
                <a:chExt cx="426" cy="254"/>
              </a:xfrm>
            </p:grpSpPr>
            <p:sp>
              <p:nvSpPr>
                <p:cNvPr id="17454" name="Oval 46"/>
                <p:cNvSpPr>
                  <a:spLocks noChangeArrowheads="1"/>
                </p:cNvSpPr>
                <p:nvPr/>
              </p:nvSpPr>
              <p:spPr bwMode="auto">
                <a:xfrm>
                  <a:off x="4176" y="1858"/>
                  <a:ext cx="254" cy="254"/>
                </a:xfrm>
                <a:prstGeom prst="ellipse">
                  <a:avLst/>
                </a:prstGeom>
                <a:noFill/>
                <a:ln w="12700">
                  <a:solidFill>
                    <a:srgbClr val="000000"/>
                  </a:solidFill>
                  <a:round/>
                  <a:headEnd/>
                  <a:tailEnd/>
                </a:ln>
              </p:spPr>
              <p:txBody>
                <a:bodyPr/>
                <a:lstStyle/>
                <a:p>
                  <a:endParaRPr lang="en-US"/>
                </a:p>
              </p:txBody>
            </p:sp>
            <p:sp>
              <p:nvSpPr>
                <p:cNvPr id="17455" name="Rectangle 47"/>
                <p:cNvSpPr>
                  <a:spLocks noChangeArrowheads="1"/>
                </p:cNvSpPr>
                <p:nvPr/>
              </p:nvSpPr>
              <p:spPr bwMode="auto">
                <a:xfrm>
                  <a:off x="4004" y="1891"/>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sp>
            <p:nvSpPr>
              <p:cNvPr id="17456" name="Rectangle 48"/>
              <p:cNvSpPr>
                <a:spLocks noChangeArrowheads="1"/>
              </p:cNvSpPr>
              <p:nvPr/>
            </p:nvSpPr>
            <p:spPr bwMode="auto">
              <a:xfrm>
                <a:off x="1008" y="1824"/>
                <a:ext cx="196"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½</a:t>
                </a:r>
              </a:p>
            </p:txBody>
          </p:sp>
        </p:grpSp>
        <p:pic>
          <p:nvPicPr>
            <p:cNvPr id="17457" name="Picture 49"/>
            <p:cNvPicPr>
              <a:picLocks noChangeAspect="1" noChangeArrowheads="1"/>
            </p:cNvPicPr>
            <p:nvPr/>
          </p:nvPicPr>
          <p:blipFill>
            <a:blip r:embed="rId6" cstate="print"/>
            <a:srcRect/>
            <a:stretch>
              <a:fillRect/>
            </a:stretch>
          </p:blipFill>
          <p:spPr bwMode="auto">
            <a:xfrm>
              <a:off x="1584" y="2016"/>
              <a:ext cx="95" cy="192"/>
            </a:xfrm>
            <a:prstGeom prst="rect">
              <a:avLst/>
            </a:prstGeom>
            <a:noFill/>
            <a:ln w="9525">
              <a:noFill/>
              <a:miter lim="800000"/>
              <a:headEnd/>
              <a:tailEnd/>
            </a:ln>
          </p:spPr>
        </p:pic>
        <p:pic>
          <p:nvPicPr>
            <p:cNvPr id="17458" name="Picture 50"/>
            <p:cNvPicPr>
              <a:picLocks noChangeAspect="1" noChangeArrowheads="1"/>
            </p:cNvPicPr>
            <p:nvPr/>
          </p:nvPicPr>
          <p:blipFill>
            <a:blip r:embed="rId6" cstate="print"/>
            <a:srcRect/>
            <a:stretch>
              <a:fillRect/>
            </a:stretch>
          </p:blipFill>
          <p:spPr bwMode="auto">
            <a:xfrm>
              <a:off x="3696" y="912"/>
              <a:ext cx="95" cy="192"/>
            </a:xfrm>
            <a:prstGeom prst="rect">
              <a:avLst/>
            </a:prstGeom>
            <a:noFill/>
            <a:ln w="9525">
              <a:noFill/>
              <a:miter lim="800000"/>
              <a:headEnd/>
              <a:tailEnd/>
            </a:ln>
          </p:spPr>
        </p:pic>
        <p:pic>
          <p:nvPicPr>
            <p:cNvPr id="17459" name="Picture 51"/>
            <p:cNvPicPr>
              <a:picLocks noChangeAspect="1" noChangeArrowheads="1"/>
            </p:cNvPicPr>
            <p:nvPr/>
          </p:nvPicPr>
          <p:blipFill>
            <a:blip r:embed="rId6" cstate="print"/>
            <a:srcRect/>
            <a:stretch>
              <a:fillRect/>
            </a:stretch>
          </p:blipFill>
          <p:spPr bwMode="auto">
            <a:xfrm>
              <a:off x="3312" y="2016"/>
              <a:ext cx="95" cy="192"/>
            </a:xfrm>
            <a:prstGeom prst="rect">
              <a:avLst/>
            </a:prstGeom>
            <a:noFill/>
            <a:ln w="9525">
              <a:noFill/>
              <a:miter lim="800000"/>
              <a:headEnd/>
              <a:tailEnd/>
            </a:ln>
          </p:spPr>
        </p:pic>
        <p:pic>
          <p:nvPicPr>
            <p:cNvPr id="17460" name="Picture 52"/>
            <p:cNvPicPr>
              <a:picLocks noChangeAspect="1" noChangeArrowheads="1"/>
            </p:cNvPicPr>
            <p:nvPr/>
          </p:nvPicPr>
          <p:blipFill>
            <a:blip r:embed="rId6" cstate="print"/>
            <a:srcRect/>
            <a:stretch>
              <a:fillRect/>
            </a:stretch>
          </p:blipFill>
          <p:spPr bwMode="auto">
            <a:xfrm>
              <a:off x="2016" y="912"/>
              <a:ext cx="95" cy="192"/>
            </a:xfrm>
            <a:prstGeom prst="rect">
              <a:avLst/>
            </a:prstGeom>
            <a:noFill/>
            <a:ln w="9525">
              <a:noFill/>
              <a:miter lim="800000"/>
              <a:headEnd/>
              <a:tailEnd/>
            </a:ln>
          </p:spPr>
        </p:pic>
        <p:pic>
          <p:nvPicPr>
            <p:cNvPr id="17461" name="Picture 53"/>
            <p:cNvPicPr>
              <a:picLocks noChangeAspect="1" noChangeArrowheads="1"/>
            </p:cNvPicPr>
            <p:nvPr/>
          </p:nvPicPr>
          <p:blipFill>
            <a:blip r:embed="rId7" cstate="print"/>
            <a:srcRect t="43166" r="30534"/>
            <a:stretch>
              <a:fillRect/>
            </a:stretch>
          </p:blipFill>
          <p:spPr bwMode="auto">
            <a:xfrm>
              <a:off x="3504" y="1419"/>
              <a:ext cx="121" cy="213"/>
            </a:xfrm>
            <a:prstGeom prst="rect">
              <a:avLst/>
            </a:prstGeom>
            <a:noFill/>
            <a:ln w="9525">
              <a:noFill/>
              <a:miter lim="800000"/>
              <a:headEnd/>
              <a:tailEnd/>
            </a:ln>
          </p:spPr>
        </p:pic>
        <p:pic>
          <p:nvPicPr>
            <p:cNvPr id="17462" name="Picture 54"/>
            <p:cNvPicPr>
              <a:picLocks noChangeAspect="1" noChangeArrowheads="1"/>
            </p:cNvPicPr>
            <p:nvPr/>
          </p:nvPicPr>
          <p:blipFill>
            <a:blip r:embed="rId7" cstate="print"/>
            <a:srcRect t="43166" r="30534"/>
            <a:stretch>
              <a:fillRect/>
            </a:stretch>
          </p:blipFill>
          <p:spPr bwMode="auto">
            <a:xfrm>
              <a:off x="2448" y="2005"/>
              <a:ext cx="121" cy="213"/>
            </a:xfrm>
            <a:prstGeom prst="rect">
              <a:avLst/>
            </a:prstGeom>
            <a:noFill/>
            <a:ln w="9525">
              <a:noFill/>
              <a:miter lim="800000"/>
              <a:headEnd/>
              <a:tailEnd/>
            </a:ln>
          </p:spPr>
        </p:pic>
        <p:pic>
          <p:nvPicPr>
            <p:cNvPr id="17463" name="Picture 55"/>
            <p:cNvPicPr>
              <a:picLocks noChangeAspect="1" noChangeArrowheads="1"/>
            </p:cNvPicPr>
            <p:nvPr/>
          </p:nvPicPr>
          <p:blipFill>
            <a:blip r:embed="rId7" cstate="print"/>
            <a:srcRect t="43166" r="30534"/>
            <a:stretch>
              <a:fillRect/>
            </a:stretch>
          </p:blipFill>
          <p:spPr bwMode="auto">
            <a:xfrm>
              <a:off x="2640" y="1419"/>
              <a:ext cx="121" cy="213"/>
            </a:xfrm>
            <a:prstGeom prst="rect">
              <a:avLst/>
            </a:prstGeom>
            <a:noFill/>
            <a:ln w="9525">
              <a:noFill/>
              <a:miter lim="800000"/>
              <a:headEnd/>
              <a:tailEnd/>
            </a:ln>
          </p:spPr>
        </p:pic>
        <p:pic>
          <p:nvPicPr>
            <p:cNvPr id="17464" name="Picture 56"/>
            <p:cNvPicPr>
              <a:picLocks noChangeAspect="1" noChangeArrowheads="1"/>
            </p:cNvPicPr>
            <p:nvPr/>
          </p:nvPicPr>
          <p:blipFill>
            <a:blip r:embed="rId7" cstate="print"/>
            <a:srcRect t="43166" r="30534"/>
            <a:stretch>
              <a:fillRect/>
            </a:stretch>
          </p:blipFill>
          <p:spPr bwMode="auto">
            <a:xfrm>
              <a:off x="1799" y="1419"/>
              <a:ext cx="121" cy="213"/>
            </a:xfrm>
            <a:prstGeom prst="rect">
              <a:avLst/>
            </a:prstGeom>
            <a:noFill/>
            <a:ln w="9525">
              <a:noFill/>
              <a:miter lim="800000"/>
              <a:headEnd/>
              <a:tailEnd/>
            </a:ln>
          </p:spPr>
        </p:pic>
        <p:pic>
          <p:nvPicPr>
            <p:cNvPr id="17465" name="Picture 57"/>
            <p:cNvPicPr>
              <a:picLocks noChangeAspect="1" noChangeArrowheads="1"/>
            </p:cNvPicPr>
            <p:nvPr/>
          </p:nvPicPr>
          <p:blipFill>
            <a:blip r:embed="rId7" cstate="print"/>
            <a:srcRect t="43166" r="30534"/>
            <a:stretch>
              <a:fillRect/>
            </a:stretch>
          </p:blipFill>
          <p:spPr bwMode="auto">
            <a:xfrm>
              <a:off x="2807" y="912"/>
              <a:ext cx="121" cy="213"/>
            </a:xfrm>
            <a:prstGeom prst="rect">
              <a:avLst/>
            </a:prstGeom>
            <a:noFill/>
            <a:ln w="9525">
              <a:noFill/>
              <a:miter lim="800000"/>
              <a:headEnd/>
              <a:tailEnd/>
            </a:ln>
          </p:spPr>
        </p:pic>
      </p:grpSp>
      <p:grpSp>
        <p:nvGrpSpPr>
          <p:cNvPr id="13" name="Group 59"/>
          <p:cNvGrpSpPr>
            <a:grpSpLocks noChangeAspect="1"/>
          </p:cNvGrpSpPr>
          <p:nvPr/>
        </p:nvGrpSpPr>
        <p:grpSpPr bwMode="auto">
          <a:xfrm>
            <a:off x="457200" y="381000"/>
            <a:ext cx="4692650" cy="1735138"/>
            <a:chOff x="288" y="240"/>
            <a:chExt cx="2956" cy="1093"/>
          </a:xfrm>
        </p:grpSpPr>
        <p:sp>
          <p:nvSpPr>
            <p:cNvPr id="17466" name="AutoShape 58"/>
            <p:cNvSpPr>
              <a:spLocks noChangeAspect="1" noChangeArrowheads="1" noTextEdit="1"/>
            </p:cNvSpPr>
            <p:nvPr/>
          </p:nvSpPr>
          <p:spPr bwMode="auto">
            <a:xfrm>
              <a:off x="288" y="240"/>
              <a:ext cx="1577" cy="1093"/>
            </a:xfrm>
            <a:prstGeom prst="rect">
              <a:avLst/>
            </a:prstGeom>
            <a:noFill/>
            <a:ln w="9525">
              <a:noFill/>
              <a:miter lim="800000"/>
              <a:headEnd/>
              <a:tailEnd/>
            </a:ln>
          </p:spPr>
          <p:txBody>
            <a:bodyPr/>
            <a:lstStyle/>
            <a:p>
              <a:endParaRPr lang="en-US"/>
            </a:p>
          </p:txBody>
        </p:sp>
        <p:grpSp>
          <p:nvGrpSpPr>
            <p:cNvPr id="14" name="Group 62"/>
            <p:cNvGrpSpPr>
              <a:grpSpLocks/>
            </p:cNvGrpSpPr>
            <p:nvPr/>
          </p:nvGrpSpPr>
          <p:grpSpPr bwMode="auto">
            <a:xfrm>
              <a:off x="976" y="412"/>
              <a:ext cx="171" cy="301"/>
              <a:chOff x="976" y="412"/>
              <a:chExt cx="171" cy="301"/>
            </a:xfrm>
          </p:grpSpPr>
          <p:sp>
            <p:nvSpPr>
              <p:cNvPr id="17468" name="Freeform 60"/>
              <p:cNvSpPr>
                <a:spLocks/>
              </p:cNvSpPr>
              <p:nvPr/>
            </p:nvSpPr>
            <p:spPr bwMode="auto">
              <a:xfrm>
                <a:off x="997" y="412"/>
                <a:ext cx="150" cy="254"/>
              </a:xfrm>
              <a:custGeom>
                <a:avLst/>
                <a:gdLst/>
                <a:ahLst/>
                <a:cxnLst>
                  <a:cxn ang="0">
                    <a:pos x="150" y="4"/>
                  </a:cxn>
                  <a:cxn ang="0">
                    <a:pos x="146" y="0"/>
                  </a:cxn>
                  <a:cxn ang="0">
                    <a:pos x="0" y="250"/>
                  </a:cxn>
                  <a:cxn ang="0">
                    <a:pos x="4" y="254"/>
                  </a:cxn>
                  <a:cxn ang="0">
                    <a:pos x="150" y="4"/>
                  </a:cxn>
                </a:cxnLst>
                <a:rect l="0" t="0" r="r" b="b"/>
                <a:pathLst>
                  <a:path w="150" h="254">
                    <a:moveTo>
                      <a:pt x="150" y="4"/>
                    </a:moveTo>
                    <a:lnTo>
                      <a:pt x="146" y="0"/>
                    </a:lnTo>
                    <a:lnTo>
                      <a:pt x="0" y="250"/>
                    </a:lnTo>
                    <a:lnTo>
                      <a:pt x="4" y="254"/>
                    </a:lnTo>
                    <a:lnTo>
                      <a:pt x="150" y="4"/>
                    </a:lnTo>
                    <a:close/>
                  </a:path>
                </a:pathLst>
              </a:custGeom>
              <a:solidFill>
                <a:srgbClr val="000000"/>
              </a:solidFill>
              <a:ln w="9525">
                <a:noFill/>
                <a:round/>
                <a:headEnd/>
                <a:tailEnd/>
              </a:ln>
            </p:spPr>
            <p:txBody>
              <a:bodyPr/>
              <a:lstStyle/>
              <a:p>
                <a:endParaRPr lang="en-US"/>
              </a:p>
            </p:txBody>
          </p:sp>
          <p:sp>
            <p:nvSpPr>
              <p:cNvPr id="17469" name="Freeform 61"/>
              <p:cNvSpPr>
                <a:spLocks/>
              </p:cNvSpPr>
              <p:nvPr/>
            </p:nvSpPr>
            <p:spPr bwMode="auto">
              <a:xfrm>
                <a:off x="976" y="636"/>
                <a:ext cx="64" cy="77"/>
              </a:xfrm>
              <a:custGeom>
                <a:avLst/>
                <a:gdLst/>
                <a:ahLst/>
                <a:cxnLst>
                  <a:cxn ang="0">
                    <a:pos x="4" y="0"/>
                  </a:cxn>
                  <a:cxn ang="0">
                    <a:pos x="0" y="77"/>
                  </a:cxn>
                  <a:cxn ang="0">
                    <a:pos x="64" y="34"/>
                  </a:cxn>
                  <a:cxn ang="0">
                    <a:pos x="4" y="0"/>
                  </a:cxn>
                </a:cxnLst>
                <a:rect l="0" t="0" r="r" b="b"/>
                <a:pathLst>
                  <a:path w="64" h="77">
                    <a:moveTo>
                      <a:pt x="4" y="0"/>
                    </a:moveTo>
                    <a:lnTo>
                      <a:pt x="0" y="77"/>
                    </a:lnTo>
                    <a:lnTo>
                      <a:pt x="64" y="34"/>
                    </a:lnTo>
                    <a:lnTo>
                      <a:pt x="4" y="0"/>
                    </a:lnTo>
                    <a:close/>
                  </a:path>
                </a:pathLst>
              </a:custGeom>
              <a:solidFill>
                <a:srgbClr val="000000"/>
              </a:solidFill>
              <a:ln w="9525">
                <a:noFill/>
                <a:round/>
                <a:headEnd/>
                <a:tailEnd/>
              </a:ln>
            </p:spPr>
            <p:txBody>
              <a:bodyPr/>
              <a:lstStyle/>
              <a:p>
                <a:endParaRPr lang="en-US"/>
              </a:p>
            </p:txBody>
          </p:sp>
        </p:grpSp>
        <p:grpSp>
          <p:nvGrpSpPr>
            <p:cNvPr id="15" name="Group 65"/>
            <p:cNvGrpSpPr>
              <a:grpSpLocks/>
            </p:cNvGrpSpPr>
            <p:nvPr/>
          </p:nvGrpSpPr>
          <p:grpSpPr bwMode="auto">
            <a:xfrm>
              <a:off x="1143" y="378"/>
              <a:ext cx="434" cy="73"/>
              <a:chOff x="1143" y="378"/>
              <a:chExt cx="434" cy="73"/>
            </a:xfrm>
          </p:grpSpPr>
          <p:sp>
            <p:nvSpPr>
              <p:cNvPr id="17471" name="Rectangle 63"/>
              <p:cNvSpPr>
                <a:spLocks noChangeArrowheads="1"/>
              </p:cNvSpPr>
              <p:nvPr/>
            </p:nvSpPr>
            <p:spPr bwMode="auto">
              <a:xfrm>
                <a:off x="1143" y="408"/>
                <a:ext cx="370" cy="8"/>
              </a:xfrm>
              <a:prstGeom prst="rect">
                <a:avLst/>
              </a:prstGeom>
              <a:solidFill>
                <a:srgbClr val="000000"/>
              </a:solidFill>
              <a:ln w="9525">
                <a:noFill/>
                <a:miter lim="800000"/>
                <a:headEnd/>
                <a:tailEnd/>
              </a:ln>
            </p:spPr>
            <p:txBody>
              <a:bodyPr/>
              <a:lstStyle/>
              <a:p>
                <a:endParaRPr lang="en-US"/>
              </a:p>
            </p:txBody>
          </p:sp>
          <p:sp>
            <p:nvSpPr>
              <p:cNvPr id="17472" name="Freeform 64"/>
              <p:cNvSpPr>
                <a:spLocks/>
              </p:cNvSpPr>
              <p:nvPr/>
            </p:nvSpPr>
            <p:spPr bwMode="auto">
              <a:xfrm>
                <a:off x="1504" y="378"/>
                <a:ext cx="73" cy="73"/>
              </a:xfrm>
              <a:custGeom>
                <a:avLst/>
                <a:gdLst/>
                <a:ahLst/>
                <a:cxnLst>
                  <a:cxn ang="0">
                    <a:pos x="0" y="73"/>
                  </a:cxn>
                  <a:cxn ang="0">
                    <a:pos x="73" y="34"/>
                  </a:cxn>
                  <a:cxn ang="0">
                    <a:pos x="0" y="0"/>
                  </a:cxn>
                  <a:cxn ang="0">
                    <a:pos x="0" y="73"/>
                  </a:cxn>
                </a:cxnLst>
                <a:rect l="0" t="0" r="r" b="b"/>
                <a:pathLst>
                  <a:path w="73" h="73">
                    <a:moveTo>
                      <a:pt x="0" y="73"/>
                    </a:moveTo>
                    <a:lnTo>
                      <a:pt x="73" y="34"/>
                    </a:lnTo>
                    <a:lnTo>
                      <a:pt x="0" y="0"/>
                    </a:lnTo>
                    <a:lnTo>
                      <a:pt x="0" y="73"/>
                    </a:lnTo>
                    <a:close/>
                  </a:path>
                </a:pathLst>
              </a:custGeom>
              <a:solidFill>
                <a:srgbClr val="000000"/>
              </a:solidFill>
              <a:ln w="9525">
                <a:noFill/>
                <a:round/>
                <a:headEnd/>
                <a:tailEnd/>
              </a:ln>
            </p:spPr>
            <p:txBody>
              <a:bodyPr/>
              <a:lstStyle/>
              <a:p>
                <a:endParaRPr lang="en-US"/>
              </a:p>
            </p:txBody>
          </p:sp>
        </p:grpSp>
        <p:sp>
          <p:nvSpPr>
            <p:cNvPr id="17474" name="Rectangle 66"/>
            <p:cNvSpPr>
              <a:spLocks noChangeArrowheads="1"/>
            </p:cNvSpPr>
            <p:nvPr/>
          </p:nvSpPr>
          <p:spPr bwMode="auto">
            <a:xfrm>
              <a:off x="1195" y="610"/>
              <a:ext cx="1628" cy="413"/>
            </a:xfrm>
            <a:prstGeom prst="rect">
              <a:avLst/>
            </a:prstGeom>
            <a:noFill/>
            <a:ln w="9525">
              <a:noFill/>
              <a:miter lim="800000"/>
              <a:headEnd/>
              <a:tailEnd/>
            </a:ln>
          </p:spPr>
          <p:txBody>
            <a:bodyPr/>
            <a:lstStyle/>
            <a:p>
              <a:endParaRPr lang="en-US"/>
            </a:p>
          </p:txBody>
        </p:sp>
        <p:sp>
          <p:nvSpPr>
            <p:cNvPr id="17475" name="Rectangle 67"/>
            <p:cNvSpPr>
              <a:spLocks noChangeArrowheads="1"/>
            </p:cNvSpPr>
            <p:nvPr/>
          </p:nvSpPr>
          <p:spPr bwMode="auto">
            <a:xfrm>
              <a:off x="1246" y="640"/>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17476" name="Rectangle 68"/>
            <p:cNvSpPr>
              <a:spLocks noChangeArrowheads="1"/>
            </p:cNvSpPr>
            <p:nvPr/>
          </p:nvSpPr>
          <p:spPr bwMode="auto">
            <a:xfrm>
              <a:off x="1616" y="283"/>
              <a:ext cx="1628" cy="409"/>
            </a:xfrm>
            <a:prstGeom prst="rect">
              <a:avLst/>
            </a:prstGeom>
            <a:noFill/>
            <a:ln w="9525">
              <a:noFill/>
              <a:miter lim="800000"/>
              <a:headEnd/>
              <a:tailEnd/>
            </a:ln>
          </p:spPr>
          <p:txBody>
            <a:bodyPr/>
            <a:lstStyle/>
            <a:p>
              <a:endParaRPr lang="en-US"/>
            </a:p>
          </p:txBody>
        </p:sp>
        <p:sp>
          <p:nvSpPr>
            <p:cNvPr id="17477" name="Rectangle 69"/>
            <p:cNvSpPr>
              <a:spLocks noChangeArrowheads="1"/>
            </p:cNvSpPr>
            <p:nvPr/>
          </p:nvSpPr>
          <p:spPr bwMode="auto">
            <a:xfrm>
              <a:off x="1667" y="309"/>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17478" name="Rectangle 70"/>
            <p:cNvSpPr>
              <a:spLocks noChangeArrowheads="1"/>
            </p:cNvSpPr>
            <p:nvPr/>
          </p:nvSpPr>
          <p:spPr bwMode="auto">
            <a:xfrm>
              <a:off x="1762" y="30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17479" name="Rectangle 71"/>
            <p:cNvSpPr>
              <a:spLocks noChangeArrowheads="1"/>
            </p:cNvSpPr>
            <p:nvPr/>
          </p:nvSpPr>
          <p:spPr bwMode="auto">
            <a:xfrm>
              <a:off x="847" y="713"/>
              <a:ext cx="1628" cy="409"/>
            </a:xfrm>
            <a:prstGeom prst="rect">
              <a:avLst/>
            </a:prstGeom>
            <a:noFill/>
            <a:ln w="9525">
              <a:noFill/>
              <a:miter lim="800000"/>
              <a:headEnd/>
              <a:tailEnd/>
            </a:ln>
          </p:spPr>
          <p:txBody>
            <a:bodyPr/>
            <a:lstStyle/>
            <a:p>
              <a:endParaRPr lang="en-US"/>
            </a:p>
          </p:txBody>
        </p:sp>
        <p:sp>
          <p:nvSpPr>
            <p:cNvPr id="17480" name="Rectangle 72"/>
            <p:cNvSpPr>
              <a:spLocks noChangeArrowheads="1"/>
            </p:cNvSpPr>
            <p:nvPr/>
          </p:nvSpPr>
          <p:spPr bwMode="auto">
            <a:xfrm>
              <a:off x="898" y="739"/>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17481" name="Rectangle 73"/>
            <p:cNvSpPr>
              <a:spLocks noChangeArrowheads="1"/>
            </p:cNvSpPr>
            <p:nvPr/>
          </p:nvSpPr>
          <p:spPr bwMode="auto">
            <a:xfrm>
              <a:off x="984" y="739"/>
              <a:ext cx="125"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9"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2"/>
          </p:nvPr>
        </p:nvSpPr>
        <p:spPr/>
        <p:txBody>
          <a:bodyPr/>
          <a:lstStyle/>
          <a:p>
            <a:fld id="{C0F2CE5E-8950-4E3A-9129-AA1F148F67CD}" type="slidenum">
              <a:rPr lang="en-US"/>
              <a:pPr/>
              <a:t>94</a:t>
            </a:fld>
            <a:endParaRPr lang="en-US"/>
          </a:p>
        </p:txBody>
      </p:sp>
      <p:sp>
        <p:nvSpPr>
          <p:cNvPr id="36866" name="Text Box 2"/>
          <p:cNvSpPr txBox="1">
            <a:spLocks noChangeArrowheads="1"/>
          </p:cNvSpPr>
          <p:nvPr/>
        </p:nvSpPr>
        <p:spPr bwMode="auto">
          <a:xfrm>
            <a:off x="288925" y="498475"/>
            <a:ext cx="3825875" cy="457200"/>
          </a:xfrm>
          <a:prstGeom prst="rect">
            <a:avLst/>
          </a:prstGeom>
          <a:noFill/>
          <a:ln w="9525">
            <a:noFill/>
            <a:miter lim="800000"/>
            <a:headEnd/>
            <a:tailEnd/>
          </a:ln>
          <a:effectLst/>
        </p:spPr>
        <p:txBody>
          <a:bodyPr>
            <a:spAutoFit/>
          </a:bodyPr>
          <a:lstStyle/>
          <a:p>
            <a:endParaRPr lang="en-US"/>
          </a:p>
        </p:txBody>
      </p:sp>
      <p:sp>
        <p:nvSpPr>
          <p:cNvPr id="36869" name="Text Box 5"/>
          <p:cNvSpPr txBox="1">
            <a:spLocks noChangeArrowheads="1"/>
          </p:cNvSpPr>
          <p:nvPr/>
        </p:nvSpPr>
        <p:spPr bwMode="auto">
          <a:xfrm>
            <a:off x="455951" y="645826"/>
            <a:ext cx="8382000" cy="2647950"/>
          </a:xfrm>
          <a:prstGeom prst="rect">
            <a:avLst/>
          </a:prstGeom>
          <a:noFill/>
          <a:ln w="9525">
            <a:noFill/>
            <a:miter lim="800000"/>
            <a:headEnd/>
            <a:tailEnd/>
          </a:ln>
          <a:effectLst/>
        </p:spPr>
        <p:txBody>
          <a:bodyPr>
            <a:spAutoFit/>
          </a:bodyPr>
          <a:lstStyle/>
          <a:p>
            <a:pPr algn="just"/>
            <a:r>
              <a:rPr lang="en-US" dirty="0">
                <a:latin typeface="Arial" pitchFamily="34" charset="0"/>
              </a:rPr>
              <a:t>The next space group is </a:t>
            </a:r>
            <a:r>
              <a:rPr lang="en-US" i="1" dirty="0">
                <a:solidFill>
                  <a:srgbClr val="0000CC"/>
                </a:solidFill>
                <a:latin typeface="Arial" pitchFamily="34" charset="0"/>
              </a:rPr>
              <a:t>C</a:t>
            </a:r>
            <a:r>
              <a:rPr lang="en-US" dirty="0">
                <a:solidFill>
                  <a:srgbClr val="0000CC"/>
                </a:solidFill>
                <a:latin typeface="Arial" pitchFamily="34" charset="0"/>
              </a:rPr>
              <a:t>2, number 5</a:t>
            </a:r>
            <a:r>
              <a:rPr lang="en-US" dirty="0">
                <a:latin typeface="Arial" pitchFamily="34" charset="0"/>
              </a:rPr>
              <a:t>.  The rotational symmetry is just as you saw in the previous rendering of </a:t>
            </a:r>
            <a:r>
              <a:rPr lang="en-US" i="1" dirty="0">
                <a:latin typeface="Arial" pitchFamily="34" charset="0"/>
              </a:rPr>
              <a:t>P</a:t>
            </a:r>
            <a:r>
              <a:rPr lang="en-US" dirty="0">
                <a:latin typeface="Arial" pitchFamily="34" charset="0"/>
              </a:rPr>
              <a:t>2.  But here the difference is in the </a:t>
            </a:r>
            <a:r>
              <a:rPr lang="en-US" i="1" dirty="0">
                <a:solidFill>
                  <a:srgbClr val="0000CC"/>
                </a:solidFill>
                <a:latin typeface="Arial" pitchFamily="34" charset="0"/>
              </a:rPr>
              <a:t>lattice type</a:t>
            </a:r>
            <a:r>
              <a:rPr lang="en-US" dirty="0">
                <a:latin typeface="Arial" pitchFamily="34" charset="0"/>
              </a:rPr>
              <a:t>.  The </a:t>
            </a:r>
            <a:r>
              <a:rPr lang="en-US" dirty="0">
                <a:solidFill>
                  <a:srgbClr val="0000CC"/>
                </a:solidFill>
                <a:latin typeface="Arial" pitchFamily="34" charset="0"/>
              </a:rPr>
              <a:t>“</a:t>
            </a:r>
            <a:r>
              <a:rPr lang="en-US" i="1" dirty="0">
                <a:solidFill>
                  <a:srgbClr val="0000CC"/>
                </a:solidFill>
                <a:latin typeface="Arial" pitchFamily="34" charset="0"/>
              </a:rPr>
              <a:t>C</a:t>
            </a:r>
            <a:r>
              <a:rPr lang="en-US" dirty="0">
                <a:solidFill>
                  <a:srgbClr val="0000CC"/>
                </a:solidFill>
                <a:latin typeface="Arial" pitchFamily="34" charset="0"/>
              </a:rPr>
              <a:t>” refers to </a:t>
            </a:r>
            <a:r>
              <a:rPr lang="en-US" i="1" dirty="0">
                <a:solidFill>
                  <a:srgbClr val="0000CC"/>
                </a:solidFill>
                <a:latin typeface="Arial" pitchFamily="34" charset="0"/>
              </a:rPr>
              <a:t>C</a:t>
            </a:r>
            <a:r>
              <a:rPr lang="en-US" dirty="0">
                <a:solidFill>
                  <a:srgbClr val="0000CC"/>
                </a:solidFill>
                <a:latin typeface="Arial" pitchFamily="34" charset="0"/>
              </a:rPr>
              <a:t>-centering</a:t>
            </a:r>
            <a:r>
              <a:rPr lang="en-US" dirty="0">
                <a:latin typeface="Arial" pitchFamily="34" charset="0"/>
              </a:rPr>
              <a:t>, i.e., centering on the crystal </a:t>
            </a:r>
            <a:r>
              <a:rPr lang="en-US" i="1" dirty="0" err="1">
                <a:solidFill>
                  <a:srgbClr val="FF0066"/>
                </a:solidFill>
                <a:latin typeface="Arial" pitchFamily="34" charset="0"/>
              </a:rPr>
              <a:t>ab</a:t>
            </a:r>
            <a:r>
              <a:rPr lang="en-US" dirty="0">
                <a:latin typeface="Arial" pitchFamily="34" charset="0"/>
              </a:rPr>
              <a:t> face; recall </a:t>
            </a:r>
            <a:r>
              <a:rPr lang="en-US" dirty="0">
                <a:latin typeface="Arial" pitchFamily="34" charset="0"/>
                <a:cs typeface="Arial" pitchFamily="34" charset="0"/>
                <a:sym typeface="Symbol" pitchFamily="18" charset="2"/>
              </a:rPr>
              <a:t>that the </a:t>
            </a:r>
            <a:r>
              <a:rPr lang="en-US" i="1" dirty="0">
                <a:latin typeface="Arial" pitchFamily="34" charset="0"/>
                <a:cs typeface="Arial" pitchFamily="34" charset="0"/>
                <a:sym typeface="Symbol" pitchFamily="18" charset="2"/>
              </a:rPr>
              <a:t>C</a:t>
            </a:r>
            <a:r>
              <a:rPr lang="en-US" dirty="0">
                <a:latin typeface="Arial" pitchFamily="34" charset="0"/>
                <a:cs typeface="Arial" pitchFamily="34" charset="0"/>
                <a:sym typeface="Symbol" pitchFamily="18" charset="2"/>
              </a:rPr>
              <a:t>-centering operation involves a (½, ½, 0)+ translation applied to all primitive lattice points.</a:t>
            </a:r>
          </a:p>
          <a:p>
            <a:endParaRPr lang="en-US" dirty="0"/>
          </a:p>
        </p:txBody>
      </p:sp>
      <p:sp>
        <p:nvSpPr>
          <p:cNvPr id="8" name="Rectangle 7"/>
          <p:cNvSpPr/>
          <p:nvPr/>
        </p:nvSpPr>
        <p:spPr>
          <a:xfrm>
            <a:off x="579619" y="3136558"/>
            <a:ext cx="7817370" cy="1569660"/>
          </a:xfrm>
          <a:prstGeom prst="rect">
            <a:avLst/>
          </a:prstGeom>
        </p:spPr>
        <p:txBody>
          <a:bodyPr wrap="square">
            <a:spAutoFit/>
          </a:bodyPr>
          <a:lstStyle/>
          <a:p>
            <a:pPr algn="just"/>
            <a:r>
              <a:rPr lang="en-US" dirty="0" smtClean="0">
                <a:latin typeface="Arial" pitchFamily="34" charset="0"/>
              </a:rPr>
              <a:t>For each general position at x, y, z there will be an equivalent atom at </a:t>
            </a:r>
            <a:r>
              <a:rPr lang="en-US" dirty="0" smtClean="0">
                <a:latin typeface="Arial" pitchFamily="34" charset="0"/>
                <a:cs typeface="Arial" pitchFamily="34" charset="0"/>
                <a:sym typeface="Symbol" pitchFamily="18" charset="2"/>
              </a:rPr>
              <a:t>½+x, ½+y, z as a result of C-centering. Let us choose origin on 2-fold axis and will operate 2[0y0] on the above positions one gets</a:t>
            </a:r>
            <a:endParaRPr lang="en-US" dirty="0">
              <a:latin typeface="Arial" pitchFamily="34" charset="0"/>
            </a:endParaRPr>
          </a:p>
        </p:txBody>
      </p:sp>
      <p:graphicFrame>
        <p:nvGraphicFramePr>
          <p:cNvPr id="548866" name="Object 6"/>
          <p:cNvGraphicFramePr>
            <a:graphicFrameLocks noChangeAspect="1"/>
          </p:cNvGraphicFramePr>
          <p:nvPr/>
        </p:nvGraphicFramePr>
        <p:xfrm>
          <a:off x="1697975" y="4815605"/>
          <a:ext cx="5422354" cy="1792789"/>
        </p:xfrm>
        <a:graphic>
          <a:graphicData uri="http://schemas.openxmlformats.org/presentationml/2006/ole">
            <p:oleObj spid="_x0000_s548866" name="Equation" r:id="rId3" imgW="3225600" imgH="106668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8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Slide Number Placeholder 3"/>
          <p:cNvSpPr>
            <a:spLocks noGrp="1"/>
          </p:cNvSpPr>
          <p:nvPr>
            <p:ph type="sldNum" sz="quarter" idx="12"/>
          </p:nvPr>
        </p:nvSpPr>
        <p:spPr/>
        <p:txBody>
          <a:bodyPr/>
          <a:lstStyle/>
          <a:p>
            <a:fld id="{5339100A-27EE-4A35-A8D3-03E90265C8A3}" type="slidenum">
              <a:rPr lang="en-US"/>
              <a:pPr/>
              <a:t>95</a:t>
            </a:fld>
            <a:endParaRPr lang="en-US"/>
          </a:p>
        </p:txBody>
      </p:sp>
      <p:sp>
        <p:nvSpPr>
          <p:cNvPr id="19458" name="Text Box 2"/>
          <p:cNvSpPr txBox="1">
            <a:spLocks noChangeArrowheads="1"/>
          </p:cNvSpPr>
          <p:nvPr/>
        </p:nvSpPr>
        <p:spPr bwMode="auto">
          <a:xfrm>
            <a:off x="685800" y="4495800"/>
            <a:ext cx="838200" cy="457200"/>
          </a:xfrm>
          <a:prstGeom prst="rect">
            <a:avLst/>
          </a:prstGeom>
          <a:noFill/>
          <a:ln w="9525">
            <a:noFill/>
            <a:miter lim="800000"/>
            <a:headEnd/>
            <a:tailEnd/>
          </a:ln>
          <a:effectLst/>
        </p:spPr>
        <p:txBody>
          <a:bodyPr>
            <a:spAutoFit/>
          </a:bodyPr>
          <a:lstStyle/>
          <a:p>
            <a:pPr>
              <a:spcBef>
                <a:spcPct val="50000"/>
              </a:spcBef>
            </a:pPr>
            <a:r>
              <a:rPr lang="en-US" b="1" i="1">
                <a:solidFill>
                  <a:srgbClr val="FF0000"/>
                </a:solidFill>
              </a:rPr>
              <a:t>Z</a:t>
            </a:r>
            <a:r>
              <a:rPr lang="en-US" b="1">
                <a:solidFill>
                  <a:srgbClr val="FF0000"/>
                </a:solidFill>
              </a:rPr>
              <a:t>=4;                                                                               </a:t>
            </a:r>
          </a:p>
        </p:txBody>
      </p:sp>
      <p:sp>
        <p:nvSpPr>
          <p:cNvPr id="19459" name="Rectangle 3"/>
          <p:cNvSpPr>
            <a:spLocks noChangeArrowheads="1"/>
          </p:cNvSpPr>
          <p:nvPr/>
        </p:nvSpPr>
        <p:spPr bwMode="auto">
          <a:xfrm>
            <a:off x="533400" y="4419600"/>
            <a:ext cx="7924800" cy="1066800"/>
          </a:xfrm>
          <a:prstGeom prst="rect">
            <a:avLst/>
          </a:prstGeom>
          <a:noFill/>
          <a:ln w="9525">
            <a:solidFill>
              <a:srgbClr val="FF0000"/>
            </a:solidFill>
            <a:miter lim="800000"/>
            <a:headEnd/>
            <a:tailEnd/>
          </a:ln>
          <a:effectLst/>
        </p:spPr>
        <p:txBody>
          <a:bodyPr wrap="none" anchor="ctr"/>
          <a:lstStyle/>
          <a:p>
            <a:endParaRPr lang="en-US"/>
          </a:p>
        </p:txBody>
      </p:sp>
      <p:graphicFrame>
        <p:nvGraphicFramePr>
          <p:cNvPr id="19460" name="Object 4"/>
          <p:cNvGraphicFramePr>
            <a:graphicFrameLocks noChangeAspect="1"/>
          </p:cNvGraphicFramePr>
          <p:nvPr/>
        </p:nvGraphicFramePr>
        <p:xfrm>
          <a:off x="5867400" y="457200"/>
          <a:ext cx="1997075" cy="725488"/>
        </p:xfrm>
        <a:graphic>
          <a:graphicData uri="http://schemas.openxmlformats.org/presentationml/2006/ole">
            <p:oleObj spid="_x0000_s545794" name="Equation" r:id="rId3" imgW="558720" imgH="203040" progId="">
              <p:embed/>
            </p:oleObj>
          </a:graphicData>
        </a:graphic>
      </p:graphicFrame>
      <p:sp>
        <p:nvSpPr>
          <p:cNvPr id="19461" name="Rectangle 5"/>
          <p:cNvSpPr>
            <a:spLocks noChangeArrowheads="1"/>
          </p:cNvSpPr>
          <p:nvPr/>
        </p:nvSpPr>
        <p:spPr bwMode="auto">
          <a:xfrm>
            <a:off x="620713" y="5562600"/>
            <a:ext cx="7867650" cy="457200"/>
          </a:xfrm>
          <a:prstGeom prst="rect">
            <a:avLst/>
          </a:prstGeom>
          <a:noFill/>
          <a:ln w="9525">
            <a:noFill/>
            <a:miter lim="800000"/>
            <a:headEnd/>
            <a:tailEnd/>
          </a:ln>
          <a:effectLst/>
        </p:spPr>
        <p:txBody>
          <a:bodyPr wrap="none">
            <a:spAutoFit/>
          </a:bodyPr>
          <a:lstStyle/>
          <a:p>
            <a:r>
              <a:rPr lang="en-US">
                <a:latin typeface="Arial" pitchFamily="34" charset="0"/>
              </a:rPr>
              <a:t>Is this group enantiomorphous or non-enantiomorphous?</a:t>
            </a:r>
          </a:p>
        </p:txBody>
      </p:sp>
      <p:sp>
        <p:nvSpPr>
          <p:cNvPr id="19462" name="Rectangle 6"/>
          <p:cNvSpPr>
            <a:spLocks noChangeArrowheads="1"/>
          </p:cNvSpPr>
          <p:nvPr/>
        </p:nvSpPr>
        <p:spPr bwMode="auto">
          <a:xfrm>
            <a:off x="2819400" y="6096000"/>
            <a:ext cx="2428875" cy="396875"/>
          </a:xfrm>
          <a:prstGeom prst="rect">
            <a:avLst/>
          </a:prstGeom>
          <a:noFill/>
          <a:ln w="9525">
            <a:noFill/>
            <a:miter lim="800000"/>
            <a:headEnd/>
            <a:tailEnd/>
          </a:ln>
          <a:effectLst/>
        </p:spPr>
        <p:txBody>
          <a:bodyPr wrap="none">
            <a:spAutoFit/>
          </a:bodyPr>
          <a:lstStyle/>
          <a:p>
            <a:r>
              <a:rPr lang="en-US" sz="2000" b="1">
                <a:latin typeface="Arial" pitchFamily="34" charset="0"/>
              </a:rPr>
              <a:t> Enantiomorphous</a:t>
            </a:r>
          </a:p>
        </p:txBody>
      </p:sp>
      <p:grpSp>
        <p:nvGrpSpPr>
          <p:cNvPr id="2" name="Group 8"/>
          <p:cNvGrpSpPr>
            <a:grpSpLocks/>
          </p:cNvGrpSpPr>
          <p:nvPr/>
        </p:nvGrpSpPr>
        <p:grpSpPr bwMode="auto">
          <a:xfrm>
            <a:off x="2851150" y="1336675"/>
            <a:ext cx="2863850" cy="3683000"/>
            <a:chOff x="1796" y="842"/>
            <a:chExt cx="1804" cy="2320"/>
          </a:xfrm>
        </p:grpSpPr>
        <p:graphicFrame>
          <p:nvGraphicFramePr>
            <p:cNvPr id="19465" name="Object 9"/>
            <p:cNvGraphicFramePr>
              <a:graphicFrameLocks noChangeAspect="1"/>
            </p:cNvGraphicFramePr>
            <p:nvPr/>
          </p:nvGraphicFramePr>
          <p:xfrm>
            <a:off x="2784" y="2784"/>
            <a:ext cx="816" cy="378"/>
          </p:xfrm>
          <a:graphic>
            <a:graphicData uri="http://schemas.openxmlformats.org/presentationml/2006/ole">
              <p:oleObj spid="_x0000_s545809" name="Equation" r:id="rId4" imgW="520560" imgH="241200" progId="">
                <p:embed/>
              </p:oleObj>
            </a:graphicData>
          </a:graphic>
        </p:graphicFrame>
        <p:grpSp>
          <p:nvGrpSpPr>
            <p:cNvPr id="3" name="Group 10"/>
            <p:cNvGrpSpPr>
              <a:grpSpLocks/>
            </p:cNvGrpSpPr>
            <p:nvPr/>
          </p:nvGrpSpPr>
          <p:grpSpPr bwMode="auto">
            <a:xfrm>
              <a:off x="1796" y="842"/>
              <a:ext cx="384" cy="222"/>
              <a:chOff x="1440" y="816"/>
              <a:chExt cx="384" cy="222"/>
            </a:xfrm>
          </p:grpSpPr>
          <p:sp>
            <p:nvSpPr>
              <p:cNvPr id="19467" name="Oval 11"/>
              <p:cNvSpPr>
                <a:spLocks noChangeArrowheads="1"/>
              </p:cNvSpPr>
              <p:nvPr/>
            </p:nvSpPr>
            <p:spPr bwMode="auto">
              <a:xfrm>
                <a:off x="1584" y="816"/>
                <a:ext cx="240" cy="222"/>
              </a:xfrm>
              <a:prstGeom prst="ellipse">
                <a:avLst/>
              </a:prstGeom>
              <a:noFill/>
              <a:ln w="12700">
                <a:solidFill>
                  <a:srgbClr val="0000FF"/>
                </a:solidFill>
                <a:round/>
                <a:headEnd/>
                <a:tailEnd/>
              </a:ln>
            </p:spPr>
            <p:txBody>
              <a:bodyPr/>
              <a:lstStyle/>
              <a:p>
                <a:endParaRPr lang="en-US"/>
              </a:p>
            </p:txBody>
          </p:sp>
          <p:sp>
            <p:nvSpPr>
              <p:cNvPr id="19468" name="Rectangle 12"/>
              <p:cNvSpPr>
                <a:spLocks noChangeArrowheads="1"/>
              </p:cNvSpPr>
              <p:nvPr/>
            </p:nvSpPr>
            <p:spPr bwMode="auto">
              <a:xfrm>
                <a:off x="1440" y="816"/>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graphicFrame>
        <p:nvGraphicFramePr>
          <p:cNvPr id="19469" name="Object 13"/>
          <p:cNvGraphicFramePr>
            <a:graphicFrameLocks noChangeAspect="1"/>
          </p:cNvGraphicFramePr>
          <p:nvPr/>
        </p:nvGraphicFramePr>
        <p:xfrm>
          <a:off x="3536950" y="1717675"/>
          <a:ext cx="104775" cy="371475"/>
        </p:xfrm>
        <a:graphic>
          <a:graphicData uri="http://schemas.openxmlformats.org/presentationml/2006/ole">
            <p:oleObj spid="_x0000_s545795" name="CS ChemDraw Drawing" r:id="rId5" imgW="65521" imgH="230037" progId="">
              <p:embed/>
            </p:oleObj>
          </a:graphicData>
        </a:graphic>
      </p:graphicFrame>
      <p:grpSp>
        <p:nvGrpSpPr>
          <p:cNvPr id="4" name="Group 14"/>
          <p:cNvGrpSpPr>
            <a:grpSpLocks/>
          </p:cNvGrpSpPr>
          <p:nvPr/>
        </p:nvGrpSpPr>
        <p:grpSpPr bwMode="auto">
          <a:xfrm>
            <a:off x="1905000" y="2022475"/>
            <a:ext cx="6324600" cy="2978150"/>
            <a:chOff x="1200" y="1274"/>
            <a:chExt cx="3984" cy="1876"/>
          </a:xfrm>
        </p:grpSpPr>
        <p:graphicFrame>
          <p:nvGraphicFramePr>
            <p:cNvPr id="19471" name="Object 15"/>
            <p:cNvGraphicFramePr>
              <a:graphicFrameLocks noChangeAspect="1"/>
            </p:cNvGraphicFramePr>
            <p:nvPr/>
          </p:nvGraphicFramePr>
          <p:xfrm>
            <a:off x="4320" y="2832"/>
            <a:ext cx="864" cy="282"/>
          </p:xfrm>
          <a:graphic>
            <a:graphicData uri="http://schemas.openxmlformats.org/presentationml/2006/ole">
              <p:oleObj spid="_x0000_s545807" name="Equation" r:id="rId6" imgW="622080" imgH="203040" progId="">
                <p:embed/>
              </p:oleObj>
            </a:graphicData>
          </a:graphic>
        </p:graphicFrame>
        <p:graphicFrame>
          <p:nvGraphicFramePr>
            <p:cNvPr id="19472" name="Object 16"/>
            <p:cNvGraphicFramePr>
              <a:graphicFrameLocks noChangeAspect="1"/>
            </p:cNvGraphicFramePr>
            <p:nvPr/>
          </p:nvGraphicFramePr>
          <p:xfrm>
            <a:off x="1200" y="2832"/>
            <a:ext cx="816" cy="318"/>
          </p:xfrm>
          <a:graphic>
            <a:graphicData uri="http://schemas.openxmlformats.org/presentationml/2006/ole">
              <p:oleObj spid="_x0000_s545808" name="Equation" r:id="rId7" imgW="520560" imgH="203040" progId="">
                <p:embed/>
              </p:oleObj>
            </a:graphicData>
          </a:graphic>
        </p:graphicFrame>
        <p:grpSp>
          <p:nvGrpSpPr>
            <p:cNvPr id="5" name="Group 17"/>
            <p:cNvGrpSpPr>
              <a:grpSpLocks/>
            </p:cNvGrpSpPr>
            <p:nvPr/>
          </p:nvGrpSpPr>
          <p:grpSpPr bwMode="auto">
            <a:xfrm>
              <a:off x="2324" y="1274"/>
              <a:ext cx="412" cy="222"/>
              <a:chOff x="1248" y="2352"/>
              <a:chExt cx="412" cy="222"/>
            </a:xfrm>
          </p:grpSpPr>
          <p:sp>
            <p:nvSpPr>
              <p:cNvPr id="19474" name="Oval 18"/>
              <p:cNvSpPr>
                <a:spLocks noChangeArrowheads="1"/>
              </p:cNvSpPr>
              <p:nvPr/>
            </p:nvSpPr>
            <p:spPr bwMode="auto">
              <a:xfrm>
                <a:off x="1248" y="2352"/>
                <a:ext cx="240" cy="222"/>
              </a:xfrm>
              <a:prstGeom prst="ellipse">
                <a:avLst/>
              </a:prstGeom>
              <a:noFill/>
              <a:ln w="12700">
                <a:solidFill>
                  <a:srgbClr val="000000"/>
                </a:solidFill>
                <a:round/>
                <a:headEnd/>
                <a:tailEnd/>
              </a:ln>
            </p:spPr>
            <p:txBody>
              <a:bodyPr/>
              <a:lstStyle/>
              <a:p>
                <a:endParaRPr lang="en-US"/>
              </a:p>
            </p:txBody>
          </p:sp>
          <p:sp>
            <p:nvSpPr>
              <p:cNvPr id="19475" name="Rectangle 19"/>
              <p:cNvSpPr>
                <a:spLocks noChangeArrowheads="1"/>
              </p:cNvSpPr>
              <p:nvPr/>
            </p:nvSpPr>
            <p:spPr bwMode="auto">
              <a:xfrm>
                <a:off x="1488" y="2400"/>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sp>
        <p:nvSpPr>
          <p:cNvPr id="19476" name="Line 20"/>
          <p:cNvSpPr>
            <a:spLocks noChangeShapeType="1"/>
          </p:cNvSpPr>
          <p:nvPr/>
        </p:nvSpPr>
        <p:spPr bwMode="auto">
          <a:xfrm>
            <a:off x="3581400" y="1870075"/>
            <a:ext cx="2667000" cy="0"/>
          </a:xfrm>
          <a:prstGeom prst="line">
            <a:avLst/>
          </a:prstGeom>
          <a:noFill/>
          <a:ln w="19050">
            <a:solidFill>
              <a:schemeClr val="tx1"/>
            </a:solidFill>
            <a:round/>
            <a:headEnd/>
            <a:tailEnd/>
          </a:ln>
          <a:effectLst/>
        </p:spPr>
        <p:txBody>
          <a:bodyPr/>
          <a:lstStyle/>
          <a:p>
            <a:endParaRPr lang="en-US"/>
          </a:p>
        </p:txBody>
      </p:sp>
      <p:sp>
        <p:nvSpPr>
          <p:cNvPr id="19477" name="Line 21"/>
          <p:cNvSpPr>
            <a:spLocks noChangeShapeType="1"/>
          </p:cNvSpPr>
          <p:nvPr/>
        </p:nvSpPr>
        <p:spPr bwMode="auto">
          <a:xfrm flipH="1">
            <a:off x="5410200" y="1870075"/>
            <a:ext cx="838200" cy="1828800"/>
          </a:xfrm>
          <a:prstGeom prst="line">
            <a:avLst/>
          </a:prstGeom>
          <a:noFill/>
          <a:ln w="19050">
            <a:solidFill>
              <a:schemeClr val="tx1"/>
            </a:solidFill>
            <a:round/>
            <a:headEnd/>
            <a:tailEnd/>
          </a:ln>
          <a:effectLst/>
        </p:spPr>
        <p:txBody>
          <a:bodyPr/>
          <a:lstStyle/>
          <a:p>
            <a:endParaRPr lang="en-US"/>
          </a:p>
        </p:txBody>
      </p:sp>
      <p:sp>
        <p:nvSpPr>
          <p:cNvPr id="19478" name="Line 22"/>
          <p:cNvSpPr>
            <a:spLocks noChangeShapeType="1"/>
          </p:cNvSpPr>
          <p:nvPr/>
        </p:nvSpPr>
        <p:spPr bwMode="auto">
          <a:xfrm flipH="1">
            <a:off x="2590800" y="1870075"/>
            <a:ext cx="990600" cy="1828800"/>
          </a:xfrm>
          <a:prstGeom prst="line">
            <a:avLst/>
          </a:prstGeom>
          <a:noFill/>
          <a:ln w="19050">
            <a:solidFill>
              <a:schemeClr val="tx1"/>
            </a:solidFill>
            <a:round/>
            <a:headEnd/>
            <a:tailEnd/>
          </a:ln>
          <a:effectLst/>
        </p:spPr>
        <p:txBody>
          <a:bodyPr/>
          <a:lstStyle/>
          <a:p>
            <a:endParaRPr lang="en-US"/>
          </a:p>
        </p:txBody>
      </p:sp>
      <p:sp>
        <p:nvSpPr>
          <p:cNvPr id="19479" name="Line 23"/>
          <p:cNvSpPr>
            <a:spLocks noChangeShapeType="1"/>
          </p:cNvSpPr>
          <p:nvPr/>
        </p:nvSpPr>
        <p:spPr bwMode="auto">
          <a:xfrm>
            <a:off x="2590800" y="3698875"/>
            <a:ext cx="2819400" cy="0"/>
          </a:xfrm>
          <a:prstGeom prst="line">
            <a:avLst/>
          </a:prstGeom>
          <a:noFill/>
          <a:ln w="19050">
            <a:solidFill>
              <a:schemeClr val="tx1"/>
            </a:solidFill>
            <a:round/>
            <a:headEnd/>
            <a:tailEnd/>
          </a:ln>
          <a:effectLst/>
        </p:spPr>
        <p:txBody>
          <a:bodyPr/>
          <a:lstStyle/>
          <a:p>
            <a:endParaRPr lang="en-US"/>
          </a:p>
        </p:txBody>
      </p:sp>
      <p:sp>
        <p:nvSpPr>
          <p:cNvPr id="19480" name="Line 24"/>
          <p:cNvSpPr>
            <a:spLocks noChangeShapeType="1"/>
          </p:cNvSpPr>
          <p:nvPr/>
        </p:nvSpPr>
        <p:spPr bwMode="auto">
          <a:xfrm>
            <a:off x="3048000" y="2784475"/>
            <a:ext cx="2743200" cy="0"/>
          </a:xfrm>
          <a:prstGeom prst="line">
            <a:avLst/>
          </a:prstGeom>
          <a:noFill/>
          <a:ln w="19050">
            <a:solidFill>
              <a:schemeClr val="tx1"/>
            </a:solidFill>
            <a:round/>
            <a:headEnd/>
            <a:tailEnd/>
          </a:ln>
          <a:effectLst/>
        </p:spPr>
        <p:txBody>
          <a:bodyPr/>
          <a:lstStyle/>
          <a:p>
            <a:endParaRPr lang="en-US"/>
          </a:p>
        </p:txBody>
      </p:sp>
      <p:sp>
        <p:nvSpPr>
          <p:cNvPr id="19481" name="Line 25"/>
          <p:cNvSpPr>
            <a:spLocks noChangeShapeType="1"/>
          </p:cNvSpPr>
          <p:nvPr/>
        </p:nvSpPr>
        <p:spPr bwMode="auto">
          <a:xfrm flipH="1">
            <a:off x="3962400" y="1870075"/>
            <a:ext cx="914400" cy="1828800"/>
          </a:xfrm>
          <a:prstGeom prst="line">
            <a:avLst/>
          </a:prstGeom>
          <a:noFill/>
          <a:ln w="19050">
            <a:solidFill>
              <a:schemeClr val="tx1"/>
            </a:solidFill>
            <a:round/>
            <a:headEnd/>
            <a:tailEnd/>
          </a:ln>
          <a:effectLst/>
        </p:spPr>
        <p:txBody>
          <a:bodyPr/>
          <a:lstStyle/>
          <a:p>
            <a:endParaRPr lang="en-US"/>
          </a:p>
        </p:txBody>
      </p:sp>
      <p:pic>
        <p:nvPicPr>
          <p:cNvPr id="19482" name="Picture 26"/>
          <p:cNvPicPr>
            <a:picLocks noChangeAspect="1" noChangeArrowheads="1"/>
          </p:cNvPicPr>
          <p:nvPr/>
        </p:nvPicPr>
        <p:blipFill>
          <a:blip r:embed="rId8" cstate="print"/>
          <a:srcRect t="43166" r="30534"/>
          <a:stretch>
            <a:fillRect/>
          </a:stretch>
        </p:blipFill>
        <p:spPr bwMode="auto">
          <a:xfrm>
            <a:off x="4038600" y="1717675"/>
            <a:ext cx="192088" cy="338138"/>
          </a:xfrm>
          <a:prstGeom prst="rect">
            <a:avLst/>
          </a:prstGeom>
          <a:noFill/>
          <a:ln w="9525">
            <a:noFill/>
            <a:miter lim="800000"/>
            <a:headEnd/>
            <a:tailEnd/>
          </a:ln>
        </p:spPr>
      </p:pic>
      <p:grpSp>
        <p:nvGrpSpPr>
          <p:cNvPr id="6" name="Group 27"/>
          <p:cNvGrpSpPr>
            <a:grpSpLocks/>
          </p:cNvGrpSpPr>
          <p:nvPr/>
        </p:nvGrpSpPr>
        <p:grpSpPr bwMode="auto">
          <a:xfrm>
            <a:off x="3236913" y="1717675"/>
            <a:ext cx="2289175" cy="2166938"/>
            <a:chOff x="2039" y="1082"/>
            <a:chExt cx="1442" cy="1365"/>
          </a:xfrm>
        </p:grpSpPr>
        <p:pic>
          <p:nvPicPr>
            <p:cNvPr id="19484" name="Picture 28"/>
            <p:cNvPicPr>
              <a:picLocks noChangeAspect="1" noChangeArrowheads="1"/>
            </p:cNvPicPr>
            <p:nvPr/>
          </p:nvPicPr>
          <p:blipFill>
            <a:blip r:embed="rId8" cstate="print"/>
            <a:srcRect t="43166" r="30534"/>
            <a:stretch>
              <a:fillRect/>
            </a:stretch>
          </p:blipFill>
          <p:spPr bwMode="auto">
            <a:xfrm>
              <a:off x="2279" y="1658"/>
              <a:ext cx="121" cy="213"/>
            </a:xfrm>
            <a:prstGeom prst="rect">
              <a:avLst/>
            </a:prstGeom>
            <a:noFill/>
            <a:ln w="9525">
              <a:noFill/>
              <a:miter lim="800000"/>
              <a:headEnd/>
              <a:tailEnd/>
            </a:ln>
          </p:spPr>
        </p:pic>
        <p:pic>
          <p:nvPicPr>
            <p:cNvPr id="19485" name="Picture 29"/>
            <p:cNvPicPr>
              <a:picLocks noChangeAspect="1" noChangeArrowheads="1"/>
            </p:cNvPicPr>
            <p:nvPr/>
          </p:nvPicPr>
          <p:blipFill>
            <a:blip r:embed="rId8" cstate="print"/>
            <a:srcRect t="43166" r="30534"/>
            <a:stretch>
              <a:fillRect/>
            </a:stretch>
          </p:blipFill>
          <p:spPr bwMode="auto">
            <a:xfrm>
              <a:off x="2039" y="2234"/>
              <a:ext cx="121" cy="213"/>
            </a:xfrm>
            <a:prstGeom prst="rect">
              <a:avLst/>
            </a:prstGeom>
            <a:noFill/>
            <a:ln w="9525">
              <a:noFill/>
              <a:miter lim="800000"/>
              <a:headEnd/>
              <a:tailEnd/>
            </a:ln>
          </p:spPr>
        </p:pic>
        <p:pic>
          <p:nvPicPr>
            <p:cNvPr id="19486" name="Picture 30"/>
            <p:cNvPicPr>
              <a:picLocks noChangeAspect="1" noChangeArrowheads="1"/>
            </p:cNvPicPr>
            <p:nvPr/>
          </p:nvPicPr>
          <p:blipFill>
            <a:blip r:embed="rId8" cstate="print"/>
            <a:srcRect t="43166" r="30534"/>
            <a:stretch>
              <a:fillRect/>
            </a:stretch>
          </p:blipFill>
          <p:spPr bwMode="auto">
            <a:xfrm>
              <a:off x="3360" y="1082"/>
              <a:ext cx="121" cy="213"/>
            </a:xfrm>
            <a:prstGeom prst="rect">
              <a:avLst/>
            </a:prstGeom>
            <a:noFill/>
            <a:ln w="9525">
              <a:noFill/>
              <a:miter lim="800000"/>
              <a:headEnd/>
              <a:tailEnd/>
            </a:ln>
          </p:spPr>
        </p:pic>
        <p:pic>
          <p:nvPicPr>
            <p:cNvPr id="19487" name="Picture 31"/>
            <p:cNvPicPr>
              <a:picLocks noChangeAspect="1" noChangeArrowheads="1"/>
            </p:cNvPicPr>
            <p:nvPr/>
          </p:nvPicPr>
          <p:blipFill>
            <a:blip r:embed="rId8" cstate="print"/>
            <a:srcRect t="43166" r="30534"/>
            <a:stretch>
              <a:fillRect/>
            </a:stretch>
          </p:blipFill>
          <p:spPr bwMode="auto">
            <a:xfrm>
              <a:off x="3107" y="1658"/>
              <a:ext cx="121" cy="213"/>
            </a:xfrm>
            <a:prstGeom prst="rect">
              <a:avLst/>
            </a:prstGeom>
            <a:noFill/>
            <a:ln w="9525">
              <a:noFill/>
              <a:miter lim="800000"/>
              <a:headEnd/>
              <a:tailEnd/>
            </a:ln>
          </p:spPr>
        </p:pic>
        <p:pic>
          <p:nvPicPr>
            <p:cNvPr id="19488" name="Picture 32"/>
            <p:cNvPicPr>
              <a:picLocks noChangeAspect="1" noChangeArrowheads="1"/>
            </p:cNvPicPr>
            <p:nvPr/>
          </p:nvPicPr>
          <p:blipFill>
            <a:blip r:embed="rId8" cstate="print"/>
            <a:srcRect t="43166" r="30534"/>
            <a:stretch>
              <a:fillRect/>
            </a:stretch>
          </p:blipFill>
          <p:spPr bwMode="auto">
            <a:xfrm>
              <a:off x="2903" y="2234"/>
              <a:ext cx="121" cy="213"/>
            </a:xfrm>
            <a:prstGeom prst="rect">
              <a:avLst/>
            </a:prstGeom>
            <a:noFill/>
            <a:ln w="9525">
              <a:noFill/>
              <a:miter lim="800000"/>
              <a:headEnd/>
              <a:tailEnd/>
            </a:ln>
          </p:spPr>
        </p:pic>
      </p:grpSp>
      <p:grpSp>
        <p:nvGrpSpPr>
          <p:cNvPr id="7" name="Group 33"/>
          <p:cNvGrpSpPr>
            <a:grpSpLocks/>
          </p:cNvGrpSpPr>
          <p:nvPr/>
        </p:nvGrpSpPr>
        <p:grpSpPr bwMode="auto">
          <a:xfrm>
            <a:off x="1936750" y="1336675"/>
            <a:ext cx="5073650" cy="2790825"/>
            <a:chOff x="1220" y="842"/>
            <a:chExt cx="3196" cy="1758"/>
          </a:xfrm>
        </p:grpSpPr>
        <p:grpSp>
          <p:nvGrpSpPr>
            <p:cNvPr id="8" name="Group 34"/>
            <p:cNvGrpSpPr>
              <a:grpSpLocks/>
            </p:cNvGrpSpPr>
            <p:nvPr/>
          </p:nvGrpSpPr>
          <p:grpSpPr bwMode="auto">
            <a:xfrm>
              <a:off x="3524" y="842"/>
              <a:ext cx="384" cy="222"/>
              <a:chOff x="3312" y="864"/>
              <a:chExt cx="384" cy="222"/>
            </a:xfrm>
          </p:grpSpPr>
          <p:sp>
            <p:nvSpPr>
              <p:cNvPr id="19491" name="Oval 35"/>
              <p:cNvSpPr>
                <a:spLocks noChangeArrowheads="1"/>
              </p:cNvSpPr>
              <p:nvPr/>
            </p:nvSpPr>
            <p:spPr bwMode="auto">
              <a:xfrm>
                <a:off x="3456" y="864"/>
                <a:ext cx="240" cy="222"/>
              </a:xfrm>
              <a:prstGeom prst="ellipse">
                <a:avLst/>
              </a:prstGeom>
              <a:noFill/>
              <a:ln w="12700">
                <a:solidFill>
                  <a:srgbClr val="000000"/>
                </a:solidFill>
                <a:round/>
                <a:headEnd/>
                <a:tailEnd/>
              </a:ln>
            </p:spPr>
            <p:txBody>
              <a:bodyPr/>
              <a:lstStyle/>
              <a:p>
                <a:endParaRPr lang="en-US"/>
              </a:p>
            </p:txBody>
          </p:sp>
          <p:sp>
            <p:nvSpPr>
              <p:cNvPr id="19492" name="Rectangle 36"/>
              <p:cNvSpPr>
                <a:spLocks noChangeArrowheads="1"/>
              </p:cNvSpPr>
              <p:nvPr/>
            </p:nvSpPr>
            <p:spPr bwMode="auto">
              <a:xfrm>
                <a:off x="3312" y="864"/>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9" name="Group 37"/>
            <p:cNvGrpSpPr>
              <a:grpSpLocks/>
            </p:cNvGrpSpPr>
            <p:nvPr/>
          </p:nvGrpSpPr>
          <p:grpSpPr bwMode="auto">
            <a:xfrm>
              <a:off x="4004" y="1274"/>
              <a:ext cx="412" cy="222"/>
              <a:chOff x="3744" y="1200"/>
              <a:chExt cx="412" cy="222"/>
            </a:xfrm>
          </p:grpSpPr>
          <p:sp>
            <p:nvSpPr>
              <p:cNvPr id="19494" name="Oval 38"/>
              <p:cNvSpPr>
                <a:spLocks noChangeArrowheads="1"/>
              </p:cNvSpPr>
              <p:nvPr/>
            </p:nvSpPr>
            <p:spPr bwMode="auto">
              <a:xfrm>
                <a:off x="3744" y="1200"/>
                <a:ext cx="240" cy="222"/>
              </a:xfrm>
              <a:prstGeom prst="ellipse">
                <a:avLst/>
              </a:prstGeom>
              <a:noFill/>
              <a:ln w="12700">
                <a:solidFill>
                  <a:srgbClr val="000000"/>
                </a:solidFill>
                <a:round/>
                <a:headEnd/>
                <a:tailEnd/>
              </a:ln>
            </p:spPr>
            <p:txBody>
              <a:bodyPr/>
              <a:lstStyle/>
              <a:p>
                <a:endParaRPr lang="en-US"/>
              </a:p>
            </p:txBody>
          </p:sp>
          <p:sp>
            <p:nvSpPr>
              <p:cNvPr id="19495" name="Rectangle 39"/>
              <p:cNvSpPr>
                <a:spLocks noChangeArrowheads="1"/>
              </p:cNvSpPr>
              <p:nvPr/>
            </p:nvSpPr>
            <p:spPr bwMode="auto">
              <a:xfrm>
                <a:off x="3984" y="1248"/>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0" name="Group 40"/>
            <p:cNvGrpSpPr>
              <a:grpSpLocks/>
            </p:cNvGrpSpPr>
            <p:nvPr/>
          </p:nvGrpSpPr>
          <p:grpSpPr bwMode="auto">
            <a:xfrm>
              <a:off x="2996" y="2027"/>
              <a:ext cx="408" cy="222"/>
              <a:chOff x="2592" y="2001"/>
              <a:chExt cx="408" cy="222"/>
            </a:xfrm>
          </p:grpSpPr>
          <p:sp>
            <p:nvSpPr>
              <p:cNvPr id="19497" name="Oval 41"/>
              <p:cNvSpPr>
                <a:spLocks noChangeArrowheads="1"/>
              </p:cNvSpPr>
              <p:nvPr/>
            </p:nvSpPr>
            <p:spPr bwMode="auto">
              <a:xfrm>
                <a:off x="2760" y="2001"/>
                <a:ext cx="240" cy="222"/>
              </a:xfrm>
              <a:prstGeom prst="ellipse">
                <a:avLst/>
              </a:prstGeom>
              <a:noFill/>
              <a:ln w="12700">
                <a:solidFill>
                  <a:srgbClr val="000000"/>
                </a:solidFill>
                <a:round/>
                <a:headEnd/>
                <a:tailEnd/>
              </a:ln>
            </p:spPr>
            <p:txBody>
              <a:bodyPr/>
              <a:lstStyle/>
              <a:p>
                <a:endParaRPr lang="en-US"/>
              </a:p>
            </p:txBody>
          </p:sp>
          <p:sp>
            <p:nvSpPr>
              <p:cNvPr id="19498" name="Rectangle 42"/>
              <p:cNvSpPr>
                <a:spLocks noChangeArrowheads="1"/>
              </p:cNvSpPr>
              <p:nvPr/>
            </p:nvSpPr>
            <p:spPr bwMode="auto">
              <a:xfrm>
                <a:off x="2592" y="2025"/>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1" name="Group 43"/>
            <p:cNvGrpSpPr>
              <a:grpSpLocks/>
            </p:cNvGrpSpPr>
            <p:nvPr/>
          </p:nvGrpSpPr>
          <p:grpSpPr bwMode="auto">
            <a:xfrm>
              <a:off x="3524" y="2378"/>
              <a:ext cx="412" cy="222"/>
              <a:chOff x="3120" y="2352"/>
              <a:chExt cx="412" cy="222"/>
            </a:xfrm>
          </p:grpSpPr>
          <p:sp>
            <p:nvSpPr>
              <p:cNvPr id="19500" name="Oval 44"/>
              <p:cNvSpPr>
                <a:spLocks noChangeArrowheads="1"/>
              </p:cNvSpPr>
              <p:nvPr/>
            </p:nvSpPr>
            <p:spPr bwMode="auto">
              <a:xfrm>
                <a:off x="3120" y="2352"/>
                <a:ext cx="240" cy="222"/>
              </a:xfrm>
              <a:prstGeom prst="ellipse">
                <a:avLst/>
              </a:prstGeom>
              <a:noFill/>
              <a:ln w="12700">
                <a:solidFill>
                  <a:srgbClr val="000000"/>
                </a:solidFill>
                <a:round/>
                <a:headEnd/>
                <a:tailEnd/>
              </a:ln>
            </p:spPr>
            <p:txBody>
              <a:bodyPr/>
              <a:lstStyle/>
              <a:p>
                <a:endParaRPr lang="en-US"/>
              </a:p>
            </p:txBody>
          </p:sp>
          <p:sp>
            <p:nvSpPr>
              <p:cNvPr id="19501" name="Rectangle 45"/>
              <p:cNvSpPr>
                <a:spLocks noChangeArrowheads="1"/>
              </p:cNvSpPr>
              <p:nvPr/>
            </p:nvSpPr>
            <p:spPr bwMode="auto">
              <a:xfrm>
                <a:off x="3360" y="2400"/>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2" name="Group 46"/>
            <p:cNvGrpSpPr>
              <a:grpSpLocks/>
            </p:cNvGrpSpPr>
            <p:nvPr/>
          </p:nvGrpSpPr>
          <p:grpSpPr bwMode="auto">
            <a:xfrm>
              <a:off x="1700" y="2378"/>
              <a:ext cx="412" cy="222"/>
              <a:chOff x="1248" y="2352"/>
              <a:chExt cx="412" cy="222"/>
            </a:xfrm>
          </p:grpSpPr>
          <p:sp>
            <p:nvSpPr>
              <p:cNvPr id="19503" name="Oval 47"/>
              <p:cNvSpPr>
                <a:spLocks noChangeArrowheads="1"/>
              </p:cNvSpPr>
              <p:nvPr/>
            </p:nvSpPr>
            <p:spPr bwMode="auto">
              <a:xfrm>
                <a:off x="1248" y="2352"/>
                <a:ext cx="240" cy="222"/>
              </a:xfrm>
              <a:prstGeom prst="ellipse">
                <a:avLst/>
              </a:prstGeom>
              <a:noFill/>
              <a:ln w="12700">
                <a:solidFill>
                  <a:srgbClr val="000000"/>
                </a:solidFill>
                <a:round/>
                <a:headEnd/>
                <a:tailEnd/>
              </a:ln>
            </p:spPr>
            <p:txBody>
              <a:bodyPr/>
              <a:lstStyle/>
              <a:p>
                <a:endParaRPr lang="en-US"/>
              </a:p>
            </p:txBody>
          </p:sp>
          <p:sp>
            <p:nvSpPr>
              <p:cNvPr id="19504" name="Rectangle 48"/>
              <p:cNvSpPr>
                <a:spLocks noChangeArrowheads="1"/>
              </p:cNvSpPr>
              <p:nvPr/>
            </p:nvSpPr>
            <p:spPr bwMode="auto">
              <a:xfrm>
                <a:off x="1488" y="2400"/>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3" name="Group 49"/>
            <p:cNvGrpSpPr>
              <a:grpSpLocks/>
            </p:cNvGrpSpPr>
            <p:nvPr/>
          </p:nvGrpSpPr>
          <p:grpSpPr bwMode="auto">
            <a:xfrm>
              <a:off x="1220" y="1994"/>
              <a:ext cx="384" cy="247"/>
              <a:chOff x="864" y="2001"/>
              <a:chExt cx="384" cy="222"/>
            </a:xfrm>
          </p:grpSpPr>
          <p:sp>
            <p:nvSpPr>
              <p:cNvPr id="19506" name="Oval 50"/>
              <p:cNvSpPr>
                <a:spLocks noChangeArrowheads="1"/>
              </p:cNvSpPr>
              <p:nvPr/>
            </p:nvSpPr>
            <p:spPr bwMode="auto">
              <a:xfrm>
                <a:off x="1008" y="2001"/>
                <a:ext cx="240" cy="222"/>
              </a:xfrm>
              <a:prstGeom prst="ellipse">
                <a:avLst/>
              </a:prstGeom>
              <a:noFill/>
              <a:ln w="12700">
                <a:solidFill>
                  <a:srgbClr val="000000"/>
                </a:solidFill>
                <a:round/>
                <a:headEnd/>
                <a:tailEnd/>
              </a:ln>
            </p:spPr>
            <p:txBody>
              <a:bodyPr/>
              <a:lstStyle/>
              <a:p>
                <a:endParaRPr lang="en-US"/>
              </a:p>
            </p:txBody>
          </p:sp>
          <p:sp>
            <p:nvSpPr>
              <p:cNvPr id="19507" name="Rectangle 51"/>
              <p:cNvSpPr>
                <a:spLocks noChangeArrowheads="1"/>
              </p:cNvSpPr>
              <p:nvPr/>
            </p:nvSpPr>
            <p:spPr bwMode="auto">
              <a:xfrm>
                <a:off x="864" y="2025"/>
                <a:ext cx="172" cy="156"/>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aphicFrame>
          <p:nvGraphicFramePr>
            <p:cNvPr id="19508" name="Object 52"/>
            <p:cNvGraphicFramePr>
              <a:graphicFrameLocks noChangeAspect="1"/>
            </p:cNvGraphicFramePr>
            <p:nvPr/>
          </p:nvGraphicFramePr>
          <p:xfrm>
            <a:off x="3408" y="2234"/>
            <a:ext cx="66" cy="234"/>
          </p:xfrm>
          <a:graphic>
            <a:graphicData uri="http://schemas.openxmlformats.org/presentationml/2006/ole">
              <p:oleObj spid="_x0000_s545800" name="CS ChemDraw Drawing" r:id="rId9" imgW="65521" imgH="230037" progId="">
                <p:embed/>
              </p:oleObj>
            </a:graphicData>
          </a:graphic>
        </p:graphicFrame>
        <p:graphicFrame>
          <p:nvGraphicFramePr>
            <p:cNvPr id="19509" name="Object 53"/>
            <p:cNvGraphicFramePr>
              <a:graphicFrameLocks noChangeAspect="1"/>
            </p:cNvGraphicFramePr>
            <p:nvPr/>
          </p:nvGraphicFramePr>
          <p:xfrm>
            <a:off x="1604" y="2234"/>
            <a:ext cx="66" cy="234"/>
          </p:xfrm>
          <a:graphic>
            <a:graphicData uri="http://schemas.openxmlformats.org/presentationml/2006/ole">
              <p:oleObj spid="_x0000_s545801" name="CS ChemDraw Drawing" r:id="rId10" imgW="65521" imgH="230037" progId="">
                <p:embed/>
              </p:oleObj>
            </a:graphicData>
          </a:graphic>
        </p:graphicFrame>
        <p:graphicFrame>
          <p:nvGraphicFramePr>
            <p:cNvPr id="19510" name="Object 54"/>
            <p:cNvGraphicFramePr>
              <a:graphicFrameLocks noChangeAspect="1"/>
            </p:cNvGraphicFramePr>
            <p:nvPr/>
          </p:nvGraphicFramePr>
          <p:xfrm>
            <a:off x="3908" y="1082"/>
            <a:ext cx="66" cy="234"/>
          </p:xfrm>
          <a:graphic>
            <a:graphicData uri="http://schemas.openxmlformats.org/presentationml/2006/ole">
              <p:oleObj spid="_x0000_s545802" name="CS ChemDraw Drawing" r:id="rId11" imgW="65521" imgH="230037" progId="">
                <p:embed/>
              </p:oleObj>
            </a:graphicData>
          </a:graphic>
        </p:graphicFrame>
        <p:graphicFrame>
          <p:nvGraphicFramePr>
            <p:cNvPr id="19511" name="Object 55"/>
            <p:cNvGraphicFramePr>
              <a:graphicFrameLocks noChangeAspect="1"/>
            </p:cNvGraphicFramePr>
            <p:nvPr/>
          </p:nvGraphicFramePr>
          <p:xfrm>
            <a:off x="3648" y="1658"/>
            <a:ext cx="66" cy="234"/>
          </p:xfrm>
          <a:graphic>
            <a:graphicData uri="http://schemas.openxmlformats.org/presentationml/2006/ole">
              <p:oleObj spid="_x0000_s545803" name="CS ChemDraw Drawing" r:id="rId12" imgW="65521" imgH="230037" progId="">
                <p:embed/>
              </p:oleObj>
            </a:graphicData>
          </a:graphic>
        </p:graphicFrame>
        <p:graphicFrame>
          <p:nvGraphicFramePr>
            <p:cNvPr id="19512" name="Object 56"/>
            <p:cNvGraphicFramePr>
              <a:graphicFrameLocks noChangeAspect="1"/>
            </p:cNvGraphicFramePr>
            <p:nvPr/>
          </p:nvGraphicFramePr>
          <p:xfrm>
            <a:off x="1920" y="1658"/>
            <a:ext cx="66" cy="234"/>
          </p:xfrm>
          <a:graphic>
            <a:graphicData uri="http://schemas.openxmlformats.org/presentationml/2006/ole">
              <p:oleObj spid="_x0000_s545804" name="CS ChemDraw Drawing" r:id="rId13" imgW="65521" imgH="230037" progId="">
                <p:embed/>
              </p:oleObj>
            </a:graphicData>
          </a:graphic>
        </p:graphicFrame>
        <p:grpSp>
          <p:nvGrpSpPr>
            <p:cNvPr id="14" name="Group 57"/>
            <p:cNvGrpSpPr>
              <a:grpSpLocks/>
            </p:cNvGrpSpPr>
            <p:nvPr/>
          </p:nvGrpSpPr>
          <p:grpSpPr bwMode="auto">
            <a:xfrm>
              <a:off x="2564" y="2378"/>
              <a:ext cx="508" cy="222"/>
              <a:chOff x="2160" y="2352"/>
              <a:chExt cx="508" cy="222"/>
            </a:xfrm>
          </p:grpSpPr>
          <p:grpSp>
            <p:nvGrpSpPr>
              <p:cNvPr id="15" name="Group 58"/>
              <p:cNvGrpSpPr>
                <a:grpSpLocks/>
              </p:cNvGrpSpPr>
              <p:nvPr/>
            </p:nvGrpSpPr>
            <p:grpSpPr bwMode="auto">
              <a:xfrm>
                <a:off x="2160" y="2352"/>
                <a:ext cx="384" cy="222"/>
                <a:chOff x="2160" y="2352"/>
                <a:chExt cx="384" cy="222"/>
              </a:xfrm>
            </p:grpSpPr>
            <p:sp>
              <p:nvSpPr>
                <p:cNvPr id="19515" name="Oval 59"/>
                <p:cNvSpPr>
                  <a:spLocks noChangeArrowheads="1"/>
                </p:cNvSpPr>
                <p:nvPr/>
              </p:nvSpPr>
              <p:spPr bwMode="auto">
                <a:xfrm>
                  <a:off x="2160" y="2352"/>
                  <a:ext cx="240" cy="222"/>
                </a:xfrm>
                <a:prstGeom prst="ellipse">
                  <a:avLst/>
                </a:prstGeom>
                <a:noFill/>
                <a:ln w="12700">
                  <a:solidFill>
                    <a:srgbClr val="000000"/>
                  </a:solidFill>
                  <a:round/>
                  <a:headEnd/>
                  <a:tailEnd/>
                </a:ln>
              </p:spPr>
              <p:txBody>
                <a:bodyPr/>
                <a:lstStyle/>
                <a:p>
                  <a:endParaRPr lang="en-US"/>
                </a:p>
              </p:txBody>
            </p:sp>
            <p:sp>
              <p:nvSpPr>
                <p:cNvPr id="19516" name="Rectangle 60"/>
                <p:cNvSpPr>
                  <a:spLocks noChangeArrowheads="1"/>
                </p:cNvSpPr>
                <p:nvPr/>
              </p:nvSpPr>
              <p:spPr bwMode="auto">
                <a:xfrm>
                  <a:off x="2400" y="2400"/>
                  <a:ext cx="144"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½</a:t>
                  </a:r>
                </a:p>
              </p:txBody>
            </p:sp>
          </p:grpSp>
          <p:sp>
            <p:nvSpPr>
              <p:cNvPr id="19517" name="Rectangle 61"/>
              <p:cNvSpPr>
                <a:spLocks noChangeArrowheads="1"/>
              </p:cNvSpPr>
              <p:nvPr/>
            </p:nvSpPr>
            <p:spPr bwMode="auto">
              <a:xfrm>
                <a:off x="2496" y="2400"/>
                <a:ext cx="172"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a:t>
                </a:r>
              </a:p>
            </p:txBody>
          </p:sp>
        </p:grpSp>
        <p:grpSp>
          <p:nvGrpSpPr>
            <p:cNvPr id="16" name="Group 62"/>
            <p:cNvGrpSpPr>
              <a:grpSpLocks/>
            </p:cNvGrpSpPr>
            <p:nvPr/>
          </p:nvGrpSpPr>
          <p:grpSpPr bwMode="auto">
            <a:xfrm>
              <a:off x="2036" y="2027"/>
              <a:ext cx="480" cy="222"/>
              <a:chOff x="2208" y="864"/>
              <a:chExt cx="480" cy="222"/>
            </a:xfrm>
          </p:grpSpPr>
          <p:sp>
            <p:nvSpPr>
              <p:cNvPr id="19519" name="Rectangle 63"/>
              <p:cNvSpPr>
                <a:spLocks noChangeArrowheads="1"/>
              </p:cNvSpPr>
              <p:nvPr/>
            </p:nvSpPr>
            <p:spPr bwMode="auto">
              <a:xfrm>
                <a:off x="2208" y="864"/>
                <a:ext cx="144"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½</a:t>
                </a:r>
              </a:p>
            </p:txBody>
          </p:sp>
          <p:grpSp>
            <p:nvGrpSpPr>
              <p:cNvPr id="17" name="Group 64"/>
              <p:cNvGrpSpPr>
                <a:grpSpLocks/>
              </p:cNvGrpSpPr>
              <p:nvPr/>
            </p:nvGrpSpPr>
            <p:grpSpPr bwMode="auto">
              <a:xfrm>
                <a:off x="2304" y="864"/>
                <a:ext cx="384" cy="222"/>
                <a:chOff x="2304" y="864"/>
                <a:chExt cx="384" cy="222"/>
              </a:xfrm>
            </p:grpSpPr>
            <p:sp>
              <p:nvSpPr>
                <p:cNvPr id="19521" name="Oval 65"/>
                <p:cNvSpPr>
                  <a:spLocks noChangeArrowheads="1"/>
                </p:cNvSpPr>
                <p:nvPr/>
              </p:nvSpPr>
              <p:spPr bwMode="auto">
                <a:xfrm>
                  <a:off x="2448" y="864"/>
                  <a:ext cx="240" cy="222"/>
                </a:xfrm>
                <a:prstGeom prst="ellipse">
                  <a:avLst/>
                </a:prstGeom>
                <a:noFill/>
                <a:ln w="12700">
                  <a:solidFill>
                    <a:srgbClr val="000000"/>
                  </a:solidFill>
                  <a:round/>
                  <a:headEnd/>
                  <a:tailEnd/>
                </a:ln>
              </p:spPr>
              <p:txBody>
                <a:bodyPr/>
                <a:lstStyle/>
                <a:p>
                  <a:endParaRPr lang="en-US"/>
                </a:p>
              </p:txBody>
            </p:sp>
            <p:sp>
              <p:nvSpPr>
                <p:cNvPr id="19522" name="Rectangle 66"/>
                <p:cNvSpPr>
                  <a:spLocks noChangeArrowheads="1"/>
                </p:cNvSpPr>
                <p:nvPr/>
              </p:nvSpPr>
              <p:spPr bwMode="auto">
                <a:xfrm>
                  <a:off x="2304" y="864"/>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graphicFrame>
          <p:nvGraphicFramePr>
            <p:cNvPr id="19523" name="Object 67"/>
            <p:cNvGraphicFramePr>
              <a:graphicFrameLocks noChangeAspect="1"/>
            </p:cNvGraphicFramePr>
            <p:nvPr/>
          </p:nvGraphicFramePr>
          <p:xfrm>
            <a:off x="2498" y="2234"/>
            <a:ext cx="66" cy="234"/>
          </p:xfrm>
          <a:graphic>
            <a:graphicData uri="http://schemas.openxmlformats.org/presentationml/2006/ole">
              <p:oleObj spid="_x0000_s545805" name="CS ChemDraw Drawing" r:id="rId14" imgW="65521" imgH="230037" progId="">
                <p:embed/>
              </p:oleObj>
            </a:graphicData>
          </a:graphic>
        </p:graphicFrame>
        <p:graphicFrame>
          <p:nvGraphicFramePr>
            <p:cNvPr id="19524" name="Object 68"/>
            <p:cNvGraphicFramePr>
              <a:graphicFrameLocks noChangeAspect="1"/>
            </p:cNvGraphicFramePr>
            <p:nvPr/>
          </p:nvGraphicFramePr>
          <p:xfrm>
            <a:off x="2756" y="1658"/>
            <a:ext cx="66" cy="234"/>
          </p:xfrm>
          <a:graphic>
            <a:graphicData uri="http://schemas.openxmlformats.org/presentationml/2006/ole">
              <p:oleObj spid="_x0000_s545806" name="CS ChemDraw Drawing" r:id="rId15" imgW="65521" imgH="230037" progId="">
                <p:embed/>
              </p:oleObj>
            </a:graphicData>
          </a:graphic>
        </p:graphicFrame>
      </p:grpSp>
      <p:grpSp>
        <p:nvGrpSpPr>
          <p:cNvPr id="18" name="Group 69"/>
          <p:cNvGrpSpPr>
            <a:grpSpLocks/>
          </p:cNvGrpSpPr>
          <p:nvPr/>
        </p:nvGrpSpPr>
        <p:grpSpPr bwMode="auto">
          <a:xfrm>
            <a:off x="914400" y="1336675"/>
            <a:ext cx="7391400" cy="4162425"/>
            <a:chOff x="576" y="842"/>
            <a:chExt cx="4656" cy="2622"/>
          </a:xfrm>
        </p:grpSpPr>
        <p:graphicFrame>
          <p:nvGraphicFramePr>
            <p:cNvPr id="19526" name="Object 70"/>
            <p:cNvGraphicFramePr>
              <a:graphicFrameLocks noChangeAspect="1"/>
            </p:cNvGraphicFramePr>
            <p:nvPr/>
          </p:nvGraphicFramePr>
          <p:xfrm>
            <a:off x="3044" y="1088"/>
            <a:ext cx="66" cy="234"/>
          </p:xfrm>
          <a:graphic>
            <a:graphicData uri="http://schemas.openxmlformats.org/presentationml/2006/ole">
              <p:oleObj spid="_x0000_s545796" name="CS ChemDraw Drawing" r:id="rId16" imgW="65521" imgH="230037" progId="">
                <p:embed/>
              </p:oleObj>
            </a:graphicData>
          </a:graphic>
        </p:graphicFrame>
        <p:grpSp>
          <p:nvGrpSpPr>
            <p:cNvPr id="19" name="Group 71"/>
            <p:cNvGrpSpPr>
              <a:grpSpLocks/>
            </p:cNvGrpSpPr>
            <p:nvPr/>
          </p:nvGrpSpPr>
          <p:grpSpPr bwMode="auto">
            <a:xfrm>
              <a:off x="3140" y="1274"/>
              <a:ext cx="508" cy="222"/>
              <a:chOff x="2160" y="2352"/>
              <a:chExt cx="508" cy="222"/>
            </a:xfrm>
          </p:grpSpPr>
          <p:grpSp>
            <p:nvGrpSpPr>
              <p:cNvPr id="20" name="Group 72"/>
              <p:cNvGrpSpPr>
                <a:grpSpLocks/>
              </p:cNvGrpSpPr>
              <p:nvPr/>
            </p:nvGrpSpPr>
            <p:grpSpPr bwMode="auto">
              <a:xfrm>
                <a:off x="2160" y="2352"/>
                <a:ext cx="384" cy="222"/>
                <a:chOff x="2160" y="2352"/>
                <a:chExt cx="384" cy="222"/>
              </a:xfrm>
            </p:grpSpPr>
            <p:sp>
              <p:nvSpPr>
                <p:cNvPr id="19529" name="Oval 73"/>
                <p:cNvSpPr>
                  <a:spLocks noChangeArrowheads="1"/>
                </p:cNvSpPr>
                <p:nvPr/>
              </p:nvSpPr>
              <p:spPr bwMode="auto">
                <a:xfrm>
                  <a:off x="2160" y="2352"/>
                  <a:ext cx="240" cy="222"/>
                </a:xfrm>
                <a:prstGeom prst="ellipse">
                  <a:avLst/>
                </a:prstGeom>
                <a:noFill/>
                <a:ln w="12700">
                  <a:solidFill>
                    <a:srgbClr val="000000"/>
                  </a:solidFill>
                  <a:round/>
                  <a:headEnd/>
                  <a:tailEnd/>
                </a:ln>
              </p:spPr>
              <p:txBody>
                <a:bodyPr/>
                <a:lstStyle/>
                <a:p>
                  <a:endParaRPr lang="en-US"/>
                </a:p>
              </p:txBody>
            </p:sp>
            <p:sp>
              <p:nvSpPr>
                <p:cNvPr id="19530" name="Rectangle 74"/>
                <p:cNvSpPr>
                  <a:spLocks noChangeArrowheads="1"/>
                </p:cNvSpPr>
                <p:nvPr/>
              </p:nvSpPr>
              <p:spPr bwMode="auto">
                <a:xfrm>
                  <a:off x="2400" y="2400"/>
                  <a:ext cx="144"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½</a:t>
                  </a:r>
                </a:p>
              </p:txBody>
            </p:sp>
          </p:grpSp>
          <p:sp>
            <p:nvSpPr>
              <p:cNvPr id="19531" name="Rectangle 75"/>
              <p:cNvSpPr>
                <a:spLocks noChangeArrowheads="1"/>
              </p:cNvSpPr>
              <p:nvPr/>
            </p:nvSpPr>
            <p:spPr bwMode="auto">
              <a:xfrm>
                <a:off x="2496" y="2400"/>
                <a:ext cx="172"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a:t>
                </a:r>
              </a:p>
            </p:txBody>
          </p:sp>
        </p:grpSp>
        <p:graphicFrame>
          <p:nvGraphicFramePr>
            <p:cNvPr id="19532" name="Object 76"/>
            <p:cNvGraphicFramePr>
              <a:graphicFrameLocks noChangeAspect="1"/>
            </p:cNvGraphicFramePr>
            <p:nvPr/>
          </p:nvGraphicFramePr>
          <p:xfrm>
            <a:off x="576" y="3168"/>
            <a:ext cx="1536" cy="283"/>
          </p:xfrm>
          <a:graphic>
            <a:graphicData uri="http://schemas.openxmlformats.org/presentationml/2006/ole">
              <p:oleObj spid="_x0000_s545797" name="Equation" r:id="rId17" imgW="1168200" imgH="215640" progId="">
                <p:embed/>
              </p:oleObj>
            </a:graphicData>
          </a:graphic>
        </p:graphicFrame>
        <p:graphicFrame>
          <p:nvGraphicFramePr>
            <p:cNvPr id="19533" name="Object 77"/>
            <p:cNvGraphicFramePr>
              <a:graphicFrameLocks noChangeAspect="1"/>
            </p:cNvGraphicFramePr>
            <p:nvPr/>
          </p:nvGraphicFramePr>
          <p:xfrm>
            <a:off x="4176" y="3168"/>
            <a:ext cx="1056" cy="268"/>
          </p:xfrm>
          <a:graphic>
            <a:graphicData uri="http://schemas.openxmlformats.org/presentationml/2006/ole">
              <p:oleObj spid="_x0000_s545798" name="Equation" r:id="rId18" imgW="850680" imgH="215640" progId="">
                <p:embed/>
              </p:oleObj>
            </a:graphicData>
          </a:graphic>
        </p:graphicFrame>
        <p:graphicFrame>
          <p:nvGraphicFramePr>
            <p:cNvPr id="19534" name="Object 78"/>
            <p:cNvGraphicFramePr>
              <a:graphicFrameLocks noChangeAspect="1"/>
            </p:cNvGraphicFramePr>
            <p:nvPr/>
          </p:nvGraphicFramePr>
          <p:xfrm>
            <a:off x="2448" y="3168"/>
            <a:ext cx="1440" cy="296"/>
          </p:xfrm>
          <a:graphic>
            <a:graphicData uri="http://schemas.openxmlformats.org/presentationml/2006/ole">
              <p:oleObj spid="_x0000_s545799" name="Equation" r:id="rId19" imgW="1168200" imgH="241200" progId="">
                <p:embed/>
              </p:oleObj>
            </a:graphicData>
          </a:graphic>
        </p:graphicFrame>
        <p:grpSp>
          <p:nvGrpSpPr>
            <p:cNvPr id="21" name="Group 79"/>
            <p:cNvGrpSpPr>
              <a:grpSpLocks/>
            </p:cNvGrpSpPr>
            <p:nvPr/>
          </p:nvGrpSpPr>
          <p:grpSpPr bwMode="auto">
            <a:xfrm>
              <a:off x="2592" y="842"/>
              <a:ext cx="480" cy="222"/>
              <a:chOff x="3936" y="816"/>
              <a:chExt cx="480" cy="222"/>
            </a:xfrm>
          </p:grpSpPr>
          <p:sp>
            <p:nvSpPr>
              <p:cNvPr id="19536" name="Oval 80"/>
              <p:cNvSpPr>
                <a:spLocks noChangeArrowheads="1"/>
              </p:cNvSpPr>
              <p:nvPr/>
            </p:nvSpPr>
            <p:spPr bwMode="auto">
              <a:xfrm>
                <a:off x="4148" y="816"/>
                <a:ext cx="240" cy="222"/>
              </a:xfrm>
              <a:prstGeom prst="ellipse">
                <a:avLst/>
              </a:prstGeom>
              <a:noFill/>
              <a:ln w="12700">
                <a:noFill/>
                <a:round/>
                <a:headEnd/>
                <a:tailEnd/>
              </a:ln>
            </p:spPr>
            <p:txBody>
              <a:bodyPr/>
              <a:lstStyle/>
              <a:p>
                <a:endParaRPr lang="en-US"/>
              </a:p>
            </p:txBody>
          </p:sp>
          <p:sp>
            <p:nvSpPr>
              <p:cNvPr id="19537" name="Rectangle 81"/>
              <p:cNvSpPr>
                <a:spLocks noChangeArrowheads="1"/>
              </p:cNvSpPr>
              <p:nvPr/>
            </p:nvSpPr>
            <p:spPr bwMode="auto">
              <a:xfrm>
                <a:off x="3936" y="816"/>
                <a:ext cx="144" cy="173"/>
              </a:xfrm>
              <a:prstGeom prst="rect">
                <a:avLst/>
              </a:prstGeom>
              <a:noFill/>
              <a:ln w="9525">
                <a:noFill/>
                <a:miter lim="800000"/>
                <a:headEnd/>
                <a:tailEnd/>
              </a:ln>
              <a:effectLst/>
            </p:spPr>
            <p:txBody>
              <a:bodyPr>
                <a:spAutoFit/>
              </a:bodyPr>
              <a:lstStyle/>
              <a:p>
                <a:r>
                  <a:rPr lang="en-US" sz="1200" b="1">
                    <a:solidFill>
                      <a:schemeClr val="accent2"/>
                    </a:solidFill>
                    <a:latin typeface="Arial" pitchFamily="34" charset="0"/>
                  </a:rPr>
                  <a:t>½</a:t>
                </a:r>
              </a:p>
            </p:txBody>
          </p:sp>
          <p:sp>
            <p:nvSpPr>
              <p:cNvPr id="19538" name="Oval 82"/>
              <p:cNvSpPr>
                <a:spLocks noChangeArrowheads="1"/>
              </p:cNvSpPr>
              <p:nvPr/>
            </p:nvSpPr>
            <p:spPr bwMode="auto">
              <a:xfrm>
                <a:off x="4176" y="816"/>
                <a:ext cx="240" cy="222"/>
              </a:xfrm>
              <a:prstGeom prst="ellipse">
                <a:avLst/>
              </a:prstGeom>
              <a:noFill/>
              <a:ln w="12700">
                <a:solidFill>
                  <a:schemeClr val="accent2"/>
                </a:solidFill>
                <a:round/>
                <a:headEnd/>
                <a:tailEnd/>
              </a:ln>
            </p:spPr>
            <p:txBody>
              <a:bodyPr/>
              <a:lstStyle/>
              <a:p>
                <a:endParaRPr lang="en-US" sz="2000">
                  <a:solidFill>
                    <a:srgbClr val="0000CC"/>
                  </a:solidFill>
                  <a:latin typeface="Arial" pitchFamily="34" charset="0"/>
                </a:endParaRPr>
              </a:p>
            </p:txBody>
          </p:sp>
          <p:sp>
            <p:nvSpPr>
              <p:cNvPr id="19539" name="Rectangle 83"/>
              <p:cNvSpPr>
                <a:spLocks noChangeArrowheads="1"/>
              </p:cNvSpPr>
              <p:nvPr/>
            </p:nvSpPr>
            <p:spPr bwMode="auto">
              <a:xfrm>
                <a:off x="4032" y="816"/>
                <a:ext cx="172" cy="173"/>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grpSp>
      </p:grpSp>
      <p:grpSp>
        <p:nvGrpSpPr>
          <p:cNvPr id="22" name="Group 89"/>
          <p:cNvGrpSpPr>
            <a:grpSpLocks noChangeAspect="1"/>
          </p:cNvGrpSpPr>
          <p:nvPr/>
        </p:nvGrpSpPr>
        <p:grpSpPr bwMode="auto">
          <a:xfrm>
            <a:off x="1143000" y="381000"/>
            <a:ext cx="4686300" cy="1725613"/>
            <a:chOff x="720" y="240"/>
            <a:chExt cx="2952" cy="1087"/>
          </a:xfrm>
        </p:grpSpPr>
        <p:sp>
          <p:nvSpPr>
            <p:cNvPr id="19544" name="AutoShape 88"/>
            <p:cNvSpPr>
              <a:spLocks noChangeAspect="1" noChangeArrowheads="1" noTextEdit="1"/>
            </p:cNvSpPr>
            <p:nvPr/>
          </p:nvSpPr>
          <p:spPr bwMode="auto">
            <a:xfrm>
              <a:off x="720" y="240"/>
              <a:ext cx="1592" cy="1087"/>
            </a:xfrm>
            <a:prstGeom prst="rect">
              <a:avLst/>
            </a:prstGeom>
            <a:noFill/>
            <a:ln w="9525">
              <a:noFill/>
              <a:miter lim="800000"/>
              <a:headEnd/>
              <a:tailEnd/>
            </a:ln>
          </p:spPr>
          <p:txBody>
            <a:bodyPr/>
            <a:lstStyle/>
            <a:p>
              <a:endParaRPr lang="en-US"/>
            </a:p>
          </p:txBody>
        </p:sp>
        <p:grpSp>
          <p:nvGrpSpPr>
            <p:cNvPr id="23" name="Group 92"/>
            <p:cNvGrpSpPr>
              <a:grpSpLocks/>
            </p:cNvGrpSpPr>
            <p:nvPr/>
          </p:nvGrpSpPr>
          <p:grpSpPr bwMode="auto">
            <a:xfrm>
              <a:off x="1407" y="412"/>
              <a:ext cx="171" cy="301"/>
              <a:chOff x="1407" y="412"/>
              <a:chExt cx="171" cy="301"/>
            </a:xfrm>
          </p:grpSpPr>
          <p:sp>
            <p:nvSpPr>
              <p:cNvPr id="19546" name="Freeform 90"/>
              <p:cNvSpPr>
                <a:spLocks/>
              </p:cNvSpPr>
              <p:nvPr/>
            </p:nvSpPr>
            <p:spPr bwMode="auto">
              <a:xfrm>
                <a:off x="1428" y="412"/>
                <a:ext cx="150" cy="253"/>
              </a:xfrm>
              <a:custGeom>
                <a:avLst/>
                <a:gdLst/>
                <a:ahLst/>
                <a:cxnLst>
                  <a:cxn ang="0">
                    <a:pos x="150" y="4"/>
                  </a:cxn>
                  <a:cxn ang="0">
                    <a:pos x="146" y="0"/>
                  </a:cxn>
                  <a:cxn ang="0">
                    <a:pos x="0" y="249"/>
                  </a:cxn>
                  <a:cxn ang="0">
                    <a:pos x="4" y="253"/>
                  </a:cxn>
                  <a:cxn ang="0">
                    <a:pos x="150" y="4"/>
                  </a:cxn>
                </a:cxnLst>
                <a:rect l="0" t="0" r="r" b="b"/>
                <a:pathLst>
                  <a:path w="150" h="253">
                    <a:moveTo>
                      <a:pt x="150" y="4"/>
                    </a:moveTo>
                    <a:lnTo>
                      <a:pt x="146" y="0"/>
                    </a:lnTo>
                    <a:lnTo>
                      <a:pt x="0" y="249"/>
                    </a:lnTo>
                    <a:lnTo>
                      <a:pt x="4" y="253"/>
                    </a:lnTo>
                    <a:lnTo>
                      <a:pt x="150" y="4"/>
                    </a:lnTo>
                    <a:close/>
                  </a:path>
                </a:pathLst>
              </a:custGeom>
              <a:solidFill>
                <a:srgbClr val="000000"/>
              </a:solidFill>
              <a:ln w="9525">
                <a:noFill/>
                <a:round/>
                <a:headEnd/>
                <a:tailEnd/>
              </a:ln>
            </p:spPr>
            <p:txBody>
              <a:bodyPr/>
              <a:lstStyle/>
              <a:p>
                <a:endParaRPr lang="en-US"/>
              </a:p>
            </p:txBody>
          </p:sp>
          <p:sp>
            <p:nvSpPr>
              <p:cNvPr id="19547" name="Freeform 91"/>
              <p:cNvSpPr>
                <a:spLocks/>
              </p:cNvSpPr>
              <p:nvPr/>
            </p:nvSpPr>
            <p:spPr bwMode="auto">
              <a:xfrm>
                <a:off x="1407" y="635"/>
                <a:ext cx="64" cy="78"/>
              </a:xfrm>
              <a:custGeom>
                <a:avLst/>
                <a:gdLst/>
                <a:ahLst/>
                <a:cxnLst>
                  <a:cxn ang="0">
                    <a:pos x="4" y="0"/>
                  </a:cxn>
                  <a:cxn ang="0">
                    <a:pos x="0" y="78"/>
                  </a:cxn>
                  <a:cxn ang="0">
                    <a:pos x="64" y="35"/>
                  </a:cxn>
                  <a:cxn ang="0">
                    <a:pos x="4" y="0"/>
                  </a:cxn>
                </a:cxnLst>
                <a:rect l="0" t="0" r="r" b="b"/>
                <a:pathLst>
                  <a:path w="64" h="78">
                    <a:moveTo>
                      <a:pt x="4" y="0"/>
                    </a:moveTo>
                    <a:lnTo>
                      <a:pt x="0" y="78"/>
                    </a:lnTo>
                    <a:lnTo>
                      <a:pt x="64" y="35"/>
                    </a:lnTo>
                    <a:lnTo>
                      <a:pt x="4" y="0"/>
                    </a:lnTo>
                    <a:close/>
                  </a:path>
                </a:pathLst>
              </a:custGeom>
              <a:solidFill>
                <a:srgbClr val="000000"/>
              </a:solidFill>
              <a:ln w="9525">
                <a:noFill/>
                <a:round/>
                <a:headEnd/>
                <a:tailEnd/>
              </a:ln>
            </p:spPr>
            <p:txBody>
              <a:bodyPr/>
              <a:lstStyle/>
              <a:p>
                <a:endParaRPr lang="en-US"/>
              </a:p>
            </p:txBody>
          </p:sp>
        </p:grpSp>
        <p:grpSp>
          <p:nvGrpSpPr>
            <p:cNvPr id="24" name="Group 95"/>
            <p:cNvGrpSpPr>
              <a:grpSpLocks/>
            </p:cNvGrpSpPr>
            <p:nvPr/>
          </p:nvGrpSpPr>
          <p:grpSpPr bwMode="auto">
            <a:xfrm>
              <a:off x="1574" y="377"/>
              <a:ext cx="433" cy="74"/>
              <a:chOff x="1574" y="377"/>
              <a:chExt cx="433" cy="74"/>
            </a:xfrm>
          </p:grpSpPr>
          <p:sp>
            <p:nvSpPr>
              <p:cNvPr id="19549" name="Rectangle 93"/>
              <p:cNvSpPr>
                <a:spLocks noChangeArrowheads="1"/>
              </p:cNvSpPr>
              <p:nvPr/>
            </p:nvSpPr>
            <p:spPr bwMode="auto">
              <a:xfrm>
                <a:off x="1574" y="408"/>
                <a:ext cx="369" cy="8"/>
              </a:xfrm>
              <a:prstGeom prst="rect">
                <a:avLst/>
              </a:prstGeom>
              <a:solidFill>
                <a:srgbClr val="000000"/>
              </a:solidFill>
              <a:ln w="9525">
                <a:noFill/>
                <a:miter lim="800000"/>
                <a:headEnd/>
                <a:tailEnd/>
              </a:ln>
            </p:spPr>
            <p:txBody>
              <a:bodyPr/>
              <a:lstStyle/>
              <a:p>
                <a:endParaRPr lang="en-US"/>
              </a:p>
            </p:txBody>
          </p:sp>
          <p:sp>
            <p:nvSpPr>
              <p:cNvPr id="19550" name="Freeform 94"/>
              <p:cNvSpPr>
                <a:spLocks/>
              </p:cNvSpPr>
              <p:nvPr/>
            </p:nvSpPr>
            <p:spPr bwMode="auto">
              <a:xfrm>
                <a:off x="1934" y="377"/>
                <a:ext cx="73" cy="74"/>
              </a:xfrm>
              <a:custGeom>
                <a:avLst/>
                <a:gdLst/>
                <a:ahLst/>
                <a:cxnLst>
                  <a:cxn ang="0">
                    <a:pos x="0" y="74"/>
                  </a:cxn>
                  <a:cxn ang="0">
                    <a:pos x="73" y="35"/>
                  </a:cxn>
                  <a:cxn ang="0">
                    <a:pos x="0" y="0"/>
                  </a:cxn>
                  <a:cxn ang="0">
                    <a:pos x="0" y="74"/>
                  </a:cxn>
                </a:cxnLst>
                <a:rect l="0" t="0" r="r" b="b"/>
                <a:pathLst>
                  <a:path w="73" h="74">
                    <a:moveTo>
                      <a:pt x="0" y="74"/>
                    </a:moveTo>
                    <a:lnTo>
                      <a:pt x="73" y="35"/>
                    </a:lnTo>
                    <a:lnTo>
                      <a:pt x="0" y="0"/>
                    </a:lnTo>
                    <a:lnTo>
                      <a:pt x="0" y="74"/>
                    </a:lnTo>
                    <a:close/>
                  </a:path>
                </a:pathLst>
              </a:custGeom>
              <a:solidFill>
                <a:srgbClr val="000000"/>
              </a:solidFill>
              <a:ln w="9525">
                <a:noFill/>
                <a:round/>
                <a:headEnd/>
                <a:tailEnd/>
              </a:ln>
            </p:spPr>
            <p:txBody>
              <a:bodyPr/>
              <a:lstStyle/>
              <a:p>
                <a:endParaRPr lang="en-US"/>
              </a:p>
            </p:txBody>
          </p:sp>
        </p:grpSp>
        <p:sp>
          <p:nvSpPr>
            <p:cNvPr id="19552" name="Rectangle 96"/>
            <p:cNvSpPr>
              <a:spLocks noChangeArrowheads="1"/>
            </p:cNvSpPr>
            <p:nvPr/>
          </p:nvSpPr>
          <p:spPr bwMode="auto">
            <a:xfrm>
              <a:off x="1625" y="609"/>
              <a:ext cx="1627" cy="413"/>
            </a:xfrm>
            <a:prstGeom prst="rect">
              <a:avLst/>
            </a:prstGeom>
            <a:noFill/>
            <a:ln w="9525">
              <a:noFill/>
              <a:miter lim="800000"/>
              <a:headEnd/>
              <a:tailEnd/>
            </a:ln>
          </p:spPr>
          <p:txBody>
            <a:bodyPr/>
            <a:lstStyle/>
            <a:p>
              <a:endParaRPr lang="en-US"/>
            </a:p>
          </p:txBody>
        </p:sp>
        <p:sp>
          <p:nvSpPr>
            <p:cNvPr id="19553" name="Rectangle 97"/>
            <p:cNvSpPr>
              <a:spLocks noChangeArrowheads="1"/>
            </p:cNvSpPr>
            <p:nvPr/>
          </p:nvSpPr>
          <p:spPr bwMode="auto">
            <a:xfrm>
              <a:off x="1677" y="643"/>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19554" name="Rectangle 98"/>
            <p:cNvSpPr>
              <a:spLocks noChangeArrowheads="1"/>
            </p:cNvSpPr>
            <p:nvPr/>
          </p:nvSpPr>
          <p:spPr bwMode="auto">
            <a:xfrm>
              <a:off x="2046" y="283"/>
              <a:ext cx="1626" cy="408"/>
            </a:xfrm>
            <a:prstGeom prst="rect">
              <a:avLst/>
            </a:prstGeom>
            <a:noFill/>
            <a:ln w="9525">
              <a:noFill/>
              <a:miter lim="800000"/>
              <a:headEnd/>
              <a:tailEnd/>
            </a:ln>
          </p:spPr>
          <p:txBody>
            <a:bodyPr/>
            <a:lstStyle/>
            <a:p>
              <a:endParaRPr lang="en-US"/>
            </a:p>
          </p:txBody>
        </p:sp>
        <p:sp>
          <p:nvSpPr>
            <p:cNvPr id="19555" name="Rectangle 99"/>
            <p:cNvSpPr>
              <a:spLocks noChangeArrowheads="1"/>
            </p:cNvSpPr>
            <p:nvPr/>
          </p:nvSpPr>
          <p:spPr bwMode="auto">
            <a:xfrm>
              <a:off x="2097" y="313"/>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19556" name="Rectangle 100"/>
            <p:cNvSpPr>
              <a:spLocks noChangeArrowheads="1"/>
            </p:cNvSpPr>
            <p:nvPr/>
          </p:nvSpPr>
          <p:spPr bwMode="auto">
            <a:xfrm>
              <a:off x="2192" y="313"/>
              <a:ext cx="124"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19557" name="Rectangle 101"/>
            <p:cNvSpPr>
              <a:spLocks noChangeArrowheads="1"/>
            </p:cNvSpPr>
            <p:nvPr/>
          </p:nvSpPr>
          <p:spPr bwMode="auto">
            <a:xfrm>
              <a:off x="1278" y="713"/>
              <a:ext cx="1626" cy="408"/>
            </a:xfrm>
            <a:prstGeom prst="rect">
              <a:avLst/>
            </a:prstGeom>
            <a:noFill/>
            <a:ln w="9525">
              <a:noFill/>
              <a:miter lim="800000"/>
              <a:headEnd/>
              <a:tailEnd/>
            </a:ln>
          </p:spPr>
          <p:txBody>
            <a:bodyPr/>
            <a:lstStyle/>
            <a:p>
              <a:endParaRPr lang="en-US"/>
            </a:p>
          </p:txBody>
        </p:sp>
        <p:sp>
          <p:nvSpPr>
            <p:cNvPr id="19558" name="Rectangle 102"/>
            <p:cNvSpPr>
              <a:spLocks noChangeArrowheads="1"/>
            </p:cNvSpPr>
            <p:nvPr/>
          </p:nvSpPr>
          <p:spPr bwMode="auto">
            <a:xfrm>
              <a:off x="1329" y="742"/>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19559" name="Rectangle 103"/>
            <p:cNvSpPr>
              <a:spLocks noChangeArrowheads="1"/>
            </p:cNvSpPr>
            <p:nvPr/>
          </p:nvSpPr>
          <p:spPr bwMode="auto">
            <a:xfrm>
              <a:off x="1415" y="742"/>
              <a:ext cx="124"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94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94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94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94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94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9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utoUpdateAnimBg="0"/>
      <p:bldP spid="19459" grpId="0" animBg="1"/>
      <p:bldP spid="19461" grpId="0" autoUpdateAnimBg="0"/>
      <p:bldP spid="19462"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Slide Number Placeholder 3"/>
          <p:cNvSpPr>
            <a:spLocks noGrp="1"/>
          </p:cNvSpPr>
          <p:nvPr>
            <p:ph type="sldNum" sz="quarter" idx="12"/>
          </p:nvPr>
        </p:nvSpPr>
        <p:spPr/>
        <p:txBody>
          <a:bodyPr/>
          <a:lstStyle/>
          <a:p>
            <a:fld id="{FFD0F05C-55D5-44B1-89BB-8EED4425135A}" type="slidenum">
              <a:rPr lang="en-US"/>
              <a:pPr/>
              <a:t>96</a:t>
            </a:fld>
            <a:endParaRPr lang="en-US"/>
          </a:p>
        </p:txBody>
      </p:sp>
      <p:sp>
        <p:nvSpPr>
          <p:cNvPr id="20482" name="Text Box 2"/>
          <p:cNvSpPr txBox="1">
            <a:spLocks noChangeArrowheads="1"/>
          </p:cNvSpPr>
          <p:nvPr/>
        </p:nvSpPr>
        <p:spPr bwMode="auto">
          <a:xfrm>
            <a:off x="685800" y="4495800"/>
            <a:ext cx="838200" cy="457200"/>
          </a:xfrm>
          <a:prstGeom prst="rect">
            <a:avLst/>
          </a:prstGeom>
          <a:noFill/>
          <a:ln w="9525">
            <a:noFill/>
            <a:miter lim="800000"/>
            <a:headEnd/>
            <a:tailEnd/>
          </a:ln>
          <a:effectLst/>
        </p:spPr>
        <p:txBody>
          <a:bodyPr>
            <a:spAutoFit/>
          </a:bodyPr>
          <a:lstStyle/>
          <a:p>
            <a:pPr>
              <a:spcBef>
                <a:spcPct val="50000"/>
              </a:spcBef>
            </a:pPr>
            <a:r>
              <a:rPr lang="en-US" b="1" i="1">
                <a:solidFill>
                  <a:srgbClr val="FF0000"/>
                </a:solidFill>
              </a:rPr>
              <a:t>Z</a:t>
            </a:r>
            <a:r>
              <a:rPr lang="en-US" b="1">
                <a:solidFill>
                  <a:srgbClr val="FF0000"/>
                </a:solidFill>
              </a:rPr>
              <a:t>=4;                                                                               </a:t>
            </a:r>
          </a:p>
        </p:txBody>
      </p:sp>
      <p:sp>
        <p:nvSpPr>
          <p:cNvPr id="20483" name="Rectangle 3"/>
          <p:cNvSpPr>
            <a:spLocks noChangeArrowheads="1"/>
          </p:cNvSpPr>
          <p:nvPr/>
        </p:nvSpPr>
        <p:spPr bwMode="auto">
          <a:xfrm>
            <a:off x="533400" y="4419600"/>
            <a:ext cx="7924800" cy="1066800"/>
          </a:xfrm>
          <a:prstGeom prst="rect">
            <a:avLst/>
          </a:prstGeom>
          <a:noFill/>
          <a:ln w="9525">
            <a:solidFill>
              <a:srgbClr val="FF0000"/>
            </a:solidFill>
            <a:miter lim="800000"/>
            <a:headEnd/>
            <a:tailEnd/>
          </a:ln>
          <a:effectLst/>
        </p:spPr>
        <p:txBody>
          <a:bodyPr wrap="none" anchor="ctr"/>
          <a:lstStyle/>
          <a:p>
            <a:endParaRPr lang="en-US"/>
          </a:p>
        </p:txBody>
      </p:sp>
      <p:graphicFrame>
        <p:nvGraphicFramePr>
          <p:cNvPr id="20484" name="Object 4"/>
          <p:cNvGraphicFramePr>
            <a:graphicFrameLocks noChangeAspect="1"/>
          </p:cNvGraphicFramePr>
          <p:nvPr/>
        </p:nvGraphicFramePr>
        <p:xfrm>
          <a:off x="5867400" y="457200"/>
          <a:ext cx="1997075" cy="725488"/>
        </p:xfrm>
        <a:graphic>
          <a:graphicData uri="http://schemas.openxmlformats.org/presentationml/2006/ole">
            <p:oleObj spid="_x0000_s546818" name="Equation" r:id="rId3" imgW="558720" imgH="203040" progId="">
              <p:embed/>
            </p:oleObj>
          </a:graphicData>
        </a:graphic>
      </p:graphicFrame>
      <p:grpSp>
        <p:nvGrpSpPr>
          <p:cNvPr id="2" name="Group 6"/>
          <p:cNvGrpSpPr>
            <a:grpSpLocks/>
          </p:cNvGrpSpPr>
          <p:nvPr/>
        </p:nvGrpSpPr>
        <p:grpSpPr bwMode="auto">
          <a:xfrm>
            <a:off x="2851150" y="1336675"/>
            <a:ext cx="2863850" cy="3683000"/>
            <a:chOff x="1796" y="842"/>
            <a:chExt cx="1804" cy="2320"/>
          </a:xfrm>
        </p:grpSpPr>
        <p:graphicFrame>
          <p:nvGraphicFramePr>
            <p:cNvPr id="20487" name="Object 7"/>
            <p:cNvGraphicFramePr>
              <a:graphicFrameLocks noChangeAspect="1"/>
            </p:cNvGraphicFramePr>
            <p:nvPr/>
          </p:nvGraphicFramePr>
          <p:xfrm>
            <a:off x="2784" y="2784"/>
            <a:ext cx="816" cy="378"/>
          </p:xfrm>
          <a:graphic>
            <a:graphicData uri="http://schemas.openxmlformats.org/presentationml/2006/ole">
              <p:oleObj spid="_x0000_s546833" name="Equation" r:id="rId4" imgW="520560" imgH="241200" progId="">
                <p:embed/>
              </p:oleObj>
            </a:graphicData>
          </a:graphic>
        </p:graphicFrame>
        <p:grpSp>
          <p:nvGrpSpPr>
            <p:cNvPr id="3" name="Group 8"/>
            <p:cNvGrpSpPr>
              <a:grpSpLocks/>
            </p:cNvGrpSpPr>
            <p:nvPr/>
          </p:nvGrpSpPr>
          <p:grpSpPr bwMode="auto">
            <a:xfrm>
              <a:off x="1796" y="842"/>
              <a:ext cx="384" cy="222"/>
              <a:chOff x="1440" y="816"/>
              <a:chExt cx="384" cy="222"/>
            </a:xfrm>
          </p:grpSpPr>
          <p:sp>
            <p:nvSpPr>
              <p:cNvPr id="20489" name="Oval 9"/>
              <p:cNvSpPr>
                <a:spLocks noChangeArrowheads="1"/>
              </p:cNvSpPr>
              <p:nvPr/>
            </p:nvSpPr>
            <p:spPr bwMode="auto">
              <a:xfrm>
                <a:off x="1584" y="816"/>
                <a:ext cx="240" cy="222"/>
              </a:xfrm>
              <a:prstGeom prst="ellipse">
                <a:avLst/>
              </a:prstGeom>
              <a:noFill/>
              <a:ln w="12700">
                <a:solidFill>
                  <a:srgbClr val="0000FF"/>
                </a:solidFill>
                <a:round/>
                <a:headEnd/>
                <a:tailEnd/>
              </a:ln>
            </p:spPr>
            <p:txBody>
              <a:bodyPr/>
              <a:lstStyle/>
              <a:p>
                <a:endParaRPr lang="en-US"/>
              </a:p>
            </p:txBody>
          </p:sp>
          <p:sp>
            <p:nvSpPr>
              <p:cNvPr id="20490" name="Rectangle 10"/>
              <p:cNvSpPr>
                <a:spLocks noChangeArrowheads="1"/>
              </p:cNvSpPr>
              <p:nvPr/>
            </p:nvSpPr>
            <p:spPr bwMode="auto">
              <a:xfrm>
                <a:off x="1440" y="816"/>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graphicFrame>
        <p:nvGraphicFramePr>
          <p:cNvPr id="20491" name="Object 11"/>
          <p:cNvGraphicFramePr>
            <a:graphicFrameLocks noChangeAspect="1"/>
          </p:cNvGraphicFramePr>
          <p:nvPr/>
        </p:nvGraphicFramePr>
        <p:xfrm>
          <a:off x="3536950" y="1717675"/>
          <a:ext cx="104775" cy="371475"/>
        </p:xfrm>
        <a:graphic>
          <a:graphicData uri="http://schemas.openxmlformats.org/presentationml/2006/ole">
            <p:oleObj spid="_x0000_s546819" name="CS ChemDraw Drawing" r:id="rId5" imgW="65521" imgH="230037" progId="">
              <p:embed/>
            </p:oleObj>
          </a:graphicData>
        </a:graphic>
      </p:graphicFrame>
      <p:grpSp>
        <p:nvGrpSpPr>
          <p:cNvPr id="4" name="Group 12"/>
          <p:cNvGrpSpPr>
            <a:grpSpLocks/>
          </p:cNvGrpSpPr>
          <p:nvPr/>
        </p:nvGrpSpPr>
        <p:grpSpPr bwMode="auto">
          <a:xfrm>
            <a:off x="1905000" y="2022475"/>
            <a:ext cx="6324600" cy="2978150"/>
            <a:chOff x="1200" y="1274"/>
            <a:chExt cx="3984" cy="1876"/>
          </a:xfrm>
        </p:grpSpPr>
        <p:graphicFrame>
          <p:nvGraphicFramePr>
            <p:cNvPr id="20493" name="Object 13"/>
            <p:cNvGraphicFramePr>
              <a:graphicFrameLocks noChangeAspect="1"/>
            </p:cNvGraphicFramePr>
            <p:nvPr/>
          </p:nvGraphicFramePr>
          <p:xfrm>
            <a:off x="4320" y="2832"/>
            <a:ext cx="864" cy="282"/>
          </p:xfrm>
          <a:graphic>
            <a:graphicData uri="http://schemas.openxmlformats.org/presentationml/2006/ole">
              <p:oleObj spid="_x0000_s546831" name="Equation" r:id="rId6" imgW="622080" imgH="203040" progId="">
                <p:embed/>
              </p:oleObj>
            </a:graphicData>
          </a:graphic>
        </p:graphicFrame>
        <p:graphicFrame>
          <p:nvGraphicFramePr>
            <p:cNvPr id="20494" name="Object 14"/>
            <p:cNvGraphicFramePr>
              <a:graphicFrameLocks noChangeAspect="1"/>
            </p:cNvGraphicFramePr>
            <p:nvPr/>
          </p:nvGraphicFramePr>
          <p:xfrm>
            <a:off x="1200" y="2832"/>
            <a:ext cx="816" cy="318"/>
          </p:xfrm>
          <a:graphic>
            <a:graphicData uri="http://schemas.openxmlformats.org/presentationml/2006/ole">
              <p:oleObj spid="_x0000_s546832" name="Equation" r:id="rId7" imgW="520560" imgH="203040" progId="">
                <p:embed/>
              </p:oleObj>
            </a:graphicData>
          </a:graphic>
        </p:graphicFrame>
        <p:grpSp>
          <p:nvGrpSpPr>
            <p:cNvPr id="5" name="Group 15"/>
            <p:cNvGrpSpPr>
              <a:grpSpLocks/>
            </p:cNvGrpSpPr>
            <p:nvPr/>
          </p:nvGrpSpPr>
          <p:grpSpPr bwMode="auto">
            <a:xfrm>
              <a:off x="2324" y="1274"/>
              <a:ext cx="412" cy="222"/>
              <a:chOff x="1248" y="2352"/>
              <a:chExt cx="412" cy="222"/>
            </a:xfrm>
          </p:grpSpPr>
          <p:sp>
            <p:nvSpPr>
              <p:cNvPr id="20496" name="Oval 16"/>
              <p:cNvSpPr>
                <a:spLocks noChangeArrowheads="1"/>
              </p:cNvSpPr>
              <p:nvPr/>
            </p:nvSpPr>
            <p:spPr bwMode="auto">
              <a:xfrm>
                <a:off x="1248" y="2352"/>
                <a:ext cx="240" cy="222"/>
              </a:xfrm>
              <a:prstGeom prst="ellipse">
                <a:avLst/>
              </a:prstGeom>
              <a:noFill/>
              <a:ln w="12700">
                <a:solidFill>
                  <a:srgbClr val="000000"/>
                </a:solidFill>
                <a:round/>
                <a:headEnd/>
                <a:tailEnd/>
              </a:ln>
            </p:spPr>
            <p:txBody>
              <a:bodyPr/>
              <a:lstStyle/>
              <a:p>
                <a:endParaRPr lang="en-US"/>
              </a:p>
            </p:txBody>
          </p:sp>
          <p:sp>
            <p:nvSpPr>
              <p:cNvPr id="20497" name="Rectangle 17"/>
              <p:cNvSpPr>
                <a:spLocks noChangeArrowheads="1"/>
              </p:cNvSpPr>
              <p:nvPr/>
            </p:nvSpPr>
            <p:spPr bwMode="auto">
              <a:xfrm>
                <a:off x="1488" y="2400"/>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sp>
        <p:nvSpPr>
          <p:cNvPr id="20498" name="Line 18"/>
          <p:cNvSpPr>
            <a:spLocks noChangeShapeType="1"/>
          </p:cNvSpPr>
          <p:nvPr/>
        </p:nvSpPr>
        <p:spPr bwMode="auto">
          <a:xfrm>
            <a:off x="3581400" y="1870075"/>
            <a:ext cx="2667000" cy="0"/>
          </a:xfrm>
          <a:prstGeom prst="line">
            <a:avLst/>
          </a:prstGeom>
          <a:noFill/>
          <a:ln w="19050">
            <a:solidFill>
              <a:schemeClr val="tx1"/>
            </a:solidFill>
            <a:round/>
            <a:headEnd/>
            <a:tailEnd/>
          </a:ln>
          <a:effectLst/>
        </p:spPr>
        <p:txBody>
          <a:bodyPr/>
          <a:lstStyle/>
          <a:p>
            <a:endParaRPr lang="en-US"/>
          </a:p>
        </p:txBody>
      </p:sp>
      <p:sp>
        <p:nvSpPr>
          <p:cNvPr id="20499" name="Line 19"/>
          <p:cNvSpPr>
            <a:spLocks noChangeShapeType="1"/>
          </p:cNvSpPr>
          <p:nvPr/>
        </p:nvSpPr>
        <p:spPr bwMode="auto">
          <a:xfrm flipH="1">
            <a:off x="5410200" y="1870075"/>
            <a:ext cx="838200" cy="1828800"/>
          </a:xfrm>
          <a:prstGeom prst="line">
            <a:avLst/>
          </a:prstGeom>
          <a:noFill/>
          <a:ln w="19050">
            <a:solidFill>
              <a:schemeClr val="tx1"/>
            </a:solidFill>
            <a:round/>
            <a:headEnd/>
            <a:tailEnd/>
          </a:ln>
          <a:effectLst/>
        </p:spPr>
        <p:txBody>
          <a:bodyPr/>
          <a:lstStyle/>
          <a:p>
            <a:endParaRPr lang="en-US"/>
          </a:p>
        </p:txBody>
      </p:sp>
      <p:sp>
        <p:nvSpPr>
          <p:cNvPr id="20500" name="Line 20"/>
          <p:cNvSpPr>
            <a:spLocks noChangeShapeType="1"/>
          </p:cNvSpPr>
          <p:nvPr/>
        </p:nvSpPr>
        <p:spPr bwMode="auto">
          <a:xfrm flipH="1">
            <a:off x="2590800" y="1870075"/>
            <a:ext cx="990600" cy="1828800"/>
          </a:xfrm>
          <a:prstGeom prst="line">
            <a:avLst/>
          </a:prstGeom>
          <a:noFill/>
          <a:ln w="19050">
            <a:solidFill>
              <a:schemeClr val="tx1"/>
            </a:solidFill>
            <a:round/>
            <a:headEnd/>
            <a:tailEnd/>
          </a:ln>
          <a:effectLst/>
        </p:spPr>
        <p:txBody>
          <a:bodyPr/>
          <a:lstStyle/>
          <a:p>
            <a:endParaRPr lang="en-US"/>
          </a:p>
        </p:txBody>
      </p:sp>
      <p:sp>
        <p:nvSpPr>
          <p:cNvPr id="20501" name="Line 21"/>
          <p:cNvSpPr>
            <a:spLocks noChangeShapeType="1"/>
          </p:cNvSpPr>
          <p:nvPr/>
        </p:nvSpPr>
        <p:spPr bwMode="auto">
          <a:xfrm>
            <a:off x="2590800" y="3698875"/>
            <a:ext cx="2819400" cy="0"/>
          </a:xfrm>
          <a:prstGeom prst="line">
            <a:avLst/>
          </a:prstGeom>
          <a:noFill/>
          <a:ln w="19050">
            <a:solidFill>
              <a:schemeClr val="tx1"/>
            </a:solidFill>
            <a:round/>
            <a:headEnd/>
            <a:tailEnd/>
          </a:ln>
          <a:effectLst/>
        </p:spPr>
        <p:txBody>
          <a:bodyPr/>
          <a:lstStyle/>
          <a:p>
            <a:endParaRPr lang="en-US"/>
          </a:p>
        </p:txBody>
      </p:sp>
      <p:sp>
        <p:nvSpPr>
          <p:cNvPr id="20502" name="Line 22"/>
          <p:cNvSpPr>
            <a:spLocks noChangeShapeType="1"/>
          </p:cNvSpPr>
          <p:nvPr/>
        </p:nvSpPr>
        <p:spPr bwMode="auto">
          <a:xfrm>
            <a:off x="3048000" y="2784475"/>
            <a:ext cx="2743200" cy="0"/>
          </a:xfrm>
          <a:prstGeom prst="line">
            <a:avLst/>
          </a:prstGeom>
          <a:noFill/>
          <a:ln w="19050">
            <a:solidFill>
              <a:schemeClr val="tx1"/>
            </a:solidFill>
            <a:round/>
            <a:headEnd/>
            <a:tailEnd/>
          </a:ln>
          <a:effectLst/>
        </p:spPr>
        <p:txBody>
          <a:bodyPr/>
          <a:lstStyle/>
          <a:p>
            <a:endParaRPr lang="en-US"/>
          </a:p>
        </p:txBody>
      </p:sp>
      <p:sp>
        <p:nvSpPr>
          <p:cNvPr id="20503" name="Line 23"/>
          <p:cNvSpPr>
            <a:spLocks noChangeShapeType="1"/>
          </p:cNvSpPr>
          <p:nvPr/>
        </p:nvSpPr>
        <p:spPr bwMode="auto">
          <a:xfrm flipH="1">
            <a:off x="3962400" y="1870075"/>
            <a:ext cx="914400" cy="1828800"/>
          </a:xfrm>
          <a:prstGeom prst="line">
            <a:avLst/>
          </a:prstGeom>
          <a:noFill/>
          <a:ln w="19050">
            <a:solidFill>
              <a:schemeClr val="tx1"/>
            </a:solidFill>
            <a:round/>
            <a:headEnd/>
            <a:tailEnd/>
          </a:ln>
          <a:effectLst/>
        </p:spPr>
        <p:txBody>
          <a:bodyPr/>
          <a:lstStyle/>
          <a:p>
            <a:endParaRPr lang="en-US"/>
          </a:p>
        </p:txBody>
      </p:sp>
      <p:pic>
        <p:nvPicPr>
          <p:cNvPr id="20504" name="Picture 24"/>
          <p:cNvPicPr>
            <a:picLocks noChangeAspect="1" noChangeArrowheads="1"/>
          </p:cNvPicPr>
          <p:nvPr/>
        </p:nvPicPr>
        <p:blipFill>
          <a:blip r:embed="rId8" cstate="print"/>
          <a:srcRect t="43166" r="30534"/>
          <a:stretch>
            <a:fillRect/>
          </a:stretch>
        </p:blipFill>
        <p:spPr bwMode="auto">
          <a:xfrm>
            <a:off x="4038600" y="1717675"/>
            <a:ext cx="192088" cy="338138"/>
          </a:xfrm>
          <a:prstGeom prst="rect">
            <a:avLst/>
          </a:prstGeom>
          <a:noFill/>
          <a:ln w="9525">
            <a:noFill/>
            <a:miter lim="800000"/>
            <a:headEnd/>
            <a:tailEnd/>
          </a:ln>
        </p:spPr>
      </p:pic>
      <p:grpSp>
        <p:nvGrpSpPr>
          <p:cNvPr id="6" name="Group 25"/>
          <p:cNvGrpSpPr>
            <a:grpSpLocks/>
          </p:cNvGrpSpPr>
          <p:nvPr/>
        </p:nvGrpSpPr>
        <p:grpSpPr bwMode="auto">
          <a:xfrm>
            <a:off x="3236913" y="1717675"/>
            <a:ext cx="2289175" cy="2166938"/>
            <a:chOff x="2039" y="1082"/>
            <a:chExt cx="1442" cy="1365"/>
          </a:xfrm>
        </p:grpSpPr>
        <p:pic>
          <p:nvPicPr>
            <p:cNvPr id="20506" name="Picture 26"/>
            <p:cNvPicPr>
              <a:picLocks noChangeAspect="1" noChangeArrowheads="1"/>
            </p:cNvPicPr>
            <p:nvPr/>
          </p:nvPicPr>
          <p:blipFill>
            <a:blip r:embed="rId8" cstate="print"/>
            <a:srcRect t="43166" r="30534"/>
            <a:stretch>
              <a:fillRect/>
            </a:stretch>
          </p:blipFill>
          <p:spPr bwMode="auto">
            <a:xfrm>
              <a:off x="2279" y="1658"/>
              <a:ext cx="121" cy="213"/>
            </a:xfrm>
            <a:prstGeom prst="rect">
              <a:avLst/>
            </a:prstGeom>
            <a:noFill/>
            <a:ln w="9525">
              <a:noFill/>
              <a:miter lim="800000"/>
              <a:headEnd/>
              <a:tailEnd/>
            </a:ln>
          </p:spPr>
        </p:pic>
        <p:pic>
          <p:nvPicPr>
            <p:cNvPr id="20507" name="Picture 27"/>
            <p:cNvPicPr>
              <a:picLocks noChangeAspect="1" noChangeArrowheads="1"/>
            </p:cNvPicPr>
            <p:nvPr/>
          </p:nvPicPr>
          <p:blipFill>
            <a:blip r:embed="rId8" cstate="print"/>
            <a:srcRect t="43166" r="30534"/>
            <a:stretch>
              <a:fillRect/>
            </a:stretch>
          </p:blipFill>
          <p:spPr bwMode="auto">
            <a:xfrm>
              <a:off x="2039" y="2234"/>
              <a:ext cx="121" cy="213"/>
            </a:xfrm>
            <a:prstGeom prst="rect">
              <a:avLst/>
            </a:prstGeom>
            <a:noFill/>
            <a:ln w="9525">
              <a:noFill/>
              <a:miter lim="800000"/>
              <a:headEnd/>
              <a:tailEnd/>
            </a:ln>
          </p:spPr>
        </p:pic>
        <p:pic>
          <p:nvPicPr>
            <p:cNvPr id="20508" name="Picture 28"/>
            <p:cNvPicPr>
              <a:picLocks noChangeAspect="1" noChangeArrowheads="1"/>
            </p:cNvPicPr>
            <p:nvPr/>
          </p:nvPicPr>
          <p:blipFill>
            <a:blip r:embed="rId8" cstate="print"/>
            <a:srcRect t="43166" r="30534"/>
            <a:stretch>
              <a:fillRect/>
            </a:stretch>
          </p:blipFill>
          <p:spPr bwMode="auto">
            <a:xfrm>
              <a:off x="3360" y="1082"/>
              <a:ext cx="121" cy="213"/>
            </a:xfrm>
            <a:prstGeom prst="rect">
              <a:avLst/>
            </a:prstGeom>
            <a:noFill/>
            <a:ln w="9525">
              <a:noFill/>
              <a:miter lim="800000"/>
              <a:headEnd/>
              <a:tailEnd/>
            </a:ln>
          </p:spPr>
        </p:pic>
        <p:pic>
          <p:nvPicPr>
            <p:cNvPr id="20509" name="Picture 29"/>
            <p:cNvPicPr>
              <a:picLocks noChangeAspect="1" noChangeArrowheads="1"/>
            </p:cNvPicPr>
            <p:nvPr/>
          </p:nvPicPr>
          <p:blipFill>
            <a:blip r:embed="rId8" cstate="print"/>
            <a:srcRect t="43166" r="30534"/>
            <a:stretch>
              <a:fillRect/>
            </a:stretch>
          </p:blipFill>
          <p:spPr bwMode="auto">
            <a:xfrm>
              <a:off x="3107" y="1658"/>
              <a:ext cx="121" cy="213"/>
            </a:xfrm>
            <a:prstGeom prst="rect">
              <a:avLst/>
            </a:prstGeom>
            <a:noFill/>
            <a:ln w="9525">
              <a:noFill/>
              <a:miter lim="800000"/>
              <a:headEnd/>
              <a:tailEnd/>
            </a:ln>
          </p:spPr>
        </p:pic>
        <p:pic>
          <p:nvPicPr>
            <p:cNvPr id="20510" name="Picture 30"/>
            <p:cNvPicPr>
              <a:picLocks noChangeAspect="1" noChangeArrowheads="1"/>
            </p:cNvPicPr>
            <p:nvPr/>
          </p:nvPicPr>
          <p:blipFill>
            <a:blip r:embed="rId8" cstate="print"/>
            <a:srcRect t="43166" r="30534"/>
            <a:stretch>
              <a:fillRect/>
            </a:stretch>
          </p:blipFill>
          <p:spPr bwMode="auto">
            <a:xfrm>
              <a:off x="2903" y="2234"/>
              <a:ext cx="121" cy="213"/>
            </a:xfrm>
            <a:prstGeom prst="rect">
              <a:avLst/>
            </a:prstGeom>
            <a:noFill/>
            <a:ln w="9525">
              <a:noFill/>
              <a:miter lim="800000"/>
              <a:headEnd/>
              <a:tailEnd/>
            </a:ln>
          </p:spPr>
        </p:pic>
      </p:grpSp>
      <p:grpSp>
        <p:nvGrpSpPr>
          <p:cNvPr id="7" name="Group 31"/>
          <p:cNvGrpSpPr>
            <a:grpSpLocks/>
          </p:cNvGrpSpPr>
          <p:nvPr/>
        </p:nvGrpSpPr>
        <p:grpSpPr bwMode="auto">
          <a:xfrm>
            <a:off x="1936750" y="1336675"/>
            <a:ext cx="5073650" cy="2790825"/>
            <a:chOff x="1220" y="842"/>
            <a:chExt cx="3196" cy="1758"/>
          </a:xfrm>
        </p:grpSpPr>
        <p:grpSp>
          <p:nvGrpSpPr>
            <p:cNvPr id="8" name="Group 32"/>
            <p:cNvGrpSpPr>
              <a:grpSpLocks/>
            </p:cNvGrpSpPr>
            <p:nvPr/>
          </p:nvGrpSpPr>
          <p:grpSpPr bwMode="auto">
            <a:xfrm>
              <a:off x="3524" y="842"/>
              <a:ext cx="384" cy="222"/>
              <a:chOff x="3312" y="864"/>
              <a:chExt cx="384" cy="222"/>
            </a:xfrm>
          </p:grpSpPr>
          <p:sp>
            <p:nvSpPr>
              <p:cNvPr id="20513" name="Oval 33"/>
              <p:cNvSpPr>
                <a:spLocks noChangeArrowheads="1"/>
              </p:cNvSpPr>
              <p:nvPr/>
            </p:nvSpPr>
            <p:spPr bwMode="auto">
              <a:xfrm>
                <a:off x="3456" y="864"/>
                <a:ext cx="240" cy="222"/>
              </a:xfrm>
              <a:prstGeom prst="ellipse">
                <a:avLst/>
              </a:prstGeom>
              <a:noFill/>
              <a:ln w="12700">
                <a:solidFill>
                  <a:srgbClr val="000000"/>
                </a:solidFill>
                <a:round/>
                <a:headEnd/>
                <a:tailEnd/>
              </a:ln>
            </p:spPr>
            <p:txBody>
              <a:bodyPr/>
              <a:lstStyle/>
              <a:p>
                <a:endParaRPr lang="en-US"/>
              </a:p>
            </p:txBody>
          </p:sp>
          <p:sp>
            <p:nvSpPr>
              <p:cNvPr id="20514" name="Rectangle 34"/>
              <p:cNvSpPr>
                <a:spLocks noChangeArrowheads="1"/>
              </p:cNvSpPr>
              <p:nvPr/>
            </p:nvSpPr>
            <p:spPr bwMode="auto">
              <a:xfrm>
                <a:off x="3312" y="864"/>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9" name="Group 35"/>
            <p:cNvGrpSpPr>
              <a:grpSpLocks/>
            </p:cNvGrpSpPr>
            <p:nvPr/>
          </p:nvGrpSpPr>
          <p:grpSpPr bwMode="auto">
            <a:xfrm>
              <a:off x="4004" y="1274"/>
              <a:ext cx="412" cy="222"/>
              <a:chOff x="3744" y="1200"/>
              <a:chExt cx="412" cy="222"/>
            </a:xfrm>
          </p:grpSpPr>
          <p:sp>
            <p:nvSpPr>
              <p:cNvPr id="20516" name="Oval 36"/>
              <p:cNvSpPr>
                <a:spLocks noChangeArrowheads="1"/>
              </p:cNvSpPr>
              <p:nvPr/>
            </p:nvSpPr>
            <p:spPr bwMode="auto">
              <a:xfrm>
                <a:off x="3744" y="1200"/>
                <a:ext cx="240" cy="222"/>
              </a:xfrm>
              <a:prstGeom prst="ellipse">
                <a:avLst/>
              </a:prstGeom>
              <a:noFill/>
              <a:ln w="12700">
                <a:solidFill>
                  <a:srgbClr val="000000"/>
                </a:solidFill>
                <a:round/>
                <a:headEnd/>
                <a:tailEnd/>
              </a:ln>
            </p:spPr>
            <p:txBody>
              <a:bodyPr/>
              <a:lstStyle/>
              <a:p>
                <a:endParaRPr lang="en-US"/>
              </a:p>
            </p:txBody>
          </p:sp>
          <p:sp>
            <p:nvSpPr>
              <p:cNvPr id="20517" name="Rectangle 37"/>
              <p:cNvSpPr>
                <a:spLocks noChangeArrowheads="1"/>
              </p:cNvSpPr>
              <p:nvPr/>
            </p:nvSpPr>
            <p:spPr bwMode="auto">
              <a:xfrm>
                <a:off x="3984" y="1248"/>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0" name="Group 38"/>
            <p:cNvGrpSpPr>
              <a:grpSpLocks/>
            </p:cNvGrpSpPr>
            <p:nvPr/>
          </p:nvGrpSpPr>
          <p:grpSpPr bwMode="auto">
            <a:xfrm>
              <a:off x="2996" y="2027"/>
              <a:ext cx="408" cy="222"/>
              <a:chOff x="2592" y="2001"/>
              <a:chExt cx="408" cy="222"/>
            </a:xfrm>
          </p:grpSpPr>
          <p:sp>
            <p:nvSpPr>
              <p:cNvPr id="20519" name="Oval 39"/>
              <p:cNvSpPr>
                <a:spLocks noChangeArrowheads="1"/>
              </p:cNvSpPr>
              <p:nvPr/>
            </p:nvSpPr>
            <p:spPr bwMode="auto">
              <a:xfrm>
                <a:off x="2760" y="2001"/>
                <a:ext cx="240" cy="222"/>
              </a:xfrm>
              <a:prstGeom prst="ellipse">
                <a:avLst/>
              </a:prstGeom>
              <a:noFill/>
              <a:ln w="12700">
                <a:solidFill>
                  <a:srgbClr val="000000"/>
                </a:solidFill>
                <a:round/>
                <a:headEnd/>
                <a:tailEnd/>
              </a:ln>
            </p:spPr>
            <p:txBody>
              <a:bodyPr/>
              <a:lstStyle/>
              <a:p>
                <a:endParaRPr lang="en-US"/>
              </a:p>
            </p:txBody>
          </p:sp>
          <p:sp>
            <p:nvSpPr>
              <p:cNvPr id="20520" name="Rectangle 40"/>
              <p:cNvSpPr>
                <a:spLocks noChangeArrowheads="1"/>
              </p:cNvSpPr>
              <p:nvPr/>
            </p:nvSpPr>
            <p:spPr bwMode="auto">
              <a:xfrm>
                <a:off x="2592" y="2025"/>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1" name="Group 41"/>
            <p:cNvGrpSpPr>
              <a:grpSpLocks/>
            </p:cNvGrpSpPr>
            <p:nvPr/>
          </p:nvGrpSpPr>
          <p:grpSpPr bwMode="auto">
            <a:xfrm>
              <a:off x="3524" y="2378"/>
              <a:ext cx="412" cy="222"/>
              <a:chOff x="3120" y="2352"/>
              <a:chExt cx="412" cy="222"/>
            </a:xfrm>
          </p:grpSpPr>
          <p:sp>
            <p:nvSpPr>
              <p:cNvPr id="20522" name="Oval 42"/>
              <p:cNvSpPr>
                <a:spLocks noChangeArrowheads="1"/>
              </p:cNvSpPr>
              <p:nvPr/>
            </p:nvSpPr>
            <p:spPr bwMode="auto">
              <a:xfrm>
                <a:off x="3120" y="2352"/>
                <a:ext cx="240" cy="222"/>
              </a:xfrm>
              <a:prstGeom prst="ellipse">
                <a:avLst/>
              </a:prstGeom>
              <a:noFill/>
              <a:ln w="12700">
                <a:solidFill>
                  <a:srgbClr val="000000"/>
                </a:solidFill>
                <a:round/>
                <a:headEnd/>
                <a:tailEnd/>
              </a:ln>
            </p:spPr>
            <p:txBody>
              <a:bodyPr/>
              <a:lstStyle/>
              <a:p>
                <a:endParaRPr lang="en-US"/>
              </a:p>
            </p:txBody>
          </p:sp>
          <p:sp>
            <p:nvSpPr>
              <p:cNvPr id="20523" name="Rectangle 43"/>
              <p:cNvSpPr>
                <a:spLocks noChangeArrowheads="1"/>
              </p:cNvSpPr>
              <p:nvPr/>
            </p:nvSpPr>
            <p:spPr bwMode="auto">
              <a:xfrm>
                <a:off x="3360" y="2400"/>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2" name="Group 44"/>
            <p:cNvGrpSpPr>
              <a:grpSpLocks/>
            </p:cNvGrpSpPr>
            <p:nvPr/>
          </p:nvGrpSpPr>
          <p:grpSpPr bwMode="auto">
            <a:xfrm>
              <a:off x="1700" y="2378"/>
              <a:ext cx="412" cy="222"/>
              <a:chOff x="1248" y="2352"/>
              <a:chExt cx="412" cy="222"/>
            </a:xfrm>
          </p:grpSpPr>
          <p:sp>
            <p:nvSpPr>
              <p:cNvPr id="20525" name="Oval 45"/>
              <p:cNvSpPr>
                <a:spLocks noChangeArrowheads="1"/>
              </p:cNvSpPr>
              <p:nvPr/>
            </p:nvSpPr>
            <p:spPr bwMode="auto">
              <a:xfrm>
                <a:off x="1248" y="2352"/>
                <a:ext cx="240" cy="222"/>
              </a:xfrm>
              <a:prstGeom prst="ellipse">
                <a:avLst/>
              </a:prstGeom>
              <a:noFill/>
              <a:ln w="12700">
                <a:solidFill>
                  <a:srgbClr val="000000"/>
                </a:solidFill>
                <a:round/>
                <a:headEnd/>
                <a:tailEnd/>
              </a:ln>
            </p:spPr>
            <p:txBody>
              <a:bodyPr/>
              <a:lstStyle/>
              <a:p>
                <a:endParaRPr lang="en-US"/>
              </a:p>
            </p:txBody>
          </p:sp>
          <p:sp>
            <p:nvSpPr>
              <p:cNvPr id="20526" name="Rectangle 46"/>
              <p:cNvSpPr>
                <a:spLocks noChangeArrowheads="1"/>
              </p:cNvSpPr>
              <p:nvPr/>
            </p:nvSpPr>
            <p:spPr bwMode="auto">
              <a:xfrm>
                <a:off x="1488" y="2400"/>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nvGrpSpPr>
            <p:cNvPr id="13" name="Group 47"/>
            <p:cNvGrpSpPr>
              <a:grpSpLocks/>
            </p:cNvGrpSpPr>
            <p:nvPr/>
          </p:nvGrpSpPr>
          <p:grpSpPr bwMode="auto">
            <a:xfrm>
              <a:off x="1220" y="1994"/>
              <a:ext cx="384" cy="247"/>
              <a:chOff x="864" y="2001"/>
              <a:chExt cx="384" cy="222"/>
            </a:xfrm>
          </p:grpSpPr>
          <p:sp>
            <p:nvSpPr>
              <p:cNvPr id="20528" name="Oval 48"/>
              <p:cNvSpPr>
                <a:spLocks noChangeArrowheads="1"/>
              </p:cNvSpPr>
              <p:nvPr/>
            </p:nvSpPr>
            <p:spPr bwMode="auto">
              <a:xfrm>
                <a:off x="1008" y="2001"/>
                <a:ext cx="240" cy="222"/>
              </a:xfrm>
              <a:prstGeom prst="ellipse">
                <a:avLst/>
              </a:prstGeom>
              <a:noFill/>
              <a:ln w="12700">
                <a:solidFill>
                  <a:srgbClr val="000000"/>
                </a:solidFill>
                <a:round/>
                <a:headEnd/>
                <a:tailEnd/>
              </a:ln>
            </p:spPr>
            <p:txBody>
              <a:bodyPr/>
              <a:lstStyle/>
              <a:p>
                <a:endParaRPr lang="en-US"/>
              </a:p>
            </p:txBody>
          </p:sp>
          <p:sp>
            <p:nvSpPr>
              <p:cNvPr id="20529" name="Rectangle 49"/>
              <p:cNvSpPr>
                <a:spLocks noChangeArrowheads="1"/>
              </p:cNvSpPr>
              <p:nvPr/>
            </p:nvSpPr>
            <p:spPr bwMode="auto">
              <a:xfrm>
                <a:off x="864" y="2025"/>
                <a:ext cx="172" cy="156"/>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aphicFrame>
          <p:nvGraphicFramePr>
            <p:cNvPr id="20530" name="Object 50"/>
            <p:cNvGraphicFramePr>
              <a:graphicFrameLocks noChangeAspect="1"/>
            </p:cNvGraphicFramePr>
            <p:nvPr/>
          </p:nvGraphicFramePr>
          <p:xfrm>
            <a:off x="3408" y="2234"/>
            <a:ext cx="66" cy="234"/>
          </p:xfrm>
          <a:graphic>
            <a:graphicData uri="http://schemas.openxmlformats.org/presentationml/2006/ole">
              <p:oleObj spid="_x0000_s546824" name="CS ChemDraw Drawing" r:id="rId9" imgW="65521" imgH="230037" progId="">
                <p:embed/>
              </p:oleObj>
            </a:graphicData>
          </a:graphic>
        </p:graphicFrame>
        <p:graphicFrame>
          <p:nvGraphicFramePr>
            <p:cNvPr id="20531" name="Object 51"/>
            <p:cNvGraphicFramePr>
              <a:graphicFrameLocks noChangeAspect="1"/>
            </p:cNvGraphicFramePr>
            <p:nvPr/>
          </p:nvGraphicFramePr>
          <p:xfrm>
            <a:off x="1604" y="2234"/>
            <a:ext cx="66" cy="234"/>
          </p:xfrm>
          <a:graphic>
            <a:graphicData uri="http://schemas.openxmlformats.org/presentationml/2006/ole">
              <p:oleObj spid="_x0000_s546825" name="CS ChemDraw Drawing" r:id="rId10" imgW="65521" imgH="230037" progId="">
                <p:embed/>
              </p:oleObj>
            </a:graphicData>
          </a:graphic>
        </p:graphicFrame>
        <p:graphicFrame>
          <p:nvGraphicFramePr>
            <p:cNvPr id="20532" name="Object 52"/>
            <p:cNvGraphicFramePr>
              <a:graphicFrameLocks noChangeAspect="1"/>
            </p:cNvGraphicFramePr>
            <p:nvPr/>
          </p:nvGraphicFramePr>
          <p:xfrm>
            <a:off x="3908" y="1082"/>
            <a:ext cx="66" cy="234"/>
          </p:xfrm>
          <a:graphic>
            <a:graphicData uri="http://schemas.openxmlformats.org/presentationml/2006/ole">
              <p:oleObj spid="_x0000_s546826" name="CS ChemDraw Drawing" r:id="rId11" imgW="65521" imgH="230037" progId="">
                <p:embed/>
              </p:oleObj>
            </a:graphicData>
          </a:graphic>
        </p:graphicFrame>
        <p:graphicFrame>
          <p:nvGraphicFramePr>
            <p:cNvPr id="20533" name="Object 53"/>
            <p:cNvGraphicFramePr>
              <a:graphicFrameLocks noChangeAspect="1"/>
            </p:cNvGraphicFramePr>
            <p:nvPr/>
          </p:nvGraphicFramePr>
          <p:xfrm>
            <a:off x="3648" y="1658"/>
            <a:ext cx="66" cy="234"/>
          </p:xfrm>
          <a:graphic>
            <a:graphicData uri="http://schemas.openxmlformats.org/presentationml/2006/ole">
              <p:oleObj spid="_x0000_s546827" name="CS ChemDraw Drawing" r:id="rId12" imgW="65521" imgH="230037" progId="">
                <p:embed/>
              </p:oleObj>
            </a:graphicData>
          </a:graphic>
        </p:graphicFrame>
        <p:graphicFrame>
          <p:nvGraphicFramePr>
            <p:cNvPr id="20534" name="Object 54"/>
            <p:cNvGraphicFramePr>
              <a:graphicFrameLocks noChangeAspect="1"/>
            </p:cNvGraphicFramePr>
            <p:nvPr/>
          </p:nvGraphicFramePr>
          <p:xfrm>
            <a:off x="1920" y="1658"/>
            <a:ext cx="66" cy="234"/>
          </p:xfrm>
          <a:graphic>
            <a:graphicData uri="http://schemas.openxmlformats.org/presentationml/2006/ole">
              <p:oleObj spid="_x0000_s546828" name="CS ChemDraw Drawing" r:id="rId13" imgW="65521" imgH="230037" progId="">
                <p:embed/>
              </p:oleObj>
            </a:graphicData>
          </a:graphic>
        </p:graphicFrame>
        <p:grpSp>
          <p:nvGrpSpPr>
            <p:cNvPr id="14" name="Group 55"/>
            <p:cNvGrpSpPr>
              <a:grpSpLocks/>
            </p:cNvGrpSpPr>
            <p:nvPr/>
          </p:nvGrpSpPr>
          <p:grpSpPr bwMode="auto">
            <a:xfrm>
              <a:off x="2564" y="2378"/>
              <a:ext cx="508" cy="222"/>
              <a:chOff x="2160" y="2352"/>
              <a:chExt cx="508" cy="222"/>
            </a:xfrm>
          </p:grpSpPr>
          <p:grpSp>
            <p:nvGrpSpPr>
              <p:cNvPr id="15" name="Group 56"/>
              <p:cNvGrpSpPr>
                <a:grpSpLocks/>
              </p:cNvGrpSpPr>
              <p:nvPr/>
            </p:nvGrpSpPr>
            <p:grpSpPr bwMode="auto">
              <a:xfrm>
                <a:off x="2160" y="2352"/>
                <a:ext cx="384" cy="222"/>
                <a:chOff x="2160" y="2352"/>
                <a:chExt cx="384" cy="222"/>
              </a:xfrm>
            </p:grpSpPr>
            <p:sp>
              <p:nvSpPr>
                <p:cNvPr id="20537" name="Oval 57"/>
                <p:cNvSpPr>
                  <a:spLocks noChangeArrowheads="1"/>
                </p:cNvSpPr>
                <p:nvPr/>
              </p:nvSpPr>
              <p:spPr bwMode="auto">
                <a:xfrm>
                  <a:off x="2160" y="2352"/>
                  <a:ext cx="240" cy="222"/>
                </a:xfrm>
                <a:prstGeom prst="ellipse">
                  <a:avLst/>
                </a:prstGeom>
                <a:noFill/>
                <a:ln w="12700">
                  <a:solidFill>
                    <a:srgbClr val="000000"/>
                  </a:solidFill>
                  <a:round/>
                  <a:headEnd/>
                  <a:tailEnd/>
                </a:ln>
              </p:spPr>
              <p:txBody>
                <a:bodyPr/>
                <a:lstStyle/>
                <a:p>
                  <a:endParaRPr lang="en-US"/>
                </a:p>
              </p:txBody>
            </p:sp>
            <p:sp>
              <p:nvSpPr>
                <p:cNvPr id="20538" name="Rectangle 58"/>
                <p:cNvSpPr>
                  <a:spLocks noChangeArrowheads="1"/>
                </p:cNvSpPr>
                <p:nvPr/>
              </p:nvSpPr>
              <p:spPr bwMode="auto">
                <a:xfrm>
                  <a:off x="2400" y="2400"/>
                  <a:ext cx="144"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½</a:t>
                  </a:r>
                </a:p>
              </p:txBody>
            </p:sp>
          </p:grpSp>
          <p:sp>
            <p:nvSpPr>
              <p:cNvPr id="20539" name="Rectangle 59"/>
              <p:cNvSpPr>
                <a:spLocks noChangeArrowheads="1"/>
              </p:cNvSpPr>
              <p:nvPr/>
            </p:nvSpPr>
            <p:spPr bwMode="auto">
              <a:xfrm>
                <a:off x="2496" y="2400"/>
                <a:ext cx="172"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a:t>
                </a:r>
              </a:p>
            </p:txBody>
          </p:sp>
        </p:grpSp>
        <p:grpSp>
          <p:nvGrpSpPr>
            <p:cNvPr id="16" name="Group 60"/>
            <p:cNvGrpSpPr>
              <a:grpSpLocks/>
            </p:cNvGrpSpPr>
            <p:nvPr/>
          </p:nvGrpSpPr>
          <p:grpSpPr bwMode="auto">
            <a:xfrm>
              <a:off x="2036" y="2027"/>
              <a:ext cx="480" cy="222"/>
              <a:chOff x="2208" y="864"/>
              <a:chExt cx="480" cy="222"/>
            </a:xfrm>
          </p:grpSpPr>
          <p:sp>
            <p:nvSpPr>
              <p:cNvPr id="20541" name="Rectangle 61"/>
              <p:cNvSpPr>
                <a:spLocks noChangeArrowheads="1"/>
              </p:cNvSpPr>
              <p:nvPr/>
            </p:nvSpPr>
            <p:spPr bwMode="auto">
              <a:xfrm>
                <a:off x="2208" y="864"/>
                <a:ext cx="144"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½</a:t>
                </a:r>
              </a:p>
            </p:txBody>
          </p:sp>
          <p:grpSp>
            <p:nvGrpSpPr>
              <p:cNvPr id="17" name="Group 62"/>
              <p:cNvGrpSpPr>
                <a:grpSpLocks/>
              </p:cNvGrpSpPr>
              <p:nvPr/>
            </p:nvGrpSpPr>
            <p:grpSpPr bwMode="auto">
              <a:xfrm>
                <a:off x="2304" y="864"/>
                <a:ext cx="384" cy="222"/>
                <a:chOff x="2304" y="864"/>
                <a:chExt cx="384" cy="222"/>
              </a:xfrm>
            </p:grpSpPr>
            <p:sp>
              <p:nvSpPr>
                <p:cNvPr id="20543" name="Oval 63"/>
                <p:cNvSpPr>
                  <a:spLocks noChangeArrowheads="1"/>
                </p:cNvSpPr>
                <p:nvPr/>
              </p:nvSpPr>
              <p:spPr bwMode="auto">
                <a:xfrm>
                  <a:off x="2448" y="864"/>
                  <a:ext cx="240" cy="222"/>
                </a:xfrm>
                <a:prstGeom prst="ellipse">
                  <a:avLst/>
                </a:prstGeom>
                <a:noFill/>
                <a:ln w="12700">
                  <a:solidFill>
                    <a:srgbClr val="000000"/>
                  </a:solidFill>
                  <a:round/>
                  <a:headEnd/>
                  <a:tailEnd/>
                </a:ln>
              </p:spPr>
              <p:txBody>
                <a:bodyPr/>
                <a:lstStyle/>
                <a:p>
                  <a:endParaRPr lang="en-US"/>
                </a:p>
              </p:txBody>
            </p:sp>
            <p:sp>
              <p:nvSpPr>
                <p:cNvPr id="20544" name="Rectangle 64"/>
                <p:cNvSpPr>
                  <a:spLocks noChangeArrowheads="1"/>
                </p:cNvSpPr>
                <p:nvPr/>
              </p:nvSpPr>
              <p:spPr bwMode="auto">
                <a:xfrm>
                  <a:off x="2304" y="864"/>
                  <a:ext cx="172" cy="173"/>
                </a:xfrm>
                <a:prstGeom prst="rect">
                  <a:avLst/>
                </a:prstGeom>
                <a:noFill/>
                <a:ln w="9525">
                  <a:noFill/>
                  <a:miter lim="800000"/>
                  <a:headEnd/>
                  <a:tailEnd/>
                </a:ln>
                <a:effectLst/>
              </p:spPr>
              <p:txBody>
                <a:bodyPr wrap="none">
                  <a:spAutoFit/>
                </a:bodyPr>
                <a:lstStyle/>
                <a:p>
                  <a:r>
                    <a:rPr lang="en-US" sz="1200" b="1">
                      <a:solidFill>
                        <a:srgbClr val="000000"/>
                      </a:solidFill>
                      <a:latin typeface="Arial" pitchFamily="34" charset="0"/>
                    </a:rPr>
                    <a:t>+</a:t>
                  </a:r>
                </a:p>
              </p:txBody>
            </p:sp>
          </p:grpSp>
        </p:grpSp>
        <p:graphicFrame>
          <p:nvGraphicFramePr>
            <p:cNvPr id="20545" name="Object 65"/>
            <p:cNvGraphicFramePr>
              <a:graphicFrameLocks noChangeAspect="1"/>
            </p:cNvGraphicFramePr>
            <p:nvPr/>
          </p:nvGraphicFramePr>
          <p:xfrm>
            <a:off x="2498" y="2234"/>
            <a:ext cx="66" cy="234"/>
          </p:xfrm>
          <a:graphic>
            <a:graphicData uri="http://schemas.openxmlformats.org/presentationml/2006/ole">
              <p:oleObj spid="_x0000_s546829" name="CS ChemDraw Drawing" r:id="rId14" imgW="65521" imgH="230037" progId="">
                <p:embed/>
              </p:oleObj>
            </a:graphicData>
          </a:graphic>
        </p:graphicFrame>
        <p:graphicFrame>
          <p:nvGraphicFramePr>
            <p:cNvPr id="20546" name="Object 66"/>
            <p:cNvGraphicFramePr>
              <a:graphicFrameLocks noChangeAspect="1"/>
            </p:cNvGraphicFramePr>
            <p:nvPr/>
          </p:nvGraphicFramePr>
          <p:xfrm>
            <a:off x="2756" y="1658"/>
            <a:ext cx="66" cy="234"/>
          </p:xfrm>
          <a:graphic>
            <a:graphicData uri="http://schemas.openxmlformats.org/presentationml/2006/ole">
              <p:oleObj spid="_x0000_s546830" name="CS ChemDraw Drawing" r:id="rId15" imgW="65521" imgH="230037" progId="">
                <p:embed/>
              </p:oleObj>
            </a:graphicData>
          </a:graphic>
        </p:graphicFrame>
      </p:grpSp>
      <p:graphicFrame>
        <p:nvGraphicFramePr>
          <p:cNvPr id="20547" name="Object 67"/>
          <p:cNvGraphicFramePr>
            <a:graphicFrameLocks noChangeAspect="1"/>
          </p:cNvGraphicFramePr>
          <p:nvPr/>
        </p:nvGraphicFramePr>
        <p:xfrm>
          <a:off x="4832350" y="1727200"/>
          <a:ext cx="104775" cy="371475"/>
        </p:xfrm>
        <a:graphic>
          <a:graphicData uri="http://schemas.openxmlformats.org/presentationml/2006/ole">
            <p:oleObj spid="_x0000_s546820" name="CS ChemDraw Drawing" r:id="rId16" imgW="65521" imgH="230037" progId="">
              <p:embed/>
            </p:oleObj>
          </a:graphicData>
        </a:graphic>
      </p:graphicFrame>
      <p:grpSp>
        <p:nvGrpSpPr>
          <p:cNvPr id="18" name="Group 68"/>
          <p:cNvGrpSpPr>
            <a:grpSpLocks/>
          </p:cNvGrpSpPr>
          <p:nvPr/>
        </p:nvGrpSpPr>
        <p:grpSpPr bwMode="auto">
          <a:xfrm>
            <a:off x="914400" y="2022475"/>
            <a:ext cx="7391400" cy="3455988"/>
            <a:chOff x="576" y="1274"/>
            <a:chExt cx="4656" cy="2177"/>
          </a:xfrm>
        </p:grpSpPr>
        <p:grpSp>
          <p:nvGrpSpPr>
            <p:cNvPr id="19" name="Group 69"/>
            <p:cNvGrpSpPr>
              <a:grpSpLocks/>
            </p:cNvGrpSpPr>
            <p:nvPr/>
          </p:nvGrpSpPr>
          <p:grpSpPr bwMode="auto">
            <a:xfrm>
              <a:off x="3140" y="1274"/>
              <a:ext cx="508" cy="222"/>
              <a:chOff x="2160" y="2352"/>
              <a:chExt cx="508" cy="222"/>
            </a:xfrm>
          </p:grpSpPr>
          <p:grpSp>
            <p:nvGrpSpPr>
              <p:cNvPr id="20" name="Group 70"/>
              <p:cNvGrpSpPr>
                <a:grpSpLocks/>
              </p:cNvGrpSpPr>
              <p:nvPr/>
            </p:nvGrpSpPr>
            <p:grpSpPr bwMode="auto">
              <a:xfrm>
                <a:off x="2160" y="2352"/>
                <a:ext cx="384" cy="222"/>
                <a:chOff x="2160" y="2352"/>
                <a:chExt cx="384" cy="222"/>
              </a:xfrm>
            </p:grpSpPr>
            <p:sp>
              <p:nvSpPr>
                <p:cNvPr id="20551" name="Oval 71"/>
                <p:cNvSpPr>
                  <a:spLocks noChangeArrowheads="1"/>
                </p:cNvSpPr>
                <p:nvPr/>
              </p:nvSpPr>
              <p:spPr bwMode="auto">
                <a:xfrm>
                  <a:off x="2160" y="2352"/>
                  <a:ext cx="240" cy="222"/>
                </a:xfrm>
                <a:prstGeom prst="ellipse">
                  <a:avLst/>
                </a:prstGeom>
                <a:noFill/>
                <a:ln w="12700">
                  <a:solidFill>
                    <a:srgbClr val="000000"/>
                  </a:solidFill>
                  <a:round/>
                  <a:headEnd/>
                  <a:tailEnd/>
                </a:ln>
              </p:spPr>
              <p:txBody>
                <a:bodyPr/>
                <a:lstStyle/>
                <a:p>
                  <a:endParaRPr lang="en-US"/>
                </a:p>
              </p:txBody>
            </p:sp>
            <p:sp>
              <p:nvSpPr>
                <p:cNvPr id="20552" name="Rectangle 72"/>
                <p:cNvSpPr>
                  <a:spLocks noChangeArrowheads="1"/>
                </p:cNvSpPr>
                <p:nvPr/>
              </p:nvSpPr>
              <p:spPr bwMode="auto">
                <a:xfrm>
                  <a:off x="2400" y="2400"/>
                  <a:ext cx="144"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½</a:t>
                  </a:r>
                </a:p>
              </p:txBody>
            </p:sp>
          </p:grpSp>
          <p:sp>
            <p:nvSpPr>
              <p:cNvPr id="20553" name="Rectangle 73"/>
              <p:cNvSpPr>
                <a:spLocks noChangeArrowheads="1"/>
              </p:cNvSpPr>
              <p:nvPr/>
            </p:nvSpPr>
            <p:spPr bwMode="auto">
              <a:xfrm>
                <a:off x="2496" y="2400"/>
                <a:ext cx="172" cy="173"/>
              </a:xfrm>
              <a:prstGeom prst="rect">
                <a:avLst/>
              </a:prstGeom>
              <a:noFill/>
              <a:ln w="9525">
                <a:noFill/>
                <a:miter lim="800000"/>
                <a:headEnd/>
                <a:tailEnd/>
              </a:ln>
              <a:effectLst/>
            </p:spPr>
            <p:txBody>
              <a:bodyPr>
                <a:spAutoFit/>
              </a:bodyPr>
              <a:lstStyle/>
              <a:p>
                <a:r>
                  <a:rPr lang="en-US" sz="1200" b="1">
                    <a:solidFill>
                      <a:srgbClr val="000000"/>
                    </a:solidFill>
                    <a:latin typeface="Arial" pitchFamily="34" charset="0"/>
                  </a:rPr>
                  <a:t>+</a:t>
                </a:r>
              </a:p>
            </p:txBody>
          </p:sp>
        </p:grpSp>
        <p:graphicFrame>
          <p:nvGraphicFramePr>
            <p:cNvPr id="20554" name="Object 74"/>
            <p:cNvGraphicFramePr>
              <a:graphicFrameLocks noChangeAspect="1"/>
            </p:cNvGraphicFramePr>
            <p:nvPr/>
          </p:nvGraphicFramePr>
          <p:xfrm>
            <a:off x="576" y="3168"/>
            <a:ext cx="1536" cy="283"/>
          </p:xfrm>
          <a:graphic>
            <a:graphicData uri="http://schemas.openxmlformats.org/presentationml/2006/ole">
              <p:oleObj spid="_x0000_s546822" name="Equation" r:id="rId17" imgW="1168200" imgH="215640" progId="">
                <p:embed/>
              </p:oleObj>
            </a:graphicData>
          </a:graphic>
        </p:graphicFrame>
        <p:graphicFrame>
          <p:nvGraphicFramePr>
            <p:cNvPr id="20555" name="Object 75"/>
            <p:cNvGraphicFramePr>
              <a:graphicFrameLocks noChangeAspect="1"/>
            </p:cNvGraphicFramePr>
            <p:nvPr/>
          </p:nvGraphicFramePr>
          <p:xfrm>
            <a:off x="4176" y="3168"/>
            <a:ext cx="1056" cy="268"/>
          </p:xfrm>
          <a:graphic>
            <a:graphicData uri="http://schemas.openxmlformats.org/presentationml/2006/ole">
              <p:oleObj spid="_x0000_s546823" name="Equation" r:id="rId18" imgW="850680" imgH="215640" progId="">
                <p:embed/>
              </p:oleObj>
            </a:graphicData>
          </a:graphic>
        </p:graphicFrame>
      </p:grpSp>
      <p:grpSp>
        <p:nvGrpSpPr>
          <p:cNvPr id="21" name="Group 76"/>
          <p:cNvGrpSpPr>
            <a:grpSpLocks/>
          </p:cNvGrpSpPr>
          <p:nvPr/>
        </p:nvGrpSpPr>
        <p:grpSpPr bwMode="auto">
          <a:xfrm>
            <a:off x="3886200" y="1336675"/>
            <a:ext cx="2286000" cy="4162425"/>
            <a:chOff x="2448" y="842"/>
            <a:chExt cx="1440" cy="2622"/>
          </a:xfrm>
        </p:grpSpPr>
        <p:graphicFrame>
          <p:nvGraphicFramePr>
            <p:cNvPr id="20557" name="Object 77"/>
            <p:cNvGraphicFramePr>
              <a:graphicFrameLocks noChangeAspect="1"/>
            </p:cNvGraphicFramePr>
            <p:nvPr/>
          </p:nvGraphicFramePr>
          <p:xfrm>
            <a:off x="2448" y="3168"/>
            <a:ext cx="1440" cy="296"/>
          </p:xfrm>
          <a:graphic>
            <a:graphicData uri="http://schemas.openxmlformats.org/presentationml/2006/ole">
              <p:oleObj spid="_x0000_s546821" name="Equation" r:id="rId19" imgW="1168200" imgH="241200" progId="">
                <p:embed/>
              </p:oleObj>
            </a:graphicData>
          </a:graphic>
        </p:graphicFrame>
        <p:grpSp>
          <p:nvGrpSpPr>
            <p:cNvPr id="22" name="Group 78"/>
            <p:cNvGrpSpPr>
              <a:grpSpLocks/>
            </p:cNvGrpSpPr>
            <p:nvPr/>
          </p:nvGrpSpPr>
          <p:grpSpPr bwMode="auto">
            <a:xfrm>
              <a:off x="2592" y="842"/>
              <a:ext cx="480" cy="222"/>
              <a:chOff x="3936" y="816"/>
              <a:chExt cx="480" cy="222"/>
            </a:xfrm>
          </p:grpSpPr>
          <p:sp>
            <p:nvSpPr>
              <p:cNvPr id="20559" name="Oval 79"/>
              <p:cNvSpPr>
                <a:spLocks noChangeArrowheads="1"/>
              </p:cNvSpPr>
              <p:nvPr/>
            </p:nvSpPr>
            <p:spPr bwMode="auto">
              <a:xfrm>
                <a:off x="4148" y="816"/>
                <a:ext cx="240" cy="222"/>
              </a:xfrm>
              <a:prstGeom prst="ellipse">
                <a:avLst/>
              </a:prstGeom>
              <a:noFill/>
              <a:ln w="12700">
                <a:noFill/>
                <a:round/>
                <a:headEnd/>
                <a:tailEnd/>
              </a:ln>
            </p:spPr>
            <p:txBody>
              <a:bodyPr/>
              <a:lstStyle/>
              <a:p>
                <a:endParaRPr lang="en-US"/>
              </a:p>
            </p:txBody>
          </p:sp>
          <p:sp>
            <p:nvSpPr>
              <p:cNvPr id="20560" name="Rectangle 80"/>
              <p:cNvSpPr>
                <a:spLocks noChangeArrowheads="1"/>
              </p:cNvSpPr>
              <p:nvPr/>
            </p:nvSpPr>
            <p:spPr bwMode="auto">
              <a:xfrm>
                <a:off x="3936" y="816"/>
                <a:ext cx="144" cy="173"/>
              </a:xfrm>
              <a:prstGeom prst="rect">
                <a:avLst/>
              </a:prstGeom>
              <a:noFill/>
              <a:ln w="9525">
                <a:noFill/>
                <a:miter lim="800000"/>
                <a:headEnd/>
                <a:tailEnd/>
              </a:ln>
              <a:effectLst/>
            </p:spPr>
            <p:txBody>
              <a:bodyPr>
                <a:spAutoFit/>
              </a:bodyPr>
              <a:lstStyle/>
              <a:p>
                <a:r>
                  <a:rPr lang="en-US" sz="1200" b="1">
                    <a:solidFill>
                      <a:schemeClr val="accent2"/>
                    </a:solidFill>
                    <a:latin typeface="Arial" pitchFamily="34" charset="0"/>
                  </a:rPr>
                  <a:t>½</a:t>
                </a:r>
              </a:p>
            </p:txBody>
          </p:sp>
          <p:sp>
            <p:nvSpPr>
              <p:cNvPr id="20561" name="Oval 81"/>
              <p:cNvSpPr>
                <a:spLocks noChangeArrowheads="1"/>
              </p:cNvSpPr>
              <p:nvPr/>
            </p:nvSpPr>
            <p:spPr bwMode="auto">
              <a:xfrm>
                <a:off x="4176" y="816"/>
                <a:ext cx="240" cy="222"/>
              </a:xfrm>
              <a:prstGeom prst="ellipse">
                <a:avLst/>
              </a:prstGeom>
              <a:noFill/>
              <a:ln w="12700">
                <a:solidFill>
                  <a:schemeClr val="accent2"/>
                </a:solidFill>
                <a:round/>
                <a:headEnd/>
                <a:tailEnd/>
              </a:ln>
            </p:spPr>
            <p:txBody>
              <a:bodyPr/>
              <a:lstStyle/>
              <a:p>
                <a:endParaRPr lang="en-US" sz="2000">
                  <a:solidFill>
                    <a:srgbClr val="0000CC"/>
                  </a:solidFill>
                  <a:latin typeface="Arial" pitchFamily="34" charset="0"/>
                </a:endParaRPr>
              </a:p>
            </p:txBody>
          </p:sp>
          <p:sp>
            <p:nvSpPr>
              <p:cNvPr id="20562" name="Rectangle 82"/>
              <p:cNvSpPr>
                <a:spLocks noChangeArrowheads="1"/>
              </p:cNvSpPr>
              <p:nvPr/>
            </p:nvSpPr>
            <p:spPr bwMode="auto">
              <a:xfrm>
                <a:off x="4032" y="816"/>
                <a:ext cx="172" cy="173"/>
              </a:xfrm>
              <a:prstGeom prst="rect">
                <a:avLst/>
              </a:prstGeom>
              <a:noFill/>
              <a:ln w="9525">
                <a:noFill/>
                <a:miter lim="800000"/>
                <a:headEnd/>
                <a:tailEnd/>
              </a:ln>
              <a:effectLst/>
            </p:spPr>
            <p:txBody>
              <a:bodyPr wrap="none">
                <a:spAutoFit/>
              </a:bodyPr>
              <a:lstStyle/>
              <a:p>
                <a:r>
                  <a:rPr lang="en-US" sz="1200" b="1">
                    <a:solidFill>
                      <a:schemeClr val="accent2"/>
                    </a:solidFill>
                    <a:latin typeface="Arial" pitchFamily="34" charset="0"/>
                  </a:rPr>
                  <a:t>+</a:t>
                </a:r>
              </a:p>
            </p:txBody>
          </p:sp>
        </p:grpSp>
      </p:grpSp>
      <p:sp>
        <p:nvSpPr>
          <p:cNvPr id="20563" name="Rectangle 83"/>
          <p:cNvSpPr>
            <a:spLocks noChangeArrowheads="1"/>
          </p:cNvSpPr>
          <p:nvPr/>
        </p:nvSpPr>
        <p:spPr bwMode="auto">
          <a:xfrm>
            <a:off x="762000" y="5562600"/>
            <a:ext cx="7623175" cy="457200"/>
          </a:xfrm>
          <a:prstGeom prst="rect">
            <a:avLst/>
          </a:prstGeom>
          <a:noFill/>
          <a:ln w="9525">
            <a:noFill/>
            <a:miter lim="800000"/>
            <a:headEnd/>
            <a:tailEnd/>
          </a:ln>
          <a:effectLst/>
        </p:spPr>
        <p:txBody>
          <a:bodyPr wrap="none">
            <a:spAutoFit/>
          </a:bodyPr>
          <a:lstStyle/>
          <a:p>
            <a:r>
              <a:rPr lang="en-US">
                <a:latin typeface="Arial" pitchFamily="34" charset="0"/>
              </a:rPr>
              <a:t>Is this group centrosymmetric or non-centrosymmetric?</a:t>
            </a:r>
          </a:p>
        </p:txBody>
      </p:sp>
      <p:sp>
        <p:nvSpPr>
          <p:cNvPr id="20564" name="Rectangle 84"/>
          <p:cNvSpPr>
            <a:spLocks noChangeArrowheads="1"/>
          </p:cNvSpPr>
          <p:nvPr/>
        </p:nvSpPr>
        <p:spPr bwMode="auto">
          <a:xfrm>
            <a:off x="2895600" y="6096000"/>
            <a:ext cx="2895600" cy="396875"/>
          </a:xfrm>
          <a:prstGeom prst="rect">
            <a:avLst/>
          </a:prstGeom>
          <a:noFill/>
          <a:ln w="9525">
            <a:noFill/>
            <a:miter lim="800000"/>
            <a:headEnd/>
            <a:tailEnd/>
          </a:ln>
          <a:effectLst/>
        </p:spPr>
        <p:txBody>
          <a:bodyPr>
            <a:spAutoFit/>
          </a:bodyPr>
          <a:lstStyle/>
          <a:p>
            <a:r>
              <a:rPr lang="en-US" sz="2000" b="1">
                <a:latin typeface="Arial" pitchFamily="34" charset="0"/>
              </a:rPr>
              <a:t>Non-centrosymmetric</a:t>
            </a:r>
          </a:p>
        </p:txBody>
      </p:sp>
      <p:grpSp>
        <p:nvGrpSpPr>
          <p:cNvPr id="23" name="Group 86"/>
          <p:cNvGrpSpPr>
            <a:grpSpLocks noChangeAspect="1"/>
          </p:cNvGrpSpPr>
          <p:nvPr/>
        </p:nvGrpSpPr>
        <p:grpSpPr bwMode="auto">
          <a:xfrm>
            <a:off x="1143000" y="381000"/>
            <a:ext cx="4686300" cy="1725613"/>
            <a:chOff x="720" y="240"/>
            <a:chExt cx="2952" cy="1087"/>
          </a:xfrm>
        </p:grpSpPr>
        <p:sp>
          <p:nvSpPr>
            <p:cNvPr id="20565" name="AutoShape 85"/>
            <p:cNvSpPr>
              <a:spLocks noChangeAspect="1" noChangeArrowheads="1" noTextEdit="1"/>
            </p:cNvSpPr>
            <p:nvPr/>
          </p:nvSpPr>
          <p:spPr bwMode="auto">
            <a:xfrm>
              <a:off x="720" y="240"/>
              <a:ext cx="1592" cy="1087"/>
            </a:xfrm>
            <a:prstGeom prst="rect">
              <a:avLst/>
            </a:prstGeom>
            <a:noFill/>
            <a:ln w="9525">
              <a:noFill/>
              <a:miter lim="800000"/>
              <a:headEnd/>
              <a:tailEnd/>
            </a:ln>
          </p:spPr>
          <p:txBody>
            <a:bodyPr/>
            <a:lstStyle/>
            <a:p>
              <a:endParaRPr lang="en-US"/>
            </a:p>
          </p:txBody>
        </p:sp>
        <p:grpSp>
          <p:nvGrpSpPr>
            <p:cNvPr id="24" name="Group 89"/>
            <p:cNvGrpSpPr>
              <a:grpSpLocks/>
            </p:cNvGrpSpPr>
            <p:nvPr/>
          </p:nvGrpSpPr>
          <p:grpSpPr bwMode="auto">
            <a:xfrm>
              <a:off x="1407" y="412"/>
              <a:ext cx="171" cy="301"/>
              <a:chOff x="1407" y="412"/>
              <a:chExt cx="171" cy="301"/>
            </a:xfrm>
          </p:grpSpPr>
          <p:sp>
            <p:nvSpPr>
              <p:cNvPr id="20567" name="Freeform 87"/>
              <p:cNvSpPr>
                <a:spLocks/>
              </p:cNvSpPr>
              <p:nvPr/>
            </p:nvSpPr>
            <p:spPr bwMode="auto">
              <a:xfrm>
                <a:off x="1428" y="412"/>
                <a:ext cx="150" cy="253"/>
              </a:xfrm>
              <a:custGeom>
                <a:avLst/>
                <a:gdLst/>
                <a:ahLst/>
                <a:cxnLst>
                  <a:cxn ang="0">
                    <a:pos x="150" y="4"/>
                  </a:cxn>
                  <a:cxn ang="0">
                    <a:pos x="146" y="0"/>
                  </a:cxn>
                  <a:cxn ang="0">
                    <a:pos x="0" y="249"/>
                  </a:cxn>
                  <a:cxn ang="0">
                    <a:pos x="4" y="253"/>
                  </a:cxn>
                  <a:cxn ang="0">
                    <a:pos x="150" y="4"/>
                  </a:cxn>
                </a:cxnLst>
                <a:rect l="0" t="0" r="r" b="b"/>
                <a:pathLst>
                  <a:path w="150" h="253">
                    <a:moveTo>
                      <a:pt x="150" y="4"/>
                    </a:moveTo>
                    <a:lnTo>
                      <a:pt x="146" y="0"/>
                    </a:lnTo>
                    <a:lnTo>
                      <a:pt x="0" y="249"/>
                    </a:lnTo>
                    <a:lnTo>
                      <a:pt x="4" y="253"/>
                    </a:lnTo>
                    <a:lnTo>
                      <a:pt x="150" y="4"/>
                    </a:lnTo>
                    <a:close/>
                  </a:path>
                </a:pathLst>
              </a:custGeom>
              <a:solidFill>
                <a:srgbClr val="000000"/>
              </a:solidFill>
              <a:ln w="9525">
                <a:noFill/>
                <a:round/>
                <a:headEnd/>
                <a:tailEnd/>
              </a:ln>
            </p:spPr>
            <p:txBody>
              <a:bodyPr/>
              <a:lstStyle/>
              <a:p>
                <a:endParaRPr lang="en-US"/>
              </a:p>
            </p:txBody>
          </p:sp>
          <p:sp>
            <p:nvSpPr>
              <p:cNvPr id="20568" name="Freeform 88"/>
              <p:cNvSpPr>
                <a:spLocks/>
              </p:cNvSpPr>
              <p:nvPr/>
            </p:nvSpPr>
            <p:spPr bwMode="auto">
              <a:xfrm>
                <a:off x="1407" y="635"/>
                <a:ext cx="64" cy="78"/>
              </a:xfrm>
              <a:custGeom>
                <a:avLst/>
                <a:gdLst/>
                <a:ahLst/>
                <a:cxnLst>
                  <a:cxn ang="0">
                    <a:pos x="4" y="0"/>
                  </a:cxn>
                  <a:cxn ang="0">
                    <a:pos x="0" y="78"/>
                  </a:cxn>
                  <a:cxn ang="0">
                    <a:pos x="64" y="35"/>
                  </a:cxn>
                  <a:cxn ang="0">
                    <a:pos x="4" y="0"/>
                  </a:cxn>
                </a:cxnLst>
                <a:rect l="0" t="0" r="r" b="b"/>
                <a:pathLst>
                  <a:path w="64" h="78">
                    <a:moveTo>
                      <a:pt x="4" y="0"/>
                    </a:moveTo>
                    <a:lnTo>
                      <a:pt x="0" y="78"/>
                    </a:lnTo>
                    <a:lnTo>
                      <a:pt x="64" y="35"/>
                    </a:lnTo>
                    <a:lnTo>
                      <a:pt x="4" y="0"/>
                    </a:lnTo>
                    <a:close/>
                  </a:path>
                </a:pathLst>
              </a:custGeom>
              <a:solidFill>
                <a:srgbClr val="000000"/>
              </a:solidFill>
              <a:ln w="9525">
                <a:noFill/>
                <a:round/>
                <a:headEnd/>
                <a:tailEnd/>
              </a:ln>
            </p:spPr>
            <p:txBody>
              <a:bodyPr/>
              <a:lstStyle/>
              <a:p>
                <a:endParaRPr lang="en-US"/>
              </a:p>
            </p:txBody>
          </p:sp>
        </p:grpSp>
        <p:grpSp>
          <p:nvGrpSpPr>
            <p:cNvPr id="25" name="Group 92"/>
            <p:cNvGrpSpPr>
              <a:grpSpLocks/>
            </p:cNvGrpSpPr>
            <p:nvPr/>
          </p:nvGrpSpPr>
          <p:grpSpPr bwMode="auto">
            <a:xfrm>
              <a:off x="1574" y="377"/>
              <a:ext cx="433" cy="74"/>
              <a:chOff x="1574" y="377"/>
              <a:chExt cx="433" cy="74"/>
            </a:xfrm>
          </p:grpSpPr>
          <p:sp>
            <p:nvSpPr>
              <p:cNvPr id="20570" name="Rectangle 90"/>
              <p:cNvSpPr>
                <a:spLocks noChangeArrowheads="1"/>
              </p:cNvSpPr>
              <p:nvPr/>
            </p:nvSpPr>
            <p:spPr bwMode="auto">
              <a:xfrm>
                <a:off x="1574" y="408"/>
                <a:ext cx="369" cy="8"/>
              </a:xfrm>
              <a:prstGeom prst="rect">
                <a:avLst/>
              </a:prstGeom>
              <a:solidFill>
                <a:srgbClr val="000000"/>
              </a:solidFill>
              <a:ln w="9525">
                <a:noFill/>
                <a:miter lim="800000"/>
                <a:headEnd/>
                <a:tailEnd/>
              </a:ln>
            </p:spPr>
            <p:txBody>
              <a:bodyPr/>
              <a:lstStyle/>
              <a:p>
                <a:endParaRPr lang="en-US"/>
              </a:p>
            </p:txBody>
          </p:sp>
          <p:sp>
            <p:nvSpPr>
              <p:cNvPr id="20571" name="Freeform 91"/>
              <p:cNvSpPr>
                <a:spLocks/>
              </p:cNvSpPr>
              <p:nvPr/>
            </p:nvSpPr>
            <p:spPr bwMode="auto">
              <a:xfrm>
                <a:off x="1934" y="377"/>
                <a:ext cx="73" cy="74"/>
              </a:xfrm>
              <a:custGeom>
                <a:avLst/>
                <a:gdLst/>
                <a:ahLst/>
                <a:cxnLst>
                  <a:cxn ang="0">
                    <a:pos x="0" y="74"/>
                  </a:cxn>
                  <a:cxn ang="0">
                    <a:pos x="73" y="35"/>
                  </a:cxn>
                  <a:cxn ang="0">
                    <a:pos x="0" y="0"/>
                  </a:cxn>
                  <a:cxn ang="0">
                    <a:pos x="0" y="74"/>
                  </a:cxn>
                </a:cxnLst>
                <a:rect l="0" t="0" r="r" b="b"/>
                <a:pathLst>
                  <a:path w="73" h="74">
                    <a:moveTo>
                      <a:pt x="0" y="74"/>
                    </a:moveTo>
                    <a:lnTo>
                      <a:pt x="73" y="35"/>
                    </a:lnTo>
                    <a:lnTo>
                      <a:pt x="0" y="0"/>
                    </a:lnTo>
                    <a:lnTo>
                      <a:pt x="0" y="74"/>
                    </a:lnTo>
                    <a:close/>
                  </a:path>
                </a:pathLst>
              </a:custGeom>
              <a:solidFill>
                <a:srgbClr val="000000"/>
              </a:solidFill>
              <a:ln w="9525">
                <a:noFill/>
                <a:round/>
                <a:headEnd/>
                <a:tailEnd/>
              </a:ln>
            </p:spPr>
            <p:txBody>
              <a:bodyPr/>
              <a:lstStyle/>
              <a:p>
                <a:endParaRPr lang="en-US"/>
              </a:p>
            </p:txBody>
          </p:sp>
        </p:grpSp>
        <p:sp>
          <p:nvSpPr>
            <p:cNvPr id="20573" name="Rectangle 93"/>
            <p:cNvSpPr>
              <a:spLocks noChangeArrowheads="1"/>
            </p:cNvSpPr>
            <p:nvPr/>
          </p:nvSpPr>
          <p:spPr bwMode="auto">
            <a:xfrm>
              <a:off x="1625" y="609"/>
              <a:ext cx="1627" cy="413"/>
            </a:xfrm>
            <a:prstGeom prst="rect">
              <a:avLst/>
            </a:prstGeom>
            <a:noFill/>
            <a:ln w="9525">
              <a:noFill/>
              <a:miter lim="800000"/>
              <a:headEnd/>
              <a:tailEnd/>
            </a:ln>
          </p:spPr>
          <p:txBody>
            <a:bodyPr/>
            <a:lstStyle/>
            <a:p>
              <a:endParaRPr lang="en-US"/>
            </a:p>
          </p:txBody>
        </p:sp>
        <p:sp>
          <p:nvSpPr>
            <p:cNvPr id="20574" name="Rectangle 94"/>
            <p:cNvSpPr>
              <a:spLocks noChangeArrowheads="1"/>
            </p:cNvSpPr>
            <p:nvPr/>
          </p:nvSpPr>
          <p:spPr bwMode="auto">
            <a:xfrm>
              <a:off x="1677" y="643"/>
              <a:ext cx="64" cy="116"/>
            </a:xfrm>
            <a:prstGeom prst="rect">
              <a:avLst/>
            </a:prstGeom>
            <a:noFill/>
            <a:ln w="9525">
              <a:noFill/>
              <a:miter lim="800000"/>
              <a:headEnd/>
              <a:tailEnd/>
            </a:ln>
          </p:spPr>
          <p:txBody>
            <a:bodyPr wrap="none" lIns="0" tIns="0" rIns="0" bIns="0">
              <a:spAutoFit/>
            </a:bodyPr>
            <a:lstStyle/>
            <a:p>
              <a:r>
                <a:rPr lang="en-US" sz="1100">
                  <a:solidFill>
                    <a:srgbClr val="000000"/>
                  </a:solidFill>
                  <a:latin typeface="Arial" pitchFamily="34" charset="0"/>
                </a:rPr>
                <a:t> </a:t>
              </a:r>
              <a:endParaRPr lang="en-US"/>
            </a:p>
          </p:txBody>
        </p:sp>
        <p:sp>
          <p:nvSpPr>
            <p:cNvPr id="20575" name="Rectangle 95"/>
            <p:cNvSpPr>
              <a:spLocks noChangeArrowheads="1"/>
            </p:cNvSpPr>
            <p:nvPr/>
          </p:nvSpPr>
          <p:spPr bwMode="auto">
            <a:xfrm>
              <a:off x="2046" y="283"/>
              <a:ext cx="1626" cy="408"/>
            </a:xfrm>
            <a:prstGeom prst="rect">
              <a:avLst/>
            </a:prstGeom>
            <a:noFill/>
            <a:ln w="9525">
              <a:noFill/>
              <a:miter lim="800000"/>
              <a:headEnd/>
              <a:tailEnd/>
            </a:ln>
          </p:spPr>
          <p:txBody>
            <a:bodyPr/>
            <a:lstStyle/>
            <a:p>
              <a:endParaRPr lang="en-US"/>
            </a:p>
          </p:txBody>
        </p:sp>
        <p:sp>
          <p:nvSpPr>
            <p:cNvPr id="20576" name="Rectangle 96"/>
            <p:cNvSpPr>
              <a:spLocks noChangeArrowheads="1"/>
            </p:cNvSpPr>
            <p:nvPr/>
          </p:nvSpPr>
          <p:spPr bwMode="auto">
            <a:xfrm>
              <a:off x="2097" y="313"/>
              <a:ext cx="9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a</a:t>
              </a:r>
              <a:endParaRPr lang="en-US" i="1"/>
            </a:p>
          </p:txBody>
        </p:sp>
        <p:sp>
          <p:nvSpPr>
            <p:cNvPr id="20577" name="Rectangle 97"/>
            <p:cNvSpPr>
              <a:spLocks noChangeArrowheads="1"/>
            </p:cNvSpPr>
            <p:nvPr/>
          </p:nvSpPr>
          <p:spPr bwMode="auto">
            <a:xfrm>
              <a:off x="2192" y="313"/>
              <a:ext cx="124"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sp>
          <p:nvSpPr>
            <p:cNvPr id="20578" name="Rectangle 98"/>
            <p:cNvSpPr>
              <a:spLocks noChangeArrowheads="1"/>
            </p:cNvSpPr>
            <p:nvPr/>
          </p:nvSpPr>
          <p:spPr bwMode="auto">
            <a:xfrm>
              <a:off x="1278" y="713"/>
              <a:ext cx="1626" cy="408"/>
            </a:xfrm>
            <a:prstGeom prst="rect">
              <a:avLst/>
            </a:prstGeom>
            <a:noFill/>
            <a:ln w="9525">
              <a:noFill/>
              <a:miter lim="800000"/>
              <a:headEnd/>
              <a:tailEnd/>
            </a:ln>
          </p:spPr>
          <p:txBody>
            <a:bodyPr/>
            <a:lstStyle/>
            <a:p>
              <a:endParaRPr lang="en-US"/>
            </a:p>
          </p:txBody>
        </p:sp>
        <p:sp>
          <p:nvSpPr>
            <p:cNvPr id="20579" name="Rectangle 99"/>
            <p:cNvSpPr>
              <a:spLocks noChangeArrowheads="1"/>
            </p:cNvSpPr>
            <p:nvPr/>
          </p:nvSpPr>
          <p:spPr bwMode="auto">
            <a:xfrm>
              <a:off x="1329" y="742"/>
              <a:ext cx="88" cy="211"/>
            </a:xfrm>
            <a:prstGeom prst="rect">
              <a:avLst/>
            </a:prstGeom>
            <a:noFill/>
            <a:ln w="9525">
              <a:noFill/>
              <a:miter lim="800000"/>
              <a:headEnd/>
              <a:tailEnd/>
            </a:ln>
          </p:spPr>
          <p:txBody>
            <a:bodyPr wrap="none" lIns="0" tIns="0" rIns="0" bIns="0">
              <a:spAutoFit/>
            </a:bodyPr>
            <a:lstStyle/>
            <a:p>
              <a:r>
                <a:rPr lang="en-US" sz="2200" i="1">
                  <a:solidFill>
                    <a:srgbClr val="000000"/>
                  </a:solidFill>
                  <a:latin typeface="Arial" pitchFamily="34" charset="0"/>
                </a:rPr>
                <a:t>c</a:t>
              </a:r>
              <a:endParaRPr lang="en-US" i="1"/>
            </a:p>
          </p:txBody>
        </p:sp>
        <p:sp>
          <p:nvSpPr>
            <p:cNvPr id="20580" name="Rectangle 100"/>
            <p:cNvSpPr>
              <a:spLocks noChangeArrowheads="1"/>
            </p:cNvSpPr>
            <p:nvPr/>
          </p:nvSpPr>
          <p:spPr bwMode="auto">
            <a:xfrm>
              <a:off x="1415" y="742"/>
              <a:ext cx="124" cy="241"/>
            </a:xfrm>
            <a:prstGeom prst="rect">
              <a:avLst/>
            </a:prstGeom>
            <a:noFill/>
            <a:ln w="9525">
              <a:noFill/>
              <a:miter lim="800000"/>
              <a:headEnd/>
              <a:tailEnd/>
            </a:ln>
          </p:spPr>
          <p:txBody>
            <a:bodyPr wrap="none" lIns="0" tIns="0" rIns="0" bIns="0">
              <a:spAutoFit/>
            </a:bodyPr>
            <a:lstStyle/>
            <a:p>
              <a:r>
                <a:rPr lang="en-US" sz="2200">
                  <a:solidFill>
                    <a:srgbClr val="000000"/>
                  </a:solidFill>
                  <a:latin typeface="Arial" pitchFamily="34" charset="0"/>
                </a:rPr>
                <a:t> </a:t>
              </a: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4"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P41"/>
          <p:cNvPicPr>
            <a:picLocks noChangeAspect="1" noChangeArrowheads="1"/>
          </p:cNvPicPr>
          <p:nvPr/>
        </p:nvPicPr>
        <p:blipFill>
          <a:blip r:embed="rId2" cstate="print"/>
          <a:srcRect/>
          <a:stretch>
            <a:fillRect/>
          </a:stretch>
        </p:blipFill>
        <p:spPr bwMode="auto">
          <a:xfrm>
            <a:off x="523875" y="495300"/>
            <a:ext cx="8096250" cy="586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screw42d"/>
          <p:cNvPicPr>
            <a:picLocks noChangeAspect="1" noChangeArrowheads="1"/>
          </p:cNvPicPr>
          <p:nvPr/>
        </p:nvPicPr>
        <p:blipFill>
          <a:blip r:embed="rId2" cstate="print"/>
          <a:srcRect/>
          <a:stretch>
            <a:fillRect/>
          </a:stretch>
        </p:blipFill>
        <p:spPr bwMode="auto">
          <a:xfrm>
            <a:off x="1533525" y="495300"/>
            <a:ext cx="6076950" cy="586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10679</TotalTime>
  <Words>4302</Words>
  <Application>Microsoft Office PowerPoint</Application>
  <PresentationFormat>On-screen Show (4:3)</PresentationFormat>
  <Paragraphs>885</Paragraphs>
  <Slides>98</Slides>
  <Notes>0</Notes>
  <HiddenSlides>0</HiddenSlides>
  <MMClips>7</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98</vt:i4>
      </vt:variant>
    </vt:vector>
  </HeadingPairs>
  <TitlesOfParts>
    <vt:vector size="101" baseType="lpstr">
      <vt:lpstr>Aspect</vt:lpstr>
      <vt:lpstr>Equation</vt:lpstr>
      <vt:lpstr>CS ChemDraw Drawing</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vector>
  </TitlesOfParts>
  <Company>University of Aberdeen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Symmetry “Something possesses symmetry if it looks the same from &gt;1 orientation”</dc:title>
  <dc:creator>Department of Chemistry</dc:creator>
  <cp:lastModifiedBy>Windows User</cp:lastModifiedBy>
  <cp:revision>354</cp:revision>
  <dcterms:created xsi:type="dcterms:W3CDTF">1999-08-31T12:04:55Z</dcterms:created>
  <dcterms:modified xsi:type="dcterms:W3CDTF">2018-03-21T04:37:21Z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1</vt:i4>
  </property>
  <property fmtid="{D5CDD505-2E9C-101B-9397-08002B2CF9AE}" pid="6" name="ScreenUsage">
    <vt:i4>2</vt:i4>
  </property>
  <property fmtid="{D5CDD505-2E9C-101B-9397-08002B2CF9AE}" pid="7" name="MailAddress">
    <vt:lpwstr>j.skakle@abdn.ac.uk</vt:lpwstr>
  </property>
  <property fmtid="{D5CDD505-2E9C-101B-9397-08002B2CF9AE}" pid="8" name="HomePage">
    <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false</vt:bool>
  </property>
  <property fmtid="{D5CDD505-2E9C-101B-9397-08002B2CF9AE}" pid="13" name="BackColor">
    <vt:i4>16777215</vt:i4>
  </property>
  <property fmtid="{D5CDD505-2E9C-101B-9397-08002B2CF9AE}" pid="14" name="TextColor">
    <vt:i4>0</vt:i4>
  </property>
  <property fmtid="{D5CDD505-2E9C-101B-9397-08002B2CF9AE}" pid="15" name="LinkColor">
    <vt:i4>16711680</vt:i4>
  </property>
  <property fmtid="{D5CDD505-2E9C-101B-9397-08002B2CF9AE}" pid="16" name="VisitedColor">
    <vt:i4>255</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4</vt:i4>
  </property>
  <property fmtid="{D5CDD505-2E9C-101B-9397-08002B2CF9AE}" pid="21" name="OutputDir">
    <vt:lpwstr>H:\public.htm\chem2</vt:lpwstr>
  </property>
</Properties>
</file>