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D86F-9EB4-B4B8-9704-8479037AA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34B1A-60EE-5668-D55D-7DD1DC799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8A12A-180C-05CC-F10F-0039883F4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4AAEC-F36D-0061-1C75-722C226C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0CD15-37AA-EE7F-47D1-DCCD6C37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62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549B-EA3C-A14C-D70D-C946EBDA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1C5F-0825-01C0-7D18-6463DBF97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FE1F7-A226-7E52-9BB8-B2D4316B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BFD7B-99A8-AAB4-658C-0302E0D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9C3C0-632D-6967-E611-A58844DF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72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5A54-AB13-188F-DAD4-1A20BEBD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D9435-4E8A-7681-ABFF-3CD70A487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EDDEC-1B34-5ABD-3C3B-FCB0E553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CAFB-0269-1F1F-8AAF-5A1C3B14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73DF5-0B1E-A0A9-2CE9-35DB0417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50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8114-49C3-BCC7-04D2-138B704C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6987-358E-0466-839A-CB50D7196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66A6C-E492-1CF0-412D-1645BE2D0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6C50A-754F-D323-3836-66625CF9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9AAA9-673D-2106-4E05-2A9EC6E0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5A4D5-DBB5-8328-B6FD-3DCBEE3B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30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AF82-3138-8E21-64E3-C048A53B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1C979-545F-E409-A26C-7E742E57B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78D06-EBFA-3183-BFBC-7C7E015B3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2FE4B-3646-8A49-96D4-C2322694E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55806-0CAA-BB64-7B7E-3DE4F487F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A8-CD7E-E28E-1D03-1316C6F9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E691F6-2942-6DC9-AA7B-45936EE6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4BDAF-5073-1BAD-5B55-E14EC75A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35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DE8E-E9B8-F90C-7ED1-9EDE230F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EC49C-A3D2-D38F-D957-BF8F3F3B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A52BD-F9A6-7731-01D3-C0AC3FE4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B0145-6F30-9295-C920-C7B281DF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366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2C917-6AFC-7882-08EE-8AB2ACE5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872F8-DA1A-A285-00FA-E12C1A50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0052A-FFC3-5609-4E04-566F1284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9F8B-A70C-9496-EC8C-BB8B9B51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C83B0-E1CA-2DE0-1542-3546C5300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03EDE-7DB4-FE5B-74AF-52E801633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931E5-0A19-DFFE-829C-22830C0A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8E419-C3AD-A9CA-A47A-A24F6A4E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5A986-87B9-D83C-2015-1421C1CE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81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EBA0-ED46-7CAE-CC37-C5D3E9A93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AD9CBE-5C8B-ECB9-C9B0-945A5954E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7D9BE-9E9C-1ECD-21CD-3A242644A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E44B2-A0EB-F748-6441-59B44EE6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62D67-09F8-0CCA-811E-44B3A4B1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1722-DFD5-E468-D950-7BF5A6B7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96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C24B8-C99C-6453-E368-BF4DE8B14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B3E0D-AF0A-2F3E-9F8A-2B331763B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A4E49-CC8B-EF07-54AB-7E2824E5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4100F-F367-343C-7B63-2B76038A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81A72-C0E2-5FB1-F88D-8A4AD4F1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9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4E5F6-0E10-695B-3640-27019B111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9DA2B-7827-5125-DC40-4A43EDB12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D4D70-AE79-22BB-DD57-C66B8496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326D-575D-34D6-7601-328F9B58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69551-DEA7-45C9-9789-476E6257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63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7B409-2689-CE94-3272-A64E1A70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6F6C6-0CD7-E08C-57CA-EF05FC68F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6168-4E37-7B24-B8E7-D191DB505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ED44-3E81-4F3A-BCCF-15524C8D9B4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FFECF-9863-59C2-EC03-95C923C10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2FFD-BD79-6A6E-E671-F3E1BF0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43C5F-2109-461C-A0C8-E14B6890E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54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DB92A-4110-961A-1D1F-E8C7ADFE8D0F}"/>
                  </a:ext>
                </a:extLst>
              </p:cNvPr>
              <p:cNvSpPr txBox="1"/>
              <p:nvPr/>
            </p:nvSpPr>
            <p:spPr>
              <a:xfrm>
                <a:off x="84842" y="236318"/>
                <a:ext cx="856061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IN" dirty="0"/>
                  <a:t>What is the energy difference between two spin states at the magnetic field 5.87 T of </a:t>
                </a:r>
              </a:p>
              <a:p>
                <a:r>
                  <a:rPr lang="en-IN" dirty="0"/>
                  <a:t>               a) </a:t>
                </a:r>
                <a:r>
                  <a:rPr lang="en-IN" baseline="30000" dirty="0"/>
                  <a:t>1</a:t>
                </a:r>
                <a:r>
                  <a:rPr lang="en-IN" dirty="0"/>
                  <a:t>H ( given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= 267.512 x 10</a:t>
                </a:r>
                <a:r>
                  <a:rPr lang="en-IN" baseline="30000" dirty="0"/>
                  <a:t>6</a:t>
                </a:r>
                <a:r>
                  <a:rPr lang="en-IN" dirty="0"/>
                  <a:t> radT</a:t>
                </a:r>
                <a:r>
                  <a:rPr lang="en-IN" baseline="30000" dirty="0"/>
                  <a:t>-1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  <a:r>
                  <a:rPr lang="en-IN" dirty="0"/>
                  <a:t>) </a:t>
                </a:r>
              </a:p>
              <a:p>
                <a:r>
                  <a:rPr lang="en-IN" dirty="0"/>
                  <a:t>               b) </a:t>
                </a:r>
                <a:r>
                  <a:rPr lang="en-IN" baseline="30000" dirty="0"/>
                  <a:t>13</a:t>
                </a:r>
                <a:r>
                  <a:rPr lang="en-IN" dirty="0"/>
                  <a:t>C ( given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 = 67.2640 x 10</a:t>
                </a:r>
                <a:r>
                  <a:rPr lang="en-IN" baseline="30000" dirty="0"/>
                  <a:t>6</a:t>
                </a:r>
                <a:r>
                  <a:rPr lang="en-IN" dirty="0"/>
                  <a:t> radT</a:t>
                </a:r>
                <a:r>
                  <a:rPr lang="en-IN" baseline="30000" dirty="0"/>
                  <a:t>-1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  <a:r>
                  <a:rPr lang="en-IN" dirty="0"/>
                  <a:t>)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DB92A-4110-961A-1D1F-E8C7ADFE8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2" y="236318"/>
                <a:ext cx="8560613" cy="923330"/>
              </a:xfrm>
              <a:prstGeom prst="rect">
                <a:avLst/>
              </a:prstGeom>
              <a:blipFill>
                <a:blip r:embed="rId2"/>
                <a:stretch>
                  <a:fillRect l="-641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570818-4CBB-39FB-587C-B0548558125D}"/>
                  </a:ext>
                </a:extLst>
              </p:cNvPr>
              <p:cNvSpPr txBox="1"/>
              <p:nvPr/>
            </p:nvSpPr>
            <p:spPr>
              <a:xfrm>
                <a:off x="84842" y="1851749"/>
                <a:ext cx="828598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2. At what magnetic field strength do proton (</a:t>
                </a:r>
                <a:r>
                  <a:rPr lang="en-IN" baseline="30000" dirty="0"/>
                  <a:t>1</a:t>
                </a:r>
                <a:r>
                  <a:rPr lang="en-IN" dirty="0"/>
                  <a:t>H) </a:t>
                </a:r>
                <a:r>
                  <a:rPr lang="en-IN" dirty="0" err="1"/>
                  <a:t>precesses</a:t>
                </a:r>
                <a:r>
                  <a:rPr lang="en-IN" dirty="0"/>
                  <a:t> at the frequency 300 </a:t>
                </a:r>
                <a:r>
                  <a:rPr lang="en-IN" dirty="0" err="1"/>
                  <a:t>MHz.</a:t>
                </a:r>
                <a:endParaRPr lang="en-IN" dirty="0"/>
              </a:p>
              <a:p>
                <a:r>
                  <a:rPr lang="en-IN" dirty="0"/>
                  <a:t>     Given that for </a:t>
                </a:r>
                <a:r>
                  <a:rPr lang="en-IN" baseline="30000" dirty="0"/>
                  <a:t>1</a:t>
                </a:r>
                <a:r>
                  <a:rPr lang="en-IN" dirty="0"/>
                  <a:t>H,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= 267.512 x 10</a:t>
                </a:r>
                <a:r>
                  <a:rPr lang="en-IN" baseline="30000" dirty="0"/>
                  <a:t>6</a:t>
                </a:r>
                <a:r>
                  <a:rPr lang="en-IN" dirty="0"/>
                  <a:t> rad T</a:t>
                </a:r>
                <a:r>
                  <a:rPr lang="en-IN" baseline="30000" dirty="0"/>
                  <a:t>-1 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570818-4CBB-39FB-587C-B05485581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2" y="1851749"/>
                <a:ext cx="8285986" cy="923330"/>
              </a:xfrm>
              <a:prstGeom prst="rect">
                <a:avLst/>
              </a:prstGeom>
              <a:blipFill>
                <a:blip r:embed="rId3"/>
                <a:stretch>
                  <a:fillRect l="-662" t="-39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8A51815-75F1-E7CF-0819-835238A249BA}"/>
              </a:ext>
            </a:extLst>
          </p:cNvPr>
          <p:cNvSpPr txBox="1"/>
          <p:nvPr/>
        </p:nvSpPr>
        <p:spPr>
          <a:xfrm>
            <a:off x="84842" y="3429000"/>
            <a:ext cx="115707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 a) If the observed chemical shift of a proton is 240 Hz from TMS, then find the chemical shift in ppm. </a:t>
            </a:r>
          </a:p>
          <a:p>
            <a:r>
              <a:rPr lang="en-IN" dirty="0"/>
              <a:t>Given that instrument frequency is 60 </a:t>
            </a:r>
            <a:r>
              <a:rPr lang="en-IN" dirty="0" err="1"/>
              <a:t>MHz.</a:t>
            </a:r>
            <a:endParaRPr lang="en-IN" dirty="0"/>
          </a:p>
          <a:p>
            <a:r>
              <a:rPr lang="en-IN" dirty="0"/>
              <a:t>     b) The same sample is measured in 300 MHz instrument, then what will be chemical shift of the proton in ppm and Hz.</a:t>
            </a:r>
          </a:p>
          <a:p>
            <a:r>
              <a:rPr lang="en-IN" dirty="0"/>
              <a:t>                                                                                                                                                                                         </a:t>
            </a:r>
            <a:r>
              <a:rPr lang="en-US" dirty="0"/>
              <a:t>(CSIR NET)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F6C56-F576-9552-DFA9-75F0BD76E0A0}"/>
              </a:ext>
            </a:extLst>
          </p:cNvPr>
          <p:cNvSpPr txBox="1"/>
          <p:nvPr/>
        </p:nvSpPr>
        <p:spPr>
          <a:xfrm>
            <a:off x="84842" y="5321430"/>
            <a:ext cx="11726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The ¹H NMR spectrum of a dilute solution of a mixture of acetone and dichloromethane in </a:t>
            </a:r>
            <a:r>
              <a:rPr lang="en-US" dirty="0" err="1"/>
              <a:t>CDCl</a:t>
            </a:r>
            <a:r>
              <a:rPr lang="en-US" dirty="0"/>
              <a:t>₃ exhibits two singlet of 1:1 intensity. Molar ratio of acetone to dichloromethane in the solution is ? (CSIR 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2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AAE8EC-3C24-E2E2-4C48-021D714C7186}"/>
              </a:ext>
            </a:extLst>
          </p:cNvPr>
          <p:cNvSpPr txBox="1"/>
          <p:nvPr/>
        </p:nvSpPr>
        <p:spPr>
          <a:xfrm>
            <a:off x="85823" y="198211"/>
            <a:ext cx="761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Predict the no. of proton NMR peak will be observed in each of the molecule: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F8E8CF8-F0A0-A574-BA6D-C628E83363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661987"/>
              </p:ext>
            </p:extLst>
          </p:nvPr>
        </p:nvGraphicFramePr>
        <p:xfrm>
          <a:off x="4665712" y="887200"/>
          <a:ext cx="755005" cy="1038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19348" imgH="576072" progId="ChemDraw.Document.6.0">
                  <p:embed/>
                </p:oleObj>
              </mc:Choice>
              <mc:Fallback>
                <p:oleObj name="CS ChemDraw Drawing" r:id="rId2" imgW="419348" imgH="57607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3DF0D20-063D-593C-49D4-7CB6712CB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65712" y="887200"/>
                        <a:ext cx="755005" cy="1038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8A0720D-4E54-6E7F-AA8A-7A0BD3941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631762"/>
              </p:ext>
            </p:extLst>
          </p:nvPr>
        </p:nvGraphicFramePr>
        <p:xfrm>
          <a:off x="2359313" y="887200"/>
          <a:ext cx="1387617" cy="92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39972" imgH="559528" progId="ChemDraw.Document.6.0">
                  <p:embed/>
                </p:oleObj>
              </mc:Choice>
              <mc:Fallback>
                <p:oleObj name="CS ChemDraw Drawing" r:id="rId4" imgW="839972" imgH="559528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CFBE546-BB93-56F4-8925-ECEDBB9BC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59313" y="887200"/>
                        <a:ext cx="1387617" cy="923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D0A2CC-924F-F37C-43F4-0B9B174B250A}"/>
              </a:ext>
            </a:extLst>
          </p:cNvPr>
          <p:cNvSpPr txBox="1"/>
          <p:nvPr/>
        </p:nvSpPr>
        <p:spPr>
          <a:xfrm>
            <a:off x="292231" y="2648932"/>
            <a:ext cx="1191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A compound with molecular formula C</a:t>
            </a:r>
            <a:r>
              <a:rPr lang="en-IN" baseline="-25000" dirty="0"/>
              <a:t>3</a:t>
            </a:r>
            <a:r>
              <a:rPr lang="en-IN" dirty="0"/>
              <a:t>H</a:t>
            </a:r>
            <a:r>
              <a:rPr lang="en-IN" baseline="-25000" dirty="0"/>
              <a:t>6</a:t>
            </a:r>
            <a:r>
              <a:rPr lang="en-IN" dirty="0"/>
              <a:t>O</a:t>
            </a:r>
            <a:r>
              <a:rPr lang="en-IN" baseline="-25000" dirty="0"/>
              <a:t>2</a:t>
            </a:r>
            <a:r>
              <a:rPr lang="en-IN" dirty="0"/>
              <a:t> has two peaks (both singlet) in the proton NMR spectra. Predict the structure.</a:t>
            </a:r>
          </a:p>
          <a:p>
            <a:r>
              <a:rPr lang="en-IN" dirty="0"/>
              <a:t>     </a:t>
            </a:r>
            <a:r>
              <a:rPr lang="en-IN" baseline="30000" dirty="0"/>
              <a:t>1</a:t>
            </a:r>
            <a:r>
              <a:rPr lang="en-IN" dirty="0"/>
              <a:t>H : 2.19 (3H), 3.66 (3H)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061FF71-2E32-13C8-F00C-55690BAF85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886072"/>
              </p:ext>
            </p:extLst>
          </p:nvPr>
        </p:nvGraphicFramePr>
        <p:xfrm>
          <a:off x="6617501" y="1140605"/>
          <a:ext cx="103981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039439" imgH="670670" progId="ChemDraw.Document.6.0">
                  <p:embed/>
                </p:oleObj>
              </mc:Choice>
              <mc:Fallback>
                <p:oleObj name="CS ChemDraw Drawing" r:id="rId6" imgW="1039439" imgH="6706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17501" y="1140605"/>
                        <a:ext cx="1039813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918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238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CS ChemDraw Drawing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PRATIP BHATTACHARYYA</cp:lastModifiedBy>
  <cp:revision>5</cp:revision>
  <dcterms:created xsi:type="dcterms:W3CDTF">2026-02-23T10:54:47Z</dcterms:created>
  <dcterms:modified xsi:type="dcterms:W3CDTF">2026-02-26T04:35:18Z</dcterms:modified>
</cp:coreProperties>
</file>