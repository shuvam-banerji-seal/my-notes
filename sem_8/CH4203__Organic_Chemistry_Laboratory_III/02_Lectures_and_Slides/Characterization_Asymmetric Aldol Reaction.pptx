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315" r:id="rId3"/>
    <p:sldId id="316" r:id="rId4"/>
    <p:sldId id="328" r:id="rId5"/>
    <p:sldId id="317" r:id="rId6"/>
    <p:sldId id="329" r:id="rId7"/>
    <p:sldId id="330" r:id="rId8"/>
    <p:sldId id="326" r:id="rId9"/>
    <p:sldId id="319" r:id="rId10"/>
    <p:sldId id="322" r:id="rId11"/>
    <p:sldId id="323" r:id="rId12"/>
    <p:sldId id="287" r:id="rId13"/>
    <p:sldId id="297" r:id="rId14"/>
    <p:sldId id="331" r:id="rId15"/>
    <p:sldId id="332" r:id="rId16"/>
    <p:sldId id="333" r:id="rId17"/>
    <p:sldId id="334" r:id="rId18"/>
    <p:sldId id="33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173" autoAdjust="0"/>
    <p:restoredTop sz="94660"/>
  </p:normalViewPr>
  <p:slideViewPr>
    <p:cSldViewPr snapToGrid="0">
      <p:cViewPr varScale="1">
        <p:scale>
          <a:sx n="60" d="100"/>
          <a:sy n="60" d="100"/>
        </p:scale>
        <p:origin x="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5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F811D-B422-4DAF-ADE1-5EF6B66A1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87BBB-76B9-4323-A9AF-28152CE9B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F917F-A9A5-4458-B8B9-9BC1539E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26F0A-E07C-4760-A5E0-EE1FA18F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FD50-0B66-4CC2-9DDB-9FA09790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71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E10B-98FC-442C-A27C-50099787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D84EA-61AE-46F8-81D8-C0A313DB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A3A53-F73E-41FE-840B-3B164D7D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ECE63-B012-467E-97EF-D8BDC886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445CA-8DB3-4552-9DEA-C17F3C3B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65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79D8-FC3A-4EF4-AC15-754650FB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5B07C-B254-46D7-A662-09C7F61B3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B3B07-2524-485F-A49F-4B9C0D49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13BDA-926C-4122-9489-9E348B21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31B43-5008-400B-8CD3-90C4FF6A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0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F260-CFF7-4663-BDFB-EAA205CC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7F69-C9CA-4984-BBC5-592A56B77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7030-FC96-47C4-8DE5-1F9818846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BEAF8-AC1E-498F-8F1D-AB904C788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8897A-F103-49D1-AC7E-920E625F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71DAB-847E-4100-A044-3D1A4C89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3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3378-90BC-4EAF-8560-E465243CF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78B35-58C2-4AB5-B94E-AFBBDE43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F41BD-589A-4E5F-BCCA-D74A83A95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FACC9-FA2A-4F71-A6ED-680F24718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886B0-559C-4927-BF70-8AC8BCE80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448BA-C231-4ADB-AFB3-0D329742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18A73-EBB8-4B80-B859-4854FFD0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37857-5629-47A1-BB59-66734B6D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6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34DD-2A10-4B01-8114-E4CD2B1E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195A2-B807-4BAA-86CA-F38BD5FE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AACAF-BFEB-44A3-AE2F-A017207E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3F3C6-5C3C-4AF8-BB97-3EDD8B54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14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A709E-65F6-4735-B92E-79F59678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6B408-E30A-48AA-B47B-6E6EBA36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FC13C-71FC-4523-BB15-B5B82EB6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71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5A56-6FF3-4E8B-8620-57685144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BC959-1AFE-4C98-BC08-9820A5B9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B0215-DFE2-4BC9-9933-9255A308C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6D5F2-2AA3-4CB3-85FA-F9E9FD4E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5ED98-73B7-431C-913A-202F3394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C7F29-85A6-4455-94C0-0341E3AA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7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CDAB-0D89-4B83-9EB8-70D93674E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8CB30B-C130-4421-B5C4-968DFF1C0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CEECC-3AF3-4D41-8440-C0BB70BC0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39ED2-D0E5-4A44-A493-16B82041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11420-C464-4363-96F0-788E6C8A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FE2F8-145F-4E97-B84A-3D477442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64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9F63-02FE-48D6-9911-F854B44C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F0AF2-D0B6-4F66-A904-F4CBD89F9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39474-A99B-4A79-B30F-61ACA2E0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22BC-8B80-4941-B1E3-F03DCC83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6B9A-C5F9-4A56-B783-70FA492D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3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C45B1-7EFE-4616-A2CA-E37911770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10E37-49C4-442F-A215-C841FB410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2CA8D-D5BB-44F6-85F3-80365686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2719C-4560-436E-A6CE-FD40841C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295B8-1656-40D0-9FCB-1BDDFD60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6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2DFDF-FBB9-4DD0-B773-040E0BA6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96BC4-5D15-4282-B359-8957C98B3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A085-B615-479A-BB7D-939C1C509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2E51D-7690-4A1A-BA55-517A1129D5F3}" type="datetimeFigureOut">
              <a:rPr lang="en-IN" smtClean="0"/>
              <a:t>23-01-2022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8B18-8761-42AE-98BB-07D4AF4F4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8E645-DBB5-4C82-A4FD-C826BBCE1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69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emf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emf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309999" y="514917"/>
            <a:ext cx="1141686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CH4203: Organic Synthesis Laboratory</a:t>
            </a:r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----------------------------------------------------------------------------------------------</a:t>
            </a:r>
            <a:endParaRPr lang="en-IN" sz="2800" dirty="0">
              <a:solidFill>
                <a:srgbClr val="00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Expt. No. 4:</a:t>
            </a:r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IN" sz="2800" b="1" kern="100" dirty="0">
                <a:solidFill>
                  <a:srgbClr val="0000CC"/>
                </a:solidFill>
                <a:effectLst/>
                <a:latin typeface="Arial" panose="020B0604020202020204" pitchFamily="34" charset="0"/>
                <a:ea typeface="Noto Sans CJK SC Regular"/>
                <a:cs typeface="Arial" panose="020B0604020202020204" pitchFamily="34" charset="0"/>
              </a:rPr>
              <a:t>L-Proline </a:t>
            </a:r>
            <a:r>
              <a:rPr lang="en-IN" sz="2800" b="1" kern="100" dirty="0" err="1">
                <a:solidFill>
                  <a:srgbClr val="0000CC"/>
                </a:solidFill>
                <a:effectLst/>
                <a:latin typeface="Arial" panose="020B0604020202020204" pitchFamily="34" charset="0"/>
                <a:ea typeface="Noto Sans CJK SC Regular"/>
                <a:cs typeface="Arial" panose="020B0604020202020204" pitchFamily="34" charset="0"/>
              </a:rPr>
              <a:t>Catalyzed</a:t>
            </a:r>
            <a:r>
              <a:rPr lang="en-IN" sz="2800" b="1" kern="100" dirty="0">
                <a:solidFill>
                  <a:srgbClr val="0000CC"/>
                </a:solidFill>
                <a:effectLst/>
                <a:latin typeface="Arial" panose="020B0604020202020204" pitchFamily="34" charset="0"/>
                <a:ea typeface="Noto Sans CJK SC Regular"/>
                <a:cs typeface="Arial" panose="020B0604020202020204" pitchFamily="34" charset="0"/>
              </a:rPr>
              <a:t> Asymmetric Aldol Reaction of Acetone with p-</a:t>
            </a:r>
            <a:r>
              <a:rPr lang="en-IN" sz="2800" b="1" kern="100" dirty="0" err="1">
                <a:solidFill>
                  <a:srgbClr val="0000CC"/>
                </a:solidFill>
                <a:effectLst/>
                <a:latin typeface="Arial" panose="020B0604020202020204" pitchFamily="34" charset="0"/>
                <a:ea typeface="Noto Sans CJK SC Regular"/>
                <a:cs typeface="Arial" panose="020B0604020202020204" pitchFamily="34" charset="0"/>
              </a:rPr>
              <a:t>Nitrobenzaldehyde</a:t>
            </a:r>
            <a:endParaRPr lang="en-IN" sz="28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Prof. Alakesh Bisai</a:t>
            </a:r>
          </a:p>
          <a:p>
            <a:pPr algn="ctr"/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Chemical Sciences</a:t>
            </a:r>
          </a:p>
          <a:p>
            <a:pPr algn="ctr"/>
            <a:endParaRPr lang="en-IN" sz="2800" dirty="0">
              <a:solidFill>
                <a:srgbClr val="00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800" dirty="0">
              <a:solidFill>
                <a:srgbClr val="00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Tutor: Mr. Pranay Shyamal (Roll No.: 19RS090)</a:t>
            </a:r>
          </a:p>
          <a:p>
            <a:pPr algn="ctr"/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Mr. </a:t>
            </a:r>
            <a:r>
              <a:rPr lang="en-IN" sz="28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Monosij</a:t>
            </a:r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Nandy</a:t>
            </a:r>
            <a:r>
              <a:rPr lang="en-IN" sz="28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(Roll No.: 21RS008)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94911" y="18728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1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9B2A4F-3461-4E33-AA37-2E33665D3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32" y="901459"/>
            <a:ext cx="10421963" cy="865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A640CE-0043-484B-9481-11B00068D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32" y="2280668"/>
            <a:ext cx="10816097" cy="39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36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AA342-A750-41BA-B372-B6A4251BD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48" y="919537"/>
            <a:ext cx="9711897" cy="565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0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1EDA4-501A-42E9-8332-528C70CC1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970" y="1579733"/>
            <a:ext cx="5812059" cy="268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8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F44FEF-284C-42A9-B699-916D4305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912" y="0"/>
            <a:ext cx="8966357" cy="677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8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F846D2-5DA6-4A98-956C-00AC7874B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51" y="1013825"/>
            <a:ext cx="11446159" cy="524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2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A3718-B427-46B0-A636-6BB28009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9" y="883643"/>
            <a:ext cx="6278301" cy="459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3FFB78-22E9-4A54-A0F3-050A18BDB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99" y="1822470"/>
            <a:ext cx="11220602" cy="375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8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ABCAFF-AFB6-4C5A-BAE5-561092103964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TLC Experiment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459A5A-865A-4486-8C3F-6364E16793D0}"/>
              </a:ext>
            </a:extLst>
          </p:cNvPr>
          <p:cNvCxnSpPr/>
          <p:nvPr/>
        </p:nvCxnSpPr>
        <p:spPr>
          <a:xfrm>
            <a:off x="6421004" y="1480803"/>
            <a:ext cx="14801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9580F80-A0C2-4866-AEFE-6826892F7004}"/>
              </a:ext>
            </a:extLst>
          </p:cNvPr>
          <p:cNvSpPr txBox="1"/>
          <p:nvPr/>
        </p:nvSpPr>
        <p:spPr>
          <a:xfrm>
            <a:off x="7901125" y="1282112"/>
            <a:ext cx="2445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Solvent Front (</a:t>
            </a:r>
            <a:r>
              <a:rPr lang="en-US" dirty="0">
                <a:latin typeface="Symbol" panose="05050102010706020507" pitchFamily="18" charset="2"/>
              </a:rPr>
              <a:t>~ 3.6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cm)</a:t>
            </a:r>
            <a:endParaRPr lang="en-IN" dirty="0">
              <a:latin typeface="Symbol" panose="05050102010706020507" pitchFamily="18" charset="2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02A082-2F29-4261-B5D6-22FF75024F29}"/>
              </a:ext>
            </a:extLst>
          </p:cNvPr>
          <p:cNvCxnSpPr/>
          <p:nvPr/>
        </p:nvCxnSpPr>
        <p:spPr>
          <a:xfrm>
            <a:off x="6400731" y="5523396"/>
            <a:ext cx="14801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234A09-D774-4D92-85AF-B31FBF6D95FB}"/>
              </a:ext>
            </a:extLst>
          </p:cNvPr>
          <p:cNvSpPr txBox="1"/>
          <p:nvPr/>
        </p:nvSpPr>
        <p:spPr>
          <a:xfrm>
            <a:off x="7932017" y="5338730"/>
            <a:ext cx="91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</a:t>
            </a:r>
            <a:endParaRPr lang="en-IN" dirty="0">
              <a:latin typeface="Symbol" panose="05050102010706020507" pitchFamily="18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6681E-8089-4F7C-8C67-9B297AFBE283}"/>
              </a:ext>
            </a:extLst>
          </p:cNvPr>
          <p:cNvSpPr txBox="1"/>
          <p:nvPr/>
        </p:nvSpPr>
        <p:spPr>
          <a:xfrm>
            <a:off x="3467081" y="6166964"/>
            <a:ext cx="492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Phase: 50% Ethyl Acetate in </a:t>
            </a:r>
            <a:r>
              <a:rPr lang="en-IN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IN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-Hexane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CE1D6-3133-437B-BB8D-9EA0B8A1AD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59" t="35618" r="45973" b="16634"/>
          <a:stretch/>
        </p:blipFill>
        <p:spPr>
          <a:xfrm>
            <a:off x="4961157" y="947737"/>
            <a:ext cx="1439574" cy="49625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45F9BD-13BE-4D6C-9946-86810A294588}"/>
              </a:ext>
            </a:extLst>
          </p:cNvPr>
          <p:cNvCxnSpPr/>
          <p:nvPr/>
        </p:nvCxnSpPr>
        <p:spPr>
          <a:xfrm>
            <a:off x="6381496" y="2480438"/>
            <a:ext cx="14801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3B069BB-1304-4D8D-A70C-68F7BEF78442}"/>
              </a:ext>
            </a:extLst>
          </p:cNvPr>
          <p:cNvSpPr txBox="1"/>
          <p:nvPr/>
        </p:nvSpPr>
        <p:spPr>
          <a:xfrm>
            <a:off x="7880852" y="2272026"/>
            <a:ext cx="1926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UV active (Starting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Material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21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&amp; Observation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C7A231-AFAF-4BFD-88DA-EFDED3F5C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49" y="936947"/>
            <a:ext cx="10161546" cy="554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1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Characterization of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33350-0B51-41F1-A902-2692B5DB8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07" y="979687"/>
            <a:ext cx="11382386" cy="548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4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EC288-2A96-4639-B545-9DE761009C00}"/>
              </a:ext>
            </a:extLst>
          </p:cNvPr>
          <p:cNvSpPr txBox="1"/>
          <p:nvPr/>
        </p:nvSpPr>
        <p:spPr>
          <a:xfrm>
            <a:off x="492369" y="166361"/>
            <a:ext cx="1087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3656E-87F5-4641-A8A9-54E9E1F9E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4504"/>
            <a:ext cx="12226184" cy="235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45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0" y="5862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 Data of Aldol Product (</a:t>
            </a:r>
            <a:r>
              <a:rPr lang="en-US" sz="2400" b="1" dirty="0">
                <a:solidFill>
                  <a:srgbClr val="C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b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-Hydroxy Ketone)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94911" y="18728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39DC9-9E6C-45B3-8A00-C66F1D7EA4D2}"/>
              </a:ext>
            </a:extLst>
          </p:cNvPr>
          <p:cNvPicPr/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230" t="34874" r="10369" b="18873"/>
          <a:stretch/>
        </p:blipFill>
        <p:spPr bwMode="auto">
          <a:xfrm>
            <a:off x="3051792" y="791045"/>
            <a:ext cx="8311426" cy="56487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10942A-FA35-4EFF-BDF4-A22FE793F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17" y="1104387"/>
            <a:ext cx="2940275" cy="153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05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0" y="5862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1H-NMR of Aldol Product (</a:t>
            </a:r>
            <a:r>
              <a:rPr lang="en-US" sz="2400" b="1" dirty="0">
                <a:solidFill>
                  <a:srgbClr val="C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b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-Hydroxy Ketone) in CDCl</a:t>
            </a:r>
            <a:r>
              <a:rPr lang="en-US" sz="24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500 MHz</a:t>
            </a: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AAAB7ED7-9A86-4A39-A4B7-FF2803B8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678" y="960633"/>
            <a:ext cx="1705392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6EEC62C-D084-4C35-95E2-BBCBCA38E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721703"/>
              </p:ext>
            </p:extLst>
          </p:nvPr>
        </p:nvGraphicFramePr>
        <p:xfrm>
          <a:off x="1871817" y="902009"/>
          <a:ext cx="8448365" cy="5897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3" imgW="10353732" imgH="7220004" progId="MestReNova.Document.1">
                  <p:embed/>
                </p:oleObj>
              </mc:Choice>
              <mc:Fallback>
                <p:oleObj r:id="rId3" imgW="10353732" imgH="7220004" progId="MestReNova.Document.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817" y="902009"/>
                        <a:ext cx="8448365" cy="58973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2C8E6E9-EA2F-4467-8A56-E3F21EF2F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760" y="2648320"/>
            <a:ext cx="2940275" cy="153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17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0" y="5862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13C-NMR of Aldol Product (</a:t>
            </a:r>
            <a:r>
              <a:rPr lang="en-US" sz="2400" b="1" dirty="0">
                <a:solidFill>
                  <a:srgbClr val="C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b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-Hydroxy Ketone) in CDCl</a:t>
            </a:r>
            <a:r>
              <a:rPr lang="en-US" sz="24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126 MHz</a:t>
            </a: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AAAB7ED7-9A86-4A39-A4B7-FF2803B8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678" y="960633"/>
            <a:ext cx="1705392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7576709-E46C-49A4-80B6-49FA16BD99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189016"/>
              </p:ext>
            </p:extLst>
          </p:nvPr>
        </p:nvGraphicFramePr>
        <p:xfrm>
          <a:off x="1850065" y="1006352"/>
          <a:ext cx="8242324" cy="5762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r:id="rId3" imgW="10353732" imgH="7220004" progId="MestReNova.Document.1">
                  <p:embed/>
                </p:oleObj>
              </mc:Choice>
              <mc:Fallback>
                <p:oleObj r:id="rId3" imgW="10353732" imgH="7220004" progId="MestReNova.Document.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065" y="1006352"/>
                        <a:ext cx="8242324" cy="57628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CC39885-5DF7-41F4-A15C-4BC07D8E8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40" y="2199541"/>
            <a:ext cx="2940275" cy="153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46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0" y="5862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HPLC Analysis of Racemic Aldol Product (</a:t>
            </a:r>
            <a:r>
              <a:rPr lang="en-US" sz="2400" b="1" dirty="0">
                <a:solidFill>
                  <a:srgbClr val="C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b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-Hydroxy Ketone)</a:t>
            </a: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AAAB7ED7-9A86-4A39-A4B7-FF2803B8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678" y="960633"/>
            <a:ext cx="1705392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8E6E9-EA2F-4467-8A56-E3F21EF2F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414"/>
            <a:ext cx="2940275" cy="1536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827223-1430-4ECB-9FD4-E2C5F26858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050" y="520290"/>
            <a:ext cx="7003313" cy="8998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3573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0" y="5862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AAAB7ED7-9A86-4A39-A4B7-FF2803B8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678" y="960633"/>
            <a:ext cx="1705392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8E6E9-EA2F-4467-8A56-E3F21EF2F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06352"/>
            <a:ext cx="2243470" cy="1172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827223-1430-4ECB-9FD4-E2C5F26858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471" y="-6090314"/>
            <a:ext cx="9930810" cy="127595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9967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0" y="5862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HPLC Analysis of Enantioenriched Aldol Product (</a:t>
            </a:r>
            <a:r>
              <a:rPr lang="en-US" sz="2400" b="1" dirty="0">
                <a:solidFill>
                  <a:srgbClr val="C00000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b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-Hydroxy Ketone)</a:t>
            </a: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AAAB7ED7-9A86-4A39-A4B7-FF2803B8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678" y="960633"/>
            <a:ext cx="1705392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8E6E9-EA2F-4467-8A56-E3F21EF2F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414"/>
            <a:ext cx="2940275" cy="1536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B4F351-A6DC-4658-8114-6D7F181B56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672" y="474572"/>
            <a:ext cx="7162650" cy="92005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9164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AAAB7ED7-9A86-4A39-A4B7-FF2803B8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678" y="960633"/>
            <a:ext cx="1705392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8E6E9-EA2F-4467-8A56-E3F21EF2F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414"/>
            <a:ext cx="2940275" cy="1536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B4F351-A6DC-4658-8114-6D7F181B56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275" y="-5557103"/>
            <a:ext cx="8917375" cy="11454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115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150</Words>
  <Application>Microsoft Office PowerPoint</Application>
  <PresentationFormat>Widescreen</PresentationFormat>
  <Paragraphs>32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Times New Roman</vt:lpstr>
      <vt:lpstr>Office Theme</vt:lpstr>
      <vt:lpstr>MestReNova.Document.1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Ayan</dc:creator>
  <cp:lastModifiedBy>Alakesh Bisai</cp:lastModifiedBy>
  <cp:revision>89</cp:revision>
  <dcterms:created xsi:type="dcterms:W3CDTF">2021-03-21T06:11:57Z</dcterms:created>
  <dcterms:modified xsi:type="dcterms:W3CDTF">2022-01-23T07:58:01Z</dcterms:modified>
</cp:coreProperties>
</file>