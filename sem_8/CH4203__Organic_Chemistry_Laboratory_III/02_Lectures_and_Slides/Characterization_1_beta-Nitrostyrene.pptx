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04" r:id="rId3"/>
    <p:sldId id="305" r:id="rId4"/>
    <p:sldId id="306" r:id="rId5"/>
    <p:sldId id="307" r:id="rId6"/>
    <p:sldId id="308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9" r:id="rId15"/>
    <p:sldId id="300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811D-B422-4DAF-ADE1-5EF6B66A1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87BBB-76B9-4323-A9AF-28152CE9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F917F-A9A5-4458-B8B9-9BC1539E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6F0A-E07C-4760-A5E0-EE1FA18F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FD50-0B66-4CC2-9DDB-9FA097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71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E10B-98FC-442C-A27C-50099787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84EA-61AE-46F8-81D8-C0A313DB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A3A53-F73E-41FE-840B-3B164D7D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CE63-B012-467E-97EF-D8BDC886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45CA-8DB3-4552-9DEA-C17F3C3B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79D8-FC3A-4EF4-AC15-754650FB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5B07C-B254-46D7-A662-09C7F61B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B3B07-2524-485F-A49F-4B9C0D49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3BDA-926C-4122-9489-9E348B21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1B43-5008-400B-8CD3-90C4FF6A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0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F260-CFF7-4663-BDFB-EAA205CC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7F69-C9CA-4984-BBC5-592A56B7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7030-FC96-47C4-8DE5-1F981884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BEAF8-AC1E-498F-8F1D-AB904C78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8897A-F103-49D1-AC7E-920E625F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1DAB-847E-4100-A044-3D1A4C89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3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3378-90BC-4EAF-8560-E465243C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78B35-58C2-4AB5-B94E-AFBBDE4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F41BD-589A-4E5F-BCCA-D74A83A95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ACC9-FA2A-4F71-A6ED-680F24718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86B0-559C-4927-BF70-8AC8BCE80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448BA-C231-4ADB-AFB3-0D329742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18A73-EBB8-4B80-B859-4854FFD0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37857-5629-47A1-BB59-66734B6D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6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34DD-2A10-4B01-8114-E4CD2B1E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195A2-B807-4BAA-86CA-F38BD5FE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AACAF-BFEB-44A3-AE2F-A017207E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3F3C6-5C3C-4AF8-BB97-3EDD8B5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4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A709E-65F6-4735-B92E-79F59678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6B408-E30A-48AA-B47B-6E6EBA36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C13C-71FC-4523-BB15-B5B82EB6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71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5A56-6FF3-4E8B-8620-57685144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C959-1AFE-4C98-BC08-9820A5B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B0215-DFE2-4BC9-9933-9255A308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6D5F2-2AA3-4CB3-85FA-F9E9FD4E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5ED98-73B7-431C-913A-202F3394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C7F29-85A6-4455-94C0-0341E3AA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CDAB-0D89-4B83-9EB8-70D93674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CB30B-C130-4421-B5C4-968DFF1C0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CEECC-3AF3-4D41-8440-C0BB70BC0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39ED2-D0E5-4A44-A493-16B82041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11420-C464-4363-96F0-788E6C8A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FE2F8-145F-4E97-B84A-3D477442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4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9F63-02FE-48D6-9911-F854B44C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F0AF2-D0B6-4F66-A904-F4CBD89F9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9474-A99B-4A79-B30F-61ACA2E0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22BC-8B80-4941-B1E3-F03DCC83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6B9A-C5F9-4A56-B783-70FA492D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3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C45B1-7EFE-4616-A2CA-E37911770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10E37-49C4-442F-A215-C841FB410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2CA8D-D5BB-44F6-85F3-80365686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719C-4560-436E-A6CE-FD40841C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295B8-1656-40D0-9FCB-1BDDFD60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6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DFDF-FBB9-4DD0-B773-040E0BA6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96BC4-5D15-4282-B359-8957C98B3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A085-B615-479A-BB7D-939C1C509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2E51D-7690-4A1A-BA55-517A1129D5F3}" type="datetimeFigureOut">
              <a:rPr lang="en-IN" smtClean="0"/>
              <a:pPr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8B18-8761-42AE-98BB-07D4AF4F4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E645-DBB5-4C82-A4FD-C826BBCE1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D59B8-DAB9-4B48-97D2-B2FF68692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69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309999" y="514917"/>
            <a:ext cx="1141686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CH4203: Organic Synthesis Laboratory</a:t>
            </a:r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</a:t>
            </a:r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Expt. No. 1: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Nitro-Aldol Reaction of p-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Tolualdehyde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Nitromethane: Synthesis of </a:t>
            </a:r>
            <a:r>
              <a:rPr lang="en-IN" sz="2800" dirty="0">
                <a:solidFill>
                  <a:srgbClr val="0000CC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Nitrostyrene</a:t>
            </a:r>
            <a:endParaRPr lang="en-IN" sz="28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</a:t>
            </a:r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January</a:t>
            </a:r>
            <a:r>
              <a:rPr lang="en-IN" sz="28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2025</a:t>
            </a:r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IN" sz="2800" dirty="0" err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Alakesh Bisai</a:t>
            </a: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of Chemistry</a:t>
            </a: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Chemical Sciences</a:t>
            </a:r>
          </a:p>
          <a:p>
            <a:pPr algn="ctr"/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 1: Mr. 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Satadru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Dutta</a:t>
            </a:r>
          </a:p>
          <a:p>
            <a:pPr algn="ctr"/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 2: Ms. Antara De</a:t>
            </a:r>
          </a:p>
          <a:p>
            <a:pPr algn="ctr"/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 3: Mr. 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Saikat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Bag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911" y="1872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75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E1861-08DF-478F-9364-DD8CD4042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37" y="992171"/>
            <a:ext cx="9974672" cy="54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36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DFD28-601B-40F0-9B46-CE9685A0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1" y="1010216"/>
            <a:ext cx="11560916" cy="545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0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0BEA3-FD68-44BB-8B36-45FB4F33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64" y="1764618"/>
            <a:ext cx="11066598" cy="33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8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E1DDA-D8E0-4A45-A19C-B222E69E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7" y="912384"/>
            <a:ext cx="11510601" cy="535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6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4394B-1CF0-4252-9F4C-5D520927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85" y="1517114"/>
            <a:ext cx="10692119" cy="297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0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www.chemicalbook.com/Spectrum/1485-00-3_IR1.gif"/>
          <p:cNvPicPr>
            <a:picLocks noChangeAspect="1" noChangeArrowheads="1"/>
          </p:cNvPicPr>
          <p:nvPr/>
        </p:nvPicPr>
        <p:blipFill>
          <a:blip r:embed="rId2"/>
          <a:srcRect l="3483" t="12121" b="24242"/>
          <a:stretch>
            <a:fillRect/>
          </a:stretch>
        </p:blipFill>
        <p:spPr bwMode="auto">
          <a:xfrm>
            <a:off x="1333499" y="1095375"/>
            <a:ext cx="9534526" cy="45974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 Spectra of </a:t>
            </a:r>
            <a:r>
              <a:rPr lang="en-IN" sz="2800" dirty="0">
                <a:solidFill>
                  <a:srgbClr val="C00000"/>
                </a:solidFill>
                <a:latin typeface="Symbol" pitchFamily="18" charset="2"/>
                <a:cs typeface="Arial" panose="020B0604020202020204" pitchFamily="34" charset="0"/>
              </a:rPr>
              <a:t>b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I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Nitrostyrene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5F014E-45E1-499B-88DF-E2280DD9B120}"/>
              </a:ext>
            </a:extLst>
          </p:cNvPr>
          <p:cNvCxnSpPr/>
          <p:nvPr/>
        </p:nvCxnSpPr>
        <p:spPr>
          <a:xfrm flipH="1">
            <a:off x="5982277" y="3325380"/>
            <a:ext cx="443346" cy="378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2A389B-BEA8-4815-AF2E-408D3DA62E94}"/>
              </a:ext>
            </a:extLst>
          </p:cNvPr>
          <p:cNvSpPr txBox="1"/>
          <p:nvPr/>
        </p:nvSpPr>
        <p:spPr>
          <a:xfrm>
            <a:off x="5287099" y="3799320"/>
            <a:ext cx="1002198" cy="26161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C=C bond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C0AC9E-1764-4CB6-9545-60E4413572F7}"/>
              </a:ext>
            </a:extLst>
          </p:cNvPr>
          <p:cNvCxnSpPr/>
          <p:nvPr/>
        </p:nvCxnSpPr>
        <p:spPr>
          <a:xfrm rot="10800000" flipV="1">
            <a:off x="6994526" y="4495800"/>
            <a:ext cx="644525" cy="400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493D79-A4A6-4300-8C34-E9F03A47DC56}"/>
              </a:ext>
            </a:extLst>
          </p:cNvPr>
          <p:cNvSpPr txBox="1"/>
          <p:nvPr/>
        </p:nvSpPr>
        <p:spPr>
          <a:xfrm>
            <a:off x="6046216" y="4891513"/>
            <a:ext cx="1230884" cy="43088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C-N stretching  of C-NO</a:t>
            </a:r>
            <a:r>
              <a:rPr lang="en-US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EE13EA-2F2E-4118-9844-9F9058D214E3}"/>
              </a:ext>
            </a:extLst>
          </p:cNvPr>
          <p:cNvCxnSpPr>
            <a:cxnSpLocks/>
          </p:cNvCxnSpPr>
          <p:nvPr/>
        </p:nvCxnSpPr>
        <p:spPr>
          <a:xfrm flipH="1">
            <a:off x="3079173" y="2261377"/>
            <a:ext cx="272473" cy="265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EAD418-080E-4409-B03A-E45F565C3A8A}"/>
              </a:ext>
            </a:extLst>
          </p:cNvPr>
          <p:cNvSpPr txBox="1"/>
          <p:nvPr/>
        </p:nvSpPr>
        <p:spPr>
          <a:xfrm>
            <a:off x="2623440" y="2631849"/>
            <a:ext cx="1172117" cy="26161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Csp2-H bond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4575" y="5943600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cm</a:t>
            </a:r>
            <a:r>
              <a:rPr lang="en-US" baseline="30000" dirty="0"/>
              <a:t>-1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5F014E-45E1-499B-88DF-E2280DD9B120}"/>
              </a:ext>
            </a:extLst>
          </p:cNvPr>
          <p:cNvCxnSpPr/>
          <p:nvPr/>
        </p:nvCxnSpPr>
        <p:spPr>
          <a:xfrm flipH="1">
            <a:off x="6487102" y="3801630"/>
            <a:ext cx="443346" cy="378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2A389B-BEA8-4815-AF2E-408D3DA62E94}"/>
              </a:ext>
            </a:extLst>
          </p:cNvPr>
          <p:cNvSpPr txBox="1"/>
          <p:nvPr/>
        </p:nvSpPr>
        <p:spPr>
          <a:xfrm>
            <a:off x="5791924" y="4275570"/>
            <a:ext cx="1037463" cy="43088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C=C bond 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phenyl ring</a:t>
            </a:r>
          </a:p>
        </p:txBody>
      </p:sp>
      <p:sp>
        <p:nvSpPr>
          <p:cNvPr id="19" name="Right Brace 18"/>
          <p:cNvSpPr/>
          <p:nvPr/>
        </p:nvSpPr>
        <p:spPr>
          <a:xfrm rot="5400000">
            <a:off x="8924924" y="4257674"/>
            <a:ext cx="466725" cy="317182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124825" y="6096000"/>
            <a:ext cx="192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Fingerprint  region</a:t>
            </a:r>
          </a:p>
        </p:txBody>
      </p:sp>
    </p:spTree>
    <p:extLst>
      <p:ext uri="{BB962C8B-B14F-4D97-AF65-F5344CB8AC3E}">
        <p14:creationId xmlns:p14="http://schemas.microsoft.com/office/powerpoint/2010/main" val="366663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773006-32D9-4801-BE80-E12D40B4F30B}"/>
              </a:ext>
            </a:extLst>
          </p:cNvPr>
          <p:cNvSpPr txBox="1"/>
          <p:nvPr/>
        </p:nvSpPr>
        <p:spPr>
          <a:xfrm>
            <a:off x="474081" y="27362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NMR Spectra of p-</a:t>
            </a:r>
            <a:r>
              <a:rPr lang="en-I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Tolualdehyde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185" name="Object 17"/>
          <p:cNvGraphicFramePr>
            <a:graphicFrameLocks noChangeAspect="1"/>
          </p:cNvGraphicFramePr>
          <p:nvPr/>
        </p:nvGraphicFramePr>
        <p:xfrm>
          <a:off x="1399032" y="2041424"/>
          <a:ext cx="9490724" cy="4258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759444" imgH="2584862" progId="ChemDraw.Document.6.0">
                  <p:embed/>
                </p:oleObj>
              </mc:Choice>
              <mc:Fallback>
                <p:oleObj name="CS ChemDraw Drawing" r:id="rId2" imgW="5759444" imgH="2584862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032" y="2041424"/>
                        <a:ext cx="9490724" cy="4258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5583238" y="882015"/>
          <a:ext cx="1384490" cy="950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24128" imgH="702714" progId="ChemDraw.Document.6.0">
                  <p:embed/>
                </p:oleObj>
              </mc:Choice>
              <mc:Fallback>
                <p:oleObj name="CS ChemDraw Drawing" r:id="rId4" imgW="1024128" imgH="702714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882015"/>
                        <a:ext cx="1384490" cy="950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087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 descr="bmse000527 P-tolualdehyde at BMR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8260" y="1189474"/>
            <a:ext cx="7565840" cy="5346555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73006-32D9-4801-BE80-E12D40B4F30B}"/>
              </a:ext>
            </a:extLst>
          </p:cNvPr>
          <p:cNvSpPr txBox="1"/>
          <p:nvPr/>
        </p:nvSpPr>
        <p:spPr>
          <a:xfrm>
            <a:off x="474081" y="27362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NMR Spectra(400 MHz) of 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5583238" y="882015"/>
          <a:ext cx="1384490" cy="950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024128" imgH="702714" progId="ChemDraw.Document.6.0">
                  <p:embed/>
                </p:oleObj>
              </mc:Choice>
              <mc:Fallback>
                <p:oleObj name="CS ChemDraw Drawing" r:id="rId3" imgW="1024128" imgH="702714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882015"/>
                        <a:ext cx="1384490" cy="950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087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D45DFA-26D6-429E-A265-CABD86CAB50D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NMR Spectra</a:t>
            </a:r>
            <a:endParaRPr lang="en-IN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209" name="Object 17"/>
          <p:cNvGraphicFramePr>
            <a:graphicFrameLocks noChangeAspect="1"/>
          </p:cNvGraphicFramePr>
          <p:nvPr/>
        </p:nvGraphicFramePr>
        <p:xfrm>
          <a:off x="5619750" y="1174750"/>
          <a:ext cx="13843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024128" imgH="702714" progId="ChemDraw.Document.6.0">
                  <p:embed/>
                </p:oleObj>
              </mc:Choice>
              <mc:Fallback>
                <p:oleObj name="CS ChemDraw Drawing" r:id="rId2" imgW="1024128" imgH="702714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1174750"/>
                        <a:ext cx="13843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18"/>
          <p:cNvGraphicFramePr>
            <a:graphicFrameLocks noChangeAspect="1"/>
          </p:cNvGraphicFramePr>
          <p:nvPr/>
        </p:nvGraphicFramePr>
        <p:xfrm>
          <a:off x="1899538" y="2336356"/>
          <a:ext cx="8527806" cy="382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59444" imgH="2584862" progId="ChemDraw.Document.6.0">
                  <p:embed/>
                </p:oleObj>
              </mc:Choice>
              <mc:Fallback>
                <p:oleObj name="CS ChemDraw Drawing" r:id="rId4" imgW="5759444" imgH="2584862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538" y="2336356"/>
                        <a:ext cx="8527806" cy="382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435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3" name="Picture 7" descr="bmse000527 P-tolualdehyde at BMR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7248" y="1639796"/>
            <a:ext cx="7182402" cy="5075591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D45DFA-26D6-429E-A265-CABD86CAB50D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NMR Spectra(125 MHz)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aphicFrame>
        <p:nvGraphicFramePr>
          <p:cNvPr id="8209" name="Object 17"/>
          <p:cNvGraphicFramePr>
            <a:graphicFrameLocks noChangeAspect="1"/>
          </p:cNvGraphicFramePr>
          <p:nvPr/>
        </p:nvGraphicFramePr>
        <p:xfrm>
          <a:off x="5341151" y="1154029"/>
          <a:ext cx="13843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024128" imgH="702714" progId="ChemDraw.Document.6.0">
                  <p:embed/>
                </p:oleObj>
              </mc:Choice>
              <mc:Fallback>
                <p:oleObj name="CS ChemDraw Drawing" r:id="rId3" imgW="1024128" imgH="702714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151" y="1154029"/>
                        <a:ext cx="13843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435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33" name="Object 17"/>
          <p:cNvGraphicFramePr>
            <a:graphicFrameLocks noChangeAspect="1"/>
          </p:cNvGraphicFramePr>
          <p:nvPr/>
        </p:nvGraphicFramePr>
        <p:xfrm>
          <a:off x="1635826" y="2093976"/>
          <a:ext cx="9230969" cy="414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759444" imgH="2584436" progId="ChemDraw.Document.6.0">
                  <p:embed/>
                </p:oleObj>
              </mc:Choice>
              <mc:Fallback>
                <p:oleObj name="CS ChemDraw Drawing" r:id="rId2" imgW="5759444" imgH="2584436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826" y="2093976"/>
                        <a:ext cx="9230969" cy="4142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773006-32D9-4801-BE80-E12D40B4F30B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NMR Spectra</a:t>
            </a:r>
            <a:endParaRPr lang="en-IN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5209793" y="1074674"/>
          <a:ext cx="1913713" cy="744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333748" imgH="519787" progId="ChemDraw.Document.6.0">
                  <p:embed/>
                </p:oleObj>
              </mc:Choice>
              <mc:Fallback>
                <p:oleObj name="CS ChemDraw Drawing" r:id="rId4" imgW="1333748" imgH="519787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9793" y="1074674"/>
                        <a:ext cx="1913713" cy="744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995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773006-32D9-4801-BE80-E12D40B4F30B}"/>
              </a:ext>
            </a:extLst>
          </p:cNvPr>
          <p:cNvSpPr txBox="1"/>
          <p:nvPr/>
        </p:nvSpPr>
        <p:spPr>
          <a:xfrm>
            <a:off x="383512" y="136025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NMR Spectra(400 MHz)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5329917" y="1564595"/>
          <a:ext cx="191293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333748" imgH="519787" progId="ChemDraw.Document.6.0">
                  <p:embed/>
                </p:oleObj>
              </mc:Choice>
              <mc:Fallback>
                <p:oleObj name="CS ChemDraw Drawing" r:id="rId2" imgW="1333748" imgH="519787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917" y="1564595"/>
                        <a:ext cx="191293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1970315" y="781013"/>
          <a:ext cx="8251371" cy="575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353698" imgH="7219801" progId="MestReNova.Document.1">
                  <p:embed/>
                </p:oleObj>
              </mc:Choice>
              <mc:Fallback>
                <p:oleObj r:id="rId4" imgW="10353698" imgH="7219801" progId="MestReNova.Document.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315" y="781013"/>
                        <a:ext cx="8251371" cy="57504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995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45DFA-26D6-429E-A265-CABD86CAB50D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NMR Spectra</a:t>
            </a:r>
            <a:endParaRPr lang="en-IN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72" name="Object 32"/>
          <p:cNvGraphicFramePr>
            <a:graphicFrameLocks noChangeAspect="1"/>
          </p:cNvGraphicFramePr>
          <p:nvPr/>
        </p:nvGraphicFramePr>
        <p:xfrm>
          <a:off x="847978" y="1943164"/>
          <a:ext cx="10015357" cy="449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759444" imgH="2584862" progId="ChemDraw.Document.6.0">
                  <p:embed/>
                </p:oleObj>
              </mc:Choice>
              <mc:Fallback>
                <p:oleObj name="CS ChemDraw Drawing" r:id="rId2" imgW="5759444" imgH="2584862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978" y="1943164"/>
                        <a:ext cx="10015357" cy="449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3" name="Object 33"/>
          <p:cNvGraphicFramePr>
            <a:graphicFrameLocks noChangeAspect="1"/>
          </p:cNvGraphicFramePr>
          <p:nvPr/>
        </p:nvGraphicFramePr>
        <p:xfrm>
          <a:off x="4990338" y="1019810"/>
          <a:ext cx="2266050" cy="88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333748" imgH="519787" progId="ChemDraw.Document.6.0">
                  <p:embed/>
                </p:oleObj>
              </mc:Choice>
              <mc:Fallback>
                <p:oleObj name="CS ChemDraw Drawing" r:id="rId4" imgW="1333748" imgH="519787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338" y="1019810"/>
                        <a:ext cx="2266050" cy="882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684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45DFA-26D6-429E-A265-CABD86CAB50D}"/>
              </a:ext>
            </a:extLst>
          </p:cNvPr>
          <p:cNvSpPr txBox="1"/>
          <p:nvPr/>
        </p:nvSpPr>
        <p:spPr>
          <a:xfrm>
            <a:off x="492369" y="26447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NMR Spectra(125 MHz)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aphicFrame>
        <p:nvGraphicFramePr>
          <p:cNvPr id="10273" name="Object 33"/>
          <p:cNvGraphicFramePr>
            <a:graphicFrameLocks noChangeAspect="1"/>
          </p:cNvGraphicFramePr>
          <p:nvPr/>
        </p:nvGraphicFramePr>
        <p:xfrm>
          <a:off x="2138281" y="2151924"/>
          <a:ext cx="2266050" cy="88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333748" imgH="519787" progId="ChemDraw.Document.6.0">
                  <p:embed/>
                </p:oleObj>
              </mc:Choice>
              <mc:Fallback>
                <p:oleObj name="CS ChemDraw Drawing" r:id="rId2" imgW="1333748" imgH="519787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281" y="2151924"/>
                        <a:ext cx="2266050" cy="882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1926772" y="903514"/>
          <a:ext cx="8338457" cy="5812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353698" imgH="7219801" progId="MestReNova.Document.1">
                  <p:embed/>
                </p:oleObj>
              </mc:Choice>
              <mc:Fallback>
                <p:oleObj r:id="rId4" imgW="10353698" imgH="7219801" progId="MestReNova.Document.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772" y="903514"/>
                        <a:ext cx="8338457" cy="58128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684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5537" name="Object 1"/>
          <p:cNvGraphicFramePr>
            <a:graphicFrameLocks noChangeAspect="1"/>
          </p:cNvGraphicFramePr>
          <p:nvPr/>
        </p:nvGraphicFramePr>
        <p:xfrm>
          <a:off x="2144486" y="968828"/>
          <a:ext cx="8175171" cy="5701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353698" imgH="7219801" progId="MestReNova.Document.1">
                  <p:embed/>
                </p:oleObj>
              </mc:Choice>
              <mc:Fallback>
                <p:oleObj r:id="rId2" imgW="10353698" imgH="7219801" progId="MestReNova.Document.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486" y="968828"/>
                        <a:ext cx="8175171" cy="57019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773006-32D9-4801-BE80-E12D40B4F30B}"/>
              </a:ext>
            </a:extLst>
          </p:cNvPr>
          <p:cNvSpPr txBox="1"/>
          <p:nvPr/>
        </p:nvSpPr>
        <p:spPr>
          <a:xfrm>
            <a:off x="383512" y="136025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NMR Spectra(400 MHz)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5761945" y="1514476"/>
          <a:ext cx="1934255" cy="881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37738" imgH="472456" progId="ChemDraw.Document.6.0">
                  <p:embed/>
                </p:oleObj>
              </mc:Choice>
              <mc:Fallback>
                <p:oleObj name="CS ChemDraw Drawing" r:id="rId4" imgW="1037738" imgH="472456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945" y="1514476"/>
                        <a:ext cx="1934255" cy="881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4513" name="Object 1"/>
          <p:cNvGraphicFramePr>
            <a:graphicFrameLocks noChangeAspect="1"/>
          </p:cNvGraphicFramePr>
          <p:nvPr/>
        </p:nvGraphicFramePr>
        <p:xfrm>
          <a:off x="2329541" y="1132114"/>
          <a:ext cx="7990115" cy="555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353698" imgH="7219801" progId="MestReNova.Document.1">
                  <p:embed/>
                </p:oleObj>
              </mc:Choice>
              <mc:Fallback>
                <p:oleObj r:id="rId2" imgW="10353698" imgH="7219801" progId="MestReNova.Document.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541" y="1132114"/>
                        <a:ext cx="7990115" cy="55589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D45DFA-26D6-429E-A265-CABD86CAB50D}"/>
              </a:ext>
            </a:extLst>
          </p:cNvPr>
          <p:cNvSpPr txBox="1"/>
          <p:nvPr/>
        </p:nvSpPr>
        <p:spPr>
          <a:xfrm>
            <a:off x="492369" y="310197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NMR Spectra(125 MHz) in CDCl</a:t>
            </a:r>
            <a:r>
              <a:rPr lang="en-I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8046811" y="2277156"/>
          <a:ext cx="17668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39439" imgH="472456" progId="ChemDraw.Document.6.0">
                  <p:embed/>
                </p:oleObj>
              </mc:Choice>
              <mc:Fallback>
                <p:oleObj name="CS ChemDraw Drawing" r:id="rId4" imgW="1039439" imgH="472456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6811" y="2277156"/>
                        <a:ext cx="17668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169</Words>
  <Application>Microsoft Office PowerPoint</Application>
  <PresentationFormat>Widescreen</PresentationFormat>
  <Paragraphs>36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Office Theme</vt:lpstr>
      <vt:lpstr>CS ChemDraw Drawing</vt:lpstr>
      <vt:lpstr>MestReNova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Ayan</dc:creator>
  <cp:lastModifiedBy>Alakesh Bisai</cp:lastModifiedBy>
  <cp:revision>136</cp:revision>
  <dcterms:created xsi:type="dcterms:W3CDTF">2021-03-21T06:11:57Z</dcterms:created>
  <dcterms:modified xsi:type="dcterms:W3CDTF">2025-01-08T03:38:16Z</dcterms:modified>
</cp:coreProperties>
</file>