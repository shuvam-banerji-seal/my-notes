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57" r:id="rId10"/>
    <p:sldId id="258" r:id="rId11"/>
    <p:sldId id="259" r:id="rId12"/>
    <p:sldId id="260" r:id="rId13"/>
    <p:sldId id="261" r:id="rId14"/>
    <p:sldId id="2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ED32B9-0712-4505-A78C-70A7501C10B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E0D77-F77B-4AB5-99C1-36B777264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911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AE0D77-F77B-4AB5-99C1-36B77726489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541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78DD8-A314-6531-1CE4-E39F9D303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256A5C-8757-9546-7F49-D2D1C5585A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4723D-9881-3AEC-B57C-AC4D135B9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8914D-B421-4F10-BEBD-412AE964203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5BEB4-46C5-D66A-3C02-1C083CA3D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461F9-ACA8-B233-27C4-D72FF0D20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42C5F-3E8E-4D57-9CDB-EA441C2CD4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497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C187E-FF1E-3EEE-A0C6-63D2BA3B6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82889-A1A6-F485-D164-D6FFAD998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D1B42-2576-8CC7-CC4F-E2DE2BF6D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8914D-B421-4F10-BEBD-412AE964203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AAA41-1122-24B1-32A4-F6FCF777C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14B2E-6642-E92F-1993-B54658F6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42C5F-3E8E-4D57-9CDB-EA441C2CD4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24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C602E-2C50-5FF5-8195-D170886C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63A44-7A39-1AD5-2C66-3FA08AF7B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985B2-18E4-45ED-9C13-2A9B3F799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8914D-B421-4F10-BEBD-412AE964203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F8A58-023C-EB4D-6E82-E1284006A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F4B92-459C-4D5F-0563-A9D676945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42C5F-3E8E-4D57-9CDB-EA441C2CD4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648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F35FC-5073-35AA-161A-F7DC2775C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49B43-0500-CA30-3933-2817AF67FB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73B617-7CA5-1B42-0092-C62922B5D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8A3462-273A-6862-E93D-795548531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8914D-B421-4F10-BEBD-412AE964203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75E440-6549-661A-5DB2-3942A90E0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4EE2D2-27B4-3C5F-5A6D-D254C29EF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42C5F-3E8E-4D57-9CDB-EA441C2CD4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948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D466E-E86C-7228-8105-1260731D2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D7A6FD-E311-8340-B07D-FC1754B16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0EE1B6-F806-83C1-50B7-9542DB8CF8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533F25-AB55-C2E6-0199-D4EC60C30F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E4D5C5-505F-483B-F536-9A24A946EC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2331D8-9AC8-2CB8-A8B4-9DCBFD71B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8914D-B421-4F10-BEBD-412AE964203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4978D5-499A-42E4-6453-C936EA596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36ED26-BD5D-C765-6477-FA1C1D67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42C5F-3E8E-4D57-9CDB-EA441C2CD4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651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3BD2D-81AF-B0D8-59BE-3FBFB6C4B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36A8D6-E510-6054-71DA-4934A2CE8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8914D-B421-4F10-BEBD-412AE964203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6F78B8-83F3-14C8-382F-671B08309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F07EA2-148C-D898-B71D-657DF42B8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42C5F-3E8E-4D57-9CDB-EA441C2CD4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175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6D266F-7CCD-D1E8-AB46-A73F6E7B5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8914D-B421-4F10-BEBD-412AE964203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413849-2DF4-5155-CE1F-337B1C06F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55F23-4C6F-66E0-5A15-14DEA1D18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42C5F-3E8E-4D57-9CDB-EA441C2CD4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501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44BC7-489A-6573-3EB1-D475A1069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F4F9A-A679-11D0-D9C9-DDA4A3EC3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3CF63E-AAD4-9109-C018-7613A25E5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C8DB1E-DA30-2331-48C7-272E3B423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8914D-B421-4F10-BEBD-412AE964203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033D09-C9C0-BB1C-9F54-6CFAA98FC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D8421-40EB-34CA-248C-0610FB789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42C5F-3E8E-4D57-9CDB-EA441C2CD4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9516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C9990-E5A2-6BDB-45E3-6FCC4556B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72CA9B-F3A9-0EDC-F3B9-1641B540A9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BEE52E-030B-AD28-0B7D-7DCFA6EF2F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152E9B-F5C3-7968-30C3-E39167F9F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8914D-B421-4F10-BEBD-412AE964203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C8F990-50CE-00D4-3E3F-1A6A2D35D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5BC867-AA97-8BA4-D46F-ACF5B7A2C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42C5F-3E8E-4D57-9CDB-EA441C2CD4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903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8DC88-0952-B078-5DDB-FE67D4FED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5C8B06-E275-A317-B1E2-386B9FE19E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215BA-3D06-FACC-187F-AE0DF4A9F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8914D-B421-4F10-BEBD-412AE964203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5828E-9268-737E-3979-BF8E63245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8A531-15E0-2742-C05B-901273045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42C5F-3E8E-4D57-9CDB-EA441C2CD4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378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DB90F6-B9D1-B1CD-C120-78311ED597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AF51A6-54AF-61A9-363B-968E5DD9B2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BA689-DF26-A003-4D3A-C25B072F9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8914D-B421-4F10-BEBD-412AE964203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D3BF1-E26B-5B9C-EFDC-A289DEDF4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FF701-8D06-A0B3-0C6E-BB4F4EF2E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42C5F-3E8E-4D57-9CDB-EA441C2CD4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42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DA48F4-07C2-37A4-BA70-3406070FC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CFABAB-0066-0909-8CFA-7F04332D31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5045F-FC01-6488-D777-B6829BCFD5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8914D-B421-4F10-BEBD-412AE964203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B9C0A-DF42-FA7D-FE8F-8AD2BAAC2E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47B34-5064-BC8A-EFB4-799FC17CE3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F42C5F-3E8E-4D57-9CDB-EA441C2CD4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4404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2D644BD-F83B-8A89-E5D1-56C267DCE857}"/>
              </a:ext>
            </a:extLst>
          </p:cNvPr>
          <p:cNvSpPr txBox="1"/>
          <p:nvPr/>
        </p:nvSpPr>
        <p:spPr>
          <a:xfrm>
            <a:off x="2555630" y="2598003"/>
            <a:ext cx="74207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Expt. 8: L-Proline </a:t>
            </a:r>
            <a:r>
              <a:rPr lang="en-IN" sz="2400" b="1" dirty="0" err="1"/>
              <a:t>catalyzed</a:t>
            </a:r>
            <a:r>
              <a:rPr lang="en-IN" sz="2400" b="1" dirty="0"/>
              <a:t> Asymmetric Aldol Reaction of Acetone with </a:t>
            </a:r>
            <a:r>
              <a:rPr lang="en-IN" sz="2400" b="1" i="1" dirty="0"/>
              <a:t>p</a:t>
            </a:r>
            <a:r>
              <a:rPr lang="en-IN" sz="2400" b="1" dirty="0"/>
              <a:t>-</a:t>
            </a:r>
            <a:r>
              <a:rPr lang="en-IN" sz="2400" b="1" dirty="0" err="1"/>
              <a:t>tolylbenzaldehyde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535339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B1CCA-1EF5-4BD2-5907-2272CE0E1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7AFEE80F-D73B-C266-70DF-5C0E0A7A9C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8156086"/>
              </p:ext>
            </p:extLst>
          </p:nvPr>
        </p:nvGraphicFramePr>
        <p:xfrm>
          <a:off x="1826876" y="151996"/>
          <a:ext cx="8876293" cy="61901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estReNova" r:id="rId2" imgW="10353675" imgH="7219831" progId="MestReNova.Document.1">
                  <p:embed/>
                </p:oleObj>
              </mc:Choice>
              <mc:Fallback>
                <p:oleObj name="MestReNova" r:id="rId2" imgW="10353675" imgH="7219831" progId="MestReNova.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26876" y="151996"/>
                        <a:ext cx="8876293" cy="61901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EC5EBB4-9D68-0435-246C-2145B4F614AB}"/>
              </a:ext>
            </a:extLst>
          </p:cNvPr>
          <p:cNvSpPr txBox="1"/>
          <p:nvPr/>
        </p:nvSpPr>
        <p:spPr>
          <a:xfrm>
            <a:off x="4785946" y="6377354"/>
            <a:ext cx="2620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aseline="30000" dirty="0"/>
              <a:t>1</a:t>
            </a:r>
            <a:r>
              <a:rPr lang="en-US" dirty="0"/>
              <a:t>H NMR (400 MHz, CDCl</a:t>
            </a:r>
            <a:r>
              <a:rPr lang="en-US" baseline="-25000" dirty="0"/>
              <a:t>3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0912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7C249-FE45-3AB9-D827-9F4C38C89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A8E296-4C74-EE7B-914A-E1A0D950795C}"/>
              </a:ext>
            </a:extLst>
          </p:cNvPr>
          <p:cNvSpPr txBox="1"/>
          <p:nvPr/>
        </p:nvSpPr>
        <p:spPr>
          <a:xfrm>
            <a:off x="4785946" y="6377354"/>
            <a:ext cx="2620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aseline="30000" dirty="0"/>
              <a:t>1</a:t>
            </a:r>
            <a:r>
              <a:rPr lang="en-US" dirty="0"/>
              <a:t>H NMR (400 MHz, CDCl</a:t>
            </a:r>
            <a:r>
              <a:rPr lang="en-US" baseline="-25000" dirty="0"/>
              <a:t>3</a:t>
            </a:r>
            <a:r>
              <a:rPr lang="en-US" dirty="0"/>
              <a:t>)</a:t>
            </a:r>
            <a:endParaRPr lang="en-IN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AA739F29-DDF9-3EC2-E31F-843F781325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2838273"/>
              </p:ext>
            </p:extLst>
          </p:nvPr>
        </p:nvGraphicFramePr>
        <p:xfrm>
          <a:off x="1902301" y="111314"/>
          <a:ext cx="8742253" cy="609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estReNova" r:id="rId2" imgW="10353675" imgH="7219831" progId="MestReNova.Document.1">
                  <p:embed/>
                </p:oleObj>
              </mc:Choice>
              <mc:Fallback>
                <p:oleObj name="MestReNova" r:id="rId2" imgW="10353675" imgH="7219831" progId="MestReNova.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02301" y="111314"/>
                        <a:ext cx="8742253" cy="6096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24984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74A77-C1F6-EF79-60A1-961AE00EE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5C4A3B8B-9D54-B911-4845-ACFEF439D8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0819135"/>
              </p:ext>
            </p:extLst>
          </p:nvPr>
        </p:nvGraphicFramePr>
        <p:xfrm>
          <a:off x="1565030" y="57699"/>
          <a:ext cx="9061939" cy="6319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estReNova" r:id="rId2" imgW="10353675" imgH="7219831" progId="MestReNova.Document.1">
                  <p:embed/>
                </p:oleObj>
              </mc:Choice>
              <mc:Fallback>
                <p:oleObj name="MestReNova" r:id="rId2" imgW="10353675" imgH="7219831" progId="MestReNova.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65030" y="57699"/>
                        <a:ext cx="9061939" cy="63196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1052EC2-BC4C-399A-75D4-3184DCFDA106}"/>
              </a:ext>
            </a:extLst>
          </p:cNvPr>
          <p:cNvSpPr txBox="1"/>
          <p:nvPr/>
        </p:nvSpPr>
        <p:spPr>
          <a:xfrm>
            <a:off x="4785946" y="6377354"/>
            <a:ext cx="2620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aseline="30000" dirty="0"/>
              <a:t>1</a:t>
            </a:r>
            <a:r>
              <a:rPr lang="en-US" dirty="0"/>
              <a:t>H NMR (400 MHz, CDCl</a:t>
            </a:r>
            <a:r>
              <a:rPr lang="en-US" baseline="-25000" dirty="0"/>
              <a:t>3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9504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5E041-E29D-1E33-EE30-64CA1AE74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EAF96F51-2EAA-62BE-2144-EF3AE8CFCF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2680566"/>
              </p:ext>
            </p:extLst>
          </p:nvPr>
        </p:nvGraphicFramePr>
        <p:xfrm>
          <a:off x="1658815" y="111314"/>
          <a:ext cx="8874369" cy="61888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estReNova" r:id="rId2" imgW="10353675" imgH="7219831" progId="MestReNova.Document.1">
                  <p:embed/>
                </p:oleObj>
              </mc:Choice>
              <mc:Fallback>
                <p:oleObj name="MestReNova" r:id="rId2" imgW="10353675" imgH="7219831" progId="MestReNova.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58815" y="111314"/>
                        <a:ext cx="8874369" cy="61888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2377364-69B8-1609-A7E5-5326E87647F7}"/>
              </a:ext>
            </a:extLst>
          </p:cNvPr>
          <p:cNvSpPr txBox="1"/>
          <p:nvPr/>
        </p:nvSpPr>
        <p:spPr>
          <a:xfrm>
            <a:off x="4785946" y="6377354"/>
            <a:ext cx="2916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aseline="30000" dirty="0"/>
              <a:t>13</a:t>
            </a:r>
            <a:r>
              <a:rPr lang="en-US" dirty="0"/>
              <a:t>C NMR (101 MHz, CDCl</a:t>
            </a:r>
            <a:r>
              <a:rPr lang="en-US" baseline="-25000" dirty="0"/>
              <a:t>3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8853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6A658-825B-97A5-3BE3-209126BCA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94AC13BC-B0BD-AA09-0E09-2F5261822E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5716652"/>
              </p:ext>
            </p:extLst>
          </p:nvPr>
        </p:nvGraphicFramePr>
        <p:xfrm>
          <a:off x="1582615" y="203715"/>
          <a:ext cx="8852561" cy="61736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estReNova" r:id="rId2" imgW="10353675" imgH="7219831" progId="MestReNova.Document.1">
                  <p:embed/>
                </p:oleObj>
              </mc:Choice>
              <mc:Fallback>
                <p:oleObj name="MestReNova" r:id="rId2" imgW="10353675" imgH="7219831" progId="MestReNova.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2615" y="203715"/>
                        <a:ext cx="8852561" cy="61736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E2A75A3-0203-6216-54FE-708FAC599BCC}"/>
              </a:ext>
            </a:extLst>
          </p:cNvPr>
          <p:cNvSpPr txBox="1"/>
          <p:nvPr/>
        </p:nvSpPr>
        <p:spPr>
          <a:xfrm>
            <a:off x="4785946" y="6377354"/>
            <a:ext cx="2916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aseline="30000" dirty="0"/>
              <a:t>13</a:t>
            </a:r>
            <a:r>
              <a:rPr lang="en-US" dirty="0"/>
              <a:t>C NMR (101 MHz, CDCl</a:t>
            </a:r>
            <a:r>
              <a:rPr lang="en-US" baseline="-25000" dirty="0"/>
              <a:t>3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4742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A6BB9-26D9-78A3-2D5F-E2D377A20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6DF84A06-4B03-B96B-2796-E84FA5FD73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8472646"/>
              </p:ext>
            </p:extLst>
          </p:nvPr>
        </p:nvGraphicFramePr>
        <p:xfrm>
          <a:off x="1672042" y="199293"/>
          <a:ext cx="8847915" cy="61703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estReNova" r:id="rId2" imgW="10353675" imgH="7219831" progId="MestReNova.Document.1">
                  <p:embed/>
                </p:oleObj>
              </mc:Choice>
              <mc:Fallback>
                <p:oleObj name="MestReNova" r:id="rId2" imgW="10353675" imgH="7219831" progId="MestReNova.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72042" y="199293"/>
                        <a:ext cx="8847915" cy="61703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2EADAB9-6996-E6B0-B964-A0CD5273D67D}"/>
              </a:ext>
            </a:extLst>
          </p:cNvPr>
          <p:cNvSpPr txBox="1"/>
          <p:nvPr/>
        </p:nvSpPr>
        <p:spPr>
          <a:xfrm>
            <a:off x="4785946" y="6377354"/>
            <a:ext cx="2916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aseline="30000" dirty="0"/>
              <a:t>13</a:t>
            </a:r>
            <a:r>
              <a:rPr lang="en-US" dirty="0"/>
              <a:t>C NMR (101 MHz, CDCl</a:t>
            </a:r>
            <a:r>
              <a:rPr lang="en-US" baseline="-25000" dirty="0"/>
              <a:t>3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1228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6A83B-7214-B154-0A6E-0D8A6ED2F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0B66C7-2BF5-6D85-9A7C-A336840B7EF0}"/>
              </a:ext>
            </a:extLst>
          </p:cNvPr>
          <p:cNvSpPr txBox="1"/>
          <p:nvPr/>
        </p:nvSpPr>
        <p:spPr>
          <a:xfrm>
            <a:off x="3188676" y="2579079"/>
            <a:ext cx="62835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Exp 9: Multicomponent reaction: Ugi reaction</a:t>
            </a:r>
          </a:p>
        </p:txBody>
      </p:sp>
    </p:spTree>
    <p:extLst>
      <p:ext uri="{BB962C8B-B14F-4D97-AF65-F5344CB8AC3E}">
        <p14:creationId xmlns:p14="http://schemas.microsoft.com/office/powerpoint/2010/main" val="2466268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A4C1F-5F1D-EC96-5637-192F474CA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169A9E63-05DE-F116-071A-0B5D2B69E4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7472963"/>
              </p:ext>
            </p:extLst>
          </p:nvPr>
        </p:nvGraphicFramePr>
        <p:xfrm>
          <a:off x="1557917" y="163106"/>
          <a:ext cx="8910791" cy="62142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estReNova" r:id="rId2" imgW="10353675" imgH="7219831" progId="MestReNova.Document.1">
                  <p:embed/>
                </p:oleObj>
              </mc:Choice>
              <mc:Fallback>
                <p:oleObj name="MestReNova" r:id="rId2" imgW="10353675" imgH="7219831" progId="MestReNova.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57917" y="163106"/>
                        <a:ext cx="8910791" cy="62142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FD6BDF1-E4DC-F310-EF20-CE0B4D40BF79}"/>
              </a:ext>
            </a:extLst>
          </p:cNvPr>
          <p:cNvSpPr txBox="1"/>
          <p:nvPr/>
        </p:nvSpPr>
        <p:spPr>
          <a:xfrm>
            <a:off x="4785946" y="6377354"/>
            <a:ext cx="2620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aseline="30000" dirty="0"/>
              <a:t>1</a:t>
            </a:r>
            <a:r>
              <a:rPr lang="en-US" dirty="0"/>
              <a:t>H NMR (400 MHz, CDCl</a:t>
            </a:r>
            <a:r>
              <a:rPr lang="en-US" baseline="-25000" dirty="0"/>
              <a:t>3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8450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53C4F-1020-36D5-81D1-C9E4C68A8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5F1CFA-2939-D44A-B7DD-E1AA048D49C9}"/>
              </a:ext>
            </a:extLst>
          </p:cNvPr>
          <p:cNvSpPr txBox="1"/>
          <p:nvPr/>
        </p:nvSpPr>
        <p:spPr>
          <a:xfrm>
            <a:off x="4785946" y="6377354"/>
            <a:ext cx="2620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aseline="30000" dirty="0"/>
              <a:t>1</a:t>
            </a:r>
            <a:r>
              <a:rPr lang="en-US" dirty="0"/>
              <a:t>H NMR (400 MHz, CDCl</a:t>
            </a:r>
            <a:r>
              <a:rPr lang="en-US" baseline="-25000" dirty="0"/>
              <a:t>3</a:t>
            </a:r>
            <a:r>
              <a:rPr lang="en-US" dirty="0"/>
              <a:t>)</a:t>
            </a:r>
            <a:endParaRPr lang="en-IN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8922C820-F5CE-FF9A-31A8-C37BF8CD2D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3205295"/>
              </p:ext>
            </p:extLst>
          </p:nvPr>
        </p:nvGraphicFramePr>
        <p:xfrm>
          <a:off x="1805355" y="270262"/>
          <a:ext cx="8757138" cy="61070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estReNova" r:id="rId2" imgW="10353675" imgH="7219831" progId="MestReNova.Document.1">
                  <p:embed/>
                </p:oleObj>
              </mc:Choice>
              <mc:Fallback>
                <p:oleObj name="MestReNova" r:id="rId2" imgW="10353675" imgH="7219831" progId="MestReNova.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05355" y="270262"/>
                        <a:ext cx="8757138" cy="61070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72674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1F86C-7AF5-47D7-0D2C-3A4359889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5A7E4264-2860-9EB7-E8FA-521A6964F8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289431"/>
              </p:ext>
            </p:extLst>
          </p:nvPr>
        </p:nvGraphicFramePr>
        <p:xfrm>
          <a:off x="1746738" y="172155"/>
          <a:ext cx="8897816" cy="6205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estReNova" r:id="rId2" imgW="10353675" imgH="7219831" progId="MestReNova.Document.1">
                  <p:embed/>
                </p:oleObj>
              </mc:Choice>
              <mc:Fallback>
                <p:oleObj name="MestReNova" r:id="rId2" imgW="10353675" imgH="7219831" progId="MestReNova.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46738" y="172155"/>
                        <a:ext cx="8897816" cy="62051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81B6FC5-4651-6EEE-9C97-0D1208E4979F}"/>
              </a:ext>
            </a:extLst>
          </p:cNvPr>
          <p:cNvSpPr txBox="1"/>
          <p:nvPr/>
        </p:nvSpPr>
        <p:spPr>
          <a:xfrm>
            <a:off x="4785946" y="6377354"/>
            <a:ext cx="2620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aseline="30000" dirty="0"/>
              <a:t>1</a:t>
            </a:r>
            <a:r>
              <a:rPr lang="en-US" dirty="0"/>
              <a:t>H NMR (400 MHz, CDCl</a:t>
            </a:r>
            <a:r>
              <a:rPr lang="en-US" baseline="-25000" dirty="0"/>
              <a:t>3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5476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2560D-617A-E8D8-9DD5-CDE20393C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07EFC902-ECF1-6580-8541-744D6CB5C8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0662907"/>
              </p:ext>
            </p:extLst>
          </p:nvPr>
        </p:nvGraphicFramePr>
        <p:xfrm>
          <a:off x="1828800" y="199292"/>
          <a:ext cx="8851452" cy="61728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estReNova" r:id="rId2" imgW="10353675" imgH="7219831" progId="MestReNova.Document.1">
                  <p:embed/>
                </p:oleObj>
              </mc:Choice>
              <mc:Fallback>
                <p:oleObj name="MestReNova" r:id="rId2" imgW="10353675" imgH="7219831" progId="MestReNova.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28800" y="199292"/>
                        <a:ext cx="8851452" cy="61728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EFB0EEF-93AF-1E4D-B676-C037FDCC0D37}"/>
              </a:ext>
            </a:extLst>
          </p:cNvPr>
          <p:cNvSpPr txBox="1"/>
          <p:nvPr/>
        </p:nvSpPr>
        <p:spPr>
          <a:xfrm>
            <a:off x="4785946" y="6377354"/>
            <a:ext cx="2916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aseline="30000" dirty="0"/>
              <a:t>13</a:t>
            </a:r>
            <a:r>
              <a:rPr lang="en-US" dirty="0"/>
              <a:t>C NMR (101 MHz, CDCl</a:t>
            </a:r>
            <a:r>
              <a:rPr lang="en-US" baseline="-25000" dirty="0"/>
              <a:t>3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5081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D9FA1-04F3-B99A-27FA-C213C45C2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D95D5276-CB93-E231-7224-BB5786527F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0475014"/>
              </p:ext>
            </p:extLst>
          </p:nvPr>
        </p:nvGraphicFramePr>
        <p:xfrm>
          <a:off x="1661946" y="192874"/>
          <a:ext cx="8868107" cy="6184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estReNova" r:id="rId2" imgW="10353675" imgH="7219831" progId="MestReNova.Document.1">
                  <p:embed/>
                </p:oleObj>
              </mc:Choice>
              <mc:Fallback>
                <p:oleObj name="MestReNova" r:id="rId2" imgW="10353675" imgH="7219831" progId="MestReNova.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61946" y="192874"/>
                        <a:ext cx="8868107" cy="61844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CC9239B-8121-A04D-23D3-B8D5035FEC9C}"/>
              </a:ext>
            </a:extLst>
          </p:cNvPr>
          <p:cNvSpPr txBox="1"/>
          <p:nvPr/>
        </p:nvSpPr>
        <p:spPr>
          <a:xfrm>
            <a:off x="4785946" y="6377354"/>
            <a:ext cx="2916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aseline="30000" dirty="0"/>
              <a:t>13</a:t>
            </a:r>
            <a:r>
              <a:rPr lang="en-US" dirty="0"/>
              <a:t>C NMR (101 MHz, CDCl</a:t>
            </a:r>
            <a:r>
              <a:rPr lang="en-US" baseline="-25000" dirty="0"/>
              <a:t>3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1658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8B8C9-53F5-72DF-77ED-C73200FCC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42290A4B-9324-1E20-E3F1-D6AD7B7F89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1492393"/>
              </p:ext>
            </p:extLst>
          </p:nvPr>
        </p:nvGraphicFramePr>
        <p:xfrm>
          <a:off x="1647092" y="172156"/>
          <a:ext cx="8897815" cy="62051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estReNova" r:id="rId2" imgW="10353675" imgH="7219831" progId="MestReNova.Document.1">
                  <p:embed/>
                </p:oleObj>
              </mc:Choice>
              <mc:Fallback>
                <p:oleObj name="MestReNova" r:id="rId2" imgW="10353675" imgH="7219831" progId="MestReNova.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47092" y="172156"/>
                        <a:ext cx="8897815" cy="62051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1E8169C-5D70-5A67-8081-34CBAA0A5C7C}"/>
              </a:ext>
            </a:extLst>
          </p:cNvPr>
          <p:cNvSpPr txBox="1"/>
          <p:nvPr/>
        </p:nvSpPr>
        <p:spPr>
          <a:xfrm>
            <a:off x="4785946" y="6377354"/>
            <a:ext cx="2916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aseline="30000" dirty="0"/>
              <a:t>13</a:t>
            </a:r>
            <a:r>
              <a:rPr lang="en-US" dirty="0"/>
              <a:t>C NMR (101 MHz, CDCl</a:t>
            </a:r>
            <a:r>
              <a:rPr lang="en-US" baseline="-25000" dirty="0"/>
              <a:t>3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370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118</Words>
  <Application>Microsoft Office PowerPoint</Application>
  <PresentationFormat>Widescreen</PresentationFormat>
  <Paragraphs>15</Paragraphs>
  <Slides>14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MestReNova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Alakesh Bisai Lab</dc:creator>
  <cp:lastModifiedBy>Supratim Banerjee</cp:lastModifiedBy>
  <cp:revision>1</cp:revision>
  <dcterms:created xsi:type="dcterms:W3CDTF">2026-04-14T14:22:17Z</dcterms:created>
  <dcterms:modified xsi:type="dcterms:W3CDTF">2026-04-16T06:02:12Z</dcterms:modified>
</cp:coreProperties>
</file>