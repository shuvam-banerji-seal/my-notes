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4"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A136E-E5B8-4ECF-8DAB-B86A8C02F0F8}" v="1" dt="2022-03-10T05:30:30.625"/>
    <p1510:client id="{DE92BE3F-AE61-4C55-9557-D1F7865E7583}" v="56" dt="2022-03-09T11:43:56.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D53F-7BCC-4EE5-837C-A285E712CB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B6E157-CAC3-4DB6-9574-E5B624B52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B435AB-A79A-4384-8116-A123AE6BAA79}"/>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5" name="Footer Placeholder 4">
            <a:extLst>
              <a:ext uri="{FF2B5EF4-FFF2-40B4-BE49-F238E27FC236}">
                <a16:creationId xmlns:a16="http://schemas.microsoft.com/office/drawing/2014/main" id="{2DD7E8CE-850B-4286-B017-66D1C7230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9C77EF-9F9B-4BB3-84FE-A8DE8DF2396B}"/>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1357666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70818-ADA3-40E8-8CDB-7CBC8499C2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31B888-67CE-4592-8D74-42BD6C8E2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3BE266-6A99-46E2-8F61-DDBD5D87F3A1}"/>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5" name="Footer Placeholder 4">
            <a:extLst>
              <a:ext uri="{FF2B5EF4-FFF2-40B4-BE49-F238E27FC236}">
                <a16:creationId xmlns:a16="http://schemas.microsoft.com/office/drawing/2014/main" id="{7FA4D302-7C02-4213-B7C4-2E983C052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330B02-7FBA-4A2E-B3DF-540DEC583648}"/>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145999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AB6EE-7BFA-45FF-96DC-D303793EC6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49A0383-F17A-44DA-A2E9-1301F823C5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B149C4-AA60-46B1-9A15-B1D591A9FE88}"/>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5" name="Footer Placeholder 4">
            <a:extLst>
              <a:ext uri="{FF2B5EF4-FFF2-40B4-BE49-F238E27FC236}">
                <a16:creationId xmlns:a16="http://schemas.microsoft.com/office/drawing/2014/main" id="{0D35FFB8-5722-4481-A69A-C4FA2BEBE7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16D7C0-C71F-4786-8EDD-284DC1D77DEB}"/>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3966215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A6C4-1B6C-4080-81E9-C8E9B7A3F0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48DFD9-4EEF-4A9B-9E0F-9CC4FC27B8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87C94F-4841-4EB9-BCD5-4C6C2C3B65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BCD8362-AB6F-4BB7-A731-BE93CD145059}"/>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6" name="Footer Placeholder 5">
            <a:extLst>
              <a:ext uri="{FF2B5EF4-FFF2-40B4-BE49-F238E27FC236}">
                <a16:creationId xmlns:a16="http://schemas.microsoft.com/office/drawing/2014/main" id="{578E3618-2D5E-4974-AD5B-A1B92CD171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833241-B60A-4A72-87EA-178ECF7EE43A}"/>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2996592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507D2-19ED-4FFF-A5D8-81F8523DC1C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C26363-CA04-40B7-AA16-4592A72CB6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7690AF-4B5C-4EC1-AA4F-46A8C439CA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0C34CA-D851-4B87-A480-DD906619CC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8E2EFC-E3A2-4987-B42F-9EA1748325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3BBFB8-3756-4904-B9D5-3E96C5B8E4BB}"/>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8" name="Footer Placeholder 7">
            <a:extLst>
              <a:ext uri="{FF2B5EF4-FFF2-40B4-BE49-F238E27FC236}">
                <a16:creationId xmlns:a16="http://schemas.microsoft.com/office/drawing/2014/main" id="{988165EB-6EF4-4E37-A7BD-4F60DE119E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1109F8-BFFB-4C1C-881F-02AA7C7ACECF}"/>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612606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2C9C1-639E-465A-B41A-72B54DA38D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800CB9-86E4-4201-80F2-54621BC76E3D}"/>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4" name="Footer Placeholder 3">
            <a:extLst>
              <a:ext uri="{FF2B5EF4-FFF2-40B4-BE49-F238E27FC236}">
                <a16:creationId xmlns:a16="http://schemas.microsoft.com/office/drawing/2014/main" id="{E2A61D40-81B4-48F7-9EEF-7F95A4E1BC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D6E88F-EA18-4883-9B35-7222E60DD453}"/>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3882948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913EDC-CB7D-49D9-B25F-43A5FB89F710}"/>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3" name="Footer Placeholder 2">
            <a:extLst>
              <a:ext uri="{FF2B5EF4-FFF2-40B4-BE49-F238E27FC236}">
                <a16:creationId xmlns:a16="http://schemas.microsoft.com/office/drawing/2014/main" id="{15C5372C-0E7B-4377-9899-4E599F44BF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6DB695-4D91-4AF6-96FC-A5014DDD025F}"/>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3799816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2BB69-2BDE-4A28-872A-BB334E75A8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496DD0-3B71-4106-AF8E-B6CCEFA740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6774F2-3E99-4081-B1DC-98ADCCA63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28CEF-50C7-4B99-8914-FD6BE94DA1EB}"/>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6" name="Footer Placeholder 5">
            <a:extLst>
              <a:ext uri="{FF2B5EF4-FFF2-40B4-BE49-F238E27FC236}">
                <a16:creationId xmlns:a16="http://schemas.microsoft.com/office/drawing/2014/main" id="{A16A3760-AB91-4863-A76D-DD72AA0A91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05E432-CFB7-4721-B4F1-3305BEC75999}"/>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1825978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8931-129F-41BC-98EE-9608B12A24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493EE4-1421-4319-8274-B0364AA40A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CEF8BC-334A-44B3-9E83-D1C295359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BA9EAD-79F0-4A30-8303-AA0B50540698}"/>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6" name="Footer Placeholder 5">
            <a:extLst>
              <a:ext uri="{FF2B5EF4-FFF2-40B4-BE49-F238E27FC236}">
                <a16:creationId xmlns:a16="http://schemas.microsoft.com/office/drawing/2014/main" id="{820F790F-50BB-45D1-889B-21F11DFAB4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62B554-CE14-4F22-84D3-3D4F493E034B}"/>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297061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07CD-5461-4AD1-A7F9-1ACA09E90B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135FBF-CE3C-4462-96AA-9E05715289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CE64D7-C74F-48C1-A04F-DAF083480D83}"/>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5" name="Footer Placeholder 4">
            <a:extLst>
              <a:ext uri="{FF2B5EF4-FFF2-40B4-BE49-F238E27FC236}">
                <a16:creationId xmlns:a16="http://schemas.microsoft.com/office/drawing/2014/main" id="{49E4E884-A943-45DE-A3AA-D3951A7456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72D859-459F-4FCA-B688-4E054396E99A}"/>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3180893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B8F708-1D76-464B-9862-2B48BDA1AD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82EDB4-30D2-48D9-8974-EA74BADA92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F6921A-8182-43DF-9340-7AC268F4AE92}"/>
              </a:ext>
            </a:extLst>
          </p:cNvPr>
          <p:cNvSpPr>
            <a:spLocks noGrp="1"/>
          </p:cNvSpPr>
          <p:nvPr>
            <p:ph type="dt" sz="half" idx="10"/>
          </p:nvPr>
        </p:nvSpPr>
        <p:spPr/>
        <p:txBody>
          <a:bodyPr/>
          <a:lstStyle/>
          <a:p>
            <a:fld id="{88AD63B9-98F1-4015-B5C7-4ECBD2BB8FB2}" type="datetimeFigureOut">
              <a:rPr lang="en-IN" smtClean="0"/>
              <a:t>25-03-2026</a:t>
            </a:fld>
            <a:endParaRPr lang="en-IN"/>
          </a:p>
        </p:txBody>
      </p:sp>
      <p:sp>
        <p:nvSpPr>
          <p:cNvPr id="5" name="Footer Placeholder 4">
            <a:extLst>
              <a:ext uri="{FF2B5EF4-FFF2-40B4-BE49-F238E27FC236}">
                <a16:creationId xmlns:a16="http://schemas.microsoft.com/office/drawing/2014/main" id="{961731DB-868A-4865-BCCE-EB6A06AB23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C3B063-4564-4548-A01F-1CEABDB1BF23}"/>
              </a:ext>
            </a:extLst>
          </p:cNvPr>
          <p:cNvSpPr>
            <a:spLocks noGrp="1"/>
          </p:cNvSpPr>
          <p:nvPr>
            <p:ph type="sldNum" sz="quarter" idx="12"/>
          </p:nvPr>
        </p:nvSpPr>
        <p:spPr/>
        <p:txBody>
          <a:bodyPr/>
          <a:lstStyle/>
          <a:p>
            <a:fld id="{CABD1CAE-36DC-4AE7-ABD4-3466E41F6AA8}" type="slidenum">
              <a:rPr lang="en-IN" smtClean="0"/>
              <a:t>‹#›</a:t>
            </a:fld>
            <a:endParaRPr lang="en-IN"/>
          </a:p>
        </p:txBody>
      </p:sp>
    </p:spTree>
    <p:extLst>
      <p:ext uri="{BB962C8B-B14F-4D97-AF65-F5344CB8AC3E}">
        <p14:creationId xmlns:p14="http://schemas.microsoft.com/office/powerpoint/2010/main" val="2239151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940D0-4145-495E-A75B-DF8DC794BF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03E64C-5CED-4388-9A69-8437BB1FB3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328548-34E1-4C46-B685-4D7D105BA5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AD63B9-98F1-4015-B5C7-4ECBD2BB8FB2}" type="datetimeFigureOut">
              <a:rPr lang="en-IN" smtClean="0"/>
              <a:t>25-03-2026</a:t>
            </a:fld>
            <a:endParaRPr lang="en-IN"/>
          </a:p>
        </p:txBody>
      </p:sp>
      <p:sp>
        <p:nvSpPr>
          <p:cNvPr id="5" name="Footer Placeholder 4">
            <a:extLst>
              <a:ext uri="{FF2B5EF4-FFF2-40B4-BE49-F238E27FC236}">
                <a16:creationId xmlns:a16="http://schemas.microsoft.com/office/drawing/2014/main" id="{62703F03-931F-4D1C-B276-FA19ECD29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800C46-1815-4568-A098-260E35771D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BD1CAE-36DC-4AE7-ABD4-3466E41F6AA8}" type="slidenum">
              <a:rPr lang="en-IN" smtClean="0"/>
              <a:t>‹#›</a:t>
            </a:fld>
            <a:endParaRPr lang="en-IN"/>
          </a:p>
        </p:txBody>
      </p:sp>
    </p:spTree>
    <p:extLst>
      <p:ext uri="{BB962C8B-B14F-4D97-AF65-F5344CB8AC3E}">
        <p14:creationId xmlns:p14="http://schemas.microsoft.com/office/powerpoint/2010/main" val="2425180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7B2DD3-D65A-4EA2-B2C3-FA02A15F447D}"/>
              </a:ext>
            </a:extLst>
          </p:cNvPr>
          <p:cNvSpPr txBox="1"/>
          <p:nvPr/>
        </p:nvSpPr>
        <p:spPr>
          <a:xfrm>
            <a:off x="309999" y="514917"/>
            <a:ext cx="11416865" cy="2246769"/>
          </a:xfrm>
          <a:prstGeom prst="rect">
            <a:avLst/>
          </a:prstGeom>
          <a:noFill/>
        </p:spPr>
        <p:txBody>
          <a:bodyPr wrap="square" rtlCol="0">
            <a:spAutoFit/>
          </a:bodyPr>
          <a:lstStyle/>
          <a:p>
            <a:pPr algn="ctr"/>
            <a:r>
              <a:rPr lang="en-IN" sz="2800" b="1" dirty="0">
                <a:solidFill>
                  <a:srgbClr val="C00000"/>
                </a:solidFill>
                <a:latin typeface="Arial" panose="020B0604020202020204" pitchFamily="34" charset="0"/>
                <a:cs typeface="Arial" panose="020B0604020202020204" pitchFamily="34" charset="0"/>
              </a:rPr>
              <a:t>CH4203: Organic Synthesis Laboratory</a:t>
            </a:r>
            <a:endParaRPr lang="en-IN" sz="2800" dirty="0">
              <a:solidFill>
                <a:srgbClr val="C00000"/>
              </a:solidFill>
              <a:latin typeface="Arial" panose="020B0604020202020204" pitchFamily="34" charset="0"/>
              <a:cs typeface="Arial" panose="020B0604020202020204" pitchFamily="34" charset="0"/>
            </a:endParaRPr>
          </a:p>
          <a:p>
            <a:pPr algn="ctr"/>
            <a:r>
              <a:rPr lang="en-IN" sz="2800" b="1" dirty="0">
                <a:solidFill>
                  <a:srgbClr val="003300"/>
                </a:solidFill>
                <a:latin typeface="Arial" panose="020B0604020202020204" pitchFamily="34" charset="0"/>
                <a:cs typeface="Arial" panose="020B0604020202020204" pitchFamily="34" charset="0"/>
              </a:rPr>
              <a:t>----------------------------------------------------------------------------------------------</a:t>
            </a:r>
            <a:endParaRPr lang="en-IN" sz="2800" dirty="0">
              <a:solidFill>
                <a:srgbClr val="003300"/>
              </a:solidFill>
              <a:latin typeface="Arial" panose="020B0604020202020204" pitchFamily="34" charset="0"/>
              <a:cs typeface="Arial" panose="020B0604020202020204" pitchFamily="34" charset="0"/>
            </a:endParaRPr>
          </a:p>
          <a:p>
            <a:pPr algn="ctr"/>
            <a:r>
              <a:rPr lang="en-IN" sz="2800" b="1" dirty="0">
                <a:latin typeface="Arial" panose="020B0604020202020204" pitchFamily="34" charset="0"/>
                <a:cs typeface="Arial" panose="020B0604020202020204" pitchFamily="34" charset="0"/>
              </a:rPr>
              <a:t>Expt. No. 9</a:t>
            </a:r>
            <a:r>
              <a:rPr lang="en-IN" sz="2800" dirty="0">
                <a:latin typeface="Arial" panose="020B0604020202020204" pitchFamily="34" charset="0"/>
                <a:cs typeface="Arial" panose="020B0604020202020204" pitchFamily="34" charset="0"/>
              </a:rPr>
              <a:t> </a:t>
            </a:r>
          </a:p>
          <a:p>
            <a:pPr algn="ctr"/>
            <a:r>
              <a:rPr lang="en-US" sz="2800" b="1" kern="100" dirty="0" err="1">
                <a:effectLst/>
                <a:latin typeface="Arial" panose="020B0604020202020204" pitchFamily="34" charset="0"/>
                <a:ea typeface="Noto Sans CJK SC Regular"/>
                <a:cs typeface="Arial" panose="020B0604020202020204" pitchFamily="34" charset="0"/>
              </a:rPr>
              <a:t>Ugi</a:t>
            </a:r>
            <a:r>
              <a:rPr lang="en-US" sz="2800" b="1" kern="100" dirty="0">
                <a:effectLst/>
                <a:latin typeface="Arial" panose="020B0604020202020204" pitchFamily="34" charset="0"/>
                <a:ea typeface="Noto Sans CJK SC Regular"/>
                <a:cs typeface="Arial" panose="020B0604020202020204" pitchFamily="34" charset="0"/>
              </a:rPr>
              <a:t> Multicomponent Coupling for </a:t>
            </a:r>
            <a:r>
              <a:rPr lang="el-GR" sz="2800" b="1" kern="100" dirty="0">
                <a:effectLst/>
                <a:latin typeface="Arial" panose="020B0604020202020204" pitchFamily="34" charset="0"/>
                <a:ea typeface="Noto Sans CJK SC Regular"/>
                <a:cs typeface="Arial" panose="020B0604020202020204" pitchFamily="34" charset="0"/>
              </a:rPr>
              <a:t>α</a:t>
            </a:r>
            <a:r>
              <a:rPr lang="en-US" sz="2800" b="1" kern="100" dirty="0">
                <a:effectLst/>
                <a:latin typeface="Arial" panose="020B0604020202020204" pitchFamily="34" charset="0"/>
                <a:ea typeface="Noto Sans CJK SC Regular"/>
                <a:cs typeface="Arial" panose="020B0604020202020204" pitchFamily="34" charset="0"/>
              </a:rPr>
              <a:t>-Amino Acid Derivatives</a:t>
            </a:r>
            <a:endParaRPr lang="en-IN" sz="2800" dirty="0">
              <a:solidFill>
                <a:srgbClr val="C00000"/>
              </a:solidFill>
              <a:latin typeface="Arial" panose="020B0604020202020204" pitchFamily="34" charset="0"/>
              <a:cs typeface="Arial" panose="020B0604020202020204" pitchFamily="34" charset="0"/>
            </a:endParaRPr>
          </a:p>
          <a:p>
            <a:pPr algn="ctr"/>
            <a:endParaRPr lang="en-IN" sz="2800" dirty="0">
              <a:solidFill>
                <a:srgbClr val="0033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7070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80852F-04C2-45CB-95DE-C333A27326CC}"/>
              </a:ext>
            </a:extLst>
          </p:cNvPr>
          <p:cNvSpPr txBox="1"/>
          <p:nvPr/>
        </p:nvSpPr>
        <p:spPr>
          <a:xfrm>
            <a:off x="4951998" y="129238"/>
            <a:ext cx="2323905" cy="461665"/>
          </a:xfrm>
          <a:prstGeom prst="rect">
            <a:avLst/>
          </a:prstGeom>
          <a:noFill/>
        </p:spPr>
        <p:txBody>
          <a:bodyPr wrap="none" rtlCol="0">
            <a:spAutoFit/>
          </a:bodyPr>
          <a:lstStyle/>
          <a:p>
            <a:pPr algn="ctr"/>
            <a:r>
              <a:rPr lang="en-US" sz="2400" b="1" dirty="0">
                <a:effectLst>
                  <a:outerShdw blurRad="38100" dist="38100" dir="2700000" algn="tl">
                    <a:srgbClr val="000000">
                      <a:alpha val="43137"/>
                    </a:srgbClr>
                  </a:outerShdw>
                </a:effectLst>
              </a:rPr>
              <a:t>Green Chemistry</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7BC1AB35-175F-418F-8FB8-A26D20B7E745}"/>
              </a:ext>
            </a:extLst>
          </p:cNvPr>
          <p:cNvSpPr txBox="1"/>
          <p:nvPr/>
        </p:nvSpPr>
        <p:spPr>
          <a:xfrm>
            <a:off x="167536" y="665800"/>
            <a:ext cx="11719665" cy="707886"/>
          </a:xfrm>
          <a:prstGeom prst="rect">
            <a:avLst/>
          </a:prstGeom>
          <a:noFill/>
        </p:spPr>
        <p:txBody>
          <a:bodyPr wrap="square" rtlCol="0">
            <a:spAutoFit/>
          </a:bodyPr>
          <a:lstStyle/>
          <a:p>
            <a:pPr marL="342900" indent="-342900">
              <a:buFont typeface="Arial" panose="020B0604020202020204" pitchFamily="34" charset="0"/>
              <a:buChar char="•"/>
            </a:pPr>
            <a:r>
              <a:rPr lang="en-US" sz="2000" b="1" dirty="0">
                <a:effectLst>
                  <a:outerShdw blurRad="38100" dist="38100" dir="2700000" algn="tl">
                    <a:srgbClr val="000000">
                      <a:alpha val="43137"/>
                    </a:srgbClr>
                  </a:outerShdw>
                </a:effectLst>
              </a:rPr>
              <a:t>Green Chemistry </a:t>
            </a:r>
            <a:r>
              <a:rPr lang="en-US" sz="2000" b="0" i="0" dirty="0">
                <a:solidFill>
                  <a:srgbClr val="222222"/>
                </a:solidFill>
                <a:effectLst/>
                <a:latin typeface="Mallory"/>
              </a:rPr>
              <a:t>is the design of chemical products and processes that reduce or eliminate the use and generation of hazardous substances.</a:t>
            </a:r>
            <a:endParaRPr lang="en-IN" sz="2000" b="1" dirty="0">
              <a:effectLst>
                <a:outerShdw blurRad="38100" dist="38100" dir="2700000" algn="tl">
                  <a:srgbClr val="000000">
                    <a:alpha val="43137"/>
                  </a:srgbClr>
                </a:outerShdw>
              </a:effectLst>
            </a:endParaRPr>
          </a:p>
        </p:txBody>
      </p:sp>
      <p:graphicFrame>
        <p:nvGraphicFramePr>
          <p:cNvPr id="3" name="Table 3">
            <a:extLst>
              <a:ext uri="{FF2B5EF4-FFF2-40B4-BE49-F238E27FC236}">
                <a16:creationId xmlns:a16="http://schemas.microsoft.com/office/drawing/2014/main" id="{B25F60DF-26F8-4906-8FD7-65421DFCFAD5}"/>
              </a:ext>
            </a:extLst>
          </p:cNvPr>
          <p:cNvGraphicFramePr>
            <a:graphicFrameLocks noGrp="1"/>
          </p:cNvGraphicFramePr>
          <p:nvPr>
            <p:extLst>
              <p:ext uri="{D42A27DB-BD31-4B8C-83A1-F6EECF244321}">
                <p14:modId xmlns:p14="http://schemas.microsoft.com/office/powerpoint/2010/main" val="826331300"/>
              </p:ext>
            </p:extLst>
          </p:nvPr>
        </p:nvGraphicFramePr>
        <p:xfrm>
          <a:off x="340661" y="1684859"/>
          <a:ext cx="11546540" cy="4216400"/>
        </p:xfrm>
        <a:graphic>
          <a:graphicData uri="http://schemas.openxmlformats.org/drawingml/2006/table">
            <a:tbl>
              <a:tblPr firstRow="1" bandRow="1">
                <a:tableStyleId>{0E3FDE45-AF77-4B5C-9715-49D594BDF05E}</a:tableStyleId>
              </a:tblPr>
              <a:tblGrid>
                <a:gridCol w="446043">
                  <a:extLst>
                    <a:ext uri="{9D8B030D-6E8A-4147-A177-3AD203B41FA5}">
                      <a16:colId xmlns:a16="http://schemas.microsoft.com/office/drawing/2014/main" val="2743569397"/>
                    </a:ext>
                  </a:extLst>
                </a:gridCol>
                <a:gridCol w="2155613">
                  <a:extLst>
                    <a:ext uri="{9D8B030D-6E8A-4147-A177-3AD203B41FA5}">
                      <a16:colId xmlns:a16="http://schemas.microsoft.com/office/drawing/2014/main" val="1512690127"/>
                    </a:ext>
                  </a:extLst>
                </a:gridCol>
                <a:gridCol w="3634941">
                  <a:extLst>
                    <a:ext uri="{9D8B030D-6E8A-4147-A177-3AD203B41FA5}">
                      <a16:colId xmlns:a16="http://schemas.microsoft.com/office/drawing/2014/main" val="924977506"/>
                    </a:ext>
                  </a:extLst>
                </a:gridCol>
                <a:gridCol w="5309943">
                  <a:extLst>
                    <a:ext uri="{9D8B030D-6E8A-4147-A177-3AD203B41FA5}">
                      <a16:colId xmlns:a16="http://schemas.microsoft.com/office/drawing/2014/main" val="3209701443"/>
                    </a:ext>
                  </a:extLst>
                </a:gridCol>
              </a:tblGrid>
              <a:tr h="37084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outerShdw blurRad="38100" dist="38100" dir="2700000" algn="tl">
                              <a:srgbClr val="000000">
                                <a:alpha val="43137"/>
                              </a:srgbClr>
                            </a:outerShdw>
                          </a:effectLst>
                        </a:rPr>
                        <a:t>12 Principles of Green Chemistry</a:t>
                      </a:r>
                      <a:endParaRPr lang="en-IN" sz="1800" b="1" dirty="0">
                        <a:effectLst>
                          <a:outerShdw blurRad="38100" dist="38100" dir="2700000" algn="tl">
                            <a:srgbClr val="000000">
                              <a:alpha val="43137"/>
                            </a:srgbClr>
                          </a:outerShdw>
                        </a:effectLst>
                      </a:endParaRPr>
                    </a:p>
                  </a:txBody>
                  <a:tcPr/>
                </a:tc>
                <a:tc hMerge="1">
                  <a:txBody>
                    <a:bodyPr/>
                    <a:lstStyle/>
                    <a:p>
                      <a:endParaRPr lang="en-IN"/>
                    </a:p>
                  </a:txBody>
                  <a:tcPr/>
                </a:tc>
                <a:tc h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2708979439"/>
                  </a:ext>
                </a:extLst>
              </a:tr>
              <a:tr h="370840">
                <a:tc>
                  <a:txBody>
                    <a:bodyPr/>
                    <a:lstStyle/>
                    <a:p>
                      <a:r>
                        <a:rPr lang="en-US" dirty="0"/>
                        <a:t>1</a:t>
                      </a:r>
                      <a:endParaRPr lang="en-IN" dirty="0"/>
                    </a:p>
                  </a:txBody>
                  <a:tcPr/>
                </a:tc>
                <a:tc>
                  <a:txBody>
                    <a:bodyPr/>
                    <a:lstStyle/>
                    <a:p>
                      <a:r>
                        <a:rPr lang="en-IN" sz="1800" b="1" i="0" kern="1200" dirty="0">
                          <a:solidFill>
                            <a:schemeClr val="tx1"/>
                          </a:solidFill>
                          <a:effectLst/>
                          <a:latin typeface="+mn-lt"/>
                          <a:ea typeface="+mn-ea"/>
                          <a:cs typeface="+mn-cs"/>
                        </a:rPr>
                        <a:t>Prevention</a:t>
                      </a:r>
                      <a:endParaRPr lang="en-IN" dirty="0"/>
                    </a:p>
                  </a:txBody>
                  <a:tcPr/>
                </a:tc>
                <a:tc gridSpan="2">
                  <a:txBody>
                    <a:bodyPr/>
                    <a:lstStyle/>
                    <a:p>
                      <a:r>
                        <a:rPr lang="en-US" sz="1800" b="0" i="0" kern="1200" dirty="0">
                          <a:solidFill>
                            <a:schemeClr val="tx1"/>
                          </a:solidFill>
                          <a:effectLst/>
                          <a:latin typeface="+mn-lt"/>
                          <a:ea typeface="+mn-ea"/>
                          <a:cs typeface="+mn-cs"/>
                        </a:rPr>
                        <a:t>It is better to prevent waste than to treat or clean up waste after it has been created.</a:t>
                      </a:r>
                      <a:endParaRPr lang="en-IN" dirty="0"/>
                    </a:p>
                  </a:txBody>
                  <a:tcPr/>
                </a:tc>
                <a:tc hMerge="1">
                  <a:txBody>
                    <a:bodyPr/>
                    <a:lstStyle/>
                    <a:p>
                      <a:endParaRPr lang="en-IN"/>
                    </a:p>
                  </a:txBody>
                  <a:tcPr/>
                </a:tc>
                <a:extLst>
                  <a:ext uri="{0D108BD9-81ED-4DB2-BD59-A6C34878D82A}">
                    <a16:rowId xmlns:a16="http://schemas.microsoft.com/office/drawing/2014/main" val="3671114756"/>
                  </a:ext>
                </a:extLst>
              </a:tr>
              <a:tr h="370840">
                <a:tc>
                  <a:txBody>
                    <a:bodyPr/>
                    <a:lstStyle/>
                    <a:p>
                      <a:r>
                        <a:rPr lang="en-US" dirty="0"/>
                        <a:t>2</a:t>
                      </a:r>
                      <a:endParaRPr lang="en-IN" dirty="0"/>
                    </a:p>
                  </a:txBody>
                  <a:tcPr/>
                </a:tc>
                <a:tc>
                  <a:txBody>
                    <a:bodyPr/>
                    <a:lstStyle/>
                    <a:p>
                      <a:r>
                        <a:rPr lang="en-IN" sz="1800" b="1" i="0" kern="1200" dirty="0">
                          <a:solidFill>
                            <a:schemeClr val="tx1"/>
                          </a:solidFill>
                          <a:effectLst/>
                          <a:latin typeface="+mn-lt"/>
                          <a:ea typeface="+mn-ea"/>
                          <a:cs typeface="+mn-cs"/>
                        </a:rPr>
                        <a:t>Atom Economy</a:t>
                      </a:r>
                      <a:endParaRPr lang="en-IN" dirty="0"/>
                    </a:p>
                  </a:txBody>
                  <a:tcPr/>
                </a:tc>
                <a:tc gridSpan="2">
                  <a:txBody>
                    <a:bodyPr/>
                    <a:lstStyle/>
                    <a:p>
                      <a:r>
                        <a:rPr lang="en-US" sz="1800" b="0" i="0" kern="1200" dirty="0">
                          <a:solidFill>
                            <a:schemeClr val="tx1"/>
                          </a:solidFill>
                          <a:effectLst/>
                          <a:latin typeface="+mn-lt"/>
                          <a:ea typeface="+mn-ea"/>
                          <a:cs typeface="+mn-cs"/>
                        </a:rPr>
                        <a:t>Synthetic methods should be designed to maximize the incorporation of all materials used in the process into the final product.</a:t>
                      </a:r>
                      <a:endParaRPr lang="en-IN" dirty="0"/>
                    </a:p>
                  </a:txBody>
                  <a:tcPr/>
                </a:tc>
                <a:tc hMerge="1">
                  <a:txBody>
                    <a:bodyPr/>
                    <a:lstStyle/>
                    <a:p>
                      <a:endParaRPr lang="en-IN"/>
                    </a:p>
                  </a:txBody>
                  <a:tcPr/>
                </a:tc>
                <a:extLst>
                  <a:ext uri="{0D108BD9-81ED-4DB2-BD59-A6C34878D82A}">
                    <a16:rowId xmlns:a16="http://schemas.microsoft.com/office/drawing/2014/main" val="3846654130"/>
                  </a:ext>
                </a:extLst>
              </a:tr>
              <a:tr h="370840">
                <a:tc>
                  <a:txBody>
                    <a:bodyPr/>
                    <a:lstStyle/>
                    <a:p>
                      <a:r>
                        <a:rPr lang="en-US" dirty="0"/>
                        <a:t>3</a:t>
                      </a:r>
                      <a:endParaRPr lang="en-IN" dirty="0"/>
                    </a:p>
                  </a:txBody>
                  <a:tcPr/>
                </a:tc>
                <a:tc>
                  <a:txBody>
                    <a:bodyPr/>
                    <a:lstStyle/>
                    <a:p>
                      <a:r>
                        <a:rPr lang="en-IN" sz="1800" b="1" i="0" kern="1200" dirty="0">
                          <a:solidFill>
                            <a:schemeClr val="tx1"/>
                          </a:solidFill>
                          <a:effectLst/>
                          <a:latin typeface="+mn-lt"/>
                          <a:ea typeface="+mn-ea"/>
                          <a:cs typeface="+mn-cs"/>
                        </a:rPr>
                        <a:t>Less Hazardous Chemical Syntheses</a:t>
                      </a:r>
                      <a:endParaRPr lang="en-IN" dirty="0"/>
                    </a:p>
                  </a:txBody>
                  <a:tcPr/>
                </a:tc>
                <a:tc gridSpan="2">
                  <a:txBody>
                    <a:bodyPr/>
                    <a:lstStyle/>
                    <a:p>
                      <a:r>
                        <a:rPr lang="en-US" sz="1800" b="0" i="0" kern="1200" dirty="0">
                          <a:solidFill>
                            <a:schemeClr val="tx1"/>
                          </a:solidFill>
                          <a:effectLst/>
                          <a:latin typeface="+mn-lt"/>
                          <a:ea typeface="+mn-ea"/>
                          <a:cs typeface="+mn-cs"/>
                        </a:rPr>
                        <a:t>Wherever practicable, synthetic methods should be designed to use and generate substances that possess little or no toxicity to human health and the environment.</a:t>
                      </a:r>
                      <a:endParaRPr lang="en-IN" dirty="0"/>
                    </a:p>
                  </a:txBody>
                  <a:tcPr/>
                </a:tc>
                <a:tc hMerge="1">
                  <a:txBody>
                    <a:bodyPr/>
                    <a:lstStyle/>
                    <a:p>
                      <a:endParaRPr lang="en-IN"/>
                    </a:p>
                  </a:txBody>
                  <a:tcPr/>
                </a:tc>
                <a:extLst>
                  <a:ext uri="{0D108BD9-81ED-4DB2-BD59-A6C34878D82A}">
                    <a16:rowId xmlns:a16="http://schemas.microsoft.com/office/drawing/2014/main" val="1573749972"/>
                  </a:ext>
                </a:extLst>
              </a:tr>
              <a:tr h="370840">
                <a:tc>
                  <a:txBody>
                    <a:bodyPr/>
                    <a:lstStyle/>
                    <a:p>
                      <a:r>
                        <a:rPr lang="en-US" dirty="0"/>
                        <a:t>4</a:t>
                      </a:r>
                      <a:endParaRPr lang="en-IN" dirty="0"/>
                    </a:p>
                  </a:txBody>
                  <a:tcPr/>
                </a:tc>
                <a:tc>
                  <a:txBody>
                    <a:bodyPr/>
                    <a:lstStyle/>
                    <a:p>
                      <a:r>
                        <a:rPr lang="en-IN" sz="1800" b="1" i="0" kern="1200" dirty="0">
                          <a:solidFill>
                            <a:schemeClr val="tx1"/>
                          </a:solidFill>
                          <a:effectLst/>
                          <a:latin typeface="+mn-lt"/>
                          <a:ea typeface="+mn-ea"/>
                          <a:cs typeface="+mn-cs"/>
                        </a:rPr>
                        <a:t>Designing Safer Chemicals</a:t>
                      </a:r>
                      <a:endParaRPr lang="en-IN" dirty="0"/>
                    </a:p>
                  </a:txBody>
                  <a:tcPr/>
                </a:tc>
                <a:tc gridSpan="2">
                  <a:txBody>
                    <a:bodyPr/>
                    <a:lstStyle/>
                    <a:p>
                      <a:r>
                        <a:rPr lang="en-US" sz="1800" b="0" i="0" kern="1200" dirty="0">
                          <a:solidFill>
                            <a:schemeClr val="tx1"/>
                          </a:solidFill>
                          <a:effectLst/>
                          <a:latin typeface="+mn-lt"/>
                          <a:ea typeface="+mn-ea"/>
                          <a:cs typeface="+mn-cs"/>
                        </a:rPr>
                        <a:t>Chemical products should be designed to effect their desired function while minimizing their toxicity.</a:t>
                      </a:r>
                      <a:endParaRPr lang="en-IN" dirty="0"/>
                    </a:p>
                  </a:txBody>
                  <a:tcPr/>
                </a:tc>
                <a:tc hMerge="1">
                  <a:txBody>
                    <a:bodyPr/>
                    <a:lstStyle/>
                    <a:p>
                      <a:endParaRPr lang="en-IN"/>
                    </a:p>
                  </a:txBody>
                  <a:tcPr/>
                </a:tc>
                <a:extLst>
                  <a:ext uri="{0D108BD9-81ED-4DB2-BD59-A6C34878D82A}">
                    <a16:rowId xmlns:a16="http://schemas.microsoft.com/office/drawing/2014/main" val="3225260362"/>
                  </a:ext>
                </a:extLst>
              </a:tr>
              <a:tr h="370840">
                <a:tc>
                  <a:txBody>
                    <a:bodyPr/>
                    <a:lstStyle/>
                    <a:p>
                      <a:r>
                        <a:rPr lang="en-US" dirty="0"/>
                        <a:t>5</a:t>
                      </a:r>
                      <a:endParaRPr lang="en-IN" dirty="0"/>
                    </a:p>
                  </a:txBody>
                  <a:tcPr/>
                </a:tc>
                <a:tc>
                  <a:txBody>
                    <a:bodyPr/>
                    <a:lstStyle/>
                    <a:p>
                      <a:r>
                        <a:rPr lang="en-IN" sz="1800" b="1" i="0" kern="1200" dirty="0">
                          <a:solidFill>
                            <a:schemeClr val="tx1"/>
                          </a:solidFill>
                          <a:effectLst/>
                          <a:latin typeface="+mn-lt"/>
                          <a:ea typeface="+mn-ea"/>
                          <a:cs typeface="+mn-cs"/>
                        </a:rPr>
                        <a:t>Safer Solvents and Auxiliaries</a:t>
                      </a:r>
                      <a:endParaRPr lang="en-IN" dirty="0"/>
                    </a:p>
                  </a:txBody>
                  <a:tcPr/>
                </a:tc>
                <a:tc gridSpan="2">
                  <a:txBody>
                    <a:bodyPr/>
                    <a:lstStyle/>
                    <a:p>
                      <a:r>
                        <a:rPr lang="en-US" sz="1800" b="0" i="0" kern="1200" dirty="0">
                          <a:solidFill>
                            <a:schemeClr val="tx1"/>
                          </a:solidFill>
                          <a:effectLst/>
                          <a:latin typeface="+mn-lt"/>
                          <a:ea typeface="+mn-ea"/>
                          <a:cs typeface="+mn-cs"/>
                        </a:rPr>
                        <a:t>The use of auxiliary substances (e.g., solvents, separation agents, etc.) should be made unnecessary wherever possible and innocuous when used.</a:t>
                      </a:r>
                      <a:endParaRPr lang="en-IN" dirty="0"/>
                    </a:p>
                  </a:txBody>
                  <a:tcPr/>
                </a:tc>
                <a:tc hMerge="1">
                  <a:txBody>
                    <a:bodyPr/>
                    <a:lstStyle/>
                    <a:p>
                      <a:endParaRPr lang="en-IN"/>
                    </a:p>
                  </a:txBody>
                  <a:tcPr/>
                </a:tc>
                <a:extLst>
                  <a:ext uri="{0D108BD9-81ED-4DB2-BD59-A6C34878D82A}">
                    <a16:rowId xmlns:a16="http://schemas.microsoft.com/office/drawing/2014/main" val="45804114"/>
                  </a:ext>
                </a:extLst>
              </a:tr>
              <a:tr h="370840">
                <a:tc>
                  <a:txBody>
                    <a:bodyPr/>
                    <a:lstStyle/>
                    <a:p>
                      <a:r>
                        <a:rPr lang="en-US" dirty="0"/>
                        <a:t>6</a:t>
                      </a:r>
                      <a:endParaRPr lang="en-IN" dirty="0"/>
                    </a:p>
                  </a:txBody>
                  <a:tcPr/>
                </a:tc>
                <a:tc>
                  <a:txBody>
                    <a:bodyPr/>
                    <a:lstStyle/>
                    <a:p>
                      <a:r>
                        <a:rPr lang="en-IN" sz="1800" b="1" i="0" kern="1200" dirty="0">
                          <a:solidFill>
                            <a:schemeClr val="tx1"/>
                          </a:solidFill>
                          <a:effectLst/>
                          <a:latin typeface="+mn-lt"/>
                          <a:ea typeface="+mn-ea"/>
                          <a:cs typeface="+mn-cs"/>
                        </a:rPr>
                        <a:t>Design for Energy Efficiency</a:t>
                      </a:r>
                      <a:endParaRPr lang="en-IN" dirty="0"/>
                    </a:p>
                  </a:txBody>
                  <a:tcPr/>
                </a:tc>
                <a:tc gridSpan="2">
                  <a:txBody>
                    <a:bodyPr/>
                    <a:lstStyle/>
                    <a:p>
                      <a:r>
                        <a:rPr lang="en-US" sz="1800" b="0" i="0" kern="1200" dirty="0">
                          <a:solidFill>
                            <a:schemeClr val="tx1"/>
                          </a:solidFill>
                          <a:effectLst/>
                          <a:latin typeface="+mn-lt"/>
                          <a:ea typeface="+mn-ea"/>
                          <a:cs typeface="+mn-cs"/>
                        </a:rPr>
                        <a:t>Energy requirements of chemical processes should be recognized for their environmental and economic impacts and should be minimized. If possible, synthetic methods should be conducted at ambient temperature and pressure.</a:t>
                      </a:r>
                      <a:endParaRPr lang="en-IN" dirty="0"/>
                    </a:p>
                  </a:txBody>
                  <a:tcPr/>
                </a:tc>
                <a:tc hMerge="1">
                  <a:txBody>
                    <a:bodyPr/>
                    <a:lstStyle/>
                    <a:p>
                      <a:endParaRPr lang="en-IN"/>
                    </a:p>
                  </a:txBody>
                  <a:tcPr/>
                </a:tc>
                <a:extLst>
                  <a:ext uri="{0D108BD9-81ED-4DB2-BD59-A6C34878D82A}">
                    <a16:rowId xmlns:a16="http://schemas.microsoft.com/office/drawing/2014/main" val="1697584187"/>
                  </a:ext>
                </a:extLst>
              </a:tr>
            </a:tbl>
          </a:graphicData>
        </a:graphic>
      </p:graphicFrame>
      <p:sp>
        <p:nvSpPr>
          <p:cNvPr id="16" name="TextBox 15">
            <a:extLst>
              <a:ext uri="{FF2B5EF4-FFF2-40B4-BE49-F238E27FC236}">
                <a16:creationId xmlns:a16="http://schemas.microsoft.com/office/drawing/2014/main" id="{9AF12994-10A0-4C44-8693-E7C8E55A1353}"/>
              </a:ext>
            </a:extLst>
          </p:cNvPr>
          <p:cNvSpPr txBox="1"/>
          <p:nvPr/>
        </p:nvSpPr>
        <p:spPr>
          <a:xfrm>
            <a:off x="322730" y="6359430"/>
            <a:ext cx="11546540" cy="369332"/>
          </a:xfrm>
          <a:prstGeom prst="rect">
            <a:avLst/>
          </a:prstGeom>
          <a:noFill/>
        </p:spPr>
        <p:txBody>
          <a:bodyPr wrap="square">
            <a:spAutoFit/>
          </a:bodyPr>
          <a:lstStyle/>
          <a:p>
            <a:r>
              <a:rPr lang="en-US" b="0" i="0" dirty="0" err="1">
                <a:solidFill>
                  <a:srgbClr val="222222"/>
                </a:solidFill>
                <a:effectLst/>
                <a:latin typeface="Mallory"/>
              </a:rPr>
              <a:t>Anastas</a:t>
            </a:r>
            <a:r>
              <a:rPr lang="en-US" b="0" i="0" dirty="0">
                <a:solidFill>
                  <a:srgbClr val="222222"/>
                </a:solidFill>
                <a:effectLst/>
                <a:latin typeface="Mallory"/>
              </a:rPr>
              <a:t>, P. T. and Warner, J. C. </a:t>
            </a:r>
            <a:r>
              <a:rPr lang="en-US" b="0" i="1" dirty="0">
                <a:solidFill>
                  <a:srgbClr val="222222"/>
                </a:solidFill>
                <a:effectLst/>
                <a:latin typeface="Mallory"/>
              </a:rPr>
              <a:t>Green Chemistry: Theory and Practice</a:t>
            </a:r>
            <a:r>
              <a:rPr lang="en-US" b="0" i="0" dirty="0">
                <a:solidFill>
                  <a:srgbClr val="222222"/>
                </a:solidFill>
                <a:effectLst/>
                <a:latin typeface="Mallory"/>
              </a:rPr>
              <a:t>. Oxford University Press: New York, 1998, p. 30.</a:t>
            </a:r>
            <a:endParaRPr lang="en-IN" dirty="0"/>
          </a:p>
        </p:txBody>
      </p:sp>
    </p:spTree>
    <p:extLst>
      <p:ext uri="{BB962C8B-B14F-4D97-AF65-F5344CB8AC3E}">
        <p14:creationId xmlns:p14="http://schemas.microsoft.com/office/powerpoint/2010/main" val="2153642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80852F-04C2-45CB-95DE-C333A27326CC}"/>
              </a:ext>
            </a:extLst>
          </p:cNvPr>
          <p:cNvSpPr txBox="1"/>
          <p:nvPr/>
        </p:nvSpPr>
        <p:spPr>
          <a:xfrm>
            <a:off x="4951998" y="129238"/>
            <a:ext cx="2323905" cy="461665"/>
          </a:xfrm>
          <a:prstGeom prst="rect">
            <a:avLst/>
          </a:prstGeom>
          <a:noFill/>
        </p:spPr>
        <p:txBody>
          <a:bodyPr wrap="none" rtlCol="0">
            <a:spAutoFit/>
          </a:bodyPr>
          <a:lstStyle/>
          <a:p>
            <a:pPr algn="ctr"/>
            <a:r>
              <a:rPr lang="en-US" sz="2400" b="1" dirty="0">
                <a:effectLst>
                  <a:outerShdw blurRad="38100" dist="38100" dir="2700000" algn="tl">
                    <a:srgbClr val="000000">
                      <a:alpha val="43137"/>
                    </a:srgbClr>
                  </a:outerShdw>
                </a:effectLst>
              </a:rPr>
              <a:t>Green Chemistry</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7BC1AB35-175F-418F-8FB8-A26D20B7E745}"/>
              </a:ext>
            </a:extLst>
          </p:cNvPr>
          <p:cNvSpPr txBox="1"/>
          <p:nvPr/>
        </p:nvSpPr>
        <p:spPr>
          <a:xfrm>
            <a:off x="167536" y="665800"/>
            <a:ext cx="11719665" cy="707886"/>
          </a:xfrm>
          <a:prstGeom prst="rect">
            <a:avLst/>
          </a:prstGeom>
          <a:noFill/>
        </p:spPr>
        <p:txBody>
          <a:bodyPr wrap="square" rtlCol="0">
            <a:spAutoFit/>
          </a:bodyPr>
          <a:lstStyle/>
          <a:p>
            <a:pPr marL="342900" indent="-342900">
              <a:buFont typeface="Arial" panose="020B0604020202020204" pitchFamily="34" charset="0"/>
              <a:buChar char="•"/>
            </a:pPr>
            <a:r>
              <a:rPr lang="en-US" sz="2000" b="1" dirty="0">
                <a:effectLst>
                  <a:outerShdw blurRad="38100" dist="38100" dir="2700000" algn="tl">
                    <a:srgbClr val="000000">
                      <a:alpha val="43137"/>
                    </a:srgbClr>
                  </a:outerShdw>
                </a:effectLst>
              </a:rPr>
              <a:t>Green Chemistry </a:t>
            </a:r>
            <a:r>
              <a:rPr lang="en-US" sz="2000" b="0" i="0" dirty="0">
                <a:solidFill>
                  <a:srgbClr val="222222"/>
                </a:solidFill>
                <a:effectLst/>
                <a:latin typeface="Mallory"/>
              </a:rPr>
              <a:t>is the design of chemical products and processes that reduce or eliminate the use and generation of hazardous substances.</a:t>
            </a:r>
            <a:endParaRPr lang="en-IN" sz="2000" b="1" dirty="0">
              <a:effectLst>
                <a:outerShdw blurRad="38100" dist="38100" dir="2700000" algn="tl">
                  <a:srgbClr val="000000">
                    <a:alpha val="43137"/>
                  </a:srgbClr>
                </a:outerShdw>
              </a:effectLst>
            </a:endParaRPr>
          </a:p>
        </p:txBody>
      </p:sp>
      <p:graphicFrame>
        <p:nvGraphicFramePr>
          <p:cNvPr id="3" name="Table 3">
            <a:extLst>
              <a:ext uri="{FF2B5EF4-FFF2-40B4-BE49-F238E27FC236}">
                <a16:creationId xmlns:a16="http://schemas.microsoft.com/office/drawing/2014/main" id="{B25F60DF-26F8-4906-8FD7-65421DFCFAD5}"/>
              </a:ext>
            </a:extLst>
          </p:cNvPr>
          <p:cNvGraphicFramePr>
            <a:graphicFrameLocks noGrp="1"/>
          </p:cNvGraphicFramePr>
          <p:nvPr>
            <p:extLst>
              <p:ext uri="{D42A27DB-BD31-4B8C-83A1-F6EECF244321}">
                <p14:modId xmlns:p14="http://schemas.microsoft.com/office/powerpoint/2010/main" val="3354721809"/>
              </p:ext>
            </p:extLst>
          </p:nvPr>
        </p:nvGraphicFramePr>
        <p:xfrm>
          <a:off x="340660" y="1684859"/>
          <a:ext cx="11546541" cy="4485640"/>
        </p:xfrm>
        <a:graphic>
          <a:graphicData uri="http://schemas.openxmlformats.org/drawingml/2006/table">
            <a:tbl>
              <a:tblPr firstRow="1" bandRow="1">
                <a:tableStyleId>{0E3FDE45-AF77-4B5C-9715-49D594BDF05E}</a:tableStyleId>
              </a:tblPr>
              <a:tblGrid>
                <a:gridCol w="493841">
                  <a:extLst>
                    <a:ext uri="{9D8B030D-6E8A-4147-A177-3AD203B41FA5}">
                      <a16:colId xmlns:a16="http://schemas.microsoft.com/office/drawing/2014/main" val="2743569397"/>
                    </a:ext>
                  </a:extLst>
                </a:gridCol>
                <a:gridCol w="2325949">
                  <a:extLst>
                    <a:ext uri="{9D8B030D-6E8A-4147-A177-3AD203B41FA5}">
                      <a16:colId xmlns:a16="http://schemas.microsoft.com/office/drawing/2014/main" val="1512690127"/>
                    </a:ext>
                  </a:extLst>
                </a:gridCol>
                <a:gridCol w="2953481">
                  <a:extLst>
                    <a:ext uri="{9D8B030D-6E8A-4147-A177-3AD203B41FA5}">
                      <a16:colId xmlns:a16="http://schemas.microsoft.com/office/drawing/2014/main" val="924977506"/>
                    </a:ext>
                  </a:extLst>
                </a:gridCol>
                <a:gridCol w="5773270">
                  <a:extLst>
                    <a:ext uri="{9D8B030D-6E8A-4147-A177-3AD203B41FA5}">
                      <a16:colId xmlns:a16="http://schemas.microsoft.com/office/drawing/2014/main" val="3209701443"/>
                    </a:ext>
                  </a:extLst>
                </a:gridCol>
              </a:tblGrid>
              <a:tr h="37084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outerShdw blurRad="38100" dist="38100" dir="2700000" algn="tl">
                              <a:srgbClr val="000000">
                                <a:alpha val="43137"/>
                              </a:srgbClr>
                            </a:outerShdw>
                          </a:effectLst>
                        </a:rPr>
                        <a:t>12 Principles of Green Chemistry</a:t>
                      </a:r>
                      <a:endParaRPr lang="en-IN" sz="1800" b="1" dirty="0">
                        <a:effectLst>
                          <a:outerShdw blurRad="38100" dist="38100" dir="2700000" algn="tl">
                            <a:srgbClr val="000000">
                              <a:alpha val="43137"/>
                            </a:srgbClr>
                          </a:outerShdw>
                        </a:effectLst>
                      </a:endParaRPr>
                    </a:p>
                  </a:txBody>
                  <a:tcPr/>
                </a:tc>
                <a:tc hMerge="1">
                  <a:txBody>
                    <a:bodyPr/>
                    <a:lstStyle/>
                    <a:p>
                      <a:endParaRPr lang="en-IN"/>
                    </a:p>
                  </a:txBody>
                  <a:tcPr/>
                </a:tc>
                <a:tc h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2708979439"/>
                  </a:ext>
                </a:extLst>
              </a:tr>
              <a:tr h="370840">
                <a:tc>
                  <a:txBody>
                    <a:bodyPr/>
                    <a:lstStyle/>
                    <a:p>
                      <a:r>
                        <a:rPr lang="en-US" dirty="0"/>
                        <a:t>7</a:t>
                      </a:r>
                      <a:endParaRPr lang="en-IN" dirty="0"/>
                    </a:p>
                  </a:txBody>
                  <a:tcPr/>
                </a:tc>
                <a:tc>
                  <a:txBody>
                    <a:bodyPr/>
                    <a:lstStyle/>
                    <a:p>
                      <a:r>
                        <a:rPr lang="en-IN" sz="1800" b="1" i="0" kern="1200" dirty="0">
                          <a:solidFill>
                            <a:schemeClr val="tx1"/>
                          </a:solidFill>
                          <a:effectLst/>
                          <a:latin typeface="+mn-lt"/>
                          <a:ea typeface="+mn-ea"/>
                          <a:cs typeface="+mn-cs"/>
                        </a:rPr>
                        <a:t>Use of Renewable Feedstocks</a:t>
                      </a:r>
                      <a:endParaRPr lang="en-IN" dirty="0"/>
                    </a:p>
                  </a:txBody>
                  <a:tcPr/>
                </a:tc>
                <a:tc gridSpan="2">
                  <a:txBody>
                    <a:bodyPr/>
                    <a:lstStyle/>
                    <a:p>
                      <a:r>
                        <a:rPr lang="en-US" sz="1800" b="0" i="0" kern="1200" dirty="0">
                          <a:solidFill>
                            <a:schemeClr val="tx1"/>
                          </a:solidFill>
                          <a:effectLst/>
                          <a:latin typeface="+mn-lt"/>
                          <a:ea typeface="+mn-ea"/>
                          <a:cs typeface="+mn-cs"/>
                        </a:rPr>
                        <a:t>A raw material or feedstock should be renewable rather than depleting whenever technically and economically practicable.</a:t>
                      </a:r>
                      <a:endParaRPr lang="en-IN" dirty="0"/>
                    </a:p>
                  </a:txBody>
                  <a:tcPr/>
                </a:tc>
                <a:tc hMerge="1">
                  <a:txBody>
                    <a:bodyPr/>
                    <a:lstStyle/>
                    <a:p>
                      <a:endParaRPr lang="en-IN"/>
                    </a:p>
                  </a:txBody>
                  <a:tcPr/>
                </a:tc>
                <a:extLst>
                  <a:ext uri="{0D108BD9-81ED-4DB2-BD59-A6C34878D82A}">
                    <a16:rowId xmlns:a16="http://schemas.microsoft.com/office/drawing/2014/main" val="3671114756"/>
                  </a:ext>
                </a:extLst>
              </a:tr>
              <a:tr h="370840">
                <a:tc>
                  <a:txBody>
                    <a:bodyPr/>
                    <a:lstStyle/>
                    <a:p>
                      <a:r>
                        <a:rPr lang="en-US" dirty="0"/>
                        <a:t>8</a:t>
                      </a:r>
                      <a:endParaRPr lang="en-IN" dirty="0"/>
                    </a:p>
                  </a:txBody>
                  <a:tcPr/>
                </a:tc>
                <a:tc>
                  <a:txBody>
                    <a:bodyPr/>
                    <a:lstStyle/>
                    <a:p>
                      <a:r>
                        <a:rPr lang="en-IN" sz="1800" b="1" i="0" kern="1200" dirty="0">
                          <a:solidFill>
                            <a:schemeClr val="tx1"/>
                          </a:solidFill>
                          <a:effectLst/>
                          <a:latin typeface="+mn-lt"/>
                          <a:ea typeface="+mn-ea"/>
                          <a:cs typeface="+mn-cs"/>
                        </a:rPr>
                        <a:t>Reduce Derivatives</a:t>
                      </a:r>
                      <a:endParaRPr lang="en-IN" dirty="0"/>
                    </a:p>
                  </a:txBody>
                  <a:tcPr/>
                </a:tc>
                <a:tc gridSpan="2">
                  <a:txBody>
                    <a:bodyPr/>
                    <a:lstStyle/>
                    <a:p>
                      <a:r>
                        <a:rPr lang="en-US" sz="1800" b="0" i="0" kern="1200" dirty="0">
                          <a:solidFill>
                            <a:schemeClr val="tx1"/>
                          </a:solidFill>
                          <a:effectLst/>
                          <a:latin typeface="+mn-lt"/>
                          <a:ea typeface="+mn-ea"/>
                          <a:cs typeface="+mn-cs"/>
                        </a:rPr>
                        <a:t>Unnecessary derivatization (use of blocking groups, protection/ deprotection, temporary modification of physical/chemical processes) should be minimized or avoided if possible, because such steps require additional reagents and can generate waste.</a:t>
                      </a:r>
                      <a:endParaRPr lang="en-IN" dirty="0"/>
                    </a:p>
                  </a:txBody>
                  <a:tcPr/>
                </a:tc>
                <a:tc hMerge="1">
                  <a:txBody>
                    <a:bodyPr/>
                    <a:lstStyle/>
                    <a:p>
                      <a:endParaRPr lang="en-IN"/>
                    </a:p>
                  </a:txBody>
                  <a:tcPr/>
                </a:tc>
                <a:extLst>
                  <a:ext uri="{0D108BD9-81ED-4DB2-BD59-A6C34878D82A}">
                    <a16:rowId xmlns:a16="http://schemas.microsoft.com/office/drawing/2014/main" val="3846654130"/>
                  </a:ext>
                </a:extLst>
              </a:tr>
              <a:tr h="0">
                <a:tc>
                  <a:txBody>
                    <a:bodyPr/>
                    <a:lstStyle/>
                    <a:p>
                      <a:r>
                        <a:rPr lang="en-US" dirty="0"/>
                        <a:t>9</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Catalysis</a:t>
                      </a:r>
                      <a:endParaRPr lang="en-IN" dirty="0"/>
                    </a:p>
                  </a:txBody>
                  <a:tcPr/>
                </a:tc>
                <a:tc gridSpan="2">
                  <a:txBody>
                    <a:bodyPr/>
                    <a:lstStyle/>
                    <a:p>
                      <a:r>
                        <a:rPr lang="en-US" sz="1800" b="0" i="0" kern="1200" dirty="0">
                          <a:solidFill>
                            <a:schemeClr val="tx1"/>
                          </a:solidFill>
                          <a:effectLst/>
                          <a:latin typeface="+mn-lt"/>
                          <a:ea typeface="+mn-ea"/>
                          <a:cs typeface="+mn-cs"/>
                        </a:rPr>
                        <a:t>Catalytic reagents (as selective as possible) are superior to stoichiometric reagents.</a:t>
                      </a:r>
                      <a:endParaRPr lang="en-IN" dirty="0"/>
                    </a:p>
                  </a:txBody>
                  <a:tcPr/>
                </a:tc>
                <a:tc hMerge="1">
                  <a:txBody>
                    <a:bodyPr/>
                    <a:lstStyle/>
                    <a:p>
                      <a:endParaRPr lang="en-IN"/>
                    </a:p>
                  </a:txBody>
                  <a:tcPr/>
                </a:tc>
                <a:extLst>
                  <a:ext uri="{0D108BD9-81ED-4DB2-BD59-A6C34878D82A}">
                    <a16:rowId xmlns:a16="http://schemas.microsoft.com/office/drawing/2014/main" val="1573749972"/>
                  </a:ext>
                </a:extLst>
              </a:tr>
              <a:tr h="370840">
                <a:tc>
                  <a:txBody>
                    <a:bodyPr/>
                    <a:lstStyle/>
                    <a:p>
                      <a:r>
                        <a:rPr lang="en-US" dirty="0"/>
                        <a:t>10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Design for Degradation</a:t>
                      </a:r>
                      <a:endParaRPr lang="en-IN" dirty="0"/>
                    </a:p>
                  </a:txBody>
                  <a:tcPr/>
                </a:tc>
                <a:tc gridSpan="2">
                  <a:txBody>
                    <a:bodyPr/>
                    <a:lstStyle/>
                    <a:p>
                      <a:r>
                        <a:rPr lang="en-US" sz="1800" b="0" i="0" kern="1200" dirty="0">
                          <a:solidFill>
                            <a:schemeClr val="tx1"/>
                          </a:solidFill>
                          <a:effectLst/>
                          <a:latin typeface="+mn-lt"/>
                          <a:ea typeface="+mn-ea"/>
                          <a:cs typeface="+mn-cs"/>
                        </a:rPr>
                        <a:t>Chemical products should be designed so that at the end of their function they break down into innocuous degradation products and do not persist in the environment.</a:t>
                      </a:r>
                      <a:endParaRPr lang="en-IN" dirty="0"/>
                    </a:p>
                  </a:txBody>
                  <a:tcPr/>
                </a:tc>
                <a:tc hMerge="1">
                  <a:txBody>
                    <a:bodyPr/>
                    <a:lstStyle/>
                    <a:p>
                      <a:endParaRPr lang="en-IN"/>
                    </a:p>
                  </a:txBody>
                  <a:tcPr/>
                </a:tc>
                <a:extLst>
                  <a:ext uri="{0D108BD9-81ED-4DB2-BD59-A6C34878D82A}">
                    <a16:rowId xmlns:a16="http://schemas.microsoft.com/office/drawing/2014/main" val="3225260362"/>
                  </a:ext>
                </a:extLst>
              </a:tr>
              <a:tr h="370840">
                <a:tc>
                  <a:txBody>
                    <a:bodyPr/>
                    <a:lstStyle/>
                    <a:p>
                      <a:r>
                        <a:rPr lang="en-US" dirty="0"/>
                        <a:t>11</a:t>
                      </a:r>
                      <a:endParaRPr lang="en-IN" dirty="0"/>
                    </a:p>
                  </a:txBody>
                  <a:tcPr/>
                </a:tc>
                <a:tc>
                  <a:txBody>
                    <a:bodyPr/>
                    <a:lstStyle/>
                    <a:p>
                      <a:r>
                        <a:rPr lang="en-US" sz="1800" b="1" i="0" kern="1200" dirty="0">
                          <a:solidFill>
                            <a:schemeClr val="tx1"/>
                          </a:solidFill>
                          <a:effectLst/>
                          <a:latin typeface="+mn-lt"/>
                          <a:ea typeface="+mn-ea"/>
                          <a:cs typeface="+mn-cs"/>
                        </a:rPr>
                        <a:t>Real-time analysis for Pollution Prevention</a:t>
                      </a:r>
                      <a:endParaRPr lang="en-IN" dirty="0"/>
                    </a:p>
                  </a:txBody>
                  <a:tcPr/>
                </a:tc>
                <a:tc gridSpan="2">
                  <a:txBody>
                    <a:bodyPr/>
                    <a:lstStyle/>
                    <a:p>
                      <a:r>
                        <a:rPr lang="en-US" sz="1800" b="0" i="0" kern="1200" dirty="0">
                          <a:solidFill>
                            <a:schemeClr val="tx1"/>
                          </a:solidFill>
                          <a:effectLst/>
                          <a:latin typeface="+mn-lt"/>
                          <a:ea typeface="+mn-ea"/>
                          <a:cs typeface="+mn-cs"/>
                        </a:rPr>
                        <a:t>Analytical methodologies need to be further developed to allow for real-time, in-process monitoring and control prior to the formation of hazardous substances.</a:t>
                      </a:r>
                      <a:endParaRPr lang="en-IN" dirty="0"/>
                    </a:p>
                  </a:txBody>
                  <a:tcPr/>
                </a:tc>
                <a:tc hMerge="1">
                  <a:txBody>
                    <a:bodyPr/>
                    <a:lstStyle/>
                    <a:p>
                      <a:endParaRPr lang="en-IN"/>
                    </a:p>
                  </a:txBody>
                  <a:tcPr/>
                </a:tc>
                <a:extLst>
                  <a:ext uri="{0D108BD9-81ED-4DB2-BD59-A6C34878D82A}">
                    <a16:rowId xmlns:a16="http://schemas.microsoft.com/office/drawing/2014/main" val="45804114"/>
                  </a:ext>
                </a:extLst>
              </a:tr>
              <a:tr h="370840">
                <a:tc>
                  <a:txBody>
                    <a:bodyPr/>
                    <a:lstStyle/>
                    <a:p>
                      <a:r>
                        <a:rPr lang="en-US" dirty="0"/>
                        <a:t>12</a:t>
                      </a:r>
                      <a:endParaRPr lang="en-IN" dirty="0"/>
                    </a:p>
                  </a:txBody>
                  <a:tcPr/>
                </a:tc>
                <a:tc>
                  <a:txBody>
                    <a:bodyPr/>
                    <a:lstStyle/>
                    <a:p>
                      <a:r>
                        <a:rPr lang="en-US" sz="1800" b="1" i="0" kern="1200" dirty="0">
                          <a:solidFill>
                            <a:schemeClr val="tx1"/>
                          </a:solidFill>
                          <a:effectLst/>
                          <a:latin typeface="+mn-lt"/>
                          <a:ea typeface="+mn-ea"/>
                          <a:cs typeface="+mn-cs"/>
                        </a:rPr>
                        <a:t>Inherently Safer Chemistry for Accident Prevention</a:t>
                      </a:r>
                      <a:endParaRPr lang="en-IN" dirty="0"/>
                    </a:p>
                  </a:txBody>
                  <a:tcPr/>
                </a:tc>
                <a:tc gridSpan="2">
                  <a:txBody>
                    <a:bodyPr/>
                    <a:lstStyle/>
                    <a:p>
                      <a:r>
                        <a:rPr lang="en-US" sz="1800" b="0" i="0" kern="1200" dirty="0">
                          <a:solidFill>
                            <a:schemeClr val="tx1"/>
                          </a:solidFill>
                          <a:effectLst/>
                          <a:latin typeface="+mn-lt"/>
                          <a:ea typeface="+mn-ea"/>
                          <a:cs typeface="+mn-cs"/>
                        </a:rPr>
                        <a:t>Substances and the form of a substance used in a chemical process should be chosen to minimize the potential for chemical accidents, including releases, explosions, and fires.</a:t>
                      </a:r>
                      <a:endParaRPr lang="en-IN" dirty="0"/>
                    </a:p>
                  </a:txBody>
                  <a:tcPr/>
                </a:tc>
                <a:tc hMerge="1">
                  <a:txBody>
                    <a:bodyPr/>
                    <a:lstStyle/>
                    <a:p>
                      <a:endParaRPr lang="en-IN"/>
                    </a:p>
                  </a:txBody>
                  <a:tcPr/>
                </a:tc>
                <a:extLst>
                  <a:ext uri="{0D108BD9-81ED-4DB2-BD59-A6C34878D82A}">
                    <a16:rowId xmlns:a16="http://schemas.microsoft.com/office/drawing/2014/main" val="1697584187"/>
                  </a:ext>
                </a:extLst>
              </a:tr>
            </a:tbl>
          </a:graphicData>
        </a:graphic>
      </p:graphicFrame>
      <p:sp>
        <p:nvSpPr>
          <p:cNvPr id="16" name="TextBox 15">
            <a:extLst>
              <a:ext uri="{FF2B5EF4-FFF2-40B4-BE49-F238E27FC236}">
                <a16:creationId xmlns:a16="http://schemas.microsoft.com/office/drawing/2014/main" id="{9AF12994-10A0-4C44-8693-E7C8E55A1353}"/>
              </a:ext>
            </a:extLst>
          </p:cNvPr>
          <p:cNvSpPr txBox="1"/>
          <p:nvPr/>
        </p:nvSpPr>
        <p:spPr>
          <a:xfrm>
            <a:off x="322730" y="6359430"/>
            <a:ext cx="11546540" cy="369332"/>
          </a:xfrm>
          <a:prstGeom prst="rect">
            <a:avLst/>
          </a:prstGeom>
          <a:noFill/>
        </p:spPr>
        <p:txBody>
          <a:bodyPr wrap="square">
            <a:spAutoFit/>
          </a:bodyPr>
          <a:lstStyle/>
          <a:p>
            <a:r>
              <a:rPr lang="en-US" b="0" i="0" dirty="0" err="1">
                <a:solidFill>
                  <a:srgbClr val="222222"/>
                </a:solidFill>
                <a:effectLst/>
                <a:latin typeface="Mallory"/>
              </a:rPr>
              <a:t>Anastas</a:t>
            </a:r>
            <a:r>
              <a:rPr lang="en-US" b="0" i="0" dirty="0">
                <a:solidFill>
                  <a:srgbClr val="222222"/>
                </a:solidFill>
                <a:effectLst/>
                <a:latin typeface="Mallory"/>
              </a:rPr>
              <a:t>, P. T. and Warner, J. C. </a:t>
            </a:r>
            <a:r>
              <a:rPr lang="en-US" b="0" i="1" dirty="0">
                <a:solidFill>
                  <a:srgbClr val="222222"/>
                </a:solidFill>
                <a:effectLst/>
                <a:latin typeface="Mallory"/>
              </a:rPr>
              <a:t>Green Chemistry: Theory and Practice</a:t>
            </a:r>
            <a:r>
              <a:rPr lang="en-US" b="0" i="0" dirty="0">
                <a:solidFill>
                  <a:srgbClr val="222222"/>
                </a:solidFill>
                <a:effectLst/>
                <a:latin typeface="Mallory"/>
              </a:rPr>
              <a:t>. Oxford University Press: New York, 1998, p. 30.</a:t>
            </a:r>
            <a:endParaRPr lang="en-IN" dirty="0"/>
          </a:p>
        </p:txBody>
      </p:sp>
    </p:spTree>
    <p:extLst>
      <p:ext uri="{BB962C8B-B14F-4D97-AF65-F5344CB8AC3E}">
        <p14:creationId xmlns:p14="http://schemas.microsoft.com/office/powerpoint/2010/main" val="3751398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80852F-04C2-45CB-95DE-C333A27326CC}"/>
              </a:ext>
            </a:extLst>
          </p:cNvPr>
          <p:cNvSpPr txBox="1"/>
          <p:nvPr/>
        </p:nvSpPr>
        <p:spPr>
          <a:xfrm>
            <a:off x="5072262" y="129238"/>
            <a:ext cx="2083392" cy="461665"/>
          </a:xfrm>
          <a:prstGeom prst="rect">
            <a:avLst/>
          </a:prstGeom>
          <a:noFill/>
        </p:spPr>
        <p:txBody>
          <a:bodyPr wrap="none" rtlCol="0">
            <a:spAutoFit/>
          </a:bodyPr>
          <a:lstStyle/>
          <a:p>
            <a:pPr algn="ctr"/>
            <a:r>
              <a:rPr lang="en-US" sz="2400" b="1" dirty="0">
                <a:effectLst>
                  <a:outerShdw blurRad="38100" dist="38100" dir="2700000" algn="tl">
                    <a:srgbClr val="000000">
                      <a:alpha val="43137"/>
                    </a:srgbClr>
                  </a:outerShdw>
                </a:effectLst>
              </a:rPr>
              <a:t>Ideal Synthesis</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sp>
        <p:nvSpPr>
          <p:cNvPr id="16" name="TextBox 15">
            <a:extLst>
              <a:ext uri="{FF2B5EF4-FFF2-40B4-BE49-F238E27FC236}">
                <a16:creationId xmlns:a16="http://schemas.microsoft.com/office/drawing/2014/main" id="{9AF12994-10A0-4C44-8693-E7C8E55A1353}"/>
              </a:ext>
            </a:extLst>
          </p:cNvPr>
          <p:cNvSpPr txBox="1"/>
          <p:nvPr/>
        </p:nvSpPr>
        <p:spPr>
          <a:xfrm>
            <a:off x="149605" y="6359430"/>
            <a:ext cx="11968414" cy="369332"/>
          </a:xfrm>
          <a:prstGeom prst="rect">
            <a:avLst/>
          </a:prstGeom>
          <a:noFill/>
        </p:spPr>
        <p:txBody>
          <a:bodyPr wrap="square">
            <a:spAutoFit/>
          </a:bodyPr>
          <a:lstStyle/>
          <a:p>
            <a:pPr algn="ctr"/>
            <a:r>
              <a:rPr lang="en-US" b="0" dirty="0">
                <a:solidFill>
                  <a:srgbClr val="222222"/>
                </a:solidFill>
                <a:effectLst/>
                <a:latin typeface="Mallory"/>
              </a:rPr>
              <a:t>Robert W. Armstrong </a:t>
            </a:r>
            <a:r>
              <a:rPr lang="en-US" b="0" i="1" dirty="0">
                <a:solidFill>
                  <a:srgbClr val="222222"/>
                </a:solidFill>
                <a:effectLst/>
                <a:latin typeface="Mallory"/>
              </a:rPr>
              <a:t>et al. Acc. Chem. Res.</a:t>
            </a:r>
            <a:r>
              <a:rPr lang="en-US" b="0" i="0" dirty="0">
                <a:solidFill>
                  <a:srgbClr val="222222"/>
                </a:solidFill>
                <a:effectLst/>
                <a:latin typeface="Mallory"/>
              </a:rPr>
              <a:t> </a:t>
            </a:r>
            <a:r>
              <a:rPr lang="en-US" b="1" i="0" dirty="0">
                <a:solidFill>
                  <a:srgbClr val="222222"/>
                </a:solidFill>
                <a:effectLst/>
                <a:latin typeface="Mallory"/>
              </a:rPr>
              <a:t>1996</a:t>
            </a:r>
            <a:r>
              <a:rPr lang="en-US" b="0" i="0" dirty="0">
                <a:solidFill>
                  <a:srgbClr val="222222"/>
                </a:solidFill>
                <a:effectLst/>
                <a:latin typeface="Mallory"/>
              </a:rPr>
              <a:t>, </a:t>
            </a:r>
            <a:r>
              <a:rPr lang="en-US" b="0" i="1" dirty="0">
                <a:solidFill>
                  <a:srgbClr val="222222"/>
                </a:solidFill>
                <a:effectLst/>
                <a:latin typeface="Mallory"/>
              </a:rPr>
              <a:t>29</a:t>
            </a:r>
            <a:r>
              <a:rPr lang="en-US" b="0" i="0" dirty="0">
                <a:solidFill>
                  <a:srgbClr val="222222"/>
                </a:solidFill>
                <a:effectLst/>
                <a:latin typeface="Mallory"/>
              </a:rPr>
              <a:t>, 123; </a:t>
            </a:r>
            <a:r>
              <a:rPr lang="sv-SE" b="0" i="0" dirty="0">
                <a:solidFill>
                  <a:srgbClr val="222222"/>
                </a:solidFill>
                <a:effectLst/>
                <a:latin typeface="Mallory"/>
              </a:rPr>
              <a:t>Alexander Dömling </a:t>
            </a:r>
            <a:r>
              <a:rPr lang="sv-SE" b="0" i="1" dirty="0">
                <a:solidFill>
                  <a:srgbClr val="222222"/>
                </a:solidFill>
                <a:effectLst/>
                <a:latin typeface="Mallory"/>
              </a:rPr>
              <a:t>et. al.</a:t>
            </a:r>
            <a:r>
              <a:rPr lang="en-US" b="0" i="0" dirty="0">
                <a:solidFill>
                  <a:srgbClr val="222222"/>
                </a:solidFill>
                <a:effectLst/>
                <a:latin typeface="Mallory"/>
              </a:rPr>
              <a:t> </a:t>
            </a:r>
            <a:r>
              <a:rPr lang="de-DE" b="0" i="1" dirty="0">
                <a:solidFill>
                  <a:srgbClr val="222222"/>
                </a:solidFill>
                <a:effectLst/>
                <a:latin typeface="Mallory"/>
              </a:rPr>
              <a:t>Angew. Chem. Int. Ed. </a:t>
            </a:r>
            <a:r>
              <a:rPr lang="de-DE" b="1" i="0" dirty="0">
                <a:solidFill>
                  <a:srgbClr val="222222"/>
                </a:solidFill>
                <a:effectLst/>
                <a:latin typeface="Mallory"/>
              </a:rPr>
              <a:t>2000</a:t>
            </a:r>
            <a:r>
              <a:rPr lang="de-DE" b="0" i="0" dirty="0">
                <a:solidFill>
                  <a:srgbClr val="222222"/>
                </a:solidFill>
                <a:effectLst/>
                <a:latin typeface="Mallory"/>
              </a:rPr>
              <a:t>, </a:t>
            </a:r>
            <a:r>
              <a:rPr lang="de-DE" b="0" i="1" dirty="0">
                <a:solidFill>
                  <a:srgbClr val="222222"/>
                </a:solidFill>
                <a:effectLst/>
                <a:latin typeface="Mallory"/>
              </a:rPr>
              <a:t>39</a:t>
            </a:r>
            <a:r>
              <a:rPr lang="de-DE" b="0" i="0" dirty="0">
                <a:solidFill>
                  <a:srgbClr val="222222"/>
                </a:solidFill>
                <a:effectLst/>
                <a:latin typeface="Mallory"/>
              </a:rPr>
              <a:t>, 3168</a:t>
            </a:r>
            <a:endParaRPr lang="en-IN" dirty="0"/>
          </a:p>
        </p:txBody>
      </p:sp>
      <p:pic>
        <p:nvPicPr>
          <p:cNvPr id="9" name="Picture 8">
            <a:extLst>
              <a:ext uri="{FF2B5EF4-FFF2-40B4-BE49-F238E27FC236}">
                <a16:creationId xmlns:a16="http://schemas.microsoft.com/office/drawing/2014/main" id="{CC400229-E1C6-4004-840A-2CE547EE08F8}"/>
              </a:ext>
            </a:extLst>
          </p:cNvPr>
          <p:cNvPicPr>
            <a:picLocks noChangeAspect="1"/>
          </p:cNvPicPr>
          <p:nvPr/>
        </p:nvPicPr>
        <p:blipFill rotWithShape="1">
          <a:blip r:embed="rId2"/>
          <a:srcRect l="7605" t="26019" r="6570" b="11068"/>
          <a:stretch/>
        </p:blipFill>
        <p:spPr>
          <a:xfrm>
            <a:off x="3308042" y="675818"/>
            <a:ext cx="5575916" cy="3065491"/>
          </a:xfrm>
          <a:prstGeom prst="rect">
            <a:avLst/>
          </a:prstGeom>
        </p:spPr>
      </p:pic>
    </p:spTree>
    <p:extLst>
      <p:ext uri="{BB962C8B-B14F-4D97-AF65-F5344CB8AC3E}">
        <p14:creationId xmlns:p14="http://schemas.microsoft.com/office/powerpoint/2010/main" val="1705687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80852F-04C2-45CB-95DE-C333A27326CC}"/>
              </a:ext>
            </a:extLst>
          </p:cNvPr>
          <p:cNvSpPr txBox="1"/>
          <p:nvPr/>
        </p:nvSpPr>
        <p:spPr>
          <a:xfrm>
            <a:off x="4350908" y="129238"/>
            <a:ext cx="3526094" cy="461665"/>
          </a:xfrm>
          <a:prstGeom prst="rect">
            <a:avLst/>
          </a:prstGeom>
          <a:noFill/>
        </p:spPr>
        <p:txBody>
          <a:bodyPr wrap="none" rtlCol="0">
            <a:spAutoFit/>
          </a:bodyPr>
          <a:lstStyle/>
          <a:p>
            <a:pPr algn="ctr"/>
            <a:r>
              <a:rPr lang="en-US" sz="2400" b="1" dirty="0">
                <a:effectLst>
                  <a:outerShdw blurRad="38100" dist="38100" dir="2700000" algn="tl">
                    <a:srgbClr val="000000">
                      <a:alpha val="43137"/>
                    </a:srgbClr>
                  </a:outerShdw>
                </a:effectLst>
              </a:rPr>
              <a:t>Multicomponent Reaction</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7BC1AB35-175F-418F-8FB8-A26D20B7E745}"/>
              </a:ext>
            </a:extLst>
          </p:cNvPr>
          <p:cNvSpPr txBox="1"/>
          <p:nvPr/>
        </p:nvSpPr>
        <p:spPr>
          <a:xfrm>
            <a:off x="167536" y="665800"/>
            <a:ext cx="11719665"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b="1" dirty="0">
                <a:effectLst>
                  <a:outerShdw blurRad="38100" dist="38100" dir="2700000" algn="tl">
                    <a:srgbClr val="000000">
                      <a:alpha val="43137"/>
                    </a:srgbClr>
                  </a:outerShdw>
                </a:effectLst>
              </a:rPr>
              <a:t>Multicomponent reactions </a:t>
            </a:r>
            <a:r>
              <a:rPr lang="en-US" sz="2000" b="0" i="0" dirty="0">
                <a:solidFill>
                  <a:srgbClr val="000000"/>
                </a:solidFill>
                <a:effectLst/>
              </a:rPr>
              <a:t>(MCRs) are convergent reactions, in which three or more starting materials react to form a product, where basically all or most of the atoms contribute to the newly formed product (remarkable atom economy), eventually in good to excellent chemical yields, while saving resources like time and energy.</a:t>
            </a:r>
          </a:p>
        </p:txBody>
      </p:sp>
      <p:sp>
        <p:nvSpPr>
          <p:cNvPr id="16" name="TextBox 15">
            <a:extLst>
              <a:ext uri="{FF2B5EF4-FFF2-40B4-BE49-F238E27FC236}">
                <a16:creationId xmlns:a16="http://schemas.microsoft.com/office/drawing/2014/main" id="{9AF12994-10A0-4C44-8693-E7C8E55A1353}"/>
              </a:ext>
            </a:extLst>
          </p:cNvPr>
          <p:cNvSpPr txBox="1"/>
          <p:nvPr/>
        </p:nvSpPr>
        <p:spPr>
          <a:xfrm>
            <a:off x="149605" y="6359430"/>
            <a:ext cx="11968414" cy="369332"/>
          </a:xfrm>
          <a:prstGeom prst="rect">
            <a:avLst/>
          </a:prstGeom>
          <a:noFill/>
        </p:spPr>
        <p:txBody>
          <a:bodyPr wrap="square">
            <a:spAutoFit/>
          </a:bodyPr>
          <a:lstStyle/>
          <a:p>
            <a:pPr algn="ctr"/>
            <a:r>
              <a:rPr lang="en-US" b="0" dirty="0">
                <a:solidFill>
                  <a:srgbClr val="222222"/>
                </a:solidFill>
                <a:effectLst/>
                <a:latin typeface="Mallory"/>
              </a:rPr>
              <a:t>Robert W. Armstrong </a:t>
            </a:r>
            <a:r>
              <a:rPr lang="en-US" b="0" i="1" dirty="0">
                <a:solidFill>
                  <a:srgbClr val="222222"/>
                </a:solidFill>
                <a:effectLst/>
                <a:latin typeface="Mallory"/>
              </a:rPr>
              <a:t>et al. Acc. Chem. Res.</a:t>
            </a:r>
            <a:r>
              <a:rPr lang="en-US" b="0" i="0" dirty="0">
                <a:solidFill>
                  <a:srgbClr val="222222"/>
                </a:solidFill>
                <a:effectLst/>
                <a:latin typeface="Mallory"/>
              </a:rPr>
              <a:t> </a:t>
            </a:r>
            <a:r>
              <a:rPr lang="en-US" b="1" i="0" dirty="0">
                <a:solidFill>
                  <a:srgbClr val="222222"/>
                </a:solidFill>
                <a:effectLst/>
                <a:latin typeface="Mallory"/>
              </a:rPr>
              <a:t>1996</a:t>
            </a:r>
            <a:r>
              <a:rPr lang="en-US" b="0" i="0" dirty="0">
                <a:solidFill>
                  <a:srgbClr val="222222"/>
                </a:solidFill>
                <a:effectLst/>
                <a:latin typeface="Mallory"/>
              </a:rPr>
              <a:t>, </a:t>
            </a:r>
            <a:r>
              <a:rPr lang="en-US" b="0" i="1" dirty="0">
                <a:solidFill>
                  <a:srgbClr val="222222"/>
                </a:solidFill>
                <a:effectLst/>
                <a:latin typeface="Mallory"/>
              </a:rPr>
              <a:t>29</a:t>
            </a:r>
            <a:r>
              <a:rPr lang="en-US" b="0" i="0" dirty="0">
                <a:solidFill>
                  <a:srgbClr val="222222"/>
                </a:solidFill>
                <a:effectLst/>
                <a:latin typeface="Mallory"/>
              </a:rPr>
              <a:t>, 123; </a:t>
            </a:r>
            <a:r>
              <a:rPr lang="sv-SE" b="0" i="0" dirty="0">
                <a:solidFill>
                  <a:srgbClr val="222222"/>
                </a:solidFill>
                <a:effectLst/>
                <a:latin typeface="Mallory"/>
              </a:rPr>
              <a:t>Alexander Dömling </a:t>
            </a:r>
            <a:r>
              <a:rPr lang="sv-SE" b="0" i="1" dirty="0">
                <a:solidFill>
                  <a:srgbClr val="222222"/>
                </a:solidFill>
                <a:effectLst/>
                <a:latin typeface="Mallory"/>
              </a:rPr>
              <a:t>et. al.</a:t>
            </a:r>
            <a:r>
              <a:rPr lang="en-US" b="0" i="0" dirty="0">
                <a:solidFill>
                  <a:srgbClr val="222222"/>
                </a:solidFill>
                <a:effectLst/>
                <a:latin typeface="Mallory"/>
              </a:rPr>
              <a:t> </a:t>
            </a:r>
            <a:r>
              <a:rPr lang="de-DE" b="0" i="1" dirty="0">
                <a:solidFill>
                  <a:srgbClr val="222222"/>
                </a:solidFill>
                <a:effectLst/>
                <a:latin typeface="Mallory"/>
              </a:rPr>
              <a:t>Angew. Chem. Int. Ed. </a:t>
            </a:r>
            <a:r>
              <a:rPr lang="de-DE" b="1" i="0" dirty="0">
                <a:solidFill>
                  <a:srgbClr val="222222"/>
                </a:solidFill>
                <a:effectLst/>
                <a:latin typeface="Mallory"/>
              </a:rPr>
              <a:t>2000</a:t>
            </a:r>
            <a:r>
              <a:rPr lang="de-DE" b="0" i="0" dirty="0">
                <a:solidFill>
                  <a:srgbClr val="222222"/>
                </a:solidFill>
                <a:effectLst/>
                <a:latin typeface="Mallory"/>
              </a:rPr>
              <a:t>, </a:t>
            </a:r>
            <a:r>
              <a:rPr lang="de-DE" b="0" i="1" dirty="0">
                <a:solidFill>
                  <a:srgbClr val="222222"/>
                </a:solidFill>
                <a:effectLst/>
                <a:latin typeface="Mallory"/>
              </a:rPr>
              <a:t>39</a:t>
            </a:r>
            <a:r>
              <a:rPr lang="de-DE" b="0" i="0" dirty="0">
                <a:solidFill>
                  <a:srgbClr val="222222"/>
                </a:solidFill>
                <a:effectLst/>
                <a:latin typeface="Mallory"/>
              </a:rPr>
              <a:t>, 3168</a:t>
            </a:r>
            <a:endParaRPr lang="en-IN" dirty="0"/>
          </a:p>
        </p:txBody>
      </p:sp>
      <p:pic>
        <p:nvPicPr>
          <p:cNvPr id="4" name="Picture 3">
            <a:extLst>
              <a:ext uri="{FF2B5EF4-FFF2-40B4-BE49-F238E27FC236}">
                <a16:creationId xmlns:a16="http://schemas.microsoft.com/office/drawing/2014/main" id="{E1447D14-4449-49F0-9AC2-D44CA0581B60}"/>
              </a:ext>
            </a:extLst>
          </p:cNvPr>
          <p:cNvPicPr>
            <a:picLocks noChangeAspect="1"/>
          </p:cNvPicPr>
          <p:nvPr/>
        </p:nvPicPr>
        <p:blipFill rotWithShape="1">
          <a:blip r:embed="rId2"/>
          <a:srcRect r="43507"/>
          <a:stretch/>
        </p:blipFill>
        <p:spPr>
          <a:xfrm>
            <a:off x="2471169" y="1603932"/>
            <a:ext cx="3095130" cy="2344133"/>
          </a:xfrm>
          <a:prstGeom prst="rect">
            <a:avLst/>
          </a:prstGeom>
        </p:spPr>
      </p:pic>
      <p:sp>
        <p:nvSpPr>
          <p:cNvPr id="10" name="TextBox 9">
            <a:extLst>
              <a:ext uri="{FF2B5EF4-FFF2-40B4-BE49-F238E27FC236}">
                <a16:creationId xmlns:a16="http://schemas.microsoft.com/office/drawing/2014/main" id="{FBD09066-6C43-4723-9643-CFC0806590A7}"/>
              </a:ext>
            </a:extLst>
          </p:cNvPr>
          <p:cNvSpPr txBox="1"/>
          <p:nvPr/>
        </p:nvSpPr>
        <p:spPr>
          <a:xfrm>
            <a:off x="254097" y="4137515"/>
            <a:ext cx="11546541" cy="2246769"/>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000000"/>
                </a:solidFill>
                <a:effectLst/>
              </a:rPr>
              <a:t>In an MCR, a product is assembled according to a cascade of elementary chemical reactions. Thus, there is a network of reaction equilibria, which all finally flow into an irreversible step yielding the product. The challenge is to conduct an MCR in such a way that the network of pre-equilibrated reactions channel into the main product and do not yield side products. </a:t>
            </a:r>
          </a:p>
          <a:p>
            <a:pPr marL="342900" indent="-342900" algn="just">
              <a:buFont typeface="Arial" panose="020B0604020202020204" pitchFamily="34" charset="0"/>
              <a:buChar char="•"/>
            </a:pPr>
            <a:r>
              <a:rPr lang="en-US" sz="2000" b="0" i="0" dirty="0">
                <a:solidFill>
                  <a:srgbClr val="000000"/>
                </a:solidFill>
                <a:effectLst/>
              </a:rPr>
              <a:t>The result is clearly dependent on the reaction conditions: solvent, temperature, catalyst, concentration, the kind of starting materials and functional groups. Such considerations are of particular importance in connection with the design and discovery of novel MCRs.</a:t>
            </a:r>
            <a:endParaRPr lang="en-IN" sz="2000" dirty="0"/>
          </a:p>
        </p:txBody>
      </p:sp>
    </p:spTree>
    <p:extLst>
      <p:ext uri="{BB962C8B-B14F-4D97-AF65-F5344CB8AC3E}">
        <p14:creationId xmlns:p14="http://schemas.microsoft.com/office/powerpoint/2010/main" val="2783094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80852F-04C2-45CB-95DE-C333A27326CC}"/>
              </a:ext>
            </a:extLst>
          </p:cNvPr>
          <p:cNvSpPr txBox="1"/>
          <p:nvPr/>
        </p:nvSpPr>
        <p:spPr>
          <a:xfrm>
            <a:off x="5217556" y="129238"/>
            <a:ext cx="1792799" cy="461665"/>
          </a:xfrm>
          <a:prstGeom prst="rect">
            <a:avLst/>
          </a:prstGeom>
          <a:noFill/>
        </p:spPr>
        <p:txBody>
          <a:bodyPr wrap="none" rtlCol="0">
            <a:spAutoFit/>
          </a:bodyPr>
          <a:lstStyle/>
          <a:p>
            <a:pPr algn="ctr"/>
            <a:r>
              <a:rPr lang="en-US" sz="2400" b="1" dirty="0" err="1">
                <a:effectLst>
                  <a:outerShdw blurRad="38100" dist="38100" dir="2700000" algn="tl">
                    <a:srgbClr val="000000">
                      <a:alpha val="43137"/>
                    </a:srgbClr>
                  </a:outerShdw>
                </a:effectLst>
              </a:rPr>
              <a:t>Ugi</a:t>
            </a:r>
            <a:r>
              <a:rPr lang="en-US" sz="2400" b="1" dirty="0">
                <a:effectLst>
                  <a:outerShdw blurRad="38100" dist="38100" dir="2700000" algn="tl">
                    <a:srgbClr val="000000">
                      <a:alpha val="43137"/>
                    </a:srgbClr>
                  </a:outerShdw>
                </a:effectLst>
              </a:rPr>
              <a:t> Reaction</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7BC1AB35-175F-418F-8FB8-A26D20B7E745}"/>
              </a:ext>
            </a:extLst>
          </p:cNvPr>
          <p:cNvSpPr txBox="1"/>
          <p:nvPr/>
        </p:nvSpPr>
        <p:spPr>
          <a:xfrm>
            <a:off x="167536" y="665800"/>
            <a:ext cx="10636588" cy="707886"/>
          </a:xfrm>
          <a:prstGeom prst="rect">
            <a:avLst/>
          </a:prstGeom>
          <a:noFill/>
        </p:spPr>
        <p:txBody>
          <a:bodyPr wrap="square" rtlCol="0">
            <a:spAutoFit/>
          </a:bodyPr>
          <a:lstStyle/>
          <a:p>
            <a:pPr marL="342900" indent="-342900" algn="just">
              <a:buFont typeface="Arial" panose="020B0604020202020204" pitchFamily="34" charset="0"/>
              <a:buChar char="•"/>
            </a:pPr>
            <a:r>
              <a:rPr lang="en-US" sz="2000" b="0" i="0" dirty="0">
                <a:solidFill>
                  <a:srgbClr val="000000"/>
                </a:solidFill>
                <a:effectLst/>
              </a:rPr>
              <a:t>The </a:t>
            </a:r>
            <a:r>
              <a:rPr lang="en-US" sz="2000" b="1" dirty="0" err="1">
                <a:effectLst>
                  <a:outerShdw blurRad="38100" dist="38100" dir="2700000" algn="tl">
                    <a:srgbClr val="000000">
                      <a:alpha val="43137"/>
                    </a:srgbClr>
                  </a:outerShdw>
                </a:effectLst>
              </a:rPr>
              <a:t>Ugi</a:t>
            </a:r>
            <a:r>
              <a:rPr lang="en-US" sz="2000" b="1" dirty="0">
                <a:effectLst>
                  <a:outerShdw blurRad="38100" dist="38100" dir="2700000" algn="tl">
                    <a:srgbClr val="000000">
                      <a:alpha val="43137"/>
                    </a:srgbClr>
                  </a:outerShdw>
                </a:effectLst>
              </a:rPr>
              <a:t> reaction</a:t>
            </a:r>
            <a:r>
              <a:rPr lang="en-US" sz="2000" dirty="0">
                <a:effectLst>
                  <a:outerShdw blurRad="38100" dist="38100" dir="2700000" algn="tl">
                    <a:srgbClr val="000000">
                      <a:alpha val="43137"/>
                    </a:srgbClr>
                  </a:outerShdw>
                </a:effectLst>
              </a:rPr>
              <a:t> </a:t>
            </a:r>
            <a:r>
              <a:rPr lang="en-US" sz="2000" dirty="0">
                <a:solidFill>
                  <a:srgbClr val="000000"/>
                </a:solidFill>
              </a:rPr>
              <a:t>(discovered in 1959) </a:t>
            </a:r>
            <a:r>
              <a:rPr lang="en-US" sz="2000" b="0" i="0" dirty="0">
                <a:solidFill>
                  <a:srgbClr val="000000"/>
                </a:solidFill>
                <a:effectLst/>
              </a:rPr>
              <a:t>is a multi-component reaction in organic chemistry involving a ketone or aldehyde, an amine, an isocyanide and a carboxylic acid to form a bis-amide.</a:t>
            </a:r>
            <a:endParaRPr lang="en-IN" sz="2000" dirty="0"/>
          </a:p>
        </p:txBody>
      </p:sp>
      <p:sp>
        <p:nvSpPr>
          <p:cNvPr id="16" name="TextBox 15">
            <a:extLst>
              <a:ext uri="{FF2B5EF4-FFF2-40B4-BE49-F238E27FC236}">
                <a16:creationId xmlns:a16="http://schemas.microsoft.com/office/drawing/2014/main" id="{9AF12994-10A0-4C44-8693-E7C8E55A1353}"/>
              </a:ext>
            </a:extLst>
          </p:cNvPr>
          <p:cNvSpPr txBox="1"/>
          <p:nvPr/>
        </p:nvSpPr>
        <p:spPr>
          <a:xfrm>
            <a:off x="149605" y="6359430"/>
            <a:ext cx="11968414" cy="369332"/>
          </a:xfrm>
          <a:prstGeom prst="rect">
            <a:avLst/>
          </a:prstGeom>
          <a:noFill/>
        </p:spPr>
        <p:txBody>
          <a:bodyPr wrap="square">
            <a:spAutoFit/>
          </a:bodyPr>
          <a:lstStyle/>
          <a:p>
            <a:pPr algn="ctr"/>
            <a:r>
              <a:rPr lang="sv-SE" b="0" i="0" dirty="0">
                <a:solidFill>
                  <a:srgbClr val="222222"/>
                </a:solidFill>
                <a:effectLst/>
                <a:latin typeface="Mallory"/>
              </a:rPr>
              <a:t>Alexander Dömling </a:t>
            </a:r>
            <a:r>
              <a:rPr lang="sv-SE" b="0" i="1" dirty="0">
                <a:solidFill>
                  <a:srgbClr val="222222"/>
                </a:solidFill>
                <a:effectLst/>
                <a:latin typeface="Mallory"/>
              </a:rPr>
              <a:t>et. al.</a:t>
            </a:r>
            <a:r>
              <a:rPr lang="en-US" b="0" i="0" dirty="0">
                <a:solidFill>
                  <a:srgbClr val="222222"/>
                </a:solidFill>
                <a:effectLst/>
                <a:latin typeface="Mallory"/>
              </a:rPr>
              <a:t> </a:t>
            </a:r>
            <a:r>
              <a:rPr lang="de-DE" b="0" i="1" dirty="0">
                <a:solidFill>
                  <a:srgbClr val="222222"/>
                </a:solidFill>
                <a:effectLst/>
                <a:latin typeface="Mallory"/>
              </a:rPr>
              <a:t>Angew. Chem. Int. Ed. </a:t>
            </a:r>
            <a:r>
              <a:rPr lang="de-DE" b="1" i="0" dirty="0">
                <a:solidFill>
                  <a:srgbClr val="222222"/>
                </a:solidFill>
                <a:effectLst/>
                <a:latin typeface="Mallory"/>
              </a:rPr>
              <a:t>2000</a:t>
            </a:r>
            <a:r>
              <a:rPr lang="de-DE" b="0" i="0" dirty="0">
                <a:solidFill>
                  <a:srgbClr val="222222"/>
                </a:solidFill>
                <a:effectLst/>
                <a:latin typeface="Mallory"/>
              </a:rPr>
              <a:t>, </a:t>
            </a:r>
            <a:r>
              <a:rPr lang="de-DE" b="0" i="1" dirty="0">
                <a:solidFill>
                  <a:srgbClr val="222222"/>
                </a:solidFill>
                <a:effectLst/>
                <a:latin typeface="Mallory"/>
              </a:rPr>
              <a:t>39</a:t>
            </a:r>
            <a:r>
              <a:rPr lang="de-DE" b="0" i="0" dirty="0">
                <a:solidFill>
                  <a:srgbClr val="222222"/>
                </a:solidFill>
                <a:effectLst/>
                <a:latin typeface="Mallory"/>
              </a:rPr>
              <a:t>, 3168</a:t>
            </a:r>
            <a:endParaRPr lang="en-IN" dirty="0"/>
          </a:p>
        </p:txBody>
      </p:sp>
      <p:pic>
        <p:nvPicPr>
          <p:cNvPr id="2" name="Picture 1">
            <a:extLst>
              <a:ext uri="{FF2B5EF4-FFF2-40B4-BE49-F238E27FC236}">
                <a16:creationId xmlns:a16="http://schemas.microsoft.com/office/drawing/2014/main" id="{7739B0B9-8CD3-49F9-9988-AF2231F0FA84}"/>
              </a:ext>
            </a:extLst>
          </p:cNvPr>
          <p:cNvPicPr>
            <a:picLocks noChangeAspect="1"/>
          </p:cNvPicPr>
          <p:nvPr/>
        </p:nvPicPr>
        <p:blipFill>
          <a:blip r:embed="rId2"/>
          <a:stretch>
            <a:fillRect/>
          </a:stretch>
        </p:blipFill>
        <p:spPr>
          <a:xfrm>
            <a:off x="2148608" y="1436596"/>
            <a:ext cx="6868514" cy="104900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E66B1C50-1F7A-4262-8401-A30F26D58AB3}"/>
              </a:ext>
            </a:extLst>
          </p:cNvPr>
          <p:cNvPicPr>
            <a:picLocks noChangeAspect="1"/>
          </p:cNvPicPr>
          <p:nvPr/>
        </p:nvPicPr>
        <p:blipFill>
          <a:blip r:embed="rId3"/>
          <a:stretch>
            <a:fillRect/>
          </a:stretch>
        </p:blipFill>
        <p:spPr>
          <a:xfrm>
            <a:off x="10804124" y="730931"/>
            <a:ext cx="1111143" cy="1564445"/>
          </a:xfrm>
          <a:prstGeom prst="rect">
            <a:avLst/>
          </a:prstGeom>
        </p:spPr>
      </p:pic>
      <p:sp>
        <p:nvSpPr>
          <p:cNvPr id="11" name="TextBox 10">
            <a:extLst>
              <a:ext uri="{FF2B5EF4-FFF2-40B4-BE49-F238E27FC236}">
                <a16:creationId xmlns:a16="http://schemas.microsoft.com/office/drawing/2014/main" id="{A90EC9BF-01D6-4644-9FA6-91EF29E23876}"/>
              </a:ext>
            </a:extLst>
          </p:cNvPr>
          <p:cNvSpPr txBox="1"/>
          <p:nvPr/>
        </p:nvSpPr>
        <p:spPr>
          <a:xfrm>
            <a:off x="10557375" y="2295376"/>
            <a:ext cx="1604639" cy="646331"/>
          </a:xfrm>
          <a:prstGeom prst="rect">
            <a:avLst/>
          </a:prstGeom>
          <a:noFill/>
        </p:spPr>
        <p:txBody>
          <a:bodyPr wrap="square">
            <a:spAutoFit/>
          </a:bodyPr>
          <a:lstStyle/>
          <a:p>
            <a:pPr algn="ctr"/>
            <a:r>
              <a:rPr lang="en-IN" i="0" dirty="0">
                <a:solidFill>
                  <a:srgbClr val="1C1D1E"/>
                </a:solidFill>
                <a:effectLst/>
                <a:latin typeface="Open Sans" panose="020B0606030504020204" pitchFamily="34" charset="0"/>
              </a:rPr>
              <a:t>Ivar K. </a:t>
            </a:r>
            <a:r>
              <a:rPr lang="en-IN" i="0" dirty="0" err="1">
                <a:solidFill>
                  <a:srgbClr val="1C1D1E"/>
                </a:solidFill>
                <a:effectLst/>
                <a:latin typeface="Open Sans" panose="020B0606030504020204" pitchFamily="34" charset="0"/>
              </a:rPr>
              <a:t>Ugi</a:t>
            </a:r>
            <a:r>
              <a:rPr lang="en-IN" i="0" dirty="0">
                <a:solidFill>
                  <a:srgbClr val="1C1D1E"/>
                </a:solidFill>
                <a:effectLst/>
                <a:latin typeface="Open Sans" panose="020B0606030504020204" pitchFamily="34" charset="0"/>
              </a:rPr>
              <a:t> (1930–2005)</a:t>
            </a:r>
          </a:p>
        </p:txBody>
      </p:sp>
      <p:sp>
        <p:nvSpPr>
          <p:cNvPr id="17" name="TextBox 16">
            <a:extLst>
              <a:ext uri="{FF2B5EF4-FFF2-40B4-BE49-F238E27FC236}">
                <a16:creationId xmlns:a16="http://schemas.microsoft.com/office/drawing/2014/main" id="{15B052CD-BAA7-4098-B927-51510DB51744}"/>
              </a:ext>
            </a:extLst>
          </p:cNvPr>
          <p:cNvSpPr txBox="1"/>
          <p:nvPr/>
        </p:nvSpPr>
        <p:spPr>
          <a:xfrm>
            <a:off x="167536" y="2498708"/>
            <a:ext cx="10636588" cy="400110"/>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t>Highly versatile methods to make peptides and </a:t>
            </a:r>
            <a:r>
              <a:rPr lang="en-US" sz="2000" dirty="0" err="1"/>
              <a:t>peptoids</a:t>
            </a:r>
            <a:r>
              <a:rPr lang="en-US" sz="2000" dirty="0"/>
              <a:t>.</a:t>
            </a:r>
            <a:endParaRPr lang="en-IN" sz="2000" dirty="0"/>
          </a:p>
        </p:txBody>
      </p:sp>
      <p:sp>
        <p:nvSpPr>
          <p:cNvPr id="18" name="TextBox 17">
            <a:extLst>
              <a:ext uri="{FF2B5EF4-FFF2-40B4-BE49-F238E27FC236}">
                <a16:creationId xmlns:a16="http://schemas.microsoft.com/office/drawing/2014/main" id="{4F00A7B5-8424-4787-835E-DDF2A65CCF96}"/>
              </a:ext>
            </a:extLst>
          </p:cNvPr>
          <p:cNvSpPr txBox="1"/>
          <p:nvPr/>
        </p:nvSpPr>
        <p:spPr>
          <a:xfrm>
            <a:off x="167536" y="2898818"/>
            <a:ext cx="6094520" cy="369332"/>
          </a:xfrm>
          <a:prstGeom prst="rect">
            <a:avLst/>
          </a:prstGeom>
          <a:noFill/>
        </p:spPr>
        <p:txBody>
          <a:bodyPr wrap="square">
            <a:spAutoFit/>
          </a:bodyPr>
          <a:lstStyle/>
          <a:p>
            <a:pPr marL="285750" indent="-285750">
              <a:buFont typeface="Arial" panose="020B0604020202020204" pitchFamily="34" charset="0"/>
              <a:buChar char="•"/>
            </a:pPr>
            <a:r>
              <a:rPr lang="en-IN" b="0" i="0" dirty="0">
                <a:effectLst/>
                <a:latin typeface="Arial" panose="020B0604020202020204" pitchFamily="34" charset="0"/>
              </a:rPr>
              <a:t>building up large compound libraries. </a:t>
            </a:r>
            <a:endParaRPr lang="en-IN" dirty="0"/>
          </a:p>
        </p:txBody>
      </p:sp>
      <p:pic>
        <p:nvPicPr>
          <p:cNvPr id="20" name="Picture 19">
            <a:extLst>
              <a:ext uri="{FF2B5EF4-FFF2-40B4-BE49-F238E27FC236}">
                <a16:creationId xmlns:a16="http://schemas.microsoft.com/office/drawing/2014/main" id="{F80EFD98-D966-4CDD-AE8D-A85A88A37E8D}"/>
              </a:ext>
            </a:extLst>
          </p:cNvPr>
          <p:cNvPicPr>
            <a:picLocks noChangeAspect="1"/>
          </p:cNvPicPr>
          <p:nvPr/>
        </p:nvPicPr>
        <p:blipFill>
          <a:blip r:embed="rId4"/>
          <a:stretch>
            <a:fillRect/>
          </a:stretch>
        </p:blipFill>
        <p:spPr>
          <a:xfrm>
            <a:off x="1800993" y="3308906"/>
            <a:ext cx="6215543" cy="1056157"/>
          </a:xfrm>
          <a:prstGeom prst="rect">
            <a:avLst/>
          </a:prstGeom>
          <a:ln>
            <a:noFill/>
          </a:ln>
          <a:effectLst>
            <a:outerShdw blurRad="292100" dist="139700" dir="2700000" algn="tl" rotWithShape="0">
              <a:srgbClr val="333333">
                <a:alpha val="65000"/>
              </a:srgbClr>
            </a:outerShdw>
          </a:effectLst>
        </p:spPr>
      </p:pic>
      <p:sp>
        <p:nvSpPr>
          <p:cNvPr id="22" name="TextBox 21">
            <a:extLst>
              <a:ext uri="{FF2B5EF4-FFF2-40B4-BE49-F238E27FC236}">
                <a16:creationId xmlns:a16="http://schemas.microsoft.com/office/drawing/2014/main" id="{9C0F412F-5943-4987-B92B-5380B4C4C937}"/>
              </a:ext>
            </a:extLst>
          </p:cNvPr>
          <p:cNvSpPr txBox="1"/>
          <p:nvPr/>
        </p:nvSpPr>
        <p:spPr>
          <a:xfrm>
            <a:off x="8444883" y="3390435"/>
            <a:ext cx="3193742" cy="369332"/>
          </a:xfrm>
          <a:prstGeom prst="rect">
            <a:avLst/>
          </a:prstGeom>
          <a:noFill/>
        </p:spPr>
        <p:txBody>
          <a:bodyPr wrap="square">
            <a:spAutoFit/>
          </a:bodyPr>
          <a:lstStyle/>
          <a:p>
            <a:r>
              <a:rPr lang="en-IN" b="0" i="0" dirty="0" err="1">
                <a:effectLst/>
                <a:latin typeface="Arial" panose="020B0604020202020204" pitchFamily="34" charset="0"/>
              </a:rPr>
              <a:t>Xylocain</a:t>
            </a:r>
            <a:r>
              <a:rPr lang="en-IN" b="0" i="0" dirty="0">
                <a:effectLst/>
                <a:latin typeface="Arial" panose="020B0604020202020204" pitchFamily="34" charset="0"/>
              </a:rPr>
              <a:t>, local anaesthetic</a:t>
            </a:r>
            <a:endParaRPr lang="en-IN" dirty="0"/>
          </a:p>
        </p:txBody>
      </p:sp>
      <p:sp>
        <p:nvSpPr>
          <p:cNvPr id="24" name="TextBox 23">
            <a:extLst>
              <a:ext uri="{FF2B5EF4-FFF2-40B4-BE49-F238E27FC236}">
                <a16:creationId xmlns:a16="http://schemas.microsoft.com/office/drawing/2014/main" id="{8BFFE879-F143-41B8-9AE0-E6A196A6E952}"/>
              </a:ext>
            </a:extLst>
          </p:cNvPr>
          <p:cNvSpPr txBox="1"/>
          <p:nvPr/>
        </p:nvSpPr>
        <p:spPr>
          <a:xfrm>
            <a:off x="8444883" y="3772870"/>
            <a:ext cx="3282519" cy="369332"/>
          </a:xfrm>
          <a:prstGeom prst="rect">
            <a:avLst/>
          </a:prstGeom>
          <a:noFill/>
        </p:spPr>
        <p:txBody>
          <a:bodyPr wrap="square">
            <a:spAutoFit/>
          </a:bodyPr>
          <a:lstStyle/>
          <a:p>
            <a:r>
              <a:rPr lang="en-IN" b="0" i="0" dirty="0">
                <a:effectLst/>
                <a:latin typeface="Arial" panose="020B0604020202020204" pitchFamily="34" charset="0"/>
              </a:rPr>
              <a:t>A.B. Astra, Swedish company</a:t>
            </a:r>
            <a:endParaRPr lang="en-IN" dirty="0"/>
          </a:p>
        </p:txBody>
      </p:sp>
      <p:pic>
        <p:nvPicPr>
          <p:cNvPr id="26" name="Picture 25">
            <a:extLst>
              <a:ext uri="{FF2B5EF4-FFF2-40B4-BE49-F238E27FC236}">
                <a16:creationId xmlns:a16="http://schemas.microsoft.com/office/drawing/2014/main" id="{B9E39812-FD07-42E6-8E16-D78DA2EB663E}"/>
              </a:ext>
            </a:extLst>
          </p:cNvPr>
          <p:cNvPicPr>
            <a:picLocks noChangeAspect="1"/>
          </p:cNvPicPr>
          <p:nvPr/>
        </p:nvPicPr>
        <p:blipFill>
          <a:blip r:embed="rId5"/>
          <a:stretch>
            <a:fillRect/>
          </a:stretch>
        </p:blipFill>
        <p:spPr>
          <a:xfrm>
            <a:off x="1441648" y="4660334"/>
            <a:ext cx="4625205" cy="1781678"/>
          </a:xfrm>
          <a:prstGeom prst="rect">
            <a:avLst/>
          </a:prstGeom>
        </p:spPr>
      </p:pic>
      <p:pic>
        <p:nvPicPr>
          <p:cNvPr id="28" name="Picture 27">
            <a:extLst>
              <a:ext uri="{FF2B5EF4-FFF2-40B4-BE49-F238E27FC236}">
                <a16:creationId xmlns:a16="http://schemas.microsoft.com/office/drawing/2014/main" id="{2608E065-7790-4FD4-B9E0-CF7CE293776A}"/>
              </a:ext>
            </a:extLst>
          </p:cNvPr>
          <p:cNvPicPr>
            <a:picLocks noChangeAspect="1"/>
          </p:cNvPicPr>
          <p:nvPr/>
        </p:nvPicPr>
        <p:blipFill>
          <a:blip r:embed="rId6"/>
          <a:stretch>
            <a:fillRect/>
          </a:stretch>
        </p:blipFill>
        <p:spPr>
          <a:xfrm>
            <a:off x="6096000" y="4662497"/>
            <a:ext cx="4141083" cy="1806294"/>
          </a:xfrm>
          <a:prstGeom prst="rect">
            <a:avLst/>
          </a:prstGeom>
        </p:spPr>
      </p:pic>
    </p:spTree>
    <p:extLst>
      <p:ext uri="{BB962C8B-B14F-4D97-AF65-F5344CB8AC3E}">
        <p14:creationId xmlns:p14="http://schemas.microsoft.com/office/powerpoint/2010/main" val="179191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19" presetID="10"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1852B4B-9022-47C6-B197-4FB61586362D}"/>
              </a:ext>
            </a:extLst>
          </p:cNvPr>
          <p:cNvPicPr>
            <a:picLocks noChangeAspect="1"/>
          </p:cNvPicPr>
          <p:nvPr/>
        </p:nvPicPr>
        <p:blipFill rotWithShape="1">
          <a:blip r:embed="rId2"/>
          <a:srcRect t="62328"/>
          <a:stretch/>
        </p:blipFill>
        <p:spPr>
          <a:xfrm>
            <a:off x="0" y="2024009"/>
            <a:ext cx="6439799" cy="1927186"/>
          </a:xfrm>
          <a:prstGeom prst="rect">
            <a:avLst/>
          </a:prstGeom>
        </p:spPr>
      </p:pic>
      <p:sp>
        <p:nvSpPr>
          <p:cNvPr id="5" name="TextBox 4">
            <a:extLst>
              <a:ext uri="{FF2B5EF4-FFF2-40B4-BE49-F238E27FC236}">
                <a16:creationId xmlns:a16="http://schemas.microsoft.com/office/drawing/2014/main" id="{9980852F-04C2-45CB-95DE-C333A27326CC}"/>
              </a:ext>
            </a:extLst>
          </p:cNvPr>
          <p:cNvSpPr txBox="1"/>
          <p:nvPr/>
        </p:nvSpPr>
        <p:spPr>
          <a:xfrm>
            <a:off x="4398419" y="129238"/>
            <a:ext cx="3431068" cy="461665"/>
          </a:xfrm>
          <a:prstGeom prst="rect">
            <a:avLst/>
          </a:prstGeom>
          <a:noFill/>
        </p:spPr>
        <p:txBody>
          <a:bodyPr wrap="none" rtlCol="0">
            <a:spAutoFit/>
          </a:bodyPr>
          <a:lstStyle/>
          <a:p>
            <a:pPr algn="ctr"/>
            <a:r>
              <a:rPr lang="en-US" sz="2400" b="1" dirty="0" err="1">
                <a:effectLst>
                  <a:outerShdw blurRad="38100" dist="38100" dir="2700000" algn="tl">
                    <a:srgbClr val="000000">
                      <a:alpha val="43137"/>
                    </a:srgbClr>
                  </a:outerShdw>
                </a:effectLst>
              </a:rPr>
              <a:t>Ugi</a:t>
            </a:r>
            <a:r>
              <a:rPr lang="en-US" sz="2400" b="1" dirty="0">
                <a:effectLst>
                  <a:outerShdw blurRad="38100" dist="38100" dir="2700000" algn="tl">
                    <a:srgbClr val="000000">
                      <a:alpha val="43137"/>
                    </a:srgbClr>
                  </a:outerShdw>
                </a:effectLst>
              </a:rPr>
              <a:t> Reaction: Mechanism</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pic>
        <p:nvPicPr>
          <p:cNvPr id="3" name="Picture 2">
            <a:extLst>
              <a:ext uri="{FF2B5EF4-FFF2-40B4-BE49-F238E27FC236}">
                <a16:creationId xmlns:a16="http://schemas.microsoft.com/office/drawing/2014/main" id="{8F3FF13E-20BB-47DD-9300-9D63667EE67B}"/>
              </a:ext>
            </a:extLst>
          </p:cNvPr>
          <p:cNvPicPr>
            <a:picLocks noChangeAspect="1"/>
          </p:cNvPicPr>
          <p:nvPr/>
        </p:nvPicPr>
        <p:blipFill rotWithShape="1">
          <a:blip r:embed="rId2"/>
          <a:srcRect l="2206" r="3871" b="75281"/>
          <a:stretch/>
        </p:blipFill>
        <p:spPr>
          <a:xfrm>
            <a:off x="142043" y="828690"/>
            <a:ext cx="6048478" cy="1264504"/>
          </a:xfrm>
          <a:prstGeom prst="rect">
            <a:avLst/>
          </a:prstGeom>
        </p:spPr>
      </p:pic>
      <p:pic>
        <p:nvPicPr>
          <p:cNvPr id="14" name="Picture 13">
            <a:extLst>
              <a:ext uri="{FF2B5EF4-FFF2-40B4-BE49-F238E27FC236}">
                <a16:creationId xmlns:a16="http://schemas.microsoft.com/office/drawing/2014/main" id="{E8E404EF-FF0E-4992-B5DD-B1AE0EEB7DFE}"/>
              </a:ext>
            </a:extLst>
          </p:cNvPr>
          <p:cNvPicPr>
            <a:picLocks noChangeAspect="1"/>
          </p:cNvPicPr>
          <p:nvPr/>
        </p:nvPicPr>
        <p:blipFill rotWithShape="1">
          <a:blip r:embed="rId2"/>
          <a:srcRect l="2206" t="24469" r="3871" b="44391"/>
          <a:stretch/>
        </p:blipFill>
        <p:spPr>
          <a:xfrm>
            <a:off x="6143522" y="828690"/>
            <a:ext cx="6048478" cy="1592978"/>
          </a:xfrm>
          <a:prstGeom prst="rect">
            <a:avLst/>
          </a:prstGeom>
        </p:spPr>
      </p:pic>
      <p:sp>
        <p:nvSpPr>
          <p:cNvPr id="11" name="TextBox 10">
            <a:extLst>
              <a:ext uri="{FF2B5EF4-FFF2-40B4-BE49-F238E27FC236}">
                <a16:creationId xmlns:a16="http://schemas.microsoft.com/office/drawing/2014/main" id="{DD851641-C58B-4694-BC16-F3B09AB77875}"/>
              </a:ext>
            </a:extLst>
          </p:cNvPr>
          <p:cNvSpPr txBox="1"/>
          <p:nvPr/>
        </p:nvSpPr>
        <p:spPr>
          <a:xfrm>
            <a:off x="142043" y="723455"/>
            <a:ext cx="6094520" cy="369332"/>
          </a:xfrm>
          <a:prstGeom prst="rect">
            <a:avLst/>
          </a:prstGeom>
          <a:noFill/>
        </p:spPr>
        <p:txBody>
          <a:bodyPr wrap="square">
            <a:spAutoFit/>
          </a:bodyPr>
          <a:lstStyle/>
          <a:p>
            <a:r>
              <a:rPr lang="en-US" sz="1800" b="1" dirty="0" err="1">
                <a:effectLst>
                  <a:outerShdw blurRad="38100" dist="38100" dir="2700000" algn="tl">
                    <a:srgbClr val="000000">
                      <a:alpha val="43137"/>
                    </a:srgbClr>
                  </a:outerShdw>
                </a:effectLst>
              </a:rPr>
              <a:t>Ugi</a:t>
            </a:r>
            <a:r>
              <a:rPr lang="en-US" sz="1800" b="1" dirty="0">
                <a:effectLst>
                  <a:outerShdw blurRad="38100" dist="38100" dir="2700000" algn="tl">
                    <a:srgbClr val="000000">
                      <a:alpha val="43137"/>
                    </a:srgbClr>
                  </a:outerShdw>
                </a:effectLst>
              </a:rPr>
              <a:t> Reaction: 4 component</a:t>
            </a:r>
            <a:endParaRPr lang="en-IN" sz="1800" b="1" dirty="0">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id="{45E0593E-9AA0-4ACD-AB67-6A4060C5E7E7}"/>
              </a:ext>
            </a:extLst>
          </p:cNvPr>
          <p:cNvSpPr txBox="1"/>
          <p:nvPr/>
        </p:nvSpPr>
        <p:spPr>
          <a:xfrm>
            <a:off x="142043" y="3951195"/>
            <a:ext cx="6094520" cy="369332"/>
          </a:xfrm>
          <a:prstGeom prst="rect">
            <a:avLst/>
          </a:prstGeom>
          <a:noFill/>
        </p:spPr>
        <p:txBody>
          <a:bodyPr wrap="square">
            <a:spAutoFit/>
          </a:bodyPr>
          <a:lstStyle/>
          <a:p>
            <a:r>
              <a:rPr lang="en-US" sz="1800" b="1" dirty="0" err="1">
                <a:effectLst>
                  <a:outerShdw blurRad="38100" dist="38100" dir="2700000" algn="tl">
                    <a:srgbClr val="000000">
                      <a:alpha val="43137"/>
                    </a:srgbClr>
                  </a:outerShdw>
                </a:effectLst>
              </a:rPr>
              <a:t>Ugi</a:t>
            </a:r>
            <a:r>
              <a:rPr lang="en-US" sz="1800" b="1" dirty="0">
                <a:effectLst>
                  <a:outerShdw blurRad="38100" dist="38100" dir="2700000" algn="tl">
                    <a:srgbClr val="000000">
                      <a:alpha val="43137"/>
                    </a:srgbClr>
                  </a:outerShdw>
                </a:effectLst>
              </a:rPr>
              <a:t> Reaction: 3 component</a:t>
            </a:r>
            <a:endParaRPr lang="en-IN" sz="1800" b="1" dirty="0">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435ED0B7-1826-461F-9004-FBE7042CDE42}"/>
              </a:ext>
            </a:extLst>
          </p:cNvPr>
          <p:cNvPicPr>
            <a:picLocks noChangeAspect="1"/>
          </p:cNvPicPr>
          <p:nvPr/>
        </p:nvPicPr>
        <p:blipFill rotWithShape="1">
          <a:blip r:embed="rId3"/>
          <a:srcRect l="3594" t="2638" r="2868" b="78996"/>
          <a:stretch/>
        </p:blipFill>
        <p:spPr>
          <a:xfrm>
            <a:off x="142043" y="4320527"/>
            <a:ext cx="6005745" cy="783837"/>
          </a:xfrm>
          <a:prstGeom prst="rect">
            <a:avLst/>
          </a:prstGeom>
        </p:spPr>
      </p:pic>
      <p:pic>
        <p:nvPicPr>
          <p:cNvPr id="16" name="Picture 15">
            <a:extLst>
              <a:ext uri="{FF2B5EF4-FFF2-40B4-BE49-F238E27FC236}">
                <a16:creationId xmlns:a16="http://schemas.microsoft.com/office/drawing/2014/main" id="{87B49034-5AF5-409E-8FA7-7FE6CBCCDFBC}"/>
              </a:ext>
            </a:extLst>
          </p:cNvPr>
          <p:cNvPicPr>
            <a:picLocks noChangeAspect="1"/>
          </p:cNvPicPr>
          <p:nvPr/>
        </p:nvPicPr>
        <p:blipFill rotWithShape="1">
          <a:blip r:embed="rId3"/>
          <a:srcRect l="9895" t="23016" r="8528" b="43077"/>
          <a:stretch/>
        </p:blipFill>
        <p:spPr>
          <a:xfrm>
            <a:off x="6347534" y="4072327"/>
            <a:ext cx="5237826" cy="1447061"/>
          </a:xfrm>
          <a:prstGeom prst="rect">
            <a:avLst/>
          </a:prstGeom>
        </p:spPr>
      </p:pic>
      <p:pic>
        <p:nvPicPr>
          <p:cNvPr id="17" name="Picture 16">
            <a:extLst>
              <a:ext uri="{FF2B5EF4-FFF2-40B4-BE49-F238E27FC236}">
                <a16:creationId xmlns:a16="http://schemas.microsoft.com/office/drawing/2014/main" id="{674308CA-F2C7-4111-899B-B999EFA2EB5C}"/>
              </a:ext>
            </a:extLst>
          </p:cNvPr>
          <p:cNvPicPr>
            <a:picLocks noChangeAspect="1"/>
          </p:cNvPicPr>
          <p:nvPr/>
        </p:nvPicPr>
        <p:blipFill rotWithShape="1">
          <a:blip r:embed="rId3"/>
          <a:srcRect t="63372"/>
          <a:stretch/>
        </p:blipFill>
        <p:spPr>
          <a:xfrm>
            <a:off x="515290" y="5271188"/>
            <a:ext cx="6420746" cy="1563225"/>
          </a:xfrm>
          <a:prstGeom prst="rect">
            <a:avLst/>
          </a:prstGeom>
        </p:spPr>
      </p:pic>
    </p:spTree>
    <p:extLst>
      <p:ext uri="{BB962C8B-B14F-4D97-AF65-F5344CB8AC3E}">
        <p14:creationId xmlns:p14="http://schemas.microsoft.com/office/powerpoint/2010/main" val="350055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80852F-04C2-45CB-95DE-C333A27326CC}"/>
              </a:ext>
            </a:extLst>
          </p:cNvPr>
          <p:cNvSpPr txBox="1"/>
          <p:nvPr/>
        </p:nvSpPr>
        <p:spPr>
          <a:xfrm>
            <a:off x="5217554" y="129238"/>
            <a:ext cx="1792798" cy="461665"/>
          </a:xfrm>
          <a:prstGeom prst="rect">
            <a:avLst/>
          </a:prstGeom>
          <a:noFill/>
        </p:spPr>
        <p:txBody>
          <a:bodyPr wrap="none" rtlCol="0">
            <a:spAutoFit/>
          </a:bodyPr>
          <a:lstStyle/>
          <a:p>
            <a:pPr algn="ctr"/>
            <a:r>
              <a:rPr lang="en-US" sz="2400" b="1" dirty="0" err="1">
                <a:effectLst>
                  <a:outerShdw blurRad="38100" dist="38100" dir="2700000" algn="tl">
                    <a:srgbClr val="000000">
                      <a:alpha val="43137"/>
                    </a:srgbClr>
                  </a:outerShdw>
                </a:effectLst>
              </a:rPr>
              <a:t>Ugi</a:t>
            </a:r>
            <a:r>
              <a:rPr lang="en-US" sz="2400" b="1" dirty="0">
                <a:effectLst>
                  <a:outerShdw blurRad="38100" dist="38100" dir="2700000" algn="tl">
                    <a:srgbClr val="000000">
                      <a:alpha val="43137"/>
                    </a:srgbClr>
                  </a:outerShdw>
                </a:effectLst>
              </a:rPr>
              <a:t> Reaction</a:t>
            </a:r>
            <a:endParaRPr lang="en-IN" sz="2400" b="1" dirty="0">
              <a:effectLst>
                <a:outerShdw blurRad="38100" dist="38100" dir="2700000" algn="tl">
                  <a:srgbClr val="000000">
                    <a:alpha val="43137"/>
                  </a:srgbClr>
                </a:outerShdw>
              </a:effectLst>
            </a:endParaRPr>
          </a:p>
        </p:txBody>
      </p:sp>
      <p:cxnSp>
        <p:nvCxnSpPr>
          <p:cNvPr id="6" name="Straight Connector 5">
            <a:extLst>
              <a:ext uri="{FF2B5EF4-FFF2-40B4-BE49-F238E27FC236}">
                <a16:creationId xmlns:a16="http://schemas.microsoft.com/office/drawing/2014/main" id="{CE65F0FA-8712-4EFA-A274-A6C418846983}"/>
              </a:ext>
            </a:extLst>
          </p:cNvPr>
          <p:cNvCxnSpPr/>
          <p:nvPr/>
        </p:nvCxnSpPr>
        <p:spPr>
          <a:xfrm>
            <a:off x="340660" y="590903"/>
            <a:ext cx="11546541" cy="0"/>
          </a:xfrm>
          <a:prstGeom prst="line">
            <a:avLst/>
          </a:prstGeom>
          <a:ln w="53975">
            <a:gradFill flip="none" rotWithShape="1">
              <a:gsLst>
                <a:gs pos="11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headEnd type="oval"/>
            <a:tailEnd type="none"/>
          </a:ln>
        </p:spPr>
        <p:style>
          <a:lnRef idx="3">
            <a:schemeClr val="accent6"/>
          </a:lnRef>
          <a:fillRef idx="0">
            <a:schemeClr val="accent6"/>
          </a:fillRef>
          <a:effectRef idx="2">
            <a:schemeClr val="accent6"/>
          </a:effectRef>
          <a:fontRef idx="minor">
            <a:schemeClr val="tx1"/>
          </a:fontRef>
        </p:style>
      </p:cxnSp>
      <p:sp>
        <p:nvSpPr>
          <p:cNvPr id="19" name="TextBox 18">
            <a:extLst>
              <a:ext uri="{FF2B5EF4-FFF2-40B4-BE49-F238E27FC236}">
                <a16:creationId xmlns:a16="http://schemas.microsoft.com/office/drawing/2014/main" id="{CAF3F8D7-6864-4A73-8C15-844EC1A82FE4}"/>
              </a:ext>
            </a:extLst>
          </p:cNvPr>
          <p:cNvSpPr txBox="1"/>
          <p:nvPr/>
        </p:nvSpPr>
        <p:spPr>
          <a:xfrm>
            <a:off x="314682" y="652458"/>
            <a:ext cx="6094520" cy="400110"/>
          </a:xfrm>
          <a:prstGeom prst="rect">
            <a:avLst/>
          </a:prstGeom>
          <a:noFill/>
        </p:spPr>
        <p:txBody>
          <a:bodyPr wrap="square">
            <a:spAutoFit/>
          </a:bodyPr>
          <a:lstStyle/>
          <a:p>
            <a:r>
              <a:rPr lang="en-US" sz="2000" b="1" dirty="0"/>
              <a:t>Generally Observed Properties of the </a:t>
            </a:r>
            <a:r>
              <a:rPr lang="en-US" sz="2000" b="1" dirty="0" err="1"/>
              <a:t>Ugi</a:t>
            </a:r>
            <a:r>
              <a:rPr lang="en-US" sz="2000" b="1" dirty="0"/>
              <a:t> Reaction</a:t>
            </a:r>
            <a:endParaRPr lang="en-IN" sz="2000" b="1" dirty="0"/>
          </a:p>
        </p:txBody>
      </p:sp>
      <p:sp>
        <p:nvSpPr>
          <p:cNvPr id="21" name="TextBox 20">
            <a:extLst>
              <a:ext uri="{FF2B5EF4-FFF2-40B4-BE49-F238E27FC236}">
                <a16:creationId xmlns:a16="http://schemas.microsoft.com/office/drawing/2014/main" id="{0CAA1C07-3DFA-4614-BA07-5B293DAA1B32}"/>
              </a:ext>
            </a:extLst>
          </p:cNvPr>
          <p:cNvSpPr txBox="1"/>
          <p:nvPr/>
        </p:nvSpPr>
        <p:spPr>
          <a:xfrm>
            <a:off x="340660" y="1052568"/>
            <a:ext cx="11536658" cy="1938992"/>
          </a:xfrm>
          <a:prstGeom prst="rect">
            <a:avLst/>
          </a:prstGeom>
          <a:noFill/>
        </p:spPr>
        <p:txBody>
          <a:bodyPr wrap="square">
            <a:spAutoFit/>
          </a:bodyPr>
          <a:lstStyle/>
          <a:p>
            <a:pPr marL="285750" indent="-285750">
              <a:buFont typeface="Arial" panose="020B0604020202020204" pitchFamily="34" charset="0"/>
              <a:buChar char="•"/>
            </a:pPr>
            <a:r>
              <a:rPr lang="en-US" sz="2000" dirty="0" err="1"/>
              <a:t>Rxn</a:t>
            </a:r>
            <a:r>
              <a:rPr lang="en-US" sz="2000" dirty="0"/>
              <a:t> is exothermic and usually complete in minutes at room temperature </a:t>
            </a:r>
          </a:p>
          <a:p>
            <a:pPr marL="285750" indent="-285750">
              <a:buFont typeface="Arial" panose="020B0604020202020204" pitchFamily="34" charset="0"/>
              <a:buChar char="•"/>
            </a:pPr>
            <a:r>
              <a:rPr lang="en-US" sz="2000" dirty="0"/>
              <a:t>Aprotic, polar solvents are best, though the low molecular weight alcohols have been used </a:t>
            </a:r>
          </a:p>
          <a:p>
            <a:pPr marL="285750" indent="-285750">
              <a:buFont typeface="Arial" panose="020B0604020202020204" pitchFamily="34" charset="0"/>
              <a:buChar char="•"/>
            </a:pPr>
            <a:r>
              <a:rPr lang="en-US" sz="2000" dirty="0"/>
              <a:t>Can be performed in biphasic media </a:t>
            </a:r>
          </a:p>
          <a:p>
            <a:pPr marL="285750" indent="-285750">
              <a:buFont typeface="Arial" panose="020B0604020202020204" pitchFamily="34" charset="0"/>
              <a:buChar char="•"/>
            </a:pPr>
            <a:r>
              <a:rPr lang="en-US" sz="2000" dirty="0"/>
              <a:t>High (0.5-2M) reactant concentrations are best </a:t>
            </a:r>
          </a:p>
          <a:p>
            <a:pPr marL="285750" indent="-285750">
              <a:buFont typeface="Arial" panose="020B0604020202020204" pitchFamily="34" charset="0"/>
              <a:buChar char="•"/>
            </a:pPr>
            <a:r>
              <a:rPr lang="en-US" sz="2000" dirty="0"/>
              <a:t>By virtue of the mechanism, Lewis acids can accelerate the reaction </a:t>
            </a:r>
          </a:p>
          <a:p>
            <a:pPr marL="285750" indent="-285750">
              <a:buFont typeface="Arial" panose="020B0604020202020204" pitchFamily="34" charset="0"/>
              <a:buChar char="•"/>
            </a:pPr>
            <a:r>
              <a:rPr lang="en-US" sz="2000" dirty="0" err="1"/>
              <a:t>Precondensation</a:t>
            </a:r>
            <a:r>
              <a:rPr lang="en-US" sz="2000" dirty="0"/>
              <a:t> of the amine and the carbonyl (preformation of the Schiff base) can increase yields.</a:t>
            </a:r>
            <a:endParaRPr lang="en-IN" sz="2000" dirty="0"/>
          </a:p>
        </p:txBody>
      </p:sp>
      <p:sp>
        <p:nvSpPr>
          <p:cNvPr id="11" name="TextBox 10">
            <a:extLst>
              <a:ext uri="{FF2B5EF4-FFF2-40B4-BE49-F238E27FC236}">
                <a16:creationId xmlns:a16="http://schemas.microsoft.com/office/drawing/2014/main" id="{39F42B2A-FFE0-43AA-B312-0CBBF3B9DD11}"/>
              </a:ext>
            </a:extLst>
          </p:cNvPr>
          <p:cNvSpPr txBox="1"/>
          <p:nvPr/>
        </p:nvSpPr>
        <p:spPr>
          <a:xfrm>
            <a:off x="340660" y="3391670"/>
            <a:ext cx="6094520" cy="369332"/>
          </a:xfrm>
          <a:prstGeom prst="rect">
            <a:avLst/>
          </a:prstGeom>
          <a:noFill/>
        </p:spPr>
        <p:txBody>
          <a:bodyPr wrap="square">
            <a:spAutoFit/>
          </a:bodyPr>
          <a:lstStyle/>
          <a:p>
            <a:pPr algn="l"/>
            <a:r>
              <a:rPr lang="en-IN" b="1" i="0" dirty="0">
                <a:solidFill>
                  <a:srgbClr val="000000"/>
                </a:solidFill>
                <a:effectLst/>
                <a:latin typeface="Linux Libertine"/>
              </a:rPr>
              <a:t>Isocyanide</a:t>
            </a:r>
          </a:p>
        </p:txBody>
      </p:sp>
      <p:pic>
        <p:nvPicPr>
          <p:cNvPr id="4" name="Picture 3">
            <a:extLst>
              <a:ext uri="{FF2B5EF4-FFF2-40B4-BE49-F238E27FC236}">
                <a16:creationId xmlns:a16="http://schemas.microsoft.com/office/drawing/2014/main" id="{D2A8F8F0-C211-44B5-A0EA-A9CC8C8905A4}"/>
              </a:ext>
            </a:extLst>
          </p:cNvPr>
          <p:cNvPicPr>
            <a:picLocks noChangeAspect="1"/>
          </p:cNvPicPr>
          <p:nvPr/>
        </p:nvPicPr>
        <p:blipFill>
          <a:blip r:embed="rId2"/>
          <a:stretch>
            <a:fillRect/>
          </a:stretch>
        </p:blipFill>
        <p:spPr>
          <a:xfrm>
            <a:off x="2744170" y="3527639"/>
            <a:ext cx="2105025" cy="466725"/>
          </a:xfrm>
          <a:prstGeom prst="rect">
            <a:avLst/>
          </a:prstGeom>
        </p:spPr>
      </p:pic>
      <p:sp>
        <p:nvSpPr>
          <p:cNvPr id="16" name="TextBox 15">
            <a:extLst>
              <a:ext uri="{FF2B5EF4-FFF2-40B4-BE49-F238E27FC236}">
                <a16:creationId xmlns:a16="http://schemas.microsoft.com/office/drawing/2014/main" id="{02300F2F-9762-4CDC-8DEE-F360B45E967D}"/>
              </a:ext>
            </a:extLst>
          </p:cNvPr>
          <p:cNvSpPr txBox="1"/>
          <p:nvPr/>
        </p:nvSpPr>
        <p:spPr>
          <a:xfrm>
            <a:off x="314682" y="4130333"/>
            <a:ext cx="6094520" cy="400110"/>
          </a:xfrm>
          <a:prstGeom prst="rect">
            <a:avLst/>
          </a:prstGeom>
          <a:noFill/>
        </p:spPr>
        <p:txBody>
          <a:bodyPr wrap="square">
            <a:spAutoFit/>
          </a:bodyPr>
          <a:lstStyle/>
          <a:p>
            <a:pPr marL="285750" indent="-285750">
              <a:buFont typeface="Arial" panose="020B0604020202020204" pitchFamily="34" charset="0"/>
              <a:buChar char="•"/>
            </a:pPr>
            <a:r>
              <a:rPr lang="en-US" sz="2000" dirty="0"/>
              <a:t>Only stable organic functionality with divalent carbon</a:t>
            </a:r>
            <a:endParaRPr lang="en-IN" sz="2000" dirty="0"/>
          </a:p>
        </p:txBody>
      </p:sp>
      <p:sp>
        <p:nvSpPr>
          <p:cNvPr id="17" name="TextBox 16">
            <a:extLst>
              <a:ext uri="{FF2B5EF4-FFF2-40B4-BE49-F238E27FC236}">
                <a16:creationId xmlns:a16="http://schemas.microsoft.com/office/drawing/2014/main" id="{C0C64946-F718-4CD5-90F3-2E811309B680}"/>
              </a:ext>
            </a:extLst>
          </p:cNvPr>
          <p:cNvSpPr txBox="1"/>
          <p:nvPr/>
        </p:nvSpPr>
        <p:spPr>
          <a:xfrm>
            <a:off x="314682" y="4530443"/>
            <a:ext cx="6094520" cy="400110"/>
          </a:xfrm>
          <a:prstGeom prst="rect">
            <a:avLst/>
          </a:prstGeom>
          <a:noFill/>
        </p:spPr>
        <p:txBody>
          <a:bodyPr wrap="square">
            <a:spAutoFit/>
          </a:bodyPr>
          <a:lstStyle/>
          <a:p>
            <a:pPr marL="285750" indent="-285750">
              <a:buFont typeface="Arial" panose="020B0604020202020204" pitchFamily="34" charset="0"/>
              <a:buChar char="•"/>
            </a:pPr>
            <a:r>
              <a:rPr lang="en-US" sz="2000" dirty="0"/>
              <a:t>Found in many natural products</a:t>
            </a:r>
            <a:endParaRPr lang="en-IN" sz="2000" dirty="0"/>
          </a:p>
        </p:txBody>
      </p:sp>
      <p:sp>
        <p:nvSpPr>
          <p:cNvPr id="18" name="TextBox 17">
            <a:extLst>
              <a:ext uri="{FF2B5EF4-FFF2-40B4-BE49-F238E27FC236}">
                <a16:creationId xmlns:a16="http://schemas.microsoft.com/office/drawing/2014/main" id="{CF6271B4-E52C-4717-8314-6A6BEFBF8916}"/>
              </a:ext>
            </a:extLst>
          </p:cNvPr>
          <p:cNvSpPr txBox="1"/>
          <p:nvPr/>
        </p:nvSpPr>
        <p:spPr>
          <a:xfrm>
            <a:off x="314682" y="4948471"/>
            <a:ext cx="11147045" cy="400110"/>
          </a:xfrm>
          <a:prstGeom prst="rect">
            <a:avLst/>
          </a:prstGeom>
          <a:noFill/>
        </p:spPr>
        <p:txBody>
          <a:bodyPr wrap="square">
            <a:spAutoFit/>
          </a:bodyPr>
          <a:lstStyle/>
          <a:p>
            <a:pPr marL="285750" indent="-285750">
              <a:buFont typeface="Arial" panose="020B0604020202020204" pitchFamily="34" charset="0"/>
              <a:buChar char="•"/>
            </a:pPr>
            <a:r>
              <a:rPr lang="en-US" sz="2000" dirty="0"/>
              <a:t>Preparation: Dehydration of N-monosubstituted formamides with phosgene or derivatives thereof</a:t>
            </a:r>
            <a:endParaRPr lang="en-IN" sz="2000" dirty="0"/>
          </a:p>
        </p:txBody>
      </p:sp>
      <p:sp>
        <p:nvSpPr>
          <p:cNvPr id="20" name="TextBox 19">
            <a:extLst>
              <a:ext uri="{FF2B5EF4-FFF2-40B4-BE49-F238E27FC236}">
                <a16:creationId xmlns:a16="http://schemas.microsoft.com/office/drawing/2014/main" id="{5E3E4242-4E27-42E8-925C-B073FA007479}"/>
              </a:ext>
            </a:extLst>
          </p:cNvPr>
          <p:cNvSpPr txBox="1"/>
          <p:nvPr/>
        </p:nvSpPr>
        <p:spPr>
          <a:xfrm>
            <a:off x="314681" y="6205542"/>
            <a:ext cx="11536657" cy="400110"/>
          </a:xfrm>
          <a:prstGeom prst="rect">
            <a:avLst/>
          </a:prstGeom>
          <a:noFill/>
        </p:spPr>
        <p:txBody>
          <a:bodyPr wrap="square">
            <a:spAutoFit/>
          </a:bodyPr>
          <a:lstStyle/>
          <a:p>
            <a:pPr marL="285750" indent="-285750">
              <a:buFont typeface="Arial" panose="020B0604020202020204" pitchFamily="34" charset="0"/>
              <a:buChar char="•"/>
            </a:pPr>
            <a:r>
              <a:rPr lang="en-US" sz="2000" dirty="0"/>
              <a:t>Like carbenes, isocyanides can react with both </a:t>
            </a:r>
            <a:r>
              <a:rPr lang="en-US" sz="2000" dirty="0" err="1"/>
              <a:t>necleophiles</a:t>
            </a:r>
            <a:r>
              <a:rPr lang="en-US" sz="2000" dirty="0"/>
              <a:t> and electrophiles at the same carbon center</a:t>
            </a:r>
            <a:endParaRPr lang="en-IN" sz="2000" dirty="0"/>
          </a:p>
        </p:txBody>
      </p:sp>
    </p:spTree>
    <p:extLst>
      <p:ext uri="{BB962C8B-B14F-4D97-AF65-F5344CB8AC3E}">
        <p14:creationId xmlns:p14="http://schemas.microsoft.com/office/powerpoint/2010/main" val="4188397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1249</TotalTime>
  <Words>962</Words>
  <Application>Microsoft Office PowerPoint</Application>
  <PresentationFormat>Widescreen</PresentationFormat>
  <Paragraphs>79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Linux Libertine</vt:lpstr>
      <vt:lpstr>Mallory</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Biplab Maji</dc:creator>
  <cp:lastModifiedBy>Supratim Banerjee</cp:lastModifiedBy>
  <cp:revision>5</cp:revision>
  <dcterms:created xsi:type="dcterms:W3CDTF">2022-02-04T11:18:02Z</dcterms:created>
  <dcterms:modified xsi:type="dcterms:W3CDTF">2026-03-25T09:50:59Z</dcterms:modified>
</cp:coreProperties>
</file>