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304" r:id="rId3"/>
    <p:sldId id="271" r:id="rId4"/>
    <p:sldId id="305" r:id="rId5"/>
    <p:sldId id="303" r:id="rId6"/>
    <p:sldId id="307" r:id="rId7"/>
    <p:sldId id="306" r:id="rId8"/>
    <p:sldId id="298" r:id="rId9"/>
    <p:sldId id="299" r:id="rId10"/>
    <p:sldId id="300" r:id="rId11"/>
    <p:sldId id="301" r:id="rId12"/>
    <p:sldId id="30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 varScale="1">
        <p:scale>
          <a:sx n="62" d="100"/>
          <a:sy n="62" d="100"/>
        </p:scale>
        <p:origin x="9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F811D-B422-4DAF-ADE1-5EF6B66A1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87BBB-76B9-4323-A9AF-28152CE9B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F917F-A9A5-4458-B8B9-9BC1539EE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26F0A-E07C-4760-A5E0-EE1FA18F6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FFD50-0B66-4CC2-9DDB-9FA09790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71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E10B-98FC-442C-A27C-500997878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D84EA-61AE-46F8-81D8-C0A313DB7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A3A53-F73E-41FE-840B-3B164D7DB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ECE63-B012-467E-97EF-D8BDC886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445CA-8DB3-4552-9DEA-C17F3C3B0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653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679D8-FC3A-4EF4-AC15-754650FB0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5B07C-B254-46D7-A662-09C7F61B3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B3B07-2524-485F-A49F-4B9C0D497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13BDA-926C-4122-9489-9E348B21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31B43-5008-400B-8CD3-90C4FF6A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001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AF260-CFF7-4663-BDFB-EAA205CC9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17F69-C9CA-4984-BBC5-592A56B77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97030-FC96-47C4-8DE5-1F9818846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BEAF8-AC1E-498F-8F1D-AB904C788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8897A-F103-49D1-AC7E-920E625F0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71DAB-847E-4100-A044-3D1A4C89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439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53378-90BC-4EAF-8560-E465243CF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78B35-58C2-4AB5-B94E-AFBBDE43B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F41BD-589A-4E5F-BCCA-D74A83A95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0FACC9-FA2A-4F71-A6ED-680F24718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886B0-559C-4927-BF70-8AC8BCE80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2448BA-C231-4ADB-AFB3-0D3297426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18A73-EBB8-4B80-B859-4854FFD0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B37857-5629-47A1-BB59-66734B6D2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766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34DD-2A10-4B01-8114-E4CD2B1E3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5195A2-B807-4BAA-86CA-F38BD5FEF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3AACAF-BFEB-44A3-AE2F-A017207E4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3F3C6-5C3C-4AF8-BB97-3EDD8B54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144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A709E-65F6-4735-B92E-79F596786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26B408-E30A-48AA-B47B-6E6EBA363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FC13C-71FC-4523-BB15-B5B82EB64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71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A5A56-6FF3-4E8B-8620-57685144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BC959-1AFE-4C98-BC08-9820A5B9D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5B0215-DFE2-4BC9-9933-9255A308C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6D5F2-2AA3-4CB3-85FA-F9E9FD4E6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5ED98-73B7-431C-913A-202F3394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C7F29-85A6-4455-94C0-0341E3AA1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79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CDAB-0D89-4B83-9EB8-70D93674E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8CB30B-C130-4421-B5C4-968DFF1C04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CEECC-3AF3-4D41-8440-C0BB70BC0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39ED2-D0E5-4A44-A493-16B820417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11420-C464-4363-96F0-788E6C8A5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FE2F8-145F-4E97-B84A-3D477442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644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F9F63-02FE-48D6-9911-F854B44C4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F0AF2-D0B6-4F66-A904-F4CBD89F9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39474-A99B-4A79-B30F-61ACA2E04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F22BC-8B80-4941-B1E3-F03DCC83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76B9A-C5F9-4A56-B783-70FA492D2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537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3C45B1-7EFE-4616-A2CA-E37911770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10E37-49C4-442F-A215-C841FB410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2CA8D-D5BB-44F6-85F3-803656861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E51D-7690-4A1A-BA55-517A1129D5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2719C-4560-436E-A6CE-FD40841C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295B8-1656-40D0-9FCB-1BDDFD60A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06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82DFDF-FBB9-4DD0-B773-040E0BA6F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96BC4-5D15-4282-B359-8957C98B3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8A085-B615-479A-BB7D-939C1C509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2E51D-7690-4A1A-BA55-517A1129D5F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78B18-8761-42AE-98BB-07D4AF4F4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8E645-DBB5-4C82-A4FD-C826BBCE1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D59B8-DAB9-4B48-97D2-B2FF68692E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69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309999" y="514917"/>
            <a:ext cx="1141686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CH4203: Organic Synthesis Laboratory</a:t>
            </a:r>
            <a:endParaRPr lang="en-IN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----------------------------------------------------------------------------------------------</a:t>
            </a:r>
            <a:endParaRPr lang="en-IN" sz="2800" dirty="0">
              <a:solidFill>
                <a:srgbClr val="0033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Expt. No. </a:t>
            </a:r>
            <a:r>
              <a:rPr lang="en-IN" sz="2800" b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7:</a:t>
            </a:r>
            <a:r>
              <a:rPr lang="en-IN" sz="280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8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Synthesis of </a:t>
            </a:r>
            <a:r>
              <a:rPr lang="en-IN" sz="28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Organocatalyst</a:t>
            </a:r>
            <a:r>
              <a:rPr lang="en-IN" sz="28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Based on Triazole Scaffolds</a:t>
            </a:r>
          </a:p>
          <a:p>
            <a:pPr algn="ctr"/>
            <a:r>
              <a:rPr lang="en-US" sz="28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endParaRPr lang="en-IN" sz="2800" b="1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8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IN" sz="28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rganocatalytic</a:t>
            </a:r>
            <a:r>
              <a:rPr lang="en-IN" sz="28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Asymmetric Michael Addition of Cyclohexanone with </a:t>
            </a:r>
            <a:r>
              <a:rPr lang="en-IN" sz="2800" b="1" dirty="0">
                <a:solidFill>
                  <a:srgbClr val="0000CC"/>
                </a:solidFill>
                <a:latin typeface="Symbol" panose="05050102010706020507" pitchFamily="18" charset="2"/>
                <a:cs typeface="Arial" panose="020B0604020202020204" pitchFamily="34" charset="0"/>
              </a:rPr>
              <a:t>b-</a:t>
            </a:r>
            <a:r>
              <a:rPr lang="en-IN" sz="28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Nitrostyrene</a:t>
            </a:r>
            <a:endParaRPr lang="en-IN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dirty="0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Instructor: </a:t>
            </a:r>
            <a:r>
              <a:rPr lang="en-IN" sz="2800" dirty="0" err="1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sz="2800" dirty="0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Alakesh Bisai</a:t>
            </a:r>
          </a:p>
          <a:p>
            <a:pPr algn="ctr"/>
            <a:r>
              <a:rPr lang="en-IN" sz="2800" dirty="0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 of Chemistry</a:t>
            </a:r>
          </a:p>
          <a:p>
            <a:pPr algn="ctr"/>
            <a:r>
              <a:rPr lang="en-IN" sz="2800" dirty="0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Chemical Sciences</a:t>
            </a:r>
          </a:p>
          <a:p>
            <a:pPr algn="ctr"/>
            <a:endParaRPr lang="en-IN" sz="2800" dirty="0">
              <a:solidFill>
                <a:srgbClr val="0033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94911" y="187286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16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470777" y="1118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Conjugate Addition: Michael Addition</a:t>
            </a:r>
          </a:p>
        </p:txBody>
      </p:sp>
      <p:sp>
        <p:nvSpPr>
          <p:cNvPr id="2" name="Rectangle 37">
            <a:extLst>
              <a:ext uri="{FF2B5EF4-FFF2-40B4-BE49-F238E27FC236}">
                <a16:creationId xmlns:a16="http://schemas.microsoft.com/office/drawing/2014/main" id="{13155F60-448A-431A-8BC8-01C88D527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14287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38">
            <a:extLst>
              <a:ext uri="{FF2B5EF4-FFF2-40B4-BE49-F238E27FC236}">
                <a16:creationId xmlns:a16="http://schemas.microsoft.com/office/drawing/2014/main" id="{624EE84F-91B5-4F45-9228-C00BA6667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D3DD7E3-66B3-4203-8B89-F94892D38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679" y="1264041"/>
            <a:ext cx="9669005" cy="476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899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470777" y="1118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Mechanism: Michael Reaction</a:t>
            </a:r>
          </a:p>
        </p:txBody>
      </p:sp>
      <p:sp>
        <p:nvSpPr>
          <p:cNvPr id="5" name="Rectangle 38">
            <a:extLst>
              <a:ext uri="{FF2B5EF4-FFF2-40B4-BE49-F238E27FC236}">
                <a16:creationId xmlns:a16="http://schemas.microsoft.com/office/drawing/2014/main" id="{624EE84F-91B5-4F45-9228-C00BA6667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072" name="Picture 48" descr="Carbonyl Condensation Reactions - ppt download">
            <a:extLst>
              <a:ext uri="{FF2B5EF4-FFF2-40B4-BE49-F238E27FC236}">
                <a16:creationId xmlns:a16="http://schemas.microsoft.com/office/drawing/2014/main" id="{3417A2AA-3AE7-4C66-A547-2ABF2CA4A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254" y="832207"/>
            <a:ext cx="7885202" cy="5913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3497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470777" y="1118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Michael Addition</a:t>
            </a:r>
          </a:p>
        </p:txBody>
      </p:sp>
      <p:sp>
        <p:nvSpPr>
          <p:cNvPr id="5" name="Rectangle 38">
            <a:extLst>
              <a:ext uri="{FF2B5EF4-FFF2-40B4-BE49-F238E27FC236}">
                <a16:creationId xmlns:a16="http://schemas.microsoft.com/office/drawing/2014/main" id="{624EE84F-91B5-4F45-9228-C00BA6667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075" name="Picture 3" descr="Michael Addition Reaction Mechanism - Chemistry Steps">
            <a:extLst>
              <a:ext uri="{FF2B5EF4-FFF2-40B4-BE49-F238E27FC236}">
                <a16:creationId xmlns:a16="http://schemas.microsoft.com/office/drawing/2014/main" id="{9E0758B4-9A55-4E61-BB21-CF7075DA1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1314" y="780836"/>
            <a:ext cx="5364519" cy="5553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481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470777" y="1118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Organocatalytic Michael Addition</a:t>
            </a:r>
          </a:p>
        </p:txBody>
      </p:sp>
      <p:sp>
        <p:nvSpPr>
          <p:cNvPr id="2" name="Rectangle 37">
            <a:extLst>
              <a:ext uri="{FF2B5EF4-FFF2-40B4-BE49-F238E27FC236}">
                <a16:creationId xmlns:a16="http://schemas.microsoft.com/office/drawing/2014/main" id="{13155F60-448A-431A-8BC8-01C88D527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14287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38">
            <a:extLst>
              <a:ext uri="{FF2B5EF4-FFF2-40B4-BE49-F238E27FC236}">
                <a16:creationId xmlns:a16="http://schemas.microsoft.com/office/drawing/2014/main" id="{624EE84F-91B5-4F45-9228-C00BA6667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5124" name="Picture 4" descr="Michel Addition">
            <a:extLst>
              <a:ext uri="{FF2B5EF4-FFF2-40B4-BE49-F238E27FC236}">
                <a16:creationId xmlns:a16="http://schemas.microsoft.com/office/drawing/2014/main" id="{4D806375-51BE-4998-B355-52C78305A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222" y="1051441"/>
            <a:ext cx="9944866" cy="5595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781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470777" y="1118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Organocatalytic Michael &amp; Cascade</a:t>
            </a:r>
          </a:p>
        </p:txBody>
      </p:sp>
      <p:sp>
        <p:nvSpPr>
          <p:cNvPr id="5" name="Rectangle 38">
            <a:extLst>
              <a:ext uri="{FF2B5EF4-FFF2-40B4-BE49-F238E27FC236}">
                <a16:creationId xmlns:a16="http://schemas.microsoft.com/office/drawing/2014/main" id="{624EE84F-91B5-4F45-9228-C00BA6667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7170" name="Picture 2" descr="Asymmetric Organocatalysis of Activated Alkynes and Enynes - Sharma - 2021  - Asian Journal of Organic Chemistry - Wiley Online Library">
            <a:extLst>
              <a:ext uri="{FF2B5EF4-FFF2-40B4-BE49-F238E27FC236}">
                <a16:creationId xmlns:a16="http://schemas.microsoft.com/office/drawing/2014/main" id="{779CF75F-9C2F-4E74-8127-F7E7E9437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691" y="1297113"/>
            <a:ext cx="8940171" cy="426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8354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470777" y="1118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Synthesis of </a:t>
            </a:r>
            <a:r>
              <a:rPr lang="en-US" sz="2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Organocatalyst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Michael Addition</a:t>
            </a:r>
          </a:p>
        </p:txBody>
      </p:sp>
      <p:sp>
        <p:nvSpPr>
          <p:cNvPr id="2" name="Rectangle 37">
            <a:extLst>
              <a:ext uri="{FF2B5EF4-FFF2-40B4-BE49-F238E27FC236}">
                <a16:creationId xmlns:a16="http://schemas.microsoft.com/office/drawing/2014/main" id="{13155F60-448A-431A-8BC8-01C88D527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14287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31D5749-F880-42E6-9860-71E529DD2C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8115" y="2181037"/>
          <a:ext cx="9875851" cy="249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6197686" imgH="1572441" progId="ChemDraw.Document.6.0">
                  <p:embed/>
                </p:oleObj>
              </mc:Choice>
              <mc:Fallback>
                <p:oleObj name="CS ChemDraw Drawing" r:id="rId2" imgW="6197686" imgH="1572441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331D5749-F880-42E6-9860-71E529DD2C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8115" y="2181037"/>
                        <a:ext cx="9875851" cy="2495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8">
            <a:extLst>
              <a:ext uri="{FF2B5EF4-FFF2-40B4-BE49-F238E27FC236}">
                <a16:creationId xmlns:a16="http://schemas.microsoft.com/office/drawing/2014/main" id="{624EE84F-91B5-4F45-9228-C00BA6667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038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470777" y="1118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Organocatalytic Enantioselective Michael Addition</a:t>
            </a:r>
          </a:p>
        </p:txBody>
      </p:sp>
      <p:sp>
        <p:nvSpPr>
          <p:cNvPr id="2" name="Rectangle 37">
            <a:extLst>
              <a:ext uri="{FF2B5EF4-FFF2-40B4-BE49-F238E27FC236}">
                <a16:creationId xmlns:a16="http://schemas.microsoft.com/office/drawing/2014/main" id="{13155F60-448A-431A-8BC8-01C88D527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14287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38">
            <a:extLst>
              <a:ext uri="{FF2B5EF4-FFF2-40B4-BE49-F238E27FC236}">
                <a16:creationId xmlns:a16="http://schemas.microsoft.com/office/drawing/2014/main" id="{624EE84F-91B5-4F45-9228-C00BA6667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EF21CEC-16A1-42C7-8E83-98713109E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208" y="1428749"/>
            <a:ext cx="15944235" cy="687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0B311E2-3A01-44D1-868F-526DFC1E5C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037032"/>
              </p:ext>
            </p:extLst>
          </p:nvPr>
        </p:nvGraphicFramePr>
        <p:xfrm>
          <a:off x="2514859" y="1617459"/>
          <a:ext cx="7503933" cy="3623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5063830" imgH="2456389" progId="ChemDraw.Document.6.0">
                  <p:embed/>
                </p:oleObj>
              </mc:Choice>
              <mc:Fallback>
                <p:oleObj name="CS ChemDraw Drawing" r:id="rId2" imgW="5063830" imgH="2456389" progId="ChemDraw.Document.6.0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859" y="1617459"/>
                        <a:ext cx="7503933" cy="36230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DA127BAD-0C34-4660-878D-536E7B03A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208" y="4295774"/>
            <a:ext cx="1594423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823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470777" y="1118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Organocatalytic Enantioselective Michael Addition: Proposed TS</a:t>
            </a:r>
          </a:p>
        </p:txBody>
      </p:sp>
      <p:sp>
        <p:nvSpPr>
          <p:cNvPr id="2" name="Rectangle 37">
            <a:extLst>
              <a:ext uri="{FF2B5EF4-FFF2-40B4-BE49-F238E27FC236}">
                <a16:creationId xmlns:a16="http://schemas.microsoft.com/office/drawing/2014/main" id="{13155F60-448A-431A-8BC8-01C88D527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14287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38">
            <a:extLst>
              <a:ext uri="{FF2B5EF4-FFF2-40B4-BE49-F238E27FC236}">
                <a16:creationId xmlns:a16="http://schemas.microsoft.com/office/drawing/2014/main" id="{624EE84F-91B5-4F45-9228-C00BA6667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EF21CEC-16A1-42C7-8E83-98713109E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208" y="1428749"/>
            <a:ext cx="15944235" cy="687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A127BAD-0C34-4660-878D-536E7B03A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208" y="4295774"/>
            <a:ext cx="1594423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6CF0F7-DBB8-4949-A4E1-729A4A1AE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873" y="1350334"/>
            <a:ext cx="6734254" cy="43748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38A58F-C230-4B55-B436-EE2569EDD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697" y="6362567"/>
            <a:ext cx="4107601" cy="3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159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470777" y="1118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Application: </a:t>
            </a:r>
            <a:r>
              <a:rPr lang="en-US" sz="2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Montanine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Type Amaryllidaceae Alkaloids</a:t>
            </a:r>
          </a:p>
        </p:txBody>
      </p:sp>
      <p:sp>
        <p:nvSpPr>
          <p:cNvPr id="2" name="Rectangle 37">
            <a:extLst>
              <a:ext uri="{FF2B5EF4-FFF2-40B4-BE49-F238E27FC236}">
                <a16:creationId xmlns:a16="http://schemas.microsoft.com/office/drawing/2014/main" id="{13155F60-448A-431A-8BC8-01C88D527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14287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38">
            <a:extLst>
              <a:ext uri="{FF2B5EF4-FFF2-40B4-BE49-F238E27FC236}">
                <a16:creationId xmlns:a16="http://schemas.microsoft.com/office/drawing/2014/main" id="{624EE84F-91B5-4F45-9228-C00BA6667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EF21CEC-16A1-42C7-8E83-98713109E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208" y="1428749"/>
            <a:ext cx="15944235" cy="687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A127BAD-0C34-4660-878D-536E7B03A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208" y="4295774"/>
            <a:ext cx="1594423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63D7A4-FD37-4C05-B2AC-B71F61951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867" y="565272"/>
            <a:ext cx="6362313" cy="61808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0F6C7E-A2A4-49A1-86C2-CD90D0B01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11" y="3688767"/>
            <a:ext cx="3664056" cy="33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892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470777" y="1118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Application: </a:t>
            </a:r>
            <a:r>
              <a:rPr lang="en-US" sz="2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Montanine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Type Amaryllidaceae Alkaloids</a:t>
            </a:r>
          </a:p>
        </p:txBody>
      </p:sp>
      <p:sp>
        <p:nvSpPr>
          <p:cNvPr id="2" name="Rectangle 37">
            <a:extLst>
              <a:ext uri="{FF2B5EF4-FFF2-40B4-BE49-F238E27FC236}">
                <a16:creationId xmlns:a16="http://schemas.microsoft.com/office/drawing/2014/main" id="{13155F60-448A-431A-8BC8-01C88D527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14287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38">
            <a:extLst>
              <a:ext uri="{FF2B5EF4-FFF2-40B4-BE49-F238E27FC236}">
                <a16:creationId xmlns:a16="http://schemas.microsoft.com/office/drawing/2014/main" id="{624EE84F-91B5-4F45-9228-C00BA6667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EF21CEC-16A1-42C7-8E83-98713109E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208" y="1428749"/>
            <a:ext cx="15944235" cy="687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A127BAD-0C34-4660-878D-536E7B03A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208" y="4295774"/>
            <a:ext cx="1594423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E1F00-9AAE-47D4-8026-EF044B4C8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642" y="1156970"/>
            <a:ext cx="6298479" cy="48578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2A90C2-052B-42D9-AFA5-2E792E1CB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3" y="1397623"/>
            <a:ext cx="5464519" cy="137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765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EFB2FFB2-63CB-4307-9F2E-FE3789216F95}"/>
              </a:ext>
            </a:extLst>
          </p:cNvPr>
          <p:cNvSpPr txBox="1"/>
          <p:nvPr/>
        </p:nvSpPr>
        <p:spPr>
          <a:xfrm>
            <a:off x="470777" y="1118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Application: </a:t>
            </a:r>
            <a:r>
              <a:rPr lang="en-US" sz="2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Montanine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Type Amaryllidaceae Alkaloids</a:t>
            </a:r>
          </a:p>
        </p:txBody>
      </p:sp>
      <p:sp>
        <p:nvSpPr>
          <p:cNvPr id="2" name="Rectangle 37">
            <a:extLst>
              <a:ext uri="{FF2B5EF4-FFF2-40B4-BE49-F238E27FC236}">
                <a16:creationId xmlns:a16="http://schemas.microsoft.com/office/drawing/2014/main" id="{13155F60-448A-431A-8BC8-01C88D527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14287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38">
            <a:extLst>
              <a:ext uri="{FF2B5EF4-FFF2-40B4-BE49-F238E27FC236}">
                <a16:creationId xmlns:a16="http://schemas.microsoft.com/office/drawing/2014/main" id="{624EE84F-91B5-4F45-9228-C00BA6667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57" y="3429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EF21CEC-16A1-42C7-8E83-98713109E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208" y="1428749"/>
            <a:ext cx="15944235" cy="687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A127BAD-0C34-4660-878D-536E7B03A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208" y="4295774"/>
            <a:ext cx="1594423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6F2B06-A739-41EF-9396-11109E630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066" y="1548241"/>
            <a:ext cx="6733867" cy="390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534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2375</TotalTime>
  <Words>96</Words>
  <Application>Microsoft Office PowerPoint</Application>
  <PresentationFormat>Widescreen</PresentationFormat>
  <Paragraphs>21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Symbol</vt:lpstr>
      <vt:lpstr>Office Theme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Ayan</dc:creator>
  <cp:lastModifiedBy>Alakesh Bisai</cp:lastModifiedBy>
  <cp:revision>90</cp:revision>
  <dcterms:created xsi:type="dcterms:W3CDTF">2021-03-21T06:11:57Z</dcterms:created>
  <dcterms:modified xsi:type="dcterms:W3CDTF">2026-01-20T11:15:38Z</dcterms:modified>
</cp:coreProperties>
</file>