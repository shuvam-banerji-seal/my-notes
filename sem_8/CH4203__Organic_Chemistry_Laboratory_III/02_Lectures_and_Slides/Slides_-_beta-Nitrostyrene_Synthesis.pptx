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94" r:id="rId2"/>
    <p:sldId id="316" r:id="rId3"/>
    <p:sldId id="297" r:id="rId4"/>
    <p:sldId id="317" r:id="rId5"/>
    <p:sldId id="318" r:id="rId6"/>
    <p:sldId id="315" r:id="rId7"/>
    <p:sldId id="319" r:id="rId8"/>
    <p:sldId id="320" r:id="rId9"/>
    <p:sldId id="271" r:id="rId10"/>
    <p:sldId id="289" r:id="rId11"/>
    <p:sldId id="287" r:id="rId12"/>
    <p:sldId id="288" r:id="rId13"/>
    <p:sldId id="295" r:id="rId14"/>
    <p:sldId id="296" r:id="rId15"/>
    <p:sldId id="293" r:id="rId16"/>
    <p:sldId id="277" r:id="rId17"/>
    <p:sldId id="321" r:id="rId18"/>
    <p:sldId id="322"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CC"/>
    <a:srgbClr val="0033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2173" autoAdjust="0"/>
    <p:restoredTop sz="94660"/>
  </p:normalViewPr>
  <p:slideViewPr>
    <p:cSldViewPr snapToGrid="0">
      <p:cViewPr varScale="1">
        <p:scale>
          <a:sx n="62" d="100"/>
          <a:sy n="62" d="100"/>
        </p:scale>
        <p:origin x="936" y="52"/>
      </p:cViewPr>
      <p:guideLst/>
    </p:cSldViewPr>
  </p:slideViewPr>
  <p:notesTextViewPr>
    <p:cViewPr>
      <p:scale>
        <a:sx n="1" d="1"/>
        <a:sy n="1" d="1"/>
      </p:scale>
      <p:origin x="0" y="0"/>
    </p:cViewPr>
  </p:notesTextViewPr>
  <p:sorterViewPr>
    <p:cViewPr varScale="1">
      <p:scale>
        <a:sx n="1" d="1"/>
        <a:sy n="1" d="1"/>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8F811D-B422-4DAF-ADE1-5EF6B66A1D9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44A87BBB-76B9-4323-A9AF-28152CE9B31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089F917F-A9A5-4458-B8B9-9BC1539EE7D9}"/>
              </a:ext>
            </a:extLst>
          </p:cNvPr>
          <p:cNvSpPr>
            <a:spLocks noGrp="1"/>
          </p:cNvSpPr>
          <p:nvPr>
            <p:ph type="dt" sz="half" idx="10"/>
          </p:nvPr>
        </p:nvSpPr>
        <p:spPr/>
        <p:txBody>
          <a:bodyPr/>
          <a:lstStyle/>
          <a:p>
            <a:fld id="{2142E51D-7690-4A1A-BA55-517A1129D5F3}" type="datetimeFigureOut">
              <a:rPr lang="en-IN" smtClean="0"/>
              <a:t>08-01-2025</a:t>
            </a:fld>
            <a:endParaRPr lang="en-IN"/>
          </a:p>
        </p:txBody>
      </p:sp>
      <p:sp>
        <p:nvSpPr>
          <p:cNvPr id="5" name="Footer Placeholder 4">
            <a:extLst>
              <a:ext uri="{FF2B5EF4-FFF2-40B4-BE49-F238E27FC236}">
                <a16:creationId xmlns:a16="http://schemas.microsoft.com/office/drawing/2014/main" id="{FFC26F0A-E07C-4760-A5E0-EE1FA18F65D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75FFD50-0B66-4CC2-9DDB-9FA0979099AC}"/>
              </a:ext>
            </a:extLst>
          </p:cNvPr>
          <p:cNvSpPr>
            <a:spLocks noGrp="1"/>
          </p:cNvSpPr>
          <p:nvPr>
            <p:ph type="sldNum" sz="quarter" idx="12"/>
          </p:nvPr>
        </p:nvSpPr>
        <p:spPr/>
        <p:txBody>
          <a:bodyPr/>
          <a:lstStyle/>
          <a:p>
            <a:fld id="{F6CD59B8-DAB9-4B48-97D2-B2FF68692E24}" type="slidenum">
              <a:rPr lang="en-IN" smtClean="0"/>
              <a:t>‹#›</a:t>
            </a:fld>
            <a:endParaRPr lang="en-IN"/>
          </a:p>
        </p:txBody>
      </p:sp>
    </p:spTree>
    <p:extLst>
      <p:ext uri="{BB962C8B-B14F-4D97-AF65-F5344CB8AC3E}">
        <p14:creationId xmlns:p14="http://schemas.microsoft.com/office/powerpoint/2010/main" val="178671648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3BE10B-98FC-442C-A27C-500997878FB1}"/>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1D3D84EA-61AE-46F8-81D8-C0A313DB7C9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69A3A53-F73E-41FE-840B-3B164D7DBE74}"/>
              </a:ext>
            </a:extLst>
          </p:cNvPr>
          <p:cNvSpPr>
            <a:spLocks noGrp="1"/>
          </p:cNvSpPr>
          <p:nvPr>
            <p:ph type="dt" sz="half" idx="10"/>
          </p:nvPr>
        </p:nvSpPr>
        <p:spPr/>
        <p:txBody>
          <a:bodyPr/>
          <a:lstStyle/>
          <a:p>
            <a:fld id="{2142E51D-7690-4A1A-BA55-517A1129D5F3}" type="datetimeFigureOut">
              <a:rPr lang="en-IN" smtClean="0"/>
              <a:t>08-01-2025</a:t>
            </a:fld>
            <a:endParaRPr lang="en-IN"/>
          </a:p>
        </p:txBody>
      </p:sp>
      <p:sp>
        <p:nvSpPr>
          <p:cNvPr id="5" name="Footer Placeholder 4">
            <a:extLst>
              <a:ext uri="{FF2B5EF4-FFF2-40B4-BE49-F238E27FC236}">
                <a16:creationId xmlns:a16="http://schemas.microsoft.com/office/drawing/2014/main" id="{B6CECE63-B012-467E-97EF-D8BDC88646F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97445CA-8DB3-4552-9DEA-C17F3C3B0F05}"/>
              </a:ext>
            </a:extLst>
          </p:cNvPr>
          <p:cNvSpPr>
            <a:spLocks noGrp="1"/>
          </p:cNvSpPr>
          <p:nvPr>
            <p:ph type="sldNum" sz="quarter" idx="12"/>
          </p:nvPr>
        </p:nvSpPr>
        <p:spPr/>
        <p:txBody>
          <a:bodyPr/>
          <a:lstStyle/>
          <a:p>
            <a:fld id="{F6CD59B8-DAB9-4B48-97D2-B2FF68692E24}" type="slidenum">
              <a:rPr lang="en-IN" smtClean="0"/>
              <a:t>‹#›</a:t>
            </a:fld>
            <a:endParaRPr lang="en-IN"/>
          </a:p>
        </p:txBody>
      </p:sp>
    </p:spTree>
    <p:extLst>
      <p:ext uri="{BB962C8B-B14F-4D97-AF65-F5344CB8AC3E}">
        <p14:creationId xmlns:p14="http://schemas.microsoft.com/office/powerpoint/2010/main" val="276965313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8679D8-FC3A-4EF4-AC15-754650FB0C6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5865B07C-B254-46D7-A662-09C7F61B3B4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9AB3B07-2524-485F-A49F-4B9C0D497B0C}"/>
              </a:ext>
            </a:extLst>
          </p:cNvPr>
          <p:cNvSpPr>
            <a:spLocks noGrp="1"/>
          </p:cNvSpPr>
          <p:nvPr>
            <p:ph type="dt" sz="half" idx="10"/>
          </p:nvPr>
        </p:nvSpPr>
        <p:spPr/>
        <p:txBody>
          <a:bodyPr/>
          <a:lstStyle/>
          <a:p>
            <a:fld id="{2142E51D-7690-4A1A-BA55-517A1129D5F3}" type="datetimeFigureOut">
              <a:rPr lang="en-IN" smtClean="0"/>
              <a:t>08-01-2025</a:t>
            </a:fld>
            <a:endParaRPr lang="en-IN"/>
          </a:p>
        </p:txBody>
      </p:sp>
      <p:sp>
        <p:nvSpPr>
          <p:cNvPr id="5" name="Footer Placeholder 4">
            <a:extLst>
              <a:ext uri="{FF2B5EF4-FFF2-40B4-BE49-F238E27FC236}">
                <a16:creationId xmlns:a16="http://schemas.microsoft.com/office/drawing/2014/main" id="{04113BDA-926C-4122-9489-9E348B2193E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8331B43-5008-400B-8CD3-90C4FF6A0A1A}"/>
              </a:ext>
            </a:extLst>
          </p:cNvPr>
          <p:cNvSpPr>
            <a:spLocks noGrp="1"/>
          </p:cNvSpPr>
          <p:nvPr>
            <p:ph type="sldNum" sz="quarter" idx="12"/>
          </p:nvPr>
        </p:nvSpPr>
        <p:spPr/>
        <p:txBody>
          <a:bodyPr/>
          <a:lstStyle/>
          <a:p>
            <a:fld id="{F6CD59B8-DAB9-4B48-97D2-B2FF68692E24}" type="slidenum">
              <a:rPr lang="en-IN" smtClean="0"/>
              <a:t>‹#›</a:t>
            </a:fld>
            <a:endParaRPr lang="en-IN"/>
          </a:p>
        </p:txBody>
      </p:sp>
    </p:spTree>
    <p:extLst>
      <p:ext uri="{BB962C8B-B14F-4D97-AF65-F5344CB8AC3E}">
        <p14:creationId xmlns:p14="http://schemas.microsoft.com/office/powerpoint/2010/main" val="204700177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2AF260-CFF7-4663-BDFB-EAA205CC9779}"/>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25E17F69-C9CA-4984-BBC5-592A56B7712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FDF97030-FC96-47C4-8DE5-1F9818846F8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65ABEAF8-AC1E-498F-8F1D-AB904C7889D9}"/>
              </a:ext>
            </a:extLst>
          </p:cNvPr>
          <p:cNvSpPr>
            <a:spLocks noGrp="1"/>
          </p:cNvSpPr>
          <p:nvPr>
            <p:ph type="dt" sz="half" idx="10"/>
          </p:nvPr>
        </p:nvSpPr>
        <p:spPr/>
        <p:txBody>
          <a:bodyPr/>
          <a:lstStyle/>
          <a:p>
            <a:fld id="{2142E51D-7690-4A1A-BA55-517A1129D5F3}" type="datetimeFigureOut">
              <a:rPr lang="en-IN" smtClean="0"/>
              <a:t>08-01-2025</a:t>
            </a:fld>
            <a:endParaRPr lang="en-IN"/>
          </a:p>
        </p:txBody>
      </p:sp>
      <p:sp>
        <p:nvSpPr>
          <p:cNvPr id="6" name="Footer Placeholder 5">
            <a:extLst>
              <a:ext uri="{FF2B5EF4-FFF2-40B4-BE49-F238E27FC236}">
                <a16:creationId xmlns:a16="http://schemas.microsoft.com/office/drawing/2014/main" id="{13A8897A-F103-49D1-AC7E-920E625F053A}"/>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B1671DAB-847E-4100-A044-3D1A4C89A3C3}"/>
              </a:ext>
            </a:extLst>
          </p:cNvPr>
          <p:cNvSpPr>
            <a:spLocks noGrp="1"/>
          </p:cNvSpPr>
          <p:nvPr>
            <p:ph type="sldNum" sz="quarter" idx="12"/>
          </p:nvPr>
        </p:nvSpPr>
        <p:spPr/>
        <p:txBody>
          <a:bodyPr/>
          <a:lstStyle/>
          <a:p>
            <a:fld id="{F6CD59B8-DAB9-4B48-97D2-B2FF68692E24}" type="slidenum">
              <a:rPr lang="en-IN" smtClean="0"/>
              <a:t>‹#›</a:t>
            </a:fld>
            <a:endParaRPr lang="en-IN"/>
          </a:p>
        </p:txBody>
      </p:sp>
    </p:spTree>
    <p:extLst>
      <p:ext uri="{BB962C8B-B14F-4D97-AF65-F5344CB8AC3E}">
        <p14:creationId xmlns:p14="http://schemas.microsoft.com/office/powerpoint/2010/main" val="428843911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353378-90BC-4EAF-8560-E465243CF103}"/>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7EC78B35-58C2-4AB5-B94E-AFBBDE43BC2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24F41BD-589A-4E5F-BCCA-D74A83A9533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030FACC9-FA2A-4F71-A6ED-680F24718B0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7C886B0-559C-4927-BF70-8AC8BCE80F3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E52448BA-C231-4ADB-AFB3-0D3297426E11}"/>
              </a:ext>
            </a:extLst>
          </p:cNvPr>
          <p:cNvSpPr>
            <a:spLocks noGrp="1"/>
          </p:cNvSpPr>
          <p:nvPr>
            <p:ph type="dt" sz="half" idx="10"/>
          </p:nvPr>
        </p:nvSpPr>
        <p:spPr/>
        <p:txBody>
          <a:bodyPr/>
          <a:lstStyle/>
          <a:p>
            <a:fld id="{2142E51D-7690-4A1A-BA55-517A1129D5F3}" type="datetimeFigureOut">
              <a:rPr lang="en-IN" smtClean="0"/>
              <a:t>08-01-2025</a:t>
            </a:fld>
            <a:endParaRPr lang="en-IN"/>
          </a:p>
        </p:txBody>
      </p:sp>
      <p:sp>
        <p:nvSpPr>
          <p:cNvPr id="8" name="Footer Placeholder 7">
            <a:extLst>
              <a:ext uri="{FF2B5EF4-FFF2-40B4-BE49-F238E27FC236}">
                <a16:creationId xmlns:a16="http://schemas.microsoft.com/office/drawing/2014/main" id="{2F218A73-EBB8-4B80-B859-4854FFD03464}"/>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00B37857-5629-47A1-BB59-66734B6D2E93}"/>
              </a:ext>
            </a:extLst>
          </p:cNvPr>
          <p:cNvSpPr>
            <a:spLocks noGrp="1"/>
          </p:cNvSpPr>
          <p:nvPr>
            <p:ph type="sldNum" sz="quarter" idx="12"/>
          </p:nvPr>
        </p:nvSpPr>
        <p:spPr/>
        <p:txBody>
          <a:bodyPr/>
          <a:lstStyle/>
          <a:p>
            <a:fld id="{F6CD59B8-DAB9-4B48-97D2-B2FF68692E24}" type="slidenum">
              <a:rPr lang="en-IN" smtClean="0"/>
              <a:t>‹#›</a:t>
            </a:fld>
            <a:endParaRPr lang="en-IN"/>
          </a:p>
        </p:txBody>
      </p:sp>
    </p:spTree>
    <p:extLst>
      <p:ext uri="{BB962C8B-B14F-4D97-AF65-F5344CB8AC3E}">
        <p14:creationId xmlns:p14="http://schemas.microsoft.com/office/powerpoint/2010/main" val="43676621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9F34DD-2A10-4B01-8114-E4CD2B1E3B31}"/>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B95195A2-B807-4BAA-86CA-F38BD5FEF050}"/>
              </a:ext>
            </a:extLst>
          </p:cNvPr>
          <p:cNvSpPr>
            <a:spLocks noGrp="1"/>
          </p:cNvSpPr>
          <p:nvPr>
            <p:ph type="dt" sz="half" idx="10"/>
          </p:nvPr>
        </p:nvSpPr>
        <p:spPr/>
        <p:txBody>
          <a:bodyPr/>
          <a:lstStyle/>
          <a:p>
            <a:fld id="{2142E51D-7690-4A1A-BA55-517A1129D5F3}" type="datetimeFigureOut">
              <a:rPr lang="en-IN" smtClean="0"/>
              <a:t>08-01-2025</a:t>
            </a:fld>
            <a:endParaRPr lang="en-IN"/>
          </a:p>
        </p:txBody>
      </p:sp>
      <p:sp>
        <p:nvSpPr>
          <p:cNvPr id="4" name="Footer Placeholder 3">
            <a:extLst>
              <a:ext uri="{FF2B5EF4-FFF2-40B4-BE49-F238E27FC236}">
                <a16:creationId xmlns:a16="http://schemas.microsoft.com/office/drawing/2014/main" id="{3A3AACAF-BFEB-44A3-AE2F-A017207E4F5C}"/>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C323F3C6-5C3C-4AF8-BB97-3EDD8B547462}"/>
              </a:ext>
            </a:extLst>
          </p:cNvPr>
          <p:cNvSpPr>
            <a:spLocks noGrp="1"/>
          </p:cNvSpPr>
          <p:nvPr>
            <p:ph type="sldNum" sz="quarter" idx="12"/>
          </p:nvPr>
        </p:nvSpPr>
        <p:spPr/>
        <p:txBody>
          <a:bodyPr/>
          <a:lstStyle/>
          <a:p>
            <a:fld id="{F6CD59B8-DAB9-4B48-97D2-B2FF68692E24}" type="slidenum">
              <a:rPr lang="en-IN" smtClean="0"/>
              <a:t>‹#›</a:t>
            </a:fld>
            <a:endParaRPr lang="en-IN"/>
          </a:p>
        </p:txBody>
      </p:sp>
    </p:spTree>
    <p:extLst>
      <p:ext uri="{BB962C8B-B14F-4D97-AF65-F5344CB8AC3E}">
        <p14:creationId xmlns:p14="http://schemas.microsoft.com/office/powerpoint/2010/main" val="249714437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51A709E-65F6-4735-B92E-79F596786B0C}"/>
              </a:ext>
            </a:extLst>
          </p:cNvPr>
          <p:cNvSpPr>
            <a:spLocks noGrp="1"/>
          </p:cNvSpPr>
          <p:nvPr>
            <p:ph type="dt" sz="half" idx="10"/>
          </p:nvPr>
        </p:nvSpPr>
        <p:spPr/>
        <p:txBody>
          <a:bodyPr/>
          <a:lstStyle/>
          <a:p>
            <a:fld id="{2142E51D-7690-4A1A-BA55-517A1129D5F3}" type="datetimeFigureOut">
              <a:rPr lang="en-IN" smtClean="0"/>
              <a:t>08-01-2025</a:t>
            </a:fld>
            <a:endParaRPr lang="en-IN"/>
          </a:p>
        </p:txBody>
      </p:sp>
      <p:sp>
        <p:nvSpPr>
          <p:cNvPr id="3" name="Footer Placeholder 2">
            <a:extLst>
              <a:ext uri="{FF2B5EF4-FFF2-40B4-BE49-F238E27FC236}">
                <a16:creationId xmlns:a16="http://schemas.microsoft.com/office/drawing/2014/main" id="{5826B408-E30A-48AA-B47B-6E6EBA363AC8}"/>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557FC13C-71FC-4523-BB15-B5B82EB64AB1}"/>
              </a:ext>
            </a:extLst>
          </p:cNvPr>
          <p:cNvSpPr>
            <a:spLocks noGrp="1"/>
          </p:cNvSpPr>
          <p:nvPr>
            <p:ph type="sldNum" sz="quarter" idx="12"/>
          </p:nvPr>
        </p:nvSpPr>
        <p:spPr/>
        <p:txBody>
          <a:bodyPr/>
          <a:lstStyle/>
          <a:p>
            <a:fld id="{F6CD59B8-DAB9-4B48-97D2-B2FF68692E24}" type="slidenum">
              <a:rPr lang="en-IN" smtClean="0"/>
              <a:t>‹#›</a:t>
            </a:fld>
            <a:endParaRPr lang="en-IN"/>
          </a:p>
        </p:txBody>
      </p:sp>
    </p:spTree>
    <p:extLst>
      <p:ext uri="{BB962C8B-B14F-4D97-AF65-F5344CB8AC3E}">
        <p14:creationId xmlns:p14="http://schemas.microsoft.com/office/powerpoint/2010/main" val="130171429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EA5A56-6FF3-4E8B-8620-57685144426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058BC959-1AFE-4C98-BC08-9820A5B9D1D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995B0215-DFE2-4BC9-9933-9255A308C8F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A26D5F2-2AA3-4CB3-85FA-F9E9FD4E6505}"/>
              </a:ext>
            </a:extLst>
          </p:cNvPr>
          <p:cNvSpPr>
            <a:spLocks noGrp="1"/>
          </p:cNvSpPr>
          <p:nvPr>
            <p:ph type="dt" sz="half" idx="10"/>
          </p:nvPr>
        </p:nvSpPr>
        <p:spPr/>
        <p:txBody>
          <a:bodyPr/>
          <a:lstStyle/>
          <a:p>
            <a:fld id="{2142E51D-7690-4A1A-BA55-517A1129D5F3}" type="datetimeFigureOut">
              <a:rPr lang="en-IN" smtClean="0"/>
              <a:t>08-01-2025</a:t>
            </a:fld>
            <a:endParaRPr lang="en-IN"/>
          </a:p>
        </p:txBody>
      </p:sp>
      <p:sp>
        <p:nvSpPr>
          <p:cNvPr id="6" name="Footer Placeholder 5">
            <a:extLst>
              <a:ext uri="{FF2B5EF4-FFF2-40B4-BE49-F238E27FC236}">
                <a16:creationId xmlns:a16="http://schemas.microsoft.com/office/drawing/2014/main" id="{1895ED98-73B7-431C-913A-202F33944B5A}"/>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4B9C7F29-85A6-4455-94C0-0341E3AA10BD}"/>
              </a:ext>
            </a:extLst>
          </p:cNvPr>
          <p:cNvSpPr>
            <a:spLocks noGrp="1"/>
          </p:cNvSpPr>
          <p:nvPr>
            <p:ph type="sldNum" sz="quarter" idx="12"/>
          </p:nvPr>
        </p:nvSpPr>
        <p:spPr/>
        <p:txBody>
          <a:bodyPr/>
          <a:lstStyle/>
          <a:p>
            <a:fld id="{F6CD59B8-DAB9-4B48-97D2-B2FF68692E24}" type="slidenum">
              <a:rPr lang="en-IN" smtClean="0"/>
              <a:t>‹#›</a:t>
            </a:fld>
            <a:endParaRPr lang="en-IN"/>
          </a:p>
        </p:txBody>
      </p:sp>
    </p:spTree>
    <p:extLst>
      <p:ext uri="{BB962C8B-B14F-4D97-AF65-F5344CB8AC3E}">
        <p14:creationId xmlns:p14="http://schemas.microsoft.com/office/powerpoint/2010/main" val="25267904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EECDAB-0D89-4B83-9EB8-70D93674E61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E68CB30B-C130-4421-B5C4-968DFF1C04F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BC3CEECC-3AF3-4D41-8440-C0BB70BC01F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F539ED2-D0E5-4A44-A493-16B820417720}"/>
              </a:ext>
            </a:extLst>
          </p:cNvPr>
          <p:cNvSpPr>
            <a:spLocks noGrp="1"/>
          </p:cNvSpPr>
          <p:nvPr>
            <p:ph type="dt" sz="half" idx="10"/>
          </p:nvPr>
        </p:nvSpPr>
        <p:spPr/>
        <p:txBody>
          <a:bodyPr/>
          <a:lstStyle/>
          <a:p>
            <a:fld id="{2142E51D-7690-4A1A-BA55-517A1129D5F3}" type="datetimeFigureOut">
              <a:rPr lang="en-IN" smtClean="0"/>
              <a:t>08-01-2025</a:t>
            </a:fld>
            <a:endParaRPr lang="en-IN"/>
          </a:p>
        </p:txBody>
      </p:sp>
      <p:sp>
        <p:nvSpPr>
          <p:cNvPr id="6" name="Footer Placeholder 5">
            <a:extLst>
              <a:ext uri="{FF2B5EF4-FFF2-40B4-BE49-F238E27FC236}">
                <a16:creationId xmlns:a16="http://schemas.microsoft.com/office/drawing/2014/main" id="{11211420-C464-4363-96F0-788E6C8A58D2}"/>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996FE2F8-145F-4E97-B84A-3D47744229A6}"/>
              </a:ext>
            </a:extLst>
          </p:cNvPr>
          <p:cNvSpPr>
            <a:spLocks noGrp="1"/>
          </p:cNvSpPr>
          <p:nvPr>
            <p:ph type="sldNum" sz="quarter" idx="12"/>
          </p:nvPr>
        </p:nvSpPr>
        <p:spPr/>
        <p:txBody>
          <a:bodyPr/>
          <a:lstStyle/>
          <a:p>
            <a:fld id="{F6CD59B8-DAB9-4B48-97D2-B2FF68692E24}" type="slidenum">
              <a:rPr lang="en-IN" smtClean="0"/>
              <a:t>‹#›</a:t>
            </a:fld>
            <a:endParaRPr lang="en-IN"/>
          </a:p>
        </p:txBody>
      </p:sp>
    </p:spTree>
    <p:extLst>
      <p:ext uri="{BB962C8B-B14F-4D97-AF65-F5344CB8AC3E}">
        <p14:creationId xmlns:p14="http://schemas.microsoft.com/office/powerpoint/2010/main" val="87064417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AF9F63-02FE-48D6-9911-F854B44C4E2F}"/>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B4DF0AF2-D0B6-4F66-A904-F4CBD89F916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0E39474-A99B-4A79-B30F-61ACA2E04D9D}"/>
              </a:ext>
            </a:extLst>
          </p:cNvPr>
          <p:cNvSpPr>
            <a:spLocks noGrp="1"/>
          </p:cNvSpPr>
          <p:nvPr>
            <p:ph type="dt" sz="half" idx="10"/>
          </p:nvPr>
        </p:nvSpPr>
        <p:spPr/>
        <p:txBody>
          <a:bodyPr/>
          <a:lstStyle/>
          <a:p>
            <a:fld id="{2142E51D-7690-4A1A-BA55-517A1129D5F3}" type="datetimeFigureOut">
              <a:rPr lang="en-IN" smtClean="0"/>
              <a:t>08-01-2025</a:t>
            </a:fld>
            <a:endParaRPr lang="en-IN"/>
          </a:p>
        </p:txBody>
      </p:sp>
      <p:sp>
        <p:nvSpPr>
          <p:cNvPr id="5" name="Footer Placeholder 4">
            <a:extLst>
              <a:ext uri="{FF2B5EF4-FFF2-40B4-BE49-F238E27FC236}">
                <a16:creationId xmlns:a16="http://schemas.microsoft.com/office/drawing/2014/main" id="{02BF22BC-8B80-4941-B1E3-F03DCC83F7E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F676B9A-C5F9-4A56-B783-70FA492D22A6}"/>
              </a:ext>
            </a:extLst>
          </p:cNvPr>
          <p:cNvSpPr>
            <a:spLocks noGrp="1"/>
          </p:cNvSpPr>
          <p:nvPr>
            <p:ph type="sldNum" sz="quarter" idx="12"/>
          </p:nvPr>
        </p:nvSpPr>
        <p:spPr/>
        <p:txBody>
          <a:bodyPr/>
          <a:lstStyle/>
          <a:p>
            <a:fld id="{F6CD59B8-DAB9-4B48-97D2-B2FF68692E24}" type="slidenum">
              <a:rPr lang="en-IN" smtClean="0"/>
              <a:t>‹#›</a:t>
            </a:fld>
            <a:endParaRPr lang="en-IN"/>
          </a:p>
        </p:txBody>
      </p:sp>
    </p:spTree>
    <p:extLst>
      <p:ext uri="{BB962C8B-B14F-4D97-AF65-F5344CB8AC3E}">
        <p14:creationId xmlns:p14="http://schemas.microsoft.com/office/powerpoint/2010/main" val="398253731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F3C45B1-7EFE-4616-A2CA-E3791177080C}"/>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E8E10E37-49C4-442F-A215-C841FB41010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1E2CA8D-D5BB-44F6-85F3-803656861C57}"/>
              </a:ext>
            </a:extLst>
          </p:cNvPr>
          <p:cNvSpPr>
            <a:spLocks noGrp="1"/>
          </p:cNvSpPr>
          <p:nvPr>
            <p:ph type="dt" sz="half" idx="10"/>
          </p:nvPr>
        </p:nvSpPr>
        <p:spPr/>
        <p:txBody>
          <a:bodyPr/>
          <a:lstStyle/>
          <a:p>
            <a:fld id="{2142E51D-7690-4A1A-BA55-517A1129D5F3}" type="datetimeFigureOut">
              <a:rPr lang="en-IN" smtClean="0"/>
              <a:t>08-01-2025</a:t>
            </a:fld>
            <a:endParaRPr lang="en-IN"/>
          </a:p>
        </p:txBody>
      </p:sp>
      <p:sp>
        <p:nvSpPr>
          <p:cNvPr id="5" name="Footer Placeholder 4">
            <a:extLst>
              <a:ext uri="{FF2B5EF4-FFF2-40B4-BE49-F238E27FC236}">
                <a16:creationId xmlns:a16="http://schemas.microsoft.com/office/drawing/2014/main" id="{8232719C-4560-436E-A6CE-FD40841CD8F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77295B8-1656-40D0-9FCB-1BDDFD60A7C3}"/>
              </a:ext>
            </a:extLst>
          </p:cNvPr>
          <p:cNvSpPr>
            <a:spLocks noGrp="1"/>
          </p:cNvSpPr>
          <p:nvPr>
            <p:ph type="sldNum" sz="quarter" idx="12"/>
          </p:nvPr>
        </p:nvSpPr>
        <p:spPr/>
        <p:txBody>
          <a:bodyPr/>
          <a:lstStyle/>
          <a:p>
            <a:fld id="{F6CD59B8-DAB9-4B48-97D2-B2FF68692E24}" type="slidenum">
              <a:rPr lang="en-IN" smtClean="0"/>
              <a:t>‹#›</a:t>
            </a:fld>
            <a:endParaRPr lang="en-IN"/>
          </a:p>
        </p:txBody>
      </p:sp>
    </p:spTree>
    <p:extLst>
      <p:ext uri="{BB962C8B-B14F-4D97-AF65-F5344CB8AC3E}">
        <p14:creationId xmlns:p14="http://schemas.microsoft.com/office/powerpoint/2010/main" val="299106931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082DFDF-FBB9-4DD0-B773-040E0BA6F62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EBC96BC4-5D15-4282-B359-8957C98B358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C08A085-B615-479A-BB7D-939C1C50945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142E51D-7690-4A1A-BA55-517A1129D5F3}" type="datetimeFigureOut">
              <a:rPr lang="en-IN" smtClean="0"/>
              <a:t>08-01-2025</a:t>
            </a:fld>
            <a:endParaRPr lang="en-IN"/>
          </a:p>
        </p:txBody>
      </p:sp>
      <p:sp>
        <p:nvSpPr>
          <p:cNvPr id="5" name="Footer Placeholder 4">
            <a:extLst>
              <a:ext uri="{FF2B5EF4-FFF2-40B4-BE49-F238E27FC236}">
                <a16:creationId xmlns:a16="http://schemas.microsoft.com/office/drawing/2014/main" id="{C0078B18-8761-42AE-98BB-07D4AF4F42E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CF08E645-DBB5-4C82-A4FD-C826BBCE106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6CD59B8-DAB9-4B48-97D2-B2FF68692E24}" type="slidenum">
              <a:rPr lang="en-IN" smtClean="0"/>
              <a:t>‹#›</a:t>
            </a:fld>
            <a:endParaRPr lang="en-IN"/>
          </a:p>
        </p:txBody>
      </p:sp>
    </p:spTree>
    <p:extLst>
      <p:ext uri="{BB962C8B-B14F-4D97-AF65-F5344CB8AC3E}">
        <p14:creationId xmlns:p14="http://schemas.microsoft.com/office/powerpoint/2010/main" val="137269038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emf"/><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2.emf"/><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image" Target="../media/image2.emf"/><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image" Target="../media/image2.emf"/><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image" Target="../media/image2.emf"/><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3" Type="http://schemas.openxmlformats.org/officeDocument/2006/relationships/image" Target="../media/image9.emf"/><Relationship Id="rId2" Type="http://schemas.openxmlformats.org/officeDocument/2006/relationships/oleObject" Target="../embeddings/oleObject1.bin"/><Relationship Id="rId1" Type="http://schemas.openxmlformats.org/officeDocument/2006/relationships/slideLayout" Target="../slideLayouts/slideLayout5.xml"/><Relationship Id="rId4" Type="http://schemas.openxmlformats.org/officeDocument/2006/relationships/image" Target="../media/image10.jpeg"/></Relationships>
</file>

<file path=ppt/slides/_rels/slide1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2" Type="http://schemas.openxmlformats.org/officeDocument/2006/relationships/image" Target="../media/image14.emf"/><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image" Target="../media/image15.png"/><Relationship Id="rId1" Type="http://schemas.openxmlformats.org/officeDocument/2006/relationships/slideLayout" Target="../slideLayouts/slideLayout5.xml"/><Relationship Id="rId4" Type="http://schemas.openxmlformats.org/officeDocument/2006/relationships/image" Target="../media/image16.emf"/></Relationships>
</file>

<file path=ppt/slides/_rels/slide15.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3" Type="http://schemas.openxmlformats.org/officeDocument/2006/relationships/image" Target="../media/image18.emf"/><Relationship Id="rId2" Type="http://schemas.openxmlformats.org/officeDocument/2006/relationships/oleObject" Target="../embeddings/oleObject3.bin"/><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2" Type="http://schemas.openxmlformats.org/officeDocument/2006/relationships/image" Target="../media/image19.emf"/><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2" Type="http://schemas.openxmlformats.org/officeDocument/2006/relationships/image" Target="../media/image20.emf"/><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TextBox 21">
            <a:extLst>
              <a:ext uri="{FF2B5EF4-FFF2-40B4-BE49-F238E27FC236}">
                <a16:creationId xmlns:a16="http://schemas.microsoft.com/office/drawing/2014/main" id="{EFB2FFB2-63CB-4307-9F2E-FE3789216F95}"/>
              </a:ext>
            </a:extLst>
          </p:cNvPr>
          <p:cNvSpPr txBox="1"/>
          <p:nvPr/>
        </p:nvSpPr>
        <p:spPr>
          <a:xfrm>
            <a:off x="309999" y="514917"/>
            <a:ext cx="11416865" cy="4401205"/>
          </a:xfrm>
          <a:prstGeom prst="rect">
            <a:avLst/>
          </a:prstGeom>
          <a:noFill/>
        </p:spPr>
        <p:txBody>
          <a:bodyPr wrap="square" rtlCol="0">
            <a:spAutoFit/>
          </a:bodyPr>
          <a:lstStyle/>
          <a:p>
            <a:pPr algn="ctr"/>
            <a:r>
              <a:rPr lang="en-IN" sz="2800" b="1" dirty="0">
                <a:solidFill>
                  <a:srgbClr val="C00000"/>
                </a:solidFill>
                <a:latin typeface="Arial" panose="020B0604020202020204" pitchFamily="34" charset="0"/>
                <a:cs typeface="Arial" panose="020B0604020202020204" pitchFamily="34" charset="0"/>
              </a:rPr>
              <a:t>CH4203: Organic Synthesis Laboratory</a:t>
            </a:r>
            <a:endParaRPr lang="en-IN" sz="2800" dirty="0">
              <a:solidFill>
                <a:srgbClr val="C00000"/>
              </a:solidFill>
              <a:latin typeface="Arial" panose="020B0604020202020204" pitchFamily="34" charset="0"/>
              <a:cs typeface="Arial" panose="020B0604020202020204" pitchFamily="34" charset="0"/>
            </a:endParaRPr>
          </a:p>
          <a:p>
            <a:pPr algn="ctr"/>
            <a:r>
              <a:rPr lang="en-IN" sz="2800" b="1" dirty="0">
                <a:solidFill>
                  <a:srgbClr val="003300"/>
                </a:solidFill>
                <a:latin typeface="Arial" panose="020B0604020202020204" pitchFamily="34" charset="0"/>
                <a:cs typeface="Arial" panose="020B0604020202020204" pitchFamily="34" charset="0"/>
              </a:rPr>
              <a:t>-------------------------------------------------------------------------</a:t>
            </a:r>
            <a:endParaRPr lang="en-IN" sz="2800" dirty="0">
              <a:solidFill>
                <a:srgbClr val="003300"/>
              </a:solidFill>
              <a:latin typeface="Arial" panose="020B0604020202020204" pitchFamily="34" charset="0"/>
              <a:cs typeface="Arial" panose="020B0604020202020204" pitchFamily="34" charset="0"/>
            </a:endParaRPr>
          </a:p>
          <a:p>
            <a:pPr algn="ctr"/>
            <a:r>
              <a:rPr lang="en-IN" sz="2800" b="1" dirty="0">
                <a:solidFill>
                  <a:srgbClr val="0000CC"/>
                </a:solidFill>
                <a:latin typeface="Arial" panose="020B0604020202020204" pitchFamily="34" charset="0"/>
                <a:cs typeface="Arial" panose="020B0604020202020204" pitchFamily="34" charset="0"/>
              </a:rPr>
              <a:t>Expt. No. 1:</a:t>
            </a:r>
            <a:r>
              <a:rPr lang="en-IN" sz="2800" dirty="0">
                <a:solidFill>
                  <a:srgbClr val="0000CC"/>
                </a:solidFill>
                <a:latin typeface="Arial" panose="020B0604020202020204" pitchFamily="34" charset="0"/>
                <a:cs typeface="Arial" panose="020B0604020202020204" pitchFamily="34" charset="0"/>
              </a:rPr>
              <a:t> Nitro-Aldol Reaction of p-</a:t>
            </a:r>
            <a:r>
              <a:rPr lang="en-IN" sz="2800" dirty="0" err="1">
                <a:solidFill>
                  <a:srgbClr val="0000CC"/>
                </a:solidFill>
                <a:latin typeface="Arial" panose="020B0604020202020204" pitchFamily="34" charset="0"/>
                <a:cs typeface="Arial" panose="020B0604020202020204" pitchFamily="34" charset="0"/>
              </a:rPr>
              <a:t>Tolualdehyde</a:t>
            </a:r>
            <a:r>
              <a:rPr lang="en-IN" sz="2800" dirty="0">
                <a:solidFill>
                  <a:srgbClr val="0000CC"/>
                </a:solidFill>
                <a:latin typeface="Arial" panose="020B0604020202020204" pitchFamily="34" charset="0"/>
                <a:cs typeface="Arial" panose="020B0604020202020204" pitchFamily="34" charset="0"/>
              </a:rPr>
              <a:t> with Nitromethane: Synthesis of </a:t>
            </a:r>
            <a:r>
              <a:rPr lang="en-IN" sz="2800" dirty="0">
                <a:solidFill>
                  <a:srgbClr val="0000CC"/>
                </a:solidFill>
                <a:latin typeface="Symbol" panose="05050102010706020507" pitchFamily="18" charset="2"/>
                <a:cs typeface="Arial" panose="020B0604020202020204" pitchFamily="34" charset="0"/>
              </a:rPr>
              <a:t>b</a:t>
            </a:r>
            <a:r>
              <a:rPr lang="en-IN" sz="2800" dirty="0">
                <a:solidFill>
                  <a:srgbClr val="0000CC"/>
                </a:solidFill>
                <a:latin typeface="Arial" panose="020B0604020202020204" pitchFamily="34" charset="0"/>
                <a:cs typeface="Arial" panose="020B0604020202020204" pitchFamily="34" charset="0"/>
              </a:rPr>
              <a:t>-</a:t>
            </a:r>
            <a:r>
              <a:rPr lang="en-IN" sz="2800" dirty="0" err="1">
                <a:solidFill>
                  <a:srgbClr val="0000CC"/>
                </a:solidFill>
                <a:latin typeface="Arial" panose="020B0604020202020204" pitchFamily="34" charset="0"/>
                <a:cs typeface="Arial" panose="020B0604020202020204" pitchFamily="34" charset="0"/>
              </a:rPr>
              <a:t>Nitrostyrene</a:t>
            </a:r>
            <a:endParaRPr lang="en-IN" sz="2800" dirty="0">
              <a:solidFill>
                <a:srgbClr val="0000CC"/>
              </a:solidFill>
              <a:latin typeface="Arial" panose="020B0604020202020204" pitchFamily="34" charset="0"/>
              <a:cs typeface="Arial" panose="020B0604020202020204" pitchFamily="34" charset="0"/>
            </a:endParaRPr>
          </a:p>
          <a:p>
            <a:pPr algn="ctr"/>
            <a:endParaRPr lang="en-IN" sz="2800" dirty="0">
              <a:solidFill>
                <a:srgbClr val="C00000"/>
              </a:solidFill>
              <a:latin typeface="Arial" panose="020B0604020202020204" pitchFamily="34" charset="0"/>
              <a:cs typeface="Arial" panose="020B0604020202020204" pitchFamily="34" charset="0"/>
            </a:endParaRPr>
          </a:p>
          <a:p>
            <a:pPr algn="ctr"/>
            <a:r>
              <a:rPr lang="en-IN" sz="2800" b="1" dirty="0">
                <a:solidFill>
                  <a:srgbClr val="C00000"/>
                </a:solidFill>
                <a:latin typeface="Arial" panose="020B0604020202020204" pitchFamily="34" charset="0"/>
                <a:cs typeface="Arial" panose="020B0604020202020204" pitchFamily="34" charset="0"/>
              </a:rPr>
              <a:t>Date</a:t>
            </a:r>
            <a:r>
              <a:rPr lang="en-IN" sz="2800" dirty="0">
                <a:solidFill>
                  <a:srgbClr val="C00000"/>
                </a:solidFill>
                <a:latin typeface="Arial" panose="020B0604020202020204" pitchFamily="34" charset="0"/>
                <a:cs typeface="Arial" panose="020B0604020202020204" pitchFamily="34" charset="0"/>
              </a:rPr>
              <a:t>: 6</a:t>
            </a:r>
            <a:r>
              <a:rPr lang="en-IN" sz="2800" baseline="30000" dirty="0">
                <a:solidFill>
                  <a:srgbClr val="C00000"/>
                </a:solidFill>
                <a:latin typeface="Arial" panose="020B0604020202020204" pitchFamily="34" charset="0"/>
                <a:cs typeface="Arial" panose="020B0604020202020204" pitchFamily="34" charset="0"/>
              </a:rPr>
              <a:t>th</a:t>
            </a:r>
            <a:r>
              <a:rPr lang="en-IN" sz="2800" dirty="0">
                <a:solidFill>
                  <a:srgbClr val="C00000"/>
                </a:solidFill>
                <a:latin typeface="Arial" panose="020B0604020202020204" pitchFamily="34" charset="0"/>
                <a:cs typeface="Arial" panose="020B0604020202020204" pitchFamily="34" charset="0"/>
              </a:rPr>
              <a:t> January</a:t>
            </a:r>
            <a:r>
              <a:rPr lang="en-IN" sz="2800">
                <a:solidFill>
                  <a:srgbClr val="C00000"/>
                </a:solidFill>
                <a:latin typeface="Arial" panose="020B0604020202020204" pitchFamily="34" charset="0"/>
                <a:cs typeface="Arial" panose="020B0604020202020204" pitchFamily="34" charset="0"/>
              </a:rPr>
              <a:t>, 202</a:t>
            </a:r>
            <a:endParaRPr lang="en-IN" sz="2800" dirty="0">
              <a:solidFill>
                <a:srgbClr val="C00000"/>
              </a:solidFill>
              <a:latin typeface="Arial" panose="020B0604020202020204" pitchFamily="34" charset="0"/>
              <a:cs typeface="Arial" panose="020B0604020202020204" pitchFamily="34" charset="0"/>
            </a:endParaRPr>
          </a:p>
          <a:p>
            <a:pPr algn="ctr"/>
            <a:endParaRPr lang="en-IN" sz="2800" dirty="0">
              <a:solidFill>
                <a:srgbClr val="C00000"/>
              </a:solidFill>
              <a:latin typeface="Arial" panose="020B0604020202020204" pitchFamily="34" charset="0"/>
              <a:cs typeface="Arial" panose="020B0604020202020204" pitchFamily="34" charset="0"/>
            </a:endParaRPr>
          </a:p>
          <a:p>
            <a:pPr algn="ctr"/>
            <a:r>
              <a:rPr lang="en-IN" sz="2800" dirty="0">
                <a:solidFill>
                  <a:srgbClr val="003300"/>
                </a:solidFill>
                <a:latin typeface="Arial" panose="020B0604020202020204" pitchFamily="34" charset="0"/>
                <a:cs typeface="Arial" panose="020B0604020202020204" pitchFamily="34" charset="0"/>
              </a:rPr>
              <a:t>Instructor: </a:t>
            </a:r>
            <a:r>
              <a:rPr lang="en-IN" sz="2800" dirty="0" err="1">
                <a:solidFill>
                  <a:srgbClr val="003300"/>
                </a:solidFill>
                <a:latin typeface="Arial" panose="020B0604020202020204" pitchFamily="34" charset="0"/>
                <a:cs typeface="Arial" panose="020B0604020202020204" pitchFamily="34" charset="0"/>
              </a:rPr>
              <a:t>Dr.</a:t>
            </a:r>
            <a:r>
              <a:rPr lang="en-IN" sz="2800" dirty="0">
                <a:solidFill>
                  <a:srgbClr val="003300"/>
                </a:solidFill>
                <a:latin typeface="Arial" panose="020B0604020202020204" pitchFamily="34" charset="0"/>
                <a:cs typeface="Arial" panose="020B0604020202020204" pitchFamily="34" charset="0"/>
              </a:rPr>
              <a:t> Alakesh Bisai</a:t>
            </a:r>
          </a:p>
          <a:p>
            <a:pPr algn="ctr"/>
            <a:r>
              <a:rPr lang="en-IN" sz="2800" dirty="0">
                <a:solidFill>
                  <a:srgbClr val="003300"/>
                </a:solidFill>
                <a:latin typeface="Arial" panose="020B0604020202020204" pitchFamily="34" charset="0"/>
                <a:cs typeface="Arial" panose="020B0604020202020204" pitchFamily="34" charset="0"/>
              </a:rPr>
              <a:t>Professor of Chemistry</a:t>
            </a:r>
          </a:p>
          <a:p>
            <a:pPr algn="ctr"/>
            <a:r>
              <a:rPr lang="en-IN" sz="2800" dirty="0">
                <a:solidFill>
                  <a:srgbClr val="003300"/>
                </a:solidFill>
                <a:latin typeface="Arial" panose="020B0604020202020204" pitchFamily="34" charset="0"/>
                <a:cs typeface="Arial" panose="020B0604020202020204" pitchFamily="34" charset="0"/>
              </a:rPr>
              <a:t>Dept. of Chemical Sciences</a:t>
            </a:r>
          </a:p>
        </p:txBody>
      </p:sp>
      <p:sp>
        <p:nvSpPr>
          <p:cNvPr id="6" name="Rectangle 4"/>
          <p:cNvSpPr>
            <a:spLocks noChangeArrowheads="1"/>
          </p:cNvSpPr>
          <p:nvPr/>
        </p:nvSpPr>
        <p:spPr bwMode="auto">
          <a:xfrm>
            <a:off x="594911" y="1872868"/>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Tree>
    <p:extLst>
      <p:ext uri="{BB962C8B-B14F-4D97-AF65-F5344CB8AC3E}">
        <p14:creationId xmlns:p14="http://schemas.microsoft.com/office/powerpoint/2010/main" val="10081641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TextBox 21">
            <a:extLst>
              <a:ext uri="{FF2B5EF4-FFF2-40B4-BE49-F238E27FC236}">
                <a16:creationId xmlns:a16="http://schemas.microsoft.com/office/drawing/2014/main" id="{EFB2FFB2-63CB-4307-9F2E-FE3789216F95}"/>
              </a:ext>
            </a:extLst>
          </p:cNvPr>
          <p:cNvSpPr txBox="1"/>
          <p:nvPr/>
        </p:nvSpPr>
        <p:spPr>
          <a:xfrm>
            <a:off x="0" y="111891"/>
            <a:ext cx="12192000" cy="523220"/>
          </a:xfrm>
          <a:prstGeom prst="rect">
            <a:avLst/>
          </a:prstGeom>
          <a:noFill/>
        </p:spPr>
        <p:txBody>
          <a:bodyPr wrap="square" rtlCol="0">
            <a:spAutoFit/>
          </a:bodyPr>
          <a:lstStyle/>
          <a:p>
            <a:pPr algn="ctr"/>
            <a:r>
              <a:rPr lang="en-US" sz="2800" b="1" dirty="0">
                <a:solidFill>
                  <a:srgbClr val="C00000"/>
                </a:solidFill>
                <a:latin typeface="Arial" panose="020B0604020202020204" pitchFamily="34" charset="0"/>
                <a:cs typeface="Arial" panose="020B0604020202020204" pitchFamily="34" charset="0"/>
              </a:rPr>
              <a:t>Active Pharmaceutical Ingredients (API’s): Enantiomers</a:t>
            </a:r>
            <a:endParaRPr lang="en-IN" sz="2800" b="1" dirty="0">
              <a:solidFill>
                <a:srgbClr val="C00000"/>
              </a:solidFill>
              <a:latin typeface="Arial" panose="020B0604020202020204" pitchFamily="34" charset="0"/>
              <a:cs typeface="Arial" panose="020B0604020202020204" pitchFamily="34" charset="0"/>
            </a:endParaRPr>
          </a:p>
        </p:txBody>
      </p:sp>
      <p:sp>
        <p:nvSpPr>
          <p:cNvPr id="6" name="Rectangle 4"/>
          <p:cNvSpPr>
            <a:spLocks noChangeArrowheads="1"/>
          </p:cNvSpPr>
          <p:nvPr/>
        </p:nvSpPr>
        <p:spPr bwMode="auto">
          <a:xfrm>
            <a:off x="594911" y="1872868"/>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pic>
        <p:nvPicPr>
          <p:cNvPr id="4" name="Picture 3">
            <a:extLst>
              <a:ext uri="{FF2B5EF4-FFF2-40B4-BE49-F238E27FC236}">
                <a16:creationId xmlns:a16="http://schemas.microsoft.com/office/drawing/2014/main" id="{62632EE7-7D78-4F04-89A5-5F1B64609AEA}"/>
              </a:ext>
            </a:extLst>
          </p:cNvPr>
          <p:cNvPicPr>
            <a:picLocks noChangeAspect="1"/>
          </p:cNvPicPr>
          <p:nvPr/>
        </p:nvPicPr>
        <p:blipFill>
          <a:blip r:embed="rId2"/>
          <a:stretch>
            <a:fillRect/>
          </a:stretch>
        </p:blipFill>
        <p:spPr>
          <a:xfrm>
            <a:off x="712426" y="845780"/>
            <a:ext cx="10884663" cy="4714376"/>
          </a:xfrm>
          <a:prstGeom prst="rect">
            <a:avLst/>
          </a:prstGeom>
        </p:spPr>
      </p:pic>
      <p:pic>
        <p:nvPicPr>
          <p:cNvPr id="7" name="Picture 6">
            <a:extLst>
              <a:ext uri="{FF2B5EF4-FFF2-40B4-BE49-F238E27FC236}">
                <a16:creationId xmlns:a16="http://schemas.microsoft.com/office/drawing/2014/main" id="{C6F46ABF-E8A6-46FF-BDFD-9A03F9A51D75}"/>
              </a:ext>
            </a:extLst>
          </p:cNvPr>
          <p:cNvPicPr>
            <a:picLocks noChangeAspect="1"/>
          </p:cNvPicPr>
          <p:nvPr/>
        </p:nvPicPr>
        <p:blipFill>
          <a:blip r:embed="rId3"/>
          <a:stretch>
            <a:fillRect/>
          </a:stretch>
        </p:blipFill>
        <p:spPr>
          <a:xfrm>
            <a:off x="3062790" y="6012220"/>
            <a:ext cx="5752438" cy="648162"/>
          </a:xfrm>
          <a:prstGeom prst="rect">
            <a:avLst/>
          </a:prstGeom>
        </p:spPr>
      </p:pic>
    </p:spTree>
    <p:extLst>
      <p:ext uri="{BB962C8B-B14F-4D97-AF65-F5344CB8AC3E}">
        <p14:creationId xmlns:p14="http://schemas.microsoft.com/office/powerpoint/2010/main" val="206050451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TextBox 21">
            <a:extLst>
              <a:ext uri="{FF2B5EF4-FFF2-40B4-BE49-F238E27FC236}">
                <a16:creationId xmlns:a16="http://schemas.microsoft.com/office/drawing/2014/main" id="{EFB2FFB2-63CB-4307-9F2E-FE3789216F95}"/>
              </a:ext>
            </a:extLst>
          </p:cNvPr>
          <p:cNvSpPr txBox="1"/>
          <p:nvPr/>
        </p:nvSpPr>
        <p:spPr>
          <a:xfrm>
            <a:off x="0" y="111891"/>
            <a:ext cx="12192000" cy="954107"/>
          </a:xfrm>
          <a:prstGeom prst="rect">
            <a:avLst/>
          </a:prstGeom>
          <a:noFill/>
        </p:spPr>
        <p:txBody>
          <a:bodyPr wrap="square" rtlCol="0">
            <a:spAutoFit/>
          </a:bodyPr>
          <a:lstStyle/>
          <a:p>
            <a:pPr algn="ctr"/>
            <a:r>
              <a:rPr lang="en-US" sz="2800" b="1" dirty="0">
                <a:solidFill>
                  <a:srgbClr val="C00000"/>
                </a:solidFill>
                <a:latin typeface="Arial" panose="020B0604020202020204" pitchFamily="34" charset="0"/>
                <a:cs typeface="Arial" panose="020B0604020202020204" pitchFamily="34" charset="0"/>
              </a:rPr>
              <a:t>API’s with different Biological Properties:</a:t>
            </a:r>
          </a:p>
          <a:p>
            <a:pPr algn="ctr"/>
            <a:r>
              <a:rPr lang="en-US" sz="2800" b="1" dirty="0">
                <a:solidFill>
                  <a:srgbClr val="C00000"/>
                </a:solidFill>
                <a:latin typeface="Arial" panose="020B0604020202020204" pitchFamily="34" charset="0"/>
                <a:cs typeface="Arial" panose="020B0604020202020204" pitchFamily="34" charset="0"/>
              </a:rPr>
              <a:t>Importance of Enantioenriched Organic Molecules as Drugs</a:t>
            </a:r>
            <a:endParaRPr lang="en-IN" sz="2800" b="1" dirty="0">
              <a:solidFill>
                <a:srgbClr val="C00000"/>
              </a:solidFill>
              <a:latin typeface="Arial" panose="020B0604020202020204" pitchFamily="34" charset="0"/>
              <a:cs typeface="Arial" panose="020B0604020202020204" pitchFamily="34" charset="0"/>
            </a:endParaRPr>
          </a:p>
        </p:txBody>
      </p:sp>
      <p:sp>
        <p:nvSpPr>
          <p:cNvPr id="6" name="Rectangle 4"/>
          <p:cNvSpPr>
            <a:spLocks noChangeArrowheads="1"/>
          </p:cNvSpPr>
          <p:nvPr/>
        </p:nvSpPr>
        <p:spPr bwMode="auto">
          <a:xfrm>
            <a:off x="594911" y="1872868"/>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pic>
        <p:nvPicPr>
          <p:cNvPr id="3" name="Picture 2">
            <a:extLst>
              <a:ext uri="{FF2B5EF4-FFF2-40B4-BE49-F238E27FC236}">
                <a16:creationId xmlns:a16="http://schemas.microsoft.com/office/drawing/2014/main" id="{D0AD0FF7-4F68-4E2D-9302-B3A1BD776221}"/>
              </a:ext>
            </a:extLst>
          </p:cNvPr>
          <p:cNvPicPr>
            <a:picLocks noChangeAspect="1"/>
          </p:cNvPicPr>
          <p:nvPr/>
        </p:nvPicPr>
        <p:blipFill>
          <a:blip r:embed="rId2"/>
          <a:stretch>
            <a:fillRect/>
          </a:stretch>
        </p:blipFill>
        <p:spPr>
          <a:xfrm>
            <a:off x="2232917" y="1151291"/>
            <a:ext cx="7541232" cy="5352251"/>
          </a:xfrm>
          <a:prstGeom prst="rect">
            <a:avLst/>
          </a:prstGeom>
        </p:spPr>
      </p:pic>
    </p:spTree>
    <p:extLst>
      <p:ext uri="{BB962C8B-B14F-4D97-AF65-F5344CB8AC3E}">
        <p14:creationId xmlns:p14="http://schemas.microsoft.com/office/powerpoint/2010/main" val="417760673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TextBox 21">
            <a:extLst>
              <a:ext uri="{FF2B5EF4-FFF2-40B4-BE49-F238E27FC236}">
                <a16:creationId xmlns:a16="http://schemas.microsoft.com/office/drawing/2014/main" id="{EFB2FFB2-63CB-4307-9F2E-FE3789216F95}"/>
              </a:ext>
            </a:extLst>
          </p:cNvPr>
          <p:cNvSpPr txBox="1"/>
          <p:nvPr/>
        </p:nvSpPr>
        <p:spPr>
          <a:xfrm>
            <a:off x="0" y="111891"/>
            <a:ext cx="12192000" cy="954107"/>
          </a:xfrm>
          <a:prstGeom prst="rect">
            <a:avLst/>
          </a:prstGeom>
          <a:noFill/>
        </p:spPr>
        <p:txBody>
          <a:bodyPr wrap="square" rtlCol="0">
            <a:spAutoFit/>
          </a:bodyPr>
          <a:lstStyle/>
          <a:p>
            <a:pPr algn="ctr"/>
            <a:r>
              <a:rPr lang="en-US" sz="2800" b="1" dirty="0">
                <a:solidFill>
                  <a:srgbClr val="C00000"/>
                </a:solidFill>
                <a:latin typeface="Arial" panose="020B0604020202020204" pitchFamily="34" charset="0"/>
                <a:cs typeface="Arial" panose="020B0604020202020204" pitchFamily="34" charset="0"/>
              </a:rPr>
              <a:t>Active Pharmaceutical Ingredients (API’s): </a:t>
            </a:r>
          </a:p>
          <a:p>
            <a:pPr algn="ctr"/>
            <a:r>
              <a:rPr lang="en-US" sz="2800" b="1" dirty="0">
                <a:solidFill>
                  <a:srgbClr val="C00000"/>
                </a:solidFill>
                <a:latin typeface="Arial" panose="020B0604020202020204" pitchFamily="34" charset="0"/>
                <a:cs typeface="Arial" panose="020B0604020202020204" pitchFamily="34" charset="0"/>
              </a:rPr>
              <a:t>Importance of Single Enantiomer</a:t>
            </a:r>
            <a:endParaRPr lang="en-IN" sz="2800" b="1" dirty="0">
              <a:solidFill>
                <a:srgbClr val="C00000"/>
              </a:solidFill>
              <a:latin typeface="Arial" panose="020B0604020202020204" pitchFamily="34" charset="0"/>
              <a:cs typeface="Arial" panose="020B0604020202020204" pitchFamily="34" charset="0"/>
            </a:endParaRPr>
          </a:p>
        </p:txBody>
      </p:sp>
      <p:sp>
        <p:nvSpPr>
          <p:cNvPr id="6" name="Rectangle 4"/>
          <p:cNvSpPr>
            <a:spLocks noChangeArrowheads="1"/>
          </p:cNvSpPr>
          <p:nvPr/>
        </p:nvSpPr>
        <p:spPr bwMode="auto">
          <a:xfrm>
            <a:off x="594911" y="1872868"/>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pic>
        <p:nvPicPr>
          <p:cNvPr id="7" name="Picture 6">
            <a:extLst>
              <a:ext uri="{FF2B5EF4-FFF2-40B4-BE49-F238E27FC236}">
                <a16:creationId xmlns:a16="http://schemas.microsoft.com/office/drawing/2014/main" id="{C6F46ABF-E8A6-46FF-BDFD-9A03F9A51D75}"/>
              </a:ext>
            </a:extLst>
          </p:cNvPr>
          <p:cNvPicPr>
            <a:picLocks noChangeAspect="1"/>
          </p:cNvPicPr>
          <p:nvPr/>
        </p:nvPicPr>
        <p:blipFill>
          <a:blip r:embed="rId2"/>
          <a:stretch>
            <a:fillRect/>
          </a:stretch>
        </p:blipFill>
        <p:spPr>
          <a:xfrm>
            <a:off x="3062790" y="6012220"/>
            <a:ext cx="5752438" cy="648162"/>
          </a:xfrm>
          <a:prstGeom prst="rect">
            <a:avLst/>
          </a:prstGeom>
        </p:spPr>
      </p:pic>
      <p:pic>
        <p:nvPicPr>
          <p:cNvPr id="3" name="Picture 2">
            <a:extLst>
              <a:ext uri="{FF2B5EF4-FFF2-40B4-BE49-F238E27FC236}">
                <a16:creationId xmlns:a16="http://schemas.microsoft.com/office/drawing/2014/main" id="{9A4F27E1-CA3D-463C-BBC1-751FB028DD48}"/>
              </a:ext>
            </a:extLst>
          </p:cNvPr>
          <p:cNvPicPr>
            <a:picLocks noChangeAspect="1"/>
          </p:cNvPicPr>
          <p:nvPr/>
        </p:nvPicPr>
        <p:blipFill>
          <a:blip r:embed="rId3"/>
          <a:stretch>
            <a:fillRect/>
          </a:stretch>
        </p:blipFill>
        <p:spPr>
          <a:xfrm>
            <a:off x="742222" y="1267782"/>
            <a:ext cx="10707555" cy="4444645"/>
          </a:xfrm>
          <a:prstGeom prst="rect">
            <a:avLst/>
          </a:prstGeom>
        </p:spPr>
      </p:pic>
    </p:spTree>
    <p:extLst>
      <p:ext uri="{BB962C8B-B14F-4D97-AF65-F5344CB8AC3E}">
        <p14:creationId xmlns:p14="http://schemas.microsoft.com/office/powerpoint/2010/main" val="403330976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4"/>
          <p:cNvSpPr>
            <a:spLocks noChangeArrowheads="1"/>
          </p:cNvSpPr>
          <p:nvPr/>
        </p:nvSpPr>
        <p:spPr bwMode="auto">
          <a:xfrm>
            <a:off x="594911" y="1872868"/>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pic>
        <p:nvPicPr>
          <p:cNvPr id="7" name="Picture 6">
            <a:extLst>
              <a:ext uri="{FF2B5EF4-FFF2-40B4-BE49-F238E27FC236}">
                <a16:creationId xmlns:a16="http://schemas.microsoft.com/office/drawing/2014/main" id="{C6F46ABF-E8A6-46FF-BDFD-9A03F9A51D75}"/>
              </a:ext>
            </a:extLst>
          </p:cNvPr>
          <p:cNvPicPr>
            <a:picLocks noChangeAspect="1"/>
          </p:cNvPicPr>
          <p:nvPr/>
        </p:nvPicPr>
        <p:blipFill>
          <a:blip r:embed="rId2"/>
          <a:stretch>
            <a:fillRect/>
          </a:stretch>
        </p:blipFill>
        <p:spPr>
          <a:xfrm>
            <a:off x="3062790" y="6012220"/>
            <a:ext cx="5752438" cy="648162"/>
          </a:xfrm>
          <a:prstGeom prst="rect">
            <a:avLst/>
          </a:prstGeom>
        </p:spPr>
      </p:pic>
      <p:pic>
        <p:nvPicPr>
          <p:cNvPr id="4" name="Picture 3">
            <a:extLst>
              <a:ext uri="{FF2B5EF4-FFF2-40B4-BE49-F238E27FC236}">
                <a16:creationId xmlns:a16="http://schemas.microsoft.com/office/drawing/2014/main" id="{811E96FB-8E5D-49A9-9CB4-32BEE2702EC4}"/>
              </a:ext>
            </a:extLst>
          </p:cNvPr>
          <p:cNvPicPr>
            <a:picLocks noChangeAspect="1"/>
          </p:cNvPicPr>
          <p:nvPr/>
        </p:nvPicPr>
        <p:blipFill>
          <a:blip r:embed="rId3"/>
          <a:stretch>
            <a:fillRect/>
          </a:stretch>
        </p:blipFill>
        <p:spPr>
          <a:xfrm>
            <a:off x="966593" y="1178502"/>
            <a:ext cx="10552261" cy="4451734"/>
          </a:xfrm>
          <a:prstGeom prst="rect">
            <a:avLst/>
          </a:prstGeom>
        </p:spPr>
      </p:pic>
      <p:sp>
        <p:nvSpPr>
          <p:cNvPr id="8" name="TextBox 7">
            <a:extLst>
              <a:ext uri="{FF2B5EF4-FFF2-40B4-BE49-F238E27FC236}">
                <a16:creationId xmlns:a16="http://schemas.microsoft.com/office/drawing/2014/main" id="{320848C1-00AF-4440-8CB2-5BE1CF41F1DE}"/>
              </a:ext>
            </a:extLst>
          </p:cNvPr>
          <p:cNvSpPr txBox="1"/>
          <p:nvPr/>
        </p:nvSpPr>
        <p:spPr>
          <a:xfrm>
            <a:off x="0" y="111891"/>
            <a:ext cx="12192000" cy="954107"/>
          </a:xfrm>
          <a:prstGeom prst="rect">
            <a:avLst/>
          </a:prstGeom>
          <a:noFill/>
        </p:spPr>
        <p:txBody>
          <a:bodyPr wrap="square" rtlCol="0">
            <a:spAutoFit/>
          </a:bodyPr>
          <a:lstStyle/>
          <a:p>
            <a:pPr algn="ctr"/>
            <a:r>
              <a:rPr lang="en-US" sz="2800" b="1" dirty="0">
                <a:solidFill>
                  <a:srgbClr val="C00000"/>
                </a:solidFill>
                <a:latin typeface="Arial" panose="020B0604020202020204" pitchFamily="34" charset="0"/>
                <a:cs typeface="Arial" panose="020B0604020202020204" pitchFamily="34" charset="0"/>
              </a:rPr>
              <a:t>Active Pharmaceutical Ingredients (API’s): </a:t>
            </a:r>
          </a:p>
          <a:p>
            <a:pPr algn="ctr"/>
            <a:r>
              <a:rPr lang="en-US" sz="2800" b="1" dirty="0">
                <a:solidFill>
                  <a:srgbClr val="C00000"/>
                </a:solidFill>
                <a:latin typeface="Arial" panose="020B0604020202020204" pitchFamily="34" charset="0"/>
                <a:cs typeface="Arial" panose="020B0604020202020204" pitchFamily="34" charset="0"/>
              </a:rPr>
              <a:t>Importance of Single Enantiomer</a:t>
            </a:r>
            <a:endParaRPr lang="en-IN" sz="2800" b="1" dirty="0">
              <a:solidFill>
                <a:srgbClr val="C00000"/>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07556493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4"/>
          <p:cNvSpPr>
            <a:spLocks noChangeArrowheads="1"/>
          </p:cNvSpPr>
          <p:nvPr/>
        </p:nvSpPr>
        <p:spPr bwMode="auto">
          <a:xfrm>
            <a:off x="594911" y="1872868"/>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pic>
        <p:nvPicPr>
          <p:cNvPr id="4" name="Picture 3">
            <a:extLst>
              <a:ext uri="{FF2B5EF4-FFF2-40B4-BE49-F238E27FC236}">
                <a16:creationId xmlns:a16="http://schemas.microsoft.com/office/drawing/2014/main" id="{C3C94413-9061-44A8-8635-D74C3AA155D3}"/>
              </a:ext>
            </a:extLst>
          </p:cNvPr>
          <p:cNvPicPr>
            <a:picLocks noChangeAspect="1"/>
          </p:cNvPicPr>
          <p:nvPr/>
        </p:nvPicPr>
        <p:blipFill>
          <a:blip r:embed="rId2"/>
          <a:stretch>
            <a:fillRect/>
          </a:stretch>
        </p:blipFill>
        <p:spPr>
          <a:xfrm>
            <a:off x="2483528" y="1722481"/>
            <a:ext cx="6712721" cy="3733095"/>
          </a:xfrm>
          <a:prstGeom prst="rect">
            <a:avLst/>
          </a:prstGeom>
        </p:spPr>
      </p:pic>
      <p:sp>
        <p:nvSpPr>
          <p:cNvPr id="7" name="TextBox 6">
            <a:extLst>
              <a:ext uri="{FF2B5EF4-FFF2-40B4-BE49-F238E27FC236}">
                <a16:creationId xmlns:a16="http://schemas.microsoft.com/office/drawing/2014/main" id="{9316EF6C-895D-4054-9563-99E7FCF83193}"/>
              </a:ext>
            </a:extLst>
          </p:cNvPr>
          <p:cNvSpPr txBox="1"/>
          <p:nvPr/>
        </p:nvSpPr>
        <p:spPr>
          <a:xfrm>
            <a:off x="0" y="111891"/>
            <a:ext cx="12192000" cy="954107"/>
          </a:xfrm>
          <a:prstGeom prst="rect">
            <a:avLst/>
          </a:prstGeom>
          <a:noFill/>
        </p:spPr>
        <p:txBody>
          <a:bodyPr wrap="square" rtlCol="0">
            <a:spAutoFit/>
          </a:bodyPr>
          <a:lstStyle/>
          <a:p>
            <a:pPr algn="ctr"/>
            <a:r>
              <a:rPr lang="en-US" sz="2800" b="1" dirty="0">
                <a:solidFill>
                  <a:srgbClr val="C00000"/>
                </a:solidFill>
                <a:latin typeface="Arial" panose="020B0604020202020204" pitchFamily="34" charset="0"/>
                <a:cs typeface="Arial" panose="020B0604020202020204" pitchFamily="34" charset="0"/>
              </a:rPr>
              <a:t>API’s with different Biological Properties:</a:t>
            </a:r>
          </a:p>
          <a:p>
            <a:pPr algn="ctr"/>
            <a:r>
              <a:rPr lang="en-US" sz="2800" b="1" dirty="0">
                <a:solidFill>
                  <a:srgbClr val="C00000"/>
                </a:solidFill>
                <a:latin typeface="Arial" panose="020B0604020202020204" pitchFamily="34" charset="0"/>
                <a:cs typeface="Arial" panose="020B0604020202020204" pitchFamily="34" charset="0"/>
              </a:rPr>
              <a:t>Importance of Enantioenriched Organic Molecules as Drugs</a:t>
            </a:r>
            <a:endParaRPr lang="en-IN" sz="2800" b="1" dirty="0">
              <a:solidFill>
                <a:srgbClr val="C00000"/>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94546360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4"/>
          <p:cNvSpPr>
            <a:spLocks noChangeArrowheads="1"/>
          </p:cNvSpPr>
          <p:nvPr/>
        </p:nvSpPr>
        <p:spPr bwMode="auto">
          <a:xfrm>
            <a:off x="594911" y="1872868"/>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pic>
        <p:nvPicPr>
          <p:cNvPr id="7" name="Picture 6">
            <a:extLst>
              <a:ext uri="{FF2B5EF4-FFF2-40B4-BE49-F238E27FC236}">
                <a16:creationId xmlns:a16="http://schemas.microsoft.com/office/drawing/2014/main" id="{C6F46ABF-E8A6-46FF-BDFD-9A03F9A51D75}"/>
              </a:ext>
            </a:extLst>
          </p:cNvPr>
          <p:cNvPicPr>
            <a:picLocks noChangeAspect="1"/>
          </p:cNvPicPr>
          <p:nvPr/>
        </p:nvPicPr>
        <p:blipFill>
          <a:blip r:embed="rId2"/>
          <a:stretch>
            <a:fillRect/>
          </a:stretch>
        </p:blipFill>
        <p:spPr>
          <a:xfrm>
            <a:off x="3062790" y="6012220"/>
            <a:ext cx="5752438" cy="648162"/>
          </a:xfrm>
          <a:prstGeom prst="rect">
            <a:avLst/>
          </a:prstGeom>
        </p:spPr>
      </p:pic>
      <p:pic>
        <p:nvPicPr>
          <p:cNvPr id="3" name="Picture 2">
            <a:extLst>
              <a:ext uri="{FF2B5EF4-FFF2-40B4-BE49-F238E27FC236}">
                <a16:creationId xmlns:a16="http://schemas.microsoft.com/office/drawing/2014/main" id="{C89756C2-CF3E-43A6-A589-6B9F1D7752E9}"/>
              </a:ext>
            </a:extLst>
          </p:cNvPr>
          <p:cNvPicPr>
            <a:picLocks noChangeAspect="1"/>
          </p:cNvPicPr>
          <p:nvPr/>
        </p:nvPicPr>
        <p:blipFill>
          <a:blip r:embed="rId3"/>
          <a:stretch>
            <a:fillRect/>
          </a:stretch>
        </p:blipFill>
        <p:spPr>
          <a:xfrm>
            <a:off x="594911" y="1575094"/>
            <a:ext cx="11105861" cy="3707811"/>
          </a:xfrm>
          <a:prstGeom prst="rect">
            <a:avLst/>
          </a:prstGeom>
        </p:spPr>
      </p:pic>
      <p:sp>
        <p:nvSpPr>
          <p:cNvPr id="8" name="TextBox 7">
            <a:extLst>
              <a:ext uri="{FF2B5EF4-FFF2-40B4-BE49-F238E27FC236}">
                <a16:creationId xmlns:a16="http://schemas.microsoft.com/office/drawing/2014/main" id="{0BB29780-D30A-4DDC-A6A6-047CF07CCCBB}"/>
              </a:ext>
            </a:extLst>
          </p:cNvPr>
          <p:cNvSpPr txBox="1"/>
          <p:nvPr/>
        </p:nvSpPr>
        <p:spPr>
          <a:xfrm>
            <a:off x="0" y="111891"/>
            <a:ext cx="12192000" cy="954107"/>
          </a:xfrm>
          <a:prstGeom prst="rect">
            <a:avLst/>
          </a:prstGeom>
          <a:noFill/>
        </p:spPr>
        <p:txBody>
          <a:bodyPr wrap="square" rtlCol="0">
            <a:spAutoFit/>
          </a:bodyPr>
          <a:lstStyle/>
          <a:p>
            <a:pPr algn="ctr"/>
            <a:r>
              <a:rPr lang="en-US" sz="2800" b="1" dirty="0">
                <a:solidFill>
                  <a:srgbClr val="C00000"/>
                </a:solidFill>
                <a:latin typeface="Arial" panose="020B0604020202020204" pitchFamily="34" charset="0"/>
                <a:cs typeface="Arial" panose="020B0604020202020204" pitchFamily="34" charset="0"/>
              </a:rPr>
              <a:t>Active Pharmaceutical Ingredients (API’s): </a:t>
            </a:r>
          </a:p>
          <a:p>
            <a:pPr algn="ctr"/>
            <a:r>
              <a:rPr lang="en-US" sz="2800" b="1" dirty="0">
                <a:solidFill>
                  <a:srgbClr val="C00000"/>
                </a:solidFill>
                <a:latin typeface="Arial" panose="020B0604020202020204" pitchFamily="34" charset="0"/>
                <a:cs typeface="Arial" panose="020B0604020202020204" pitchFamily="34" charset="0"/>
              </a:rPr>
              <a:t>Importance of Single Enantiomer</a:t>
            </a:r>
            <a:endParaRPr lang="en-IN" sz="2800" b="1" dirty="0">
              <a:solidFill>
                <a:srgbClr val="C00000"/>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93271745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TextBox 21">
            <a:extLst>
              <a:ext uri="{FF2B5EF4-FFF2-40B4-BE49-F238E27FC236}">
                <a16:creationId xmlns:a16="http://schemas.microsoft.com/office/drawing/2014/main" id="{EFB2FFB2-63CB-4307-9F2E-FE3789216F95}"/>
              </a:ext>
            </a:extLst>
          </p:cNvPr>
          <p:cNvSpPr txBox="1"/>
          <p:nvPr/>
        </p:nvSpPr>
        <p:spPr>
          <a:xfrm>
            <a:off x="0" y="111891"/>
            <a:ext cx="12192000" cy="523220"/>
          </a:xfrm>
          <a:prstGeom prst="rect">
            <a:avLst/>
          </a:prstGeom>
          <a:noFill/>
        </p:spPr>
        <p:txBody>
          <a:bodyPr wrap="square" rtlCol="0">
            <a:spAutoFit/>
          </a:bodyPr>
          <a:lstStyle/>
          <a:p>
            <a:pPr algn="ctr"/>
            <a:r>
              <a:rPr lang="en-US" sz="2800" b="1" dirty="0">
                <a:solidFill>
                  <a:srgbClr val="C00000"/>
                </a:solidFill>
                <a:latin typeface="Arial" panose="020B0604020202020204" pitchFamily="34" charset="0"/>
                <a:cs typeface="Arial" panose="020B0604020202020204" pitchFamily="34" charset="0"/>
              </a:rPr>
              <a:t>Active Pharmaceutical Ingredients (API’s): Enantiomers</a:t>
            </a:r>
            <a:endParaRPr lang="en-IN" sz="2800" b="1" dirty="0">
              <a:solidFill>
                <a:srgbClr val="C00000"/>
              </a:solidFill>
              <a:latin typeface="Arial" panose="020B0604020202020204" pitchFamily="34" charset="0"/>
              <a:cs typeface="Arial" panose="020B0604020202020204" pitchFamily="34" charset="0"/>
            </a:endParaRPr>
          </a:p>
        </p:txBody>
      </p:sp>
      <p:sp>
        <p:nvSpPr>
          <p:cNvPr id="6" name="Rectangle 4"/>
          <p:cNvSpPr>
            <a:spLocks noChangeArrowheads="1"/>
          </p:cNvSpPr>
          <p:nvPr/>
        </p:nvSpPr>
        <p:spPr bwMode="auto">
          <a:xfrm>
            <a:off x="594911" y="1872868"/>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pic>
        <p:nvPicPr>
          <p:cNvPr id="7" name="Picture 6">
            <a:extLst>
              <a:ext uri="{FF2B5EF4-FFF2-40B4-BE49-F238E27FC236}">
                <a16:creationId xmlns:a16="http://schemas.microsoft.com/office/drawing/2014/main" id="{C6F46ABF-E8A6-46FF-BDFD-9A03F9A51D75}"/>
              </a:ext>
            </a:extLst>
          </p:cNvPr>
          <p:cNvPicPr>
            <a:picLocks noChangeAspect="1"/>
          </p:cNvPicPr>
          <p:nvPr/>
        </p:nvPicPr>
        <p:blipFill>
          <a:blip r:embed="rId2"/>
          <a:stretch>
            <a:fillRect/>
          </a:stretch>
        </p:blipFill>
        <p:spPr>
          <a:xfrm>
            <a:off x="4211238" y="6433264"/>
            <a:ext cx="3769524" cy="424736"/>
          </a:xfrm>
          <a:prstGeom prst="rect">
            <a:avLst/>
          </a:prstGeom>
        </p:spPr>
      </p:pic>
      <p:pic>
        <p:nvPicPr>
          <p:cNvPr id="4" name="Picture 3">
            <a:extLst>
              <a:ext uri="{FF2B5EF4-FFF2-40B4-BE49-F238E27FC236}">
                <a16:creationId xmlns:a16="http://schemas.microsoft.com/office/drawing/2014/main" id="{7679B349-9029-4BCD-804A-44F2972C9FFA}"/>
              </a:ext>
            </a:extLst>
          </p:cNvPr>
          <p:cNvPicPr>
            <a:picLocks noChangeAspect="1"/>
          </p:cNvPicPr>
          <p:nvPr/>
        </p:nvPicPr>
        <p:blipFill>
          <a:blip r:embed="rId3"/>
          <a:stretch>
            <a:fillRect/>
          </a:stretch>
        </p:blipFill>
        <p:spPr>
          <a:xfrm>
            <a:off x="2438399" y="708950"/>
            <a:ext cx="7697370" cy="5724311"/>
          </a:xfrm>
          <a:prstGeom prst="rect">
            <a:avLst/>
          </a:prstGeom>
        </p:spPr>
      </p:pic>
    </p:spTree>
    <p:extLst>
      <p:ext uri="{BB962C8B-B14F-4D97-AF65-F5344CB8AC3E}">
        <p14:creationId xmlns:p14="http://schemas.microsoft.com/office/powerpoint/2010/main" val="107732513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TextBox 21">
            <a:extLst>
              <a:ext uri="{FF2B5EF4-FFF2-40B4-BE49-F238E27FC236}">
                <a16:creationId xmlns:a16="http://schemas.microsoft.com/office/drawing/2014/main" id="{EFB2FFB2-63CB-4307-9F2E-FE3789216F95}"/>
              </a:ext>
            </a:extLst>
          </p:cNvPr>
          <p:cNvSpPr txBox="1"/>
          <p:nvPr/>
        </p:nvSpPr>
        <p:spPr>
          <a:xfrm>
            <a:off x="0" y="111891"/>
            <a:ext cx="12192000" cy="954107"/>
          </a:xfrm>
          <a:prstGeom prst="rect">
            <a:avLst/>
          </a:prstGeom>
          <a:noFill/>
        </p:spPr>
        <p:txBody>
          <a:bodyPr wrap="square" rtlCol="0">
            <a:spAutoFit/>
          </a:bodyPr>
          <a:lstStyle/>
          <a:p>
            <a:pPr algn="ctr"/>
            <a:r>
              <a:rPr lang="en-US" sz="2800" b="1" dirty="0">
                <a:solidFill>
                  <a:srgbClr val="C00000"/>
                </a:solidFill>
                <a:latin typeface="Arial" panose="020B0604020202020204" pitchFamily="34" charset="0"/>
                <a:cs typeface="Arial" panose="020B0604020202020204" pitchFamily="34" charset="0"/>
              </a:rPr>
              <a:t>Expt.: Nitro-Aldol Reaction of p-</a:t>
            </a:r>
            <a:r>
              <a:rPr lang="en-US" sz="2800" b="1" dirty="0" err="1">
                <a:solidFill>
                  <a:srgbClr val="C00000"/>
                </a:solidFill>
                <a:latin typeface="Arial" panose="020B0604020202020204" pitchFamily="34" charset="0"/>
                <a:cs typeface="Arial" panose="020B0604020202020204" pitchFamily="34" charset="0"/>
              </a:rPr>
              <a:t>Tolualdehyde</a:t>
            </a:r>
            <a:r>
              <a:rPr lang="en-US" sz="2800" b="1" dirty="0">
                <a:solidFill>
                  <a:srgbClr val="C00000"/>
                </a:solidFill>
                <a:latin typeface="Arial" panose="020B0604020202020204" pitchFamily="34" charset="0"/>
                <a:cs typeface="Arial" panose="020B0604020202020204" pitchFamily="34" charset="0"/>
              </a:rPr>
              <a:t> with Nitromethane: Synthesis of </a:t>
            </a:r>
            <a:r>
              <a:rPr lang="en-US" sz="2800" b="1" dirty="0">
                <a:solidFill>
                  <a:srgbClr val="C00000"/>
                </a:solidFill>
                <a:latin typeface="Symbol" panose="05050102010706020507" pitchFamily="18" charset="2"/>
                <a:cs typeface="Arial" panose="020B0604020202020204" pitchFamily="34" charset="0"/>
              </a:rPr>
              <a:t>b</a:t>
            </a:r>
            <a:r>
              <a:rPr lang="en-US" sz="2800" b="1" dirty="0">
                <a:solidFill>
                  <a:srgbClr val="C00000"/>
                </a:solidFill>
                <a:latin typeface="Arial" panose="020B0604020202020204" pitchFamily="34" charset="0"/>
                <a:cs typeface="Arial" panose="020B0604020202020204" pitchFamily="34" charset="0"/>
              </a:rPr>
              <a:t>-</a:t>
            </a:r>
            <a:r>
              <a:rPr lang="en-US" sz="2800" b="1" dirty="0" err="1">
                <a:solidFill>
                  <a:srgbClr val="C00000"/>
                </a:solidFill>
                <a:latin typeface="Arial" panose="020B0604020202020204" pitchFamily="34" charset="0"/>
                <a:cs typeface="Arial" panose="020B0604020202020204" pitchFamily="34" charset="0"/>
              </a:rPr>
              <a:t>Nitrostyrene</a:t>
            </a:r>
            <a:endParaRPr lang="en-US" sz="2800" b="1" dirty="0">
              <a:solidFill>
                <a:srgbClr val="C00000"/>
              </a:solidFill>
              <a:latin typeface="Arial" panose="020B0604020202020204" pitchFamily="34" charset="0"/>
              <a:cs typeface="Arial" panose="020B0604020202020204" pitchFamily="34" charset="0"/>
            </a:endParaRPr>
          </a:p>
        </p:txBody>
      </p:sp>
      <p:sp>
        <p:nvSpPr>
          <p:cNvPr id="4" name="TextBox 3">
            <a:extLst>
              <a:ext uri="{FF2B5EF4-FFF2-40B4-BE49-F238E27FC236}">
                <a16:creationId xmlns:a16="http://schemas.microsoft.com/office/drawing/2014/main" id="{F9237776-99A7-4961-81F9-EEF8FFAA6976}"/>
              </a:ext>
            </a:extLst>
          </p:cNvPr>
          <p:cNvSpPr txBox="1"/>
          <p:nvPr/>
        </p:nvSpPr>
        <p:spPr>
          <a:xfrm>
            <a:off x="884852" y="3159214"/>
            <a:ext cx="1277914" cy="338554"/>
          </a:xfrm>
          <a:prstGeom prst="rect">
            <a:avLst/>
          </a:prstGeom>
          <a:noFill/>
        </p:spPr>
        <p:txBody>
          <a:bodyPr wrap="none" rtlCol="0">
            <a:spAutoFit/>
          </a:bodyPr>
          <a:lstStyle/>
          <a:p>
            <a:r>
              <a:rPr lang="en-US" sz="1600" dirty="0">
                <a:latin typeface="Arial" panose="020B0604020202020204" pitchFamily="34" charset="0"/>
                <a:cs typeface="Arial" panose="020B0604020202020204" pitchFamily="34" charset="0"/>
              </a:rPr>
              <a:t>Louis </a:t>
            </a:r>
            <a:r>
              <a:rPr lang="en-US" sz="1600" dirty="0">
                <a:solidFill>
                  <a:schemeClr val="accent1"/>
                </a:solidFill>
                <a:latin typeface="Arial" panose="020B0604020202020204" pitchFamily="34" charset="0"/>
                <a:cs typeface="Arial" panose="020B0604020202020204" pitchFamily="34" charset="0"/>
              </a:rPr>
              <a:t>Henry</a:t>
            </a:r>
          </a:p>
        </p:txBody>
      </p:sp>
      <p:sp>
        <p:nvSpPr>
          <p:cNvPr id="10" name="TextBox 9">
            <a:extLst>
              <a:ext uri="{FF2B5EF4-FFF2-40B4-BE49-F238E27FC236}">
                <a16:creationId xmlns:a16="http://schemas.microsoft.com/office/drawing/2014/main" id="{37F0829D-E06E-477F-A876-A4CB326DCF44}"/>
              </a:ext>
            </a:extLst>
          </p:cNvPr>
          <p:cNvSpPr txBox="1"/>
          <p:nvPr/>
        </p:nvSpPr>
        <p:spPr>
          <a:xfrm>
            <a:off x="704437" y="3958699"/>
            <a:ext cx="11180150" cy="2554545"/>
          </a:xfrm>
          <a:prstGeom prst="rect">
            <a:avLst/>
          </a:prstGeom>
          <a:noFill/>
        </p:spPr>
        <p:txBody>
          <a:bodyPr wrap="square" rtlCol="0">
            <a:spAutoFit/>
          </a:bodyPr>
          <a:lstStyle/>
          <a:p>
            <a:pPr marL="285750" indent="-285750" algn="just">
              <a:buFont typeface="Wingdings" panose="05000000000000000000" pitchFamily="2" charset="2"/>
              <a:buChar char="§"/>
            </a:pPr>
            <a:r>
              <a:rPr lang="en-US" sz="1600" dirty="0">
                <a:latin typeface="Arial" panose="020B0604020202020204" pitchFamily="34" charset="0"/>
                <a:cs typeface="Arial" panose="020B0604020202020204" pitchFamily="34" charset="0"/>
              </a:rPr>
              <a:t>The Henry reaction is a classic carbon–carbon bond formation reaction and it was discovered in 1895 by the Belgian chemist Louis Henry and the reaction was named after him.</a:t>
            </a:r>
          </a:p>
          <a:p>
            <a:pPr marL="285750" indent="-285750" algn="just">
              <a:buFont typeface="Wingdings" panose="05000000000000000000" pitchFamily="2" charset="2"/>
              <a:buChar char="§"/>
            </a:pPr>
            <a:endParaRPr lang="en-US" sz="1600" dirty="0">
              <a:latin typeface="Arial" panose="020B0604020202020204" pitchFamily="34" charset="0"/>
              <a:cs typeface="Arial" panose="020B0604020202020204" pitchFamily="34" charset="0"/>
            </a:endParaRPr>
          </a:p>
          <a:p>
            <a:pPr marL="285750" indent="-285750" algn="just">
              <a:buFont typeface="Wingdings" panose="05000000000000000000" pitchFamily="2" charset="2"/>
              <a:buChar char="§"/>
            </a:pPr>
            <a:r>
              <a:rPr lang="en-US" sz="1600" dirty="0">
                <a:latin typeface="Arial" panose="020B0604020202020204" pitchFamily="34" charset="0"/>
                <a:cs typeface="Arial" panose="020B0604020202020204" pitchFamily="34" charset="0"/>
              </a:rPr>
              <a:t>It is the combination of a nitroalkane and an aldehyde or ketone in the presence of a base to form β-nitro </a:t>
            </a:r>
            <a:r>
              <a:rPr lang="en-US" sz="1600" dirty="0" err="1">
                <a:latin typeface="Arial" panose="020B0604020202020204" pitchFamily="34" charset="0"/>
                <a:cs typeface="Arial" panose="020B0604020202020204" pitchFamily="34" charset="0"/>
              </a:rPr>
              <a:t>alcohols.This</a:t>
            </a:r>
            <a:r>
              <a:rPr lang="en-US" sz="1600" dirty="0">
                <a:latin typeface="Arial" panose="020B0604020202020204" pitchFamily="34" charset="0"/>
                <a:cs typeface="Arial" panose="020B0604020202020204" pitchFamily="34" charset="0"/>
              </a:rPr>
              <a:t> type of reaction is referred to as a nitroaldol reaction. </a:t>
            </a:r>
          </a:p>
          <a:p>
            <a:pPr marL="285750" indent="-285750" algn="just">
              <a:buFont typeface="Wingdings" panose="05000000000000000000" pitchFamily="2" charset="2"/>
              <a:buChar char="§"/>
            </a:pPr>
            <a:endParaRPr lang="en-US" sz="1600" dirty="0">
              <a:latin typeface="Arial" panose="020B0604020202020204" pitchFamily="34" charset="0"/>
              <a:cs typeface="Arial" panose="020B0604020202020204" pitchFamily="34" charset="0"/>
            </a:endParaRPr>
          </a:p>
          <a:p>
            <a:pPr marL="285750" indent="-285750" algn="just">
              <a:buFont typeface="Wingdings" panose="05000000000000000000" pitchFamily="2" charset="2"/>
              <a:buChar char="§"/>
            </a:pPr>
            <a:r>
              <a:rPr lang="en-US" sz="1600" dirty="0">
                <a:latin typeface="Arial" panose="020B0604020202020204" pitchFamily="34" charset="0"/>
                <a:cs typeface="Arial" panose="020B0604020202020204" pitchFamily="34" charset="0"/>
              </a:rPr>
              <a:t>The Henry reaction is a useful technique in the area of organic chemistry due to the synthetic utility of its corresponding products, as they can be easily converted to other useful synthetic intermediates many of these uses have been exemplified in the syntheses of various pharmaceuticals including the β-blocker </a:t>
            </a:r>
            <a:r>
              <a:rPr lang="en-US" sz="1600" b="1" dirty="0">
                <a:latin typeface="Arial" panose="020B0604020202020204" pitchFamily="34" charset="0"/>
                <a:cs typeface="Arial" panose="020B0604020202020204" pitchFamily="34" charset="0"/>
              </a:rPr>
              <a:t>(S)-propranolol </a:t>
            </a:r>
            <a:r>
              <a:rPr lang="en-US" sz="1600" dirty="0">
                <a:latin typeface="Arial" panose="020B0604020202020204" pitchFamily="34" charset="0"/>
                <a:cs typeface="Arial" panose="020B0604020202020204" pitchFamily="34" charset="0"/>
              </a:rPr>
              <a:t>, the HIV protease inhibitor Amprenavir (Vertex 478).</a:t>
            </a:r>
          </a:p>
        </p:txBody>
      </p:sp>
      <p:graphicFrame>
        <p:nvGraphicFramePr>
          <p:cNvPr id="6" name="Object 5">
            <a:extLst>
              <a:ext uri="{FF2B5EF4-FFF2-40B4-BE49-F238E27FC236}">
                <a16:creationId xmlns:a16="http://schemas.microsoft.com/office/drawing/2014/main" id="{9D47E611-93FA-40C9-8208-C183B755643E}"/>
              </a:ext>
            </a:extLst>
          </p:cNvPr>
          <p:cNvGraphicFramePr>
            <a:graphicFrameLocks noChangeAspect="1"/>
          </p:cNvGraphicFramePr>
          <p:nvPr>
            <p:extLst>
              <p:ext uri="{D42A27DB-BD31-4B8C-83A1-F6EECF244321}">
                <p14:modId xmlns:p14="http://schemas.microsoft.com/office/powerpoint/2010/main" val="2512956246"/>
              </p:ext>
            </p:extLst>
          </p:nvPr>
        </p:nvGraphicFramePr>
        <p:xfrm>
          <a:off x="3445861" y="1352639"/>
          <a:ext cx="7428634" cy="1806575"/>
        </p:xfrm>
        <a:graphic>
          <a:graphicData uri="http://schemas.openxmlformats.org/presentationml/2006/ole">
            <mc:AlternateContent xmlns:mc="http://schemas.openxmlformats.org/markup-compatibility/2006">
              <mc:Choice xmlns:v="urn:schemas-microsoft-com:vml" Requires="v">
                <p:oleObj name="CS ChemDraw Drawing" r:id="rId2" imgW="4229975" imgH="1028333" progId="ChemDraw.Document.6.0">
                  <p:embed/>
                </p:oleObj>
              </mc:Choice>
              <mc:Fallback>
                <p:oleObj name="CS ChemDraw Drawing" r:id="rId2" imgW="4229975" imgH="1028333" progId="ChemDraw.Document.6.0">
                  <p:embed/>
                  <p:pic>
                    <p:nvPicPr>
                      <p:cNvPr id="0" name=""/>
                      <p:cNvPicPr/>
                      <p:nvPr/>
                    </p:nvPicPr>
                    <p:blipFill>
                      <a:blip r:embed="rId3"/>
                      <a:stretch>
                        <a:fillRect/>
                      </a:stretch>
                    </p:blipFill>
                    <p:spPr>
                      <a:xfrm>
                        <a:off x="3445861" y="1352639"/>
                        <a:ext cx="7428634" cy="1806575"/>
                      </a:xfrm>
                      <a:prstGeom prst="rect">
                        <a:avLst/>
                      </a:prstGeom>
                    </p:spPr>
                  </p:pic>
                </p:oleObj>
              </mc:Fallback>
            </mc:AlternateContent>
          </a:graphicData>
        </a:graphic>
      </p:graphicFrame>
      <p:pic>
        <p:nvPicPr>
          <p:cNvPr id="1043" name="Picture 19" descr="Louis Henry - Wikidata">
            <a:extLst>
              <a:ext uri="{FF2B5EF4-FFF2-40B4-BE49-F238E27FC236}">
                <a16:creationId xmlns:a16="http://schemas.microsoft.com/office/drawing/2014/main" id="{8F5F9E17-473B-4F3D-8573-8CC4F5D258C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84852" y="1069524"/>
            <a:ext cx="1420651" cy="207900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9349764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TextBox 21">
            <a:extLst>
              <a:ext uri="{FF2B5EF4-FFF2-40B4-BE49-F238E27FC236}">
                <a16:creationId xmlns:a16="http://schemas.microsoft.com/office/drawing/2014/main" id="{EFB2FFB2-63CB-4307-9F2E-FE3789216F95}"/>
              </a:ext>
            </a:extLst>
          </p:cNvPr>
          <p:cNvSpPr txBox="1"/>
          <p:nvPr/>
        </p:nvSpPr>
        <p:spPr>
          <a:xfrm>
            <a:off x="0" y="111891"/>
            <a:ext cx="12192000" cy="461665"/>
          </a:xfrm>
          <a:prstGeom prst="rect">
            <a:avLst/>
          </a:prstGeom>
          <a:noFill/>
        </p:spPr>
        <p:txBody>
          <a:bodyPr wrap="square" rtlCol="0">
            <a:spAutoFit/>
          </a:bodyPr>
          <a:lstStyle/>
          <a:p>
            <a:pPr algn="ctr"/>
            <a:r>
              <a:rPr lang="en-US" sz="2400" b="1" dirty="0">
                <a:solidFill>
                  <a:srgbClr val="C00000"/>
                </a:solidFill>
                <a:latin typeface="Arial" panose="020B0604020202020204" pitchFamily="34" charset="0"/>
                <a:cs typeface="Arial" panose="020B0604020202020204" pitchFamily="34" charset="0"/>
              </a:rPr>
              <a:t>Henry Reaction: Mechanism</a:t>
            </a:r>
          </a:p>
        </p:txBody>
      </p:sp>
      <p:pic>
        <p:nvPicPr>
          <p:cNvPr id="6148" name="Picture 4" descr="Henry reaction mechanism">
            <a:extLst>
              <a:ext uri="{FF2B5EF4-FFF2-40B4-BE49-F238E27FC236}">
                <a16:creationId xmlns:a16="http://schemas.microsoft.com/office/drawing/2014/main" id="{0AE9B558-4DED-433D-9E90-660B2A0DB37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89207" y="1052951"/>
            <a:ext cx="5114779" cy="4131609"/>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a:extLst>
              <a:ext uri="{FF2B5EF4-FFF2-40B4-BE49-F238E27FC236}">
                <a16:creationId xmlns:a16="http://schemas.microsoft.com/office/drawing/2014/main" id="{E95EDC43-72B9-49D7-9204-34DFED2A4500}"/>
              </a:ext>
            </a:extLst>
          </p:cNvPr>
          <p:cNvSpPr/>
          <p:nvPr/>
        </p:nvSpPr>
        <p:spPr>
          <a:xfrm>
            <a:off x="313677" y="5805049"/>
            <a:ext cx="11333825" cy="646331"/>
          </a:xfrm>
          <a:prstGeom prst="rect">
            <a:avLst/>
          </a:prstGeom>
        </p:spPr>
        <p:txBody>
          <a:bodyPr wrap="square">
            <a:spAutoFit/>
          </a:bodyPr>
          <a:lstStyle/>
          <a:p>
            <a:r>
              <a:rPr lang="en-US" dirty="0"/>
              <a:t>In the Henry reaction of nitromethane and benzaldehyde for the synthesis of </a:t>
            </a:r>
            <a:r>
              <a:rPr lang="en-US" dirty="0">
                <a:latin typeface="Symbol" panose="05050102010706020507" pitchFamily="18" charset="2"/>
              </a:rPr>
              <a:t>b</a:t>
            </a:r>
            <a:r>
              <a:rPr lang="en-US" dirty="0"/>
              <a:t>-hydroxy nitro compound, nitromethane contributes to HOMO while benzaldehyde contributes to LUMO</a:t>
            </a:r>
            <a:endParaRPr lang="en-IN" dirty="0"/>
          </a:p>
        </p:txBody>
      </p:sp>
    </p:spTree>
    <p:extLst>
      <p:ext uri="{BB962C8B-B14F-4D97-AF65-F5344CB8AC3E}">
        <p14:creationId xmlns:p14="http://schemas.microsoft.com/office/powerpoint/2010/main" val="254544935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TextBox 21">
            <a:extLst>
              <a:ext uri="{FF2B5EF4-FFF2-40B4-BE49-F238E27FC236}">
                <a16:creationId xmlns:a16="http://schemas.microsoft.com/office/drawing/2014/main" id="{EFB2FFB2-63CB-4307-9F2E-FE3789216F95}"/>
              </a:ext>
            </a:extLst>
          </p:cNvPr>
          <p:cNvSpPr txBox="1"/>
          <p:nvPr/>
        </p:nvSpPr>
        <p:spPr>
          <a:xfrm>
            <a:off x="0" y="58625"/>
            <a:ext cx="12192000" cy="461665"/>
          </a:xfrm>
          <a:prstGeom prst="rect">
            <a:avLst/>
          </a:prstGeom>
          <a:noFill/>
        </p:spPr>
        <p:txBody>
          <a:bodyPr wrap="square" rtlCol="0">
            <a:spAutoFit/>
          </a:bodyPr>
          <a:lstStyle/>
          <a:p>
            <a:pPr algn="ctr"/>
            <a:r>
              <a:rPr lang="en-US" sz="2400" b="1" dirty="0">
                <a:solidFill>
                  <a:srgbClr val="C00000"/>
                </a:solidFill>
                <a:latin typeface="Arial" panose="020B0604020202020204" pitchFamily="34" charset="0"/>
                <a:cs typeface="Arial" panose="020B0604020202020204" pitchFamily="34" charset="0"/>
              </a:rPr>
              <a:t>Henry Reaction: Stereochemical Course</a:t>
            </a:r>
          </a:p>
        </p:txBody>
      </p:sp>
      <p:sp>
        <p:nvSpPr>
          <p:cNvPr id="6" name="Rectangle 4"/>
          <p:cNvSpPr>
            <a:spLocks noChangeArrowheads="1"/>
          </p:cNvSpPr>
          <p:nvPr/>
        </p:nvSpPr>
        <p:spPr bwMode="auto">
          <a:xfrm>
            <a:off x="594911" y="1872868"/>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pic>
        <p:nvPicPr>
          <p:cNvPr id="7170" name="Picture 2" descr="Henry stereoselection without modification">
            <a:extLst>
              <a:ext uri="{FF2B5EF4-FFF2-40B4-BE49-F238E27FC236}">
                <a16:creationId xmlns:a16="http://schemas.microsoft.com/office/drawing/2014/main" id="{903BFD44-7DDA-4E9F-9BA6-E04727FC796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37190" y="1112390"/>
            <a:ext cx="8568452" cy="2594337"/>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a:extLst>
              <a:ext uri="{FF2B5EF4-FFF2-40B4-BE49-F238E27FC236}">
                <a16:creationId xmlns:a16="http://schemas.microsoft.com/office/drawing/2014/main" id="{C6B6DD87-99F4-47AB-A2E8-2B9763FCFAAD}"/>
              </a:ext>
            </a:extLst>
          </p:cNvPr>
          <p:cNvSpPr/>
          <p:nvPr/>
        </p:nvSpPr>
        <p:spPr>
          <a:xfrm>
            <a:off x="575569" y="4351192"/>
            <a:ext cx="11040862" cy="646331"/>
          </a:xfrm>
          <a:prstGeom prst="rect">
            <a:avLst/>
          </a:prstGeom>
        </p:spPr>
        <p:txBody>
          <a:bodyPr wrap="square">
            <a:spAutoFit/>
          </a:bodyPr>
          <a:lstStyle/>
          <a:p>
            <a:pPr algn="just"/>
            <a:r>
              <a:rPr lang="en-US" dirty="0"/>
              <a:t>Due to the reversibility of the reaction and the tendency for easy epimerization of the nitro-substituted carbon atom (among a number of factors), the Henry reaction will typically produce a mixture of enantiomers or diastereomers</a:t>
            </a:r>
            <a:endParaRPr lang="en-IN" dirty="0"/>
          </a:p>
        </p:txBody>
      </p:sp>
    </p:spTree>
    <p:extLst>
      <p:ext uri="{BB962C8B-B14F-4D97-AF65-F5344CB8AC3E}">
        <p14:creationId xmlns:p14="http://schemas.microsoft.com/office/powerpoint/2010/main" val="182350598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TextBox 21">
            <a:extLst>
              <a:ext uri="{FF2B5EF4-FFF2-40B4-BE49-F238E27FC236}">
                <a16:creationId xmlns:a16="http://schemas.microsoft.com/office/drawing/2014/main" id="{EFB2FFB2-63CB-4307-9F2E-FE3789216F95}"/>
              </a:ext>
            </a:extLst>
          </p:cNvPr>
          <p:cNvSpPr txBox="1"/>
          <p:nvPr/>
        </p:nvSpPr>
        <p:spPr>
          <a:xfrm>
            <a:off x="0" y="111891"/>
            <a:ext cx="12192000" cy="461665"/>
          </a:xfrm>
          <a:prstGeom prst="rect">
            <a:avLst/>
          </a:prstGeom>
          <a:noFill/>
        </p:spPr>
        <p:txBody>
          <a:bodyPr wrap="square" rtlCol="0">
            <a:spAutoFit/>
          </a:bodyPr>
          <a:lstStyle/>
          <a:p>
            <a:pPr algn="ctr"/>
            <a:r>
              <a:rPr lang="en-US" sz="2400" b="1" dirty="0">
                <a:solidFill>
                  <a:srgbClr val="C00000"/>
                </a:solidFill>
                <a:latin typeface="Arial" panose="020B0604020202020204" pitchFamily="34" charset="0"/>
                <a:cs typeface="Arial" panose="020B0604020202020204" pitchFamily="34" charset="0"/>
              </a:rPr>
              <a:t>Henry Reaction: followed by different conditions</a:t>
            </a:r>
          </a:p>
        </p:txBody>
      </p:sp>
      <p:sp>
        <p:nvSpPr>
          <p:cNvPr id="6" name="Rectangle 4"/>
          <p:cNvSpPr>
            <a:spLocks noChangeArrowheads="1"/>
          </p:cNvSpPr>
          <p:nvPr/>
        </p:nvSpPr>
        <p:spPr bwMode="auto">
          <a:xfrm>
            <a:off x="594911" y="1872868"/>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pic>
        <p:nvPicPr>
          <p:cNvPr id="8194" name="Picture 2" descr="Henry reaction synthetic scheme">
            <a:extLst>
              <a:ext uri="{FF2B5EF4-FFF2-40B4-BE49-F238E27FC236}">
                <a16:creationId xmlns:a16="http://schemas.microsoft.com/office/drawing/2014/main" id="{C5BA2518-2B3B-4D73-A2E0-FDAC7502054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42712" y="928271"/>
            <a:ext cx="7524565" cy="564342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5565749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TextBox 21">
            <a:extLst>
              <a:ext uri="{FF2B5EF4-FFF2-40B4-BE49-F238E27FC236}">
                <a16:creationId xmlns:a16="http://schemas.microsoft.com/office/drawing/2014/main" id="{EFB2FFB2-63CB-4307-9F2E-FE3789216F95}"/>
              </a:ext>
            </a:extLst>
          </p:cNvPr>
          <p:cNvSpPr txBox="1"/>
          <p:nvPr/>
        </p:nvSpPr>
        <p:spPr>
          <a:xfrm>
            <a:off x="0" y="253934"/>
            <a:ext cx="12192000" cy="461665"/>
          </a:xfrm>
          <a:prstGeom prst="rect">
            <a:avLst/>
          </a:prstGeom>
          <a:noFill/>
        </p:spPr>
        <p:txBody>
          <a:bodyPr wrap="square" rtlCol="0">
            <a:spAutoFit/>
          </a:bodyPr>
          <a:lstStyle/>
          <a:p>
            <a:pPr algn="ctr"/>
            <a:r>
              <a:rPr lang="en-US" sz="2400" b="1" dirty="0">
                <a:solidFill>
                  <a:srgbClr val="C00000"/>
                </a:solidFill>
                <a:latin typeface="Arial" panose="020B0604020202020204" pitchFamily="34" charset="0"/>
                <a:cs typeface="Arial" panose="020B0604020202020204" pitchFamily="34" charset="0"/>
              </a:rPr>
              <a:t>1,4 addition to </a:t>
            </a:r>
            <a:r>
              <a:rPr lang="en-US" sz="2400" b="1" dirty="0">
                <a:solidFill>
                  <a:srgbClr val="C00000"/>
                </a:solidFill>
                <a:latin typeface="Symbol" panose="05050102010706020507" pitchFamily="18" charset="2"/>
                <a:cs typeface="Arial" panose="020B0604020202020204" pitchFamily="34" charset="0"/>
              </a:rPr>
              <a:t>b</a:t>
            </a:r>
            <a:r>
              <a:rPr lang="en-US" sz="2400" b="1" dirty="0">
                <a:solidFill>
                  <a:srgbClr val="C00000"/>
                </a:solidFill>
                <a:latin typeface="Arial" panose="020B0604020202020204" pitchFamily="34" charset="0"/>
                <a:cs typeface="Arial" panose="020B0604020202020204" pitchFamily="34" charset="0"/>
              </a:rPr>
              <a:t>-</a:t>
            </a:r>
            <a:r>
              <a:rPr lang="en-US" sz="2400" b="1" dirty="0" err="1">
                <a:solidFill>
                  <a:srgbClr val="C00000"/>
                </a:solidFill>
                <a:latin typeface="Arial" panose="020B0604020202020204" pitchFamily="34" charset="0"/>
                <a:cs typeface="Arial" panose="020B0604020202020204" pitchFamily="34" charset="0"/>
              </a:rPr>
              <a:t>Nitrostyrene</a:t>
            </a:r>
            <a:r>
              <a:rPr lang="en-US" sz="2400" b="1" dirty="0">
                <a:solidFill>
                  <a:srgbClr val="C00000"/>
                </a:solidFill>
                <a:latin typeface="Arial" panose="020B0604020202020204" pitchFamily="34" charset="0"/>
                <a:cs typeface="Arial" panose="020B0604020202020204" pitchFamily="34" charset="0"/>
              </a:rPr>
              <a:t>: preparation of </a:t>
            </a:r>
            <a:r>
              <a:rPr lang="en-US" sz="2400" b="1" dirty="0">
                <a:solidFill>
                  <a:srgbClr val="C00000"/>
                </a:solidFill>
                <a:latin typeface="Symbol" panose="05050102010706020507" pitchFamily="18" charset="2"/>
                <a:cs typeface="Arial" panose="020B0604020202020204" pitchFamily="34" charset="0"/>
              </a:rPr>
              <a:t></a:t>
            </a:r>
            <a:r>
              <a:rPr lang="en-US" sz="2400" b="1" dirty="0">
                <a:solidFill>
                  <a:srgbClr val="C00000"/>
                </a:solidFill>
                <a:latin typeface="Arial" panose="020B0604020202020204" pitchFamily="34" charset="0"/>
                <a:cs typeface="Arial" panose="020B0604020202020204" pitchFamily="34" charset="0"/>
              </a:rPr>
              <a:t>-keto nitro compound</a:t>
            </a:r>
          </a:p>
        </p:txBody>
      </p:sp>
      <p:sp>
        <p:nvSpPr>
          <p:cNvPr id="6" name="Rectangle 4"/>
          <p:cNvSpPr>
            <a:spLocks noChangeArrowheads="1"/>
          </p:cNvSpPr>
          <p:nvPr/>
        </p:nvSpPr>
        <p:spPr bwMode="auto">
          <a:xfrm>
            <a:off x="594911" y="1872868"/>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pic>
        <p:nvPicPr>
          <p:cNvPr id="2" name="Picture 1">
            <a:extLst>
              <a:ext uri="{FF2B5EF4-FFF2-40B4-BE49-F238E27FC236}">
                <a16:creationId xmlns:a16="http://schemas.microsoft.com/office/drawing/2014/main" id="{A91D68CB-C597-477A-8D0D-A3FF32A7D832}"/>
              </a:ext>
            </a:extLst>
          </p:cNvPr>
          <p:cNvPicPr>
            <a:picLocks noChangeAspect="1"/>
          </p:cNvPicPr>
          <p:nvPr/>
        </p:nvPicPr>
        <p:blipFill>
          <a:blip r:embed="rId2"/>
          <a:stretch>
            <a:fillRect/>
          </a:stretch>
        </p:blipFill>
        <p:spPr>
          <a:xfrm>
            <a:off x="1157688" y="1603605"/>
            <a:ext cx="9876623" cy="1466883"/>
          </a:xfrm>
          <a:prstGeom prst="rect">
            <a:avLst/>
          </a:prstGeom>
        </p:spPr>
      </p:pic>
    </p:spTree>
    <p:extLst>
      <p:ext uri="{BB962C8B-B14F-4D97-AF65-F5344CB8AC3E}">
        <p14:creationId xmlns:p14="http://schemas.microsoft.com/office/powerpoint/2010/main" val="167351492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TextBox 21">
            <a:extLst>
              <a:ext uri="{FF2B5EF4-FFF2-40B4-BE49-F238E27FC236}">
                <a16:creationId xmlns:a16="http://schemas.microsoft.com/office/drawing/2014/main" id="{EFB2FFB2-63CB-4307-9F2E-FE3789216F95}"/>
              </a:ext>
            </a:extLst>
          </p:cNvPr>
          <p:cNvSpPr txBox="1"/>
          <p:nvPr/>
        </p:nvSpPr>
        <p:spPr>
          <a:xfrm>
            <a:off x="0" y="253934"/>
            <a:ext cx="12192000" cy="461665"/>
          </a:xfrm>
          <a:prstGeom prst="rect">
            <a:avLst/>
          </a:prstGeom>
          <a:noFill/>
        </p:spPr>
        <p:txBody>
          <a:bodyPr wrap="square" rtlCol="0">
            <a:spAutoFit/>
          </a:bodyPr>
          <a:lstStyle/>
          <a:p>
            <a:pPr algn="ctr"/>
            <a:r>
              <a:rPr lang="en-US" sz="2400" b="1" dirty="0">
                <a:solidFill>
                  <a:srgbClr val="C00000"/>
                </a:solidFill>
                <a:latin typeface="Arial" panose="020B0604020202020204" pitchFamily="34" charset="0"/>
                <a:cs typeface="Arial" panose="020B0604020202020204" pitchFamily="34" charset="0"/>
              </a:rPr>
              <a:t>Reduction of </a:t>
            </a:r>
            <a:r>
              <a:rPr lang="en-US" sz="2400" b="1" dirty="0">
                <a:solidFill>
                  <a:srgbClr val="C00000"/>
                </a:solidFill>
                <a:latin typeface="Symbol" panose="05050102010706020507" pitchFamily="18" charset="2"/>
                <a:cs typeface="Arial" panose="020B0604020202020204" pitchFamily="34" charset="0"/>
              </a:rPr>
              <a:t>b</a:t>
            </a:r>
            <a:r>
              <a:rPr lang="en-US" sz="2400" b="1" dirty="0">
                <a:solidFill>
                  <a:srgbClr val="C00000"/>
                </a:solidFill>
                <a:latin typeface="Arial" panose="020B0604020202020204" pitchFamily="34" charset="0"/>
                <a:cs typeface="Arial" panose="020B0604020202020204" pitchFamily="34" charset="0"/>
              </a:rPr>
              <a:t>-</a:t>
            </a:r>
            <a:r>
              <a:rPr lang="en-US" sz="2400" b="1" dirty="0" err="1">
                <a:solidFill>
                  <a:srgbClr val="C00000"/>
                </a:solidFill>
                <a:latin typeface="Arial" panose="020B0604020202020204" pitchFamily="34" charset="0"/>
                <a:cs typeface="Arial" panose="020B0604020202020204" pitchFamily="34" charset="0"/>
              </a:rPr>
              <a:t>Nitrostyrene</a:t>
            </a:r>
            <a:r>
              <a:rPr lang="en-US" sz="2400" b="1" dirty="0">
                <a:solidFill>
                  <a:srgbClr val="C00000"/>
                </a:solidFill>
                <a:latin typeface="Arial" panose="020B0604020202020204" pitchFamily="34" charset="0"/>
                <a:cs typeface="Arial" panose="020B0604020202020204" pitchFamily="34" charset="0"/>
              </a:rPr>
              <a:t>  </a:t>
            </a:r>
          </a:p>
        </p:txBody>
      </p:sp>
      <p:sp>
        <p:nvSpPr>
          <p:cNvPr id="6" name="Rectangle 4"/>
          <p:cNvSpPr>
            <a:spLocks noChangeArrowheads="1"/>
          </p:cNvSpPr>
          <p:nvPr/>
        </p:nvSpPr>
        <p:spPr bwMode="auto">
          <a:xfrm>
            <a:off x="594911" y="1872868"/>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pic>
        <p:nvPicPr>
          <p:cNvPr id="10242" name="Picture 2" descr="Phenyl-2-nitropropene - Wikipedia">
            <a:extLst>
              <a:ext uri="{FF2B5EF4-FFF2-40B4-BE49-F238E27FC236}">
                <a16:creationId xmlns:a16="http://schemas.microsoft.com/office/drawing/2014/main" id="{C507A3C0-E039-4E7D-AD4F-2EB90EE57CF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56019" y="1597661"/>
            <a:ext cx="6039405" cy="1637608"/>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3" name="Object 2">
            <a:extLst>
              <a:ext uri="{FF2B5EF4-FFF2-40B4-BE49-F238E27FC236}">
                <a16:creationId xmlns:a16="http://schemas.microsoft.com/office/drawing/2014/main" id="{E528D39F-8759-4F22-ADE6-C80019ACCE80}"/>
              </a:ext>
            </a:extLst>
          </p:cNvPr>
          <p:cNvGraphicFramePr>
            <a:graphicFrameLocks noChangeAspect="1"/>
          </p:cNvGraphicFramePr>
          <p:nvPr>
            <p:extLst>
              <p:ext uri="{D42A27DB-BD31-4B8C-83A1-F6EECF244321}">
                <p14:modId xmlns:p14="http://schemas.microsoft.com/office/powerpoint/2010/main" val="3333227532"/>
              </p:ext>
            </p:extLst>
          </p:nvPr>
        </p:nvGraphicFramePr>
        <p:xfrm>
          <a:off x="2669271" y="4046311"/>
          <a:ext cx="6853457" cy="792738"/>
        </p:xfrm>
        <a:graphic>
          <a:graphicData uri="http://schemas.openxmlformats.org/presentationml/2006/ole">
            <mc:AlternateContent xmlns:mc="http://schemas.openxmlformats.org/markup-compatibility/2006">
              <mc:Choice xmlns:v="urn:schemas-microsoft-com:vml" Requires="v">
                <p:oleObj name="CS ChemDraw Drawing" r:id="rId3" imgW="3637366" imgH="420297" progId="ChemDraw.Document.6.0">
                  <p:embed/>
                </p:oleObj>
              </mc:Choice>
              <mc:Fallback>
                <p:oleObj name="CS ChemDraw Drawing" r:id="rId3" imgW="3637366" imgH="420297" progId="ChemDraw.Document.6.0">
                  <p:embed/>
                  <p:pic>
                    <p:nvPicPr>
                      <p:cNvPr id="0" name=""/>
                      <p:cNvPicPr/>
                      <p:nvPr/>
                    </p:nvPicPr>
                    <p:blipFill>
                      <a:blip r:embed="rId4"/>
                      <a:stretch>
                        <a:fillRect/>
                      </a:stretch>
                    </p:blipFill>
                    <p:spPr>
                      <a:xfrm>
                        <a:off x="2669271" y="4046311"/>
                        <a:ext cx="6853457" cy="792738"/>
                      </a:xfrm>
                      <a:prstGeom prst="rect">
                        <a:avLst/>
                      </a:prstGeom>
                    </p:spPr>
                  </p:pic>
                </p:oleObj>
              </mc:Fallback>
            </mc:AlternateContent>
          </a:graphicData>
        </a:graphic>
      </p:graphicFrame>
    </p:spTree>
    <p:extLst>
      <p:ext uri="{BB962C8B-B14F-4D97-AF65-F5344CB8AC3E}">
        <p14:creationId xmlns:p14="http://schemas.microsoft.com/office/powerpoint/2010/main" val="314700637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TextBox 21">
            <a:extLst>
              <a:ext uri="{FF2B5EF4-FFF2-40B4-BE49-F238E27FC236}">
                <a16:creationId xmlns:a16="http://schemas.microsoft.com/office/drawing/2014/main" id="{EFB2FFB2-63CB-4307-9F2E-FE3789216F95}"/>
              </a:ext>
            </a:extLst>
          </p:cNvPr>
          <p:cNvSpPr txBox="1"/>
          <p:nvPr/>
        </p:nvSpPr>
        <p:spPr>
          <a:xfrm>
            <a:off x="0" y="111891"/>
            <a:ext cx="12192000" cy="461665"/>
          </a:xfrm>
          <a:prstGeom prst="rect">
            <a:avLst/>
          </a:prstGeom>
          <a:noFill/>
        </p:spPr>
        <p:txBody>
          <a:bodyPr wrap="square" rtlCol="0">
            <a:spAutoFit/>
          </a:bodyPr>
          <a:lstStyle/>
          <a:p>
            <a:pPr algn="ctr"/>
            <a:r>
              <a:rPr lang="en-US" sz="2400" b="1" dirty="0">
                <a:solidFill>
                  <a:srgbClr val="C00000"/>
                </a:solidFill>
                <a:latin typeface="Arial" panose="020B0604020202020204" pitchFamily="34" charset="0"/>
                <a:cs typeface="Arial" panose="020B0604020202020204" pitchFamily="34" charset="0"/>
              </a:rPr>
              <a:t>Asymmetric Henry Reaction: Using </a:t>
            </a:r>
            <a:r>
              <a:rPr lang="en-US" sz="2400" b="1" dirty="0" err="1">
                <a:solidFill>
                  <a:srgbClr val="C00000"/>
                </a:solidFill>
                <a:latin typeface="Arial" panose="020B0604020202020204" pitchFamily="34" charset="0"/>
                <a:cs typeface="Arial" panose="020B0604020202020204" pitchFamily="34" charset="0"/>
              </a:rPr>
              <a:t>Organocatalysis</a:t>
            </a:r>
            <a:endParaRPr lang="en-US" sz="2400" b="1" dirty="0">
              <a:solidFill>
                <a:srgbClr val="C00000"/>
              </a:solidFill>
              <a:latin typeface="Arial" panose="020B0604020202020204" pitchFamily="34" charset="0"/>
              <a:cs typeface="Arial" panose="020B0604020202020204" pitchFamily="34" charset="0"/>
            </a:endParaRPr>
          </a:p>
        </p:txBody>
      </p:sp>
      <p:sp>
        <p:nvSpPr>
          <p:cNvPr id="3" name="Rectangle 2">
            <a:extLst>
              <a:ext uri="{FF2B5EF4-FFF2-40B4-BE49-F238E27FC236}">
                <a16:creationId xmlns:a16="http://schemas.microsoft.com/office/drawing/2014/main" id="{94F5C412-2694-4DE4-B933-D31B429DDE1D}"/>
              </a:ext>
            </a:extLst>
          </p:cNvPr>
          <p:cNvSpPr/>
          <p:nvPr/>
        </p:nvSpPr>
        <p:spPr>
          <a:xfrm>
            <a:off x="745724" y="5645556"/>
            <a:ext cx="11283519" cy="923330"/>
          </a:xfrm>
          <a:prstGeom prst="rect">
            <a:avLst/>
          </a:prstGeom>
        </p:spPr>
        <p:txBody>
          <a:bodyPr wrap="square">
            <a:spAutoFit/>
          </a:bodyPr>
          <a:lstStyle/>
          <a:p>
            <a:r>
              <a:rPr lang="en-US" dirty="0" err="1"/>
              <a:t>Organocatalysis</a:t>
            </a:r>
            <a:r>
              <a:rPr lang="en-US" dirty="0"/>
              <a:t>- In 2006, </a:t>
            </a:r>
            <a:r>
              <a:rPr lang="en-US" dirty="0" err="1"/>
              <a:t>Hiemstra</a:t>
            </a:r>
            <a:r>
              <a:rPr lang="en-US" dirty="0"/>
              <a:t> and coworkers explored the use of quinine derivatives as asymmetric catalysts for the reaction between aromatic aldehydes and nitromethane. Through the use of particular derivatives, they were able to induce direct </a:t>
            </a:r>
            <a:r>
              <a:rPr lang="en-US" dirty="0" err="1"/>
              <a:t>enantioselection</a:t>
            </a:r>
            <a:r>
              <a:rPr lang="en-US" dirty="0"/>
              <a:t> through the use of the proper catalyst.</a:t>
            </a:r>
            <a:endParaRPr lang="en-IN" dirty="0"/>
          </a:p>
        </p:txBody>
      </p:sp>
      <p:pic>
        <p:nvPicPr>
          <p:cNvPr id="9218" name="Picture 2" descr="Chinchura">
            <a:extLst>
              <a:ext uri="{FF2B5EF4-FFF2-40B4-BE49-F238E27FC236}">
                <a16:creationId xmlns:a16="http://schemas.microsoft.com/office/drawing/2014/main" id="{FFCD0CB1-A63F-4DC2-8AB4-57BC4EEDEDB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68834" y="872764"/>
            <a:ext cx="6254331" cy="447358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6067813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TextBox 21">
            <a:extLst>
              <a:ext uri="{FF2B5EF4-FFF2-40B4-BE49-F238E27FC236}">
                <a16:creationId xmlns:a16="http://schemas.microsoft.com/office/drawing/2014/main" id="{EFB2FFB2-63CB-4307-9F2E-FE3789216F95}"/>
              </a:ext>
            </a:extLst>
          </p:cNvPr>
          <p:cNvSpPr txBox="1"/>
          <p:nvPr/>
        </p:nvSpPr>
        <p:spPr>
          <a:xfrm>
            <a:off x="0" y="111891"/>
            <a:ext cx="12192000" cy="954107"/>
          </a:xfrm>
          <a:prstGeom prst="rect">
            <a:avLst/>
          </a:prstGeom>
          <a:noFill/>
        </p:spPr>
        <p:txBody>
          <a:bodyPr wrap="square" rtlCol="0">
            <a:spAutoFit/>
          </a:bodyPr>
          <a:lstStyle/>
          <a:p>
            <a:pPr algn="ctr"/>
            <a:r>
              <a:rPr lang="en-US" sz="2800" b="1" dirty="0">
                <a:solidFill>
                  <a:srgbClr val="C00000"/>
                </a:solidFill>
                <a:latin typeface="Arial" panose="020B0604020202020204" pitchFamily="34" charset="0"/>
                <a:cs typeface="Arial" panose="020B0604020202020204" pitchFamily="34" charset="0"/>
              </a:rPr>
              <a:t>Nitro-Aldol Reaction of p-</a:t>
            </a:r>
            <a:r>
              <a:rPr lang="en-US" sz="2800" b="1" dirty="0" err="1">
                <a:solidFill>
                  <a:srgbClr val="C00000"/>
                </a:solidFill>
                <a:latin typeface="Arial" panose="020B0604020202020204" pitchFamily="34" charset="0"/>
                <a:cs typeface="Arial" panose="020B0604020202020204" pitchFamily="34" charset="0"/>
              </a:rPr>
              <a:t>Tolualdehyde</a:t>
            </a:r>
            <a:r>
              <a:rPr lang="en-US" sz="2800" b="1" dirty="0">
                <a:solidFill>
                  <a:srgbClr val="C00000"/>
                </a:solidFill>
                <a:latin typeface="Arial" panose="020B0604020202020204" pitchFamily="34" charset="0"/>
                <a:cs typeface="Arial" panose="020B0604020202020204" pitchFamily="34" charset="0"/>
              </a:rPr>
              <a:t> with Nitromethane: Synthesis of </a:t>
            </a:r>
            <a:r>
              <a:rPr lang="en-US" sz="2800" b="1" dirty="0">
                <a:solidFill>
                  <a:srgbClr val="C00000"/>
                </a:solidFill>
                <a:latin typeface="Symbol" panose="05050102010706020507" pitchFamily="18" charset="2"/>
                <a:cs typeface="Arial" panose="020B0604020202020204" pitchFamily="34" charset="0"/>
              </a:rPr>
              <a:t>b</a:t>
            </a:r>
            <a:r>
              <a:rPr lang="en-US" sz="2800" b="1" dirty="0">
                <a:solidFill>
                  <a:srgbClr val="C00000"/>
                </a:solidFill>
                <a:latin typeface="Arial" panose="020B0604020202020204" pitchFamily="34" charset="0"/>
                <a:cs typeface="Arial" panose="020B0604020202020204" pitchFamily="34" charset="0"/>
              </a:rPr>
              <a:t>-</a:t>
            </a:r>
            <a:r>
              <a:rPr lang="en-US" sz="2800" b="1" dirty="0" err="1">
                <a:solidFill>
                  <a:srgbClr val="C00000"/>
                </a:solidFill>
                <a:latin typeface="Arial" panose="020B0604020202020204" pitchFamily="34" charset="0"/>
                <a:cs typeface="Arial" panose="020B0604020202020204" pitchFamily="34" charset="0"/>
              </a:rPr>
              <a:t>Nitrostyrene</a:t>
            </a:r>
            <a:endParaRPr lang="en-IN" sz="2800" b="1" dirty="0">
              <a:solidFill>
                <a:srgbClr val="C00000"/>
              </a:solidFill>
              <a:latin typeface="Arial" panose="020B0604020202020204" pitchFamily="34" charset="0"/>
              <a:cs typeface="Arial" panose="020B0604020202020204" pitchFamily="34" charset="0"/>
            </a:endParaRPr>
          </a:p>
        </p:txBody>
      </p:sp>
      <p:sp>
        <p:nvSpPr>
          <p:cNvPr id="6" name="Rectangle 4"/>
          <p:cNvSpPr>
            <a:spLocks noChangeArrowheads="1"/>
          </p:cNvSpPr>
          <p:nvPr/>
        </p:nvSpPr>
        <p:spPr bwMode="auto">
          <a:xfrm>
            <a:off x="594911" y="1872868"/>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graphicFrame>
        <p:nvGraphicFramePr>
          <p:cNvPr id="5" name="Object 4">
            <a:extLst>
              <a:ext uri="{FF2B5EF4-FFF2-40B4-BE49-F238E27FC236}">
                <a16:creationId xmlns:a16="http://schemas.microsoft.com/office/drawing/2014/main" id="{F4BEE404-C26E-480C-A529-6F4F1544D03B}"/>
              </a:ext>
            </a:extLst>
          </p:cNvPr>
          <p:cNvGraphicFramePr>
            <a:graphicFrameLocks noChangeAspect="1"/>
          </p:cNvGraphicFramePr>
          <p:nvPr>
            <p:extLst>
              <p:ext uri="{D42A27DB-BD31-4B8C-83A1-F6EECF244321}">
                <p14:modId xmlns:p14="http://schemas.microsoft.com/office/powerpoint/2010/main" val="3891924700"/>
              </p:ext>
            </p:extLst>
          </p:nvPr>
        </p:nvGraphicFramePr>
        <p:xfrm>
          <a:off x="1000608" y="1046163"/>
          <a:ext cx="10336212" cy="5811837"/>
        </p:xfrm>
        <a:graphic>
          <a:graphicData uri="http://schemas.openxmlformats.org/presentationml/2006/ole">
            <mc:AlternateContent xmlns:mc="http://schemas.openxmlformats.org/markup-compatibility/2006">
              <mc:Choice xmlns:v="urn:schemas-microsoft-com:vml" Requires="v">
                <p:oleObj name="CS ChemDraw Drawing" r:id="rId2" imgW="6258955" imgH="3518469" progId="ChemDraw.Document.6.0">
                  <p:embed/>
                </p:oleObj>
              </mc:Choice>
              <mc:Fallback>
                <p:oleObj name="CS ChemDraw Drawing" r:id="rId2" imgW="6258955" imgH="3518469" progId="ChemDraw.Document.6.0">
                  <p:embed/>
                  <p:pic>
                    <p:nvPicPr>
                      <p:cNvPr id="6" name="Object 5">
                        <a:extLst>
                          <a:ext uri="{FF2B5EF4-FFF2-40B4-BE49-F238E27FC236}">
                            <a16:creationId xmlns:a16="http://schemas.microsoft.com/office/drawing/2014/main" id="{9D47E611-93FA-40C9-8208-C183B755643E}"/>
                          </a:ext>
                        </a:extLst>
                      </p:cNvPr>
                      <p:cNvPicPr/>
                      <p:nvPr/>
                    </p:nvPicPr>
                    <p:blipFill>
                      <a:blip r:embed="rId3"/>
                      <a:stretch>
                        <a:fillRect/>
                      </a:stretch>
                    </p:blipFill>
                    <p:spPr>
                      <a:xfrm>
                        <a:off x="1000608" y="1046163"/>
                        <a:ext cx="10336212" cy="5811837"/>
                      </a:xfrm>
                      <a:prstGeom prst="rect">
                        <a:avLst/>
                      </a:prstGeom>
                    </p:spPr>
                  </p:pic>
                </p:oleObj>
              </mc:Fallback>
            </mc:AlternateContent>
          </a:graphicData>
        </a:graphic>
      </p:graphicFrame>
    </p:spTree>
    <p:extLst>
      <p:ext uri="{BB962C8B-B14F-4D97-AF65-F5344CB8AC3E}">
        <p14:creationId xmlns:p14="http://schemas.microsoft.com/office/powerpoint/2010/main" val="116709127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4"/>
          <p:cNvSpPr>
            <a:spLocks noChangeArrowheads="1"/>
          </p:cNvSpPr>
          <p:nvPr/>
        </p:nvSpPr>
        <p:spPr bwMode="auto">
          <a:xfrm>
            <a:off x="594911" y="1872868"/>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
        <p:nvSpPr>
          <p:cNvPr id="7" name="TextBox 6">
            <a:extLst>
              <a:ext uri="{FF2B5EF4-FFF2-40B4-BE49-F238E27FC236}">
                <a16:creationId xmlns:a16="http://schemas.microsoft.com/office/drawing/2014/main" id="{9316EF6C-895D-4054-9563-99E7FCF83193}"/>
              </a:ext>
            </a:extLst>
          </p:cNvPr>
          <p:cNvSpPr txBox="1"/>
          <p:nvPr/>
        </p:nvSpPr>
        <p:spPr>
          <a:xfrm>
            <a:off x="0" y="50247"/>
            <a:ext cx="12192000" cy="523220"/>
          </a:xfrm>
          <a:prstGeom prst="rect">
            <a:avLst/>
          </a:prstGeom>
          <a:noFill/>
        </p:spPr>
        <p:txBody>
          <a:bodyPr wrap="square" rtlCol="0">
            <a:spAutoFit/>
          </a:bodyPr>
          <a:lstStyle/>
          <a:p>
            <a:pPr algn="ctr"/>
            <a:r>
              <a:rPr lang="en-US" sz="2800" b="1" dirty="0">
                <a:solidFill>
                  <a:srgbClr val="C00000"/>
                </a:solidFill>
                <a:latin typeface="Arial" panose="020B0604020202020204" pitchFamily="34" charset="0"/>
                <a:cs typeface="Arial" panose="020B0604020202020204" pitchFamily="34" charset="0"/>
              </a:rPr>
              <a:t>Asymmetric Synthesis of Antidepressant Drug, (</a:t>
            </a:r>
            <a:r>
              <a:rPr lang="en-US" sz="2800" b="1" i="1" dirty="0">
                <a:solidFill>
                  <a:srgbClr val="C00000"/>
                </a:solidFill>
                <a:latin typeface="Arial" panose="020B0604020202020204" pitchFamily="34" charset="0"/>
                <a:cs typeface="Arial" panose="020B0604020202020204" pitchFamily="34" charset="0"/>
              </a:rPr>
              <a:t>R</a:t>
            </a:r>
            <a:r>
              <a:rPr lang="en-US" sz="2800" b="1" dirty="0">
                <a:solidFill>
                  <a:srgbClr val="C00000"/>
                </a:solidFill>
                <a:latin typeface="Arial" panose="020B0604020202020204" pitchFamily="34" charset="0"/>
                <a:cs typeface="Arial" panose="020B0604020202020204" pitchFamily="34" charset="0"/>
              </a:rPr>
              <a:t>)-Rolipram</a:t>
            </a:r>
            <a:endParaRPr lang="en-IN" sz="2800" b="1" dirty="0">
              <a:solidFill>
                <a:srgbClr val="C00000"/>
              </a:solidFill>
              <a:latin typeface="Arial" panose="020B0604020202020204" pitchFamily="34" charset="0"/>
              <a:cs typeface="Arial" panose="020B0604020202020204" pitchFamily="34" charset="0"/>
            </a:endParaRPr>
          </a:p>
        </p:txBody>
      </p:sp>
      <p:pic>
        <p:nvPicPr>
          <p:cNvPr id="3" name="Picture 2">
            <a:extLst>
              <a:ext uri="{FF2B5EF4-FFF2-40B4-BE49-F238E27FC236}">
                <a16:creationId xmlns:a16="http://schemas.microsoft.com/office/drawing/2014/main" id="{8A153825-FF6B-4A76-9E7C-48C73A572A06}"/>
              </a:ext>
            </a:extLst>
          </p:cNvPr>
          <p:cNvPicPr>
            <a:picLocks noChangeAspect="1"/>
          </p:cNvPicPr>
          <p:nvPr/>
        </p:nvPicPr>
        <p:blipFill>
          <a:blip r:embed="rId2"/>
          <a:stretch>
            <a:fillRect/>
          </a:stretch>
        </p:blipFill>
        <p:spPr>
          <a:xfrm>
            <a:off x="3425846" y="503960"/>
            <a:ext cx="5340308" cy="6242149"/>
          </a:xfrm>
          <a:prstGeom prst="rect">
            <a:avLst/>
          </a:prstGeom>
        </p:spPr>
      </p:pic>
    </p:spTree>
    <p:extLst>
      <p:ext uri="{BB962C8B-B14F-4D97-AF65-F5344CB8AC3E}">
        <p14:creationId xmlns:p14="http://schemas.microsoft.com/office/powerpoint/2010/main" val="181680780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4"/>
          <p:cNvSpPr>
            <a:spLocks noChangeArrowheads="1"/>
          </p:cNvSpPr>
          <p:nvPr/>
        </p:nvSpPr>
        <p:spPr bwMode="auto">
          <a:xfrm>
            <a:off x="594911" y="1872868"/>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
        <p:nvSpPr>
          <p:cNvPr id="7" name="TextBox 6">
            <a:extLst>
              <a:ext uri="{FF2B5EF4-FFF2-40B4-BE49-F238E27FC236}">
                <a16:creationId xmlns:a16="http://schemas.microsoft.com/office/drawing/2014/main" id="{9316EF6C-895D-4054-9563-99E7FCF83193}"/>
              </a:ext>
            </a:extLst>
          </p:cNvPr>
          <p:cNvSpPr txBox="1"/>
          <p:nvPr/>
        </p:nvSpPr>
        <p:spPr>
          <a:xfrm>
            <a:off x="0" y="50247"/>
            <a:ext cx="6503542" cy="1384995"/>
          </a:xfrm>
          <a:prstGeom prst="rect">
            <a:avLst/>
          </a:prstGeom>
          <a:noFill/>
        </p:spPr>
        <p:txBody>
          <a:bodyPr wrap="square" rtlCol="0">
            <a:spAutoFit/>
          </a:bodyPr>
          <a:lstStyle/>
          <a:p>
            <a:pPr algn="ctr"/>
            <a:r>
              <a:rPr lang="en-US" sz="2800" b="1" dirty="0">
                <a:solidFill>
                  <a:srgbClr val="C00000"/>
                </a:solidFill>
                <a:latin typeface="Arial" panose="020B0604020202020204" pitchFamily="34" charset="0"/>
                <a:cs typeface="Arial" panose="020B0604020202020204" pitchFamily="34" charset="0"/>
              </a:rPr>
              <a:t>Asymmetric Synthesis of Paroxetine, </a:t>
            </a:r>
          </a:p>
          <a:p>
            <a:pPr algn="ctr"/>
            <a:r>
              <a:rPr lang="en-US" sz="2800" b="1" dirty="0">
                <a:solidFill>
                  <a:srgbClr val="C00000"/>
                </a:solidFill>
                <a:latin typeface="Arial" panose="020B0604020202020204" pitchFamily="34" charset="0"/>
                <a:cs typeface="Arial" panose="020B0604020202020204" pitchFamily="34" charset="0"/>
              </a:rPr>
              <a:t>a Selective Serotonin </a:t>
            </a:r>
          </a:p>
          <a:p>
            <a:pPr algn="ctr"/>
            <a:r>
              <a:rPr lang="en-US" sz="2800" b="1" dirty="0">
                <a:solidFill>
                  <a:srgbClr val="C00000"/>
                </a:solidFill>
                <a:latin typeface="Arial" panose="020B0604020202020204" pitchFamily="34" charset="0"/>
                <a:cs typeface="Arial" panose="020B0604020202020204" pitchFamily="34" charset="0"/>
              </a:rPr>
              <a:t>Reuptake Inhibitor (SSRI)</a:t>
            </a:r>
            <a:endParaRPr lang="en-IN" sz="2800" b="1" dirty="0">
              <a:solidFill>
                <a:srgbClr val="C00000"/>
              </a:solidFill>
              <a:latin typeface="Arial" panose="020B0604020202020204" pitchFamily="34" charset="0"/>
              <a:cs typeface="Arial" panose="020B0604020202020204" pitchFamily="34" charset="0"/>
            </a:endParaRPr>
          </a:p>
        </p:txBody>
      </p:sp>
      <p:pic>
        <p:nvPicPr>
          <p:cNvPr id="4" name="Picture 3">
            <a:extLst>
              <a:ext uri="{FF2B5EF4-FFF2-40B4-BE49-F238E27FC236}">
                <a16:creationId xmlns:a16="http://schemas.microsoft.com/office/drawing/2014/main" id="{EE19E3A3-67AC-42EC-933F-8A0C918B2D9F}"/>
              </a:ext>
            </a:extLst>
          </p:cNvPr>
          <p:cNvPicPr>
            <a:picLocks noChangeAspect="1"/>
          </p:cNvPicPr>
          <p:nvPr/>
        </p:nvPicPr>
        <p:blipFill>
          <a:blip r:embed="rId2"/>
          <a:stretch>
            <a:fillRect/>
          </a:stretch>
        </p:blipFill>
        <p:spPr>
          <a:xfrm>
            <a:off x="6503542" y="50247"/>
            <a:ext cx="5214403" cy="6689530"/>
          </a:xfrm>
          <a:prstGeom prst="rect">
            <a:avLst/>
          </a:prstGeom>
        </p:spPr>
      </p:pic>
    </p:spTree>
    <p:extLst>
      <p:ext uri="{BB962C8B-B14F-4D97-AF65-F5344CB8AC3E}">
        <p14:creationId xmlns:p14="http://schemas.microsoft.com/office/powerpoint/2010/main" val="242596302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2409</TotalTime>
  <Words>436</Words>
  <Application>Microsoft Office PowerPoint</Application>
  <PresentationFormat>Widescreen</PresentationFormat>
  <Paragraphs>42</Paragraphs>
  <Slides>18</Slides>
  <Notes>0</Notes>
  <HiddenSlides>0</HiddenSlides>
  <MMClips>0</MMClips>
  <ScaleCrop>false</ScaleCrop>
  <HeadingPairs>
    <vt:vector size="8" baseType="variant">
      <vt:variant>
        <vt:lpstr>Fonts Used</vt:lpstr>
      </vt:variant>
      <vt:variant>
        <vt:i4>5</vt:i4>
      </vt:variant>
      <vt:variant>
        <vt:lpstr>Theme</vt:lpstr>
      </vt:variant>
      <vt:variant>
        <vt:i4>1</vt:i4>
      </vt:variant>
      <vt:variant>
        <vt:lpstr>Embedded OLE Servers</vt:lpstr>
      </vt:variant>
      <vt:variant>
        <vt:i4>1</vt:i4>
      </vt:variant>
      <vt:variant>
        <vt:lpstr>Slide Titles</vt:lpstr>
      </vt:variant>
      <vt:variant>
        <vt:i4>18</vt:i4>
      </vt:variant>
    </vt:vector>
  </HeadingPairs>
  <TitlesOfParts>
    <vt:vector size="25" baseType="lpstr">
      <vt:lpstr>Arial</vt:lpstr>
      <vt:lpstr>Calibri</vt:lpstr>
      <vt:lpstr>Calibri Light</vt:lpstr>
      <vt:lpstr>Symbol</vt:lpstr>
      <vt:lpstr>Wingdings</vt:lpstr>
      <vt:lpstr>Office Theme</vt:lpstr>
      <vt:lpstr>CS ChemDraw Drawing</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Ayan</dc:creator>
  <cp:lastModifiedBy>Alakesh Bisai</cp:lastModifiedBy>
  <cp:revision>85</cp:revision>
  <dcterms:created xsi:type="dcterms:W3CDTF">2021-03-21T06:11:57Z</dcterms:created>
  <dcterms:modified xsi:type="dcterms:W3CDTF">2025-01-08T03:37:55Z</dcterms:modified>
</cp:coreProperties>
</file>